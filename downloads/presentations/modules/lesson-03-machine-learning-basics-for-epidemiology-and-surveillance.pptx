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 those.</a:t>
            </a:r>
            <a:endParaRPr lang="en-US" sz="2100" dirty="0"/>
          </a:p>
          <a:p>
            <a:r>
              <a:rPr lang="en-US" sz="2100" dirty="0">
                <a:solidFill>
                  <a:srgbClr val="17364A"/>
                </a:solidFill>
                <a:latin typeface="Aptos" pitchFamily="34" charset="0"/>
                <a:ea typeface="Aptos" pitchFamily="34" charset="-122"/>
                <a:cs typeface="Aptos" pitchFamily="34" charset="-120"/>
              </a:rPr>
              <a:t>In public health, machine learning may support surveillance triage, outbreak signal review, risk stratification,.</a:t>
            </a:r>
            <a:endParaRPr lang="en-US" sz="2100" dirty="0"/>
          </a:p>
          <a:p>
            <a:r>
              <a:rPr lang="en-US" sz="2100" dirty="0">
                <a:solidFill>
                  <a:srgbClr val="17364A"/>
                </a:solidFill>
                <a:latin typeface="Aptos" pitchFamily="34" charset="0"/>
                <a:ea typeface="Aptos" pitchFamily="34" charset="-122"/>
                <a:cs typeface="Aptos" pitchFamily="34" charset="-120"/>
              </a:rPr>
              <a:t>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this tool to complete or strengthen the practical exercise.</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2100" dirty="0"/>
          </a:p>
          <a:p>
            <a:r>
              <a:rPr lang="en-US" sz="2100" dirty="0">
                <a:solidFill>
                  <a:srgbClr val="17364A"/>
                </a:solidFill>
                <a:latin typeface="Aptos" pitchFamily="34" charset="0"/>
                <a:ea typeface="Aptos" pitchFamily="34" charset="-122"/>
                <a:cs typeface="Aptos" pitchFamily="34" charset="-120"/>
              </a:rPr>
              <a:t>Describe features, labels, training data, validation data, and test data.</a:t>
            </a:r>
            <a:endParaRPr lang="en-US" sz="2100" dirty="0"/>
          </a:p>
          <a:p>
            <a:r>
              <a:rPr lang="en-US" sz="2100" dirty="0">
                <a:solidFill>
                  <a:srgbClr val="17364A"/>
                </a:solidFill>
                <a:latin typeface="Aptos" pitchFamily="34" charset="0"/>
                <a:ea typeface="Aptos" pitchFamily="34" charset="-122"/>
                <a:cs typeface="Aptos" pitchFamily="34" charset="-120"/>
              </a:rPr>
              <a:t>Identify when a machine learning approach may be appropriate for a public health workflow and when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2100" dirty="0"/>
          </a:p>
          <a:p>
            <a:r>
              <a:rPr lang="en-US" sz="2100" dirty="0">
                <a:solidFill>
                  <a:srgbClr val="17364A"/>
                </a:solidFill>
                <a:latin typeface="Aptos" pitchFamily="34" charset="0"/>
                <a:ea typeface="Aptos" pitchFamily="34" charset="-122"/>
                <a:cs typeface="Aptos" pitchFamily="34" charset="-120"/>
              </a:rPr>
              <a:t>In public health, machine learning may support surveillance triage, outbreak signal review, risk.</a:t>
            </a:r>
            <a:endParaRPr lang="en-US" sz="2100" dirty="0"/>
          </a:p>
          <a:p>
            <a:r>
              <a:rPr lang="en-US" sz="2100" dirty="0">
                <a:solidFill>
                  <a:srgbClr val="17364A"/>
                </a:solidFill>
                <a:latin typeface="Aptos" pitchFamily="34" charset="0"/>
                <a:ea typeface="Aptos" pitchFamily="34" charset="-122"/>
                <a:cs typeface="Aptos" pitchFamily="34" charset="-120"/>
              </a:rPr>
              <a:t>The purpose of this module is not to turn every learner into a data scientist.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2100" dirty="0"/>
          </a:p>
          <a:p>
            <a:r>
              <a:rPr lang="en-US" sz="2100" dirty="0">
                <a:solidFill>
                  <a:srgbClr val="17364A"/>
                </a:solidFill>
                <a:latin typeface="Aptos" pitchFamily="34" charset="0"/>
                <a:ea typeface="Aptos" pitchFamily="34" charset="-122"/>
                <a:cs typeface="Aptos" pitchFamily="34" charset="-120"/>
              </a:rPr>
              <a:t>A surveillance team may want to classify incoming reports by urgency.</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want to detect unusual disease patterns.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2100" dirty="0"/>
          </a:p>
          <a:p>
            <a:r>
              <a:rPr lang="en-US" sz="2100" dirty="0">
                <a:solidFill>
                  <a:srgbClr val="17364A"/>
                </a:solidFill>
                <a:latin typeface="Aptos" pitchFamily="34" charset="0"/>
                <a:ea typeface="Aptos" pitchFamily="34" charset="-122"/>
                <a:cs typeface="Aptos" pitchFamily="34" charset="-120"/>
              </a:rPr>
              <a:t>Historical complaint text, location, facility type, prior violations, and resolution outcomes may be.</a:t>
            </a:r>
            <a:endParaRPr lang="en-US" sz="2100" dirty="0"/>
          </a:p>
          <a:p>
            <a:r>
              <a:rPr lang="en-US" sz="2100" dirty="0">
                <a:solidFill>
                  <a:srgbClr val="17364A"/>
                </a:solidFill>
                <a:latin typeface="Aptos" pitchFamily="34" charset="0"/>
                <a:ea typeface="Aptos" pitchFamily="34" charset="-122"/>
                <a:cs typeface="Aptos" pitchFamily="34" charset="-120"/>
              </a:rPr>
              <a:t>The label might be whether the complaint was ultimately assigned high priority by trained staff.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2100" dirty="0"/>
          </a:p>
          <a:p>
            <a:r>
              <a:rPr lang="en-US" sz="2100" dirty="0">
                <a:solidFill>
                  <a:srgbClr val="17364A"/>
                </a:solidFill>
                <a:latin typeface="Aptos" pitchFamily="34" charset="0"/>
                <a:ea typeface="Aptos" pitchFamily="34" charset="-122"/>
                <a:cs typeface="Aptos" pitchFamily="34" charset="-120"/>
              </a:rPr>
              <a:t>The task should be specific enough to test. “Use AI to improve surveillance” is too vague. “Classify.</a:t>
            </a:r>
            <a:endParaRPr lang="en-US" sz="2100" dirty="0"/>
          </a:p>
          <a:p>
            <a:r>
              <a:rPr lang="en-US" sz="2100" dirty="0">
                <a:solidFill>
                  <a:srgbClr val="17364A"/>
                </a:solidFill>
                <a:latin typeface="Aptos" pitchFamily="34" charset="0"/>
                <a:ea typeface="Aptos" pitchFamily="34" charset="-122"/>
                <a:cs typeface="Aptos" pitchFamily="34" charset="-120"/>
              </a:rPr>
              <a:t>A clear task allows staff to define the target label, required features, acceptance criteria, and human.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2100" dirty="0"/>
          </a:p>
          <a:p>
            <a:r>
              <a:rPr lang="en-US" sz="2100" dirty="0">
                <a:solidFill>
                  <a:srgbClr val="17364A"/>
                </a:solidFill>
                <a:latin typeface="Aptos" pitchFamily="34" charset="0"/>
                <a:ea typeface="Aptos" pitchFamily="34" charset="-122"/>
                <a:cs typeface="Aptos" pitchFamily="34" charset="-120"/>
              </a:rPr>
              <a:t>A model with high overall accuracy may still miss rare but important events.</a:t>
            </a:r>
            <a:endParaRPr lang="en-US" sz="2100" dirty="0"/>
          </a:p>
          <a:p>
            <a:r>
              <a:rPr lang="en-US" sz="2100" dirty="0">
                <a:solidFill>
                  <a:srgbClr val="17364A"/>
                </a:solidFill>
                <a:latin typeface="Aptos" pitchFamily="34" charset="0"/>
                <a:ea typeface="Aptos" pitchFamily="34" charset="-122"/>
                <a:cs typeface="Aptos" pitchFamily="34" charset="-120"/>
              </a:rPr>
              <a:t>A model with many false positives may burden staff and create alert fatigue.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Biased or inconsistent labels.</a:t>
            </a:r>
            <a:endParaRPr lang="en-US" sz="2100" dirty="0"/>
          </a:p>
          <a:p>
            <a:r>
              <a:rPr lang="en-US" sz="2100" dirty="0">
                <a:solidFill>
                  <a:srgbClr val="17364A"/>
                </a:solidFill>
                <a:latin typeface="Aptos" pitchFamily="34" charset="0"/>
                <a:ea typeface="Aptos" pitchFamily="34" charset="-122"/>
                <a:cs typeface="Aptos" pitchFamily="34" charset="-120"/>
              </a:rPr>
              <a:t>If historical labels reflect unequal detection, inconsistent review, or limited resources, the model.</a:t>
            </a:r>
            <a:endParaRPr lang="en-US" sz="2100" dirty="0"/>
          </a:p>
          <a:p>
            <a:r>
              <a:rPr lang="en-US" sz="2100" dirty="0">
                <a:solidFill>
                  <a:srgbClr val="17364A"/>
                </a:solidFill>
                <a:latin typeface="Aptos" pitchFamily="34" charset="0"/>
                <a:ea typeface="Aptos" pitchFamily="34" charset="-122"/>
                <a:cs typeface="Aptos" pitchFamily="34" charset="-120"/>
              </a:rPr>
              <a:t>Guardrails include label audits, expert review, subgroup analysis, and documentation of label.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Biased or inconsistent labels.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Misuse of prediction as explanation.</a:t>
            </a:r>
            <a:endParaRPr lang="en-US" sz="2100" dirty="0"/>
          </a:p>
          <a:p>
            <a:r>
              <a:rPr lang="en-US" sz="2100" dirty="0">
                <a:solidFill>
                  <a:srgbClr val="17364A"/>
                </a:solidFill>
                <a:latin typeface="Aptos" pitchFamily="34" charset="0"/>
                <a:ea typeface="Aptos" pitchFamily="34" charset="-122"/>
                <a:cs typeface="Aptos" pitchFamily="34" charset="-120"/>
              </a:rPr>
              <a:t>A model can predict risk without explaining cause.</a:t>
            </a:r>
            <a:endParaRPr lang="en-US" sz="2100" dirty="0"/>
          </a:p>
          <a:p>
            <a:r>
              <a:rPr lang="en-US" sz="2100" dirty="0">
                <a:solidFill>
                  <a:srgbClr val="17364A"/>
                </a:solidFill>
                <a:latin typeface="Aptos" pitchFamily="34" charset="0"/>
                <a:ea typeface="Aptos" pitchFamily="34" charset="-122"/>
                <a:cs typeface="Aptos" pitchFamily="34" charset="-120"/>
              </a:rPr>
              <a:t>Guardrails include clear communication, training, and restrictions against causal claims unless.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Misuse of prediction as explanation.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2100" dirty="0"/>
          </a:p>
          <a:p>
            <a:r>
              <a:rPr lang="en-US" sz="2100" dirty="0">
                <a:solidFill>
                  <a:srgbClr val="17364A"/>
                </a:solidFill>
                <a:latin typeface="Aptos" pitchFamily="34" charset="0"/>
                <a:ea typeface="Aptos" pitchFamily="34" charset="-122"/>
                <a:cs typeface="Aptos" pitchFamily="34" charset="-120"/>
              </a:rPr>
              <a:t>In generative AI systems, machine learning concepts help staff understand why outputs may be fluent but.</a:t>
            </a:r>
            <a:endParaRPr lang="en-US" sz="2100" dirty="0"/>
          </a:p>
          <a:p>
            <a:r>
              <a:rPr lang="en-US" sz="2100" dirty="0">
                <a:solidFill>
                  <a:srgbClr val="17364A"/>
                </a:solidFill>
                <a:latin typeface="Aptos" pitchFamily="34" charset="0"/>
                <a:ea typeface="Aptos" pitchFamily="34" charset="-122"/>
                <a:cs typeface="Aptos" pitchFamily="34" charset="-120"/>
              </a:rPr>
              <a:t>In predictive workflows, machine learning literacy helps staff evaluate risk scores, thresholds,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2100" dirty="0"/>
          </a:p>
          <a:p>
            <a:r>
              <a:rPr lang="en-US" sz="2100" dirty="0">
                <a:solidFill>
                  <a:srgbClr val="17364A"/>
                </a:solidFill>
                <a:latin typeface="Aptos" pitchFamily="34" charset="0"/>
                <a:ea typeface="Aptos" pitchFamily="34" charset="-122"/>
                <a:cs typeface="Aptos" pitchFamily="34" charset="-120"/>
              </a:rPr>
              <a:t>What label would be used, and how reliable or equitable is that label?</a:t>
            </a:r>
            <a:endParaRPr lang="en-US" sz="2100" dirty="0"/>
          </a:p>
          <a:p>
            <a:r>
              <a:rPr lang="en-US" sz="2100" dirty="0">
                <a:solidFill>
                  <a:srgbClr val="17364A"/>
                </a:solidFill>
                <a:latin typeface="Aptos" pitchFamily="34" charset="0"/>
                <a:ea typeface="Aptos" pitchFamily="34" charset="-122"/>
                <a:cs typeface="Aptos" pitchFamily="34" charset="-120"/>
              </a:rPr>
              <a:t>Which features might reflect access, documentation, or reporting bias rather than true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errors would be most harmful in this workflow?</a:t>
            </a:r>
            <a:endParaRPr lang="en-US" sz="2100" dirty="0"/>
          </a:p>
          <a:p>
            <a:r>
              <a:rPr lang="en-US" sz="2100" dirty="0">
                <a:solidFill>
                  <a:srgbClr val="17364A"/>
                </a:solidFill>
                <a:latin typeface="Aptos" pitchFamily="34" charset="0"/>
                <a:ea typeface="Aptos" pitchFamily="34" charset="-122"/>
                <a:cs typeface="Aptos" pitchFamily="34" charset="-120"/>
              </a:rPr>
              <a:t>Who would review model outputs, override them, and document concerns?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errors would be most harmful in this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describe the public health task, intended use, data sources, candidate features,.</a:t>
            </a:r>
            <a:endParaRPr lang="en-US" sz="2100" dirty="0"/>
          </a:p>
          <a:p>
            <a:r>
              <a:rPr lang="en-US" sz="2100" dirty="0">
                <a:solidFill>
                  <a:srgbClr val="17364A"/>
                </a:solidFill>
                <a:latin typeface="Aptos" pitchFamily="34" charset="0"/>
                <a:ea typeface="Aptos" pitchFamily="34" charset="-122"/>
                <a:cs typeface="Aptos" pitchFamily="34" charset="-120"/>
              </a:rPr>
              <a:t>This exercise should produce a governance-ready artifact.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use case review worksheet</a:t>
            </a:r>
            <a:endParaRPr lang="en-US" sz="2100" dirty="0"/>
          </a:p>
          <a:p>
            <a:r>
              <a:rPr lang="en-US" sz="2100" dirty="0">
                <a:solidFill>
                  <a:srgbClr val="17364A"/>
                </a:solidFill>
                <a:latin typeface="Aptos" pitchFamily="34" charset="0"/>
                <a:ea typeface="Aptos" pitchFamily="34" charset="-122"/>
                <a:cs typeface="Aptos" pitchFamily="34" charset="-120"/>
              </a:rPr>
              <a:t>Feature and label inventory</a:t>
            </a:r>
            <a:endParaRPr lang="en-US" sz="2100" dirty="0"/>
          </a:p>
          <a:p>
            <a:r>
              <a:rPr lang="en-US" sz="2100" dirty="0">
                <a:solidFill>
                  <a:srgbClr val="17364A"/>
                </a:solidFill>
                <a:latin typeface="Aptos" pitchFamily="34" charset="0"/>
                <a:ea typeface="Aptos" pitchFamily="34" charset="-122"/>
                <a:cs typeface="Aptos" pitchFamily="34" charset="-120"/>
              </a:rPr>
              <a:t>Initial model risk and safeguard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use case review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review and monitoring notes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review and monitoring notes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use case review worksheet</a:t>
            </a:r>
            <a:endParaRPr lang="en-US" sz="2100" dirty="0"/>
          </a:p>
          <a:p>
            <a:r>
              <a:rPr lang="en-US" sz="2100" dirty="0">
                <a:solidFill>
                  <a:srgbClr val="17364A"/>
                </a:solidFill>
                <a:latin typeface="Aptos" pitchFamily="34" charset="0"/>
                <a:ea typeface="Aptos" pitchFamily="34" charset="-122"/>
                <a:cs typeface="Aptos" pitchFamily="34" charset="-120"/>
              </a:rPr>
              <a:t>Feature and label inventory</a:t>
            </a:r>
            <a:endParaRPr lang="en-US" sz="2100" dirty="0"/>
          </a:p>
          <a:p>
            <a:r>
              <a:rPr lang="en-US" sz="2100" dirty="0">
                <a:solidFill>
                  <a:srgbClr val="17364A"/>
                </a:solidFill>
                <a:latin typeface="Aptos" pitchFamily="34" charset="0"/>
                <a:ea typeface="Aptos" pitchFamily="34" charset="-122"/>
                <a:cs typeface="Aptos" pitchFamily="34" charset="-120"/>
              </a:rPr>
              <a:t>Initial model risk and safeguard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use case review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supervised learning?</a:t>
            </a:r>
            <a:endParaRPr lang="en-US" sz="2100" dirty="0"/>
          </a:p>
          <a:p>
            <a:r>
              <a:rPr lang="en-US" sz="2100" dirty="0">
                <a:solidFill>
                  <a:srgbClr val="17364A"/>
                </a:solidFill>
                <a:latin typeface="Aptos" pitchFamily="34" charset="0"/>
                <a:ea typeface="Aptos" pitchFamily="34" charset="-122"/>
                <a:cs typeface="Aptos" pitchFamily="34" charset="-120"/>
              </a:rPr>
              <a:t>2. Why can historical labels create risk?</a:t>
            </a:r>
            <a:endParaRPr lang="en-US" sz="2100" dirty="0"/>
          </a:p>
          <a:p>
            <a:r>
              <a:rPr lang="en-US" sz="2100" dirty="0">
                <a:solidFill>
                  <a:srgbClr val="17364A"/>
                </a:solidFill>
                <a:latin typeface="Aptos" pitchFamily="34" charset="0"/>
                <a:ea typeface="Aptos" pitchFamily="34" charset="-122"/>
                <a:cs typeface="Aptos" pitchFamily="34" charset="-120"/>
              </a:rPr>
              <a:t>3. What is overfitting?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supervised learning?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2026-07-12T19:24:26Z</dcterms:created>
  <dcterms:modified xsi:type="dcterms:W3CDTF">2026-07-12T19:24:26Z</dcterms:modified>
</cp:coreProperties>
</file>