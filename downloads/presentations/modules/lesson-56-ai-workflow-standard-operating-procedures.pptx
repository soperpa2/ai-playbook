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230 AI Workflow Standard Operating Procedures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governance-and-security, epidemiology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approved AI tools still require workflow-specific SOPs.
Identify the core elements of an AI workflow SOP.
Define human review, documentation, override, escalation, and fallback expectations.
Distinguish between acceptable and prohibited uses within a specific AI workflow.
Produce a draft AI workflow SOP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approves an AI tool to draft summaries of environmental health complaints. The SOP explains which complaint types are eligible, which data fields may be used, how staff must compare the draft to the original complaint, where the final summary is stored, how unsupported statements are removed, and when errors must be reported. The SOP also explains that the tool may not issue inspection decisions, enforcement recommendations, or public notices without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An AI SOP should begin with scope. The scope explains which workflow the SOP covers, which staff roles may use the tool, which systems or data are involved, and which AI-supported tasks are allowed. Scope is important because many AI tools can technically perform more tasks than the agency has approved. A clear scope prevents an approved tool from drifting into unapproved uses.
The SOP should define the standard workflow step by step. This includes preparing data, using the approved tool, reviewing outputs, correcting errors, documenting the final decision, and escalating concerns. For generative AI, the SOP should require staff to verify outputs against source material. For predictive tools, it should require staff to interpret scores in context and avoid treating the output as an automatic decision.
A strong SOP also includes exception handling. Staff need to know what to do when the AI tool is unavailable, the output is inconsistent with source data, the output appears biased or unsafe, the workflow involves a sensitive or unusual case, or the user is uncertain whether the use is allowed. The SOP should identify a fallback process and escalation pathway so staff are not forced to improvise.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SOPs should be maintained as living documents. AI workflows may change when policies, data feeds, models, prompts, vendors, or public health conditions change. SOP ownership, review frequency, and change control should be documented so the procedure remains aligned with approved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Staff applying an AI tool beyond the approved workflow.
Outputs being copied into official records without required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Errors, bias concerns, or privacy issues not being escalated.
No fallback process when the tool fails or is unavailable.
Outdated SOPs that no longer match the deployed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Create a workflow-specific SOP for each approved AI use.
Define allowed uses, prohibited uses, human review, and documentation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staff training before independent use.
Include override, escalation, and fallback procedures.
Review SOPs after incidents, major updates, or policy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an AI workflow SOP for one approved or realistic public health use case. The SOP should include purpose, scope, roles, allowed uses, prohibited uses, step-by-step workflow, human review requirements, documentation requirements, escalation triggers, fallback process, and review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workflow SOP
Role and responsibility matrix
Allowed/prohibited use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fallback process
Review and maintenance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workflow SOP
Role and responsibility matrix
Allowed/prohibited use section
Escalation and fallback process
Review and maintenance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an approved AI tool still need a workflow-specific SOP?
2. What is an override?
3. Which item should an AI SOP include?
4. When should an SOP be reviewed?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Workflow Standard Operating Procedures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Operations and Data Quality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operations-and-data-quality, program-management, governance-and-security, epidemiology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1450" dirty="0"/>
          </a:p>
          <a:p>
            <a:r>
              <a:rPr lang="en-US" sz="1450" dirty="0">
                <a:solidFill>
                  <a:srgbClr val="17364A"/>
                </a:solidFill>
                <a:latin typeface="Aptos" pitchFamily="34" charset="0"/>
                <a:ea typeface="Aptos" pitchFamily="34" charset="-122"/>
                <a:cs typeface="Aptos" pitchFamily="34" charset="-120"/>
              </a:rPr>
              <a:t>Identify the core elements of an AI workflow SOP.</a:t>
            </a:r>
            <a:endParaRPr lang="en-US" sz="1450" dirty="0"/>
          </a:p>
          <a:p>
            <a:r>
              <a:rPr lang="en-US" sz="1450" dirty="0">
                <a:solidFill>
                  <a:srgbClr val="17364A"/>
                </a:solidFill>
                <a:latin typeface="Aptos" pitchFamily="34" charset="0"/>
                <a:ea typeface="Aptos" pitchFamily="34" charset="-122"/>
                <a:cs typeface="Aptos" pitchFamily="34" charset="-120"/>
              </a:rPr>
              <a:t>Define human review, documentation, override, escalation, and fallback expectations.</a:t>
            </a:r>
            <a:endParaRPr lang="en-US" sz="1450" dirty="0"/>
          </a:p>
          <a:p>
            <a:r>
              <a:rPr lang="en-US" sz="1450" dirty="0">
                <a:solidFill>
                  <a:srgbClr val="17364A"/>
                </a:solidFill>
                <a:latin typeface="Aptos" pitchFamily="34" charset="0"/>
                <a:ea typeface="Aptos" pitchFamily="34" charset="-122"/>
                <a:cs typeface="Aptos" pitchFamily="34" charset="-120"/>
              </a:rPr>
              <a:t>Distinguish between acceptable and prohibited uses within a specific AI workflow.</a:t>
            </a:r>
            <a:endParaRPr lang="en-US" sz="1450" dirty="0"/>
          </a:p>
          <a:p>
            <a:r>
              <a:rPr lang="en-US" sz="1450" dirty="0">
                <a:solidFill>
                  <a:srgbClr val="17364A"/>
                </a:solidFill>
                <a:latin typeface="Aptos" pitchFamily="34" charset="0"/>
                <a:ea typeface="Aptos" pitchFamily="34" charset="-122"/>
                <a:cs typeface="Aptos" pitchFamily="34" charset="-120"/>
              </a:rPr>
              <a:t>Produce a draft AI workflow SOP for a public health use case.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health department approves an AI tool to draft summaries of environmental health complaints. The SOP explains which complaint types are eligible, which data fields may be used, how staff must compare the draft to the original complaint, where the final summary is stored, how unsupported statements are removed, and when errors must be reported. The SOP also explains that the tool may not issue inspection decisions, enforcement recommendations, or public notices without human review.</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An AI SOP should begin with scope. The scope explains which workflow the SOP covers, which staff roles may use the tool, which systems or data are involved, and which AI-supported tasks are allowed. Scope is important because many AI tools can technically perform more tasks than the agency has approved. A clear scope prevents an approved tool from drifting into unapproved uses. The SOP should define the standard workflow step by step. This includes preparing data, using the approved tool, reviewing outputs, correcting errors, documenting the final decision, and escalating concerns. For generative AI, the SOP should require staff to verify outputs against source material. For predictive tools, it should require staff to interpret scores in context and avoid treating the output as an automatic decision. A strong SOP also includes exception handling. Staff need to know what to do when the AI tool is unavailable, the output is inconsistent with source data, the output appears biased or unsafe, the workflow involves a sensitive or unusual case, or the user is uncertain whether the use is allowed. The SOP should identify a fallback process and escalation pathway so staff are not forced to improvise.</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SOPs should be maintained as living documents. AI workflows may change when policies, data feeds, models, prompts, vendors, or public health conditions change. SOP ownership, review frequency, and change control should be documented so the procedure remains aligned with approved use.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Risks and failure modes include the following: Staff applying an AI tool beyond the approved workflow. Outputs being copied into official records without required review.</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Errors, bias concerns, or privacy issues not being escalated. No fallback process when the tool fails or is unavailable. Outdated SOPs that no longer match the deployed workflow.</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Recommended guardrails include the following: Create a workflow-specific SOP for each approved AI use. Define allowed uses, prohibited uses, human review, and documentation requirements.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Require staff training before independent use. Include override, escalation, and fallback procedures. Review SOPs after incidents, major updates, or policy changes.</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Where does this topic appear in your agency, program, or workflow? Which staff roles would need to understand or apply this concept before AI use is approved? What could go wrong if this topic is not addressed before implementation?</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evidence would governance, leadership, or operations staff need before moving forward? Which policy, data, equity, privacy, security, or workflow questions remain unresolved?</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Draft an AI workflow SOP for one approved or realistic public health use case. The SOP should include purpose, scope, roles, allowed uses, prohibited uses, step-by-step workflow, human review requirements, documentation requirements, escalation triggers, fallback process, and review schedule.</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Draft AI workflow SOP Role and responsibility matrix Allowed/prohibited use section</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Escalation and fallback process Review and maintenance schedule</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Draft AI workflow SOP</a:t>
            </a:r>
            <a:endParaRPr lang="en-US" sz="1450" dirty="0"/>
          </a:p>
          <a:p>
            <a:r>
              <a:rPr lang="en-US" sz="1450" dirty="0">
                <a:solidFill>
                  <a:srgbClr val="17364A"/>
                </a:solidFill>
                <a:latin typeface="Aptos" pitchFamily="34" charset="0"/>
                <a:ea typeface="Aptos" pitchFamily="34" charset="-122"/>
                <a:cs typeface="Aptos" pitchFamily="34" charset="-120"/>
              </a:rPr>
              <a:t>Role and responsibility matrix</a:t>
            </a:r>
            <a:endParaRPr lang="en-US" sz="1450" dirty="0"/>
          </a:p>
          <a:p>
            <a:r>
              <a:rPr lang="en-US" sz="1450" dirty="0">
                <a:solidFill>
                  <a:srgbClr val="17364A"/>
                </a:solidFill>
                <a:latin typeface="Aptos" pitchFamily="34" charset="0"/>
                <a:ea typeface="Aptos" pitchFamily="34" charset="-122"/>
                <a:cs typeface="Aptos" pitchFamily="34" charset="-120"/>
              </a:rPr>
              <a:t>Allowed/prohibited use section</a:t>
            </a:r>
            <a:endParaRPr lang="en-US" sz="1450" dirty="0"/>
          </a:p>
          <a:p>
            <a:r>
              <a:rPr lang="en-US" sz="1450" dirty="0">
                <a:solidFill>
                  <a:srgbClr val="17364A"/>
                </a:solidFill>
                <a:latin typeface="Aptos" pitchFamily="34" charset="0"/>
                <a:ea typeface="Aptos" pitchFamily="34" charset="-122"/>
                <a:cs typeface="Aptos" pitchFamily="34" charset="-120"/>
              </a:rPr>
              <a:t>Escalation and fallback process</a:t>
            </a:r>
            <a:endParaRPr lang="en-US" sz="1450" dirty="0"/>
          </a:p>
          <a:p>
            <a:r>
              <a:rPr lang="en-US" sz="1450" dirty="0">
                <a:solidFill>
                  <a:srgbClr val="17364A"/>
                </a:solidFill>
                <a:latin typeface="Aptos" pitchFamily="34" charset="0"/>
                <a:ea typeface="Aptos" pitchFamily="34" charset="-122"/>
                <a:cs typeface="Aptos" pitchFamily="34" charset="-120"/>
              </a:rPr>
              <a:t>Review and maintenance schedule</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1450" dirty="0"/>
          </a:p>
          <a:p>
            <a:r>
              <a:rPr lang="en-US" sz="1450" dirty="0">
                <a:solidFill>
                  <a:srgbClr val="17364A"/>
                </a:solidFill>
                <a:latin typeface="Aptos" pitchFamily="34" charset="0"/>
                <a:ea typeface="Aptos" pitchFamily="34" charset="-122"/>
                <a:cs typeface="Aptos" pitchFamily="34" charset="-120"/>
              </a:rPr>
              <a:t>2. What is an override?</a:t>
            </a:r>
            <a:endParaRPr lang="en-US" sz="1450" dirty="0"/>
          </a:p>
          <a:p>
            <a:r>
              <a:rPr lang="en-US" sz="1450" dirty="0">
                <a:solidFill>
                  <a:srgbClr val="17364A"/>
                </a:solidFill>
                <a:latin typeface="Aptos" pitchFamily="34" charset="0"/>
                <a:ea typeface="Aptos" pitchFamily="34" charset="-122"/>
                <a:cs typeface="Aptos" pitchFamily="34" charset="-120"/>
              </a:rPr>
              <a:t>3. Which item should an AI SOP include?</a:t>
            </a:r>
            <a:endParaRPr lang="en-US" sz="1450" dirty="0"/>
          </a:p>
          <a:p>
            <a:r>
              <a:rPr lang="en-US" sz="1450" dirty="0">
                <a:solidFill>
                  <a:srgbClr val="17364A"/>
                </a:solidFill>
                <a:latin typeface="Aptos" pitchFamily="34" charset="0"/>
                <a:ea typeface="Aptos" pitchFamily="34" charset="-122"/>
                <a:cs typeface="Aptos" pitchFamily="34" charset="-120"/>
              </a:rPr>
              <a:t>4. When should an SOP be reviewed?</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OWASP guidance for LLM application security</a:t>
            </a:r>
            <a:endParaRPr lang="en-US" sz="1450" dirty="0"/>
          </a:p>
          <a:p>
            <a:r>
              <a:rPr lang="en-US" sz="1450" dirty="0">
                <a:solidFill>
                  <a:srgbClr val="17364A"/>
                </a:solidFill>
                <a:latin typeface="Aptos" pitchFamily="34" charset="0"/>
                <a:ea typeface="Aptos" pitchFamily="34" charset="-122"/>
                <a:cs typeface="Aptos" pitchFamily="34" charset="-120"/>
              </a:rPr>
              <a:t>Agency policies for privacy, cybersecurity, records, procurement, accessibility, and public communications</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Workflow Standard Operating Procedures</dc:title>
  <dc:subject>AI Workflow Standard Operating Procedures learning module</dc:subject>
  <dc:creator>Paula Soper</dc:creator>
  <cp:lastModifiedBy>Paula Soper</cp:lastModifiedBy>
  <cp:revision>1</cp:revision>
  <dcterms:created xsi:type="dcterms:W3CDTF">2026-07-12T18:22:13Z</dcterms:created>
  <dcterms:modified xsi:type="dcterms:W3CDTF">2026-07-12T18:22:13Z</dcterms:modified>
</cp:coreProperties>
</file>