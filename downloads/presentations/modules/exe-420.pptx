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 420 AI Investment Strategy and Business Case Review
AI investments compete with many other public health priorities. Leaders need a disciplined way to decide when AI is worth funding, what costs must be considered, and how benefits will be measured. A business case review helps agencies avoid buying tools that are impressive in demonstrations but weak in operational value, sustainability, interoperability, or public health impact. This module teaches leaders to evaluate AI investments across cost, value, readiness, risk, staffing, procurement, lifecycle support, and sustainability. The business case should not focus only on software price. It should include data preparation, implementation, integration, training, governance, validation, monitoring, maintenance, vendor management, cybersecurity, accessibility, and eventual replacement or retirement.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advanced/leadership
Primary track: Public Health Executive Leadership Track
Appears in tracks: governance-security
AI investments compete with many other public health priorities. Leaders need a disciplined way to decide when AI is worth funding, what costs must be considered, and how benefits will be measured. A business case review helps agencies avoid buying tools that are impressive in demonstrations but weak in operational value, sustainability, interoperability, or public health impact. This module teaches leaders to evaluate AI investments across cost, value, readiness, risk, staffing, procurement, lifecycle support, and sustainability. The business case should not focus only on software price. It should include data preparation, implementation, integration, training, governance, validation, monitoring, maintenance, vendor management, cybersecurity, accessibility, and eventual replacement or retirement.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3: Establish AI Governance - This lesson informs Play 3 by helping learners connect the lesson topic to establish ai governance work in the AI Playbook sequence.
Play 1: Vision &amp; Guardrails - This lesson informs Play 1 by helping learners connect the lesson topic to vision &amp; guardrails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this tool to complete or strengthen the practical exercise for the module using fictional, de-identified, or generalized.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Tiered Data Classification for AI Use to translate this lesson into a documented public health AI planning, governance,.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Identify the full cost components of AI implementation and operations.
Evaluate expected benefits in terms of public health value, workflow improvement, equity, quality, timeliness, and staff burden.
Distinguish between a vendor demonstration and a credible business case.
Develop business case questions for AI procurement or internal development.
Produce an AI business case review worksheet.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AI investments compete with many other public health priorities. Leaders need a disciplined way to decide when AI is worth funding, what costs must be considered, and how benefits will be measured. A business case review helps agencies avoid buying tools that are impressive in demonstrations but weak in operational value, sustainability, interoperability, or public health impact.
This module teaches leaders to evaluate AI investments across cost, value, readiness, risk, staffing, procurement, lifecycle support, and sustainability. The business case should not focus only on software price. It should include data preparation, implementation, integration, training, governance, validation, monitoring, maintenance, vendor management, cybersecurity, accessibility, and eventual replacement or retirement.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national-level module is intended for training and planning purposes. It does not replace legal, privacy, procurement, civil rights, records, or agency policy review. Learners should confirm applicable requirements in their own jurisdiction and organization before implementing AI-supported workflows.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Public health agencies often face short-term funding cycles and urgent operational needs. AI products may be marketed as quick solutions, but the true cost of responsible implementation is broader than subscription fees. Agencies may need to update data pipelines, configure security controls, develop validation plans, train staff, write policies, monitor performance, and manage vendor relationships.
A strong business case also protects mission focus. AI should not be funded because it is novel. It should be funded when it addresses a meaningful public health problem, fits agency capacity, can be governed responsibly, and can produce measurable value. Business case review helps leaders compare AI investments with non-AI alternatives, such as workflow redesign, staffing changes, data quality improvements, or simpler automation.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vendor offers an AI tool that promises to reduce disease investigator workload by summarizing case reports. The annual license appears affordable, but the agency must also pay for integration with the surveillance system, security review, staff training, validation, legal review, vendor support, monitoring dashboards, and staff time for governance. If those costs are not considered, leadership may underestimate the investment required.
A business case review asks whether the tool will meaningfully reduce burden, improve timeliness, maintain quality, and fit the agency's workflow. It also asks whether a simpler approach, such as better case report templates or workflow redesign, would solve the problem at lower cost and risk. The review does not assume AI is the answer; it tests whether AI is the right answer.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Governance Deep Dive
An AI business case should begin with a problem statement. The problem should be operational and measurable, such as delayed case review, inconsistent public response drafting, high manual data cleanup burden, or inability to search internal guidance efficiently. A vague desire to 'use AI' is not a sufficient problem statement. The business case should connect the proposed AI use to a real public health need.
The review should compare alternatives. Options may include doing nothing, improving workflow, improving data quality, using rules-based automation, procuring a vendor product, developing an internal tool, or joining a shared service. Each option should be assessed for benefit, cost, risk, time, staffing, sustainability, and governance burden. This comparison prevents AI from becoming the default answer to every operational problem.
Success measures should be defined before funding. Measures might include reduced processing time, improved completeness, fewer manual touches, better routing accuracy, staff satisfaction, fewer errors, improved language access, or reduced backlog. Measures should also include safety and equity indicators. A tool that saves time but increases error rates, widens disparities, or erodes public trust should not be considered successful.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One risk is hidden cost. Agencies may purchase an AI tool without funding integration, monitoring, validation, staff training, or ongoing support. A guardrail is to require total cost of ownership in every business case.
Another risk is benefits inflation. Vendors or project champions may overstate time savings or accuracy without local evidence. A guardrail is to require pilot success criteria and benefits realization review before scaling.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business cases should include review time, source verification, and records considerations. Predictive analytics business cases should include validation data, subgroup testing, and monitoring costs. Agentic AI business cases should include security architecture, approval workflows, rollback, logging, and incident response. Cost and value must reflect responsible use.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current or proposed AI use case in your agency raises this leadership or governance issue most clearly?
Who currently has authority to make decisions about this issue, and is that authority documented?
What evidence would governance or leadership need before approving the use case?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staff, partners, or communities would be affected if this issue were handled poorly?
What policy, process, or artifact should be created or updated after this module?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Complete an AI business case review worksheet for one proposed investment. Include problem, alternatives, expected benefits, total cost of ownership, risk, equity considerations, implementation needs, and success measures.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You Begin
Choose a real or realistic public health AI use case. Document assumptions, unresolved questions, and which agency roles would need to review the artifact before it is adopted. The exercise should produce a work product that could support governance review, leadership discussion, implementation planning, or policy development.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AI business case worksheet; total cost of ownership estimate; benefits realization plan; alternatives analysis.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AI business case worksheet; total cost of ownership estimate; benefits realization plan; alternatives analysis.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reason this module topic belongs in AI leadership and governance training?
2. Which practice best supports accountable public health AI governance?
3. When should an AI use case be escalated for leadership or governance review?
4. What is weak evidence of completion for a leadership and governance module?
5. What should leaders do when an AI use case has meaningful benefits but unresolved risks?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Artificial Intelligence Risk Management Framework (AI RMF 1.0): https://www.nist.gov/itl/ai-risk-management-framework
NIST Generative AI Profile: https://www.nist.gov/publications/artificial-intelligence-risk-management-framework-generative-artificial-intelligence
NIST Privacy Framework
CDC Public Health Data Strategy and Data Modernization resources: https://www.cdc.gov/public-health-data-strategy/php/about/index.html
WHO Ethics and Governance of Artificial Intelligence for Health: https://www.who.int/publications/i/item/9789240029200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OMB Memorandum M-24-10 on federal AI governance, risk management, and innovation, where relevant to public-sector governance models
Agency strategic plans, procurement policies, privacy policies, cybersecurity policies, records policies, and equity plans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EXE 420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AI Investment Strategy and Business Case Review</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Investment Strategy and Business Case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investments compete with many other public health priorities.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Leaders need a disciplined way to decide when AI is worth funding, what costs must be.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business case review helps agencies avoid buying tools that are impressive in demonstrations.</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892808"/>
            <a:ext cx="2825496" cy="135331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Level: advanced/leadership Primary track: Public Health Executive Leadership Track Appears in tracks: governance-security</a:t>
            </a:r>
            <a:endParaRPr lang="en-US" sz="13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22192"/>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Learning sequence</a:t>
            </a:r>
            <a:endParaRPr lang="en-US" sz="1300" dirty="0"/>
          </a:p>
        </p:txBody>
      </p:sp>
      <p:sp>
        <p:nvSpPr>
          <p:cNvPr id="15" name="Text 13"/>
          <p:cNvSpPr/>
          <p:nvPr/>
        </p:nvSpPr>
        <p:spPr>
          <a:xfrm>
            <a:off x="8092440" y="4187952"/>
            <a:ext cx="2770632" cy="103327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Read the module for shared vocabulary and context.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Complete the practical exercise to apply the concept.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Use the notes and references for deeper review.</a:t>
            </a:r>
            <a:endParaRPr lang="en-US" sz="12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Investment Strategy and Business Case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2: Readiness Assessment - This lesson informs Play 2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3: Establish AI Governance - This lesson informs Play 3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 connect the.</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play links to</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Locate the decision point in the playbook sequence.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Identify who should participate in the work.</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Document the review, approval, or implementation step.</a:t>
            </a:r>
            <a:endParaRPr lang="en-US" sz="122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Investment Strategy and Business Case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 to translate this.</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5: AI Environmental and Resource Impact Review (Checklist) - Use this tool to complete or.</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6: Human-Centered AI Decision Rule Checklist (Checklist) - Use Human-Centered AI Decision.</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8: AI Project Charter (Planning) - Use AI Project Charter to translate this lesson into a.</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Tool selection cues</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a tool when no comparable local process exists.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Adapt existing department templates when they already fit the.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Save the completed artifact as evidence of the decision.</a:t>
            </a:r>
            <a:endParaRPr lang="en-US" sz="12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Investment Strategy and Business Case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Identify the full cost components of AI implementation and operations.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Evaluate expected benefits in terms of public health value, workflow improvement, equity,.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Distinguish between a vendor demonstration and a credible business case.</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the full cost components of AI implementation and operations.</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Evaluate expected benefits in terms of public health value,.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Develop business case questions for AI procurement or internal.</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Produce an AI business case review worksheet.</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Investment Strategy and Business Case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investments compete with many other public health priorities.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Leaders need a disciplined way to decide when AI is worth funding, what costs must be.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business case review helps agencies avoid buying tools that are impressive in demonstrations.</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AI investments compete with many other public health priorities.</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Leaders need a disciplined way to decide when AI is worth funding,.</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 business case review helps agencies avoid buying tools that are.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This module teaches leaders to evaluate AI investments across.</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Investment Strategy and Business Case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This national-level module is intended for training and planning purposes.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does not replace legal, privacy, procurement, civil rights, records, or agency policy review.</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Learners should confirm applicable requirements in their own jurisdiction and organization.</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798064"/>
            <a:ext cx="3145536" cy="237744"/>
          </a:xfrm>
          <a:prstGeom prst="rect">
            <a:avLst/>
          </a:prstGeom>
          <a:noFill/>
          <a:ln/>
        </p:spPr>
        <p:txBody>
          <a:bodyPr wrap="square" lIns="0" tIns="0" rIns="0" bIns="0" rtlCol="0" anchor="ctr"/>
          <a:lstStyle/>
          <a:p>
            <a:pPr indent="0" marL="0">
              <a:buNone/>
            </a:pPr>
            <a:r>
              <a:rPr lang="en-US" sz="1250" b="1" dirty="0">
                <a:solidFill>
                  <a:srgbClr val="0068B7"/>
                </a:solidFill>
                <a:latin typeface="Aptos" pitchFamily="34" charset="0"/>
                <a:ea typeface="Aptos" pitchFamily="34" charset="-122"/>
                <a:cs typeface="Aptos" pitchFamily="34" charset="-120"/>
              </a:rPr>
              <a:t>Governance pathway</a:t>
            </a:r>
            <a:endParaRPr lang="en-US" sz="1250" dirty="0"/>
          </a:p>
        </p:txBody>
      </p:sp>
      <p:sp>
        <p:nvSpPr>
          <p:cNvPr id="15" name="Shape 13"/>
          <p:cNvSpPr/>
          <p:nvPr/>
        </p:nvSpPr>
        <p:spPr>
          <a:xfrm>
            <a:off x="8763000" y="3351276"/>
            <a:ext cx="164592" cy="0"/>
          </a:xfrm>
          <a:prstGeom prst="line">
            <a:avLst/>
          </a:prstGeom>
          <a:noFill/>
          <a:ln w="15240">
            <a:solidFill>
              <a:srgbClr val="8ABBD8"/>
            </a:solidFill>
            <a:prstDash val="solid"/>
          </a:ln>
        </p:spPr>
      </p:sp>
      <p:sp>
        <p:nvSpPr>
          <p:cNvPr id="16" name="Shape 14"/>
          <p:cNvSpPr/>
          <p:nvPr/>
        </p:nvSpPr>
        <p:spPr>
          <a:xfrm>
            <a:off x="7872984" y="3200400"/>
            <a:ext cx="89001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909560"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351276"/>
            <a:ext cx="164592" cy="0"/>
          </a:xfrm>
          <a:prstGeom prst="line">
            <a:avLst/>
          </a:prstGeom>
          <a:noFill/>
          <a:ln w="15240">
            <a:solidFill>
              <a:srgbClr val="8ABBD8"/>
            </a:solidFill>
            <a:prstDash val="solid"/>
          </a:ln>
        </p:spPr>
      </p:sp>
      <p:sp>
        <p:nvSpPr>
          <p:cNvPr id="19" name="Shape 17"/>
          <p:cNvSpPr/>
          <p:nvPr/>
        </p:nvSpPr>
        <p:spPr>
          <a:xfrm>
            <a:off x="8927592" y="3200400"/>
            <a:ext cx="89001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64168"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00400"/>
            <a:ext cx="89001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854696" y="3694176"/>
            <a:ext cx="3035808" cy="206654"/>
          </a:xfrm>
          <a:prstGeom prst="rect">
            <a:avLst/>
          </a:prstGeom>
          <a:noFill/>
          <a:ln/>
        </p:spPr>
        <p:txBody>
          <a:bodyPr wrap="square" lIns="254" tIns="254" rIns="254" bIns="254" rtlCol="0" anchor="t">
            <a:normAutofit/>
          </a:bodyPr>
          <a:lstStyle/>
          <a:p>
            <a:pPr indent="0" marL="0">
              <a:buNone/>
            </a:pPr>
            <a:r>
              <a:rPr lang="en-US" sz="1120" dirty="0">
                <a:solidFill>
                  <a:srgbClr val="17364A"/>
                </a:solidFill>
                <a:latin typeface="Aptos" pitchFamily="34" charset="0"/>
                <a:ea typeface="Aptos" pitchFamily="34" charset="-122"/>
                <a:cs typeface="Aptos" pitchFamily="34" charset="-120"/>
              </a:rPr>
              <a:t>A proposed AI use should move through documented review before it becomes an operational workflow.</a:t>
            </a:r>
            <a:endParaRPr lang="en-US" sz="1120" dirty="0"/>
          </a:p>
        </p:txBody>
      </p:sp>
      <p:sp>
        <p:nvSpPr>
          <p:cNvPr id="24" name="Shape 22"/>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25" name="Text 23"/>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6" name="Text 24"/>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3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Investment Strategy and Business Case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Public health agencies often face short-term funding cycles and urgent operational needs.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AI products may be marketed as quick solutions, but the true cost of responsible.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Agencies may need to update data pipelines, configure security controls, develop validation.</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Public health agencies often face short-term funding cycles and urgent operational.</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products may be marketed as quick solutions, but the true cost.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Agencies may need to update data pipelines, configure security.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 strong business case also protects mission focus.</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Investment Strategy and Business Case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 vendor offers an AI tool that promises to reduce disease investigator workload by.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annual license appears affordable, but the agency must also pay for integration with the.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If those costs are not considered, leadership may underestimate the investment required.</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 vendor offers an AI tool that promises to reduce disease investigator workload by summarizing case.</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vendor offers an AI tool that promises to reduce disease.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annual license appears affordable, but the agency must also.</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 business case review asks whether the tool will meaningfully.</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Investment Strategy and Business Case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and Governance Deep Dive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An AI business case should begin with a problem statement.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problem should be operational and measurable, such as delayed case review, inconsistent.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vague desire to 'use AI' is not a sufficient problem statement.</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An AI business case should begin with a problem statement.</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798064"/>
            <a:ext cx="3145536" cy="237744"/>
          </a:xfrm>
          <a:prstGeom prst="rect">
            <a:avLst/>
          </a:prstGeom>
          <a:noFill/>
          <a:ln/>
        </p:spPr>
        <p:txBody>
          <a:bodyPr wrap="square" lIns="0" tIns="0" rIns="0" bIns="0" rtlCol="0" anchor="ctr"/>
          <a:lstStyle/>
          <a:p>
            <a:pPr indent="0" marL="0">
              <a:buNone/>
            </a:pPr>
            <a:r>
              <a:rPr lang="en-US" sz="1250" b="1" dirty="0">
                <a:solidFill>
                  <a:srgbClr val="0068B7"/>
                </a:solidFill>
                <a:latin typeface="Aptos" pitchFamily="34" charset="0"/>
                <a:ea typeface="Aptos" pitchFamily="34" charset="-122"/>
                <a:cs typeface="Aptos" pitchFamily="34" charset="-120"/>
              </a:rPr>
              <a:t>Governance pathway</a:t>
            </a:r>
            <a:endParaRPr lang="en-US" sz="1250" dirty="0"/>
          </a:p>
        </p:txBody>
      </p:sp>
      <p:sp>
        <p:nvSpPr>
          <p:cNvPr id="15" name="Shape 13"/>
          <p:cNvSpPr/>
          <p:nvPr/>
        </p:nvSpPr>
        <p:spPr>
          <a:xfrm>
            <a:off x="8763000" y="3351276"/>
            <a:ext cx="164592" cy="0"/>
          </a:xfrm>
          <a:prstGeom prst="line">
            <a:avLst/>
          </a:prstGeom>
          <a:noFill/>
          <a:ln w="15240">
            <a:solidFill>
              <a:srgbClr val="8ABBD8"/>
            </a:solidFill>
            <a:prstDash val="solid"/>
          </a:ln>
        </p:spPr>
      </p:sp>
      <p:sp>
        <p:nvSpPr>
          <p:cNvPr id="16" name="Shape 14"/>
          <p:cNvSpPr/>
          <p:nvPr/>
        </p:nvSpPr>
        <p:spPr>
          <a:xfrm>
            <a:off x="7872984" y="3200400"/>
            <a:ext cx="89001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909560"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351276"/>
            <a:ext cx="164592" cy="0"/>
          </a:xfrm>
          <a:prstGeom prst="line">
            <a:avLst/>
          </a:prstGeom>
          <a:noFill/>
          <a:ln w="15240">
            <a:solidFill>
              <a:srgbClr val="8ABBD8"/>
            </a:solidFill>
            <a:prstDash val="solid"/>
          </a:ln>
        </p:spPr>
      </p:sp>
      <p:sp>
        <p:nvSpPr>
          <p:cNvPr id="19" name="Shape 17"/>
          <p:cNvSpPr/>
          <p:nvPr/>
        </p:nvSpPr>
        <p:spPr>
          <a:xfrm>
            <a:off x="8927592" y="3200400"/>
            <a:ext cx="89001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64168"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00400"/>
            <a:ext cx="89001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854696" y="3694176"/>
            <a:ext cx="3035808" cy="206654"/>
          </a:xfrm>
          <a:prstGeom prst="rect">
            <a:avLst/>
          </a:prstGeom>
          <a:noFill/>
          <a:ln/>
        </p:spPr>
        <p:txBody>
          <a:bodyPr wrap="square" lIns="254" tIns="254" rIns="254" bIns="254" rtlCol="0" anchor="t">
            <a:normAutofit/>
          </a:bodyPr>
          <a:lstStyle/>
          <a:p>
            <a:pPr indent="0" marL="0">
              <a:buNone/>
            </a:pPr>
            <a:r>
              <a:rPr lang="en-US" sz="1120" dirty="0">
                <a:solidFill>
                  <a:srgbClr val="17364A"/>
                </a:solidFill>
                <a:latin typeface="Aptos" pitchFamily="34" charset="0"/>
                <a:ea typeface="Aptos" pitchFamily="34" charset="-122"/>
                <a:cs typeface="Aptos" pitchFamily="34" charset="-120"/>
              </a:rPr>
              <a:t>A proposed AI use should move through documented review before it becomes an operational workflow.</a:t>
            </a:r>
            <a:endParaRPr lang="en-US" sz="1120" dirty="0"/>
          </a:p>
        </p:txBody>
      </p:sp>
      <p:sp>
        <p:nvSpPr>
          <p:cNvPr id="24" name="Shape 22"/>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25" name="Text 23"/>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6" name="Text 24"/>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3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Investment Strategy and Business Case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One risk is hidden cost.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Agencies may purchase an AI tool without funding integration, monitoring, validation, staff.</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guardrail is to require total cost of ownership in every business case.</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One risk is hidden cost.</a:t>
            </a:r>
            <a:endParaRPr lang="en-US" sz="1320" dirty="0"/>
          </a:p>
        </p:txBody>
      </p:sp>
      <p:sp>
        <p:nvSpPr>
          <p:cNvPr id="13" name="Shape 11"/>
          <p:cNvSpPr/>
          <p:nvPr/>
        </p:nvSpPr>
        <p:spPr>
          <a:xfrm>
            <a:off x="7635240" y="2670048"/>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798064"/>
            <a:ext cx="3145536" cy="237744"/>
          </a:xfrm>
          <a:prstGeom prst="rect">
            <a:avLst/>
          </a:prstGeom>
          <a:noFill/>
          <a:ln/>
        </p:spPr>
        <p:txBody>
          <a:bodyPr wrap="square" lIns="0" tIns="0" rIns="0" bIns="0" rtlCol="0" anchor="ctr"/>
          <a:lstStyle/>
          <a:p>
            <a:pPr indent="0" marL="0">
              <a:buNone/>
            </a:pPr>
            <a:r>
              <a:rPr lang="en-US" sz="1250" b="1" dirty="0">
                <a:solidFill>
                  <a:srgbClr val="0068B7"/>
                </a:solidFill>
                <a:latin typeface="Aptos" pitchFamily="34" charset="0"/>
                <a:ea typeface="Aptos" pitchFamily="34" charset="-122"/>
                <a:cs typeface="Aptos" pitchFamily="34" charset="-120"/>
              </a:rPr>
              <a:t>Risk control loop</a:t>
            </a:r>
            <a:endParaRPr lang="en-US" sz="1250" dirty="0"/>
          </a:p>
        </p:txBody>
      </p:sp>
      <p:sp>
        <p:nvSpPr>
          <p:cNvPr id="15" name="Shape 13"/>
          <p:cNvSpPr/>
          <p:nvPr/>
        </p:nvSpPr>
        <p:spPr>
          <a:xfrm>
            <a:off x="8763000" y="3351276"/>
            <a:ext cx="164592" cy="0"/>
          </a:xfrm>
          <a:prstGeom prst="line">
            <a:avLst/>
          </a:prstGeom>
          <a:noFill/>
          <a:ln w="15240">
            <a:solidFill>
              <a:srgbClr val="8ABBD8"/>
            </a:solidFill>
            <a:prstDash val="solid"/>
          </a:ln>
        </p:spPr>
      </p:sp>
      <p:sp>
        <p:nvSpPr>
          <p:cNvPr id="16" name="Shape 14"/>
          <p:cNvSpPr/>
          <p:nvPr/>
        </p:nvSpPr>
        <p:spPr>
          <a:xfrm>
            <a:off x="7872984" y="3200400"/>
            <a:ext cx="89001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909560"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Identify</a:t>
            </a:r>
            <a:endParaRPr lang="en-US" sz="880" dirty="0"/>
          </a:p>
        </p:txBody>
      </p:sp>
      <p:sp>
        <p:nvSpPr>
          <p:cNvPr id="18" name="Shape 16"/>
          <p:cNvSpPr/>
          <p:nvPr/>
        </p:nvSpPr>
        <p:spPr>
          <a:xfrm>
            <a:off x="9817608" y="3351276"/>
            <a:ext cx="164592" cy="0"/>
          </a:xfrm>
          <a:prstGeom prst="line">
            <a:avLst/>
          </a:prstGeom>
          <a:noFill/>
          <a:ln w="15240">
            <a:solidFill>
              <a:srgbClr val="8ABBD8"/>
            </a:solidFill>
            <a:prstDash val="solid"/>
          </a:ln>
        </p:spPr>
      </p:sp>
      <p:sp>
        <p:nvSpPr>
          <p:cNvPr id="19" name="Shape 17"/>
          <p:cNvSpPr/>
          <p:nvPr/>
        </p:nvSpPr>
        <p:spPr>
          <a:xfrm>
            <a:off x="8927592" y="3200400"/>
            <a:ext cx="89001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64168"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Control</a:t>
            </a:r>
            <a:endParaRPr lang="en-US" sz="880" dirty="0"/>
          </a:p>
        </p:txBody>
      </p:sp>
      <p:sp>
        <p:nvSpPr>
          <p:cNvPr id="21" name="Shape 19"/>
          <p:cNvSpPr/>
          <p:nvPr/>
        </p:nvSpPr>
        <p:spPr>
          <a:xfrm>
            <a:off x="9982200" y="3200400"/>
            <a:ext cx="89001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Monitor</a:t>
            </a:r>
            <a:endParaRPr lang="en-US" sz="880" dirty="0"/>
          </a:p>
        </p:txBody>
      </p:sp>
      <p:sp>
        <p:nvSpPr>
          <p:cNvPr id="23" name="Text 21"/>
          <p:cNvSpPr/>
          <p:nvPr/>
        </p:nvSpPr>
        <p:spPr>
          <a:xfrm>
            <a:off x="7854696" y="3694176"/>
            <a:ext cx="3035808" cy="365760"/>
          </a:xfrm>
          <a:prstGeom prst="rect">
            <a:avLst/>
          </a:prstGeom>
          <a:noFill/>
          <a:ln/>
        </p:spPr>
        <p:txBody>
          <a:bodyPr wrap="square" lIns="254" tIns="254" rIns="254" bIns="254" rtlCol="0" anchor="t">
            <a:normAutofit/>
          </a:bodyPr>
          <a:lstStyle/>
          <a:p>
            <a:pPr indent="0" marL="0">
              <a:buNone/>
            </a:pPr>
            <a:r>
              <a:rPr lang="en-US" sz="1120" dirty="0">
                <a:solidFill>
                  <a:srgbClr val="17364A"/>
                </a:solidFill>
                <a:latin typeface="Aptos" pitchFamily="34" charset="0"/>
                <a:ea typeface="Aptos" pitchFamily="34" charset="-122"/>
                <a:cs typeface="Aptos" pitchFamily="34" charset="-120"/>
              </a:rPr>
              <a:t>Responsible use depends on finding risks early, applying safeguards, and watching for drift or harm over time.</a:t>
            </a:r>
            <a:endParaRPr lang="en-US" sz="1120" dirty="0"/>
          </a:p>
        </p:txBody>
      </p:sp>
      <p:sp>
        <p:nvSpPr>
          <p:cNvPr id="24" name="Shape 22"/>
          <p:cNvSpPr/>
          <p:nvPr/>
        </p:nvSpPr>
        <p:spPr>
          <a:xfrm>
            <a:off x="7635240" y="4343400"/>
            <a:ext cx="3474720" cy="1255471"/>
          </a:xfrm>
          <a:prstGeom prst="roundRect">
            <a:avLst>
              <a:gd name="adj" fmla="val 8740"/>
            </a:avLst>
          </a:prstGeom>
          <a:solidFill>
            <a:srgbClr val="EAF6F8"/>
          </a:solidFill>
          <a:ln w="12700">
            <a:solidFill>
              <a:srgbClr val="B9D7E6"/>
            </a:solidFill>
            <a:prstDash val="solid"/>
          </a:ln>
        </p:spPr>
      </p:sp>
      <p:sp>
        <p:nvSpPr>
          <p:cNvPr id="25" name="Text 23"/>
          <p:cNvSpPr/>
          <p:nvPr/>
        </p:nvSpPr>
        <p:spPr>
          <a:xfrm>
            <a:off x="7799832" y="448970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6" name="Text 24"/>
          <p:cNvSpPr/>
          <p:nvPr/>
        </p:nvSpPr>
        <p:spPr>
          <a:xfrm>
            <a:off x="7799832" y="481888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a:t>
            </a:r>
            <a:endParaRPr lang="en-US" sz="13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Investment Strategy and Business Case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Generative AI business cases should include review time, source verification, and records.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Predictive analytics business cases should include validation data, subgroup testing, and.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Agentic AI business cases should include security architecture, approval workflows, rollback,.</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Generative AI business cases should include review time, source verification, and records considerations.</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Predictive analytics business cases should include validation.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Agentic AI business cases should include security architecture,.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Cost and value must reflect responsible use.</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3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Investment Strategy and Business Case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Which current or proposed AI use case in your agency raises this leadership or governance.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Who currently has authority to make decisions about this issue, and is that authority.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What evidence would governance or leadership need before approving the use case?</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Which current or proposed AI use case in your agency raises this leadership or governance issue most.</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Which current or proposed AI use case in your agency raises this.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Who currently has authority to make decisions about this issue,.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evidence would governance or leadership need before approving.</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Investment Strategy and Business Case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Which staff, partners, or communities would be affected if this issue were handled poorly?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What policy, process, or artifact should be created or updated after this module?</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Which staff, partners, or communities would be affected if this issue were handled.</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Which staff, partners, or communities would be affected if this.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policy, process, or artifact should be created or updated.</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Investment Strategy and Business Case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Complete an AI business case review worksheet for one proposed investment.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Include problem, alternatives, expected benefits, total cost of ownership, risk, equity.</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Complete an AI business case review worksheet for one proposed investment.</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Complete an AI business case review worksheet for one proposed.</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Include problem, alternatives, expected benefits, total cost of.</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Investment Strategy and Business Case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Before You Begin</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Choose a real or realistic public health AI use case.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Document assumptions, unresolved questions, and which agency roles would need to review the.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exercise should produce a work product that could support governance review, leadership.</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Choose a real or realistic public health AI use case.</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Document assumptions, unresolved questions, and which agency roles.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exercise should produce a work product that could support.</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Investment Strategy and Business Case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business case worksheet; total cost of ownership estimate; benefits realization plan;.</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AI business case worksheet; total cost of ownership estimate; benefits realization plan; alternatives.</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business case worksheet; total cost of ownership estimate;.</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Investment Strategy and Business Case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business case worksheet; total cost of ownership estimate; benefits realization plan;.</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AI business case worksheet; total cost of ownership estimate; benefits realization plan; alternatives.</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business case worksheet; total cost of ownership estimate;.</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Investment Strategy and Business Case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1. What is the strongest reason this module topic belongs in AI leadership and governance.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2. Which practice best supports accountable public health AI governance?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3. When should an AI use case be escalated for leadership or governance review?</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1. What is the strongest reason this module topic belongs in AI leadership and governance training?</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1.</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is the strongest reason this module topic belongs in AI.</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2.</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Investment Strategy and Business Case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NIST Artificial Intelligence Risk Management Framework (AI RMF 1.0):.</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NIST Generative AI Profile:.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NIST Privacy Framework</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NIST Artificial Intelligence Risk Management Framework (AI RMF 1.0):.</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NIST Artificial Intelligence Risk Management Framework (AI RMF.</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WHO Ethics and Governance of Artificial Intelligence for Health:.</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Investment Strategy and Business Case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OMB Memorandum M-24-10 on federal AI governance, risk management, and innovation, where.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Agency strategic plans, procurement policies, privacy policies, cybersecurity policies, records.</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OMB Memorandum M-24-10 on federal AI governance, risk management, and innovation, where relevant to.</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OMB Memorandum M-24-10 on federal AI governance, risk management,.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Agency strategic plans, procurement policies, privacy policies,.</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Investment Strategy and Business Case Review</dc:title>
  <dc:subject>AI Investment Strategy and Business Case Review learning module</dc:subject>
  <dc:creator>Paula Soper</dc:creator>
  <cp:lastModifiedBy>Paula Soper</cp:lastModifiedBy>
  <cp:revision>1</cp:revision>
  <dcterms:created xsi:type="dcterms:W3CDTF">2026-07-13T02:33:44Z</dcterms:created>
  <dcterms:modified xsi:type="dcterms:W3CDTF">2026-07-13T02:33:44Z</dcterms:modified>
</cp:coreProperties>
</file>