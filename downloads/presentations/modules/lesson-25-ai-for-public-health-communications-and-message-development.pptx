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 translate, tailor, and test messages.</a:t>
            </a:r>
            <a:endParaRPr lang="en-US" sz="1700" dirty="0"/>
          </a:p>
          <a:p>
            <a:r>
              <a:rPr lang="en-US" sz="17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1700" dirty="0"/>
          </a:p>
          <a:p>
            <a:r>
              <a:rPr lang="en-US" sz="17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 using stigmatizing language, failing to meet.</a:t>
            </a:r>
            <a:endParaRPr lang="en-US" sz="1700" dirty="0"/>
          </a:p>
          <a:p>
            <a:r>
              <a:rPr lang="en-US" sz="1700" dirty="0">
                <a:solidFill>
                  <a:srgbClr val="17364A"/>
                </a:solidFill>
                <a:latin typeface="Aptos" pitchFamily="34" charset="0"/>
                <a:ea typeface="Aptos" pitchFamily="34" charset="-122"/>
                <a:cs typeface="Aptos" pitchFamily="34" charset="-120"/>
              </a:rPr>
              <a:t>This module teaches communications staff and program partners how to use AI as a drafting and review aid while preserving human accountability.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Communications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communications, shared-foundational, policy,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700" dirty="0"/>
          </a:p>
          <a:p>
            <a:r>
              <a:rPr lang="en-US" sz="1700" dirty="0">
                <a:solidFill>
                  <a:srgbClr val="17364A"/>
                </a:solidFill>
                <a:latin typeface="Aptos" pitchFamily="34" charset="0"/>
                <a:ea typeface="Aptos" pitchFamily="34" charset="-122"/>
                <a:cs typeface="Aptos" pitchFamily="34" charset="-120"/>
              </a:rPr>
              <a:t>Apply source verification, plain language, accessibility, and equity review to AI-generated messages.</a:t>
            </a:r>
            <a:endParaRPr lang="en-US" sz="1700" dirty="0"/>
          </a:p>
          <a:p>
            <a:r>
              <a:rPr lang="en-US" sz="1700" dirty="0">
                <a:solidFill>
                  <a:srgbClr val="17364A"/>
                </a:solidFill>
                <a:latin typeface="Aptos" pitchFamily="34" charset="0"/>
                <a:ea typeface="Aptos" pitchFamily="34" charset="-122"/>
                <a:cs typeface="Aptos" pitchFamily="34" charset="-120"/>
              </a:rPr>
              <a:t>Design a human review workflow for AI-assisted public-facing communications.</a:t>
            </a:r>
            <a:endParaRPr lang="en-US" sz="1700" dirty="0"/>
          </a:p>
          <a:p>
            <a:r>
              <a:rPr lang="en-US" sz="1700" dirty="0">
                <a:solidFill>
                  <a:srgbClr val="17364A"/>
                </a:solidFill>
                <a:latin typeface="Aptos" pitchFamily="34" charset="0"/>
                <a:ea typeface="Aptos" pitchFamily="34" charset="-122"/>
                <a:cs typeface="Aptos" pitchFamily="34" charset="-120"/>
              </a:rPr>
              <a:t>Recognize misinformation, overstatement, missing uncertainty, and stigmatizing language risks.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 translate, tailor, and.</a:t>
            </a:r>
            <a:endParaRPr lang="en-US" sz="1700" dirty="0"/>
          </a:p>
          <a:p>
            <a:r>
              <a:rPr lang="en-US" sz="17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1700" dirty="0"/>
          </a:p>
          <a:p>
            <a:r>
              <a:rPr lang="en-US" sz="17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 using stigmatizing.</a:t>
            </a:r>
            <a:endParaRPr lang="en-US" sz="1700" dirty="0"/>
          </a:p>
          <a:p>
            <a:r>
              <a:rPr lang="en-US" sz="1700" dirty="0">
                <a:solidFill>
                  <a:srgbClr val="17364A"/>
                </a:solidFill>
                <a:latin typeface="Aptos" pitchFamily="34" charset="0"/>
                <a:ea typeface="Aptos" pitchFamily="34" charset="-122"/>
                <a:cs typeface="Aptos" pitchFamily="34" charset="-120"/>
              </a:rPr>
              <a:t>This module teaches communications staff and program partners how to use AI as a drafting and review aid while preserving.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 translate, tailor,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 people without reliable.</a:t>
            </a:r>
            <a:endParaRPr lang="en-US" sz="1700" dirty="0"/>
          </a:p>
          <a:p>
            <a:r>
              <a:rPr lang="en-US" sz="1700" dirty="0">
                <a:solidFill>
                  <a:srgbClr val="17364A"/>
                </a:solidFill>
                <a:latin typeface="Aptos" pitchFamily="34" charset="0"/>
                <a:ea typeface="Aptos" pitchFamily="34" charset="-122"/>
                <a:cs typeface="Aptos" pitchFamily="34" charset="-120"/>
              </a:rPr>
              <a:t>Communications staff verify the recommendations against official guidance, rewrite the message in plain language, review it.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 people without reliable.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can be useful early in the message development process.</a:t>
            </a:r>
            <a:endParaRPr lang="en-US" sz="1700" dirty="0"/>
          </a:p>
          <a:p>
            <a:r>
              <a:rPr lang="en-US" sz="1700" dirty="0">
                <a:solidFill>
                  <a:srgbClr val="17364A"/>
                </a:solidFill>
                <a:latin typeface="Aptos" pitchFamily="34" charset="0"/>
                <a:ea typeface="Aptos" pitchFamily="34" charset="-122"/>
                <a:cs typeface="Aptos" pitchFamily="34" charset="-120"/>
              </a:rPr>
              <a:t>It can generate first drafts, propose alternative tones, simplify technical language, identify jargon, create.</a:t>
            </a:r>
            <a:endParaRPr lang="en-US" sz="1700" dirty="0"/>
          </a:p>
          <a:p>
            <a:r>
              <a:rPr lang="en-US" sz="1700" dirty="0">
                <a:solidFill>
                  <a:srgbClr val="17364A"/>
                </a:solidFill>
                <a:latin typeface="Aptos" pitchFamily="34" charset="0"/>
                <a:ea typeface="Aptos" pitchFamily="34" charset="-122"/>
                <a:cs typeface="Aptos" pitchFamily="34" charset="-120"/>
              </a:rPr>
              <a:t>These uses can save time, especially when communications staff support multiple programs.</a:t>
            </a:r>
            <a:endParaRPr lang="en-US" sz="1700" dirty="0"/>
          </a:p>
          <a:p>
            <a:r>
              <a:rPr lang="en-US" sz="1700" dirty="0">
                <a:solidFill>
                  <a:srgbClr val="17364A"/>
                </a:solidFill>
                <a:latin typeface="Aptos" pitchFamily="34" charset="0"/>
                <a:ea typeface="Aptos" pitchFamily="34" charset="-122"/>
                <a:cs typeface="Aptos" pitchFamily="34" charset="-120"/>
              </a:rPr>
              <a:t>However, AI should not be treated as the authority on public health content.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can be useful early in the message development process.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can also support review, but it should not replace reviewers.</a:t>
            </a:r>
            <a:endParaRPr lang="en-US" sz="1700" dirty="0"/>
          </a:p>
          <a:p>
            <a:r>
              <a:rPr lang="en-US" sz="1700" dirty="0">
                <a:solidFill>
                  <a:srgbClr val="17364A"/>
                </a:solidFill>
                <a:latin typeface="Aptos" pitchFamily="34" charset="0"/>
                <a:ea typeface="Aptos" pitchFamily="34" charset="-122"/>
                <a:cs typeface="Aptos" pitchFamily="34" charset="-120"/>
              </a:rPr>
              <a:t>A communications workflow should define who checks technical accuracy, who reviews equity and accessibility, who approves.</a:t>
            </a:r>
            <a:endParaRPr lang="en-US" sz="1700" dirty="0"/>
          </a:p>
          <a:p>
            <a:r>
              <a:rPr lang="en-US" sz="1700" dirty="0">
                <a:solidFill>
                  <a:srgbClr val="17364A"/>
                </a:solidFill>
                <a:latin typeface="Aptos" pitchFamily="34" charset="0"/>
                <a:ea typeface="Aptos" pitchFamily="34" charset="-122"/>
                <a:cs typeface="Aptos" pitchFamily="34" charset="-120"/>
              </a:rPr>
              <a:t>For urgent communications, the workflow should include expedited review rules that still preserve accuracy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can also support review, but it should not replace reviewers.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1700" dirty="0"/>
          </a:p>
          <a:p>
            <a:r>
              <a:rPr lang="en-US" sz="170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700" dirty="0"/>
          </a:p>
          <a:p>
            <a:r>
              <a:rPr lang="en-US" sz="1700" dirty="0">
                <a:solidFill>
                  <a:srgbClr val="17364A"/>
                </a:solidFill>
                <a:latin typeface="Aptos" pitchFamily="34" charset="0"/>
                <a:ea typeface="Aptos" pitchFamily="34" charset="-122"/>
                <a:cs typeface="Aptos" pitchFamily="34" charset="-120"/>
              </a:rPr>
              <a:t>Public-facing content being released without required subject matter or leadership review.</a:t>
            </a:r>
            <a:endParaRPr lang="en-US" sz="1700" dirty="0"/>
          </a:p>
          <a:p>
            <a:r>
              <a:rPr lang="en-US" sz="1700" dirty="0">
                <a:solidFill>
                  <a:srgbClr val="17364A"/>
                </a:solidFill>
                <a:latin typeface="Aptos" pitchFamily="34" charset="0"/>
                <a:ea typeface="Aptos" pitchFamily="34" charset="-122"/>
                <a:cs typeface="Aptos" pitchFamily="34" charset="-120"/>
              </a:rPr>
              <a:t>Messages that assume access to resources, technology, transportation, or healthcare that the audience may not have.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Use only approved tools and approved source material for public health communications.</a:t>
            </a:r>
            <a:endParaRPr lang="en-US" sz="1700" dirty="0"/>
          </a:p>
          <a:p>
            <a:r>
              <a:rPr lang="en-US" sz="1700" dirty="0">
                <a:solidFill>
                  <a:srgbClr val="17364A"/>
                </a:solidFill>
                <a:latin typeface="Aptos" pitchFamily="34" charset="0"/>
                <a:ea typeface="Aptos" pitchFamily="34" charset="-122"/>
                <a:cs typeface="Aptos" pitchFamily="34" charset="-120"/>
              </a:rPr>
              <a:t>Require human review for accuracy, plain language, accessibility, equity, and tone.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Document source material used for public-facing claims.</a:t>
            </a:r>
            <a:endParaRPr lang="en-US" sz="1700" dirty="0"/>
          </a:p>
          <a:p>
            <a:r>
              <a:rPr lang="en-US" sz="1700" dirty="0">
                <a:solidFill>
                  <a:srgbClr val="17364A"/>
                </a:solidFill>
                <a:latin typeface="Aptos" pitchFamily="34" charset="0"/>
                <a:ea typeface="Aptos" pitchFamily="34" charset="-122"/>
                <a:cs typeface="Aptos" pitchFamily="34" charset="-120"/>
              </a:rPr>
              <a:t>Use qualified review for translation and language access needs.</a:t>
            </a:r>
            <a:endParaRPr lang="en-US" sz="1700" dirty="0"/>
          </a:p>
          <a:p>
            <a:r>
              <a:rPr lang="en-US" sz="1700" dirty="0">
                <a:solidFill>
                  <a:srgbClr val="17364A"/>
                </a:solidFill>
                <a:latin typeface="Aptos" pitchFamily="34" charset="0"/>
                <a:ea typeface="Aptos" pitchFamily="34" charset="-122"/>
                <a:cs typeface="Aptos" pitchFamily="34" charset="-120"/>
              </a:rPr>
              <a:t>Route public-facing materials through the agency approval process before release.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Document source material used for public-facing claims.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700" dirty="0"/>
          </a:p>
          <a:p>
            <a:r>
              <a:rPr lang="en-US" sz="1700" dirty="0">
                <a:solidFill>
                  <a:srgbClr val="17364A"/>
                </a:solidFill>
                <a:latin typeface="Aptos" pitchFamily="34" charset="0"/>
                <a:ea typeface="Aptos" pitchFamily="34" charset="-122"/>
                <a:cs typeface="Aptos" pitchFamily="34" charset="-120"/>
              </a:rPr>
              <a:t>Include intended audience, source material, factual claims to verify, plain language review, accessibility review, language.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AI-assisted communications review checklist</a:t>
            </a:r>
            <a:endParaRPr lang="en-US" sz="1700" dirty="0"/>
          </a:p>
          <a:p>
            <a:r>
              <a:rPr lang="en-US" sz="1700" dirty="0">
                <a:solidFill>
                  <a:srgbClr val="17364A"/>
                </a:solidFill>
                <a:latin typeface="Aptos" pitchFamily="34" charset="0"/>
                <a:ea typeface="Aptos" pitchFamily="34" charset="-122"/>
                <a:cs typeface="Aptos" pitchFamily="34" charset="-120"/>
              </a:rPr>
              <a:t>Source verification notes</a:t>
            </a:r>
            <a:endParaRPr lang="en-US" sz="1700" dirty="0"/>
          </a:p>
          <a:p>
            <a:r>
              <a:rPr lang="en-US" sz="1700" dirty="0">
                <a:solidFill>
                  <a:srgbClr val="17364A"/>
                </a:solidFill>
                <a:latin typeface="Aptos" pitchFamily="34" charset="0"/>
                <a:ea typeface="Aptos" pitchFamily="34" charset="-122"/>
                <a:cs typeface="Aptos" pitchFamily="34" charset="-120"/>
              </a:rPr>
              <a:t>Plain language and accessibility review notes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AI-assisted communications review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Approval pathway documentation</a:t>
            </a:r>
            <a:endParaRPr lang="en-US" sz="1700" dirty="0"/>
          </a:p>
          <a:p>
            <a:r>
              <a:rPr lang="en-US" sz="1700" dirty="0">
                <a:solidFill>
                  <a:srgbClr val="17364A"/>
                </a:solidFill>
                <a:latin typeface="Aptos" pitchFamily="34" charset="0"/>
                <a:ea typeface="Aptos" pitchFamily="34" charset="-122"/>
                <a:cs typeface="Aptos" pitchFamily="34" charset="-120"/>
              </a:rPr>
              <a:t>Final reviewed message or sample revision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Approval pathway documentation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AI-assisted communications review checklist</a:t>
            </a:r>
            <a:endParaRPr lang="en-US" sz="1700" dirty="0"/>
          </a:p>
          <a:p>
            <a:r>
              <a:rPr lang="en-US" sz="1700" dirty="0">
                <a:solidFill>
                  <a:srgbClr val="17364A"/>
                </a:solidFill>
                <a:latin typeface="Aptos" pitchFamily="34" charset="0"/>
                <a:ea typeface="Aptos" pitchFamily="34" charset="-122"/>
                <a:cs typeface="Aptos" pitchFamily="34" charset="-120"/>
              </a:rPr>
              <a:t>Source verification notes</a:t>
            </a:r>
            <a:endParaRPr lang="en-US" sz="1700" dirty="0"/>
          </a:p>
          <a:p>
            <a:r>
              <a:rPr lang="en-US" sz="1700" dirty="0">
                <a:solidFill>
                  <a:srgbClr val="17364A"/>
                </a:solidFill>
                <a:latin typeface="Aptos" pitchFamily="34" charset="0"/>
                <a:ea typeface="Aptos" pitchFamily="34" charset="-122"/>
                <a:cs typeface="Aptos" pitchFamily="34" charset="-120"/>
              </a:rPr>
              <a:t>Plain language and accessibility review notes</a:t>
            </a:r>
            <a:endParaRPr lang="en-US" sz="1700" dirty="0"/>
          </a:p>
          <a:p>
            <a:r>
              <a:rPr lang="en-US" sz="1700" dirty="0">
                <a:solidFill>
                  <a:srgbClr val="17364A"/>
                </a:solidFill>
                <a:latin typeface="Aptos" pitchFamily="34" charset="0"/>
                <a:ea typeface="Aptos" pitchFamily="34" charset="-122"/>
                <a:cs typeface="Aptos" pitchFamily="34" charset="-120"/>
              </a:rPr>
              <a:t>Approval pathway documentation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AI-assisted communications review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700" dirty="0"/>
          </a:p>
          <a:p>
            <a:r>
              <a:rPr lang="en-US" sz="1700" dirty="0">
                <a:solidFill>
                  <a:srgbClr val="17364A"/>
                </a:solidFill>
                <a:latin typeface="Aptos" pitchFamily="34" charset="0"/>
                <a:ea typeface="Aptos" pitchFamily="34" charset="-122"/>
                <a:cs typeface="Aptos" pitchFamily="34" charset="-120"/>
              </a:rPr>
              <a:t>2. Why is source verification necessary?</a:t>
            </a:r>
            <a:endParaRPr lang="en-US" sz="1700" dirty="0"/>
          </a:p>
          <a:p>
            <a:r>
              <a:rPr lang="en-US" sz="1700" dirty="0">
                <a:solidFill>
                  <a:srgbClr val="17364A"/>
                </a:solidFill>
                <a:latin typeface="Aptos" pitchFamily="34" charset="0"/>
                <a:ea typeface="Aptos" pitchFamily="34" charset="-122"/>
                <a:cs typeface="Aptos" pitchFamily="34" charset="-120"/>
              </a:rPr>
              <a:t>3. Which review is especially important for public-facing AI-assisted messages?</a:t>
            </a:r>
            <a:endParaRPr lang="en-US" sz="1700" dirty="0"/>
          </a:p>
          <a:p>
            <a:r>
              <a:rPr lang="en-US" sz="1700" dirty="0">
                <a:solidFill>
                  <a:srgbClr val="17364A"/>
                </a:solidFill>
                <a:latin typeface="Aptos" pitchFamily="34" charset="0"/>
                <a:ea typeface="Aptos" pitchFamily="34" charset="-122"/>
                <a:cs typeface="Aptos" pitchFamily="34" charset="-120"/>
              </a:rPr>
              <a:t>4. What should happen with AI-assisted translation for public health messages?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2026-07-12T18:54:57Z</dcterms:created>
  <dcterms:modified xsi:type="dcterms:W3CDTF">2026-07-12T18:54:57Z</dcterms:modified>
</cp:coreProperties>
</file>