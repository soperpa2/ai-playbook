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470 AI Crisis Communications and Executive Response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public-health-executive-leadership, communications, governance-security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crisis communications and executive response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executive response to AI incidents, media scrutiny, public concern, and vendor failure.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Crisis Communications and Executive Response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executive response to AI incidents, media scrutiny, public concern, and vendor failure.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crisis communications and executive response artifact for one AI-supported public health use case. The artifact should define the use case, affected roles, review criteria, safeguards, documentation expectations, escalation triggers, monitoring indicators, and next review date.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Crisis Communications and Executive Response artifact
Role and responsibility table
Risk and safeguard summary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Crisis Communications and Executive Response artifact
Role and responsibility table
Risk and safeguard summary
Escalation and monitoring plan
Approval or review note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crisis communications and executive response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470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Crisis Communications and Executive Response</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executive response to AI incidents, media scrutiny, public concern,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892808"/>
            <a:ext cx="2825496" cy="135331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Level: advanced/leadership Primary track: Public Health Executive Leadership Track Appears in tracks: public-health-executive-leadership, communications, governance-security</a:t>
            </a:r>
            <a:endParaRPr lang="en-US" sz="13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Read the module for shared vocabulary and context.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Complete the practical exercise to apply the concept.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Use the notes and references for deeper review.</a:t>
            </a:r>
            <a:endParaRPr lang="en-US" sz="12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 learners connect the.</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3: Establish AI Governance - This lesson informs Play 3 by helping learners connect the.</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Locate the decision point in the playbook sequence.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Identify who should participate in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Document the review, approval, or implementation step.</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1: AI Vision &amp; Principles Workshop (Workshop) - Use AI Vision &amp; Principles Workshop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 to translate this.</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 Environmental and.</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 Human-Centered AI Decision.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892808"/>
            <a:ext cx="2734056" cy="1536192"/>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3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a tool when no comparable local process exists.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Adapt existing department templates when they already fit the.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Save the completed artifact as evidence of the decision.</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Explain the purpose of ai crisis communications and executive response in public health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Identify the roles, decisions, risks, and documentation needed for the topic.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Apply the topic to a real or realistic public health workflow or decision.</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Explain the purpose of ai crisis communications and executive response in public.</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Recognize equity, privacy, security, legal, operational,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Produce a practical artifact that supports readiness, governance,.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focuses on executive response to AI incidents, media scrutiny, public concern,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designed for public health staff who must translate responsible AI principles into.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module helps learners move beyond general awareness by producing a practical artifact that.</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focuses on executive response to AI incidents, media scrutiny, public concern, and vendor.</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Trust cycle</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Communication and engagement are stronger when feedback changes the work and the department reports what.</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Definitions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Decision right: The authority to approve, deny, modify, pause, or escalate an AI use case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Evidence artifact: A document, log, checklist, test result, approval record, or review note.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Escalation pathway: A defined route for raising concerns to the appropriate reviewer or.</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Decision right: The authority to approve, deny, modify, pause, or escalate an AI use.</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Decision right: The authority to approve, deny, modify, pause, or.</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Evidence artifact: A document, log, checklist, test result,.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Accountability owner: The person or role responsible for ensuring.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provides national-level training guidance for public health agencies and partners.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is not legal advice and does not replace review by agency legal counsel, privacy officers,.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Requirements may vary by state, locality, territory, Tribe, agency, funding source,.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module provides national-level training guidance for public health agencies and.</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798064"/>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Governance pathway</a:t>
            </a:r>
            <a:endParaRPr lang="en-US" sz="1250" dirty="0"/>
          </a:p>
        </p:txBody>
      </p:sp>
      <p:sp>
        <p:nvSpPr>
          <p:cNvPr id="15" name="Shape 13"/>
          <p:cNvSpPr/>
          <p:nvPr/>
        </p:nvSpPr>
        <p:spPr>
          <a:xfrm>
            <a:off x="8763000" y="3351276"/>
            <a:ext cx="164592" cy="0"/>
          </a:xfrm>
          <a:prstGeom prst="line">
            <a:avLst/>
          </a:prstGeom>
          <a:noFill/>
          <a:ln w="15240">
            <a:solidFill>
              <a:srgbClr val="8ABBD8"/>
            </a:solidFill>
            <a:prstDash val="solid"/>
          </a:ln>
        </p:spPr>
      </p:sp>
      <p:sp>
        <p:nvSpPr>
          <p:cNvPr id="16" name="Shape 14"/>
          <p:cNvSpPr/>
          <p:nvPr/>
        </p:nvSpPr>
        <p:spPr>
          <a:xfrm>
            <a:off x="7872984" y="3200400"/>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351276"/>
            <a:ext cx="164592" cy="0"/>
          </a:xfrm>
          <a:prstGeom prst="line">
            <a:avLst/>
          </a:prstGeom>
          <a:noFill/>
          <a:ln w="15240">
            <a:solidFill>
              <a:srgbClr val="8ABBD8"/>
            </a:solidFill>
            <a:prstDash val="solid"/>
          </a:ln>
        </p:spPr>
      </p:sp>
      <p:sp>
        <p:nvSpPr>
          <p:cNvPr id="19" name="Shape 17"/>
          <p:cNvSpPr/>
          <p:nvPr/>
        </p:nvSpPr>
        <p:spPr>
          <a:xfrm>
            <a:off x="8927592" y="3200400"/>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00400"/>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273552"/>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854696" y="3694176"/>
            <a:ext cx="3035808" cy="206654"/>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A proposed AI use should move through documented review before it becomes an operational workflow.</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3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Crisis Communications and Executive Response matters because AI adoption changes how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Without a structured approach, staff may rely on informal practices, vendor assurances, or.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operate under legal authorities, public accountability, resource.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Crisis Communications and Executive Response matters because AI adoption changes how public health.</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46527"/>
            <a:ext cx="3145536" cy="237744"/>
          </a:xfrm>
          <a:prstGeom prst="rect">
            <a:avLst/>
          </a:prstGeom>
          <a:noFill/>
          <a:ln/>
        </p:spPr>
        <p:txBody>
          <a:bodyPr wrap="square" lIns="0" tIns="0" rIns="0" bIns="0" rtlCol="0" anchor="ctr"/>
          <a:lstStyle/>
          <a:p>
            <a:pPr indent="0" marL="0">
              <a:buNone/>
            </a:pPr>
            <a:r>
              <a:rPr lang="en-US" sz="1250" b="1" dirty="0">
                <a:solidFill>
                  <a:srgbClr val="0068B7"/>
                </a:solidFill>
                <a:latin typeface="Aptos" pitchFamily="34" charset="0"/>
                <a:ea typeface="Aptos" pitchFamily="34" charset="-122"/>
                <a:cs typeface="Aptos" pitchFamily="34" charset="-120"/>
              </a:rPr>
              <a:t>Trust cycle</a:t>
            </a:r>
            <a:endParaRPr lang="en-US" sz="1250" dirty="0"/>
          </a:p>
        </p:txBody>
      </p:sp>
      <p:sp>
        <p:nvSpPr>
          <p:cNvPr id="15" name="Shape 13"/>
          <p:cNvSpPr/>
          <p:nvPr/>
        </p:nvSpPr>
        <p:spPr>
          <a:xfrm>
            <a:off x="8763000" y="3399739"/>
            <a:ext cx="164592" cy="0"/>
          </a:xfrm>
          <a:prstGeom prst="line">
            <a:avLst/>
          </a:prstGeom>
          <a:noFill/>
          <a:ln w="15240">
            <a:solidFill>
              <a:srgbClr val="8ABBD8"/>
            </a:solidFill>
            <a:prstDash val="solid"/>
          </a:ln>
        </p:spPr>
      </p:sp>
      <p:sp>
        <p:nvSpPr>
          <p:cNvPr id="16" name="Shape 14"/>
          <p:cNvSpPr/>
          <p:nvPr/>
        </p:nvSpPr>
        <p:spPr>
          <a:xfrm>
            <a:off x="7872984" y="3248863"/>
            <a:ext cx="89001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909560"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399739"/>
            <a:ext cx="164592" cy="0"/>
          </a:xfrm>
          <a:prstGeom prst="line">
            <a:avLst/>
          </a:prstGeom>
          <a:noFill/>
          <a:ln w="15240">
            <a:solidFill>
              <a:srgbClr val="8ABBD8"/>
            </a:solidFill>
            <a:prstDash val="solid"/>
          </a:ln>
        </p:spPr>
      </p:sp>
      <p:sp>
        <p:nvSpPr>
          <p:cNvPr id="19" name="Shape 17"/>
          <p:cNvSpPr/>
          <p:nvPr/>
        </p:nvSpPr>
        <p:spPr>
          <a:xfrm>
            <a:off x="8927592" y="3248863"/>
            <a:ext cx="89001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64168"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48863"/>
            <a:ext cx="89001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2015"/>
            <a:ext cx="81686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854696" y="3742639"/>
            <a:ext cx="3035808" cy="158191"/>
          </a:xfrm>
          <a:prstGeom prst="rect">
            <a:avLst/>
          </a:prstGeom>
          <a:noFill/>
          <a:ln/>
        </p:spPr>
        <p:txBody>
          <a:bodyPr wrap="square" lIns="254" tIns="254" rIns="254" bIns="254" rtlCol="0" anchor="t">
            <a:normAutofit/>
          </a:bodyPr>
          <a:lstStyle/>
          <a:p>
            <a:pPr indent="0" marL="0">
              <a:buNone/>
            </a:pPr>
            <a:r>
              <a:rPr lang="en-US" sz="1120" dirty="0">
                <a:solidFill>
                  <a:srgbClr val="17364A"/>
                </a:solidFill>
                <a:latin typeface="Aptos" pitchFamily="34" charset="0"/>
                <a:ea typeface="Aptos" pitchFamily="34" charset="-122"/>
                <a:cs typeface="Aptos" pitchFamily="34" charset="-120"/>
              </a:rPr>
              <a:t>Communication and engagement are stronger when feedback changes the work and the department reports what.</a:t>
            </a:r>
            <a:endParaRPr lang="en-US" sz="1120" dirty="0"/>
          </a:p>
        </p:txBody>
      </p:sp>
      <p:sp>
        <p:nvSpPr>
          <p:cNvPr id="24" name="Shape 22"/>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25" name="Text 23"/>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26" name="Text 24"/>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public health agency is preparing to use AI in a workflow related to executive response to AI.</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project team initially treats the tool as a helpful efficiency aid, but governance.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agency responds by creating a clear artifact that defines intended use, prohibited use,.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public health agency is preparing to use AI in a workflow related to executive response to AI.</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public health agency is preparing to use AI in a workflow.</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project team initially treats the tool as a helpful efficiency.</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agency responds by creating a clear artifact that defines.</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The first step in this topic is to define the decision or workflow clearly.</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Staff should identify who is affected, what data are used, what AI output is produced, who.</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prevents the module from becoming abstract and anchors the work in public health practice.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Staff should identify who is affected, what data are used, what AI.</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second step is to assign responsibilities.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AI-supported workflows often cross program, IT, legal, privacy,.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 common failure mode is treating the topic as a one-time checklist.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AI risks can change when data sources, models, vendors, policies, users, or public.</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 guardrail is to define review intervals and change triggers.</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320" dirty="0"/>
          </a:p>
        </p:txBody>
      </p:sp>
      <p:sp>
        <p:nvSpPr>
          <p:cNvPr id="13" name="Shape 11"/>
          <p:cNvSpPr/>
          <p:nvPr/>
        </p:nvSpPr>
        <p:spPr>
          <a:xfrm>
            <a:off x="7635240" y="2670048"/>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877824"/>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Another failure mode is unclear ownership.</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When everyone is responsible in general, no one may be responsible.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 guardrail is to assign an accountability owner and name.</a:t>
            </a:r>
            <a:endParaRPr lang="en-US" sz="1220" dirty="0"/>
          </a:p>
        </p:txBody>
      </p:sp>
      <p:sp>
        <p:nvSpPr>
          <p:cNvPr id="16" name="Shape 14"/>
          <p:cNvSpPr/>
          <p:nvPr/>
        </p:nvSpPr>
        <p:spPr>
          <a:xfrm>
            <a:off x="7635240" y="4343400"/>
            <a:ext cx="3474720" cy="1255471"/>
          </a:xfrm>
          <a:prstGeom prst="roundRect">
            <a:avLst>
              <a:gd name="adj" fmla="val 8740"/>
            </a:avLst>
          </a:prstGeom>
          <a:solidFill>
            <a:srgbClr val="EAF6F8"/>
          </a:solidFill>
          <a:ln w="12700">
            <a:solidFill>
              <a:srgbClr val="B9D7E6"/>
            </a:solidFill>
            <a:prstDash val="solid"/>
          </a:ln>
        </p:spPr>
      </p:sp>
      <p:sp>
        <p:nvSpPr>
          <p:cNvPr id="17" name="Text 15"/>
          <p:cNvSpPr/>
          <p:nvPr/>
        </p:nvSpPr>
        <p:spPr>
          <a:xfrm>
            <a:off x="7799832" y="448970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481888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a:t>
            </a:r>
            <a:endParaRPr lang="en-US" sz="13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topic applies across generative AI, predictive analytics, NLP, RAG, automation, and.</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more sensitive the data, the more consequential the output, or the more automated the.</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Implementation cue</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This topic applies across generative AI, predictive analytics, NLP, RAG, automation, and agentic.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topic applies across generative AI, predictive analytics,.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more sensitive the data, the more consequential the output, or.</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Next action</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clarify workflow changes, dependencies, staffing, procurement requirements, training needs, and implementation checkpoints.</a:t>
            </a:r>
            <a:endParaRPr lang="en-US" sz="13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public health decision or workflow does this topic affect?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has authority to approve or pause the work?</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What evidence would show that the workflow is responsible and effective?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Who has authority to approve or pause the work?</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evidence would show that the workflow is responsible and.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What equity, privacy, legal, security, or public trust risks require review?</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How will the agency know when the workflow needs to be revised?</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equity, privacy, legal, security, or public trust risks.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How will the agency know when the workflow needs to be revised?</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Create a practical ai crisis communications and executive response artifact for one.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The artifact should define the use case, affected roles, review criteria, safeguards,.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Create a practical ai crisis communications and executive response artifact for one AI-supported public.</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 practical ai crisis communications and executive response.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The artifact should define the use case, affected roles, review.</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Crisis Communications and Executive Response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Crisis Communications and Executive Response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AI Crisis Communications and Executive Response artifact</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Role and responsibility table</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Risk and safeguard summary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Escalation and monitoring plan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Approval or review note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Escalation and monitoring plan</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AI Crisis Communications and Executive Response artifact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Role and responsibility table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Risk and safeguard summary</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AI Crisis Communications and Executive Response artifact</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Escalation and monitoring plan</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Approval or review note</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1. What is the strongest evidence that ai crisis communications and executive response has.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2. What is the best reason to assign an accountability owner?</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3. When should an AI-supported workflow be escalated for review?</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1. What is the strongest evidence that ai crisis communications and executive response has been applied.</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1.</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What is the strongest evidence that ai crisis communications and.</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2.</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3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CDC Public Health Data Strategy and Data Modernization resources:.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NIST Artificial Intelligence Risk Management Framework and NIST Generative AI Profile:.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WHO Ethics and Governance of Artificial Intelligence for Health guidance:.</a:t>
            </a:r>
            <a:endParaRPr lang="en-US" sz="2100" dirty="0"/>
          </a:p>
        </p:txBody>
      </p:sp>
      <p:sp>
        <p:nvSpPr>
          <p:cNvPr id="10" name="Shape 8"/>
          <p:cNvSpPr/>
          <p:nvPr/>
        </p:nvSpPr>
        <p:spPr>
          <a:xfrm>
            <a:off x="7635240" y="1325880"/>
            <a:ext cx="3474720" cy="1207008"/>
          </a:xfrm>
          <a:prstGeom prst="roundRect">
            <a:avLst>
              <a:gd name="adj" fmla="val 9091"/>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4008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320" dirty="0"/>
          </a:p>
        </p:txBody>
      </p:sp>
      <p:sp>
        <p:nvSpPr>
          <p:cNvPr id="13" name="Shape 11"/>
          <p:cNvSpPr/>
          <p:nvPr/>
        </p:nvSpPr>
        <p:spPr>
          <a:xfrm>
            <a:off x="7635240" y="2670048"/>
            <a:ext cx="3474720" cy="1377086"/>
          </a:xfrm>
          <a:prstGeom prst="roundRect">
            <a:avLst>
              <a:gd name="adj" fmla="val 7968"/>
            </a:avLst>
          </a:prstGeom>
          <a:solidFill>
            <a:srgbClr val="FFFFFF"/>
          </a:solidFill>
          <a:ln w="12700">
            <a:solidFill>
              <a:srgbClr val="B9D7E6"/>
            </a:solidFill>
            <a:prstDash val="solid"/>
          </a:ln>
        </p:spPr>
      </p:sp>
      <p:sp>
        <p:nvSpPr>
          <p:cNvPr id="14" name="Text 12"/>
          <p:cNvSpPr/>
          <p:nvPr/>
        </p:nvSpPr>
        <p:spPr>
          <a:xfrm>
            <a:off x="7799832" y="28163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182112"/>
            <a:ext cx="3090672" cy="718718"/>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OWASP Top 10 for Large Language Model Applications:.</a:t>
            </a:r>
            <a:endParaRPr lang="en-US" sz="1220" dirty="0"/>
          </a:p>
          <a:p>
            <a:pPr indent="0" marL="0">
              <a:buNone/>
            </a:pPr>
            <a:r>
              <a:rPr lang="en-US" sz="1220" dirty="0">
                <a:solidFill>
                  <a:srgbClr val="17364A"/>
                </a:solidFill>
                <a:latin typeface="Aptos" pitchFamily="34" charset="0"/>
                <a:ea typeface="Aptos" pitchFamily="34" charset="-122"/>
                <a:cs typeface="Aptos" pitchFamily="34" charset="-120"/>
              </a:rPr>
              <a:t>ONC health IT, interoperability, and information blocking.</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Crisis Communications and Executive Response</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Agency policies for privacy, public records, cybersecurity, procurement, civil rights,.</a:t>
            </a:r>
            <a:endParaRPr lang="en-US" sz="2100" dirty="0"/>
          </a:p>
        </p:txBody>
      </p:sp>
      <p:sp>
        <p:nvSpPr>
          <p:cNvPr id="10" name="Shape 8"/>
          <p:cNvSpPr/>
          <p:nvPr/>
        </p:nvSpPr>
        <p:spPr>
          <a:xfrm>
            <a:off x="7635240" y="1325880"/>
            <a:ext cx="3474720" cy="1255471"/>
          </a:xfrm>
          <a:prstGeom prst="roundRect">
            <a:avLst>
              <a:gd name="adj" fmla="val 8740"/>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Public health lens</a:t>
            </a:r>
            <a:endParaRPr lang="en-US" sz="1300" dirty="0"/>
          </a:p>
        </p:txBody>
      </p:sp>
      <p:sp>
        <p:nvSpPr>
          <p:cNvPr id="12" name="Text 10"/>
          <p:cNvSpPr/>
          <p:nvPr/>
        </p:nvSpPr>
        <p:spPr>
          <a:xfrm>
            <a:off x="7799832" y="1801368"/>
            <a:ext cx="3145536" cy="688543"/>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a:t>
            </a:r>
            <a:endParaRPr lang="en-US" sz="1320" dirty="0"/>
          </a:p>
        </p:txBody>
      </p:sp>
      <p:sp>
        <p:nvSpPr>
          <p:cNvPr id="13" name="Shape 11"/>
          <p:cNvSpPr/>
          <p:nvPr/>
        </p:nvSpPr>
        <p:spPr>
          <a:xfrm>
            <a:off x="7635240" y="2718511"/>
            <a:ext cx="3474720" cy="1328623"/>
          </a:xfrm>
          <a:prstGeom prst="roundRect">
            <a:avLst>
              <a:gd name="adj" fmla="val 8259"/>
            </a:avLst>
          </a:prstGeom>
          <a:solidFill>
            <a:srgbClr val="FFFFFF"/>
          </a:solidFill>
          <a:ln w="12700">
            <a:solidFill>
              <a:srgbClr val="B9D7E6"/>
            </a:solidFill>
            <a:prstDash val="solid"/>
          </a:ln>
        </p:spPr>
      </p:sp>
      <p:sp>
        <p:nvSpPr>
          <p:cNvPr id="14" name="Text 12"/>
          <p:cNvSpPr/>
          <p:nvPr/>
        </p:nvSpPr>
        <p:spPr>
          <a:xfrm>
            <a:off x="7799832" y="2864815"/>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230575"/>
            <a:ext cx="3090672" cy="670255"/>
          </a:xfrm>
          <a:prstGeom prst="rect">
            <a:avLst/>
          </a:prstGeom>
          <a:noFill/>
          <a:ln/>
        </p:spPr>
        <p:txBody>
          <a:bodyPr wrap="square" lIns="508" tIns="508" rIns="508" bIns="508"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Agency policies for privacy, public records, cybersecurity,.</a:t>
            </a:r>
            <a:endParaRPr lang="en-US" sz="1220" dirty="0"/>
          </a:p>
        </p:txBody>
      </p:sp>
      <p:sp>
        <p:nvSpPr>
          <p:cNvPr id="16" name="Shape 14"/>
          <p:cNvSpPr/>
          <p:nvPr/>
        </p:nvSpPr>
        <p:spPr>
          <a:xfrm>
            <a:off x="7635240" y="4184294"/>
            <a:ext cx="3474720" cy="1466698"/>
          </a:xfrm>
          <a:prstGeom prst="roundRect">
            <a:avLst>
              <a:gd name="adj" fmla="val 7481"/>
            </a:avLst>
          </a:prstGeom>
          <a:solidFill>
            <a:srgbClr val="EAF6F8"/>
          </a:solidFill>
          <a:ln w="12700">
            <a:solidFill>
              <a:srgbClr val="B9D7E6"/>
            </a:solidFill>
            <a:prstDash val="solid"/>
          </a:ln>
        </p:spPr>
      </p:sp>
      <p:sp>
        <p:nvSpPr>
          <p:cNvPr id="17" name="Text 15"/>
          <p:cNvSpPr/>
          <p:nvPr/>
        </p:nvSpPr>
        <p:spPr>
          <a:xfrm>
            <a:off x="7799832" y="4330598"/>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Engagement move</a:t>
            </a:r>
            <a:endParaRPr lang="en-US" sz="1300" dirty="0"/>
          </a:p>
        </p:txBody>
      </p:sp>
      <p:sp>
        <p:nvSpPr>
          <p:cNvPr id="18" name="Text 16"/>
          <p:cNvSpPr/>
          <p:nvPr/>
        </p:nvSpPr>
        <p:spPr>
          <a:xfrm>
            <a:off x="7799832" y="4659782"/>
            <a:ext cx="3145536" cy="899770"/>
          </a:xfrm>
          <a:prstGeom prst="rect">
            <a:avLst/>
          </a:prstGeom>
          <a:noFill/>
          <a:ln/>
        </p:spPr>
        <p:txBody>
          <a:bodyPr wrap="square" lIns="254" tIns="254" rIns="254" bIns="254" rtlCol="0" anchor="t">
            <a:normAutofit/>
          </a:bodyPr>
          <a:lstStyle/>
          <a:p>
            <a:pPr indent="0" marL="0">
              <a:buNone/>
            </a:pPr>
            <a:r>
              <a:rPr lang="en-US" sz="1320" dirty="0">
                <a:solidFill>
                  <a:srgbClr val="17364A"/>
                </a:solidFill>
                <a:latin typeface="Aptos" pitchFamily="34" charset="0"/>
                <a:ea typeface="Aptos" pitchFamily="34" charset="-122"/>
                <a:cs typeface="Aptos" pitchFamily="34" charset="-120"/>
              </a:rPr>
              <a:t>Use the concept to plan transparent communication, gather stakeholder input, protect trust, and make sure affected communities are considered early.</a:t>
            </a:r>
            <a:endParaRPr lang="en-US" sz="13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Crisis Communications and Executive Response</dc:title>
  <dc:subject>AI Crisis Communications and Executive Response learning module</dc:subject>
  <dc:creator>Paula Soper</dc:creator>
  <cp:lastModifiedBy>Paula Soper</cp:lastModifiedBy>
  <cp:revision>1</cp:revision>
  <dcterms:created xsi:type="dcterms:W3CDTF">2026-07-13T02:33:44Z</dcterms:created>
  <dcterms:modified xsi:type="dcterms:W3CDTF">2026-07-13T02:33:44Z</dcterms:modified>
</cp:coreProperties>
</file>