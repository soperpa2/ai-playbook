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97eb9348c14a7d" /><Relationship Type="http://schemas.openxmlformats.org/officeDocument/2006/relationships/extended-properties" Target="/docProps/app.xml" Id="R02e92875b5eb47de" /><Relationship Type="http://schemas.openxmlformats.org/officeDocument/2006/relationships/officeDocument" Target="/ppt/presentation.xml" Id="Rc321cd219c8d421b" /></Relationships>
</file>

<file path=ppt/presentation.xml><?xml version="1.0" encoding="utf-8"?>
<p:presentation xmlns:p="http://schemas.openxmlformats.org/presentationml/2006/main">
  <p:sldMasterIdLst>
    <p:sldMasterId xmlns:r="http://schemas.openxmlformats.org/officeDocument/2006/relationships" id="2147483648" r:id="Ra0eeba6476964983"/>
  </p:sldMasterIdLst>
  <p:notesMasterIdLst>
    <p:notesMasterId xmlns:r="http://schemas.openxmlformats.org/officeDocument/2006/relationships" r:id="Ra6415466b42c4eb3"/>
  </p:notesMasterIdLst>
  <p:sldIdLst>
    <p:sldId xmlns:r="http://schemas.openxmlformats.org/officeDocument/2006/relationships" id="256" r:id="R0bd14af705e64195"/>
    <p:sldId xmlns:r="http://schemas.openxmlformats.org/officeDocument/2006/relationships" id="257" r:id="R8dabde9af7cc4fc2"/>
    <p:sldId xmlns:r="http://schemas.openxmlformats.org/officeDocument/2006/relationships" id="258" r:id="R0202ea92fa054e00"/>
    <p:sldId xmlns:r="http://schemas.openxmlformats.org/officeDocument/2006/relationships" id="259" r:id="R24ab3bb79b7347c1"/>
    <p:sldId xmlns:r="http://schemas.openxmlformats.org/officeDocument/2006/relationships" id="260" r:id="R1fd023ad17174279"/>
    <p:sldId xmlns:r="http://schemas.openxmlformats.org/officeDocument/2006/relationships" id="261" r:id="R53b56f31e5b347d2"/>
    <p:sldId xmlns:r="http://schemas.openxmlformats.org/officeDocument/2006/relationships" id="262" r:id="R86afa5657457423d"/>
    <p:sldId xmlns:r="http://schemas.openxmlformats.org/officeDocument/2006/relationships" id="263" r:id="R1dbd010d1ee640b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c50fcdbfe0491c" /><Relationship Type="http://schemas.openxmlformats.org/officeDocument/2006/relationships/slideMaster" Target="/ppt/slideMasters/slideMaster1.xml" Id="Ra0eeba6476964983" /><Relationship Type="http://schemas.openxmlformats.org/officeDocument/2006/relationships/notesMaster" Target="/ppt/notesMasters/notesMaster1.xml" Id="Ra6415466b42c4eb3" /><Relationship Type="http://schemas.openxmlformats.org/officeDocument/2006/relationships/presProps" Target="/ppt/presProps.xml" Id="R7928ba1bfd9f4661" /><Relationship Type="http://schemas.openxmlformats.org/officeDocument/2006/relationships/tableStyles" Target="/ppt/tableStyles.xml" Id="Rf1817b77bcfc47f2" /><Relationship Type="http://schemas.openxmlformats.org/officeDocument/2006/relationships/slide" Target="/ppt/slides/slide1.xml" Id="R0bd14af705e64195" /><Relationship Type="http://schemas.openxmlformats.org/officeDocument/2006/relationships/slide" Target="/ppt/slides/slide2.xml" Id="R8dabde9af7cc4fc2" /><Relationship Type="http://schemas.openxmlformats.org/officeDocument/2006/relationships/slide" Target="/ppt/slides/slide3.xml" Id="R0202ea92fa054e00" /><Relationship Type="http://schemas.openxmlformats.org/officeDocument/2006/relationships/slide" Target="/ppt/slides/slide4.xml" Id="R24ab3bb79b7347c1" /><Relationship Type="http://schemas.openxmlformats.org/officeDocument/2006/relationships/slide" Target="/ppt/slides/slide5.xml" Id="R1fd023ad17174279" /><Relationship Type="http://schemas.openxmlformats.org/officeDocument/2006/relationships/slide" Target="/ppt/slides/slide6.xml" Id="R53b56f31e5b347d2" /><Relationship Type="http://schemas.openxmlformats.org/officeDocument/2006/relationships/slide" Target="/ppt/slides/slide7.xml" Id="R86afa5657457423d" /><Relationship Type="http://schemas.openxmlformats.org/officeDocument/2006/relationships/slide" Target="/ppt/slides/slide8.xml" Id="R1dbd010d1ee640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5a83d152214b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c7033a8c044a7f" /><Relationship Type="http://schemas.openxmlformats.org/officeDocument/2006/relationships/notesMaster" Target="/ppt/notesMasters/notesMaster1.xml" Id="R62abed7613864a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8535bf845b4d2d" /><Relationship Type="http://schemas.openxmlformats.org/officeDocument/2006/relationships/notesMaster" Target="/ppt/notesMasters/notesMaster1.xml" Id="R74f60e51bb2a4b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2506c96c104252" /><Relationship Type="http://schemas.openxmlformats.org/officeDocument/2006/relationships/notesMaster" Target="/ppt/notesMasters/notesMaster1.xml" Id="R35fe5438b4904b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96c51a90e1443f" /><Relationship Type="http://schemas.openxmlformats.org/officeDocument/2006/relationships/notesMaster" Target="/ppt/notesMasters/notesMaster1.xml" Id="Ref26b5b00ef84e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2e3fd290fa48b9" /><Relationship Type="http://schemas.openxmlformats.org/officeDocument/2006/relationships/notesMaster" Target="/ppt/notesMasters/notesMaster1.xml" Id="Rab8dd5524b994e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57a0631d7d4be2" /><Relationship Type="http://schemas.openxmlformats.org/officeDocument/2006/relationships/notesMaster" Target="/ppt/notesMasters/notesMaster1.xml" Id="R6a6a66b1753f49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f01749ab624e68" /><Relationship Type="http://schemas.openxmlformats.org/officeDocument/2006/relationships/notesMaster" Target="/ppt/notesMasters/notesMaster1.xml" Id="Rbe568de399034d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b764d0456f479a" /><Relationship Type="http://schemas.openxmlformats.org/officeDocument/2006/relationships/notesMaster" Target="/ppt/notesMasters/notesMaster1.xml" Id="R744067756c764e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Environmental and Resource Impacts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AI can carry energy, water, hardware, e-waste, procurement, and environmental justice implications that should be considered before scale.</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7, 8 and Tools 5, 31, 33.</a:t>
            </a:r>
          </a:p>
          <a:p xmlns:a="http://schemas.openxmlformats.org/drawingml/2006/main">
            <a:r>
              <a:t>Emphasize the core guardrail: High-compute AI uses should be justified by public health value and reviewed for resource burden and environmental justice implications.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7, 8 and Tools 5, 31, 33.</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7, 8 and Tools 5, 31, 33.</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7, 8 and Tools 5, 31, 33.</a:t>
            </a:r>
          </a:p>
          <a:p xmlns:a="http://schemas.openxmlformats.org/drawingml/2006/main">
            <a:r>
              <a:t>Invite participants to identify where these practices would need to be documented in their own department.</a:t>
            </a:r>
          </a:p>
          <a:p xmlns:a="http://schemas.openxmlformats.org/drawingml/2006/main">
            <a:r>
              <a:t>Start with Review Questions,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7, 8 and Tools 5, 31, 33.</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7, 8 and Tools 5, 31, 33.</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Environmental and resource impact review, Lower-impact alternatives comparison, Procurement sustainability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Environmental and Resource Impacts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7, 8 and Tools 5, 31, 33.</a:t>
            </a:r>
          </a:p>
          <a:p xmlns:a="http://schemas.openxmlformats.org/drawingml/2006/main">
            <a:r>
              <a:t>Point participants to the first resource: ASPPH AI Framework Report.</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befdb6e4e74b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d4c287da774459" /><Relationship Type="http://schemas.openxmlformats.org/officeDocument/2006/relationships/slideLayout" Target="/ppt/slideLayouts/slideLayout1.xml" Id="R98a606358cc44c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a606358cc44c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990d3cc4d344d6" /><Relationship Type="http://schemas.openxmlformats.org/officeDocument/2006/relationships/image" Target="/ppt/media/image.png" Id="R1cfa57fea2674259" /><Relationship Type="http://schemas.openxmlformats.org/officeDocument/2006/relationships/notesSlide" Target="/ppt/notesSlides/notesSlide1.xml" Id="Rf1f41d9be5e441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fa94f75de74b6d" /><Relationship Type="http://schemas.openxmlformats.org/officeDocument/2006/relationships/notesSlide" Target="/ppt/notesSlides/notesSlide2.xml" Id="R7a90995fc24545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a0cb8dbc6146e7" /><Relationship Type="http://schemas.openxmlformats.org/officeDocument/2006/relationships/notesSlide" Target="/ppt/notesSlides/notesSlide3.xml" Id="Rff96cc3953b74a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2a6a95a6ee4109" /><Relationship Type="http://schemas.openxmlformats.org/officeDocument/2006/relationships/notesSlide" Target="/ppt/notesSlides/notesSlide4.xml" Id="R8b2f6365277c4d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c291a2f7c34127" /><Relationship Type="http://schemas.openxmlformats.org/officeDocument/2006/relationships/notesSlide" Target="/ppt/notesSlides/notesSlide5.xml" Id="R3e0ec74201f74f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aca155908b44e5" /><Relationship Type="http://schemas.openxmlformats.org/officeDocument/2006/relationships/notesSlide" Target="/ppt/notesSlides/notesSlide6.xml" Id="R075ab2f5add848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f4725bb12f744b4" /><Relationship Type="http://schemas.openxmlformats.org/officeDocument/2006/relationships/notesSlide" Target="/ppt/notesSlides/notesSlide7.xml" Id="Rd8ad711686ff45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9050607af634299" /><Relationship Type="http://schemas.openxmlformats.org/officeDocument/2006/relationships/notesSlide" Target="/ppt/notesSlides/notesSlide8.xml" Id="Rc8fad9cafa1b48c7"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cfa57fea2674259"/>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2274E2-B714-44C3-9F3A-2E8C9F49ED39}"/>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15</a:t>
            </a:r>
          </a:p>
        </p:txBody>
      </p:sp>
      <p:sp>
        <p:nvSpPr>
          <p:cNvPr id="3" name="">
            <a:extLst xmlns:a="http://schemas.openxmlformats.org/drawingml/2006/main">
              <a:ext uri="{FF2B5EF4-FFF2-40B4-BE49-F238E27FC236}">
                <a16:creationId xmlns:a16="http://schemas.microsoft.com/office/drawing/2014/main" id="{BA6D6BC5-4A83-4595-87DD-03DA92A4679C}"/>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Environmental and Resource Impacts</a:t>
            </a:r>
          </a:p>
        </p:txBody>
      </p:sp>
      <p:sp>
        <p:nvSpPr>
          <p:cNvPr id="4" name="">
            <a:extLst xmlns:a="http://schemas.openxmlformats.org/drawingml/2006/main">
              <a:ext uri="{FF2B5EF4-FFF2-40B4-BE49-F238E27FC236}">
                <a16:creationId xmlns:a16="http://schemas.microsoft.com/office/drawing/2014/main" id="{0DDE37EA-7BA7-4E02-AB45-0C4F1EA119AE}"/>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C8ED04CA-0932-4C8D-8E87-EFEB9AC69980}"/>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6FAFD51C-20CD-4F8F-AD77-FA2179C97D50}"/>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663928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E8356A-FE6D-4672-850A-C850106EB04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12A1F73-8977-4CE1-A5E5-AA829F820AD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78280F45-3ABE-48DC-BE85-24B93CC5D5A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E2CA209-B90E-4385-BFFE-3E4F6EE5325A}"/>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AI can carry energy, water, hardware, e-waste, procurement, and environmental justice implications that should be considered before scale.</a:t>
            </a:r>
          </a:p>
        </p:txBody>
      </p:sp>
      <p:sp>
        <p:nvSpPr>
          <p:cNvPr id="5" name="">
            <a:extLst xmlns:a="http://schemas.openxmlformats.org/drawingml/2006/main">
              <a:ext uri="{FF2B5EF4-FFF2-40B4-BE49-F238E27FC236}">
                <a16:creationId xmlns:a16="http://schemas.microsoft.com/office/drawing/2014/main" id="{1B4BB984-7961-4FAD-9F80-E68E639FE229}"/>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16B4581-8AA2-4EBB-95BC-85B714546F09}"/>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2648B9D-E146-40EA-B693-EDC760F9E88D}"/>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673EC07C-B43C-4E18-9280-B1AFEEEB97B5}"/>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systems can have energy, water, hardware, cost, and environmental justice implications. Departments should consider whether the public health value of a high-compute use justifies its resource burden and whether lower-impact alternatives.</a:t>
            </a:r>
          </a:p>
        </p:txBody>
      </p:sp>
      <p:sp>
        <p:nvSpPr>
          <p:cNvPr id="9" name="">
            <a:extLst xmlns:a="http://schemas.openxmlformats.org/drawingml/2006/main">
              <a:ext uri="{FF2B5EF4-FFF2-40B4-BE49-F238E27FC236}">
                <a16:creationId xmlns:a16="http://schemas.microsoft.com/office/drawing/2014/main" id="{98F66373-86AE-4763-B1AC-A9BBF541DEDD}"/>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C79124D0-1A1F-429D-9FD1-B00E9F554C8B}"/>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0324F256-35B8-4D18-AD9B-988AE19A8B61}"/>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FC94503E-6CC7-4FE3-8AEC-AB2ED415400A}"/>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High-compute AI uses should be justified by public health value and reviewed for resource burden and environmental justice implications.</a:t>
            </a:r>
          </a:p>
        </p:txBody>
      </p:sp>
      <p:sp>
        <p:nvSpPr>
          <p:cNvPr id="13" name="">
            <a:extLst xmlns:a="http://schemas.openxmlformats.org/drawingml/2006/main">
              <a:ext uri="{FF2B5EF4-FFF2-40B4-BE49-F238E27FC236}">
                <a16:creationId xmlns:a16="http://schemas.microsoft.com/office/drawing/2014/main" id="{73FB96C4-0D01-44F1-9DCF-87BBCA789B8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4" name="">
            <a:extLst xmlns:a="http://schemas.openxmlformats.org/drawingml/2006/main">
              <a:ext uri="{FF2B5EF4-FFF2-40B4-BE49-F238E27FC236}">
                <a16:creationId xmlns:a16="http://schemas.microsoft.com/office/drawing/2014/main" id="{F1B841C9-8C90-415A-BF30-62CA7A78DA1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790506485"/>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02FD70-B6DD-41BA-B0AC-040904F7AF2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2236376-B825-4036-8115-F208CF155E5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EF15EE9D-2A71-4942-A332-7A08BA46963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74BEF8D-7676-4D93-881B-D9E180EF8C45}"/>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9F799283-6841-441A-AE76-33AB5561AD27}"/>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Environmental and Resource Impacts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3287111E-50F0-4E7F-8B74-71BBB3D9FC5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7" name="">
            <a:extLst xmlns:a="http://schemas.openxmlformats.org/drawingml/2006/main">
              <a:ext uri="{FF2B5EF4-FFF2-40B4-BE49-F238E27FC236}">
                <a16:creationId xmlns:a16="http://schemas.microsoft.com/office/drawing/2014/main" id="{395FA0EC-C561-4231-9B9B-F9EE4AE157C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2880259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B611C22-04C9-4932-B8B4-F6A589C7F48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E387244-4CC0-4292-87AE-96A35E93840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464E82F7-31A7-4A13-86B3-AB3087E7627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8DDE399-5E95-457A-B9DC-D72204D4D9FC}"/>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systems can require substantial compute, energy, water, hardware, and vendor infrastructure. Public health departments do not need to perform complex environmental modeling for every use, but they should consider whether a proposed AI use is proportionate to the public health value, whether lower-impact alternatives exist, and whether infrastructure burdens raise environmental justice concerns.</a:t>
            </a:r>
          </a:p>
        </p:txBody>
      </p:sp>
      <p:sp>
        <p:nvSpPr>
          <p:cNvPr id="5" name="">
            <a:extLst xmlns:a="http://schemas.openxmlformats.org/drawingml/2006/main">
              <a:ext uri="{FF2B5EF4-FFF2-40B4-BE49-F238E27FC236}">
                <a16:creationId xmlns:a16="http://schemas.microsoft.com/office/drawing/2014/main" id="{EEA9868A-81EF-4803-B99D-3F2A0FB8F1B4}"/>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1792EC6-5B63-4BCF-917A-999322B3FD9D}"/>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E8787F10-975D-44C6-A2D3-F12F4C4C4C8A}"/>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8A5E1EE4-9C00-4A31-B83B-2A535D86338F}"/>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can carry energy, water, hardware, e-waste, procurement, and environmental justice implications that should be considered before scale.</a:t>
            </a:r>
          </a:p>
        </p:txBody>
      </p:sp>
      <p:sp>
        <p:nvSpPr>
          <p:cNvPr id="9" name="">
            <a:extLst xmlns:a="http://schemas.openxmlformats.org/drawingml/2006/main">
              <a:ext uri="{FF2B5EF4-FFF2-40B4-BE49-F238E27FC236}">
                <a16:creationId xmlns:a16="http://schemas.microsoft.com/office/drawing/2014/main" id="{9D2AC69C-8487-4B1B-83E9-8899B971B87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0" name="">
            <a:extLst xmlns:a="http://schemas.openxmlformats.org/drawingml/2006/main">
              <a:ext uri="{FF2B5EF4-FFF2-40B4-BE49-F238E27FC236}">
                <a16:creationId xmlns:a16="http://schemas.microsoft.com/office/drawing/2014/main" id="{AD432550-9139-420C-808C-A22D7288BD2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524099649"/>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62EB6A-38FD-4C39-88EC-F563B8B75CB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AB3A949-2230-430C-834B-F885B72266D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407EB93F-FEEB-4A53-9BA6-16DC2C7AE8E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8186C8B-AFF0-4805-BF94-32947D7C8F2E}"/>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F03CB1F2-4FFE-4AD6-9FA6-F96D34D8AE0F}"/>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EC41C7BD-0B7B-4CE6-B9AE-8A6A5077FE6D}"/>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Questions</a:t>
            </a:r>
          </a:p>
        </p:txBody>
      </p:sp>
      <p:sp>
        <p:nvSpPr>
          <p:cNvPr id="7" name="">
            <a:extLst xmlns:a="http://schemas.openxmlformats.org/drawingml/2006/main">
              <a:ext uri="{FF2B5EF4-FFF2-40B4-BE49-F238E27FC236}">
                <a16:creationId xmlns:a16="http://schemas.microsoft.com/office/drawing/2014/main" id="{8C0F9D74-D755-43B9-B5AB-ABED60F68CAA}"/>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Is the AI use necessary, or could a simpler analytic, workflow, or rule-based approach achieve the same goal? Will the vendor disclose sustainability practices, data center location, energy use, water use, or environmental commitments? Does.</a:t>
            </a:r>
          </a:p>
        </p:txBody>
      </p:sp>
      <p:sp>
        <p:nvSpPr>
          <p:cNvPr id="8" name="">
            <a:extLst xmlns:a="http://schemas.openxmlformats.org/drawingml/2006/main">
              <a:ext uri="{FF2B5EF4-FFF2-40B4-BE49-F238E27FC236}">
                <a16:creationId xmlns:a16="http://schemas.microsoft.com/office/drawing/2014/main" id="{CEA4880E-E131-4E15-8B2B-458E60926E10}"/>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3CC4A96-C60A-44B5-AD88-C555038E358B}"/>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BBF7746A-67F3-4F56-97E8-DA6B785E44F0}"/>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Procurement Relevance</a:t>
            </a:r>
          </a:p>
        </p:txBody>
      </p:sp>
      <p:sp>
        <p:nvSpPr>
          <p:cNvPr id="11" name="">
            <a:extLst xmlns:a="http://schemas.openxmlformats.org/drawingml/2006/main">
              <a:ext uri="{FF2B5EF4-FFF2-40B4-BE49-F238E27FC236}">
                <a16:creationId xmlns:a16="http://schemas.microsoft.com/office/drawing/2014/main" id="{B1595702-7FD5-43B1-9D49-749680E6906E}"/>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Ask vendors for sustainability, compute, hosting, and data center information when relevant. Compare lower-impact model sizes, retrieval approaches, or existing enterprise tools. Include resource impacts in funding and sustainment planning.</a:t>
            </a:r>
          </a:p>
        </p:txBody>
      </p:sp>
      <p:sp>
        <p:nvSpPr>
          <p:cNvPr id="12" name="">
            <a:extLst xmlns:a="http://schemas.openxmlformats.org/drawingml/2006/main">
              <a:ext uri="{FF2B5EF4-FFF2-40B4-BE49-F238E27FC236}">
                <a16:creationId xmlns:a16="http://schemas.microsoft.com/office/drawing/2014/main" id="{A84E0F7B-F731-412A-BF86-A3B68EF51FC9}"/>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87F2E97F-DBF8-4A14-B9F9-CF31FCA7D024}"/>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BF779893-BC94-45FD-A35E-02B02437550A}"/>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Decision Standard</a:t>
            </a:r>
          </a:p>
        </p:txBody>
      </p:sp>
      <p:sp>
        <p:nvSpPr>
          <p:cNvPr id="15" name="">
            <a:extLst xmlns:a="http://schemas.openxmlformats.org/drawingml/2006/main">
              <a:ext uri="{FF2B5EF4-FFF2-40B4-BE49-F238E27FC236}">
                <a16:creationId xmlns:a16="http://schemas.microsoft.com/office/drawing/2014/main" id="{A6359CA0-E684-4CB7-AEC2-65081A1A993A}"/>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Higher resource burden should be justified by clear public health value, governance approval, and feasible sustainment. Environmental review should be documented for high-compute or large-scale deployments.</a:t>
            </a:r>
          </a:p>
        </p:txBody>
      </p:sp>
      <p:sp>
        <p:nvSpPr>
          <p:cNvPr id="16" name="">
            <a:extLst xmlns:a="http://schemas.openxmlformats.org/drawingml/2006/main">
              <a:ext uri="{FF2B5EF4-FFF2-40B4-BE49-F238E27FC236}">
                <a16:creationId xmlns:a16="http://schemas.microsoft.com/office/drawing/2014/main" id="{70F80B48-A719-4F3F-9DAB-F9D5F60A7BB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7" name="">
            <a:extLst xmlns:a="http://schemas.openxmlformats.org/drawingml/2006/main">
              <a:ext uri="{FF2B5EF4-FFF2-40B4-BE49-F238E27FC236}">
                <a16:creationId xmlns:a16="http://schemas.microsoft.com/office/drawing/2014/main" id="{A7766FF6-0B7C-4282-BE8F-0FD5F5A945F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6024789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1F2639-D297-4D29-8A55-19F22B4573E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3282C6B-D112-4F13-A7C6-17BC1643AD9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7975357C-D6D0-4388-B572-A20959216BE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8BFC4A0-3501-412C-B425-CBF29DCE3554}"/>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94A0C9C7-C499-4C74-B7AB-55E54B8149CD}"/>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2A4F382-4BEF-4DAF-B368-0C5F6EB270D4}"/>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B05985D8-5200-4C72-9D26-97C06B8A9B58}"/>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vendor sustainability claims</a:t>
            </a:r>
          </a:p>
        </p:txBody>
      </p:sp>
      <p:sp>
        <p:nvSpPr>
          <p:cNvPr id="8" name="">
            <a:extLst xmlns:a="http://schemas.openxmlformats.org/drawingml/2006/main">
              <a:ext uri="{FF2B5EF4-FFF2-40B4-BE49-F238E27FC236}">
                <a16:creationId xmlns:a16="http://schemas.microsoft.com/office/drawing/2014/main" id="{0E9384D7-1465-46EC-BF17-590561F1DDDC}"/>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FAED45AD-A9A2-427D-89BD-FA1BDAF0B90A}"/>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4473A67-7A0B-44FB-9DC7-0CDBA417EC72}"/>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B1037138-EE39-47DA-B5E6-589D6FC9D8BF}"/>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Compare lower-impact alternatives</a:t>
            </a:r>
          </a:p>
        </p:txBody>
      </p:sp>
      <p:sp>
        <p:nvSpPr>
          <p:cNvPr id="12" name="">
            <a:extLst xmlns:a="http://schemas.openxmlformats.org/drawingml/2006/main">
              <a:ext uri="{FF2B5EF4-FFF2-40B4-BE49-F238E27FC236}">
                <a16:creationId xmlns:a16="http://schemas.microsoft.com/office/drawing/2014/main" id="{A47E6F54-45E5-44DC-AE99-9D75311FB7F1}"/>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F387F86E-5828-4613-90F3-6B9B581F428B}"/>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E590A822-E7C9-4341-9662-31446F9556DC}"/>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8B6A11D9-1A24-49D5-B429-6E09827D6450}"/>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Flag data center environmental justice concerns</a:t>
            </a:r>
          </a:p>
        </p:txBody>
      </p:sp>
      <p:sp>
        <p:nvSpPr>
          <p:cNvPr id="16" name="">
            <a:extLst xmlns:a="http://schemas.openxmlformats.org/drawingml/2006/main">
              <a:ext uri="{FF2B5EF4-FFF2-40B4-BE49-F238E27FC236}">
                <a16:creationId xmlns:a16="http://schemas.microsoft.com/office/drawing/2014/main" id="{102282AA-946C-4602-9410-3261371DB32F}"/>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9D82B826-E656-42DC-988F-94503C10199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8" name="">
            <a:extLst xmlns:a="http://schemas.openxmlformats.org/drawingml/2006/main">
              <a:ext uri="{FF2B5EF4-FFF2-40B4-BE49-F238E27FC236}">
                <a16:creationId xmlns:a16="http://schemas.microsoft.com/office/drawing/2014/main" id="{9AB9E264-42A2-43A2-BABA-2DE98D0AC94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736948270"/>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9DF9DB-CE47-4EB1-9B20-DF9A23CAD0A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53402B7-E56D-4DBF-B9CE-950708A9ABC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80BC2CE7-9A50-4DD8-98F2-0E436DC5530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08A2243-DFAF-46DF-9C56-BBF14FC0165C}"/>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01B904DA-A809-4B89-BA80-24C14E965095}"/>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9B12449C-352C-47C7-9E5F-23ECCF26045B}"/>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DF528114-7231-4D7F-948D-246EB3684DC5}"/>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Is AI necessary for this task, or would a simpler approach work? What sustainability and infrastructure information should vendors disclose? Could resource burdens affect communities already facing environmental inequities?</a:t>
            </a:r>
          </a:p>
        </p:txBody>
      </p:sp>
      <p:sp>
        <p:nvSpPr>
          <p:cNvPr id="8" name="">
            <a:extLst xmlns:a="http://schemas.openxmlformats.org/drawingml/2006/main">
              <a:ext uri="{FF2B5EF4-FFF2-40B4-BE49-F238E27FC236}">
                <a16:creationId xmlns:a16="http://schemas.microsoft.com/office/drawing/2014/main" id="{14D564FD-D441-4333-98BB-ACE957810ADE}"/>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3975613D-9008-4747-9354-B655F86D0F52}"/>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41F6A2FA-24A0-4BE7-B9E8-B58477F08B27}"/>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2E5DC781-D5EF-4D33-837A-013F187E5F9E}"/>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one proposed AI project and compare a high-compute option, a smaller model or RAG option, and a non-AI option. Document benefits, limitations, costs, and resource implications.</a:t>
            </a:r>
          </a:p>
        </p:txBody>
      </p:sp>
      <p:sp>
        <p:nvSpPr>
          <p:cNvPr id="12" name="">
            <a:extLst xmlns:a="http://schemas.openxmlformats.org/drawingml/2006/main">
              <a:ext uri="{FF2B5EF4-FFF2-40B4-BE49-F238E27FC236}">
                <a16:creationId xmlns:a16="http://schemas.microsoft.com/office/drawing/2014/main" id="{EB4FF1B5-8F07-4B89-89B4-2B5CA4A32BC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3" name="">
            <a:extLst xmlns:a="http://schemas.openxmlformats.org/drawingml/2006/main">
              <a:ext uri="{FF2B5EF4-FFF2-40B4-BE49-F238E27FC236}">
                <a16:creationId xmlns:a16="http://schemas.microsoft.com/office/drawing/2014/main" id="{B5A0FF5A-3FFB-43FD-A6FB-9E3CB823851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4285829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26CC3C0-1D9B-4256-A5B1-D49DA2D4462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0443374-3009-4E89-A3D4-1B70EFD4240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76F0E3BF-3A72-46BA-B437-F8012B68797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B0F40A6-F7DE-40A1-8D93-85776B0AD4F8}"/>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BB78C37B-0DF1-4167-84E9-153ACF8A8B14}"/>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38DCE03A-1862-4C47-9126-1A7B94615C08}"/>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26313CA1-3858-41C2-A53D-2C7ACDD11322}"/>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7, 8 and Tools 5, 31, 33.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5B47609F-111A-4364-A703-A069AC1F130F}"/>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FC4AA31-40F6-4B27-AD16-FF45963DCBA4}"/>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3BD66955-3A7F-4605-9FF5-86839A4C14FC}"/>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B0BF32F1-9B1B-42DE-B62E-74CE31AACC6A}"/>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ASPPH AI Framework Report: Resource, public health systems, and responsible AI framing. EPA Environmental Justice: Environmental justice context for reviewing infrastructure, procurement, and community burden. NIST AI Risk Management.</a:t>
            </a:r>
          </a:p>
        </p:txBody>
      </p:sp>
      <p:sp>
        <p:nvSpPr>
          <p:cNvPr id="12" name="">
            <a:extLst xmlns:a="http://schemas.openxmlformats.org/drawingml/2006/main">
              <a:ext uri="{FF2B5EF4-FFF2-40B4-BE49-F238E27FC236}">
                <a16:creationId xmlns:a16="http://schemas.microsoft.com/office/drawing/2014/main" id="{D1C58E70-E79D-4F45-958D-8E005719A2F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Environmental and Resource Impacts</a:t>
            </a:r>
          </a:p>
        </p:txBody>
      </p:sp>
      <p:sp>
        <p:nvSpPr>
          <p:cNvPr id="13" name="">
            <a:extLst xmlns:a="http://schemas.openxmlformats.org/drawingml/2006/main">
              <a:ext uri="{FF2B5EF4-FFF2-40B4-BE49-F238E27FC236}">
                <a16:creationId xmlns:a16="http://schemas.microsoft.com/office/drawing/2014/main" id="{542D70F2-F4BF-45D3-BC99-916116A48E5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0086584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2026-07-02T17:47:03.4440000Z</dcterms:created>
  <dcterms:modified xsi:type="dcterms:W3CDTF">2026-07-02T17:47:03.4440000Z</dcterms:modified>
</coreProperties>
</file>