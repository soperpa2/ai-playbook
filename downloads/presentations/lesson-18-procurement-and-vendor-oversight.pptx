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6a6d37e7f24f98" /><Relationship Type="http://schemas.openxmlformats.org/officeDocument/2006/relationships/extended-properties" Target="/docProps/app.xml" Id="R8ce77a29cee3494c" /><Relationship Type="http://schemas.openxmlformats.org/officeDocument/2006/relationships/officeDocument" Target="/ppt/presentation.xml" Id="R3c7641036a194b28" /></Relationships>
</file>

<file path=ppt/presentation.xml><?xml version="1.0" encoding="utf-8"?>
<p:presentation xmlns:p="http://schemas.openxmlformats.org/presentationml/2006/main">
  <p:sldMasterIdLst>
    <p:sldMasterId xmlns:r="http://schemas.openxmlformats.org/officeDocument/2006/relationships" id="2147483648" r:id="Rc3fd3b7ba44f4e4d"/>
  </p:sldMasterIdLst>
  <p:notesMasterIdLst>
    <p:notesMasterId xmlns:r="http://schemas.openxmlformats.org/officeDocument/2006/relationships" r:id="Re9f1d50c4d5f4a7c"/>
  </p:notesMasterIdLst>
  <p:sldIdLst>
    <p:sldId xmlns:r="http://schemas.openxmlformats.org/officeDocument/2006/relationships" id="256" r:id="Rd2564c1491d7475b"/>
    <p:sldId xmlns:r="http://schemas.openxmlformats.org/officeDocument/2006/relationships" id="257" r:id="R077c77ebda30444b"/>
    <p:sldId xmlns:r="http://schemas.openxmlformats.org/officeDocument/2006/relationships" id="258" r:id="R2cedb142da524192"/>
    <p:sldId xmlns:r="http://schemas.openxmlformats.org/officeDocument/2006/relationships" id="259" r:id="R13c37a8450e4495b"/>
    <p:sldId xmlns:r="http://schemas.openxmlformats.org/officeDocument/2006/relationships" id="260" r:id="R0cb06e0f836444bf"/>
    <p:sldId xmlns:r="http://schemas.openxmlformats.org/officeDocument/2006/relationships" id="261" r:id="Rb2bbb37a70b5485a"/>
    <p:sldId xmlns:r="http://schemas.openxmlformats.org/officeDocument/2006/relationships" id="262" r:id="R4ba1e50a925d43a9"/>
    <p:sldId xmlns:r="http://schemas.openxmlformats.org/officeDocument/2006/relationships" id="263" r:id="R7b6e831e58d7487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f794de1a6d4256" /><Relationship Type="http://schemas.openxmlformats.org/officeDocument/2006/relationships/slideMaster" Target="/ppt/slideMasters/slideMaster1.xml" Id="Rc3fd3b7ba44f4e4d" /><Relationship Type="http://schemas.openxmlformats.org/officeDocument/2006/relationships/notesMaster" Target="/ppt/notesMasters/notesMaster1.xml" Id="Re9f1d50c4d5f4a7c" /><Relationship Type="http://schemas.openxmlformats.org/officeDocument/2006/relationships/presProps" Target="/ppt/presProps.xml" Id="R215b0cb84a404cd6" /><Relationship Type="http://schemas.openxmlformats.org/officeDocument/2006/relationships/tableStyles" Target="/ppt/tableStyles.xml" Id="Rea3780d893e743b4" /><Relationship Type="http://schemas.openxmlformats.org/officeDocument/2006/relationships/slide" Target="/ppt/slides/slide1.xml" Id="Rd2564c1491d7475b" /><Relationship Type="http://schemas.openxmlformats.org/officeDocument/2006/relationships/slide" Target="/ppt/slides/slide2.xml" Id="R077c77ebda30444b" /><Relationship Type="http://schemas.openxmlformats.org/officeDocument/2006/relationships/slide" Target="/ppt/slides/slide3.xml" Id="R2cedb142da524192" /><Relationship Type="http://schemas.openxmlformats.org/officeDocument/2006/relationships/slide" Target="/ppt/slides/slide4.xml" Id="R13c37a8450e4495b" /><Relationship Type="http://schemas.openxmlformats.org/officeDocument/2006/relationships/slide" Target="/ppt/slides/slide5.xml" Id="R0cb06e0f836444bf" /><Relationship Type="http://schemas.openxmlformats.org/officeDocument/2006/relationships/slide" Target="/ppt/slides/slide6.xml" Id="Rb2bbb37a70b5485a" /><Relationship Type="http://schemas.openxmlformats.org/officeDocument/2006/relationships/slide" Target="/ppt/slides/slide7.xml" Id="R4ba1e50a925d43a9" /><Relationship Type="http://schemas.openxmlformats.org/officeDocument/2006/relationships/slide" Target="/ppt/slides/slide8.xml" Id="R7b6e831e58d748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21a9fd1ecf41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a1f754556a43ec" /><Relationship Type="http://schemas.openxmlformats.org/officeDocument/2006/relationships/notesMaster" Target="/ppt/notesMasters/notesMaster1.xml" Id="R84133e589ccb44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e7b43d971a49e0" /><Relationship Type="http://schemas.openxmlformats.org/officeDocument/2006/relationships/notesMaster" Target="/ppt/notesMasters/notesMaster1.xml" Id="Re6ec79efbc3f44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785a839c294e4f" /><Relationship Type="http://schemas.openxmlformats.org/officeDocument/2006/relationships/notesMaster" Target="/ppt/notesMasters/notesMaster1.xml" Id="Re393679d9cb045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91dc9f2b004dc2" /><Relationship Type="http://schemas.openxmlformats.org/officeDocument/2006/relationships/notesMaster" Target="/ppt/notesMasters/notesMaster1.xml" Id="R289d44e77c424c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eba08972a7410c" /><Relationship Type="http://schemas.openxmlformats.org/officeDocument/2006/relationships/notesMaster" Target="/ppt/notesMasters/notesMaster1.xml" Id="Rcf21ec29784f4a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a4c6f262e54d8c" /><Relationship Type="http://schemas.openxmlformats.org/officeDocument/2006/relationships/notesMaster" Target="/ppt/notesMasters/notesMaster1.xml" Id="R51f428741dbf48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2f6313459d47a6" /><Relationship Type="http://schemas.openxmlformats.org/officeDocument/2006/relationships/notesMaster" Target="/ppt/notesMasters/notesMaster1.xml" Id="R000f18177f694c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ad53ee13354db8" /><Relationship Type="http://schemas.openxmlformats.org/officeDocument/2006/relationships/notesMaster" Target="/ppt/notesMasters/notesMaster1.xml" Id="R337610aaa96a4c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Procurement and Vendor Oversight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procurement requires public health departments to evaluate vendor claims, contract terms, data rights, model documentation, auditability, accessibility, cybersecurity, support, and exit plans before an AI-enabled product is approved.</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Procurement and Vendor Oversight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7, 8, 11, 12 and Tools 11, 13, 15, 34, 40, 43.</a:t>
            </a:r>
          </a:p>
          <a:p xmlns:a="http://schemas.openxmlformats.org/drawingml/2006/main">
            <a:r>
              <a:t>Emphasize the core guardrail: Vendor AI should not bypass governance, privacy, security, accessibility, validation, or public accountability requirements.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Procurement and Vendor Oversight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7, 8, 11, 12 and Tools 11, 13, 15, 34, 40, 43.</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Procurement and Vendor Oversight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7, 8, 11, 12 and Tools 11, 13, 15, 34, 40, 43.</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Procurement and Vendor Oversight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7, 8, 11, 12 and Tools 11, 13, 15, 34, 40, 43.</a:t>
            </a:r>
          </a:p>
          <a:p xmlns:a="http://schemas.openxmlformats.org/drawingml/2006/main">
            <a:r>
              <a:t>Invite participants to identify where these practices would need to be documented in their own department.</a:t>
            </a:r>
          </a:p>
          <a:p xmlns:a="http://schemas.openxmlformats.org/drawingml/2006/main">
            <a:r>
              <a:t>Start with What Staff Should Look For,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Procurement and Vendor Oversight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7, 8, 11, 12 and Tools 11, 13, 15, 34, 40, 43.</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Procurement and Vendor Oversight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7, 8, 11, 12 and Tools 11, 13, 15, 34, 40, 43.</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Vendor AI review checklist, Procurement questions for governance, Draft AI contract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Procurement and Vendor Oversight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7, 8, 11, 12 and Tools 11, 13, 15, 34, 40, 43.</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cfb60f5e0646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4f21173d9c40b6" /><Relationship Type="http://schemas.openxmlformats.org/officeDocument/2006/relationships/slideLayout" Target="/ppt/slideLayouts/slideLayout1.xml" Id="Reef14390fad945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f14390fad945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41c5c4235748a6" /><Relationship Type="http://schemas.openxmlformats.org/officeDocument/2006/relationships/image" Target="/ppt/media/image.png" Id="Rb142b1a95f4144fd" /><Relationship Type="http://schemas.openxmlformats.org/officeDocument/2006/relationships/notesSlide" Target="/ppt/notesSlides/notesSlide1.xml" Id="R14adb3160f4343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894d89bb6a4583" /><Relationship Type="http://schemas.openxmlformats.org/officeDocument/2006/relationships/notesSlide" Target="/ppt/notesSlides/notesSlide2.xml" Id="Rdcf6ee5e4d0748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c72bfbe49d4e21" /><Relationship Type="http://schemas.openxmlformats.org/officeDocument/2006/relationships/notesSlide" Target="/ppt/notesSlides/notesSlide3.xml" Id="R199fde7f50cc46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c590f022c0499b" /><Relationship Type="http://schemas.openxmlformats.org/officeDocument/2006/relationships/notesSlide" Target="/ppt/notesSlides/notesSlide4.xml" Id="R5de45c5e2d8642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2c840fb3dc4f8b" /><Relationship Type="http://schemas.openxmlformats.org/officeDocument/2006/relationships/notesSlide" Target="/ppt/notesSlides/notesSlide5.xml" Id="R9c6ba791358142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9dfaf5b4604b76" /><Relationship Type="http://schemas.openxmlformats.org/officeDocument/2006/relationships/notesSlide" Target="/ppt/notesSlides/notesSlide6.xml" Id="R4c2415e7e06549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dd52abaa414a3f" /><Relationship Type="http://schemas.openxmlformats.org/officeDocument/2006/relationships/notesSlide" Target="/ppt/notesSlides/notesSlide7.xml" Id="R2f58883883bf46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77231effc9e450a" /><Relationship Type="http://schemas.openxmlformats.org/officeDocument/2006/relationships/notesSlide" Target="/ppt/notesSlides/notesSlide8.xml" Id="Raf6ff52e1ebf42ac"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142b1a95f4144fd"/>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83D627-15EB-40BA-B287-1AACD8F3AF57}"/>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18</a:t>
            </a:r>
          </a:p>
        </p:txBody>
      </p:sp>
      <p:sp>
        <p:nvSpPr>
          <p:cNvPr id="3" name="">
            <a:extLst xmlns:a="http://schemas.openxmlformats.org/drawingml/2006/main">
              <a:ext uri="{FF2B5EF4-FFF2-40B4-BE49-F238E27FC236}">
                <a16:creationId xmlns:a16="http://schemas.microsoft.com/office/drawing/2014/main" id="{BB9D6478-D684-4EFB-8203-F58E49FBD0C3}"/>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Procurement and Vendor Oversight</a:t>
            </a:r>
          </a:p>
        </p:txBody>
      </p:sp>
      <p:sp>
        <p:nvSpPr>
          <p:cNvPr id="4" name="">
            <a:extLst xmlns:a="http://schemas.openxmlformats.org/drawingml/2006/main">
              <a:ext uri="{FF2B5EF4-FFF2-40B4-BE49-F238E27FC236}">
                <a16:creationId xmlns:a16="http://schemas.microsoft.com/office/drawing/2014/main" id="{AB0E96BB-A6FA-41D9-9E9C-6B290C9EFD39}"/>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E9C86457-76A7-4352-A39E-0EAE68BED966}"/>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F27C7E89-C7F3-4284-AF85-735EC4736B97}"/>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6843946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416DC8-FD01-4B30-87C0-041A07D08D2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99387FA-8CD1-43DB-A048-2EE541D0892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899202EA-9625-4A56-88D1-F3F1E140011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4A7F0FC-E1E5-4CA5-97B2-78067E3B6E61}"/>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procurement requires public health departments to evaluate vendor claims, contract terms, data rights, model documentation, auditability, accessibility, cybersecurity, support, and exit plans before an AI-enabled product is approved.</a:t>
            </a:r>
          </a:p>
        </p:txBody>
      </p:sp>
      <p:sp>
        <p:nvSpPr>
          <p:cNvPr id="5" name="">
            <a:extLst xmlns:a="http://schemas.openxmlformats.org/drawingml/2006/main">
              <a:ext uri="{FF2B5EF4-FFF2-40B4-BE49-F238E27FC236}">
                <a16:creationId xmlns:a16="http://schemas.microsoft.com/office/drawing/2014/main" id="{42CA89CA-CCC8-41DB-863E-269FFC32241B}"/>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1A7D478-9818-49E5-98F1-A4589EF5452C}"/>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D23427C-2407-45C7-8CDD-48ADA55E1675}"/>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01B46D02-85CA-485B-A529-CCAECAD7BC12}"/>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Most departments will buy or inherit AI-enabled systems before they build their own. Vendor oversight protects public health authority, data rights, security, equity, and operational continuity.</a:t>
            </a:r>
          </a:p>
        </p:txBody>
      </p:sp>
      <p:sp>
        <p:nvSpPr>
          <p:cNvPr id="9" name="">
            <a:extLst xmlns:a="http://schemas.openxmlformats.org/drawingml/2006/main">
              <a:ext uri="{FF2B5EF4-FFF2-40B4-BE49-F238E27FC236}">
                <a16:creationId xmlns:a16="http://schemas.microsoft.com/office/drawing/2014/main" id="{B192452A-915F-4A49-B726-9291854A71F3}"/>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6A1C557-9729-4EBC-BAEB-17FA7F273AA0}"/>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91A80E3-5BF4-4F57-AEF3-5ADA4C9A89F4}"/>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39C5489E-B139-4406-808E-44DA8C0672CA}"/>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Vendor AI should not bypass governance, privacy, security, accessibility, validation, or public accountability requirements.</a:t>
            </a:r>
          </a:p>
        </p:txBody>
      </p:sp>
      <p:sp>
        <p:nvSpPr>
          <p:cNvPr id="13" name="">
            <a:extLst xmlns:a="http://schemas.openxmlformats.org/drawingml/2006/main">
              <a:ext uri="{FF2B5EF4-FFF2-40B4-BE49-F238E27FC236}">
                <a16:creationId xmlns:a16="http://schemas.microsoft.com/office/drawing/2014/main" id="{97816407-1CF3-4AB5-B545-925F963E052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Procurement and Vendor Oversight</a:t>
            </a:r>
          </a:p>
        </p:txBody>
      </p:sp>
      <p:sp>
        <p:nvSpPr>
          <p:cNvPr id="14" name="">
            <a:extLst xmlns:a="http://schemas.openxmlformats.org/drawingml/2006/main">
              <a:ext uri="{FF2B5EF4-FFF2-40B4-BE49-F238E27FC236}">
                <a16:creationId xmlns:a16="http://schemas.microsoft.com/office/drawing/2014/main" id="{F00B93B4-9FC6-419A-9485-CD80BBA49A5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276903200"/>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EBFFBB-8ACE-49B0-B009-B1F9031E9EB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16A106F-2A0F-4117-900E-CF31607B12B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4B817DD9-6C3B-499E-AD71-226B3D32FAE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07AC9C0-E919-43F4-96A1-590CDB55AB8E}"/>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2FA8F603-A26A-424D-A4E4-5DD2FB89DF85}"/>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Procurement and Vendor Oversight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1FB8D999-3AAE-4D9C-8044-EF22308167D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Procurement and Vendor Oversight</a:t>
            </a:r>
          </a:p>
        </p:txBody>
      </p:sp>
      <p:sp>
        <p:nvSpPr>
          <p:cNvPr id="7" name="">
            <a:extLst xmlns:a="http://schemas.openxmlformats.org/drawingml/2006/main">
              <a:ext uri="{FF2B5EF4-FFF2-40B4-BE49-F238E27FC236}">
                <a16:creationId xmlns:a16="http://schemas.microsoft.com/office/drawing/2014/main" id="{564A27C6-334B-4E10-88B2-7C94CD7FD6B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8251331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C4BA5F-03D0-43F4-8CEC-2E21190E144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5164A79-C26E-40A6-ABD6-8B58F61A635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14EA7E7F-D630-450A-8B0E-410D3E97A83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E759E87-B15B-476E-9808-B76D37D5B686}"/>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Public health departments often encounter AI through vendor platforms, not custom-built internal systems. Procurement staff, program owners, IT, security, privacy, legal, and governance members need shared criteria for evaluating vendor claims before contracts are signed or pilots begin.</a:t>
            </a:r>
          </a:p>
        </p:txBody>
      </p:sp>
      <p:sp>
        <p:nvSpPr>
          <p:cNvPr id="5" name="">
            <a:extLst xmlns:a="http://schemas.openxmlformats.org/drawingml/2006/main">
              <a:ext uri="{FF2B5EF4-FFF2-40B4-BE49-F238E27FC236}">
                <a16:creationId xmlns:a16="http://schemas.microsoft.com/office/drawing/2014/main" id="{EBD4919C-DA5E-41FF-B5D6-314FFFFCD22B}"/>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1E2DE74-B7D0-4409-8DA6-BB8A24546A50}"/>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4366AED-5550-4390-A1F5-A5491E14AA62}"/>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3276BFE2-4602-486B-AC36-10556B19C3ED}"/>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procurement requires public health departments to evaluate vendor claims, contract terms, data rights, model documentation, auditability, accessibility, cybersecurity, support, and exit plans before an AI-enabled product is approved.</a:t>
            </a:r>
          </a:p>
        </p:txBody>
      </p:sp>
      <p:sp>
        <p:nvSpPr>
          <p:cNvPr id="9" name="">
            <a:extLst xmlns:a="http://schemas.openxmlformats.org/drawingml/2006/main">
              <a:ext uri="{FF2B5EF4-FFF2-40B4-BE49-F238E27FC236}">
                <a16:creationId xmlns:a16="http://schemas.microsoft.com/office/drawing/2014/main" id="{1013AAEE-EF7E-4D84-9051-86DACF77504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Procurement and Vendor Oversight</a:t>
            </a:r>
          </a:p>
        </p:txBody>
      </p:sp>
      <p:sp>
        <p:nvSpPr>
          <p:cNvPr id="10" name="">
            <a:extLst xmlns:a="http://schemas.openxmlformats.org/drawingml/2006/main">
              <a:ext uri="{FF2B5EF4-FFF2-40B4-BE49-F238E27FC236}">
                <a16:creationId xmlns:a16="http://schemas.microsoft.com/office/drawing/2014/main" id="{564C1CCB-EDF5-4162-84D3-D435DE4580E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46788350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FDF0E8-789A-4B25-B434-0688F33EE00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311CBFC-C363-4422-92C0-C2CD865BD66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74DCB594-D93D-45C8-90C9-5C38E848571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11084B0-2529-4CAB-9A26-8722C4284F29}"/>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4057AA59-FFB7-4843-A7EB-956F7D3F4B5F}"/>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BB9ED7DC-D28D-4185-BDDF-C7FEE4FF4A25}"/>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What Staff Should Look For</a:t>
            </a:r>
          </a:p>
        </p:txBody>
      </p:sp>
      <p:sp>
        <p:nvSpPr>
          <p:cNvPr id="7" name="">
            <a:extLst xmlns:a="http://schemas.openxmlformats.org/drawingml/2006/main">
              <a:ext uri="{FF2B5EF4-FFF2-40B4-BE49-F238E27FC236}">
                <a16:creationId xmlns:a16="http://schemas.microsoft.com/office/drawing/2014/main" id="{E3A16DF7-6CB4-4AEA-BFAE-4801651E4FAD}"/>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Clear description of what AI capability is included and whether it is generative, predictive, agentic, or rules-based. Model documentation, validation evidence, limitations, monitoring approach, and known failure modes. Contract terms covering.</a:t>
            </a:r>
          </a:p>
        </p:txBody>
      </p:sp>
      <p:sp>
        <p:nvSpPr>
          <p:cNvPr id="8" name="">
            <a:extLst xmlns:a="http://schemas.openxmlformats.org/drawingml/2006/main">
              <a:ext uri="{FF2B5EF4-FFF2-40B4-BE49-F238E27FC236}">
                <a16:creationId xmlns:a16="http://schemas.microsoft.com/office/drawing/2014/main" id="{63B427B3-18D7-4D62-8E39-85720DE2CDB2}"/>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2E084BA-390B-4F9D-BF3B-FD91B3D2A777}"/>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D085BFF-3AD4-496A-821F-83F76312D133}"/>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Procurement Questions</a:t>
            </a:r>
          </a:p>
        </p:txBody>
      </p:sp>
      <p:sp>
        <p:nvSpPr>
          <p:cNvPr id="11" name="">
            <a:extLst xmlns:a="http://schemas.openxmlformats.org/drawingml/2006/main">
              <a:ext uri="{FF2B5EF4-FFF2-40B4-BE49-F238E27FC236}">
                <a16:creationId xmlns:a16="http://schemas.microsoft.com/office/drawing/2014/main" id="{9CC42A20-90D9-4785-BA1F-40B9E2E9D89A}"/>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data will the vendor receive, store, process, or use to improve models? Can the department audit performance, errors, bias, access logs, and system changes? What happens if the model changes, performance declines, guidance changes, or the.</a:t>
            </a:r>
          </a:p>
        </p:txBody>
      </p:sp>
      <p:sp>
        <p:nvSpPr>
          <p:cNvPr id="12" name="">
            <a:extLst xmlns:a="http://schemas.openxmlformats.org/drawingml/2006/main">
              <a:ext uri="{FF2B5EF4-FFF2-40B4-BE49-F238E27FC236}">
                <a16:creationId xmlns:a16="http://schemas.microsoft.com/office/drawing/2014/main" id="{4D9A8950-80E4-459F-8499-8BA0CE6163F1}"/>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CBF8551-3712-441D-8A04-9EA2B15A2E47}"/>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411F030C-7778-47CE-B276-4A1D8D177E4C}"/>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EC6998A3-62A6-432A-BD2D-9BA2A88F0A6F}"/>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Route vendor AI proposals through governance before pilot approval. Use risk tiering to decide what validation, privacy, legal, and procurement review is required. Do not accept vendor performance claims without evidence, test data, monitoring.</a:t>
            </a:r>
          </a:p>
        </p:txBody>
      </p:sp>
      <p:sp>
        <p:nvSpPr>
          <p:cNvPr id="16" name="">
            <a:extLst xmlns:a="http://schemas.openxmlformats.org/drawingml/2006/main">
              <a:ext uri="{FF2B5EF4-FFF2-40B4-BE49-F238E27FC236}">
                <a16:creationId xmlns:a16="http://schemas.microsoft.com/office/drawing/2014/main" id="{49CF41B7-456D-475C-8E00-90DC25E2389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Procurement and Vendor Oversight</a:t>
            </a:r>
          </a:p>
        </p:txBody>
      </p:sp>
      <p:sp>
        <p:nvSpPr>
          <p:cNvPr id="17" name="">
            <a:extLst xmlns:a="http://schemas.openxmlformats.org/drawingml/2006/main">
              <a:ext uri="{FF2B5EF4-FFF2-40B4-BE49-F238E27FC236}">
                <a16:creationId xmlns:a16="http://schemas.microsoft.com/office/drawing/2014/main" id="{8A637178-1D34-4CA7-AD3A-BB2AF2944CA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270951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C042A4-FD67-4BEA-AD8F-82521E0614E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A10C7C0-C6FB-4D83-ABB4-326B61925A5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4A92BB64-FFF5-4ED9-88F7-06ADEC28148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9E2A288-B65C-426A-B89D-3A3B302942D1}"/>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6E8E06B9-E63D-4FF8-B803-34DBF20749B5}"/>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58F8109-90BF-4B08-B641-E3EE1215E5F6}"/>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DCAC3FBD-7B94-4071-AC76-A664DD3419A4}"/>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vendor model documentation</a:t>
            </a:r>
          </a:p>
        </p:txBody>
      </p:sp>
      <p:sp>
        <p:nvSpPr>
          <p:cNvPr id="8" name="">
            <a:extLst xmlns:a="http://schemas.openxmlformats.org/drawingml/2006/main">
              <a:ext uri="{FF2B5EF4-FFF2-40B4-BE49-F238E27FC236}">
                <a16:creationId xmlns:a16="http://schemas.microsoft.com/office/drawing/2014/main" id="{524A7421-189D-4D34-8F18-16F678D48C8E}"/>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18A2A9D8-C641-4141-BA70-5ACE06140621}"/>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D19649A-DC34-4C82-BDAD-9BA6E9457B58}"/>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097FB38B-8A2A-4918-ABE5-77DA551A7787}"/>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Add AI clauses to contracts</a:t>
            </a:r>
          </a:p>
        </p:txBody>
      </p:sp>
      <p:sp>
        <p:nvSpPr>
          <p:cNvPr id="12" name="">
            <a:extLst xmlns:a="http://schemas.openxmlformats.org/drawingml/2006/main">
              <a:ext uri="{FF2B5EF4-FFF2-40B4-BE49-F238E27FC236}">
                <a16:creationId xmlns:a16="http://schemas.microsoft.com/office/drawing/2014/main" id="{CF072709-2266-4E66-A491-D9EF209397C5}"/>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DE6E390B-1069-4DD8-972C-FE411A5D8079}"/>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AE370886-6192-4644-BDE2-044CE4519F5C}"/>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F440A224-4250-4AAA-A0B9-9BB231CAA2EB}"/>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Require audit and data-use terms</a:t>
            </a:r>
          </a:p>
        </p:txBody>
      </p:sp>
      <p:sp>
        <p:nvSpPr>
          <p:cNvPr id="16" name="">
            <a:extLst xmlns:a="http://schemas.openxmlformats.org/drawingml/2006/main">
              <a:ext uri="{FF2B5EF4-FFF2-40B4-BE49-F238E27FC236}">
                <a16:creationId xmlns:a16="http://schemas.microsoft.com/office/drawing/2014/main" id="{0E8F6EF5-ECC7-49F4-853C-45782BDBA812}"/>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2E2524A2-CB01-4020-8120-8A03B023261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Procurement and Vendor Oversight</a:t>
            </a:r>
          </a:p>
        </p:txBody>
      </p:sp>
      <p:sp>
        <p:nvSpPr>
          <p:cNvPr id="18" name="">
            <a:extLst xmlns:a="http://schemas.openxmlformats.org/drawingml/2006/main">
              <a:ext uri="{FF2B5EF4-FFF2-40B4-BE49-F238E27FC236}">
                <a16:creationId xmlns:a16="http://schemas.microsoft.com/office/drawing/2014/main" id="{64774A84-32A7-4DC2-A3FB-3765CC1EFEC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63025598"/>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09C3C18-34FA-403D-95EC-79A069E29F7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F21B159-235B-41A3-A1B8-346C84B29A3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947F7912-CD64-4F13-BE13-0C5EB788F7F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D338903-EE29-481C-BF1C-BDBA5B81FD5A}"/>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AF52077-E760-4546-988F-88104849E874}"/>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5767101E-BF86-4DE4-8FAB-15D7C1C2828D}"/>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B67E8D83-3DC4-4A9E-906E-0552D97C5123}"/>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AI-enabled vendor tools are already in use or under consideration? Which contract terms would prevent the department from auditing or safely exiting the system? Who must review vendor claims before a pilot or purchase is approved?</a:t>
            </a:r>
          </a:p>
        </p:txBody>
      </p:sp>
      <p:sp>
        <p:nvSpPr>
          <p:cNvPr id="8" name="">
            <a:extLst xmlns:a="http://schemas.openxmlformats.org/drawingml/2006/main">
              <a:ext uri="{FF2B5EF4-FFF2-40B4-BE49-F238E27FC236}">
                <a16:creationId xmlns:a16="http://schemas.microsoft.com/office/drawing/2014/main" id="{D9369B4A-19FD-4DC4-BDC6-1C37F693C584}"/>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A858C77-99F9-417A-8B8F-307ADAD11123}"/>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8E590395-3051-4F30-B7DA-F5BDF5A1827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D3E3B940-1473-4FC2-BFC9-2A29FCB9243E}"/>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a sample AI vendor proposal and identify missing documentation, contract protections, validation evidence, data-use terms, accessibility requirements, and governance questions.</a:t>
            </a:r>
          </a:p>
        </p:txBody>
      </p:sp>
      <p:sp>
        <p:nvSpPr>
          <p:cNvPr id="12" name="">
            <a:extLst xmlns:a="http://schemas.openxmlformats.org/drawingml/2006/main">
              <a:ext uri="{FF2B5EF4-FFF2-40B4-BE49-F238E27FC236}">
                <a16:creationId xmlns:a16="http://schemas.microsoft.com/office/drawing/2014/main" id="{C94EF707-76A4-4ED1-B4E5-C319C6415F9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Procurement and Vendor Oversight</a:t>
            </a:r>
          </a:p>
        </p:txBody>
      </p:sp>
      <p:sp>
        <p:nvSpPr>
          <p:cNvPr id="13" name="">
            <a:extLst xmlns:a="http://schemas.openxmlformats.org/drawingml/2006/main">
              <a:ext uri="{FF2B5EF4-FFF2-40B4-BE49-F238E27FC236}">
                <a16:creationId xmlns:a16="http://schemas.microsoft.com/office/drawing/2014/main" id="{8A66AC5E-14FB-4F74-ACFB-9C5E1B7D10B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8960054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64EFAA-7922-46A3-9518-FCCE0D280FB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D5CEF22-BB71-4770-9FA8-1D86E80A177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34605497-CEBE-4AC7-B32E-10BB9B1966A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05BE3C8-6C29-4597-87DE-421DE0FDDC9F}"/>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1BABF52-8B6E-431B-9093-C6B483945D30}"/>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8722A56-7F77-4ED8-8D00-074109CD2F20}"/>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46752AC1-F21E-4C41-93A4-7CC8AC948072}"/>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7, 8, 11, 12 and Tools 11, 13, 15, 34, 40, 43.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31ED3442-D9B4-4AEF-89D0-0E03609952E7}"/>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396BD316-AC2D-4AFC-9CBD-24FCCD0D1B0E}"/>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D3F22D22-4DFC-4339-A2F5-24F327518DB0}"/>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BF39C2EA-BA97-48FF-AA34-5B28E294E257}"/>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Use to structure vendor risk, documentation, transparency, and accountability review. FedRAMP: Cloud security authorization context for vendor-hosted systems that may handle sensitive. HHS Civil Rights and.</a:t>
            </a:r>
          </a:p>
        </p:txBody>
      </p:sp>
      <p:sp>
        <p:nvSpPr>
          <p:cNvPr id="12" name="">
            <a:extLst xmlns:a="http://schemas.openxmlformats.org/drawingml/2006/main">
              <a:ext uri="{FF2B5EF4-FFF2-40B4-BE49-F238E27FC236}">
                <a16:creationId xmlns:a16="http://schemas.microsoft.com/office/drawing/2014/main" id="{21CDFB36-F69F-4B5B-900F-A4C969FC89C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Procurement and Vendor Oversight</a:t>
            </a:r>
          </a:p>
        </p:txBody>
      </p:sp>
      <p:sp>
        <p:nvSpPr>
          <p:cNvPr id="13" name="">
            <a:extLst xmlns:a="http://schemas.openxmlformats.org/drawingml/2006/main">
              <a:ext uri="{FF2B5EF4-FFF2-40B4-BE49-F238E27FC236}">
                <a16:creationId xmlns:a16="http://schemas.microsoft.com/office/drawing/2014/main" id="{F3300AC3-FFC6-4C28-AEE5-08E303E6326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753885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2026-07-02T17:47:03.9830000Z</dcterms:created>
  <dcterms:modified xsi:type="dcterms:W3CDTF">2026-07-02T17:47:03.9830000Z</dcterms:modified>
</coreProperties>
</file>