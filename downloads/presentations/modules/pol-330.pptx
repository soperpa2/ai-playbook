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POL 330 AI Equity Policy and Civil Rights Considerations
This module focuses on civil rights, nondiscrimination, accessibility, language access, disparate impact, and equity safeguards.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Policy Role-Based Track
Appears in tracks: policy, governance-security, communications, public-health-executive-leadership
This module focuses on civil rights, nondiscrimination, accessibility, language access, disparate impact, and equity safeguards.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 AI Vision &amp; Principles Workshop (Workshop) - Use AI Vision &amp; Principles Workshop to translate this lesson into a documented public health AI planning, governance,.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ai equity policy and civil rights considerations in public health AI.
Identify the roles, decisions, risks, and documentation needed for the topic.
Apply the topic to a real or realistic public health workflow or decision.
Recognize equity, privacy, security, legal, operational, and public trust implications.
Produce a practical artifact that supports readiness, governance, implementation, monitoring, or accountability.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focuses on civil rights, nondiscrimination, accessibility, language access, disparate impact, and equity safeguards.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Decision right: The authority to approve, deny, modify, pause, or escalate an AI use case or operational decision.
Evidence artifact: A document, log, checklist, test result, approval record, or review note that demonstrates responsible AI practice.
Escalation pathway: A defined route for raising concerns to the appropriate reviewer or decision-maker.
Accountability owner: The person or role responsible for ensuring that an AI use case is governed, monitored, and corrected when needed.
Operational safeguard: A procedure, control, or review step that reduces risk during day-to-day use.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Equity Policy and Civil Rights Considerations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is preparing to use AI in a workflow related to civil rights, nondiscrimination, accessibility, language access, disparate impact, and equity safeguards.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This topic applies across generative AI, predictive analytics, NLP, RAG, automation, and agentic workflows. The more sensitive the data, the more consequential the output, or the more automated the action, the stronger the documentation, review, and monitoring expectations should be.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decision or workflow does this topic affect?
Who has authority to approve or pause the work?
What evidence would show that the workflow is responsible and effective?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equity, privacy, legal, security, or public trust risks require review?
How will the agency know when the workflow needs to be revised?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practical ai equity policy and civil rights considerations artifact for one AI-supported public health use case. The artifact should define the use case, affected roles, review criteria, safeguards, documentation expectations, escalation triggers, monitoring indicators, and next review date.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Equity Policy and Civil Rights Considerations artifact
Role and responsibility table
Risk and safeguard summary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monitoring plan
Approval or review note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Equity Policy and Civil Rights Considerations artifact
Role and responsibility table
Risk and safeguard summary
Escalation and monitoring plan
Approval or review note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evidence that ai equity policy and civil rights considerations has been applied responsibly?
2. What is the best reason to assign an accountability owner?
3. When should an AI-supported workflow be escalated for review?
4. Which practice best supports public accountability?
5. What should happen when data sources, policy, vendor configuration, or workflow use changes?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POL 330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Equity Policy and Civil Rights Considerations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focuses on civil rights, nondiscrimination, accessibility, language access, disparate impact, and.</a:t>
            </a:r>
            <a:endParaRPr lang="en-US" sz="2100" dirty="0"/>
          </a:p>
          <a:p>
            <a:r>
              <a:rPr lang="en-US" sz="2100" dirty="0">
                <a:solidFill>
                  <a:srgbClr val="17364A"/>
                </a:solidFill>
                <a:latin typeface="Aptos" pitchFamily="34" charset="0"/>
                <a:ea typeface="Aptos" pitchFamily="34" charset="-122"/>
                <a:cs typeface="Aptos" pitchFamily="34" charset="-120"/>
              </a:rPr>
              <a:t>It is designed for public health staff who must translate responsible AI principles into repeatable decisions,.</a:t>
            </a:r>
            <a:endParaRPr lang="en-US" sz="2100" dirty="0"/>
          </a:p>
          <a:p>
            <a:r>
              <a:rPr lang="en-US" sz="2100" dirty="0">
                <a:solidFill>
                  <a:srgbClr val="17364A"/>
                </a:solidFill>
                <a:latin typeface="Aptos" pitchFamily="34" charset="0"/>
                <a:ea typeface="Aptos" pitchFamily="34" charset="-122"/>
                <a:cs typeface="Aptos" pitchFamily="34" charset="-120"/>
              </a:rPr>
              <a:t>The module helps learners move beyond general awareness by producing a practical artifact that can be used in.</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intermediate/practitioner</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Policy Role-Based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policy, governance-security, communications, public-health-executive-leadership</a:t>
            </a:r>
            <a:endParaRPr lang="en-US" sz="155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Read the module for shared vocabulary and context.</a:t>
            </a:r>
            <a:endParaRPr lang="en-US" sz="1380" dirty="0"/>
          </a:p>
          <a:p>
            <a:r>
              <a:rPr lang="en-US" sz="1380" dirty="0">
                <a:solidFill>
                  <a:srgbClr val="17364A"/>
                </a:solidFill>
                <a:latin typeface="Aptos" pitchFamily="34" charset="0"/>
                <a:ea typeface="Aptos" pitchFamily="34" charset="-122"/>
                <a:cs typeface="Aptos" pitchFamily="34" charset="-120"/>
              </a:rPr>
              <a:t>Complete the practical exercise to apply the concept.</a:t>
            </a:r>
            <a:endParaRPr lang="en-US" sz="1380" dirty="0"/>
          </a:p>
          <a:p>
            <a:r>
              <a:rPr lang="en-US" sz="1380" dirty="0">
                <a:solidFill>
                  <a:srgbClr val="17364A"/>
                </a:solidFill>
                <a:latin typeface="Aptos" pitchFamily="34" charset="0"/>
                <a:ea typeface="Aptos" pitchFamily="34" charset="-122"/>
                <a:cs typeface="Aptos" pitchFamily="34" charset="-120"/>
              </a:rPr>
              <a:t>Use the notes and references for deeper review.</a:t>
            </a:r>
            <a:endParaRPr lang="en-US" sz="13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Locate the decision point in the playbook sequence.</a:t>
            </a:r>
            <a:endParaRPr lang="en-US" sz="1380" dirty="0"/>
          </a:p>
          <a:p>
            <a:r>
              <a:rPr lang="en-US" sz="1380" dirty="0">
                <a:solidFill>
                  <a:srgbClr val="17364A"/>
                </a:solidFill>
                <a:latin typeface="Aptos" pitchFamily="34" charset="0"/>
                <a:ea typeface="Aptos" pitchFamily="34" charset="-122"/>
                <a:cs typeface="Aptos" pitchFamily="34" charset="-120"/>
              </a:rPr>
              <a:t>Identify who should participate in the work.</a:t>
            </a:r>
            <a:endParaRPr lang="en-US" sz="1380" dirty="0"/>
          </a:p>
          <a:p>
            <a:r>
              <a:rPr lang="en-US" sz="1380" dirty="0">
                <a:solidFill>
                  <a:srgbClr val="17364A"/>
                </a:solidFill>
                <a:latin typeface="Aptos" pitchFamily="34" charset="0"/>
                <a:ea typeface="Aptos" pitchFamily="34" charset="-122"/>
                <a:cs typeface="Aptos" pitchFamily="34" charset="-120"/>
              </a:rPr>
              <a:t>Document the review, approval, or implementation step.</a:t>
            </a:r>
            <a:endParaRPr lang="en-US" sz="13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1: AI Vision &amp; Principles Workshop (Workshop) - Use AI Vision &amp; Principles Workshop to translate this.</a:t>
            </a:r>
            <a:endParaRPr lang="en-US" sz="1850" dirty="0"/>
          </a:p>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Use a tool when no comparable local process exists.</a:t>
            </a:r>
            <a:endParaRPr lang="en-US" sz="1380" dirty="0"/>
          </a:p>
          <a:p>
            <a:r>
              <a:rPr lang="en-US" sz="1380" dirty="0">
                <a:solidFill>
                  <a:srgbClr val="17364A"/>
                </a:solidFill>
                <a:latin typeface="Aptos" pitchFamily="34" charset="0"/>
                <a:ea typeface="Aptos" pitchFamily="34" charset="-122"/>
                <a:cs typeface="Aptos" pitchFamily="34" charset="-120"/>
              </a:rPr>
              <a:t>Adapt existing department templates when they already fit the purpose.</a:t>
            </a:r>
            <a:endParaRPr lang="en-US" sz="1380" dirty="0"/>
          </a:p>
          <a:p>
            <a:r>
              <a:rPr lang="en-US" sz="1380" dirty="0">
                <a:solidFill>
                  <a:srgbClr val="17364A"/>
                </a:solidFill>
                <a:latin typeface="Aptos" pitchFamily="34" charset="0"/>
                <a:ea typeface="Aptos" pitchFamily="34" charset="-122"/>
                <a:cs typeface="Aptos" pitchFamily="34" charset="-120"/>
              </a:rPr>
              <a:t>Save the completed artifact as evidence of the decision.</a:t>
            </a:r>
            <a:endParaRPr lang="en-US" sz="13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the purpose of ai equity policy and civil rights considerations in public health AI.</a:t>
            </a:r>
            <a:endParaRPr lang="en-US" sz="2100" dirty="0"/>
          </a:p>
          <a:p>
            <a:r>
              <a:rPr lang="en-US" sz="2100" dirty="0">
                <a:solidFill>
                  <a:srgbClr val="17364A"/>
                </a:solidFill>
                <a:latin typeface="Aptos" pitchFamily="34" charset="0"/>
                <a:ea typeface="Aptos" pitchFamily="34" charset="-122"/>
                <a:cs typeface="Aptos" pitchFamily="34" charset="-120"/>
              </a:rPr>
              <a:t>Identify the roles, decisions, risks, and documentation needed for the topic.</a:t>
            </a:r>
            <a:endParaRPr lang="en-US" sz="2100" dirty="0"/>
          </a:p>
          <a:p>
            <a:r>
              <a:rPr lang="en-US" sz="2100" dirty="0">
                <a:solidFill>
                  <a:srgbClr val="17364A"/>
                </a:solidFill>
                <a:latin typeface="Aptos" pitchFamily="34" charset="0"/>
                <a:ea typeface="Aptos" pitchFamily="34" charset="-122"/>
                <a:cs typeface="Aptos" pitchFamily="34" charset="-120"/>
              </a:rPr>
              <a:t>Apply the topic to a real or realistic public health workflow or decision.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the purpose of ai equity policy and civil rights considerations in public health AI.</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Recognize equity, privacy, security, legal, operational, and public trust implications.</a:t>
            </a:r>
            <a:endParaRPr lang="en-US" sz="1380" dirty="0"/>
          </a:p>
          <a:p>
            <a:r>
              <a:rPr lang="en-US" sz="1380" dirty="0">
                <a:solidFill>
                  <a:srgbClr val="17364A"/>
                </a:solidFill>
                <a:latin typeface="Aptos" pitchFamily="34" charset="0"/>
                <a:ea typeface="Aptos" pitchFamily="34" charset="-122"/>
                <a:cs typeface="Aptos" pitchFamily="34" charset="-120"/>
              </a:rPr>
              <a:t>Produce a practical artifact that supports readiness, governance, implementation,.</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focuses on civil rights, nondiscrimination, accessibility, language access, disparate.</a:t>
            </a:r>
            <a:endParaRPr lang="en-US" sz="2100" dirty="0"/>
          </a:p>
          <a:p>
            <a:r>
              <a:rPr lang="en-US" sz="2100" dirty="0">
                <a:solidFill>
                  <a:srgbClr val="17364A"/>
                </a:solidFill>
                <a:latin typeface="Aptos" pitchFamily="34" charset="0"/>
                <a:ea typeface="Aptos" pitchFamily="34" charset="-122"/>
                <a:cs typeface="Aptos" pitchFamily="34" charset="-120"/>
              </a:rPr>
              <a:t>It is designed for public health staff who must translate responsible AI principles into repeatable.</a:t>
            </a:r>
            <a:endParaRPr lang="en-US" sz="2100" dirty="0"/>
          </a:p>
          <a:p>
            <a:r>
              <a:rPr lang="en-US" sz="2100" dirty="0">
                <a:solidFill>
                  <a:srgbClr val="17364A"/>
                </a:solidFill>
                <a:latin typeface="Aptos" pitchFamily="34" charset="0"/>
                <a:ea typeface="Aptos" pitchFamily="34" charset="-122"/>
                <a:cs typeface="Aptos" pitchFamily="34" charset="-120"/>
              </a:rPr>
              <a:t>The module helps learners move beyond general awareness by producing a practical artifact that can be.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focuses on civil rights, nondiscrimination, accessibility, language access, disparate.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This module focuses on civil rights, nondiscrimination, accessibility, language access,.</a:t>
            </a:r>
            <a:endParaRPr lang="en-US" sz="1380" dirty="0"/>
          </a:p>
          <a:p>
            <a:r>
              <a:rPr lang="en-US" sz="1380" dirty="0">
                <a:solidFill>
                  <a:srgbClr val="17364A"/>
                </a:solidFill>
                <a:latin typeface="Aptos" pitchFamily="34" charset="0"/>
                <a:ea typeface="Aptos" pitchFamily="34" charset="-122"/>
                <a:cs typeface="Aptos" pitchFamily="34" charset="-120"/>
              </a:rPr>
              <a:t>It is designed for public health staff who must translate responsible AI principles into.</a:t>
            </a:r>
            <a:endParaRPr lang="en-US" sz="1380" dirty="0"/>
          </a:p>
          <a:p>
            <a:r>
              <a:rPr lang="en-US" sz="1380" dirty="0">
                <a:solidFill>
                  <a:srgbClr val="17364A"/>
                </a:solidFill>
                <a:latin typeface="Aptos" pitchFamily="34" charset="0"/>
                <a:ea typeface="Aptos" pitchFamily="34" charset="-122"/>
                <a:cs typeface="Aptos" pitchFamily="34" charset="-120"/>
              </a:rPr>
              <a:t>The module helps learners move beyond general awareness by producing a practical artifact.</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Decision right: The authority to approve, deny, modify, pause, or escalate an AI use case or.</a:t>
            </a:r>
            <a:endParaRPr lang="en-US" sz="2100" dirty="0"/>
          </a:p>
          <a:p>
            <a:r>
              <a:rPr lang="en-US" sz="2100" dirty="0">
                <a:solidFill>
                  <a:srgbClr val="17364A"/>
                </a:solidFill>
                <a:latin typeface="Aptos" pitchFamily="34" charset="0"/>
                <a:ea typeface="Aptos" pitchFamily="34" charset="-122"/>
                <a:cs typeface="Aptos" pitchFamily="34" charset="-120"/>
              </a:rPr>
              <a:t>Evidence artifact: A document, log, checklist, test result, approval record, or review note that.</a:t>
            </a:r>
            <a:endParaRPr lang="en-US" sz="2100" dirty="0"/>
          </a:p>
          <a:p>
            <a:r>
              <a:rPr lang="en-US" sz="2100" dirty="0">
                <a:solidFill>
                  <a:srgbClr val="17364A"/>
                </a:solidFill>
                <a:latin typeface="Aptos" pitchFamily="34" charset="0"/>
                <a:ea typeface="Aptos" pitchFamily="34" charset="-122"/>
                <a:cs typeface="Aptos" pitchFamily="34" charset="-120"/>
              </a:rPr>
              <a:t>Escalation pathway: A defined route for raising concerns to the appropriate reviewer or decision-maker.</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Decision right: The authority to approve, deny, modify, pause, or escalate an AI use case or.</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Decision right: The authority to approve, deny, modify, pause, or escalate an AI use case.</a:t>
            </a:r>
            <a:endParaRPr lang="en-US" sz="1380" dirty="0"/>
          </a:p>
          <a:p>
            <a:r>
              <a:rPr lang="en-US" sz="1380" dirty="0">
                <a:solidFill>
                  <a:srgbClr val="17364A"/>
                </a:solidFill>
                <a:latin typeface="Aptos" pitchFamily="34" charset="0"/>
                <a:ea typeface="Aptos" pitchFamily="34" charset="-122"/>
                <a:cs typeface="Aptos" pitchFamily="34" charset="-120"/>
              </a:rPr>
              <a:t>Evidence artifact: A document, log, checklist, test result, approval record, or review.</a:t>
            </a:r>
            <a:endParaRPr lang="en-US" sz="1380" dirty="0"/>
          </a:p>
          <a:p>
            <a:r>
              <a:rPr lang="en-US" sz="1380" dirty="0">
                <a:solidFill>
                  <a:srgbClr val="17364A"/>
                </a:solidFill>
                <a:latin typeface="Aptos" pitchFamily="34" charset="0"/>
                <a:ea typeface="Aptos" pitchFamily="34" charset="-122"/>
                <a:cs typeface="Aptos" pitchFamily="34" charset="-120"/>
              </a:rPr>
              <a:t>Accountability owner: The person or role responsible for ensuring that an AI use case is.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2100" dirty="0"/>
          </a:p>
          <a:p>
            <a:r>
              <a:rPr lang="en-US" sz="2100" dirty="0">
                <a:solidFill>
                  <a:srgbClr val="17364A"/>
                </a:solidFill>
                <a:latin typeface="Aptos" pitchFamily="34" charset="0"/>
                <a:ea typeface="Aptos" pitchFamily="34" charset="-122"/>
                <a:cs typeface="Aptos" pitchFamily="34" charset="-120"/>
              </a:rPr>
              <a:t>It is not legal advice and does not replace review by agency legal counsel, privacy officers,.</a:t>
            </a:r>
            <a:endParaRPr lang="en-US" sz="2100" dirty="0"/>
          </a:p>
          <a:p>
            <a:r>
              <a:rPr lang="en-US" sz="2100" dirty="0">
                <a:solidFill>
                  <a:srgbClr val="17364A"/>
                </a:solidFill>
                <a:latin typeface="Aptos" pitchFamily="34" charset="0"/>
                <a:ea typeface="Aptos" pitchFamily="34" charset="-122"/>
                <a:cs typeface="Aptos" pitchFamily="34" charset="-120"/>
              </a:rPr>
              <a:t>Requirements may vary by state, locality, territory, Tribe, agency, funding source, data-sharing.</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It is not legal advice and does not replace review by agency legal counsel, privacy.</a:t>
            </a:r>
            <a:endParaRPr lang="en-US" sz="1380" dirty="0"/>
          </a:p>
          <a:p>
            <a:r>
              <a:rPr lang="en-US" sz="1380" dirty="0">
                <a:solidFill>
                  <a:srgbClr val="17364A"/>
                </a:solidFill>
                <a:latin typeface="Aptos" pitchFamily="34" charset="0"/>
                <a:ea typeface="Aptos" pitchFamily="34" charset="-122"/>
                <a:cs typeface="Aptos" pitchFamily="34" charset="-120"/>
              </a:rPr>
              <a:t>Requirements may vary by state, locality, territory, Tribe, agency, funding source,.</a:t>
            </a:r>
            <a:endParaRPr lang="en-US" sz="1380" dirty="0"/>
          </a:p>
          <a:p>
            <a:r>
              <a:rPr lang="en-US" sz="1380" dirty="0">
                <a:solidFill>
                  <a:srgbClr val="17364A"/>
                </a:solidFill>
                <a:latin typeface="Aptos" pitchFamily="34" charset="0"/>
                <a:ea typeface="Aptos" pitchFamily="34" charset="-122"/>
                <a:cs typeface="Aptos" pitchFamily="34" charset="-120"/>
              </a:rPr>
              <a:t>Learners should use this module to identify the issues that require review and should.</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Equity Policy and Civil Rights Considerations matters because AI adoption changes how public health.</a:t>
            </a:r>
            <a:endParaRPr lang="en-US" sz="2100" dirty="0"/>
          </a:p>
          <a:p>
            <a:r>
              <a:rPr lang="en-US" sz="2100" dirty="0">
                <a:solidFill>
                  <a:srgbClr val="17364A"/>
                </a:solidFill>
                <a:latin typeface="Aptos" pitchFamily="34" charset="0"/>
                <a:ea typeface="Aptos" pitchFamily="34" charset="-122"/>
                <a:cs typeface="Aptos" pitchFamily="34" charset="-120"/>
              </a:rPr>
              <a:t>Without a structured approach, staff may rely on informal practices, vendor assurances, or one-time.</a:t>
            </a:r>
            <a:endParaRPr lang="en-US" sz="2100" dirty="0"/>
          </a:p>
          <a:p>
            <a:r>
              <a:rPr lang="en-US" sz="2100" dirty="0">
                <a:solidFill>
                  <a:srgbClr val="17364A"/>
                </a:solidFill>
                <a:latin typeface="Aptos" pitchFamily="34" charset="0"/>
                <a:ea typeface="Aptos" pitchFamily="34" charset="-122"/>
                <a:cs typeface="Aptos" pitchFamily="34" charset="-120"/>
              </a:rPr>
              <a:t>Public health agencies operate under legal authorities, public accountability, resource constraints,.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Equity Policy and Civil Rights Considerations matters because AI adoption changes how public health.</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AI Equity Policy and Civil Rights Considerations matters because AI adoption changes how.</a:t>
            </a:r>
            <a:endParaRPr lang="en-US" sz="1380" dirty="0"/>
          </a:p>
          <a:p>
            <a:r>
              <a:rPr lang="en-US" sz="1380" dirty="0">
                <a:solidFill>
                  <a:srgbClr val="17364A"/>
                </a:solidFill>
                <a:latin typeface="Aptos" pitchFamily="34" charset="0"/>
                <a:ea typeface="Aptos" pitchFamily="34" charset="-122"/>
                <a:cs typeface="Aptos" pitchFamily="34" charset="-120"/>
              </a:rPr>
              <a:t>Without a structured approach, staff may rely on informal practices, vendor assurances, or.</a:t>
            </a:r>
            <a:endParaRPr lang="en-US" sz="1380" dirty="0"/>
          </a:p>
          <a:p>
            <a:r>
              <a:rPr lang="en-US" sz="1380" dirty="0">
                <a:solidFill>
                  <a:srgbClr val="17364A"/>
                </a:solidFill>
                <a:latin typeface="Aptos" pitchFamily="34" charset="0"/>
                <a:ea typeface="Aptos" pitchFamily="34" charset="-122"/>
                <a:cs typeface="Aptos" pitchFamily="34" charset="-120"/>
              </a:rPr>
              <a:t>Public health agencies operate under legal authorities, public accountability, resource.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public health agency is preparing to use AI in a workflow related to civil rights, nondiscrimination,.</a:t>
            </a:r>
            <a:endParaRPr lang="en-US" sz="2100" dirty="0"/>
          </a:p>
          <a:p>
            <a:r>
              <a:rPr lang="en-US" sz="2100" dirty="0">
                <a:solidFill>
                  <a:srgbClr val="17364A"/>
                </a:solidFill>
                <a:latin typeface="Aptos" pitchFamily="34" charset="0"/>
                <a:ea typeface="Aptos" pitchFamily="34" charset="-122"/>
                <a:cs typeface="Aptos" pitchFamily="34" charset="-120"/>
              </a:rPr>
              <a:t>The project team initially treats the tool as a helpful efficiency aid, but governance reviewers.</a:t>
            </a:r>
            <a:endParaRPr lang="en-US" sz="2100" dirty="0"/>
          </a:p>
          <a:p>
            <a:r>
              <a:rPr lang="en-US" sz="2100" dirty="0">
                <a:solidFill>
                  <a:srgbClr val="17364A"/>
                </a:solidFill>
                <a:latin typeface="Aptos" pitchFamily="34" charset="0"/>
                <a:ea typeface="Aptos" pitchFamily="34" charset="-122"/>
                <a:cs typeface="Aptos" pitchFamily="34" charset="-120"/>
              </a:rPr>
              <a:t>The agency responds by creating a clear artifact that defines intended use, prohibited use, responsible.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public health agency is preparing to use AI in a workflow related to civil rights, nondiscrimination,.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 public health agency is preparing to use AI in a workflow related to civil rights,.</a:t>
            </a:r>
            <a:endParaRPr lang="en-US" sz="1380" dirty="0"/>
          </a:p>
          <a:p>
            <a:r>
              <a:rPr lang="en-US" sz="1380" dirty="0">
                <a:solidFill>
                  <a:srgbClr val="17364A"/>
                </a:solidFill>
                <a:latin typeface="Aptos" pitchFamily="34" charset="0"/>
                <a:ea typeface="Aptos" pitchFamily="34" charset="-122"/>
                <a:cs typeface="Aptos" pitchFamily="34" charset="-120"/>
              </a:rPr>
              <a:t>The project team initially treats the tool as a helpful efficiency aid, but governance.</a:t>
            </a:r>
            <a:endParaRPr lang="en-US" sz="1380" dirty="0"/>
          </a:p>
          <a:p>
            <a:r>
              <a:rPr lang="en-US" sz="1380" dirty="0">
                <a:solidFill>
                  <a:srgbClr val="17364A"/>
                </a:solidFill>
                <a:latin typeface="Aptos" pitchFamily="34" charset="0"/>
                <a:ea typeface="Aptos" pitchFamily="34" charset="-122"/>
                <a:cs typeface="Aptos" pitchFamily="34" charset="-120"/>
              </a:rPr>
              <a:t>The agency responds by creating a clear artifact that defines intended use, prohibited.</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2100" dirty="0"/>
          </a:p>
          <a:p>
            <a:r>
              <a:rPr lang="en-US" sz="2100" dirty="0">
                <a:solidFill>
                  <a:srgbClr val="17364A"/>
                </a:solidFill>
                <a:latin typeface="Aptos" pitchFamily="34" charset="0"/>
                <a:ea typeface="Aptos" pitchFamily="34" charset="-122"/>
                <a:cs typeface="Aptos" pitchFamily="34" charset="-120"/>
              </a:rPr>
              <a:t>Staff should identify who is affected, what data are used, what AI output is produced, who reviews the.</a:t>
            </a:r>
            <a:endParaRPr lang="en-US" sz="2100" dirty="0"/>
          </a:p>
          <a:p>
            <a:r>
              <a:rPr lang="en-US" sz="2100" dirty="0">
                <a:solidFill>
                  <a:srgbClr val="17364A"/>
                </a:solidFill>
                <a:latin typeface="Aptos" pitchFamily="34" charset="0"/>
                <a:ea typeface="Aptos" pitchFamily="34" charset="-122"/>
                <a:cs typeface="Aptos" pitchFamily="34" charset="-120"/>
              </a:rPr>
              <a:t>This prevents the module from becoming abstract and anchors the work in public health practice.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Staff should identify who is affected, what data are used, what AI output is produced, who.</a:t>
            </a:r>
            <a:endParaRPr lang="en-US" sz="1380" dirty="0"/>
          </a:p>
          <a:p>
            <a:r>
              <a:rPr lang="en-US" sz="1380" dirty="0">
                <a:solidFill>
                  <a:srgbClr val="17364A"/>
                </a:solidFill>
                <a:latin typeface="Aptos" pitchFamily="34" charset="0"/>
                <a:ea typeface="Aptos" pitchFamily="34" charset="-122"/>
                <a:cs typeface="Aptos" pitchFamily="34" charset="-120"/>
              </a:rPr>
              <a:t>The second step is to assign responsibilities.</a:t>
            </a:r>
            <a:endParaRPr lang="en-US" sz="1380" dirty="0"/>
          </a:p>
          <a:p>
            <a:r>
              <a:rPr lang="en-US" sz="1380" dirty="0">
                <a:solidFill>
                  <a:srgbClr val="17364A"/>
                </a:solidFill>
                <a:latin typeface="Aptos" pitchFamily="34" charset="0"/>
                <a:ea typeface="Aptos" pitchFamily="34" charset="-122"/>
                <a:cs typeface="Aptos" pitchFamily="34" charset="-120"/>
              </a:rPr>
              <a:t>AI-supported workflows often cross program, IT, legal, privacy, communications,.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2100" dirty="0"/>
          </a:p>
          <a:p>
            <a:r>
              <a:rPr lang="en-US" sz="2100" dirty="0">
                <a:solidFill>
                  <a:srgbClr val="17364A"/>
                </a:solidFill>
                <a:latin typeface="Aptos" pitchFamily="34" charset="0"/>
                <a:ea typeface="Aptos" pitchFamily="34" charset="-122"/>
                <a:cs typeface="Aptos" pitchFamily="34" charset="-120"/>
              </a:rPr>
              <a:t>AI risks can change when data sources, models, vendors, policies, users, or public expectations change.</a:t>
            </a:r>
            <a:endParaRPr lang="en-US" sz="2100" dirty="0"/>
          </a:p>
          <a:p>
            <a:r>
              <a:rPr lang="en-US" sz="2100" dirty="0">
                <a:solidFill>
                  <a:srgbClr val="17364A"/>
                </a:solidFill>
                <a:latin typeface="Aptos" pitchFamily="34" charset="0"/>
                <a:ea typeface="Aptos" pitchFamily="34" charset="-122"/>
                <a:cs typeface="Aptos" pitchFamily="34" charset="-120"/>
              </a:rPr>
              <a:t>A guardrail is to define review intervals and change triggers.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Another failure mode is unclear ownership.</a:t>
            </a:r>
            <a:endParaRPr lang="en-US" sz="1380" dirty="0"/>
          </a:p>
          <a:p>
            <a:r>
              <a:rPr lang="en-US" sz="1380" dirty="0">
                <a:solidFill>
                  <a:srgbClr val="17364A"/>
                </a:solidFill>
                <a:latin typeface="Aptos" pitchFamily="34" charset="0"/>
                <a:ea typeface="Aptos" pitchFamily="34" charset="-122"/>
                <a:cs typeface="Aptos" pitchFamily="34" charset="-120"/>
              </a:rPr>
              <a:t>When everyone is responsible in general, no one may be responsible in practice.</a:t>
            </a:r>
            <a:endParaRPr lang="en-US" sz="1380" dirty="0"/>
          </a:p>
          <a:p>
            <a:r>
              <a:rPr lang="en-US" sz="1380" dirty="0">
                <a:solidFill>
                  <a:srgbClr val="17364A"/>
                </a:solidFill>
                <a:latin typeface="Aptos" pitchFamily="34" charset="0"/>
                <a:ea typeface="Aptos" pitchFamily="34" charset="-122"/>
                <a:cs typeface="Aptos" pitchFamily="34" charset="-120"/>
              </a:rPr>
              <a:t>A guardrail is to assign an accountability owner and name escalation pathways.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topic applies across generative AI, predictive analytics, NLP, RAG, automation, and agentic.</a:t>
            </a:r>
            <a:endParaRPr lang="en-US" sz="2100" dirty="0"/>
          </a:p>
          <a:p>
            <a:r>
              <a:rPr lang="en-US" sz="2100" dirty="0">
                <a:solidFill>
                  <a:srgbClr val="17364A"/>
                </a:solidFill>
                <a:latin typeface="Aptos" pitchFamily="34" charset="0"/>
                <a:ea typeface="Aptos" pitchFamily="34" charset="-122"/>
                <a:cs typeface="Aptos" pitchFamily="34" charset="-120"/>
              </a:rPr>
              <a:t>The more sensitive the data, the more consequential the output, or the more automated the action, the.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topic applies across generative AI, predictive analytics, NLP, RAG, automation, and agentic.</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This topic applies across generative AI, predictive analytics, NLP, RAG, automation, and.</a:t>
            </a:r>
            <a:endParaRPr lang="en-US" sz="1380" dirty="0"/>
          </a:p>
          <a:p>
            <a:r>
              <a:rPr lang="en-US" sz="1380" dirty="0">
                <a:solidFill>
                  <a:srgbClr val="17364A"/>
                </a:solidFill>
                <a:latin typeface="Aptos" pitchFamily="34" charset="0"/>
                <a:ea typeface="Aptos" pitchFamily="34" charset="-122"/>
                <a:cs typeface="Aptos" pitchFamily="34" charset="-120"/>
              </a:rPr>
              <a:t>The more sensitive the data, the more consequential the output, or the more automated the.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public health decision or workflow does this topic affect?</a:t>
            </a:r>
            <a:endParaRPr lang="en-US" sz="2100" dirty="0"/>
          </a:p>
          <a:p>
            <a:r>
              <a:rPr lang="en-US" sz="2100" dirty="0">
                <a:solidFill>
                  <a:srgbClr val="17364A"/>
                </a:solidFill>
                <a:latin typeface="Aptos" pitchFamily="34" charset="0"/>
                <a:ea typeface="Aptos" pitchFamily="34" charset="-122"/>
                <a:cs typeface="Aptos" pitchFamily="34" charset="-120"/>
              </a:rPr>
              <a:t>Who has authority to approve or pause the work?</a:t>
            </a:r>
            <a:endParaRPr lang="en-US" sz="2100" dirty="0"/>
          </a:p>
          <a:p>
            <a:r>
              <a:rPr lang="en-US" sz="2100" dirty="0">
                <a:solidFill>
                  <a:srgbClr val="17364A"/>
                </a:solidFill>
                <a:latin typeface="Aptos" pitchFamily="34" charset="0"/>
                <a:ea typeface="Aptos" pitchFamily="34" charset="-122"/>
                <a:cs typeface="Aptos" pitchFamily="34" charset="-120"/>
              </a:rPr>
              <a:t>What evidence would show that the workflow is responsible and effective?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public health decision or workflow does this topic affect?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What public health decision or workflow does this topic affect?</a:t>
            </a:r>
            <a:endParaRPr lang="en-US" sz="1380" dirty="0"/>
          </a:p>
          <a:p>
            <a:r>
              <a:rPr lang="en-US" sz="1380" dirty="0">
                <a:solidFill>
                  <a:srgbClr val="17364A"/>
                </a:solidFill>
                <a:latin typeface="Aptos" pitchFamily="34" charset="0"/>
                <a:ea typeface="Aptos" pitchFamily="34" charset="-122"/>
                <a:cs typeface="Aptos" pitchFamily="34" charset="-120"/>
              </a:rPr>
              <a:t>Who has authority to approve or pause the work?</a:t>
            </a:r>
            <a:endParaRPr lang="en-US" sz="1380" dirty="0"/>
          </a:p>
          <a:p>
            <a:r>
              <a:rPr lang="en-US" sz="1380" dirty="0">
                <a:solidFill>
                  <a:srgbClr val="17364A"/>
                </a:solidFill>
                <a:latin typeface="Aptos" pitchFamily="34" charset="0"/>
                <a:ea typeface="Aptos" pitchFamily="34" charset="-122"/>
                <a:cs typeface="Aptos" pitchFamily="34" charset="-120"/>
              </a:rPr>
              <a:t>What evidence would show that the workflow is responsible and effective?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2100" dirty="0"/>
          </a:p>
          <a:p>
            <a:r>
              <a:rPr lang="en-US" sz="2100" dirty="0">
                <a:solidFill>
                  <a:srgbClr val="17364A"/>
                </a:solidFill>
                <a:latin typeface="Aptos" pitchFamily="34" charset="0"/>
                <a:ea typeface="Aptos" pitchFamily="34" charset="-122"/>
                <a:cs typeface="Aptos" pitchFamily="34" charset="-120"/>
              </a:rPr>
              <a:t>How will the agency know when the workflow needs to be revised?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380" dirty="0"/>
          </a:p>
          <a:p>
            <a:r>
              <a:rPr lang="en-US" sz="1380" dirty="0">
                <a:solidFill>
                  <a:srgbClr val="17364A"/>
                </a:solidFill>
                <a:latin typeface="Aptos" pitchFamily="34" charset="0"/>
                <a:ea typeface="Aptos" pitchFamily="34" charset="-122"/>
                <a:cs typeface="Aptos" pitchFamily="34" charset="-120"/>
              </a:rPr>
              <a:t>How will the agency know when the workflow needs to be revised?</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practical ai equity policy and civil rights considerations artifact for one AI-supported.</a:t>
            </a:r>
            <a:endParaRPr lang="en-US" sz="2100" dirty="0"/>
          </a:p>
          <a:p>
            <a:r>
              <a:rPr lang="en-US" sz="2100" dirty="0">
                <a:solidFill>
                  <a:srgbClr val="17364A"/>
                </a:solidFill>
                <a:latin typeface="Aptos" pitchFamily="34" charset="0"/>
                <a:ea typeface="Aptos" pitchFamily="34" charset="-122"/>
                <a:cs typeface="Aptos" pitchFamily="34" charset="-120"/>
              </a:rPr>
              <a:t>The artifact should define the use case, affected roles, review criteria, safeguards, documentation.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practical ai equity policy and civil rights considerations artifact for one AI-supported.</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Create a practical ai equity policy and civil rights considerations artifact for one.</a:t>
            </a:r>
            <a:endParaRPr lang="en-US" sz="1380" dirty="0"/>
          </a:p>
          <a:p>
            <a:r>
              <a:rPr lang="en-US" sz="1380" dirty="0">
                <a:solidFill>
                  <a:srgbClr val="17364A"/>
                </a:solidFill>
                <a:latin typeface="Aptos" pitchFamily="34" charset="0"/>
                <a:ea typeface="Aptos" pitchFamily="34" charset="-122"/>
                <a:cs typeface="Aptos" pitchFamily="34" charset="-120"/>
              </a:rPr>
              <a:t>The artifact should define the use case, affected roles, review criteria, safeguards,.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Equity Policy and Civil Rights Considerations artifact</a:t>
            </a:r>
            <a:endParaRPr lang="en-US" sz="2100" dirty="0"/>
          </a:p>
          <a:p>
            <a:r>
              <a:rPr lang="en-US" sz="2100" dirty="0">
                <a:solidFill>
                  <a:srgbClr val="17364A"/>
                </a:solidFill>
                <a:latin typeface="Aptos" pitchFamily="34" charset="0"/>
                <a:ea typeface="Aptos" pitchFamily="34" charset="-122"/>
                <a:cs typeface="Aptos" pitchFamily="34" charset="-120"/>
              </a:rPr>
              <a:t>Role and responsibility table</a:t>
            </a:r>
            <a:endParaRPr lang="en-US" sz="2100" dirty="0"/>
          </a:p>
          <a:p>
            <a:r>
              <a:rPr lang="en-US" sz="2100" dirty="0">
                <a:solidFill>
                  <a:srgbClr val="17364A"/>
                </a:solidFill>
                <a:latin typeface="Aptos" pitchFamily="34" charset="0"/>
                <a:ea typeface="Aptos" pitchFamily="34" charset="-122"/>
                <a:cs typeface="Aptos" pitchFamily="34" charset="-120"/>
              </a:rPr>
              <a:t>Risk and safeguard summary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Equity Policy and Civil Rights Considerations artifact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AI Equity Policy and Civil Rights Considerations artifact</a:t>
            </a:r>
            <a:endParaRPr lang="en-US" sz="1380" dirty="0"/>
          </a:p>
          <a:p>
            <a:r>
              <a:rPr lang="en-US" sz="1380" dirty="0">
                <a:solidFill>
                  <a:srgbClr val="17364A"/>
                </a:solidFill>
                <a:latin typeface="Aptos" pitchFamily="34" charset="0"/>
                <a:ea typeface="Aptos" pitchFamily="34" charset="-122"/>
                <a:cs typeface="Aptos" pitchFamily="34" charset="-120"/>
              </a:rPr>
              <a:t>Role and responsibility table</a:t>
            </a:r>
            <a:endParaRPr lang="en-US" sz="1380" dirty="0"/>
          </a:p>
          <a:p>
            <a:r>
              <a:rPr lang="en-US" sz="1380" dirty="0">
                <a:solidFill>
                  <a:srgbClr val="17364A"/>
                </a:solidFill>
                <a:latin typeface="Aptos" pitchFamily="34" charset="0"/>
                <a:ea typeface="Aptos" pitchFamily="34" charset="-122"/>
                <a:cs typeface="Aptos" pitchFamily="34" charset="-120"/>
              </a:rPr>
              <a:t>Risk and safeguard summary</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Escalation and monitoring plan</a:t>
            </a:r>
            <a:endParaRPr lang="en-US" sz="2100" dirty="0"/>
          </a:p>
          <a:p>
            <a:r>
              <a:rPr lang="en-US" sz="2100" dirty="0">
                <a:solidFill>
                  <a:srgbClr val="17364A"/>
                </a:solidFill>
                <a:latin typeface="Aptos" pitchFamily="34" charset="0"/>
                <a:ea typeface="Aptos" pitchFamily="34" charset="-122"/>
                <a:cs typeface="Aptos" pitchFamily="34" charset="-120"/>
              </a:rPr>
              <a:t>Approval or review note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Escalation and monitoring plan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Escalation and monitoring plan</a:t>
            </a:r>
            <a:endParaRPr lang="en-US" sz="1380" dirty="0"/>
          </a:p>
          <a:p>
            <a:r>
              <a:rPr lang="en-US" sz="1380" dirty="0">
                <a:solidFill>
                  <a:srgbClr val="17364A"/>
                </a:solidFill>
                <a:latin typeface="Aptos" pitchFamily="34" charset="0"/>
                <a:ea typeface="Aptos" pitchFamily="34" charset="-122"/>
                <a:cs typeface="Aptos" pitchFamily="34" charset="-120"/>
              </a:rPr>
              <a:t>Approval or review note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Equity Policy and Civil Rights Considerations artifact</a:t>
            </a:r>
            <a:endParaRPr lang="en-US" sz="2100" dirty="0"/>
          </a:p>
          <a:p>
            <a:r>
              <a:rPr lang="en-US" sz="2100" dirty="0">
                <a:solidFill>
                  <a:srgbClr val="17364A"/>
                </a:solidFill>
                <a:latin typeface="Aptos" pitchFamily="34" charset="0"/>
                <a:ea typeface="Aptos" pitchFamily="34" charset="-122"/>
                <a:cs typeface="Aptos" pitchFamily="34" charset="-120"/>
              </a:rPr>
              <a:t>Role and responsibility table</a:t>
            </a:r>
            <a:endParaRPr lang="en-US" sz="2100" dirty="0"/>
          </a:p>
          <a:p>
            <a:r>
              <a:rPr lang="en-US" sz="2100" dirty="0">
                <a:solidFill>
                  <a:srgbClr val="17364A"/>
                </a:solidFill>
                <a:latin typeface="Aptos" pitchFamily="34" charset="0"/>
                <a:ea typeface="Aptos" pitchFamily="34" charset="-122"/>
                <a:cs typeface="Aptos" pitchFamily="34" charset="-120"/>
              </a:rPr>
              <a:t>Risk and safeguard summary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Equity Policy and Civil Rights Considerations artifact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Escalation and monitoring plan</a:t>
            </a:r>
            <a:endParaRPr lang="en-US" sz="1380" dirty="0"/>
          </a:p>
          <a:p>
            <a:r>
              <a:rPr lang="en-US" sz="1380" dirty="0">
                <a:solidFill>
                  <a:srgbClr val="17364A"/>
                </a:solidFill>
                <a:latin typeface="Aptos" pitchFamily="34" charset="0"/>
                <a:ea typeface="Aptos" pitchFamily="34" charset="-122"/>
                <a:cs typeface="Aptos" pitchFamily="34" charset="-120"/>
              </a:rPr>
              <a:t>Approval or review note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strongest evidence that ai equity policy and civil rights considerations has been.</a:t>
            </a:r>
            <a:endParaRPr lang="en-US" sz="2100" dirty="0"/>
          </a:p>
          <a:p>
            <a:r>
              <a:rPr lang="en-US" sz="2100" dirty="0">
                <a:solidFill>
                  <a:srgbClr val="17364A"/>
                </a:solidFill>
                <a:latin typeface="Aptos" pitchFamily="34" charset="0"/>
                <a:ea typeface="Aptos" pitchFamily="34" charset="-122"/>
                <a:cs typeface="Aptos" pitchFamily="34" charset="-120"/>
              </a:rPr>
              <a:t>2. What is the best reason to assign an accountability owner?</a:t>
            </a:r>
            <a:endParaRPr lang="en-US" sz="2100" dirty="0"/>
          </a:p>
          <a:p>
            <a:r>
              <a:rPr lang="en-US" sz="2100" dirty="0">
                <a:solidFill>
                  <a:srgbClr val="17364A"/>
                </a:solidFill>
                <a:latin typeface="Aptos" pitchFamily="34" charset="0"/>
                <a:ea typeface="Aptos" pitchFamily="34" charset="-122"/>
                <a:cs typeface="Aptos" pitchFamily="34" charset="-120"/>
              </a:rPr>
              <a:t>3. When should an AI-supported workflow be escalated for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strongest evidence that ai equity policy and civil rights considerations has been.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1.</a:t>
            </a:r>
            <a:endParaRPr lang="en-US" sz="1380" dirty="0"/>
          </a:p>
          <a:p>
            <a:r>
              <a:rPr lang="en-US" sz="1380" dirty="0">
                <a:solidFill>
                  <a:srgbClr val="17364A"/>
                </a:solidFill>
                <a:latin typeface="Aptos" pitchFamily="34" charset="0"/>
                <a:ea typeface="Aptos" pitchFamily="34" charset="-122"/>
                <a:cs typeface="Aptos" pitchFamily="34" charset="-120"/>
              </a:rPr>
              <a:t>What is the strongest evidence that ai equity policy and civil rights considerations has.</a:t>
            </a:r>
            <a:endParaRPr lang="en-US" sz="1380" dirty="0"/>
          </a:p>
          <a:p>
            <a:r>
              <a:rPr lang="en-US" sz="1380" dirty="0">
                <a:solidFill>
                  <a:srgbClr val="17364A"/>
                </a:solidFill>
                <a:latin typeface="Aptos" pitchFamily="34" charset="0"/>
                <a:ea typeface="Aptos" pitchFamily="34" charset="-122"/>
                <a:cs typeface="Aptos" pitchFamily="34" charset="-120"/>
              </a:rPr>
              <a:t>2.</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2100" dirty="0"/>
          </a:p>
          <a:p>
            <a:r>
              <a:rPr lang="en-US" sz="2100" dirty="0">
                <a:solidFill>
                  <a:srgbClr val="17364A"/>
                </a:solidFill>
                <a:latin typeface="Aptos" pitchFamily="34" charset="0"/>
                <a:ea typeface="Aptos" pitchFamily="34" charset="-122"/>
                <a:cs typeface="Aptos" pitchFamily="34" charset="-120"/>
              </a:rPr>
              <a:t>NIST Artificial Intelligence Risk Management Framework and NIST Generative AI Profile:.</a:t>
            </a:r>
            <a:endParaRPr lang="en-US" sz="2100" dirty="0"/>
          </a:p>
          <a:p>
            <a:r>
              <a:rPr lang="en-US" sz="2100" dirty="0">
                <a:solidFill>
                  <a:srgbClr val="17364A"/>
                </a:solidFill>
                <a:latin typeface="Aptos" pitchFamily="34" charset="0"/>
                <a:ea typeface="Aptos" pitchFamily="34" charset="-122"/>
                <a:cs typeface="Aptos" pitchFamily="34" charset="-120"/>
              </a:rPr>
              <a:t>WHO Ethics and Governance of Artificial Intelligence for Health guidance:.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OWASP Top 10 for Large Language Model Applications:.</a:t>
            </a:r>
            <a:endParaRPr lang="en-US" sz="1380" dirty="0"/>
          </a:p>
          <a:p>
            <a:r>
              <a:rPr lang="en-US" sz="1380" dirty="0">
                <a:solidFill>
                  <a:srgbClr val="17364A"/>
                </a:solidFill>
                <a:latin typeface="Aptos" pitchFamily="34" charset="0"/>
                <a:ea typeface="Aptos" pitchFamily="34" charset="-122"/>
                <a:cs typeface="Aptos" pitchFamily="34" charset="-120"/>
              </a:rPr>
              <a:t>ONC health IT, interoperability, and information blocking resources:.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Agency policies for privacy, public records, cybersecurity, procurement, civil rights,.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Equity Policy and Civil Rights Considerations</dc:title>
  <dc:subject>AI Equity Policy and Civil Rights Considerations learning module</dc:subject>
  <dc:creator>Paula Soper</dc:creator>
  <cp:lastModifiedBy>Paula Soper</cp:lastModifiedBy>
  <cp:revision>1</cp:revision>
  <dcterms:created xsi:type="dcterms:W3CDTF">2026-07-13T02:11:44Z</dcterms:created>
  <dcterms:modified xsi:type="dcterms:W3CDTF">2026-07-13T02:11:44Z</dcterms:modified>
</cp:coreProperties>
</file>