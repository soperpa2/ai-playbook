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OPS 200 Data Quality Engineering for AI
Data quality engineering is the practical work of defining, measuring, improving, and monitoring data quality so that data are fit for use. In public health AI, data quality is not a background concern. It directly affects whether AI outputs are accurate, equitable, timely, and safe enough to support public health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applied/foundational
Primary track: Operations and Data Quality Track
Appears in tracks: technical-architecture
Data quality engineering is the practical work of defining, measuring, improving, and monitoring data quality so that data are fit for use. In public health AI, data quality is not a background concern. It directly affects whether AI outputs are accurate, equitable, timely, and safe enough to support public health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7: Prioritize Use Cases - This lesson informs Play 7 by helping learners connect the lesson topic to prioritize use cases work in the AI Playbook sequence.
Play 1: Vision &amp; Guardrails - This lesson informs Play 1 by helping learners connect the lesson topic to vision &amp; guardrails work in the AI Playbook sequence.
Play 2: Readiness Assessment - This lesson informs Play 2 by helping learners connect the lesson topic to readiness assessment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3: Equity Impact Assessment Checklist (Checklist) - Use this tool to complete or strengthen the practical exercise for the module using fictional, de-identified, or generalized.
Tool 4: AI Policy Landscape Scan (Worksheet) - Use AI Policy Landscape Scan to translate this lesson into a documented public health AI planning, governance, implementation,.
Tool 5: AI Environmental and Resource Impact Review (Checklist) - Use AI Environmental and Resource Impact Review to translate this lesson into a documented public health AI planning,.
Tool 6: Human-Centered AI Decision Rule Checklist (Checklist) - Use Human-Centered AI Decision Rule Checklist to translate this lesson into a documented public health AI planning, governance,.
Tool 8: AI Project Charter (Planning) - Use AI Project Charter to translate this lesson into a documented public health AI planning, governance, implementation, or.
Tool 9: Data Quality Assessment Checklist (Checklist) - Use this tool to complete or strengthen the practical exercise for the module using fictional, de-identified, or generalized.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Identify major data quality dimensions relevant to public health AI.
Explain the difference between general data quality and fitness for a specific use.
Assess how missingness, timeliness, duplication, coding variation, and representativeness affect AI outputs.
Define quality thresholds, review rules, and escalation criteria for a workflow.
Produce a data quality review plan for an AI-supported use case.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Data quality engineering is the practical work of defining, measuring, improving, and monitoring data quality so that data are fit for use. In public health AI, data quality is not a background concern. It directly affects whether AI outputs are accurate, equitable, timely, and safe enough to support public health work.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AI systems can create a false sense of precision when they produce polished outputs from weak data. A summary may sound authoritative even when key fields are missing. A risk score may look objective even when the data underrepresent communities with limited healthcare access. A classification model may appear efficient while encoding historical reporting patterns. Data quality engineering helps agencies identify these problems before they become operational decisions.
Public health data quality should always be evaluated in relation to the intended use. A dataset may be adequate for annual descriptive reporting but inadequate for real-time triage. A field may be useful for aggregate trends but too incomplete for individual-level decision support. Fitness for use is therefore a public health judgment as well as a technical assessment.
Data quality review also supports trust. Staff are more likely to use AI responsibly when they understand the limitations of the data behind the output. Leaders and communities are more likely to trust AI-supported workflows when limitations, uncertainty, and safeguards are documented.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Concepts
Completeness. Completeness refers to whether required data fields are present. Missing fields may affect case classification, risk prediction, subgroup analysis, and outreach planning.
Timeliness. Timeliness refers to whether data are available quickly enough for the intended use. Delayed data may be acceptable for retrospective analysis but unsafe for urgent response.
Validity. Validity refers to whether values follow expected formats, ranges, and rules. Invalid dates, codes, units, or categories can undermine AI performance.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Concepts
Representativeness. Representativeness refers to whether data reflect the population, events, or settings relevant to the use case. Underrepresentation can produce biased or incomplete AI outputs.
Data drift. Data drift is a change in data patterns over time. Drift can occur when reporting partners, testing practices, disease patterns, coding rules, or community behaviors change.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health department may use AI to identify cases needing rapid follow-up. If demographic fields are missing more often for some populations, the model may be less reliable for those groups. If the data feed from certain clinics is delayed, the prioritization queue may reflect reporting timeliness rather than true need. A data quality review can reveal these issues before the tool is deployed.
A community health assessment team may use AI to summarize survey comments and administrative data. If survey responses are not representative of residents with limited English proficiency, unstable housing, disability, or limited internet access, the AI-generated themes may miss important community needs. Data quality engineering should include equity and representativeness review.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Deep Dive
Data quality engineering begins by defining required fields and acceptable thresholds for the intended use. For an AI-supported case triage workflow, required fields may include condition, lab evidence, onset date, specimen date, jurisdiction, age, pregnancy status, hospitalization, and contact information. The agency should decide which missing fields stop automated support, which trigger a warning, and which can be handled through human review.
Quality measurement should include completeness, timeliness, validity, consistency, uniqueness, accuracy, and representativeness. Some dimensions can be measured automatically. Others require program knowledge, source review, or comparison to external benchmarks. Data quality should not be treated as a one-time predeployment activity. It should be monitored throughout the AI lifecycle.
Documentation is essential. A data quality plan should describe known limitations, review thresholds, monitoring frequency, responsible owners, escalation criteria, and decisions about acceptable use. When data quality is insufficient, the correct response may be to restrict the use case, add human review, improve the data pipeline, delay deployment, or avoid AI use for that workflow.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Confident output from weak data. AI may produce polished outputs from incomplete or biased data. Guardrails include uncertainty labeling, source review, and limits on use.
Fitness-for-use mismatch. Data suitable for one purpose may be unsafe for another. Guardrails include use-case-specific quality criteria and approval conditions.
Unmonitored drift. Data patterns may change after deployment. Guardrails include drift indicators, periodic review, and retraining or recalibration triggers.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Equity blind spots. Missingness and underrepresentation may affect some groups more than others. Guardrails include subgroup review, community context, and documentation of limitations.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Generative AI may summarize datasets or records, but the output must reflect missingness and uncertainty. Predictive analytics depend heavily on feature quality, label quality, and representative training data. NLP may be affected by language variation, abbreviations, and documentation practices. RAG depends on document quality, metadata, and currency. Agentic AI should be blocked from acting automatically when required data are missing or quality thresholds are not met.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data quality problems most often affect your program area?
Which missing fields would make an AI output unsafe or unreliable?
Which populations or settings may be underrepresented in the data?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How would staff detect data drift?
Who has authority to pause or limit AI use when data quality is insufficient?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data quality review plan for one AI-supported workflow. Include the use case, required fields, quality dimensions, thresholds or review rules, known limitations, equity concerns, drift monitoring, documentation expectations, and escalation criteria.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Data quality review plan
Data quality checklist
Thresholds or review criteria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Known limitations statement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Data quality review plan
Data quality checklist
Thresholds or review criteria
Known limitations statement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does fitness for use mean?
2. Why can poor data quality be dangerous in AI-supported workflows?
3. What is data drift?
4. Which item belongs in a data quality review plan?
5. When should an AI use case be paused or limited?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CDC surveillance and data quality resources
CDC Public Health Data Strategy: https://www.cdc.gov/public-health-data-strategy/php/about/index.html
NIST AI Risk Management Framework: https://www.nist.gov/itl/ai-risk-management-framework
Agency data governance policies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OPS 200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Data Quality Engineering for AI</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Quality Engineering for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Data quality engineering is the practical work of defining, measuring, improving, and.</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In public health AI, data quality is not a background concern.</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It directly affects whether AI outputs are accurate, equitable, timely, and safe enough to.</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Module details</a:t>
            </a:r>
            <a:endParaRPr lang="en-US" sz="1300" dirty="0"/>
          </a:p>
        </p:txBody>
      </p:sp>
      <p:sp>
        <p:nvSpPr>
          <p:cNvPr id="12" name="Text 10"/>
          <p:cNvSpPr/>
          <p:nvPr/>
        </p:nvSpPr>
        <p:spPr>
          <a:xfrm>
            <a:off x="8074152" y="1892808"/>
            <a:ext cx="2825496" cy="135331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Level: applied/foundational Primary track: Operations and Data Quality Track Appears in tracks: technical-architecture</a:t>
            </a:r>
            <a:endParaRPr lang="en-US" sz="1320" dirty="0"/>
          </a:p>
        </p:txBody>
      </p:sp>
      <p:sp>
        <p:nvSpPr>
          <p:cNvPr id="13" name="Shape 11"/>
          <p:cNvSpPr/>
          <p:nvPr/>
        </p:nvSpPr>
        <p:spPr>
          <a:xfrm>
            <a:off x="7909560" y="3675888"/>
            <a:ext cx="3154680" cy="1691640"/>
          </a:xfrm>
          <a:prstGeom prst="roundRect">
            <a:avLst>
              <a:gd name="adj" fmla="val 6486"/>
            </a:avLst>
          </a:prstGeom>
          <a:solidFill>
            <a:srgbClr val="FFFFFF"/>
          </a:solidFill>
          <a:ln w="12700">
            <a:solidFill>
              <a:srgbClr val="B9D7E6"/>
            </a:solidFill>
            <a:prstDash val="solid"/>
          </a:ln>
        </p:spPr>
      </p:sp>
      <p:sp>
        <p:nvSpPr>
          <p:cNvPr id="14" name="Text 12"/>
          <p:cNvSpPr/>
          <p:nvPr/>
        </p:nvSpPr>
        <p:spPr>
          <a:xfrm>
            <a:off x="8074152" y="3822192"/>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Learning sequence</a:t>
            </a:r>
            <a:endParaRPr lang="en-US" sz="1300" dirty="0"/>
          </a:p>
        </p:txBody>
      </p:sp>
      <p:sp>
        <p:nvSpPr>
          <p:cNvPr id="15" name="Text 13"/>
          <p:cNvSpPr/>
          <p:nvPr/>
        </p:nvSpPr>
        <p:spPr>
          <a:xfrm>
            <a:off x="8092440" y="4187952"/>
            <a:ext cx="2770632" cy="103327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Read the module for shared vocabulary and context.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Complete the practical exercise to apply the concept.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Use the notes and references for deeper review.</a:t>
            </a:r>
            <a:endParaRPr lang="en-US" sz="122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Quality Engineering for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900" dirty="0">
                <a:solidFill>
                  <a:srgbClr val="003A63"/>
                </a:solidFill>
                <a:latin typeface="Aptos" pitchFamily="34" charset="0"/>
                <a:ea typeface="Aptos" pitchFamily="34" charset="-122"/>
                <a:cs typeface="Aptos" pitchFamily="34" charset="-120"/>
              </a:rPr>
              <a:t>• Play 11: Build and Deploy AI Solutions - This lesson informs Play 11 by helping learners.</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7: Prioritize Use Cases - This lesson informs Play 7 by helping learners connect the.</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1: Vision &amp; Guardrails - This lesson informs Play 1 by helping learners connect the.</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2: Readiness Assessment - This lesson informs Play 2 by helping learners connect the.</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the lesson</a:t>
            </a:r>
            <a:endParaRPr lang="en-US" sz="1300" dirty="0"/>
          </a:p>
        </p:txBody>
      </p:sp>
      <p:sp>
        <p:nvSpPr>
          <p:cNvPr id="12" name="Text 10"/>
          <p:cNvSpPr/>
          <p:nvPr/>
        </p:nvSpPr>
        <p:spPr>
          <a:xfrm>
            <a:off x="8211312" y="1892808"/>
            <a:ext cx="2734056" cy="153619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 implementation.</a:t>
            </a:r>
            <a:endParaRPr lang="en-US" sz="13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4106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play links to</a:t>
            </a:r>
            <a:endParaRPr lang="en-US" sz="1300" dirty="0"/>
          </a:p>
        </p:txBody>
      </p:sp>
      <p:sp>
        <p:nvSpPr>
          <p:cNvPr id="15" name="Text 13"/>
          <p:cNvSpPr/>
          <p:nvPr/>
        </p:nvSpPr>
        <p:spPr>
          <a:xfrm>
            <a:off x="8229600" y="4306824"/>
            <a:ext cx="2679192" cy="94183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Locate the decision point in the playbook sequence.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Identify who should participate in the work.</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Document the review, approval, or implementation step.</a:t>
            </a:r>
            <a:endParaRPr lang="en-US" sz="122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Quality Engineering for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850" dirty="0">
                <a:solidFill>
                  <a:srgbClr val="003A63"/>
                </a:solidFill>
                <a:latin typeface="Aptos" pitchFamily="34" charset="0"/>
                <a:ea typeface="Aptos" pitchFamily="34" charset="-122"/>
                <a:cs typeface="Aptos" pitchFamily="34" charset="-120"/>
              </a:rPr>
              <a:t>• Tool 3: Equity Impact Assessment Checklist (Checklist) - Use this tool to complete or.</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4: AI Policy Landscape Scan (Worksheet) - Use AI Policy Landscape Scan to translate this.</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5: AI Environmental and Resource Impact Review (Checklist) - Use AI Environmental and.</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6: Human-Centered AI Decision Rule Checklist (Checklist) - Use Human-Centered AI Decision.</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tools</a:t>
            </a:r>
            <a:endParaRPr lang="en-US" sz="1300" dirty="0"/>
          </a:p>
        </p:txBody>
      </p:sp>
      <p:sp>
        <p:nvSpPr>
          <p:cNvPr id="12" name="Text 10"/>
          <p:cNvSpPr/>
          <p:nvPr/>
        </p:nvSpPr>
        <p:spPr>
          <a:xfrm>
            <a:off x="8211312" y="1892808"/>
            <a:ext cx="2734056" cy="153619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 documentation artifact.</a:t>
            </a:r>
            <a:endParaRPr lang="en-US" sz="13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4106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Tool selection cues</a:t>
            </a:r>
            <a:endParaRPr lang="en-US" sz="1300" dirty="0"/>
          </a:p>
        </p:txBody>
      </p:sp>
      <p:sp>
        <p:nvSpPr>
          <p:cNvPr id="15" name="Text 13"/>
          <p:cNvSpPr/>
          <p:nvPr/>
        </p:nvSpPr>
        <p:spPr>
          <a:xfrm>
            <a:off x="8229600" y="4306824"/>
            <a:ext cx="2679192" cy="94183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a tool when no comparable local process exists.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Adapt existing department templates when they already fit the.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Save the completed artifact as evidence of the decision.</a:t>
            </a:r>
            <a:endParaRPr lang="en-US" sz="122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Quality Engineering for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Identify major data quality dimensions relevant to public health AI.</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Explain the difference between general data quality and fitness for a specific use.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Assess how missingness, timeliness, duplication, coding variation, and representativeness.</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Identify major data quality dimensions relevant to public health AI.</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Assess how missingness, timeliness, duplication, coding variation,.</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Define quality thresholds, review rules, and escalation criteria.</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Produce a data quality review plan for an AI-supported use case.</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3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Quality Engineering for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Data quality engineering is the practical work of defining, measuring, improving, and.</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In public health AI, data quality is not a background concern.</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It directly affects whether AI outputs are accurate, equitable, timely, and safe enough to.</a:t>
            </a:r>
            <a:endParaRPr lang="en-US" sz="2100" dirty="0"/>
          </a:p>
        </p:txBody>
      </p:sp>
      <p:sp>
        <p:nvSpPr>
          <p:cNvPr id="10" name="Shape 8"/>
          <p:cNvSpPr/>
          <p:nvPr/>
        </p:nvSpPr>
        <p:spPr>
          <a:xfrm>
            <a:off x="7635240" y="1325880"/>
            <a:ext cx="3474720" cy="1255471"/>
          </a:xfrm>
          <a:prstGeom prst="roundRect">
            <a:avLst>
              <a:gd name="adj" fmla="val 8740"/>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0136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Data quality engineering is the practical work of defining, measuring, improving, and monitoring data.</a:t>
            </a:r>
            <a:endParaRPr lang="en-US" sz="1320" dirty="0"/>
          </a:p>
        </p:txBody>
      </p:sp>
      <p:sp>
        <p:nvSpPr>
          <p:cNvPr id="13" name="Shape 11"/>
          <p:cNvSpPr/>
          <p:nvPr/>
        </p:nvSpPr>
        <p:spPr>
          <a:xfrm>
            <a:off x="7635240" y="2718511"/>
            <a:ext cx="3474720" cy="1328623"/>
          </a:xfrm>
          <a:prstGeom prst="roundRect">
            <a:avLst>
              <a:gd name="adj" fmla="val 8259"/>
            </a:avLst>
          </a:prstGeom>
          <a:solidFill>
            <a:srgbClr val="FFFFFF"/>
          </a:solidFill>
          <a:ln w="12700">
            <a:solidFill>
              <a:srgbClr val="B9D7E6"/>
            </a:solidFill>
            <a:prstDash val="solid"/>
          </a:ln>
        </p:spPr>
      </p:sp>
      <p:sp>
        <p:nvSpPr>
          <p:cNvPr id="14" name="Text 12"/>
          <p:cNvSpPr/>
          <p:nvPr/>
        </p:nvSpPr>
        <p:spPr>
          <a:xfrm>
            <a:off x="7799832" y="2846527"/>
            <a:ext cx="3145536" cy="237744"/>
          </a:xfrm>
          <a:prstGeom prst="rect">
            <a:avLst/>
          </a:prstGeom>
          <a:noFill/>
          <a:ln/>
        </p:spPr>
        <p:txBody>
          <a:bodyPr wrap="square" lIns="0" tIns="0" rIns="0" bIns="0" rtlCol="0" anchor="ctr"/>
          <a:lstStyle/>
          <a:p>
            <a:pPr indent="0" marL="0">
              <a:buNone/>
            </a:pPr>
            <a:r>
              <a:rPr lang="en-US" sz="1250" b="1" dirty="0">
                <a:solidFill>
                  <a:srgbClr val="0068B7"/>
                </a:solidFill>
                <a:latin typeface="Aptos" pitchFamily="34" charset="0"/>
                <a:ea typeface="Aptos" pitchFamily="34" charset="-122"/>
                <a:cs typeface="Aptos" pitchFamily="34" charset="-120"/>
              </a:rPr>
              <a:t>Data-to-decision flow</a:t>
            </a:r>
            <a:endParaRPr lang="en-US" sz="1250" dirty="0"/>
          </a:p>
        </p:txBody>
      </p:sp>
      <p:sp>
        <p:nvSpPr>
          <p:cNvPr id="15" name="Shape 13"/>
          <p:cNvSpPr/>
          <p:nvPr/>
        </p:nvSpPr>
        <p:spPr>
          <a:xfrm>
            <a:off x="8763000" y="3399739"/>
            <a:ext cx="164592" cy="0"/>
          </a:xfrm>
          <a:prstGeom prst="line">
            <a:avLst/>
          </a:prstGeom>
          <a:noFill/>
          <a:ln w="15240">
            <a:solidFill>
              <a:srgbClr val="8ABBD8"/>
            </a:solidFill>
            <a:prstDash val="solid"/>
          </a:ln>
        </p:spPr>
      </p:sp>
      <p:sp>
        <p:nvSpPr>
          <p:cNvPr id="16" name="Shape 14"/>
          <p:cNvSpPr/>
          <p:nvPr/>
        </p:nvSpPr>
        <p:spPr>
          <a:xfrm>
            <a:off x="7872984" y="3248863"/>
            <a:ext cx="89001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909560" y="3322015"/>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Data</a:t>
            </a:r>
            <a:endParaRPr lang="en-US" sz="880" dirty="0"/>
          </a:p>
        </p:txBody>
      </p:sp>
      <p:sp>
        <p:nvSpPr>
          <p:cNvPr id="18" name="Shape 16"/>
          <p:cNvSpPr/>
          <p:nvPr/>
        </p:nvSpPr>
        <p:spPr>
          <a:xfrm>
            <a:off x="9817608" y="3399739"/>
            <a:ext cx="164592" cy="0"/>
          </a:xfrm>
          <a:prstGeom prst="line">
            <a:avLst/>
          </a:prstGeom>
          <a:noFill/>
          <a:ln w="15240">
            <a:solidFill>
              <a:srgbClr val="8ABBD8"/>
            </a:solidFill>
            <a:prstDash val="solid"/>
          </a:ln>
        </p:spPr>
      </p:sp>
      <p:sp>
        <p:nvSpPr>
          <p:cNvPr id="19" name="Shape 17"/>
          <p:cNvSpPr/>
          <p:nvPr/>
        </p:nvSpPr>
        <p:spPr>
          <a:xfrm>
            <a:off x="8927592" y="3248863"/>
            <a:ext cx="89001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64168" y="3322015"/>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Analysis</a:t>
            </a:r>
            <a:endParaRPr lang="en-US" sz="880" dirty="0"/>
          </a:p>
        </p:txBody>
      </p:sp>
      <p:sp>
        <p:nvSpPr>
          <p:cNvPr id="21" name="Shape 19"/>
          <p:cNvSpPr/>
          <p:nvPr/>
        </p:nvSpPr>
        <p:spPr>
          <a:xfrm>
            <a:off x="9982200" y="3248863"/>
            <a:ext cx="89001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2015"/>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Review</a:t>
            </a:r>
            <a:endParaRPr lang="en-US" sz="880" dirty="0"/>
          </a:p>
        </p:txBody>
      </p:sp>
      <p:sp>
        <p:nvSpPr>
          <p:cNvPr id="23" name="Text 21"/>
          <p:cNvSpPr/>
          <p:nvPr/>
        </p:nvSpPr>
        <p:spPr>
          <a:xfrm>
            <a:off x="7854696" y="3742639"/>
            <a:ext cx="3035808" cy="158191"/>
          </a:xfrm>
          <a:prstGeom prst="rect">
            <a:avLst/>
          </a:prstGeom>
          <a:noFill/>
          <a:ln/>
        </p:spPr>
        <p:txBody>
          <a:bodyPr wrap="square" lIns="254" tIns="254" rIns="254" bIns="254" rtlCol="0" anchor="t">
            <a:normAutofit/>
          </a:bodyPr>
          <a:lstStyle/>
          <a:p>
            <a:pPr indent="0" marL="0">
              <a:buNone/>
            </a:pPr>
            <a:r>
              <a:rPr lang="en-US" sz="1120" dirty="0">
                <a:solidFill>
                  <a:srgbClr val="17364A"/>
                </a:solidFill>
                <a:latin typeface="Aptos" pitchFamily="34" charset="0"/>
                <a:ea typeface="Aptos" pitchFamily="34" charset="-122"/>
                <a:cs typeface="Aptos" pitchFamily="34" charset="-120"/>
              </a:rPr>
              <a:t>The important handoff is not from data to AI; it is from analysis to accountable human review.</a:t>
            </a:r>
            <a:endParaRPr lang="en-US" sz="1120" dirty="0"/>
          </a:p>
        </p:txBody>
      </p:sp>
      <p:sp>
        <p:nvSpPr>
          <p:cNvPr id="24" name="Shape 22"/>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25" name="Text 23"/>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26" name="Text 24"/>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data quality, model performance, validation evidence, monitoring measures, and decisions that remain under human control.</a:t>
            </a:r>
            <a:endParaRPr lang="en-US" sz="13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Quality Engineering for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AI systems can create a false sense of precision when they produce polished outputs from weak.</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 summary may sound authoritative even when key fields are missing.</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 risk score may look objective even when the data underrepresent communities with limited.</a:t>
            </a:r>
            <a:endParaRPr lang="en-US" sz="2100" dirty="0"/>
          </a:p>
        </p:txBody>
      </p:sp>
      <p:sp>
        <p:nvSpPr>
          <p:cNvPr id="10" name="Shape 8"/>
          <p:cNvSpPr/>
          <p:nvPr/>
        </p:nvSpPr>
        <p:spPr>
          <a:xfrm>
            <a:off x="7635240" y="1325880"/>
            <a:ext cx="3474720" cy="1255471"/>
          </a:xfrm>
          <a:prstGeom prst="roundRect">
            <a:avLst>
              <a:gd name="adj" fmla="val 8740"/>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0136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AI systems can create a false sense of precision when they produce polished outputs from weak data.</a:t>
            </a:r>
            <a:endParaRPr lang="en-US" sz="1320" dirty="0"/>
          </a:p>
        </p:txBody>
      </p:sp>
      <p:sp>
        <p:nvSpPr>
          <p:cNvPr id="13" name="Shape 11"/>
          <p:cNvSpPr/>
          <p:nvPr/>
        </p:nvSpPr>
        <p:spPr>
          <a:xfrm>
            <a:off x="7635240" y="2718511"/>
            <a:ext cx="3474720" cy="1328623"/>
          </a:xfrm>
          <a:prstGeom prst="roundRect">
            <a:avLst>
              <a:gd name="adj" fmla="val 8259"/>
            </a:avLst>
          </a:prstGeom>
          <a:solidFill>
            <a:srgbClr val="FFFFFF"/>
          </a:solidFill>
          <a:ln w="12700">
            <a:solidFill>
              <a:srgbClr val="B9D7E6"/>
            </a:solidFill>
            <a:prstDash val="solid"/>
          </a:ln>
        </p:spPr>
      </p:sp>
      <p:sp>
        <p:nvSpPr>
          <p:cNvPr id="14" name="Text 12"/>
          <p:cNvSpPr/>
          <p:nvPr/>
        </p:nvSpPr>
        <p:spPr>
          <a:xfrm>
            <a:off x="7799832" y="2846527"/>
            <a:ext cx="3145536" cy="237744"/>
          </a:xfrm>
          <a:prstGeom prst="rect">
            <a:avLst/>
          </a:prstGeom>
          <a:noFill/>
          <a:ln/>
        </p:spPr>
        <p:txBody>
          <a:bodyPr wrap="square" lIns="0" tIns="0" rIns="0" bIns="0" rtlCol="0" anchor="ctr"/>
          <a:lstStyle/>
          <a:p>
            <a:pPr indent="0" marL="0">
              <a:buNone/>
            </a:pPr>
            <a:r>
              <a:rPr lang="en-US" sz="1250" b="1" dirty="0">
                <a:solidFill>
                  <a:srgbClr val="0068B7"/>
                </a:solidFill>
                <a:latin typeface="Aptos" pitchFamily="34" charset="0"/>
                <a:ea typeface="Aptos" pitchFamily="34" charset="-122"/>
                <a:cs typeface="Aptos" pitchFamily="34" charset="-120"/>
              </a:rPr>
              <a:t>Data-to-decision flow</a:t>
            </a:r>
            <a:endParaRPr lang="en-US" sz="1250" dirty="0"/>
          </a:p>
        </p:txBody>
      </p:sp>
      <p:sp>
        <p:nvSpPr>
          <p:cNvPr id="15" name="Shape 13"/>
          <p:cNvSpPr/>
          <p:nvPr/>
        </p:nvSpPr>
        <p:spPr>
          <a:xfrm>
            <a:off x="8763000" y="3399739"/>
            <a:ext cx="164592" cy="0"/>
          </a:xfrm>
          <a:prstGeom prst="line">
            <a:avLst/>
          </a:prstGeom>
          <a:noFill/>
          <a:ln w="15240">
            <a:solidFill>
              <a:srgbClr val="8ABBD8"/>
            </a:solidFill>
            <a:prstDash val="solid"/>
          </a:ln>
        </p:spPr>
      </p:sp>
      <p:sp>
        <p:nvSpPr>
          <p:cNvPr id="16" name="Shape 14"/>
          <p:cNvSpPr/>
          <p:nvPr/>
        </p:nvSpPr>
        <p:spPr>
          <a:xfrm>
            <a:off x="7872984" y="3248863"/>
            <a:ext cx="89001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909560" y="3322015"/>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Data</a:t>
            </a:r>
            <a:endParaRPr lang="en-US" sz="880" dirty="0"/>
          </a:p>
        </p:txBody>
      </p:sp>
      <p:sp>
        <p:nvSpPr>
          <p:cNvPr id="18" name="Shape 16"/>
          <p:cNvSpPr/>
          <p:nvPr/>
        </p:nvSpPr>
        <p:spPr>
          <a:xfrm>
            <a:off x="9817608" y="3399739"/>
            <a:ext cx="164592" cy="0"/>
          </a:xfrm>
          <a:prstGeom prst="line">
            <a:avLst/>
          </a:prstGeom>
          <a:noFill/>
          <a:ln w="15240">
            <a:solidFill>
              <a:srgbClr val="8ABBD8"/>
            </a:solidFill>
            <a:prstDash val="solid"/>
          </a:ln>
        </p:spPr>
      </p:sp>
      <p:sp>
        <p:nvSpPr>
          <p:cNvPr id="19" name="Shape 17"/>
          <p:cNvSpPr/>
          <p:nvPr/>
        </p:nvSpPr>
        <p:spPr>
          <a:xfrm>
            <a:off x="8927592" y="3248863"/>
            <a:ext cx="89001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64168" y="3322015"/>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Analysis</a:t>
            </a:r>
            <a:endParaRPr lang="en-US" sz="880" dirty="0"/>
          </a:p>
        </p:txBody>
      </p:sp>
      <p:sp>
        <p:nvSpPr>
          <p:cNvPr id="21" name="Shape 19"/>
          <p:cNvSpPr/>
          <p:nvPr/>
        </p:nvSpPr>
        <p:spPr>
          <a:xfrm>
            <a:off x="9982200" y="3248863"/>
            <a:ext cx="89001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2015"/>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Review</a:t>
            </a:r>
            <a:endParaRPr lang="en-US" sz="880" dirty="0"/>
          </a:p>
        </p:txBody>
      </p:sp>
      <p:sp>
        <p:nvSpPr>
          <p:cNvPr id="23" name="Text 21"/>
          <p:cNvSpPr/>
          <p:nvPr/>
        </p:nvSpPr>
        <p:spPr>
          <a:xfrm>
            <a:off x="7854696" y="3742639"/>
            <a:ext cx="3035808" cy="158191"/>
          </a:xfrm>
          <a:prstGeom prst="rect">
            <a:avLst/>
          </a:prstGeom>
          <a:noFill/>
          <a:ln/>
        </p:spPr>
        <p:txBody>
          <a:bodyPr wrap="square" lIns="254" tIns="254" rIns="254" bIns="254" rtlCol="0" anchor="t">
            <a:normAutofit/>
          </a:bodyPr>
          <a:lstStyle/>
          <a:p>
            <a:pPr indent="0" marL="0">
              <a:buNone/>
            </a:pPr>
            <a:r>
              <a:rPr lang="en-US" sz="1120" dirty="0">
                <a:solidFill>
                  <a:srgbClr val="17364A"/>
                </a:solidFill>
                <a:latin typeface="Aptos" pitchFamily="34" charset="0"/>
                <a:ea typeface="Aptos" pitchFamily="34" charset="-122"/>
                <a:cs typeface="Aptos" pitchFamily="34" charset="-120"/>
              </a:rPr>
              <a:t>The important handoff is not from data to AI; it is from analysis to accountable human review.</a:t>
            </a:r>
            <a:endParaRPr lang="en-US" sz="1120" dirty="0"/>
          </a:p>
        </p:txBody>
      </p:sp>
      <p:sp>
        <p:nvSpPr>
          <p:cNvPr id="24" name="Shape 22"/>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25" name="Text 23"/>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26" name="Text 24"/>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data quality, model performance, validation evidence, monitoring measures, and decisions that remain under human control.</a:t>
            </a:r>
            <a:endParaRPr lang="en-US" sz="13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Quality Engineering for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Core Concepts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Completeness.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Completeness refers to whether required data fields are present.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Missing fields may affect case classification, risk prediction, subgroup analysis, and.</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Completeness.</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Timeliness.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Timeliness refers to whether data are available quickly enough for.</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Delayed data may be acceptable for retrospective analysis but.</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data quality, model performance, validation evidence, monitoring measures, and decisions that remain under human control.</a:t>
            </a:r>
            <a:endParaRPr lang="en-US" sz="13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Quality Engineering for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Core Concepts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Representativeness.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Representativeness refers to whether data reflect the population, events, or settings relevant.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Underrepresentation can produce biased or incomplete AI outputs.</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Representativeness.</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Representativeness refers to whether data reflect the population,.</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Data drift.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Data drift is a change in data patterns over time.</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data quality, model performance, validation evidence, monitoring measures, and decisions that remain under human control.</a:t>
            </a:r>
            <a:endParaRPr lang="en-US" sz="13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Quality Engineering for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 health department may use AI to identify cases needing rapid follow-up.</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If demographic fields are missing more often for some populations, the model may be less.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If the data feed from certain clinics is delayed, the prioritization queue may reflect.</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 health department may use AI to identify cases needing rapid follow-up.</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If demographic fields are missing more often for some populations,.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If the data feed from certain clinics is delayed, the.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 data quality review can reveal these issues before the tool is.</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data quality, model performance, validation evidence, monitoring measures, and decisions that remain under human control.</a:t>
            </a:r>
            <a:endParaRPr lang="en-US" sz="13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Quality Engineering for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Deep Dive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Data quality engineering begins by defining required fields and acceptable thresholds for the.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For an AI-supported case triage workflow, required fields may include condition, lab evidence,.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agency should decide which missing fields stop automated support, which trigger a warning,.</a:t>
            </a:r>
            <a:endParaRPr lang="en-US" sz="2100" dirty="0"/>
          </a:p>
        </p:txBody>
      </p:sp>
      <p:sp>
        <p:nvSpPr>
          <p:cNvPr id="10" name="Shape 8"/>
          <p:cNvSpPr/>
          <p:nvPr/>
        </p:nvSpPr>
        <p:spPr>
          <a:xfrm>
            <a:off x="7635240" y="1325880"/>
            <a:ext cx="3474720" cy="1255471"/>
          </a:xfrm>
          <a:prstGeom prst="roundRect">
            <a:avLst>
              <a:gd name="adj" fmla="val 8740"/>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0136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Data quality engineering begins by defining required fields and acceptable thresholds for the intended.</a:t>
            </a:r>
            <a:endParaRPr lang="en-US" sz="1320" dirty="0"/>
          </a:p>
        </p:txBody>
      </p:sp>
      <p:sp>
        <p:nvSpPr>
          <p:cNvPr id="13" name="Shape 11"/>
          <p:cNvSpPr/>
          <p:nvPr/>
        </p:nvSpPr>
        <p:spPr>
          <a:xfrm>
            <a:off x="7635240" y="2718511"/>
            <a:ext cx="3474720" cy="1328623"/>
          </a:xfrm>
          <a:prstGeom prst="roundRect">
            <a:avLst>
              <a:gd name="adj" fmla="val 8259"/>
            </a:avLst>
          </a:prstGeom>
          <a:solidFill>
            <a:srgbClr val="FFFFFF"/>
          </a:solidFill>
          <a:ln w="12700">
            <a:solidFill>
              <a:srgbClr val="B9D7E6"/>
            </a:solidFill>
            <a:prstDash val="solid"/>
          </a:ln>
        </p:spPr>
      </p:sp>
      <p:sp>
        <p:nvSpPr>
          <p:cNvPr id="14" name="Text 12"/>
          <p:cNvSpPr/>
          <p:nvPr/>
        </p:nvSpPr>
        <p:spPr>
          <a:xfrm>
            <a:off x="7799832" y="2846527"/>
            <a:ext cx="3145536" cy="237744"/>
          </a:xfrm>
          <a:prstGeom prst="rect">
            <a:avLst/>
          </a:prstGeom>
          <a:noFill/>
          <a:ln/>
        </p:spPr>
        <p:txBody>
          <a:bodyPr wrap="square" lIns="0" tIns="0" rIns="0" bIns="0" rtlCol="0" anchor="ctr"/>
          <a:lstStyle/>
          <a:p>
            <a:pPr indent="0" marL="0">
              <a:buNone/>
            </a:pPr>
            <a:r>
              <a:rPr lang="en-US" sz="1250" b="1" dirty="0">
                <a:solidFill>
                  <a:srgbClr val="0068B7"/>
                </a:solidFill>
                <a:latin typeface="Aptos" pitchFamily="34" charset="0"/>
                <a:ea typeface="Aptos" pitchFamily="34" charset="-122"/>
                <a:cs typeface="Aptos" pitchFamily="34" charset="-120"/>
              </a:rPr>
              <a:t>Data-to-decision flow</a:t>
            </a:r>
            <a:endParaRPr lang="en-US" sz="1250" dirty="0"/>
          </a:p>
        </p:txBody>
      </p:sp>
      <p:sp>
        <p:nvSpPr>
          <p:cNvPr id="15" name="Shape 13"/>
          <p:cNvSpPr/>
          <p:nvPr/>
        </p:nvSpPr>
        <p:spPr>
          <a:xfrm>
            <a:off x="8763000" y="3399739"/>
            <a:ext cx="164592" cy="0"/>
          </a:xfrm>
          <a:prstGeom prst="line">
            <a:avLst/>
          </a:prstGeom>
          <a:noFill/>
          <a:ln w="15240">
            <a:solidFill>
              <a:srgbClr val="8ABBD8"/>
            </a:solidFill>
            <a:prstDash val="solid"/>
          </a:ln>
        </p:spPr>
      </p:sp>
      <p:sp>
        <p:nvSpPr>
          <p:cNvPr id="16" name="Shape 14"/>
          <p:cNvSpPr/>
          <p:nvPr/>
        </p:nvSpPr>
        <p:spPr>
          <a:xfrm>
            <a:off x="7872984" y="3248863"/>
            <a:ext cx="89001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909560" y="3322015"/>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Data</a:t>
            </a:r>
            <a:endParaRPr lang="en-US" sz="880" dirty="0"/>
          </a:p>
        </p:txBody>
      </p:sp>
      <p:sp>
        <p:nvSpPr>
          <p:cNvPr id="18" name="Shape 16"/>
          <p:cNvSpPr/>
          <p:nvPr/>
        </p:nvSpPr>
        <p:spPr>
          <a:xfrm>
            <a:off x="9817608" y="3399739"/>
            <a:ext cx="164592" cy="0"/>
          </a:xfrm>
          <a:prstGeom prst="line">
            <a:avLst/>
          </a:prstGeom>
          <a:noFill/>
          <a:ln w="15240">
            <a:solidFill>
              <a:srgbClr val="8ABBD8"/>
            </a:solidFill>
            <a:prstDash val="solid"/>
          </a:ln>
        </p:spPr>
      </p:sp>
      <p:sp>
        <p:nvSpPr>
          <p:cNvPr id="19" name="Shape 17"/>
          <p:cNvSpPr/>
          <p:nvPr/>
        </p:nvSpPr>
        <p:spPr>
          <a:xfrm>
            <a:off x="8927592" y="3248863"/>
            <a:ext cx="89001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64168" y="3322015"/>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Analysis</a:t>
            </a:r>
            <a:endParaRPr lang="en-US" sz="880" dirty="0"/>
          </a:p>
        </p:txBody>
      </p:sp>
      <p:sp>
        <p:nvSpPr>
          <p:cNvPr id="21" name="Shape 19"/>
          <p:cNvSpPr/>
          <p:nvPr/>
        </p:nvSpPr>
        <p:spPr>
          <a:xfrm>
            <a:off x="9982200" y="3248863"/>
            <a:ext cx="89001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2015"/>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Review</a:t>
            </a:r>
            <a:endParaRPr lang="en-US" sz="880" dirty="0"/>
          </a:p>
        </p:txBody>
      </p:sp>
      <p:sp>
        <p:nvSpPr>
          <p:cNvPr id="23" name="Text 21"/>
          <p:cNvSpPr/>
          <p:nvPr/>
        </p:nvSpPr>
        <p:spPr>
          <a:xfrm>
            <a:off x="7854696" y="3742639"/>
            <a:ext cx="3035808" cy="158191"/>
          </a:xfrm>
          <a:prstGeom prst="rect">
            <a:avLst/>
          </a:prstGeom>
          <a:noFill/>
          <a:ln/>
        </p:spPr>
        <p:txBody>
          <a:bodyPr wrap="square" lIns="254" tIns="254" rIns="254" bIns="254" rtlCol="0" anchor="t">
            <a:normAutofit/>
          </a:bodyPr>
          <a:lstStyle/>
          <a:p>
            <a:pPr indent="0" marL="0">
              <a:buNone/>
            </a:pPr>
            <a:r>
              <a:rPr lang="en-US" sz="1120" dirty="0">
                <a:solidFill>
                  <a:srgbClr val="17364A"/>
                </a:solidFill>
                <a:latin typeface="Aptos" pitchFamily="34" charset="0"/>
                <a:ea typeface="Aptos" pitchFamily="34" charset="-122"/>
                <a:cs typeface="Aptos" pitchFamily="34" charset="-120"/>
              </a:rPr>
              <a:t>The important handoff is not from data to AI; it is from analysis to accountable human review.</a:t>
            </a:r>
            <a:endParaRPr lang="en-US" sz="1120" dirty="0"/>
          </a:p>
        </p:txBody>
      </p:sp>
      <p:sp>
        <p:nvSpPr>
          <p:cNvPr id="24" name="Shape 22"/>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25" name="Text 23"/>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26" name="Text 24"/>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data quality, model performance, validation evidence, monitoring measures, and decisions that remain under human control.</a:t>
            </a:r>
            <a:endParaRPr lang="en-US" sz="13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Quality Engineering for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Confident output from weak data.</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AI may produce polished outputs from incomplete or biased data.</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Guardrails include uncertainty labeling, source review, and limits on use.</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Confident output from weak data.</a:t>
            </a:r>
            <a:endParaRPr lang="en-US" sz="1320" dirty="0"/>
          </a:p>
        </p:txBody>
      </p:sp>
      <p:sp>
        <p:nvSpPr>
          <p:cNvPr id="13" name="Shape 11"/>
          <p:cNvSpPr/>
          <p:nvPr/>
        </p:nvSpPr>
        <p:spPr>
          <a:xfrm>
            <a:off x="7635240" y="2670048"/>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Fitness-for-use mismatch.</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Data suitable for one purpose may be unsafe for another.</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Guardrails include use-case-specific quality criteria and approval.</a:t>
            </a:r>
            <a:endParaRPr lang="en-US" sz="1220" dirty="0"/>
          </a:p>
        </p:txBody>
      </p:sp>
      <p:sp>
        <p:nvSpPr>
          <p:cNvPr id="16" name="Shape 14"/>
          <p:cNvSpPr/>
          <p:nvPr/>
        </p:nvSpPr>
        <p:spPr>
          <a:xfrm>
            <a:off x="7635240" y="4343400"/>
            <a:ext cx="3474720" cy="1255471"/>
          </a:xfrm>
          <a:prstGeom prst="roundRect">
            <a:avLst>
              <a:gd name="adj" fmla="val 8740"/>
            </a:avLst>
          </a:prstGeom>
          <a:solidFill>
            <a:srgbClr val="EAF6F8"/>
          </a:solidFill>
          <a:ln w="12700">
            <a:solidFill>
              <a:srgbClr val="B9D7E6"/>
            </a:solidFill>
            <a:prstDash val="solid"/>
          </a:ln>
        </p:spPr>
      </p:sp>
      <p:sp>
        <p:nvSpPr>
          <p:cNvPr id="17" name="Text 15"/>
          <p:cNvSpPr/>
          <p:nvPr/>
        </p:nvSpPr>
        <p:spPr>
          <a:xfrm>
            <a:off x="7799832" y="448970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481888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a:t>
            </a:r>
            <a:endParaRPr lang="en-US" sz="13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Quality Engineering for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Equity blind spots.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Missingness and underrepresentation may affect some groups more than others.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Guardrails include subgroup review, community context, and documentation of limitations.</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Equity blind spots.</a:t>
            </a:r>
            <a:endParaRPr lang="en-US" sz="1320" dirty="0"/>
          </a:p>
        </p:txBody>
      </p:sp>
      <p:sp>
        <p:nvSpPr>
          <p:cNvPr id="13" name="Shape 11"/>
          <p:cNvSpPr/>
          <p:nvPr/>
        </p:nvSpPr>
        <p:spPr>
          <a:xfrm>
            <a:off x="7635240" y="2670048"/>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Equity blind spots.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Missingness and underrepresentation may affect some groups more.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Guardrails include subgroup review, community context, and.</a:t>
            </a:r>
            <a:endParaRPr lang="en-US" sz="1220" dirty="0"/>
          </a:p>
        </p:txBody>
      </p:sp>
      <p:sp>
        <p:nvSpPr>
          <p:cNvPr id="16" name="Shape 14"/>
          <p:cNvSpPr/>
          <p:nvPr/>
        </p:nvSpPr>
        <p:spPr>
          <a:xfrm>
            <a:off x="7635240" y="4343400"/>
            <a:ext cx="3474720" cy="1255471"/>
          </a:xfrm>
          <a:prstGeom prst="roundRect">
            <a:avLst>
              <a:gd name="adj" fmla="val 8740"/>
            </a:avLst>
          </a:prstGeom>
          <a:solidFill>
            <a:srgbClr val="EAF6F8"/>
          </a:solidFill>
          <a:ln w="12700">
            <a:solidFill>
              <a:srgbClr val="B9D7E6"/>
            </a:solidFill>
            <a:prstDash val="solid"/>
          </a:ln>
        </p:spPr>
      </p:sp>
      <p:sp>
        <p:nvSpPr>
          <p:cNvPr id="17" name="Text 15"/>
          <p:cNvSpPr/>
          <p:nvPr/>
        </p:nvSpPr>
        <p:spPr>
          <a:xfrm>
            <a:off x="7799832" y="448970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481888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a:t>
            </a:r>
            <a:endParaRPr lang="en-US" sz="13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Quality Engineering for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Generative AI may summarize datasets or records, but the output must reflect missingness and.</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Predictive analytics depend heavily on feature quality, label quality, and representative.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NLP may be affected by language variation, abbreviations, and documentation practices.</a:t>
            </a:r>
            <a:endParaRPr lang="en-US" sz="2100" dirty="0"/>
          </a:p>
        </p:txBody>
      </p:sp>
      <p:sp>
        <p:nvSpPr>
          <p:cNvPr id="10" name="Shape 8"/>
          <p:cNvSpPr/>
          <p:nvPr/>
        </p:nvSpPr>
        <p:spPr>
          <a:xfrm>
            <a:off x="7635240" y="1325880"/>
            <a:ext cx="3474720" cy="1255471"/>
          </a:xfrm>
          <a:prstGeom prst="roundRect">
            <a:avLst>
              <a:gd name="adj" fmla="val 8740"/>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0136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Generative AI may summarize datasets or records, but the output must reflect missingness and uncertainty.</a:t>
            </a:r>
            <a:endParaRPr lang="en-US" sz="1320" dirty="0"/>
          </a:p>
        </p:txBody>
      </p:sp>
      <p:sp>
        <p:nvSpPr>
          <p:cNvPr id="13" name="Shape 11"/>
          <p:cNvSpPr/>
          <p:nvPr/>
        </p:nvSpPr>
        <p:spPr>
          <a:xfrm>
            <a:off x="7635240" y="2718511"/>
            <a:ext cx="3474720" cy="1328623"/>
          </a:xfrm>
          <a:prstGeom prst="roundRect">
            <a:avLst>
              <a:gd name="adj" fmla="val 8259"/>
            </a:avLst>
          </a:prstGeom>
          <a:solidFill>
            <a:srgbClr val="FFFFFF"/>
          </a:solidFill>
          <a:ln w="12700">
            <a:solidFill>
              <a:srgbClr val="B9D7E6"/>
            </a:solidFill>
            <a:prstDash val="solid"/>
          </a:ln>
        </p:spPr>
      </p:sp>
      <p:sp>
        <p:nvSpPr>
          <p:cNvPr id="14" name="Text 12"/>
          <p:cNvSpPr/>
          <p:nvPr/>
        </p:nvSpPr>
        <p:spPr>
          <a:xfrm>
            <a:off x="7799832" y="2864815"/>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230575"/>
            <a:ext cx="3090672" cy="670255"/>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RAG depends on document quality, metadata, and currency.</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Agentic AI should be blocked from acting automatically when.</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data quality, model performance, validation evidence, monitoring measures, and decisions that remain under human control.</a:t>
            </a:r>
            <a:endParaRPr lang="en-US" sz="13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Quality Engineering for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Which data quality problems most often affect your program area?</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Which missing fields would make an AI output unsafe or unreliable?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Which populations or settings may be underrepresented in the data?</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Which data quality problems most often affect your program area?</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Which data quality problems most often affect your program area?</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Which missing fields would make an AI output unsafe or unreliable?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Which populations or settings may be underrepresented in the data?</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data quality, model performance, validation evidence, monitoring measures, and decisions that remain under human control.</a:t>
            </a:r>
            <a:endParaRPr lang="en-US" sz="132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Quality Engineering for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How would staff detect data drift?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Who has authority to pause or limit AI use when data quality is insufficient?</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How would staff detect data drift?</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How would staff detect data drift?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Who has authority to pause or limit AI use when data quality is.</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data quality, model performance, validation evidence, monitoring measures, and decisions that remain under human control.</a:t>
            </a:r>
            <a:endParaRPr lang="en-US" sz="13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Quality Engineering for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Create a data quality review plan for one AI-supported workflow.</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Include the use case, required fields, quality dimensions, thresholds or review rules, known.</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Create a data quality review plan for one AI-supported workflow.</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Create a data quality review plan for one AI-supported workflow.</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Include the use case, required fields, quality dimensions,.</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32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Quality Engineering for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Data quality review plan</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Data quality checklist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Thresholds or review criteria</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Data quality review plan</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Data quality review plan</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Data quality checklist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Thresholds or review criteria</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data quality, model performance, validation evidence, monitoring measures, and decisions that remain under human control.</a:t>
            </a:r>
            <a:endParaRPr lang="en-US" sz="132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Quality Engineering for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Known limitations statement</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Known limitations statement</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Known limitations statement</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data quality, model performance, validation evidence, monitoring measures, and decisions that remain under human control.</a:t>
            </a:r>
            <a:endParaRPr lang="en-US" sz="132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Quality Engineering for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Data quality review plan</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Data quality checklist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Thresholds or review criteria</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Data quality review plan</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Data quality review plan</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Data quality checklist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Thresholds or review criteria</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32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Quality Engineering for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1. What does fitness for use mean?</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2. Why can poor data quality be dangerous in AI-supported workflows?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3. What is data drift?</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1. What does fitness for use mean?</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1.</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What does fitness for use mean?</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2.</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32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Quality Engineering for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CDC surveillance and data quality resources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CDC Public Health Data Strategy:.</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NIST AI Risk Management Framework: https://www.nist.gov/itl/ai-risk-management-framework</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CDC surveillance and data quality resources</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CDC surveillance and data quality resources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CDC Public Health Data Strategy:.</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NIST AI Risk Management Framework:.</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data quality, model performance, validation evidence, monitoring measures, and decisions that remain under human control.</a:t>
            </a:r>
            <a:endParaRPr lang="en-US" sz="13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 Quality Engineering for AI</dc:title>
  <dc:subject>Data Quality Engineering for AI learning module</dc:subject>
  <dc:creator>Paula Soper</dc:creator>
  <cp:lastModifiedBy>Paula Soper</cp:lastModifiedBy>
  <cp:revision>1</cp:revision>
  <dcterms:created xsi:type="dcterms:W3CDTF">2026-07-13T02:33:45Z</dcterms:created>
  <dcterms:modified xsi:type="dcterms:W3CDTF">2026-07-13T02:33:45Z</dcterms:modified>
</cp:coreProperties>
</file>