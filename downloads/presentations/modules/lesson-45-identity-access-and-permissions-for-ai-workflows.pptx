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 dashboards, and systems of record.</a:t>
            </a:r>
            <a:endParaRPr lang="en-US" sz="1700" dirty="0"/>
          </a:p>
          <a:p>
            <a:r>
              <a:rPr lang="en-US" sz="1700" dirty="0">
                <a:solidFill>
                  <a:srgbClr val="17364A"/>
                </a:solidFill>
                <a:latin typeface="Aptos" pitchFamily="34" charset="0"/>
                <a:ea typeface="Aptos" pitchFamily="34" charset="-122"/>
                <a:cs typeface="Aptos" pitchFamily="34" charset="-120"/>
              </a:rPr>
              <a:t>Without clear access controls, an AI tool may retrieve sensitive data, expose information to unauthorized users, or take actions beyond the approved.</a:t>
            </a:r>
            <a:endParaRPr lang="en-US" sz="1700" dirty="0"/>
          </a:p>
          <a:p>
            <a:r>
              <a:rPr lang="en-US" sz="1700" dirty="0">
                <a:solidFill>
                  <a:srgbClr val="17364A"/>
                </a:solidFill>
                <a:latin typeface="Aptos" pitchFamily="34" charset="0"/>
                <a:ea typeface="Aptos" pitchFamily="34" charset="-122"/>
                <a:cs typeface="Aptos" pitchFamily="34" charset="-120"/>
              </a:rPr>
              <a:t>This module teaches technical, governance, and operational staff how to think about access control for AI.</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 governance-and-security, operations-and-data-quality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 permissions.</a:t>
            </a:r>
            <a:endParaRPr lang="en-US" sz="1700" dirty="0"/>
          </a:p>
          <a:p>
            <a:r>
              <a:rPr lang="en-US" sz="1700" dirty="0">
                <a:solidFill>
                  <a:srgbClr val="17364A"/>
                </a:solidFill>
                <a:latin typeface="Aptos" pitchFamily="34" charset="0"/>
                <a:ea typeface="Aptos" pitchFamily="34" charset="-122"/>
                <a:cs typeface="Aptos" pitchFamily="34" charset="-120"/>
              </a:rPr>
              <a:t>Apply least-privilege principles to AI-supported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Identify access risks for read-only, retrieval, summarization, and write-back AI functions.</a:t>
            </a:r>
            <a:endParaRPr lang="en-US" sz="1700" dirty="0"/>
          </a:p>
          <a:p>
            <a:r>
              <a:rPr lang="en-US" sz="1700" dirty="0">
                <a:solidFill>
                  <a:srgbClr val="17364A"/>
                </a:solidFill>
                <a:latin typeface="Aptos" pitchFamily="34" charset="0"/>
                <a:ea typeface="Aptos" pitchFamily="34" charset="-122"/>
                <a:cs typeface="Aptos" pitchFamily="34" charset="-120"/>
              </a:rPr>
              <a:t>Define audit log and approval requirements for AI tools that access sensitive systems or data.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 permissions.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 AI-supported.</a:t>
            </a:r>
            <a:endParaRPr lang="en-US" sz="1700" dirty="0"/>
          </a:p>
          <a:p>
            <a:r>
              <a:rPr lang="en-US" sz="1700" dirty="0">
                <a:solidFill>
                  <a:srgbClr val="17364A"/>
                </a:solidFill>
                <a:latin typeface="Aptos" pitchFamily="34" charset="0"/>
                <a:ea typeface="Aptos" pitchFamily="34" charset="-122"/>
                <a:cs typeface="Aptos" pitchFamily="34" charset="-120"/>
              </a:rPr>
              <a:t>Public health AI workflows may involve staff users, service accounts, APIs, vendors, plugins, agents, dashboards, and.</a:t>
            </a:r>
            <a:endParaRPr lang="en-US" sz="1700" dirty="0"/>
          </a:p>
          <a:p>
            <a:r>
              <a:rPr lang="en-US" sz="1700" dirty="0">
                <a:solidFill>
                  <a:srgbClr val="17364A"/>
                </a:solidFill>
                <a:latin typeface="Aptos" pitchFamily="34" charset="0"/>
                <a:ea typeface="Aptos" pitchFamily="34" charset="-122"/>
                <a:cs typeface="Aptos" pitchFamily="34" charset="-120"/>
              </a:rPr>
              <a:t>Without clear access controls, an AI tool may retrieve sensitive data, expose information to unauthorized users, or take.</a:t>
            </a:r>
            <a:endParaRPr lang="en-US" sz="1700" dirty="0"/>
          </a:p>
          <a:p>
            <a:r>
              <a:rPr lang="en-US" sz="1700" dirty="0">
                <a:solidFill>
                  <a:srgbClr val="17364A"/>
                </a:solidFill>
                <a:latin typeface="Aptos" pitchFamily="34" charset="0"/>
                <a:ea typeface="Aptos" pitchFamily="34" charset="-122"/>
                <a:cs typeface="Aptos" pitchFamily="34" charset="-120"/>
              </a:rPr>
              <a:t>This module teaches technical, governance, and operational staff how to think about access control for AI.</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 AI-supported.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1700" dirty="0"/>
          </a:p>
          <a:p>
            <a:r>
              <a:rPr lang="en-US" sz="1700" dirty="0">
                <a:solidFill>
                  <a:srgbClr val="17364A"/>
                </a:solidFill>
                <a:latin typeface="Aptos" pitchFamily="34" charset="0"/>
                <a:ea typeface="Aptos" pitchFamily="34" charset="-122"/>
                <a:cs typeface="Aptos" pitchFamily="34" charset="-120"/>
              </a:rPr>
              <a:t>The access review determines that the assistant may retrieve only records assigned to the investigator’s program, may not.</a:t>
            </a:r>
            <a:endParaRPr lang="en-US" sz="1700" dirty="0"/>
          </a:p>
          <a:p>
            <a:r>
              <a:rPr lang="en-US" sz="1700" dirty="0">
                <a:solidFill>
                  <a:srgbClr val="17364A"/>
                </a:solidFill>
                <a:latin typeface="Aptos" pitchFamily="34" charset="0"/>
                <a:ea typeface="Aptos" pitchFamily="34" charset="-122"/>
                <a:cs typeface="Aptos" pitchFamily="34" charset="-120"/>
              </a:rPr>
              <a:t>Logs must show which user requested the summary, which record was accessed, and whether the output was saved or discarded.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workflows may involve multiple identities.</a:t>
            </a:r>
            <a:endParaRPr lang="en-US" sz="1700" dirty="0"/>
          </a:p>
          <a:p>
            <a:r>
              <a:rPr lang="en-US" sz="1700" dirty="0">
                <a:solidFill>
                  <a:srgbClr val="17364A"/>
                </a:solidFill>
                <a:latin typeface="Aptos" pitchFamily="34" charset="0"/>
                <a:ea typeface="Aptos" pitchFamily="34" charset="-122"/>
                <a:cs typeface="Aptos" pitchFamily="34" charset="-120"/>
              </a:rPr>
              <a:t>A staff member may log in through single sign-on, an AI service may use a service account to retrieve data, and a vendor.</a:t>
            </a:r>
            <a:endParaRPr lang="en-US" sz="1700" dirty="0"/>
          </a:p>
          <a:p>
            <a:r>
              <a:rPr lang="en-US" sz="1700" dirty="0">
                <a:solidFill>
                  <a:srgbClr val="17364A"/>
                </a:solidFill>
                <a:latin typeface="Aptos" pitchFamily="34" charset="0"/>
                <a:ea typeface="Aptos" pitchFamily="34" charset="-122"/>
                <a:cs typeface="Aptos" pitchFamily="34" charset="-120"/>
              </a:rPr>
              <a:t>Each identity should be documented and tied to specific permissions.</a:t>
            </a:r>
            <a:endParaRPr lang="en-US" sz="1700" dirty="0"/>
          </a:p>
          <a:p>
            <a:r>
              <a:rPr lang="en-US" sz="1700" dirty="0">
                <a:solidFill>
                  <a:srgbClr val="17364A"/>
                </a:solidFill>
                <a:latin typeface="Aptos" pitchFamily="34" charset="0"/>
                <a:ea typeface="Aptos" pitchFamily="34" charset="-122"/>
                <a:cs typeface="Aptos" pitchFamily="34" charset="-120"/>
              </a:rPr>
              <a:t>Agencies should avoid shared accounts or overly broad service accounts because they make accountability and incident.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workflows may involve multiple identities.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Audit logs should make AI access visible.</a:t>
            </a:r>
            <a:endParaRPr lang="en-US" sz="1700" dirty="0"/>
          </a:p>
          <a:p>
            <a:r>
              <a:rPr lang="en-US" sz="1700" dirty="0">
                <a:solidFill>
                  <a:srgbClr val="17364A"/>
                </a:solidFill>
                <a:latin typeface="Aptos" pitchFamily="34" charset="0"/>
                <a:ea typeface="Aptos" pitchFamily="34" charset="-122"/>
                <a:cs typeface="Aptos" pitchFamily="34" charset="-120"/>
              </a:rPr>
              <a:t>Logs should capture user identity, service identity, data accessed, action taken, time, output generated, approval status,.</a:t>
            </a:r>
            <a:endParaRPr lang="en-US" sz="1700" dirty="0"/>
          </a:p>
          <a:p>
            <a:r>
              <a:rPr lang="en-US" sz="1700" dirty="0">
                <a:solidFill>
                  <a:srgbClr val="17364A"/>
                </a:solidFill>
                <a:latin typeface="Aptos" pitchFamily="34" charset="0"/>
                <a:ea typeface="Aptos" pitchFamily="34" charset="-122"/>
                <a:cs typeface="Aptos" pitchFamily="34" charset="-120"/>
              </a:rPr>
              <a:t>For agentic workflows, logs should also show tool calls, attempted actions, blocked actions, and human approvals.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Audit logs should make AI access visible.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Service accounts with broad access to sensitive data.</a:t>
            </a:r>
            <a:endParaRPr lang="en-US" sz="1700" dirty="0"/>
          </a:p>
          <a:p>
            <a:r>
              <a:rPr lang="en-US" sz="1700" dirty="0">
                <a:solidFill>
                  <a:srgbClr val="17364A"/>
                </a:solidFill>
                <a:latin typeface="Aptos" pitchFamily="34" charset="0"/>
                <a:ea typeface="Aptos" pitchFamily="34" charset="-122"/>
                <a:cs typeface="Aptos" pitchFamily="34" charset="-120"/>
              </a:rPr>
              <a:t>AI tools retrieving data unrelated to the approved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Write-back actions occurring without human approval.</a:t>
            </a:r>
            <a:endParaRPr lang="en-US" sz="1700" dirty="0"/>
          </a:p>
          <a:p>
            <a:r>
              <a:rPr lang="en-US" sz="1700" dirty="0">
                <a:solidFill>
                  <a:srgbClr val="17364A"/>
                </a:solidFill>
                <a:latin typeface="Aptos" pitchFamily="34" charset="0"/>
                <a:ea typeface="Aptos" pitchFamily="34" charset="-122"/>
                <a:cs typeface="Aptos" pitchFamily="34" charset="-120"/>
              </a:rPr>
              <a:t>Shared accounts preventing accountability.</a:t>
            </a:r>
            <a:endParaRPr lang="en-US" sz="1700" dirty="0"/>
          </a:p>
          <a:p>
            <a:r>
              <a:rPr lang="en-US" sz="170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Write-back actions occurring without human approval.</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Use role-based and purpose-based access controls.</a:t>
            </a:r>
            <a:endParaRPr lang="en-US" sz="1700" dirty="0"/>
          </a:p>
          <a:p>
            <a:r>
              <a:rPr lang="en-US" sz="1700" dirty="0">
                <a:solidFill>
                  <a:srgbClr val="17364A"/>
                </a:solidFill>
                <a:latin typeface="Aptos" pitchFamily="34" charset="0"/>
                <a:ea typeface="Aptos" pitchFamily="34" charset="-122"/>
                <a:cs typeface="Aptos" pitchFamily="34" charset="-120"/>
              </a:rPr>
              <a:t>Apply least privilege to users, service accounts, APIs, and agents.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700" dirty="0"/>
          </a:p>
          <a:p>
            <a:r>
              <a:rPr lang="en-US" sz="1700" dirty="0">
                <a:solidFill>
                  <a:srgbClr val="17364A"/>
                </a:solidFill>
                <a:latin typeface="Aptos" pitchFamily="34" charset="0"/>
                <a:ea typeface="Aptos" pitchFamily="34" charset="-122"/>
                <a:cs typeface="Aptos" pitchFamily="34" charset="-120"/>
              </a:rPr>
              <a:t>Avoid shared accounts and undocumented service identities.</a:t>
            </a:r>
            <a:endParaRPr lang="en-US" sz="1700" dirty="0"/>
          </a:p>
          <a:p>
            <a:r>
              <a:rPr lang="en-US" sz="1700" dirty="0">
                <a:solidFill>
                  <a:srgbClr val="17364A"/>
                </a:solidFill>
                <a:latin typeface="Aptos" pitchFamily="34" charset="0"/>
                <a:ea typeface="Aptos" pitchFamily="34" charset="-122"/>
                <a:cs typeface="Aptos" pitchFamily="34" charset="-120"/>
              </a:rPr>
              <a:t>Maintain detailed audit logs for AI access and actions.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700" dirty="0"/>
          </a:p>
          <a:p>
            <a:r>
              <a:rPr lang="en-US" sz="1700" dirty="0">
                <a:solidFill>
                  <a:srgbClr val="17364A"/>
                </a:solidFill>
                <a:latin typeface="Aptos" pitchFamily="34" charset="0"/>
                <a:ea typeface="Aptos" pitchFamily="34" charset="-122"/>
                <a:cs typeface="Aptos" pitchFamily="34" charset="-120"/>
              </a:rPr>
              <a:t>Identify users, service accounts, systems, data accessed, read/write permissions, approval points, prohibited actions,.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Access and permissions review</a:t>
            </a:r>
            <a:endParaRPr lang="en-US" sz="1700" dirty="0"/>
          </a:p>
          <a:p>
            <a:r>
              <a:rPr lang="en-US" sz="1700" dirty="0">
                <a:solidFill>
                  <a:srgbClr val="17364A"/>
                </a:solidFill>
                <a:latin typeface="Aptos" pitchFamily="34" charset="0"/>
                <a:ea typeface="Aptos" pitchFamily="34" charset="-122"/>
                <a:cs typeface="Aptos" pitchFamily="34" charset="-120"/>
              </a:rPr>
              <a:t>List of user and service identities</a:t>
            </a:r>
            <a:endParaRPr lang="en-US" sz="1700" dirty="0"/>
          </a:p>
          <a:p>
            <a:r>
              <a:rPr lang="en-US" sz="1700" dirty="0">
                <a:solidFill>
                  <a:srgbClr val="17364A"/>
                </a:solidFill>
                <a:latin typeface="Aptos" pitchFamily="34" charset="0"/>
                <a:ea typeface="Aptos" pitchFamily="34" charset="-122"/>
                <a:cs typeface="Aptos" pitchFamily="34" charset="-120"/>
              </a:rPr>
              <a:t>Least-privilege recommendation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Access and permissions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Write-back approval rules</a:t>
            </a:r>
            <a:endParaRPr lang="en-US" sz="1700" dirty="0"/>
          </a:p>
          <a:p>
            <a:r>
              <a:rPr lang="en-US" sz="1700" dirty="0">
                <a:solidFill>
                  <a:srgbClr val="17364A"/>
                </a:solidFill>
                <a:latin typeface="Aptos" pitchFamily="34" charset="0"/>
                <a:ea typeface="Aptos" pitchFamily="34" charset="-122"/>
                <a:cs typeface="Aptos" pitchFamily="34" charset="-120"/>
              </a:rPr>
              <a:t>Audit log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Write-back approval rules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Access and permissions review</a:t>
            </a:r>
            <a:endParaRPr lang="en-US" sz="1700" dirty="0"/>
          </a:p>
          <a:p>
            <a:r>
              <a:rPr lang="en-US" sz="1700" dirty="0">
                <a:solidFill>
                  <a:srgbClr val="17364A"/>
                </a:solidFill>
                <a:latin typeface="Aptos" pitchFamily="34" charset="0"/>
                <a:ea typeface="Aptos" pitchFamily="34" charset="-122"/>
                <a:cs typeface="Aptos" pitchFamily="34" charset="-120"/>
              </a:rPr>
              <a:t>List of user and service identities</a:t>
            </a:r>
            <a:endParaRPr lang="en-US" sz="1700" dirty="0"/>
          </a:p>
          <a:p>
            <a:r>
              <a:rPr lang="en-US" sz="1700" dirty="0">
                <a:solidFill>
                  <a:srgbClr val="17364A"/>
                </a:solidFill>
                <a:latin typeface="Aptos" pitchFamily="34" charset="0"/>
                <a:ea typeface="Aptos" pitchFamily="34" charset="-122"/>
                <a:cs typeface="Aptos" pitchFamily="34" charset="-120"/>
              </a:rPr>
              <a:t>Least-privilege recommendation</a:t>
            </a:r>
            <a:endParaRPr lang="en-US" sz="1700" dirty="0"/>
          </a:p>
          <a:p>
            <a:r>
              <a:rPr lang="en-US" sz="1700" dirty="0">
                <a:solidFill>
                  <a:srgbClr val="17364A"/>
                </a:solidFill>
                <a:latin typeface="Aptos" pitchFamily="34" charset="0"/>
                <a:ea typeface="Aptos" pitchFamily="34" charset="-122"/>
                <a:cs typeface="Aptos" pitchFamily="34" charset="-120"/>
              </a:rPr>
              <a:t>Write-back approval rules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Access and permissions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authorization?</a:t>
            </a:r>
            <a:endParaRPr lang="en-US" sz="1700" dirty="0"/>
          </a:p>
          <a:p>
            <a:r>
              <a:rPr lang="en-US" sz="1700" dirty="0">
                <a:solidFill>
                  <a:srgbClr val="17364A"/>
                </a:solidFill>
                <a:latin typeface="Aptos" pitchFamily="34" charset="0"/>
                <a:ea typeface="Aptos" pitchFamily="34" charset="-122"/>
                <a:cs typeface="Aptos" pitchFamily="34" charset="-120"/>
              </a:rPr>
              <a:t>2. Why are service accounts important in AI workflows?</a:t>
            </a:r>
            <a:endParaRPr lang="en-US" sz="1700" dirty="0"/>
          </a:p>
          <a:p>
            <a:r>
              <a:rPr lang="en-US" sz="1700" dirty="0">
                <a:solidFill>
                  <a:srgbClr val="17364A"/>
                </a:solidFill>
                <a:latin typeface="Aptos" pitchFamily="34" charset="0"/>
                <a:ea typeface="Aptos" pitchFamily="34" charset="-122"/>
                <a:cs typeface="Aptos" pitchFamily="34" charset="-120"/>
              </a:rPr>
              <a:t>3. What does least privilege mean?</a:t>
            </a:r>
            <a:endParaRPr lang="en-US" sz="1700" dirty="0"/>
          </a:p>
          <a:p>
            <a:r>
              <a:rPr lang="en-US" sz="1700" dirty="0">
                <a:solidFill>
                  <a:srgbClr val="17364A"/>
                </a:solidFill>
                <a:latin typeface="Aptos" pitchFamily="34" charset="0"/>
                <a:ea typeface="Aptos" pitchFamily="34" charset="-122"/>
                <a:cs typeface="Aptos" pitchFamily="34" charset="-120"/>
              </a:rPr>
              <a:t>4. Which AI function generally requires stronger safeguards?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authorization?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2026-07-12T18:54:58Z</dcterms:created>
  <dcterms:modified xsi:type="dcterms:W3CDTF">2026-07-12T18:54:58Z</dcterms:modified>
</cp:coreProperties>
</file>