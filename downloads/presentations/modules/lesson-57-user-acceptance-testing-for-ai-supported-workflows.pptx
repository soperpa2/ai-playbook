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 neither.</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technical-architecture, analytics-and-modeling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scenarios and test scripts.</a:t>
            </a:r>
            <a:endParaRPr lang="en-US" sz="2100" dirty="0"/>
          </a:p>
          <a:p>
            <a:r>
              <a:rPr lang="en-US" sz="2100" dirty="0">
                <a:solidFill>
                  <a:srgbClr val="17364A"/>
                </a:solidFill>
                <a:latin typeface="Aptos" pitchFamily="34" charset="0"/>
                <a:ea typeface="Aptos" pitchFamily="34" charset="-122"/>
                <a:cs typeface="Aptos" pitchFamily="34" charset="-120"/>
              </a:rPr>
              <a:t>Include routine cases, edge cases, failure cases, and equity-sensitive scenarios in UAT.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UAT for AI-supported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2100" dirty="0"/>
          </a:p>
          <a:p>
            <a:r>
              <a:rPr lang="en-US" sz="2100" dirty="0">
                <a:solidFill>
                  <a:srgbClr val="17364A"/>
                </a:solidFill>
                <a:latin typeface="Aptos" pitchFamily="34" charset="0"/>
                <a:ea typeface="Aptos" pitchFamily="34" charset="-122"/>
                <a:cs typeface="Aptos" pitchFamily="34" charset="-120"/>
              </a:rPr>
              <a:t>Testers verify whether the summary is understandable, source information is visible, errors can be.</a:t>
            </a:r>
            <a:endParaRPr lang="en-US" sz="2100" dirty="0"/>
          </a:p>
          <a:p>
            <a:r>
              <a:rPr lang="en-US" sz="2100" dirty="0">
                <a:solidFill>
                  <a:srgbClr val="17364A"/>
                </a:solidFill>
                <a:latin typeface="Aptos" pitchFamily="34" charset="0"/>
                <a:ea typeface="Aptos" pitchFamily="34" charset="-122"/>
                <a:cs typeface="Aptos" pitchFamily="34" charset="-120"/>
              </a:rPr>
              <a:t>The tool does not launch until high-priority issues are resolved.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should be designed around real users and real work.</a:t>
            </a:r>
            <a:endParaRPr lang="en-US" sz="2100" dirty="0"/>
          </a:p>
          <a:p>
            <a:r>
              <a:rPr lang="en-US" sz="2100" dirty="0">
                <a:solidFill>
                  <a:srgbClr val="17364A"/>
                </a:solidFill>
                <a:latin typeface="Aptos" pitchFamily="34" charset="0"/>
                <a:ea typeface="Aptos" pitchFamily="34" charset="-122"/>
                <a:cs typeface="Aptos" pitchFamily="34" charset="-120"/>
              </a:rPr>
              <a:t>Testers should include the roles that will actually use or supervise the AI-supported workflow, such as.</a:t>
            </a:r>
            <a:endParaRPr lang="en-US" sz="2100" dirty="0"/>
          </a:p>
          <a:p>
            <a:r>
              <a:rPr lang="en-US" sz="2100" dirty="0">
                <a:solidFill>
                  <a:srgbClr val="17364A"/>
                </a:solidFill>
                <a:latin typeface="Aptos" pitchFamily="34" charset="0"/>
                <a:ea typeface="Aptos" pitchFamily="34" charset="-122"/>
                <a:cs typeface="Aptos" pitchFamily="34" charset="-120"/>
              </a:rPr>
              <a:t>If only technical staff test the tool, usability and workflow problems may be missed.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should be designed around real users and real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results should lead to a launch decision.</a:t>
            </a:r>
            <a:endParaRPr lang="en-US" sz="2100" dirty="0"/>
          </a:p>
          <a:p>
            <a:r>
              <a:rPr lang="en-US" sz="2100" dirty="0">
                <a:solidFill>
                  <a:srgbClr val="17364A"/>
                </a:solidFill>
                <a:latin typeface="Aptos" pitchFamily="34" charset="0"/>
                <a:ea typeface="Aptos" pitchFamily="34" charset="-122"/>
                <a:cs typeface="Aptos" pitchFamily="34" charset="-120"/>
              </a:rPr>
              <a:t>Issues should be categorized by severity, assigned to owners, and resolved or accepted with documented.</a:t>
            </a:r>
            <a:endParaRPr lang="en-US" sz="2100" dirty="0"/>
          </a:p>
          <a:p>
            <a:r>
              <a:rPr lang="en-US" sz="2100" dirty="0">
                <a:solidFill>
                  <a:srgbClr val="17364A"/>
                </a:solidFill>
                <a:latin typeface="Aptos" pitchFamily="34" charset="0"/>
                <a:ea typeface="Aptos" pitchFamily="34" charset="-122"/>
                <a:cs typeface="Aptos" pitchFamily="34" charset="-120"/>
              </a:rPr>
              <a:t>A launch should not proceed simply because testing occurred.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results should lead to a launch decision.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Testing only ideal scenarios and missing high-risk workflow failures.</a:t>
            </a:r>
            <a:endParaRPr lang="en-US" sz="2100" dirty="0"/>
          </a:p>
          <a:p>
            <a:r>
              <a:rPr lang="en-US" sz="2100" dirty="0">
                <a:solidFill>
                  <a:srgbClr val="17364A"/>
                </a:solidFill>
                <a:latin typeface="Aptos" pitchFamily="34" charset="0"/>
                <a:ea typeface="Aptos" pitchFamily="34" charset="-122"/>
                <a:cs typeface="Aptos" pitchFamily="34" charset="-120"/>
              </a:rPr>
              <a:t>Excluding real end users from testing.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2100" dirty="0"/>
          </a:p>
          <a:p>
            <a:r>
              <a:rPr lang="en-US" sz="2100" dirty="0">
                <a:solidFill>
                  <a:srgbClr val="17364A"/>
                </a:solidFill>
                <a:latin typeface="Aptos" pitchFamily="34" charset="0"/>
                <a:ea typeface="Aptos" pitchFamily="34" charset="-122"/>
                <a:cs typeface="Aptos" pitchFamily="34" charset="-120"/>
              </a:rPr>
              <a:t>Treating model validation as a substitute for workflow acceptance testing.</a:t>
            </a:r>
            <a:endParaRPr lang="en-US" sz="2100" dirty="0"/>
          </a:p>
          <a:p>
            <a:r>
              <a:rPr lang="en-US" sz="2100" dirty="0">
                <a:solidFill>
                  <a:srgbClr val="17364A"/>
                </a:solidFill>
                <a:latin typeface="Aptos" pitchFamily="34" charset="0"/>
                <a:ea typeface="Aptos" pitchFamily="34" charset="-122"/>
                <a:cs typeface="Aptos" pitchFamily="34" charset="-120"/>
              </a:rPr>
              <a:t>Failing to test override, escalation, fallback, and accessibility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scripts before launch.</a:t>
            </a:r>
            <a:endParaRPr lang="en-US" sz="2100" dirty="0"/>
          </a:p>
          <a:p>
            <a:r>
              <a:rPr lang="en-US" sz="2100" dirty="0">
                <a:solidFill>
                  <a:srgbClr val="17364A"/>
                </a:solidFill>
                <a:latin typeface="Aptos" pitchFamily="34" charset="0"/>
                <a:ea typeface="Aptos" pitchFamily="34" charset="-122"/>
                <a:cs typeface="Aptos" pitchFamily="34" charset="-120"/>
              </a:rPr>
              <a:t>Include routine, edge, failure, and equity-sensitive cases.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acceptance criteria before testing.</a:t>
            </a:r>
            <a:endParaRPr lang="en-US" sz="2100" dirty="0"/>
          </a:p>
          <a:p>
            <a:r>
              <a:rPr lang="en-US" sz="2100" dirty="0">
                <a:solidFill>
                  <a:srgbClr val="17364A"/>
                </a:solidFill>
                <a:latin typeface="Aptos" pitchFamily="34" charset="0"/>
                <a:ea typeface="Aptos" pitchFamily="34" charset="-122"/>
                <a:cs typeface="Aptos" pitchFamily="34" charset="-120"/>
              </a:rPr>
              <a:t>Track issues by severity, owner, and resolution status.</a:t>
            </a:r>
            <a:endParaRPr lang="en-US" sz="2100" dirty="0"/>
          </a:p>
          <a:p>
            <a:r>
              <a:rPr lang="en-US" sz="2100" dirty="0">
                <a:solidFill>
                  <a:srgbClr val="17364A"/>
                </a:solidFill>
                <a:latin typeface="Aptos" pitchFamily="34" charset="0"/>
                <a:ea typeface="Aptos" pitchFamily="34" charset="-122"/>
                <a:cs typeface="Aptos" pitchFamily="34" charset="-120"/>
              </a:rPr>
              <a:t>Require documented sign-off or remediation before deployment.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acceptance criteria before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UAT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user roles, test scenarios, edge cases, acceptance criteria, tester instructions, issue log.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UAT plan for one AI-supported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Issue log template</a:t>
            </a:r>
            <a:endParaRPr lang="en-US" sz="2100" dirty="0"/>
          </a:p>
          <a:p>
            <a:r>
              <a:rPr lang="en-US" sz="2100" dirty="0">
                <a:solidFill>
                  <a:srgbClr val="17364A"/>
                </a:solidFill>
                <a:latin typeface="Aptos" pitchFamily="34" charset="0"/>
                <a:ea typeface="Aptos" pitchFamily="34" charset="-122"/>
                <a:cs typeface="Aptos" pitchFamily="34" charset="-120"/>
              </a:rPr>
              <a:t>Sign-off recommendation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Issue log template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2. Who should participate in UAT?</a:t>
            </a:r>
            <a:endParaRPr lang="en-US" sz="2100" dirty="0"/>
          </a:p>
          <a:p>
            <a:r>
              <a:rPr lang="en-US" sz="2100" dirty="0">
                <a:solidFill>
                  <a:srgbClr val="17364A"/>
                </a:solidFill>
                <a:latin typeface="Aptos" pitchFamily="34" charset="0"/>
                <a:ea typeface="Aptos" pitchFamily="34" charset="-122"/>
                <a:cs typeface="Aptos" pitchFamily="34" charset="-120"/>
              </a:rPr>
              <a:t>3. Which scenario should be included in AI UAT?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purpose of UAT for AI-supported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2026-07-12T19:24:28Z</dcterms:created>
  <dcterms:modified xsi:type="dcterms:W3CDTF">2026-07-12T19:24:28Z</dcterms:modified>
</cp:coreProperties>
</file>