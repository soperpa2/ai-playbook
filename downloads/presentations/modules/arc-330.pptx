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 330 Cloud, Containers, and Secure Deployment Basics
Many AI tools are deployed in cloud environments or packaged in containers that make applications easier to move, scale, and maintain. Public health staff do not need to become cloud engineers, but they need enough technical literacy to understand hosting, identity and access management, logging, encryption, secrets management, backup, disaster recovery, and secure deployment responsibilities. This module connects deployment choices to public health continuity, privacy, cybersecurity, and sustainability.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intermediate/practitioner
Primary track: Technical Architecture Track
Appears in tracks: operations-data-quality
Many AI tools are deployed in cloud environments or packaged in containers that make applications easier to move, scale, and maintain. Public health staff do not need to become cloud engineers, but they need enough technical literacy to understand hosting, identity and access management, logging, encryption, secrets management, backup, disaster recovery, and secure deployment responsibilities. This module connects deployment choices to public health continuity, privacy, cybersecurity, and sustainability.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2: Readiness Assessment - This lesson informs Play 2 by helping learners connect the lesson topic to readiness assessment work in the AI Playbook sequence.
Play 3: Establish AI Governance - This lesson informs Play 3 by helping learners connect the lesson topic to establish ai governance work in the AI Playbook sequence.
Play 1: Vision &amp; Guardrails - This lesson informs Play 1 by helping learners connect the lesson topic to vision &amp; guardrails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4: AI Policy Landscape Scan (Worksheet) - Use AI Policy Landscape Scan to translate this lesson into a documented public health AI planning, governance, implementation,.
Tool 5: AI Environmental and Resource Impact Review (Checklist) - Use this tool to complete or strengthen the practical exercise for the module using fictional, de-identified, or generalized.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
Tool 10: Tiered Data Classification for AI Use (Worksheet) - Use this tool to complete or strengthen the practical exercise for the module using fictional, de-identified, or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the purpose of cloud, containers, and secure deployment basics in public health AI work.
Identify the technical, operational, privacy, security, equity, and governance issues associated with the topic.
Apply the topic to a real or realistic public health workflow, system, or implementation scenario.
Recognize common failure modes that can affect safety, accuracy, trust, workflow fit, or sustainability.
Identify practical guardrails that should be documented before implementation.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Produce a secure deployment readiness worksheet that can support readiness assessment, governance review, procurement, implementation, or monitoring.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Many AI tools are deployed in cloud environments or packaged in containers that make applications easier to move, scale, and maintain. Public health staff do not need to become cloud engineers, but they need enough technical literacy to understand hosting, identity and access management, logging, encryption, secrets management, backup, disaster recovery, and secure deployment responsibilities. This module connects deployment choices to public health continuity, privacy, cybersecurity, and sustainability.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national-level module is intended for training and planning purposes. It does not replace legal, privacy, procurement, civil rights, records, or agency policy review. Learners should confirm applicable requirements in their own jurisdiction and organization before implementing AI-supported workflows.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Cloud, Containers, and Secure Deployment Basics matters because AI systems are embedded in public health programs, data systems, and decision processes rather than operating in isolation. The topic affects whether AI outputs are accurate, explainable, safe, equitable, secure, and sustainable. Agencies that ignore this area may create tools that work in a demonstration but fail in actual practice.
The topic also affects accountability. Public health agencies must be able to explain how data are used, why a tool was approved, what evidence supports the workflow, who reviews outputs, and what happens when the system fails. These responsibilities become more important as AI tools move from experimentation into operational use.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Concepts
Cloud computing provides remote infrastructure, platforms, and services that can host data pipelines, analytics environments, AI tools, and public health applications. Cloud deployment can improve scalability and resilience, but only when identity, access, logging, encryption, and governance are configured correctly.
Containers package software and its dependencies so that it can run consistently across environments. Containers can improve reproducibility and deployment speed, but they must be scanned, patched, configured, and monitored. Container use does not remove the need for secure architecture.
Identity and access management defines who or what can access systems, data, and actions. In AI workflows, IAM must include human users, service accounts, APIs, agents, and automation tools. Poorly designed access can expose sensitive data or allow unauthorized write-back to systems of record.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public health agency may deploy an internal RAG assistant in a cloud environment so staff can search approved guidance and protocols. The tool may be low risk if it uses public documents, but it becomes higher risk if it retrieves sensitive policies, case notes, or internal operational documents. Secure deployment requires access controls, document-level permissions, logging, monitoring, backup, and a process for removing outdated content.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Secure deployment begins with environment separation. Development, testing, staging, and production environments should be clearly separated so experimental tools do not affect operational systems. Sensitive production data should not be copied into lower environments unless approved controls are in place.
Logging and monitoring are central to deployment safety. Agencies should know when systems are accessed, when APIs fail, when models produce errors, when unusual activity occurs, and when infrastructure changes are made. Logs should be protected because they can contain sensitive information.
Secrets management is essential for AI integrations. API keys, database passwords, certificates, and tokens should not be embedded in code, prompts, shared documents, or configuration files that are not secured. A compromised secret can allow unauthorized access to data or actions across connected systems.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common failure mode is treating the topic as a technical detail rather than a public health control. When staff do not connect technical decisions to authority, workflow, equity, privacy, security, and accountability, the agency may adopt a tool that appears useful but cannot be sustained or defended.
Another risk is relying on vendor claims without agency-defined evidence. Vendors may provide demonstrations, dashboards, or summary metrics that do not match the agency workflow or data environment. A guardrail is to require documentation, test results, acceptance criteria, and agency-controlled review.
A third risk is failing to plan for change. Public health data, policies, systems, and emergencies change. Any technical approach must include monitoring, review, versioning, escalation, and retirement pathways so the agency can respond when assumptions no longer hold.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Generative AI, predictive analytics, RAG, automation, and agentic workflows all depend on the controls described in this module. The controls should be scaled to the risk of the use case. A tool that drafts internal training text may require lighter review than a tool that updates case records, prioritizes outreach, or supports public communication during an emergency.
The module should be applied during readiness assessment, procurement, implementation planning, pilot testing, and post-deployment monitoring. Learners should document how the topic affects data, systems, users, safeguards, and decision-making for the selected workflow.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Where does this topic appear in one current or proposed AI workflow in your agency?
What decisions, data sources, users, or partners would be affected if this area is poorly designed?
What evidence would governance reviewers need before approving the workflow?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safeguards should be required before pilot testing?
Who owns ongoing monitoring and review?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secure deployment readiness worksheet for one real or realistic public health AI workflow. The artifact should describe the use case, affected users, data sources, system dependencies, risks, guardrails, review points, and unresolved questions.
The exercise should produce a work product that could be used in a governance meeting, procurement review, implementation planning session, pilot evaluation, or monitoring review. Learners should document assumptions and identify which staff or partners need to be consulted.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The expected artifact is a completed secure deployment readiness worksheet. It should be specific to a public health workflow and should include technical dependencies, governance questions, human review expectations, monitoring indicators, and unresolved risks.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The expected artifact is a completed secure deployment readiness worksheet. It should be specific to a public health workflow and should include technical dependencies, governance questions, human review expectations, monitoring indicators, and unresolved risks.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best reason to address cloud, containers, and secure deployment basics before deployment?
2. Which practice best supports responsible implementation?
3. Which statement best describes a common failure mode?
4. What should be included in the practical artifact for this module?
5. When should the issue be escalated for governance or leadership review?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NIST AI Risk Management Framework: https://www.nist.gov/itl/ai-risk-management-framework
NIST Cybersecurity Framework and cloud security guidance
NIST Generative AI Profile: https://www.nist.gov/publications/artificial-intelligence-risk-management-framework-generative-artificial-intelligence
CDC Public Health Data Strategy and Data Modernization resources: https://www.cdc.gov/public-health-data-strategy/php/about/index.html
OWASP Top 10 for LLM Applications, when security or AI integrations are relevant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Agency privacy, cybersecurity, data governance, procurement, and records management policies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ARC 330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Cloud, Containers, and Secure Deployment Basics</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Cloud, Containers, and Secure Deployment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Many AI tools are deployed in cloud environments or packaged in containers.</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Public health staff do not need to become cloud engineers, but they need.</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This module connects deployment choices to public health continuity,.</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45336"/>
            <a:ext cx="28254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Module details</a:t>
            </a:r>
            <a:endParaRPr lang="en-US" sz="1220" dirty="0"/>
          </a:p>
        </p:txBody>
      </p:sp>
      <p:sp>
        <p:nvSpPr>
          <p:cNvPr id="12" name="Text 10"/>
          <p:cNvSpPr/>
          <p:nvPr/>
        </p:nvSpPr>
        <p:spPr>
          <a:xfrm>
            <a:off x="8074152" y="1856232"/>
            <a:ext cx="2825496" cy="140817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Level: intermediate/practitioner Primary track: Technical Architecture Track.</a:t>
            </a:r>
            <a:endParaRPr lang="en-US" sz="1220" dirty="0"/>
          </a:p>
        </p:txBody>
      </p:sp>
      <p:sp>
        <p:nvSpPr>
          <p:cNvPr id="13" name="Shape 11"/>
          <p:cNvSpPr/>
          <p:nvPr/>
        </p:nvSpPr>
        <p:spPr>
          <a:xfrm>
            <a:off x="7909560" y="3675888"/>
            <a:ext cx="3154680" cy="1691640"/>
          </a:xfrm>
          <a:prstGeom prst="roundRect">
            <a:avLst>
              <a:gd name="adj" fmla="val 6486"/>
            </a:avLst>
          </a:prstGeom>
          <a:solidFill>
            <a:srgbClr val="FFFFFF"/>
          </a:solidFill>
          <a:ln w="12700">
            <a:solidFill>
              <a:srgbClr val="B9D7E6"/>
            </a:solidFill>
            <a:prstDash val="solid"/>
          </a:ln>
        </p:spPr>
      </p:sp>
      <p:sp>
        <p:nvSpPr>
          <p:cNvPr id="14" name="Text 12"/>
          <p:cNvSpPr/>
          <p:nvPr/>
        </p:nvSpPr>
        <p:spPr>
          <a:xfrm>
            <a:off x="8074152" y="3803904"/>
            <a:ext cx="28254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Learning sequence</a:t>
            </a:r>
            <a:endParaRPr lang="en-US" sz="1220" dirty="0"/>
          </a:p>
        </p:txBody>
      </p:sp>
      <p:sp>
        <p:nvSpPr>
          <p:cNvPr id="15" name="Text 13"/>
          <p:cNvSpPr/>
          <p:nvPr/>
        </p:nvSpPr>
        <p:spPr>
          <a:xfrm>
            <a:off x="8092440" y="4133088"/>
            <a:ext cx="2770632" cy="112471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Read the module for shared vocabulary and context.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Complete the practical exercise to apply the.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Use the notes and references for deeper review.</a:t>
            </a:r>
            <a:endParaRPr lang="en-US" sz="11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Cloud, Containers, and Secure Deployment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1016" tIns="1016" rIns="1016" bIns="1016" rtlCol="0" anchor="t">
            <a:normAutofit/>
          </a:bodyPr>
          <a:lstStyle/>
          <a:p>
            <a:pPr indent="0" marL="0">
              <a:buNone/>
            </a:pPr>
            <a:r>
              <a:rPr lang="en-US" sz="1900" dirty="0">
                <a:solidFill>
                  <a:srgbClr val="003A63"/>
                </a:solidFill>
                <a:latin typeface="Aptos" pitchFamily="34" charset="0"/>
                <a:ea typeface="Aptos" pitchFamily="34" charset="-122"/>
                <a:cs typeface="Aptos" pitchFamily="34" charset="-120"/>
              </a:rPr>
              <a:t>• Play 11: Build and Deploy AI Solutions - This lesson informs Play 11 by.</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2: Readiness Assessment - This lesson informs Play 2 by helping.</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3: Establish AI Governance - This lesson informs Play 3 by helping.</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1: Vision &amp; Guardrails - This lesson informs Play 1 by helping learners.</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4533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the lesson</a:t>
            </a:r>
            <a:endParaRPr lang="en-US" sz="1220" dirty="0"/>
          </a:p>
        </p:txBody>
      </p:sp>
      <p:sp>
        <p:nvSpPr>
          <p:cNvPr id="12" name="Text 10"/>
          <p:cNvSpPr/>
          <p:nvPr/>
        </p:nvSpPr>
        <p:spPr>
          <a:xfrm>
            <a:off x="8211312" y="1856232"/>
            <a:ext cx="2734056" cy="159105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related plays to identify decisions, participants, timing, approvals,.</a:t>
            </a:r>
            <a:endParaRPr lang="en-US" sz="122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2277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Use the play links to</a:t>
            </a:r>
            <a:endParaRPr lang="en-US" sz="1220" dirty="0"/>
          </a:p>
        </p:txBody>
      </p:sp>
      <p:sp>
        <p:nvSpPr>
          <p:cNvPr id="15" name="Text 13"/>
          <p:cNvSpPr/>
          <p:nvPr/>
        </p:nvSpPr>
        <p:spPr>
          <a:xfrm>
            <a:off x="8229600" y="4251960"/>
            <a:ext cx="2679192" cy="103327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Locate the decision point in the playbook sequence.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Identify who should participate in the work.</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Document the review, approval, or implementation.</a:t>
            </a:r>
            <a:endParaRPr lang="en-US" sz="114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Cloud, Containers, and Secure Deployment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1016" tIns="1016" rIns="1016" bIns="1016" rtlCol="0" anchor="t">
            <a:normAutofit/>
          </a:bodyPr>
          <a:lstStyle/>
          <a:p>
            <a:pPr indent="0" marL="0">
              <a:buNone/>
            </a:pPr>
            <a:r>
              <a:rPr lang="en-US" sz="1850" dirty="0">
                <a:solidFill>
                  <a:srgbClr val="003A63"/>
                </a:solidFill>
                <a:latin typeface="Aptos" pitchFamily="34" charset="0"/>
                <a:ea typeface="Aptos" pitchFamily="34" charset="-122"/>
                <a:cs typeface="Aptos" pitchFamily="34" charset="-120"/>
              </a:rPr>
              <a:t>• Tool 4: AI Policy Landscape Scan (Worksheet) - Use AI Policy Landscape Scan.</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5: AI Environmental and Resource Impact Review (Checklist) - Use this.</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6: Human-Centered AI Decision Rule Checklist (Checklist) - Use.</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8: AI Project Charter (Planning) - Use AI Project Charter to translate.</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4533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Use the tools</a:t>
            </a:r>
            <a:endParaRPr lang="en-US" sz="1220" dirty="0"/>
          </a:p>
        </p:txBody>
      </p:sp>
      <p:sp>
        <p:nvSpPr>
          <p:cNvPr id="12" name="Text 10"/>
          <p:cNvSpPr/>
          <p:nvPr/>
        </p:nvSpPr>
        <p:spPr>
          <a:xfrm>
            <a:off x="8211312" y="1856232"/>
            <a:ext cx="2734056" cy="159105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linked tools when your department needs a structured worksheet, template,.</a:t>
            </a:r>
            <a:endParaRPr lang="en-US" sz="122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2277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Tool selection cues</a:t>
            </a:r>
            <a:endParaRPr lang="en-US" sz="1220" dirty="0"/>
          </a:p>
        </p:txBody>
      </p:sp>
      <p:sp>
        <p:nvSpPr>
          <p:cNvPr id="15" name="Text 13"/>
          <p:cNvSpPr/>
          <p:nvPr/>
        </p:nvSpPr>
        <p:spPr>
          <a:xfrm>
            <a:off x="8229600" y="4251960"/>
            <a:ext cx="2679192" cy="103327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Use a tool when no comparable local process exists.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Adapt existing department templates when they.</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Save the completed artifact as evidence of the.</a:t>
            </a:r>
            <a:endParaRPr lang="en-US" sz="114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Cloud, Containers, and Secure Deployment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Explain the purpose of cloud, containers, and secure deployment basics in.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Identify the technical, operational, privacy, security, equity, and.</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Apply the topic to a real or realistic public health workflow, system, or.</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Practice focus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Explain the purpose of cloud, containers, and secure deployment basics in public.</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Identify the technical, operational, privacy,.</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Recognize common failure modes that can affect.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Identify practical guardrails that should be.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produce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Cloud, Containers, and Secure Deployment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Produce a secure deployment readiness worksheet that can support readiness.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Practice focus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Produce a secure deployment readiness worksheet that can support readiness.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Produce a secure deployment readiness worksheet.</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produce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Cloud, Containers, and Secure Deployment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Many AI tools are deployed in cloud environments or packaged in containers.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Public health staff do not need to become cloud engineers, but they need.</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This module connects deployment choices to public health continuity,.</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Many AI tools are deployed in cloud environments or packaged in containers that.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Many AI tools are deployed in cloud environments.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Public health staff do not need to become cloud.</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This module connects deployment choices to public.</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Cloud, Containers, and Secure Deployment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This national-level module is intended for training and planning purposes.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It does not replace legal, privacy, procurement, civil rights, records, or.</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Learners should confirm applicable requirements in their own jurisdiction.</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This national-level module is intended for training and planning purposes.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Governance pathway</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Submit</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Review</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Oversee</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A proposed AI use should move through documented review before it.</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Translate this concept into clear decision rights, review steps, documentation.</a:t>
            </a:r>
            <a:endParaRPr lang="en-US" sz="12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Cloud, Containers, and Secure Deployment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Cloud, Containers, and Secure Deployment Basics matters because AI systems.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topic affects whether AI outputs are accurate, explainable, safe,.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Agencies that ignore this area may create tools that work in a demonstration.</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Cloud, Containers, and Secure Deployment Basics matters because AI systems are.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Cloud, Containers, and Secure Deployment Basics.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topic also affects accountability.</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Public health agencies must be able to explain how.</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Cloud, Containers, and Secure Deployment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Core Concepts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Cloud computing provides remote infrastructure, platforms, and services that.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Cloud deployment can improve scalability and resilience, but only when.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Containers package software and its dependencies so that it can run.</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Cloud computing provides remote infrastructure, platforms, and services that can.</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Cloud computing provides remote infrastructure,.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Cloud deployment can improve scalability and.</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Containers can improve reproducibility and.</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Cloud, Containers, and Secure Deployment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 public health agency may deploy an internal RAG assistant in a cloud.</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tool may be low risk if it uses public documents, but it becomes higher.</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Secure deployment requires access controls, document-level permissions,.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 public health agency may deploy an internal RAG assistant in a cloud.</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A public health agency may deploy an internal RAG.</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tool may be low risk if it uses public.</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Secure deployment requires access controls,.</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Cloud, Containers, and Secure Deployment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Deep Dive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Secure deployment begins with environment separation.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Development, testing, staging, and production environments should be clearly.</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Sensitive production data should not be copied into lower environments.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Secure deployment begins with environment separation.</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Development, testing, staging, and production.</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Sensitive production data should not be copied.</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Logging and monitoring are central to deployment.</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Cloud, Containers, and Secure Deployment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 common failure mode is treating the topic as a technical detail rather.</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When staff do not connect technical decisions to authority, workflow,.</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Another risk is relying on vendor claims without agency-defined evidence.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Risk check</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 common failure mode is treating the topic as a technical detail rather than a.</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Risk control loop</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Identify</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Control</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Monitor</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Responsible use depends on finding risks early, applying safeguards,.</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Safeguard to plan</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Identify what could go wrong, who could be affected, what safeguards are needed,.</a:t>
            </a:r>
            <a:endParaRPr lang="en-US" sz="12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Cloud, Containers, and Secure Deployment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Generative AI, predictive analytics, RAG, automation, and agentic workflows.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controls should be scaled to the risk of the use case.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 tool that drafts internal training text may require lighter review than a.</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Generative AI, predictive analytics, RAG, automation, and agentic workflows all.</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Implementation path</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Need</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Build</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Adopt</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Implementation work should make dependencies, approvals, training, and.</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Cloud, Containers, and Secure Deployment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Where does this topic appear in one current or proposed AI workflow in your.</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What decisions, data sources, users, or partners would be affected if this.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What evidence would governance reviewers need before approving the workflow?</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Where does this topic appear in one current or proposed AI workflow in your.</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Where does this topic appear in one current or.</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What decisions, data sources, users, or partners.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What evidence would governance reviewers need.</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Cloud, Containers, and Secure Deployment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Which safeguards should be required before pilot testing?</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Who owns ongoing monitoring and review?</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Which safeguards should be required before pilot testing?</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Which safeguards should be required before pilot.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Who owns ongoing monitoring and review?</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Cloud, Containers, and Secure Deployment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Create a secure deployment readiness worksheet for one real or realistic.</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artifact should describe the use case, affected users, data sources,.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exercise should produce a work product that could be used in a.</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Practice focus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Create a secure deployment readiness worksheet for one real or realistic public.</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The artifact should describe the use case,.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exercise should produce a work product that.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Learners should document assumptions and identify.</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produce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Cloud, Containers, and Secure Deployment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The expected artifact is a completed secure deployment readiness worksheet.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It should be specific to a public health workflow and should include.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The expected artifact is a completed secure deployment readiness worksheet.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The expected artifact is a completed secure.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It should be specific to a public health workflow.</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Cloud, Containers, and Secure Deployment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The expected artifact is a completed secure deployment readiness worksheet..</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Practice focus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The expected artifact is a completed secure deployment readiness worksheet. It.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The expected artifact is a completed secure.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It should be specific to a public health workflow.</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produce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Cloud, Containers, and Secure Deployment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1. What is the best reason to address cloud, containers, and secure.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2. Which practice best supports responsible implementation?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3. Which statement best describes a common failure mode?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Practice focus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1. What is the best reason to address cloud, containers, and secure deployment.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1.</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What is the best reason to address cloud,.</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2.</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produce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Cloud, Containers, and Secure Deployment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NIST AI Risk Management Framework:.</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NIST Cybersecurity Framework and cloud security guidance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NIST Generative AI Profile:.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NIST AI Risk Management Framework:.</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CDC Public Health Data Strategy and Data.</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OWASP Top 10 for LLM Applications, when security.</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Cloud, Containers, and Secure Deployment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Agency privacy, cybersecurity, data governance, procurement, and records.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Agency privacy, cybersecurity, data governance, procurement, and records.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Agency privacy, cybersecurity, data governance,.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Cloud, Containers, and Secure Deployment Basics</dc:title>
  <dc:subject>Cloud, Containers, and Secure Deployment Basics learning module</dc:subject>
  <dc:creator>Paula Soper</dc:creator>
  <cp:lastModifiedBy>Paula Soper</cp:lastModifiedBy>
  <cp:revision>1</cp:revision>
  <dcterms:created xsi:type="dcterms:W3CDTF">2026-07-13T03:02:46Z</dcterms:created>
  <dcterms:modified xsi:type="dcterms:W3CDTF">2026-07-13T03:02:46Z</dcterms:modified>
</cp:coreProperties>
</file>