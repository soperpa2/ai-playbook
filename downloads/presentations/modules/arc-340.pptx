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340 Public Health System Integration Patterns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technical-architecture, operations-data-quality, program-management, governance-security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system integration is central to AI readiness in public health.
Distinguish among common integration patterns such as point-to-point interfaces, APIs, message brokers, interface engines, event queues, and bulk exchange.
Identify the systems of record, upstream sources, downstream systems, and shared services involved in an AI-supported workflow.
Assess whether a proposed AI tool requires read-only access, write-back access, embedded workflow integration, or manual review.
Identify integration risks related to reliability, duplicate entry, routing errors, privacy, security, and vendor lock-in.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integration pattern worksheet for a public health AI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Integration pattern: A reusable approach for connecting systems, services, data flows, and workflows.
Interface engine: Software that routes, transforms, validates, and monitors messages between systems.
Message broker: A service that allows systems to send and receive messages through a managed queue or topic.
Bulk data exchange: The transfer of large datasets at scheduled intervals or on demand.
Write-back: A system action that updates, creates, or changes information in another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Integration decisions determine whether AI becomes part of a reliable public health workflow or an isolated tool that adds burden. If staff must copy and paste sensitive information between systems, the AI tool may appear helpful while increasing privacy risk, documentation gaps, and error rates. If an AI service writes back to a system of record without appropriate controls, a technical integration can become an operational safety risk.
Public health agencies often operate in mixed environments that include legacy surveillance systems, modern cloud platforms, external partners, interface engines, spreadsheets, portals, and vendor-hosted tools. AI implementation requires teams to make these environments visible and decide where automation belongs. A well-integrated workflow preserves accountability by defining what data are exchanged, what actions are allowed, what is logged, and what humans must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assistant to summarize incoming case reports and create follow-up tasks for investigators. A weak integration pattern would require staff to export case data, paste it into an external tool, copy the summary, and manually create a task. A stronger pattern would retrieve approved fields from the surveillance system, generate a draft summary inside the authorized workflow, and require the investigator to approve any task creation.
The technical design matters because the AI tool is no longer just generating text. It is interacting with operational systems. The agency must decide whether the tool is read-only, whether it can create draft tasks, whether it can update the case record, and how the system logs each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Point-to-point interfaces connect two systems directly. They can be useful when the exchange is stable and narrow, but they become difficult to maintain as the number of systems increases. In public health, too many point-to-point connections can create brittle architecture, inconsistent validation, and high maintenance burden.
Interface engines and message brokers support more scalable exchange. Interface engines are common in health data exchange because they can transform messages, route them, validate required fields, and provide monitoring. Message brokers and event queues are useful when workflows are triggered by events, such as receipt of a lab result or creation of a new case. AI tools that depend on timely data may need these patterns to avoid polling, manual refreshes, or delayed processing.
APIs are increasingly important because they allow systems to request data or services in a more modular way. FHIR APIs can support structured access to clinical information, while internal APIs may expose surveillance, laboratory, or operational data to approved applications. API-based integration requires careful attention to authentication, authorization, rate limits, payload design, error handling, and audit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integration by workaround. Staff may use manual exports, screenshots, shared drives, or copy-and-paste workflows when a tool is not properly integrated. These practices can create privacy risk, version confusion, and gaps in the official record. A guardrail is to require integration review before operational use and to document whether manual transfer of sensitive data is prohibited.
Another failure mode is uncontrolled write-back. If an AI tool can update a record, create a task, send a message, or change a status, the agency must define approval points, rollback procedures, and audit logs. The guardrail is to separate draft support from final action unless the workflow has been approved for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require integration with document repositories or systems of record so outputs can be grounded in approved content. Predictive models may require scheduled data feeds and monitoring dashboards. Agentic workflows require the strongest integration controls because they may call tools, access data, create tasks, or trigger notifications. For each AI use case, the integration pattern should match the sensitivity and operational consequence of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currently depend on manual transfer between systems?
Which systems are the official systems of record?
Where would API access reduce burden without increasing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actions should remain read-only?
What logs would be needed to reconstruct an AI-supported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integration pattern worksheet for one AI-supported workflow. Identify the systems involved, the data exchanged, the integration method, whether the AI tool is read-only or write-back, the human approval point, and the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Integration pattern worksheet
System-of-record and source-system list
Read/write permission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Error handling and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Integration pattern worksheet
System-of-record and source-system list
Read/write permission recommendation
Error handling and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integration risk is most concerning for an AI tool that can update a case record?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System Integration Patterns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rarely succeeds as a stand-alone application.</a:t>
            </a:r>
            <a:endParaRPr lang="en-US" sz="2100" dirty="0"/>
          </a:p>
          <a:p>
            <a:r>
              <a:rPr lang="en-US" sz="2100" dirty="0">
                <a:solidFill>
                  <a:srgbClr val="17364A"/>
                </a:solidFill>
                <a:latin typeface="Aptos" pitchFamily="34" charset="0"/>
                <a:ea typeface="Aptos" pitchFamily="34" charset="-122"/>
                <a:cs typeface="Aptos" pitchFamily="34" charset="-120"/>
              </a:rPr>
              <a:t>The value of an AI-supported workflow depends on how well it is integrated with systems of record, data exchange.</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understand the integration patterns that allow AI to support public health work.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 operations-data-quality, program-management,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2100" dirty="0"/>
          </a:p>
          <a:p>
            <a:r>
              <a:rPr lang="en-US" sz="2100" dirty="0">
                <a:solidFill>
                  <a:srgbClr val="17364A"/>
                </a:solidFill>
                <a:latin typeface="Aptos" pitchFamily="34" charset="0"/>
                <a:ea typeface="Aptos" pitchFamily="34" charset="-122"/>
                <a:cs typeface="Aptos" pitchFamily="34" charset="-120"/>
              </a:rPr>
              <a:t>Distinguish among common integration patterns such as point-to-point interfaces, APIs, message brokers,.</a:t>
            </a:r>
            <a:endParaRPr lang="en-US" sz="2100" dirty="0"/>
          </a:p>
          <a:p>
            <a:r>
              <a:rPr lang="en-US" sz="2100" dirty="0">
                <a:solidFill>
                  <a:srgbClr val="17364A"/>
                </a:solidFill>
                <a:latin typeface="Aptos" pitchFamily="34" charset="0"/>
                <a:ea typeface="Aptos" pitchFamily="34" charset="-122"/>
                <a:cs typeface="Aptos" pitchFamily="34" charset="-120"/>
              </a:rPr>
              <a:t>Identify the systems of record, upstream sources, downstream systems, and shared services involved in.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rarely succeeds as a stand-alone application.</a:t>
            </a:r>
            <a:endParaRPr lang="en-US" sz="2100" dirty="0"/>
          </a:p>
          <a:p>
            <a:r>
              <a:rPr lang="en-US" sz="2100" dirty="0">
                <a:solidFill>
                  <a:srgbClr val="17364A"/>
                </a:solidFill>
                <a:latin typeface="Aptos" pitchFamily="34" charset="0"/>
                <a:ea typeface="Aptos" pitchFamily="34" charset="-122"/>
                <a:cs typeface="Aptos" pitchFamily="34" charset="-120"/>
              </a:rPr>
              <a:t>The value of an AI-supported workflow depends on how well it is integrated with systems of record, data.</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understand the integration patterns that allow AI to support public health.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rarely succeeds as a stand-alone application.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Integration pattern: A reusable approach for connecting systems, services, data flows, and workflows.</a:t>
            </a:r>
            <a:endParaRPr lang="en-US" sz="2100" dirty="0"/>
          </a:p>
          <a:p>
            <a:r>
              <a:rPr lang="en-US" sz="2100" dirty="0">
                <a:solidFill>
                  <a:srgbClr val="17364A"/>
                </a:solidFill>
                <a:latin typeface="Aptos" pitchFamily="34" charset="0"/>
                <a:ea typeface="Aptos" pitchFamily="34" charset="-122"/>
                <a:cs typeface="Aptos" pitchFamily="34" charset="-120"/>
              </a:rPr>
              <a:t>Interface engine: Software that routes, transforms, validates, and monitors messages between systems.</a:t>
            </a:r>
            <a:endParaRPr lang="en-US" sz="2100" dirty="0"/>
          </a:p>
          <a:p>
            <a:r>
              <a:rPr lang="en-US" sz="2100" dirty="0">
                <a:solidFill>
                  <a:srgbClr val="17364A"/>
                </a:solidFill>
                <a:latin typeface="Aptos" pitchFamily="34" charset="0"/>
                <a:ea typeface="Aptos" pitchFamily="34" charset="-122"/>
                <a:cs typeface="Aptos" pitchFamily="34" charset="-120"/>
              </a:rPr>
              <a:t>Message broker: A service that allows systems to send and receive messages through a managed queue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Integration pattern: A reusable approach for connecting systems, services, data flows, and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Integration decisions determine whether AI becomes part of a reliable public health workflow or an.</a:t>
            </a:r>
            <a:endParaRPr lang="en-US" sz="2100" dirty="0"/>
          </a:p>
          <a:p>
            <a:r>
              <a:rPr lang="en-US" sz="2100" dirty="0">
                <a:solidFill>
                  <a:srgbClr val="17364A"/>
                </a:solidFill>
                <a:latin typeface="Aptos" pitchFamily="34" charset="0"/>
                <a:ea typeface="Aptos" pitchFamily="34" charset="-122"/>
                <a:cs typeface="Aptos" pitchFamily="34" charset="-120"/>
              </a:rPr>
              <a:t>If staff must copy and paste sensitive information between systems, the AI tool may appear helpful.</a:t>
            </a:r>
            <a:endParaRPr lang="en-US" sz="2100" dirty="0"/>
          </a:p>
          <a:p>
            <a:r>
              <a:rPr lang="en-US" sz="2100" dirty="0">
                <a:solidFill>
                  <a:srgbClr val="17364A"/>
                </a:solidFill>
                <a:latin typeface="Aptos" pitchFamily="34" charset="0"/>
                <a:ea typeface="Aptos" pitchFamily="34" charset="-122"/>
                <a:cs typeface="Aptos" pitchFamily="34" charset="-120"/>
              </a:rPr>
              <a:t>If an AI service writes back to a system of record without appropriate controls, a technical.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Integration decisions determine whether AI becomes part of a reliable public health workflow or 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want an AI assistant to summarize incoming case reports and create follow-up.</a:t>
            </a:r>
            <a:endParaRPr lang="en-US" sz="2100" dirty="0"/>
          </a:p>
          <a:p>
            <a:r>
              <a:rPr lang="en-US" sz="2100" dirty="0">
                <a:solidFill>
                  <a:srgbClr val="17364A"/>
                </a:solidFill>
                <a:latin typeface="Aptos" pitchFamily="34" charset="0"/>
                <a:ea typeface="Aptos" pitchFamily="34" charset="-122"/>
                <a:cs typeface="Aptos" pitchFamily="34" charset="-120"/>
              </a:rPr>
              <a:t>A weak integration pattern would require staff to export case data, paste it into an external tool,.</a:t>
            </a:r>
            <a:endParaRPr lang="en-US" sz="2100" dirty="0"/>
          </a:p>
          <a:p>
            <a:r>
              <a:rPr lang="en-US" sz="2100" dirty="0">
                <a:solidFill>
                  <a:srgbClr val="17364A"/>
                </a:solidFill>
                <a:latin typeface="Aptos" pitchFamily="34" charset="0"/>
                <a:ea typeface="Aptos" pitchFamily="34" charset="-122"/>
                <a:cs typeface="Aptos" pitchFamily="34" charset="-120"/>
              </a:rPr>
              <a:t>A stronger pattern would retrieve approved fields from the surveillance system, generate a draft.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want an AI assistant to summarize incoming case reports and create follow-up.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Point-to-point interfaces connect two systems directly.</a:t>
            </a:r>
            <a:endParaRPr lang="en-US" sz="2100" dirty="0"/>
          </a:p>
          <a:p>
            <a:r>
              <a:rPr lang="en-US" sz="2100" dirty="0">
                <a:solidFill>
                  <a:srgbClr val="17364A"/>
                </a:solidFill>
                <a:latin typeface="Aptos" pitchFamily="34" charset="0"/>
                <a:ea typeface="Aptos" pitchFamily="34" charset="-122"/>
                <a:cs typeface="Aptos" pitchFamily="34" charset="-120"/>
              </a:rPr>
              <a:t>They can be useful when the exchange is stable and narrow, but they become difficult to maintain as the.</a:t>
            </a:r>
            <a:endParaRPr lang="en-US" sz="2100" dirty="0"/>
          </a:p>
          <a:p>
            <a:r>
              <a:rPr lang="en-US" sz="2100" dirty="0">
                <a:solidFill>
                  <a:srgbClr val="17364A"/>
                </a:solidFill>
                <a:latin typeface="Aptos" pitchFamily="34" charset="0"/>
                <a:ea typeface="Aptos" pitchFamily="34" charset="-122"/>
                <a:cs typeface="Aptos" pitchFamily="34" charset="-120"/>
              </a:rPr>
              <a:t>In public health, too many point-to-point connections can create brittle architecture, inconsistent.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Point-to-point interfaces connect two systems directly.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integration by workaround.</a:t>
            </a:r>
            <a:endParaRPr lang="en-US" sz="2100" dirty="0"/>
          </a:p>
          <a:p>
            <a:r>
              <a:rPr lang="en-US" sz="2100" dirty="0">
                <a:solidFill>
                  <a:srgbClr val="17364A"/>
                </a:solidFill>
                <a:latin typeface="Aptos" pitchFamily="34" charset="0"/>
                <a:ea typeface="Aptos" pitchFamily="34" charset="-122"/>
                <a:cs typeface="Aptos" pitchFamily="34" charset="-120"/>
              </a:rPr>
              <a:t>Staff may use manual exports, screenshots, shared drives, or copy-and-paste workflows when a tool is.</a:t>
            </a:r>
            <a:endParaRPr lang="en-US" sz="2100" dirty="0"/>
          </a:p>
          <a:p>
            <a:r>
              <a:rPr lang="en-US" sz="2100" dirty="0">
                <a:solidFill>
                  <a:srgbClr val="17364A"/>
                </a:solidFill>
                <a:latin typeface="Aptos" pitchFamily="34" charset="0"/>
                <a:ea typeface="Aptos" pitchFamily="34" charset="-122"/>
                <a:cs typeface="Aptos" pitchFamily="34" charset="-120"/>
              </a:rPr>
              <a:t>These practices can create privacy risk, version confusion, and gaps in the official record.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integration by workaround.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require integration with document repositories or systems of record so outputs can be.</a:t>
            </a:r>
            <a:endParaRPr lang="en-US" sz="2100" dirty="0"/>
          </a:p>
          <a:p>
            <a:r>
              <a:rPr lang="en-US" sz="2100" dirty="0">
                <a:solidFill>
                  <a:srgbClr val="17364A"/>
                </a:solidFill>
                <a:latin typeface="Aptos" pitchFamily="34" charset="0"/>
                <a:ea typeface="Aptos" pitchFamily="34" charset="-122"/>
                <a:cs typeface="Aptos" pitchFamily="34" charset="-120"/>
              </a:rPr>
              <a:t>Predictive models may require scheduled data feeds and monitoring dashboards.</a:t>
            </a:r>
            <a:endParaRPr lang="en-US" sz="2100" dirty="0"/>
          </a:p>
          <a:p>
            <a:r>
              <a:rPr lang="en-US" sz="2100" dirty="0">
                <a:solidFill>
                  <a:srgbClr val="17364A"/>
                </a:solidFill>
                <a:latin typeface="Aptos" pitchFamily="34" charset="0"/>
                <a:ea typeface="Aptos" pitchFamily="34" charset="-122"/>
                <a:cs typeface="Aptos" pitchFamily="34" charset="-120"/>
              </a:rPr>
              <a:t>Agentic workflows require the strongest integration controls because they may call tools, access data,.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require integration with document repositories or systems of record so outputs can be.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2100" dirty="0"/>
          </a:p>
          <a:p>
            <a:r>
              <a:rPr lang="en-US" sz="2100" dirty="0">
                <a:solidFill>
                  <a:srgbClr val="17364A"/>
                </a:solidFill>
                <a:latin typeface="Aptos" pitchFamily="34" charset="0"/>
                <a:ea typeface="Aptos" pitchFamily="34" charset="-122"/>
                <a:cs typeface="Aptos" pitchFamily="34" charset="-120"/>
              </a:rPr>
              <a:t>Which systems are the official systems of record?</a:t>
            </a:r>
            <a:endParaRPr lang="en-US" sz="2100" dirty="0"/>
          </a:p>
          <a:p>
            <a:r>
              <a:rPr lang="en-US" sz="2100" dirty="0">
                <a:solidFill>
                  <a:srgbClr val="17364A"/>
                </a:solidFill>
                <a:latin typeface="Aptos" pitchFamily="34" charset="0"/>
                <a:ea typeface="Aptos" pitchFamily="34" charset="-122"/>
                <a:cs typeface="Aptos" pitchFamily="34" charset="-120"/>
              </a:rPr>
              <a:t>Where would API access reduce burden without increasing risk?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actions should remain read-only?</a:t>
            </a:r>
            <a:endParaRPr lang="en-US" sz="2100" dirty="0"/>
          </a:p>
          <a:p>
            <a:r>
              <a:rPr lang="en-US" sz="2100" dirty="0">
                <a:solidFill>
                  <a:srgbClr val="17364A"/>
                </a:solidFill>
                <a:latin typeface="Aptos" pitchFamily="34" charset="0"/>
                <a:ea typeface="Aptos" pitchFamily="34" charset="-122"/>
                <a:cs typeface="Aptos" pitchFamily="34" charset="-120"/>
              </a:rPr>
              <a:t>What logs would be needed to reconstruct an AI-supported action?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actions should remain read-only?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Identify the systems involved, the data exchanged, the integration method, whether the AI tool is.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Integration pattern worksheet</a:t>
            </a:r>
            <a:endParaRPr lang="en-US" sz="2100" dirty="0"/>
          </a:p>
          <a:p>
            <a:r>
              <a:rPr lang="en-US" sz="2100" dirty="0">
                <a:solidFill>
                  <a:srgbClr val="17364A"/>
                </a:solidFill>
                <a:latin typeface="Aptos" pitchFamily="34" charset="0"/>
                <a:ea typeface="Aptos" pitchFamily="34" charset="-122"/>
                <a:cs typeface="Aptos" pitchFamily="34" charset="-120"/>
              </a:rPr>
              <a:t>System-of-record and source-system list</a:t>
            </a:r>
            <a:endParaRPr lang="en-US" sz="2100" dirty="0"/>
          </a:p>
          <a:p>
            <a:r>
              <a:rPr lang="en-US" sz="2100" dirty="0">
                <a:solidFill>
                  <a:srgbClr val="17364A"/>
                </a:solidFill>
                <a:latin typeface="Aptos" pitchFamily="34" charset="0"/>
                <a:ea typeface="Aptos" pitchFamily="34" charset="-122"/>
                <a:cs typeface="Aptos" pitchFamily="34" charset="-120"/>
              </a:rPr>
              <a:t>Read/write permission recommendation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Integration pattern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Error handling and audit log requirements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Error handling and audit log requirements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Integration pattern worksheet</a:t>
            </a:r>
            <a:endParaRPr lang="en-US" sz="2100" dirty="0"/>
          </a:p>
          <a:p>
            <a:r>
              <a:rPr lang="en-US" sz="2100" dirty="0">
                <a:solidFill>
                  <a:srgbClr val="17364A"/>
                </a:solidFill>
                <a:latin typeface="Aptos" pitchFamily="34" charset="0"/>
                <a:ea typeface="Aptos" pitchFamily="34" charset="-122"/>
                <a:cs typeface="Aptos" pitchFamily="34" charset="-120"/>
              </a:rPr>
              <a:t>System-of-record and source-system list</a:t>
            </a:r>
            <a:endParaRPr lang="en-US" sz="2100" dirty="0"/>
          </a:p>
          <a:p>
            <a:r>
              <a:rPr lang="en-US" sz="2100" dirty="0">
                <a:solidFill>
                  <a:srgbClr val="17364A"/>
                </a:solidFill>
                <a:latin typeface="Aptos" pitchFamily="34" charset="0"/>
                <a:ea typeface="Aptos" pitchFamily="34" charset="-122"/>
                <a:cs typeface="Aptos" pitchFamily="34" charset="-120"/>
              </a:rPr>
              <a:t>Read/write permission recommendation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Integration pattern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integration risk is most concerning for an AI tool that can update a case record?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integration risk is most concerning for an AI tool that can update a case record?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System Integration Patterns</dc:title>
  <dc:subject>Public Health System Integration Patterns learning module</dc:subject>
  <dc:creator>Paula Soper</dc:creator>
  <cp:lastModifiedBy>Paula Soper</cp:lastModifiedBy>
  <cp:revision>1</cp:revision>
  <dcterms:created xsi:type="dcterms:W3CDTF">2026-07-12T20:15:59Z</dcterms:created>
  <dcterms:modified xsi:type="dcterms:W3CDTF">2026-07-12T20:15:59Z</dcterms:modified>
</cp:coreProperties>
</file>