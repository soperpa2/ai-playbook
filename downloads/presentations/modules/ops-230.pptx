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2100" dirty="0"/>
          </a:p>
          <a:p>
            <a:r>
              <a:rPr lang="en-US" sz="21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 reviewing,.</a:t>
            </a:r>
            <a:endParaRPr lang="en-US" sz="2100" dirty="0"/>
          </a:p>
          <a:p>
            <a:r>
              <a:rPr lang="en-US" sz="21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 communications,.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operations-and-data-quality, program-management, governance-and-security, epidemiology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2100" dirty="0"/>
          </a:p>
          <a:p>
            <a:r>
              <a:rPr lang="en-US" sz="2100" dirty="0">
                <a:solidFill>
                  <a:srgbClr val="17364A"/>
                </a:solidFill>
                <a:latin typeface="Aptos" pitchFamily="34" charset="0"/>
                <a:ea typeface="Aptos" pitchFamily="34" charset="-122"/>
                <a:cs typeface="Aptos" pitchFamily="34" charset="-120"/>
              </a:rPr>
              <a:t>Identify the core elements of an AI workflow SOP.</a:t>
            </a:r>
            <a:endParaRPr lang="en-US" sz="2100" dirty="0"/>
          </a:p>
          <a:p>
            <a:r>
              <a:rPr lang="en-US" sz="2100" dirty="0">
                <a:solidFill>
                  <a:srgbClr val="17364A"/>
                </a:solidFill>
                <a:latin typeface="Aptos" pitchFamily="34" charset="0"/>
                <a:ea typeface="Aptos" pitchFamily="34" charset="-122"/>
                <a:cs typeface="Aptos" pitchFamily="34" charset="-120"/>
              </a:rPr>
              <a:t>Define human review, documentation, override, escalation, and fallback expectations.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between acceptable and prohibited uses within a specific AI workflow.</a:t>
            </a:r>
            <a:endParaRPr lang="en-US" sz="1380" dirty="0"/>
          </a:p>
          <a:p>
            <a:r>
              <a:rPr lang="en-US" sz="1380" dirty="0">
                <a:solidFill>
                  <a:srgbClr val="17364A"/>
                </a:solidFill>
                <a:latin typeface="Aptos" pitchFamily="34" charset="0"/>
                <a:ea typeface="Aptos" pitchFamily="34" charset="-122"/>
                <a:cs typeface="Aptos" pitchFamily="34" charset="-120"/>
              </a:rPr>
              <a:t>Produce a draft AI workflow SOP for a public health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2100" dirty="0"/>
          </a:p>
          <a:p>
            <a:r>
              <a:rPr lang="en-US" sz="21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a:t>
            </a:r>
            <a:endParaRPr lang="en-US" sz="2100" dirty="0"/>
          </a:p>
          <a:p>
            <a:r>
              <a:rPr lang="en-US" sz="21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describes how staff should use an approved AI-supported workflow, what they are.</a:t>
            </a:r>
            <a:endParaRPr lang="en-US" sz="1380" dirty="0"/>
          </a:p>
          <a:p>
            <a:r>
              <a:rPr lang="en-US" sz="1380" dirty="0">
                <a:solidFill>
                  <a:srgbClr val="17364A"/>
                </a:solidFill>
                <a:latin typeface="Aptos" pitchFamily="34" charset="0"/>
                <a:ea typeface="Aptos" pitchFamily="34" charset="-122"/>
                <a:cs typeface="Aptos" pitchFamily="34" charset="-120"/>
              </a:rPr>
              <a:t>In public health, SOPs are especially important because AI outputs may influence.</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to create practical SOPs for AI-supported workflows.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2100" dirty="0"/>
          </a:p>
          <a:p>
            <a:r>
              <a:rPr lang="en-US" sz="2100" dirty="0">
                <a:solidFill>
                  <a:srgbClr val="17364A"/>
                </a:solidFill>
                <a:latin typeface="Aptos" pitchFamily="34" charset="0"/>
                <a:ea typeface="Aptos" pitchFamily="34" charset="-122"/>
                <a:cs typeface="Aptos" pitchFamily="34" charset="-120"/>
              </a:rPr>
              <a:t>The SOP explains which complaint types are eligible, which data fields may be used, how staff must.</a:t>
            </a:r>
            <a:endParaRPr lang="en-US" sz="2100" dirty="0"/>
          </a:p>
          <a:p>
            <a:r>
              <a:rPr lang="en-US" sz="2100" dirty="0">
                <a:solidFill>
                  <a:srgbClr val="17364A"/>
                </a:solidFill>
                <a:latin typeface="Aptos" pitchFamily="34" charset="0"/>
                <a:ea typeface="Aptos" pitchFamily="34" charset="-122"/>
                <a:cs typeface="Aptos" pitchFamily="34" charset="-120"/>
              </a:rPr>
              <a:t>The SOP also explains that the tool may not issue inspection decisions, enforcement recommendations,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SOP explains which complaint types are eligible, which data fields may be used, how.</a:t>
            </a:r>
            <a:endParaRPr lang="en-US" sz="1380" dirty="0"/>
          </a:p>
          <a:p>
            <a:r>
              <a:rPr lang="en-US" sz="1380" dirty="0">
                <a:solidFill>
                  <a:srgbClr val="17364A"/>
                </a:solidFill>
                <a:latin typeface="Aptos" pitchFamily="34" charset="0"/>
                <a:ea typeface="Aptos" pitchFamily="34" charset="-122"/>
                <a:cs typeface="Aptos" pitchFamily="34" charset="-120"/>
              </a:rPr>
              <a:t>The SOP also explains that the tool may not issue inspection decisions, enforcement.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SOP should begin with scope.</a:t>
            </a:r>
            <a:endParaRPr lang="en-US" sz="2100" dirty="0"/>
          </a:p>
          <a:p>
            <a:r>
              <a:rPr lang="en-US" sz="2100" dirty="0">
                <a:solidFill>
                  <a:srgbClr val="17364A"/>
                </a:solidFill>
                <a:latin typeface="Aptos" pitchFamily="34" charset="0"/>
                <a:ea typeface="Aptos" pitchFamily="34" charset="-122"/>
                <a:cs typeface="Aptos" pitchFamily="34" charset="-120"/>
              </a:rPr>
              <a:t>The scope explains which workflow the SOP covers, which staff roles may use the tool, which systems or.</a:t>
            </a:r>
            <a:endParaRPr lang="en-US" sz="2100" dirty="0"/>
          </a:p>
          <a:p>
            <a:r>
              <a:rPr lang="en-US" sz="2100" dirty="0">
                <a:solidFill>
                  <a:srgbClr val="17364A"/>
                </a:solidFill>
                <a:latin typeface="Aptos" pitchFamily="34" charset="0"/>
                <a:ea typeface="Aptos" pitchFamily="34" charset="-122"/>
                <a:cs typeface="Aptos" pitchFamily="34" charset="-120"/>
              </a:rPr>
              <a:t>Scope is important because many AI tools can technically perform more tasks than the agency has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SOP should begin with scope.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scope explains which workflow the SOP covers, which staff roles may use the tool,.</a:t>
            </a:r>
            <a:endParaRPr lang="en-US" sz="1380" dirty="0"/>
          </a:p>
          <a:p>
            <a:r>
              <a:rPr lang="en-US" sz="1380" dirty="0">
                <a:solidFill>
                  <a:srgbClr val="17364A"/>
                </a:solidFill>
                <a:latin typeface="Aptos" pitchFamily="34" charset="0"/>
                <a:ea typeface="Aptos" pitchFamily="34" charset="-122"/>
                <a:cs typeface="Aptos" pitchFamily="34" charset="-120"/>
              </a:rPr>
              <a:t>A clear scope prevents an approved tool from drifting into unapproved uses.</a:t>
            </a:r>
            <a:endParaRPr lang="en-US" sz="1380" dirty="0"/>
          </a:p>
          <a:p>
            <a:r>
              <a:rPr lang="en-US" sz="1380" dirty="0">
                <a:solidFill>
                  <a:srgbClr val="17364A"/>
                </a:solidFill>
                <a:latin typeface="Aptos" pitchFamily="34" charset="0"/>
                <a:ea typeface="Aptos" pitchFamily="34" charset="-122"/>
                <a:cs typeface="Aptos" pitchFamily="34" charset="-120"/>
              </a:rPr>
              <a:t>The SOP should define the standard workflow step by step.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SOPs should be maintained as living documents.</a:t>
            </a:r>
            <a:endParaRPr lang="en-US" sz="2100" dirty="0"/>
          </a:p>
          <a:p>
            <a:r>
              <a:rPr lang="en-US" sz="2100" dirty="0">
                <a:solidFill>
                  <a:srgbClr val="17364A"/>
                </a:solidFill>
                <a:latin typeface="Aptos" pitchFamily="34" charset="0"/>
                <a:ea typeface="Aptos" pitchFamily="34" charset="-122"/>
                <a:cs typeface="Aptos" pitchFamily="34" charset="-120"/>
              </a:rPr>
              <a:t>AI workflows may change when policies, data feeds, models, prompts, vendors, or public health.</a:t>
            </a:r>
            <a:endParaRPr lang="en-US" sz="2100" dirty="0"/>
          </a:p>
          <a:p>
            <a:r>
              <a:rPr lang="en-US" sz="2100" dirty="0">
                <a:solidFill>
                  <a:srgbClr val="17364A"/>
                </a:solidFill>
                <a:latin typeface="Aptos" pitchFamily="34" charset="0"/>
                <a:ea typeface="Aptos" pitchFamily="34" charset="-122"/>
                <a:cs typeface="Aptos" pitchFamily="34" charset="-120"/>
              </a:rPr>
              <a:t>SOP ownership, review frequency, and change control should be documented so the procedure remains.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SOPs should be maintained as living documents.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workflows may change when policies, data feeds, models, prompts, vendors, or public.</a:t>
            </a:r>
            <a:endParaRPr lang="en-US" sz="1380" dirty="0"/>
          </a:p>
          <a:p>
            <a:r>
              <a:rPr lang="en-US" sz="1380" dirty="0">
                <a:solidFill>
                  <a:srgbClr val="17364A"/>
                </a:solidFill>
                <a:latin typeface="Aptos" pitchFamily="34" charset="0"/>
                <a:ea typeface="Aptos" pitchFamily="34" charset="-122"/>
                <a:cs typeface="Aptos" pitchFamily="34" charset="-120"/>
              </a:rPr>
              <a:t>SOP ownership, review frequency, and change control should be documented so the procedure.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Staff applying an AI tool beyond the approved workflow.</a:t>
            </a:r>
            <a:endParaRPr lang="en-US" sz="2100" dirty="0"/>
          </a:p>
          <a:p>
            <a:r>
              <a:rPr lang="en-US" sz="210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Staff applying an AI tool beyond the approved workflow.</a:t>
            </a:r>
            <a:endParaRPr lang="en-US" sz="1380" dirty="0"/>
          </a:p>
          <a:p>
            <a:r>
              <a:rPr lang="en-US" sz="138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Errors, bias concerns, or privacy issues not being escalated.</a:t>
            </a:r>
            <a:endParaRPr lang="en-US" sz="2100" dirty="0"/>
          </a:p>
          <a:p>
            <a:r>
              <a:rPr lang="en-US" sz="2100" dirty="0">
                <a:solidFill>
                  <a:srgbClr val="17364A"/>
                </a:solidFill>
                <a:latin typeface="Aptos" pitchFamily="34" charset="0"/>
                <a:ea typeface="Aptos" pitchFamily="34" charset="-122"/>
                <a:cs typeface="Aptos" pitchFamily="34" charset="-120"/>
              </a:rPr>
              <a:t>No fallback process when the tool fails or is unavailable.</a:t>
            </a:r>
            <a:endParaRPr lang="en-US" sz="2100" dirty="0"/>
          </a:p>
          <a:p>
            <a:r>
              <a:rPr lang="en-US" sz="2100" dirty="0">
                <a:solidFill>
                  <a:srgbClr val="17364A"/>
                </a:solidFill>
                <a:latin typeface="Aptos" pitchFamily="34" charset="0"/>
                <a:ea typeface="Aptos" pitchFamily="34" charset="-122"/>
                <a:cs typeface="Aptos" pitchFamily="34" charset="-120"/>
              </a:rPr>
              <a:t>Outdated SOPs that no longer match the deployed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Errors, bias concerns, or privacy issues not being escalated.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Errors, bias concerns, or privacy issues not being escalated.</a:t>
            </a:r>
            <a:endParaRPr lang="en-US" sz="1380" dirty="0"/>
          </a:p>
          <a:p>
            <a:r>
              <a:rPr lang="en-US" sz="1380" dirty="0">
                <a:solidFill>
                  <a:srgbClr val="17364A"/>
                </a:solidFill>
                <a:latin typeface="Aptos" pitchFamily="34" charset="0"/>
                <a:ea typeface="Aptos" pitchFamily="34" charset="-122"/>
                <a:cs typeface="Aptos" pitchFamily="34" charset="-120"/>
              </a:rPr>
              <a:t>No fallback process when the tool fails or is unavailable.</a:t>
            </a:r>
            <a:endParaRPr lang="en-US" sz="1380" dirty="0"/>
          </a:p>
          <a:p>
            <a:r>
              <a:rPr lang="en-US" sz="1380" dirty="0">
                <a:solidFill>
                  <a:srgbClr val="17364A"/>
                </a:solidFill>
                <a:latin typeface="Aptos" pitchFamily="34" charset="0"/>
                <a:ea typeface="Aptos" pitchFamily="34" charset="-122"/>
                <a:cs typeface="Aptos" pitchFamily="34" charset="-120"/>
              </a:rPr>
              <a:t>Outdated SOPs that no longer match the deployed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Create a workflow-specific SOP for each approved AI use.</a:t>
            </a:r>
            <a:endParaRPr lang="en-US" sz="2100" dirty="0"/>
          </a:p>
          <a:p>
            <a:r>
              <a:rPr lang="en-US" sz="2100" dirty="0">
                <a:solidFill>
                  <a:srgbClr val="17364A"/>
                </a:solidFill>
                <a:latin typeface="Aptos" pitchFamily="34" charset="0"/>
                <a:ea typeface="Aptos" pitchFamily="34" charset="-122"/>
                <a:cs typeface="Aptos" pitchFamily="34" charset="-120"/>
              </a:rPr>
              <a:t>Define allowed uses, prohibited uses, human review, and documentation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Create a workflow-specific SOP for each approved AI use.</a:t>
            </a:r>
            <a:endParaRPr lang="en-US" sz="1380" dirty="0"/>
          </a:p>
          <a:p>
            <a:r>
              <a:rPr lang="en-US" sz="1380" dirty="0">
                <a:solidFill>
                  <a:srgbClr val="17364A"/>
                </a:solidFill>
                <a:latin typeface="Aptos" pitchFamily="34" charset="0"/>
                <a:ea typeface="Aptos" pitchFamily="34" charset="-122"/>
                <a:cs typeface="Aptos" pitchFamily="34" charset="-120"/>
              </a:rPr>
              <a:t>Define allowed uses, prohibited uses, human review, and documentation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 staff training before independent use.</a:t>
            </a:r>
            <a:endParaRPr lang="en-US" sz="2100" dirty="0"/>
          </a:p>
          <a:p>
            <a:r>
              <a:rPr lang="en-US" sz="2100" dirty="0">
                <a:solidFill>
                  <a:srgbClr val="17364A"/>
                </a:solidFill>
                <a:latin typeface="Aptos" pitchFamily="34" charset="0"/>
                <a:ea typeface="Aptos" pitchFamily="34" charset="-122"/>
                <a:cs typeface="Aptos" pitchFamily="34" charset="-120"/>
              </a:rPr>
              <a:t>Include override, escalation, and fallback procedures.</a:t>
            </a:r>
            <a:endParaRPr lang="en-US" sz="2100" dirty="0"/>
          </a:p>
          <a:p>
            <a:r>
              <a:rPr lang="en-US" sz="2100" dirty="0">
                <a:solidFill>
                  <a:srgbClr val="17364A"/>
                </a:solidFill>
                <a:latin typeface="Aptos" pitchFamily="34" charset="0"/>
                <a:ea typeface="Aptos" pitchFamily="34" charset="-122"/>
                <a:cs typeface="Aptos" pitchFamily="34" charset="-120"/>
              </a:rPr>
              <a:t>Review SOPs after incidents, major updates, or policy changes.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 staff training before independent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Require staff training before independent use.</a:t>
            </a:r>
            <a:endParaRPr lang="en-US" sz="1380" dirty="0"/>
          </a:p>
          <a:p>
            <a:r>
              <a:rPr lang="en-US" sz="1380" dirty="0">
                <a:solidFill>
                  <a:srgbClr val="17364A"/>
                </a:solidFill>
                <a:latin typeface="Aptos" pitchFamily="34" charset="0"/>
                <a:ea typeface="Aptos" pitchFamily="34" charset="-122"/>
                <a:cs typeface="Aptos" pitchFamily="34" charset="-120"/>
              </a:rPr>
              <a:t>Include override, escalation, and fallback procedures.</a:t>
            </a:r>
            <a:endParaRPr lang="en-US" sz="1380" dirty="0"/>
          </a:p>
          <a:p>
            <a:r>
              <a:rPr lang="en-US" sz="1380" dirty="0">
                <a:solidFill>
                  <a:srgbClr val="17364A"/>
                </a:solidFill>
                <a:latin typeface="Aptos" pitchFamily="34" charset="0"/>
                <a:ea typeface="Aptos" pitchFamily="34" charset="-122"/>
                <a:cs typeface="Aptos" pitchFamily="34" charset="-120"/>
              </a:rPr>
              <a:t>Review SOPs after incidents, major updates, or policy changes.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SOP should include purpose, scope, roles, allowed uses, prohibited uses, step-by-step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380" dirty="0"/>
          </a:p>
          <a:p>
            <a:r>
              <a:rPr lang="en-US" sz="1380" dirty="0">
                <a:solidFill>
                  <a:srgbClr val="17364A"/>
                </a:solidFill>
                <a:latin typeface="Aptos" pitchFamily="34" charset="0"/>
                <a:ea typeface="Aptos" pitchFamily="34" charset="-122"/>
                <a:cs typeface="Aptos" pitchFamily="34" charset="-120"/>
              </a:rPr>
              <a:t>The SOP should include purpose, scope, roles, allowed uses, prohibited uses, step-by-step.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workflow SOP</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matrix</a:t>
            </a:r>
            <a:endParaRPr lang="en-US" sz="2100" dirty="0"/>
          </a:p>
          <a:p>
            <a:r>
              <a:rPr lang="en-US" sz="2100" dirty="0">
                <a:solidFill>
                  <a:srgbClr val="17364A"/>
                </a:solidFill>
                <a:latin typeface="Aptos" pitchFamily="34" charset="0"/>
                <a:ea typeface="Aptos" pitchFamily="34" charset="-122"/>
                <a:cs typeface="Aptos" pitchFamily="34" charset="-120"/>
              </a:rPr>
              <a:t>Allowed/prohibited use section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workflow SOP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Draft AI workflow SOP</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matrix</a:t>
            </a:r>
            <a:endParaRPr lang="en-US" sz="1380" dirty="0"/>
          </a:p>
          <a:p>
            <a:r>
              <a:rPr lang="en-US" sz="1380" dirty="0">
                <a:solidFill>
                  <a:srgbClr val="17364A"/>
                </a:solidFill>
                <a:latin typeface="Aptos" pitchFamily="34" charset="0"/>
                <a:ea typeface="Aptos" pitchFamily="34" charset="-122"/>
                <a:cs typeface="Aptos" pitchFamily="34" charset="-120"/>
              </a:rPr>
              <a:t>Allowed/prohibited use section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fallback process</a:t>
            </a:r>
            <a:endParaRPr lang="en-US" sz="2100" dirty="0"/>
          </a:p>
          <a:p>
            <a:r>
              <a:rPr lang="en-US" sz="2100" dirty="0">
                <a:solidFill>
                  <a:srgbClr val="17364A"/>
                </a:solidFill>
                <a:latin typeface="Aptos" pitchFamily="34" charset="0"/>
                <a:ea typeface="Aptos" pitchFamily="34" charset="-122"/>
                <a:cs typeface="Aptos" pitchFamily="34" charset="-120"/>
              </a:rPr>
              <a:t>Review and maintenance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fallback process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fallback process</a:t>
            </a:r>
            <a:endParaRPr lang="en-US" sz="1380" dirty="0"/>
          </a:p>
          <a:p>
            <a:r>
              <a:rPr lang="en-US" sz="1380" dirty="0">
                <a:solidFill>
                  <a:srgbClr val="17364A"/>
                </a:solidFill>
                <a:latin typeface="Aptos" pitchFamily="34" charset="0"/>
                <a:ea typeface="Aptos" pitchFamily="34" charset="-122"/>
                <a:cs typeface="Aptos" pitchFamily="34" charset="-120"/>
              </a:rPr>
              <a:t>Review and maintenance schedule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workflow SOP</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matrix</a:t>
            </a:r>
            <a:endParaRPr lang="en-US" sz="2100" dirty="0"/>
          </a:p>
          <a:p>
            <a:r>
              <a:rPr lang="en-US" sz="2100" dirty="0">
                <a:solidFill>
                  <a:srgbClr val="17364A"/>
                </a:solidFill>
                <a:latin typeface="Aptos" pitchFamily="34" charset="0"/>
                <a:ea typeface="Aptos" pitchFamily="34" charset="-122"/>
                <a:cs typeface="Aptos" pitchFamily="34" charset="-120"/>
              </a:rPr>
              <a:t>Allowed/prohibited use section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workflow SOP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fallback process</a:t>
            </a:r>
            <a:endParaRPr lang="en-US" sz="1380" dirty="0"/>
          </a:p>
          <a:p>
            <a:r>
              <a:rPr lang="en-US" sz="1380" dirty="0">
                <a:solidFill>
                  <a:srgbClr val="17364A"/>
                </a:solidFill>
                <a:latin typeface="Aptos" pitchFamily="34" charset="0"/>
                <a:ea typeface="Aptos" pitchFamily="34" charset="-122"/>
                <a:cs typeface="Aptos" pitchFamily="34" charset="-120"/>
              </a:rPr>
              <a:t>Review and maintenance schedule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2100" dirty="0"/>
          </a:p>
          <a:p>
            <a:r>
              <a:rPr lang="en-US" sz="2100" dirty="0">
                <a:solidFill>
                  <a:srgbClr val="17364A"/>
                </a:solidFill>
                <a:latin typeface="Aptos" pitchFamily="34" charset="0"/>
                <a:ea typeface="Aptos" pitchFamily="34" charset="-122"/>
                <a:cs typeface="Aptos" pitchFamily="34" charset="-120"/>
              </a:rPr>
              <a:t>2. What is an override?</a:t>
            </a:r>
            <a:endParaRPr lang="en-US" sz="2100" dirty="0"/>
          </a:p>
          <a:p>
            <a:r>
              <a:rPr lang="en-US" sz="2100" dirty="0">
                <a:solidFill>
                  <a:srgbClr val="17364A"/>
                </a:solidFill>
                <a:latin typeface="Aptos" pitchFamily="34" charset="0"/>
                <a:ea typeface="Aptos" pitchFamily="34" charset="-122"/>
                <a:cs typeface="Aptos" pitchFamily="34" charset="-120"/>
              </a:rPr>
              <a:t>3. Which item should an AI SOP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does an approved AI tool still need a workflow-specific SOP?</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2026-07-13T02:11:44Z</dcterms:created>
  <dcterms:modified xsi:type="dcterms:W3CDTF">2026-07-13T02:11:44Z</dcterms:modified>
</cp:coreProperties>
</file>