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3d7b43f1104ed8" /><Relationship Type="http://schemas.openxmlformats.org/officeDocument/2006/relationships/extended-properties" Target="/docProps/app.xml" Id="R52520c5ec0dc4c5b" /><Relationship Type="http://schemas.openxmlformats.org/officeDocument/2006/relationships/officeDocument" Target="/ppt/presentation.xml" Id="R24b954992bf448d0" /></Relationships>
</file>

<file path=ppt/presentation.xml><?xml version="1.0" encoding="utf-8"?>
<p:presentation xmlns:p="http://schemas.openxmlformats.org/presentationml/2006/main">
  <p:sldMasterIdLst>
    <p:sldMasterId xmlns:r="http://schemas.openxmlformats.org/officeDocument/2006/relationships" id="2147483648" r:id="R21ab3aef31c64022"/>
  </p:sldMasterIdLst>
  <p:notesMasterIdLst>
    <p:notesMasterId xmlns:r="http://schemas.openxmlformats.org/officeDocument/2006/relationships" r:id="Re8e6b65261dd4047"/>
  </p:notesMasterIdLst>
  <p:sldIdLst>
    <p:sldId xmlns:r="http://schemas.openxmlformats.org/officeDocument/2006/relationships" id="256" r:id="Rae8fefea9e054e18"/>
    <p:sldId xmlns:r="http://schemas.openxmlformats.org/officeDocument/2006/relationships" id="257" r:id="R950f8cf2d76d492d"/>
    <p:sldId xmlns:r="http://schemas.openxmlformats.org/officeDocument/2006/relationships" id="258" r:id="R16802bbf532c4975"/>
    <p:sldId xmlns:r="http://schemas.openxmlformats.org/officeDocument/2006/relationships" id="259" r:id="R0fe231a2eda7493b"/>
    <p:sldId xmlns:r="http://schemas.openxmlformats.org/officeDocument/2006/relationships" id="260" r:id="Rc9d102be98a84623"/>
    <p:sldId xmlns:r="http://schemas.openxmlformats.org/officeDocument/2006/relationships" id="261" r:id="Rfb7e0edbfb4b42a5"/>
    <p:sldId xmlns:r="http://schemas.openxmlformats.org/officeDocument/2006/relationships" id="262" r:id="R86d056cd8ff04e07"/>
    <p:sldId xmlns:r="http://schemas.openxmlformats.org/officeDocument/2006/relationships" id="263" r:id="Rac74257177094fc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63d1dfff384a3c" /><Relationship Type="http://schemas.openxmlformats.org/officeDocument/2006/relationships/slideMaster" Target="/ppt/slideMasters/slideMaster1.xml" Id="R21ab3aef31c64022" /><Relationship Type="http://schemas.openxmlformats.org/officeDocument/2006/relationships/notesMaster" Target="/ppt/notesMasters/notesMaster1.xml" Id="Re8e6b65261dd4047" /><Relationship Type="http://schemas.openxmlformats.org/officeDocument/2006/relationships/presProps" Target="/ppt/presProps.xml" Id="Rbd49ba84073d4df9" /><Relationship Type="http://schemas.openxmlformats.org/officeDocument/2006/relationships/tableStyles" Target="/ppt/tableStyles.xml" Id="Ra5d6e49f542741f3" /><Relationship Type="http://schemas.openxmlformats.org/officeDocument/2006/relationships/slide" Target="/ppt/slides/slide1.xml" Id="Rae8fefea9e054e18" /><Relationship Type="http://schemas.openxmlformats.org/officeDocument/2006/relationships/slide" Target="/ppt/slides/slide2.xml" Id="R950f8cf2d76d492d" /><Relationship Type="http://schemas.openxmlformats.org/officeDocument/2006/relationships/slide" Target="/ppt/slides/slide3.xml" Id="R16802bbf532c4975" /><Relationship Type="http://schemas.openxmlformats.org/officeDocument/2006/relationships/slide" Target="/ppt/slides/slide4.xml" Id="R0fe231a2eda7493b" /><Relationship Type="http://schemas.openxmlformats.org/officeDocument/2006/relationships/slide" Target="/ppt/slides/slide5.xml" Id="Rc9d102be98a84623" /><Relationship Type="http://schemas.openxmlformats.org/officeDocument/2006/relationships/slide" Target="/ppt/slides/slide6.xml" Id="Rfb7e0edbfb4b42a5" /><Relationship Type="http://schemas.openxmlformats.org/officeDocument/2006/relationships/slide" Target="/ppt/slides/slide7.xml" Id="R86d056cd8ff04e07" /><Relationship Type="http://schemas.openxmlformats.org/officeDocument/2006/relationships/slide" Target="/ppt/slides/slide8.xml" Id="Rac74257177094f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7d2f3060f94d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6e7125bb0f426e" /><Relationship Type="http://schemas.openxmlformats.org/officeDocument/2006/relationships/notesMaster" Target="/ppt/notesMasters/notesMaster1.xml" Id="Rb8a2aa8ee40d4c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e53c14370d4af0" /><Relationship Type="http://schemas.openxmlformats.org/officeDocument/2006/relationships/notesMaster" Target="/ppt/notesMasters/notesMaster1.xml" Id="Rebd6f499a91f49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524b790ebe45ab" /><Relationship Type="http://schemas.openxmlformats.org/officeDocument/2006/relationships/notesMaster" Target="/ppt/notesMasters/notesMaster1.xml" Id="Rf7e7a8ab0a944d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86fda8e6d24026" /><Relationship Type="http://schemas.openxmlformats.org/officeDocument/2006/relationships/notesMaster" Target="/ppt/notesMasters/notesMaster1.xml" Id="R044da22785ee47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c19c5b354c4ead" /><Relationship Type="http://schemas.openxmlformats.org/officeDocument/2006/relationships/notesMaster" Target="/ppt/notesMasters/notesMaster1.xml" Id="R22d8496f7ee646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f73c7f8a2645c7" /><Relationship Type="http://schemas.openxmlformats.org/officeDocument/2006/relationships/notesMaster" Target="/ppt/notesMasters/notesMaster1.xml" Id="R2ab87911a0134c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6037e77f634159" /><Relationship Type="http://schemas.openxmlformats.org/officeDocument/2006/relationships/notesMaster" Target="/ppt/notesMasters/notesMaster1.xml" Id="R940fe3e6abef48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292cdb9fbe4b2a" /><Relationship Type="http://schemas.openxmlformats.org/officeDocument/2006/relationships/notesMaster" Target="/ppt/notesMasters/notesMaster1.xml" Id="R6e44e3e1703c4d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AI Literacy for Public Health Staff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AI literacy means staff can recognize AI use, understand major failure modes, protect sensitive data, communicate uncertainty, document use, and know when not to use AI.</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Literacy for Public Health Staff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5, 6, 10 and Tools 27, 24, 26, 29.</a:t>
            </a:r>
          </a:p>
          <a:p xmlns:a="http://schemas.openxmlformats.org/drawingml/2006/main">
            <a:r>
              <a:t>Emphasize the core guardrail: Staff should not be asked to use AI tools before they understand privacy, hallucination, bias, documentation, and human review expectations.</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Literacy for Public Health Staff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5, 6, 10 and Tools 27, 24, 26, 29.</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Literacy for Public Health Staff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5, 6, 10 and Tools 27, 24, 26, 29.</a:t>
            </a:r>
          </a:p>
          <a:p xmlns:a="http://schemas.openxmlformats.org/drawingml/2006/main">
            <a:r>
              <a:t>Reinforce this definition: What AI Literacy Means: AI literacy is the ability to recognize AI use, understand what a system can and cannot do, evaluate outputs critically, protect sensitive information, communicate uncertainty, and know when AI should not be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Literacy for Public Health Staff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5, 6, 10 and Tools 27, 24, 26, 29.</a:t>
            </a:r>
          </a:p>
          <a:p xmlns:a="http://schemas.openxmlformats.org/drawingml/2006/main">
            <a:r>
              <a:t>Invite participants to identify where these practices would need to be documented in their own department.</a:t>
            </a:r>
          </a:p>
          <a:p xmlns:a="http://schemas.openxmlformats.org/drawingml/2006/main">
            <a:r>
              <a:t>Start with Core Competencies,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Literacy for Public Health Staff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5, 6, 10 and Tools 27, 24, 26, 29.</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Literacy for Public Health Staff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5, 6, 10 and Tools 27, 24, 26, 29.</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Role-based AI literacy matrix, Training plan, Staff concern reporting pathway.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AI Literacy for Public Health Staff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5, 6, 10 and Tools 27, 24, 26, 29.</a:t>
            </a:r>
          </a:p>
          <a:p xmlns:a="http://schemas.openxmlformats.org/drawingml/2006/main">
            <a:r>
              <a:t>Point participants to the first resource: ASPPH AI Framework Report.</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be2abdcc0f49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d8cc8b82ab49f8" /><Relationship Type="http://schemas.openxmlformats.org/officeDocument/2006/relationships/slideLayout" Target="/ppt/slideLayouts/slideLayout1.xml" Id="R43b82c4399b44c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b82c4399b44c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62454fa9f64a06" /><Relationship Type="http://schemas.openxmlformats.org/officeDocument/2006/relationships/image" Target="/ppt/media/image.png" Id="Re4aa484052b44742" /><Relationship Type="http://schemas.openxmlformats.org/officeDocument/2006/relationships/notesSlide" Target="/ppt/notesSlides/notesSlide1.xml" Id="R26c88c742f0a42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d623503cfe46e4" /><Relationship Type="http://schemas.openxmlformats.org/officeDocument/2006/relationships/notesSlide" Target="/ppt/notesSlides/notesSlide2.xml" Id="R0e4e75f6d17442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1dc1218888f4a0e" /><Relationship Type="http://schemas.openxmlformats.org/officeDocument/2006/relationships/notesSlide" Target="/ppt/notesSlides/notesSlide3.xml" Id="Re80b7240426143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5a9694c32e4f1e" /><Relationship Type="http://schemas.openxmlformats.org/officeDocument/2006/relationships/notesSlide" Target="/ppt/notesSlides/notesSlide4.xml" Id="Rf0bd7ef687d941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b0cab60e59456c" /><Relationship Type="http://schemas.openxmlformats.org/officeDocument/2006/relationships/notesSlide" Target="/ppt/notesSlides/notesSlide5.xml" Id="Raa55468f5ed44a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b0f0c4550147ce" /><Relationship Type="http://schemas.openxmlformats.org/officeDocument/2006/relationships/notesSlide" Target="/ppt/notesSlides/notesSlide6.xml" Id="R82e81394746445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cb10b35d9e4c42" /><Relationship Type="http://schemas.openxmlformats.org/officeDocument/2006/relationships/notesSlide" Target="/ppt/notesSlides/notesSlide7.xml" Id="R32a5f8aa7b6242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111f045e3134141" /><Relationship Type="http://schemas.openxmlformats.org/officeDocument/2006/relationships/notesSlide" Target="/ppt/notesSlides/notesSlide8.xml" Id="R04bfce9fa51f4aea"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4aa484052b44742"/>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642DF8-CAB8-4F1A-8150-EB85DED51019}"/>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10</a:t>
            </a:r>
          </a:p>
        </p:txBody>
      </p:sp>
      <p:sp>
        <p:nvSpPr>
          <p:cNvPr id="3" name="">
            <a:extLst xmlns:a="http://schemas.openxmlformats.org/drawingml/2006/main">
              <a:ext uri="{FF2B5EF4-FFF2-40B4-BE49-F238E27FC236}">
                <a16:creationId xmlns:a16="http://schemas.microsoft.com/office/drawing/2014/main" id="{35C74F9B-DDC9-4654-9277-C57D57B58C7E}"/>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AI Literacy for Public Health Staff</a:t>
            </a:r>
          </a:p>
        </p:txBody>
      </p:sp>
      <p:sp>
        <p:nvSpPr>
          <p:cNvPr id="4" name="">
            <a:extLst xmlns:a="http://schemas.openxmlformats.org/drawingml/2006/main">
              <a:ext uri="{FF2B5EF4-FFF2-40B4-BE49-F238E27FC236}">
                <a16:creationId xmlns:a16="http://schemas.microsoft.com/office/drawing/2014/main" id="{31A5A2D5-0857-4306-9565-E9EF524EFEFB}"/>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8EEB611B-EDFC-4F14-871D-5E3C7A3A101C}"/>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DD1338F4-C50F-4326-9CC6-B38A65FFE81E}"/>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300251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769982A-7103-46AC-8CF1-D2AC3B82E42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494D697-EF7C-4D3B-AA4F-8C246CB500B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774AC3B0-B679-4BEC-9169-48626572829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DAB43C59-06C8-4097-8593-E66EC44AEBDD}"/>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AI literacy means staff can recognize AI use, understand major failure modes, protect sensitive data, communicate uncertainty, document use, and know when not to use AI.</a:t>
            </a:r>
          </a:p>
        </p:txBody>
      </p:sp>
      <p:sp>
        <p:nvSpPr>
          <p:cNvPr id="5" name="">
            <a:extLst xmlns:a="http://schemas.openxmlformats.org/drawingml/2006/main">
              <a:ext uri="{FF2B5EF4-FFF2-40B4-BE49-F238E27FC236}">
                <a16:creationId xmlns:a16="http://schemas.microsoft.com/office/drawing/2014/main" id="{C067EB85-E4DC-4C65-AA4E-F55674C82D40}"/>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EBEFDEB-7BA3-45D5-9C75-C965C0C65DA7}"/>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4A9236E5-1C0B-4F5E-8C3E-81FF94423206}"/>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8F2E9C75-1FA6-4C3E-A22B-98B79FA43F4F}"/>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literacy is necessary for safe use at every level of the department. Staff need role-appropriate knowledge before they are asked to use AI tools, review outputs, approve vendors, participate in governance, or explain AI to the public.</a:t>
            </a:r>
          </a:p>
        </p:txBody>
      </p:sp>
      <p:sp>
        <p:nvSpPr>
          <p:cNvPr id="9" name="">
            <a:extLst xmlns:a="http://schemas.openxmlformats.org/drawingml/2006/main">
              <a:ext uri="{FF2B5EF4-FFF2-40B4-BE49-F238E27FC236}">
                <a16:creationId xmlns:a16="http://schemas.microsoft.com/office/drawing/2014/main" id="{514301BD-6F99-43B7-A156-30C6F3B4EDC9}"/>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7576A60-12EF-4163-A974-8677EABEDFD9}"/>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8E942E66-AD2D-4223-B01A-1E5B4F2C47CB}"/>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F7C79FAD-3C27-4603-9FFF-CA05CAC0B7F1}"/>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Staff should not be asked to use AI tools before they understand privacy, hallucination, bias, documentation, and human review expectations.</a:t>
            </a:r>
          </a:p>
        </p:txBody>
      </p:sp>
      <p:sp>
        <p:nvSpPr>
          <p:cNvPr id="13" name="">
            <a:extLst xmlns:a="http://schemas.openxmlformats.org/drawingml/2006/main">
              <a:ext uri="{FF2B5EF4-FFF2-40B4-BE49-F238E27FC236}">
                <a16:creationId xmlns:a16="http://schemas.microsoft.com/office/drawing/2014/main" id="{66746CC0-071B-4CDC-987F-F9D3F736314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Literacy for Public Health Staff</a:t>
            </a:r>
          </a:p>
        </p:txBody>
      </p:sp>
      <p:sp>
        <p:nvSpPr>
          <p:cNvPr id="14" name="">
            <a:extLst xmlns:a="http://schemas.openxmlformats.org/drawingml/2006/main">
              <a:ext uri="{FF2B5EF4-FFF2-40B4-BE49-F238E27FC236}">
                <a16:creationId xmlns:a16="http://schemas.microsoft.com/office/drawing/2014/main" id="{60B07F1C-CE52-4CEE-B4F4-306B689AECD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864057500"/>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C4AC8D8-697C-4676-A75E-76985B2090D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53A33A0-6BBB-460B-8A02-FB4D14977F4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402E4360-3735-451D-A644-DE7488330AF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1F839F1-C66D-4679-A294-40571E0EEED1}"/>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29B39E10-70F0-4299-85C4-535D08DB2F2E}"/>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AI Literacy for Public Health Staff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641E47DD-1334-4700-B5F8-F57E6F708C1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Literacy for Public Health Staff</a:t>
            </a:r>
          </a:p>
        </p:txBody>
      </p:sp>
      <p:sp>
        <p:nvSpPr>
          <p:cNvPr id="7" name="">
            <a:extLst xmlns:a="http://schemas.openxmlformats.org/drawingml/2006/main">
              <a:ext uri="{FF2B5EF4-FFF2-40B4-BE49-F238E27FC236}">
                <a16:creationId xmlns:a16="http://schemas.microsoft.com/office/drawing/2014/main" id="{040BE5BB-B633-4C91-8D4D-872414C37DC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360068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932411-39CB-43AF-A549-EB1F8958A37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09C440D-EAD7-4DE3-9FA0-13031E90462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7F7E33B3-14D6-419B-8A5C-6071A1CCBFE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036B58E-59DD-42F4-978A-6248AB2EEFF1}"/>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AI literacy is a workforce capability. Staff should know what AI is, what it is approved for, what data may be used, how outputs can fail, how to document AI use, and when to escalate concerns. Literacy expectations should be role-based because leaders, program staff, analysts, IT, privacy, procurement, communications, and governance members have different responsibilities.</a:t>
            </a:r>
          </a:p>
        </p:txBody>
      </p:sp>
      <p:sp>
        <p:nvSpPr>
          <p:cNvPr id="5" name="">
            <a:extLst xmlns:a="http://schemas.openxmlformats.org/drawingml/2006/main">
              <a:ext uri="{FF2B5EF4-FFF2-40B4-BE49-F238E27FC236}">
                <a16:creationId xmlns:a16="http://schemas.microsoft.com/office/drawing/2014/main" id="{16576A1A-0DD7-47A7-85DD-253922EDD0A9}"/>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DBE89ABC-70F9-4A41-AFC1-B371797BCEEB}"/>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7EE8DE6C-49F9-49D3-8060-EC1756234B25}"/>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definition</a:t>
            </a:r>
          </a:p>
        </p:txBody>
      </p:sp>
      <p:sp>
        <p:nvSpPr>
          <p:cNvPr id="8" name="">
            <a:extLst xmlns:a="http://schemas.openxmlformats.org/drawingml/2006/main">
              <a:ext uri="{FF2B5EF4-FFF2-40B4-BE49-F238E27FC236}">
                <a16:creationId xmlns:a16="http://schemas.microsoft.com/office/drawing/2014/main" id="{91ED6DD1-D690-4331-A222-C756138FA5F7}"/>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AI Literacy Means: AI literacy is the ability to recognize AI use, understand what a system can and cannot do, evaluate outputs critically, protect sensitive information, communicate uncertainty, and know when AI should not be used.</a:t>
            </a:r>
          </a:p>
        </p:txBody>
      </p:sp>
      <p:sp>
        <p:nvSpPr>
          <p:cNvPr id="9" name="">
            <a:extLst xmlns:a="http://schemas.openxmlformats.org/drawingml/2006/main">
              <a:ext uri="{FF2B5EF4-FFF2-40B4-BE49-F238E27FC236}">
                <a16:creationId xmlns:a16="http://schemas.microsoft.com/office/drawing/2014/main" id="{05B127A9-15A0-4D69-A090-9FB7746C03E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Literacy for Public Health Staff</a:t>
            </a:r>
          </a:p>
        </p:txBody>
      </p:sp>
      <p:sp>
        <p:nvSpPr>
          <p:cNvPr id="10" name="">
            <a:extLst xmlns:a="http://schemas.openxmlformats.org/drawingml/2006/main">
              <a:ext uri="{FF2B5EF4-FFF2-40B4-BE49-F238E27FC236}">
                <a16:creationId xmlns:a16="http://schemas.microsoft.com/office/drawing/2014/main" id="{D70E7A33-1CB0-47EB-93B1-FC9EC1C53B4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843985086"/>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BA6D53-DBA0-490E-9F37-329FBF991E2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1431A9E-5AD2-4329-A94B-9917C38B76E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2F60EFEB-E6F6-4680-BC5C-F09AEB1BE81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3AC2252-3239-474F-ABCB-92F8E00DE011}"/>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6B618D8-20BC-42D6-A615-047EDE0569A8}"/>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7ECC218C-64BB-4CF6-9CCE-B2921895025C}"/>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Core Competencies</a:t>
            </a:r>
          </a:p>
        </p:txBody>
      </p:sp>
      <p:sp>
        <p:nvSpPr>
          <p:cNvPr id="7" name="">
            <a:extLst xmlns:a="http://schemas.openxmlformats.org/drawingml/2006/main">
              <a:ext uri="{FF2B5EF4-FFF2-40B4-BE49-F238E27FC236}">
                <a16:creationId xmlns:a16="http://schemas.microsoft.com/office/drawing/2014/main" id="{A6D73E6E-869D-4251-A62E-4CFC1F3C4D76}"/>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Recognize approved and unapproved AI use. Protect PHI, confidential, restricted, and sensitive data. Identify hallucination, bias, automation bias, data quality problems, and inappropriate use. Use prompts, source materials, and review steps.</a:t>
            </a:r>
          </a:p>
        </p:txBody>
      </p:sp>
      <p:sp>
        <p:nvSpPr>
          <p:cNvPr id="8" name="">
            <a:extLst xmlns:a="http://schemas.openxmlformats.org/drawingml/2006/main">
              <a:ext uri="{FF2B5EF4-FFF2-40B4-BE49-F238E27FC236}">
                <a16:creationId xmlns:a16="http://schemas.microsoft.com/office/drawing/2014/main" id="{4DE62FC4-F56C-42F6-BA0E-0C9E2FCB888B}"/>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8C4E1744-CBB6-4C6A-A58B-B01B8E457685}"/>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8E8D5738-8317-41EB-9A6E-51344415FF03}"/>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Role-Based Training</a:t>
            </a:r>
          </a:p>
        </p:txBody>
      </p:sp>
      <p:sp>
        <p:nvSpPr>
          <p:cNvPr id="11" name="">
            <a:extLst xmlns:a="http://schemas.openxmlformats.org/drawingml/2006/main">
              <a:ext uri="{FF2B5EF4-FFF2-40B4-BE49-F238E27FC236}">
                <a16:creationId xmlns:a16="http://schemas.microsoft.com/office/drawing/2014/main" id="{91E59E8C-ACA9-442C-BD5E-F876FAEA1204}"/>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Executives need governance, risk, resource, and public accountability orientation. Program staff need workflow, privacy, prompt, and review guidance. Analysts need validation, documentation, model monitoring, and data quality practices..</a:t>
            </a:r>
          </a:p>
        </p:txBody>
      </p:sp>
      <p:sp>
        <p:nvSpPr>
          <p:cNvPr id="12" name="">
            <a:extLst xmlns:a="http://schemas.openxmlformats.org/drawingml/2006/main">
              <a:ext uri="{FF2B5EF4-FFF2-40B4-BE49-F238E27FC236}">
                <a16:creationId xmlns:a16="http://schemas.microsoft.com/office/drawing/2014/main" id="{56F52BFD-F8FF-40F2-B210-95935346FBCA}"/>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5CB10FB3-8A6F-4260-854E-8841505652E4}"/>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93D1A321-6E70-4FCB-96E6-A9AFA73D3C82}"/>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Sustainment</a:t>
            </a:r>
          </a:p>
        </p:txBody>
      </p:sp>
      <p:sp>
        <p:nvSpPr>
          <p:cNvPr id="15" name="">
            <a:extLst xmlns:a="http://schemas.openxmlformats.org/drawingml/2006/main">
              <a:ext uri="{FF2B5EF4-FFF2-40B4-BE49-F238E27FC236}">
                <a16:creationId xmlns:a16="http://schemas.microsoft.com/office/drawing/2014/main" id="{C6626F11-20B5-4599-91F7-7F56D6704F70}"/>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Refresh training as tools, policies, and risks change. Create reporting pathways for staff concerns and near misses. Use AI champions or bridge professionals to support day-to-day adoption.</a:t>
            </a:r>
          </a:p>
        </p:txBody>
      </p:sp>
      <p:sp>
        <p:nvSpPr>
          <p:cNvPr id="16" name="">
            <a:extLst xmlns:a="http://schemas.openxmlformats.org/drawingml/2006/main">
              <a:ext uri="{FF2B5EF4-FFF2-40B4-BE49-F238E27FC236}">
                <a16:creationId xmlns:a16="http://schemas.microsoft.com/office/drawing/2014/main" id="{C36633B6-A566-418E-A7F8-AFDDC4ECB4A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Literacy for Public Health Staff</a:t>
            </a:r>
          </a:p>
        </p:txBody>
      </p:sp>
      <p:sp>
        <p:nvSpPr>
          <p:cNvPr id="17" name="">
            <a:extLst xmlns:a="http://schemas.openxmlformats.org/drawingml/2006/main">
              <a:ext uri="{FF2B5EF4-FFF2-40B4-BE49-F238E27FC236}">
                <a16:creationId xmlns:a16="http://schemas.microsoft.com/office/drawing/2014/main" id="{967855A1-31C2-4139-A764-0FF10DFA539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8575152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059C6AB-17CD-48C9-8498-E4D9C07B3FD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8924867-B88B-46BC-9622-DDA6A41D3ECC}"/>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2EA81520-4767-4224-B339-D6F6529C643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E500452-D6DC-4C67-85E0-5484674A6C14}"/>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293D202F-A254-4B0F-A97C-84EA0A55130E}"/>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7F2B698-859F-4B00-B081-4B71CB8E6A52}"/>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CEF1DB3-58C0-4DCF-9F9B-40F9633BA4FC}"/>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Role-based AI training</a:t>
            </a:r>
          </a:p>
        </p:txBody>
      </p:sp>
      <p:sp>
        <p:nvSpPr>
          <p:cNvPr id="8" name="">
            <a:extLst xmlns:a="http://schemas.openxmlformats.org/drawingml/2006/main">
              <a:ext uri="{FF2B5EF4-FFF2-40B4-BE49-F238E27FC236}">
                <a16:creationId xmlns:a16="http://schemas.microsoft.com/office/drawing/2014/main" id="{1FCFA98B-0CA7-4E50-B730-E6F7D2EC8671}"/>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E5B470F6-A5E6-41F7-A67E-57FCD5E1278F}"/>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A6824DE2-6491-4772-8A3C-4D4FEFE02ADA}"/>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7B81BE16-681D-4FC9-8275-FDCE2B2BAA36}"/>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Prompt and privacy coaching</a:t>
            </a:r>
          </a:p>
        </p:txBody>
      </p:sp>
      <p:sp>
        <p:nvSpPr>
          <p:cNvPr id="12" name="">
            <a:extLst xmlns:a="http://schemas.openxmlformats.org/drawingml/2006/main">
              <a:ext uri="{FF2B5EF4-FFF2-40B4-BE49-F238E27FC236}">
                <a16:creationId xmlns:a16="http://schemas.microsoft.com/office/drawing/2014/main" id="{91975135-0AC3-49F3-B935-5416DC8040E0}"/>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D85095D5-3E5B-4F27-81BF-F218C5BAFC6B}"/>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B29272C3-4BEA-4610-B4B3-0F3C57806192}"/>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EC1FDC98-1B60-400E-A738-DE67B24FC30F}"/>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Staff reporting pathways for concerns</a:t>
            </a:r>
          </a:p>
        </p:txBody>
      </p:sp>
      <p:sp>
        <p:nvSpPr>
          <p:cNvPr id="16" name="">
            <a:extLst xmlns:a="http://schemas.openxmlformats.org/drawingml/2006/main">
              <a:ext uri="{FF2B5EF4-FFF2-40B4-BE49-F238E27FC236}">
                <a16:creationId xmlns:a16="http://schemas.microsoft.com/office/drawing/2014/main" id="{DF2C6121-58D4-4D34-86C1-750BE9B4F0EF}"/>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3C346E87-6B9E-4EFB-9382-53976D9D03E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Literacy for Public Health Staff</a:t>
            </a:r>
          </a:p>
        </p:txBody>
      </p:sp>
      <p:sp>
        <p:nvSpPr>
          <p:cNvPr id="18" name="">
            <a:extLst xmlns:a="http://schemas.openxmlformats.org/drawingml/2006/main">
              <a:ext uri="{FF2B5EF4-FFF2-40B4-BE49-F238E27FC236}">
                <a16:creationId xmlns:a16="http://schemas.microsoft.com/office/drawing/2014/main" id="{98C4D9B6-C524-4858-B22D-B344BDF437C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896845279"/>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FF757A-A7A4-44CD-80BC-D6DCCCFAAEEC}"/>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DAF5D5C-AEC6-48AE-B443-8725BC2E0CE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967C5315-C1A6-4D9A-A8E3-3F5C3D6E7F6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FB44452-7FD1-4CE9-8E60-BD1710B18150}"/>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7984C743-BBB6-40B4-A382-56588592F667}"/>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EE7AEE1A-B649-4DB7-BD7C-BAEA3CB49E68}"/>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31F2A948-9154-4AAD-98C7-F364AAED4F2C}"/>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does each role need to know to use or oversee AI responsibly? How will the department train new staff and refresh training over time? How will staff report concerns, near misses, or unsafe outputs?</a:t>
            </a:r>
          </a:p>
        </p:txBody>
      </p:sp>
      <p:sp>
        <p:nvSpPr>
          <p:cNvPr id="8" name="">
            <a:extLst xmlns:a="http://schemas.openxmlformats.org/drawingml/2006/main">
              <a:ext uri="{FF2B5EF4-FFF2-40B4-BE49-F238E27FC236}">
                <a16:creationId xmlns:a16="http://schemas.microsoft.com/office/drawing/2014/main" id="{285231FD-7890-4C66-AF9C-2E43DF4F4281}"/>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5CF29E4-832C-428F-B10A-34DEE74D71A6}"/>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91E334A2-EA48-4359-A3CA-AD2D8419533F}"/>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8CAD6E7E-08F2-416C-90EF-B8407F7767CC}"/>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Create a role-based training matrix for executives, program staff, analysts, IT, privacy, procurement, communications, and governance members.</a:t>
            </a:r>
          </a:p>
        </p:txBody>
      </p:sp>
      <p:sp>
        <p:nvSpPr>
          <p:cNvPr id="12" name="">
            <a:extLst xmlns:a="http://schemas.openxmlformats.org/drawingml/2006/main">
              <a:ext uri="{FF2B5EF4-FFF2-40B4-BE49-F238E27FC236}">
                <a16:creationId xmlns:a16="http://schemas.microsoft.com/office/drawing/2014/main" id="{DE599D32-05B8-4728-BAB6-C2FDA2B79B85}"/>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Literacy for Public Health Staff</a:t>
            </a:r>
          </a:p>
        </p:txBody>
      </p:sp>
      <p:sp>
        <p:nvSpPr>
          <p:cNvPr id="13" name="">
            <a:extLst xmlns:a="http://schemas.openxmlformats.org/drawingml/2006/main">
              <a:ext uri="{FF2B5EF4-FFF2-40B4-BE49-F238E27FC236}">
                <a16:creationId xmlns:a16="http://schemas.microsoft.com/office/drawing/2014/main" id="{69E41CF5-6E6E-4E97-A3E3-8AAB9078A0A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6663168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C599E6-17E2-4587-A3E9-6288A9B1E3A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35AE83F1-3CCB-45CB-BD31-421ED70DC45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E3E3D78C-ABC8-42D2-A3CB-ECEE4934498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5F928D5-ACBE-434E-A2E7-EEB45ADB115F}"/>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08D79E95-A90B-4D64-B61E-755B289F6BEA}"/>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DCC2C5CD-8B69-4F8C-A1AA-92AA55CA1FB6}"/>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4AB31468-94D0-476A-89A4-A55DDA0A2E1E}"/>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5, 6, 10 and Tools 27, 24, 26, 29.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1B85FD05-9AE5-4798-AC35-2F989E7ADBA5}"/>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624421F-3347-4D9C-B268-E38490A1E352}"/>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65EB278E-2EC5-404C-8D62-31E5FBF9FD2B}"/>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7FD943D4-23C7-4CF9-A653-96CF42BEFA91}"/>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ASPPH AI Framework Report: AI literacy, bridge professional, and workforce preparation concepts for public health. Public Health Foundation TRAIN Learning Network: Training platform for public health workforce development. CDC Public Health.</a:t>
            </a:r>
          </a:p>
        </p:txBody>
      </p:sp>
      <p:sp>
        <p:nvSpPr>
          <p:cNvPr id="12" name="">
            <a:extLst xmlns:a="http://schemas.openxmlformats.org/drawingml/2006/main">
              <a:ext uri="{FF2B5EF4-FFF2-40B4-BE49-F238E27FC236}">
                <a16:creationId xmlns:a16="http://schemas.microsoft.com/office/drawing/2014/main" id="{51315ADD-01B1-4100-85F4-74BDBBD1AAC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AI Literacy for Public Health Staff</a:t>
            </a:r>
          </a:p>
        </p:txBody>
      </p:sp>
      <p:sp>
        <p:nvSpPr>
          <p:cNvPr id="13" name="">
            <a:extLst xmlns:a="http://schemas.openxmlformats.org/drawingml/2006/main">
              <a:ext uri="{FF2B5EF4-FFF2-40B4-BE49-F238E27FC236}">
                <a16:creationId xmlns:a16="http://schemas.microsoft.com/office/drawing/2014/main" id="{8E8F7C5F-8024-4757-958F-9F3CA068D59E}"/>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6142535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2026-07-02T17:47:02.6320000Z</dcterms:created>
  <dcterms:modified xsi:type="dcterms:W3CDTF">2026-07-02T17:47:02.6320000Z</dcterms:modified>
</coreProperties>
</file>