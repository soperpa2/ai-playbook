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af3c49b12e64063" /><Relationship Type="http://schemas.openxmlformats.org/officeDocument/2006/relationships/extended-properties" Target="/docProps/app.xml" Id="R66217186df4f4471" /><Relationship Type="http://schemas.openxmlformats.org/officeDocument/2006/relationships/officeDocument" Target="/ppt/presentation.xml" Id="Rd5694b78db3949c4" /></Relationships>
</file>

<file path=ppt/presentation.xml><?xml version="1.0" encoding="utf-8"?>
<p:presentation xmlns:p="http://schemas.openxmlformats.org/presentationml/2006/main">
  <p:sldMasterIdLst>
    <p:sldMasterId xmlns:r="http://schemas.openxmlformats.org/officeDocument/2006/relationships" id="2147483648" r:id="R6d7ab0cf8fc54213"/>
  </p:sldMasterIdLst>
  <p:notesMasterIdLst>
    <p:notesMasterId xmlns:r="http://schemas.openxmlformats.org/officeDocument/2006/relationships" r:id="R175ecd827ba34c5e"/>
  </p:notesMasterIdLst>
  <p:sldIdLst>
    <p:sldId xmlns:r="http://schemas.openxmlformats.org/officeDocument/2006/relationships" id="256" r:id="R196098cfb98d46e6"/>
    <p:sldId xmlns:r="http://schemas.openxmlformats.org/officeDocument/2006/relationships" id="257" r:id="R3ccd20231df647c1"/>
    <p:sldId xmlns:r="http://schemas.openxmlformats.org/officeDocument/2006/relationships" id="258" r:id="R38a9c458936e4f65"/>
    <p:sldId xmlns:r="http://schemas.openxmlformats.org/officeDocument/2006/relationships" id="259" r:id="Rce9063d292024695"/>
    <p:sldId xmlns:r="http://schemas.openxmlformats.org/officeDocument/2006/relationships" id="260" r:id="Ree3df7d7a6ab4460"/>
    <p:sldId xmlns:r="http://schemas.openxmlformats.org/officeDocument/2006/relationships" id="261" r:id="R79cea6fc05b34b92"/>
    <p:sldId xmlns:r="http://schemas.openxmlformats.org/officeDocument/2006/relationships" id="262" r:id="Rda6def966f8a4323"/>
    <p:sldId xmlns:r="http://schemas.openxmlformats.org/officeDocument/2006/relationships" id="263" r:id="R0042388f0e91446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451224cf9054414" /><Relationship Type="http://schemas.openxmlformats.org/officeDocument/2006/relationships/slideMaster" Target="/ppt/slideMasters/slideMaster1.xml" Id="R6d7ab0cf8fc54213" /><Relationship Type="http://schemas.openxmlformats.org/officeDocument/2006/relationships/notesMaster" Target="/ppt/notesMasters/notesMaster1.xml" Id="R175ecd827ba34c5e" /><Relationship Type="http://schemas.openxmlformats.org/officeDocument/2006/relationships/presProps" Target="/ppt/presProps.xml" Id="Ra0b21a5ea3284e30" /><Relationship Type="http://schemas.openxmlformats.org/officeDocument/2006/relationships/tableStyles" Target="/ppt/tableStyles.xml" Id="R2f95dc469e344d99" /><Relationship Type="http://schemas.openxmlformats.org/officeDocument/2006/relationships/slide" Target="/ppt/slides/slide1.xml" Id="R196098cfb98d46e6" /><Relationship Type="http://schemas.openxmlformats.org/officeDocument/2006/relationships/slide" Target="/ppt/slides/slide2.xml" Id="R3ccd20231df647c1" /><Relationship Type="http://schemas.openxmlformats.org/officeDocument/2006/relationships/slide" Target="/ppt/slides/slide3.xml" Id="R38a9c458936e4f65" /><Relationship Type="http://schemas.openxmlformats.org/officeDocument/2006/relationships/slide" Target="/ppt/slides/slide4.xml" Id="Rce9063d292024695" /><Relationship Type="http://schemas.openxmlformats.org/officeDocument/2006/relationships/slide" Target="/ppt/slides/slide5.xml" Id="Ree3df7d7a6ab4460" /><Relationship Type="http://schemas.openxmlformats.org/officeDocument/2006/relationships/slide" Target="/ppt/slides/slide6.xml" Id="R79cea6fc05b34b92" /><Relationship Type="http://schemas.openxmlformats.org/officeDocument/2006/relationships/slide" Target="/ppt/slides/slide7.xml" Id="Rda6def966f8a4323" /><Relationship Type="http://schemas.openxmlformats.org/officeDocument/2006/relationships/slide" Target="/ppt/slides/slide8.xml" Id="R0042388f0e91446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6cf73bf94994a9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a61e46c29a4bd2" /><Relationship Type="http://schemas.openxmlformats.org/officeDocument/2006/relationships/notesMaster" Target="/ppt/notesMasters/notesMaster1.xml" Id="Rafca3bcb938c4c60" /></Relationships>
</file>

<file path=ppt/notesSlides/_rels/notesSlide2.xml.rels>&#65279;<?xml version="1.0" encoding="utf-8"?><Relationships xmlns="http://schemas.openxmlformats.org/package/2006/relationships"><Relationship Type="http://schemas.openxmlformats.org/officeDocument/2006/relationships/slide" Target="/ppt/slides/slide2.xml" Id="R5ae0d065ca5c40af" /><Relationship Type="http://schemas.openxmlformats.org/officeDocument/2006/relationships/notesMaster" Target="/ppt/notesMasters/notesMaster1.xml" Id="R61843ab0b2d34f8b" /></Relationships>
</file>

<file path=ppt/notesSlides/_rels/notesSlide3.xml.rels>&#65279;<?xml version="1.0" encoding="utf-8"?><Relationships xmlns="http://schemas.openxmlformats.org/package/2006/relationships"><Relationship Type="http://schemas.openxmlformats.org/officeDocument/2006/relationships/slide" Target="/ppt/slides/slide3.xml" Id="R0a7c12f795fb4c9d" /><Relationship Type="http://schemas.openxmlformats.org/officeDocument/2006/relationships/notesMaster" Target="/ppt/notesMasters/notesMaster1.xml" Id="R09ece9f40409402b"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33209b6d4e4cfb" /><Relationship Type="http://schemas.openxmlformats.org/officeDocument/2006/relationships/notesMaster" Target="/ppt/notesMasters/notesMaster1.xml" Id="Raba79f8383d045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cefc444e01e457b" /><Relationship Type="http://schemas.openxmlformats.org/officeDocument/2006/relationships/notesMaster" Target="/ppt/notesMasters/notesMaster1.xml" Id="R6fcb2e2a7dfc4875" /></Relationships>
</file>

<file path=ppt/notesSlides/_rels/notesSlide6.xml.rels>&#65279;<?xml version="1.0" encoding="utf-8"?><Relationships xmlns="http://schemas.openxmlformats.org/package/2006/relationships"><Relationship Type="http://schemas.openxmlformats.org/officeDocument/2006/relationships/slide" Target="/ppt/slides/slide6.xml" Id="Rc9ac773036864699" /><Relationship Type="http://schemas.openxmlformats.org/officeDocument/2006/relationships/notesMaster" Target="/ppt/notesMasters/notesMaster1.xml" Id="Ra9773389cf8b483e" /></Relationships>
</file>

<file path=ppt/notesSlides/_rels/notesSlide7.xml.rels>&#65279;<?xml version="1.0" encoding="utf-8"?><Relationships xmlns="http://schemas.openxmlformats.org/package/2006/relationships"><Relationship Type="http://schemas.openxmlformats.org/officeDocument/2006/relationships/slide" Target="/ppt/slides/slide7.xml" Id="Rf071f7fd77824084" /><Relationship Type="http://schemas.openxmlformats.org/officeDocument/2006/relationships/notesMaster" Target="/ppt/notesMasters/notesMaster1.xml" Id="R1a87356ed8974e2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90011eb3954733" /><Relationship Type="http://schemas.openxmlformats.org/officeDocument/2006/relationships/notesMaster" Target="/ppt/notesMasters/notesMaster1.xml" Id="R9b64b21c59e64c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participants to the Federal Funding Opportunities lesson.</a:t>
            </a:r>
          </a:p>
          <a:p xmlns:a="http://schemas.openxmlformats.org/drawingml/2006/main">
            <a:r>
              <a:t>Explain that this deck is designed for staff training, leadership orientation, governance preparation, or cross-program discussion.</a:t>
            </a:r>
          </a:p>
          <a:p xmlns:a="http://schemas.openxmlformats.org/drawingml/2006/main">
            <a:r>
              <a:t>Frame the topic in plain language: AI work can often be positioned as a capability layer on top of data modernization, infrastructure, workforce, and equity investments.</a:t>
            </a:r>
          </a:p>
          <a:p xmlns:a="http://schemas.openxmlformats.org/drawingml/2006/main">
            <a:r>
              <a:t>Invite participants to think about where this topic already appears in their department's workflows, vendor tools, data systems, communications, or planning conversations.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Federal Funding Opportunities training module.</a:t>
            </a:r>
          </a:p>
          <a:p xmlns:a="http://schemas.openxmlformats.org/drawingml/2006/main">
            <a:r>
              <a:t>Use this slide to explain the practical public health reason for learning this topic before AI tools are approved or deployed.</a:t>
            </a:r>
          </a:p>
          <a:p xmlns:a="http://schemas.openxmlformats.org/drawingml/2006/main">
            <a:r>
              <a:t>Connect the discussion back to the playbook: this topic supports Plays 8, 9 and Tools 33, 32, 31.</a:t>
            </a:r>
          </a:p>
          <a:p xmlns:a="http://schemas.openxmlformats.org/drawingml/2006/main">
            <a:r>
              <a:t>Emphasize the core guardrail: Do not approve projects without confirmed pilot, scale, and sustainment resources.</a:t>
            </a:r>
          </a:p>
          <a:p xmlns:a="http://schemas.openxmlformats.org/drawingml/2006/main">
            <a:r>
              <a:t>Ask participants how this topic could affect their own program area, staff roles, community relationships, data, or public communications.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Federal Funding Opportunities training module.</a:t>
            </a:r>
          </a:p>
          <a:p xmlns:a="http://schemas.openxmlformats.org/drawingml/2006/main">
            <a:r>
              <a:t>Walk through the objectives and connect each one to a practical implementation decision.</a:t>
            </a:r>
          </a:p>
          <a:p xmlns:a="http://schemas.openxmlformats.org/drawingml/2006/main">
            <a:r>
              <a:t>Connect the discussion back to the playbook: this topic supports Plays 8, 9 and Tools 33, 32, 31.</a:t>
            </a:r>
          </a:p>
          <a:p xmlns:a="http://schemas.openxmlformats.org/drawingml/2006/main">
            <a:r>
              <a:t>Explain that participants do not need technical expertise to use this material. The goal is enough shared understanding to participate in governance, readiness assessment, use case review, procurement, deployment, or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Federal Funding Opportunities training module.</a:t>
            </a:r>
          </a:p>
          <a:p xmlns:a="http://schemas.openxmlformats.org/drawingml/2006/main">
            <a:r>
              <a:t>Use this slide to provide the narrative overview and definition before moving into detailed application.</a:t>
            </a:r>
          </a:p>
          <a:p xmlns:a="http://schemas.openxmlformats.org/drawingml/2006/main">
            <a:r>
              <a:t>Connect the discussion back to the playbook: this topic supports Plays 8, 9 and Tools 33, 32, 31.</a:t>
            </a:r>
          </a:p>
          <a:p xmlns:a="http://schemas.openxmlformats.org/drawingml/2006/main">
            <a:r>
              <a:t>Ask the group to restate the topic in their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Federal Funding Opportunities training module.</a:t>
            </a:r>
          </a:p>
          <a:p xmlns:a="http://schemas.openxmlformats.org/drawingml/2006/main">
            <a:r>
              <a:t>Use this slide to turn the concept into practical behaviors, decisions, and safeguards.</a:t>
            </a:r>
          </a:p>
          <a:p xmlns:a="http://schemas.openxmlformats.org/drawingml/2006/main">
            <a:r>
              <a:t>Connect the discussion back to the playbook: this topic supports Plays 8, 9 and Tools 33, 32, 31.</a:t>
            </a:r>
          </a:p>
          <a:p xmlns:a="http://schemas.openxmlformats.org/drawingml/2006/main">
            <a:r>
              <a:t>Invite participants to identify where these practices would need to be documented in their own department.</a:t>
            </a:r>
          </a:p>
          <a:p xmlns:a="http://schemas.openxmlformats.org/drawingml/2006/main">
            <a:r>
              <a:t>Start with Funding Alignment, then compare it with the other practice areas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Federal Funding Opportunities training module.</a:t>
            </a:r>
          </a:p>
          <a:p xmlns:a="http://schemas.openxmlformats.org/drawingml/2006/main">
            <a:r>
              <a:t>Use this slide to make the topic concrete through public health workflow examples.</a:t>
            </a:r>
          </a:p>
          <a:p xmlns:a="http://schemas.openxmlformats.org/drawingml/2006/main">
            <a:r>
              <a:t>Connect the discussion back to the playbook: this topic supports Plays 8, 9 and Tools 33, 32, 31.</a:t>
            </a:r>
          </a:p>
          <a:p xmlns:a="http://schemas.openxmlformats.org/drawingml/2006/main">
            <a:r>
              <a:t>For each example, ask: What problem is being solved? What data would be used? Who reviews the AI output? What decision remains human? What could go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Federal Funding Opportunities training module.</a:t>
            </a:r>
          </a:p>
          <a:p xmlns:a="http://schemas.openxmlformats.org/drawingml/2006/main">
            <a:r>
              <a:t>Use this slide for a facilitated activity near the end of the lesson.</a:t>
            </a:r>
          </a:p>
          <a:p xmlns:a="http://schemas.openxmlformats.org/drawingml/2006/main">
            <a:r>
              <a:t>Connect the discussion back to the playbook: this topic supports Plays 8, 9 and Tools 33, 32, 31.</a:t>
            </a:r>
          </a:p>
          <a:p xmlns:a="http://schemas.openxmlformats.org/drawingml/2006/main">
            <a:r>
              <a:t>Give participants time to work individually or in small groups. Ask them to produce a practical artifact that can feed into readiness assessment, governance review, use case prioritization, or implementation planning.</a:t>
            </a:r>
          </a:p>
          <a:p xmlns:a="http://schemas.openxmlformats.org/drawingml/2006/main">
            <a:r>
              <a:t>Expected takeaways include: Funding alignment table, Sustainment plan, Budget categories for responsible AI implementation.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Federal Funding Opportunities training module.</a:t>
            </a:r>
          </a:p>
          <a:p xmlns:a="http://schemas.openxmlformats.org/drawingml/2006/main">
            <a:r>
              <a:t>Close by connecting the lesson to next actions and resources.</a:t>
            </a:r>
          </a:p>
          <a:p xmlns:a="http://schemas.openxmlformats.org/drawingml/2006/main">
            <a:r>
              <a:t>Connect the discussion back to the playbook: this topic supports Plays 8, 9 and Tools 33, 32, 31.</a:t>
            </a:r>
          </a:p>
          <a:p xmlns:a="http://schemas.openxmlformats.org/drawingml/2006/main">
            <a:r>
              <a:t>Point participants to the first resource: CDC Data Modernization Initiative.</a:t>
            </a:r>
          </a:p>
          <a:p xmlns:a="http://schemas.openxmlformats.org/drawingml/2006/main">
            <a:r>
              <a:t>End by asking each participant or team to name one follow-up action they will take after the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cabd948f674b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117c81bb9da4847" /><Relationship Type="http://schemas.openxmlformats.org/officeDocument/2006/relationships/slideLayout" Target="/ppt/slideLayouts/slideLayout1.xml" Id="R332169eaf2434c0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2169eaf2434c0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6915bfcd2ec4b07" /><Relationship Type="http://schemas.openxmlformats.org/officeDocument/2006/relationships/image" Target="/ppt/media/image.png" Id="R921af5f0e7714d5d" /><Relationship Type="http://schemas.openxmlformats.org/officeDocument/2006/relationships/notesSlide" Target="/ppt/notesSlides/notesSlide1.xml" Id="R260cb30cb84d476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3ec0f53e8c24a45" /><Relationship Type="http://schemas.openxmlformats.org/officeDocument/2006/relationships/notesSlide" Target="/ppt/notesSlides/notesSlide2.xml" Id="R64ac019aa276449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866824e7a244dcb" /><Relationship Type="http://schemas.openxmlformats.org/officeDocument/2006/relationships/notesSlide" Target="/ppt/notesSlides/notesSlide3.xml" Id="R0e367cf49e67414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49859cdf2974f2f" /><Relationship Type="http://schemas.openxmlformats.org/officeDocument/2006/relationships/notesSlide" Target="/ppt/notesSlides/notesSlide4.xml" Id="R773c443a257946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9b91a234959403f" /><Relationship Type="http://schemas.openxmlformats.org/officeDocument/2006/relationships/notesSlide" Target="/ppt/notesSlides/notesSlide5.xml" Id="R4e9d2db135ad4e3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c8be8eae8b1418d" /><Relationship Type="http://schemas.openxmlformats.org/officeDocument/2006/relationships/notesSlide" Target="/ppt/notesSlides/notesSlide6.xml" Id="Rf27dd7fa3e2e4e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662ff9660374b08" /><Relationship Type="http://schemas.openxmlformats.org/officeDocument/2006/relationships/notesSlide" Target="/ppt/notesSlides/notesSlide7.xml" Id="Re2931f6011164b4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b61a48b1e114806" /><Relationship Type="http://schemas.openxmlformats.org/officeDocument/2006/relationships/notesSlide" Target="/ppt/notesSlides/notesSlide8.xml" Id="Rde3e79422b5d4b3a" /></Relationships>
</file>

<file path=ppt/slides/slide1.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21af5f0e7714d5d"/>
          <a:stretch xmlns:a="http://schemas.openxmlformats.org/drawingml/2006/main"/>
        </p:blipFill>
        <p:spPr>
          <a:xfrm xmlns:a="http://schemas.openxmlformats.org/drawingml/2006/main">
            <a:off x="5316097" y="514350"/>
            <a:ext cx="1559806" cy="1524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A79A8F0-3835-4C1F-AA80-7D22D0A3081A}"/>
              </a:ext>
            </a:extLst>
          </p:cNvPr>
          <p:cNvSpPr>
            <a:spLocks xmlns:a="http://schemas.openxmlformats.org/drawingml/2006/main" noGrp="1"/>
          </p:cNvSpPr>
          <p:nvPr/>
        </p:nvSpPr>
        <p:spPr>
          <a:xfrm xmlns:a="http://schemas.openxmlformats.org/drawingml/2006/main">
            <a:off x="4953000" y="23050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287320"/>
                </a:solidFill>
              </a:defRPr>
            </a:pPr>
            <a:r>
              <a:rPr sz="1800" b="1">
                <a:solidFill>
                  <a:srgbClr val="287320"/>
                </a:solidFill>
              </a:rPr>
              <a:t>Lesson 18</a:t>
            </a:r>
          </a:p>
        </p:txBody>
      </p:sp>
      <p:sp>
        <p:nvSpPr>
          <p:cNvPr id="3" name="">
            <a:extLst xmlns:a="http://schemas.openxmlformats.org/drawingml/2006/main">
              <a:ext uri="{FF2B5EF4-FFF2-40B4-BE49-F238E27FC236}">
                <a16:creationId xmlns:a16="http://schemas.microsoft.com/office/drawing/2014/main" id="{8536D24D-C8F5-4790-A52A-48870BDB1E23}"/>
              </a:ext>
            </a:extLst>
          </p:cNvPr>
          <p:cNvSpPr>
            <a:spLocks xmlns:a="http://schemas.openxmlformats.org/drawingml/2006/main" noGrp="1"/>
          </p:cNvSpPr>
          <p:nvPr/>
        </p:nvSpPr>
        <p:spPr>
          <a:xfrm xmlns:a="http://schemas.openxmlformats.org/drawingml/2006/main">
            <a:off x="1333500" y="2781300"/>
            <a:ext cx="9525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900" b="1">
                <a:solidFill>
                  <a:srgbClr val="003B70"/>
                </a:solidFill>
              </a:defRPr>
            </a:pPr>
            <a:r>
              <a:rPr sz="3900" b="1">
                <a:solidFill>
                  <a:srgbClr val="003B70"/>
                </a:solidFill>
              </a:rPr>
              <a:t>Federal Funding Opportunities</a:t>
            </a:r>
          </a:p>
        </p:txBody>
      </p:sp>
      <p:sp>
        <p:nvSpPr>
          <p:cNvPr id="4" name="">
            <a:extLst xmlns:a="http://schemas.openxmlformats.org/drawingml/2006/main">
              <a:ext uri="{FF2B5EF4-FFF2-40B4-BE49-F238E27FC236}">
                <a16:creationId xmlns:a16="http://schemas.microsoft.com/office/drawing/2014/main" id="{04E9A769-BB34-48CE-922C-AD270791EDB4}"/>
              </a:ext>
            </a:extLst>
          </p:cNvPr>
          <p:cNvSpPr>
            <a:spLocks xmlns:a="http://schemas.openxmlformats.org/drawingml/2006/main" noGrp="1"/>
          </p:cNvSpPr>
          <p:nvPr/>
        </p:nvSpPr>
        <p:spPr>
          <a:xfrm xmlns:a="http://schemas.openxmlformats.org/drawingml/2006/main">
            <a:off x="3714750" y="3857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a:solidFill>
                  <a:srgbClr val="005DAA"/>
                </a:solidFill>
              </a:defRPr>
            </a:pPr>
            <a:r>
              <a:rPr sz="2025" b="1">
                <a:solidFill>
                  <a:srgbClr val="005DAA"/>
                </a:solidFill>
              </a:rPr>
              <a:t>Staff Training Module</a:t>
            </a:r>
          </a:p>
        </p:txBody>
      </p:sp>
      <p:sp>
        <p:nvSpPr>
          <p:cNvPr id="5" name="">
            <a:extLst xmlns:a="http://schemas.openxmlformats.org/drawingml/2006/main">
              <a:ext uri="{FF2B5EF4-FFF2-40B4-BE49-F238E27FC236}">
                <a16:creationId xmlns:a16="http://schemas.microsoft.com/office/drawing/2014/main" id="{17E905CE-6233-49DD-B90E-7071E2291C7B}"/>
              </a:ext>
            </a:extLst>
          </p:cNvPr>
          <p:cNvSpPr>
            <a:spLocks xmlns:a="http://schemas.openxmlformats.org/drawingml/2006/main" noGrp="1"/>
          </p:cNvSpPr>
          <p:nvPr/>
        </p:nvSpPr>
        <p:spPr>
          <a:xfrm xmlns:a="http://schemas.openxmlformats.org/drawingml/2006/main">
            <a:off x="3429000" y="4495800"/>
            <a:ext cx="5334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856A083A-8A85-40E8-A081-BCA24EED66B1}"/>
              </a:ext>
            </a:extLst>
          </p:cNvPr>
          <p:cNvSpPr>
            <a:spLocks xmlns:a="http://schemas.openxmlformats.org/drawingml/2006/main" noGrp="1"/>
          </p:cNvSpPr>
          <p:nvPr/>
        </p:nvSpPr>
        <p:spPr>
          <a:xfrm xmlns:a="http://schemas.openxmlformats.org/drawingml/2006/main">
            <a:off x="2286000" y="4905375"/>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87320"/>
                </a:solidFill>
              </a:defRPr>
            </a:pPr>
            <a:r>
              <a:rPr sz="1500" b="1">
                <a:solidFill>
                  <a:srgbClr val="287320"/>
                </a:solidFill>
              </a:rPr>
              <a:t>AI Playbook and Toolkit for Public Health Departments</a:t>
            </a:r>
          </a:p>
        </p:txBody>
      </p:sp>
    </p:spTree>
    <p:extLst>
      <p:ext uri="{BB962C8B-B14F-4D97-AF65-F5344CB8AC3E}">
        <p14:creationId xmlns:p14="http://schemas.microsoft.com/office/powerpoint/2010/main" val="113336811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2EB2000-3BF5-4F3E-944F-0330904639D3}"/>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734B6A60-30F2-4558-BE4B-8ABF88600E06}"/>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Why this topic matters</a:t>
            </a:r>
          </a:p>
        </p:txBody>
      </p:sp>
      <p:sp>
        <p:nvSpPr>
          <p:cNvPr id="3" name="">
            <a:extLst xmlns:a="http://schemas.openxmlformats.org/drawingml/2006/main">
              <a:ext uri="{FF2B5EF4-FFF2-40B4-BE49-F238E27FC236}">
                <a16:creationId xmlns:a16="http://schemas.microsoft.com/office/drawing/2014/main" id="{36C76795-9DF1-4941-B2EF-137061BCE32A}"/>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C2E11653-8408-4F46-86C3-64E89828FC31}"/>
              </a:ext>
            </a:extLst>
          </p:cNvPr>
          <p:cNvSpPr>
            <a:spLocks xmlns:a="http://schemas.openxmlformats.org/drawingml/2006/main" noGrp="1"/>
          </p:cNvSpPr>
          <p:nvPr/>
        </p:nvSpPr>
        <p:spPr>
          <a:xfrm xmlns:a="http://schemas.openxmlformats.org/drawingml/2006/main">
            <a:off x="685800" y="17145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AI work can often be positioned as a capability layer on top of data modernization, infrastructure, workforce, and equity investments.</a:t>
            </a:r>
          </a:p>
        </p:txBody>
      </p:sp>
      <p:sp>
        <p:nvSpPr>
          <p:cNvPr id="5" name="">
            <a:extLst xmlns:a="http://schemas.openxmlformats.org/drawingml/2006/main">
              <a:ext uri="{FF2B5EF4-FFF2-40B4-BE49-F238E27FC236}">
                <a16:creationId xmlns:a16="http://schemas.microsoft.com/office/drawing/2014/main" id="{48B38075-335D-4C2F-8F0F-A2090E54EA8A}"/>
              </a:ext>
            </a:extLst>
          </p:cNvPr>
          <p:cNvSpPr>
            <a:spLocks xmlns:a="http://schemas.openxmlformats.org/drawingml/2006/main" noGrp="1"/>
          </p:cNvSpPr>
          <p:nvPr/>
        </p:nvSpPr>
        <p:spPr>
          <a:xfrm xmlns:a="http://schemas.openxmlformats.org/drawingml/2006/main">
            <a:off x="685800"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8307153A-F753-47E6-93E4-A02CD3DD0D06}"/>
              </a:ext>
            </a:extLst>
          </p:cNvPr>
          <p:cNvSpPr>
            <a:spLocks xmlns:a="http://schemas.openxmlformats.org/drawingml/2006/main" noGrp="1"/>
          </p:cNvSpPr>
          <p:nvPr/>
        </p:nvSpPr>
        <p:spPr>
          <a:xfrm xmlns:a="http://schemas.openxmlformats.org/drawingml/2006/main">
            <a:off x="685800" y="2905125"/>
            <a:ext cx="66675" cy="2190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1105FF76-147D-4838-94D1-A27945F1F987}"/>
              </a:ext>
            </a:extLst>
          </p:cNvPr>
          <p:cNvSpPr>
            <a:spLocks xmlns:a="http://schemas.openxmlformats.org/drawingml/2006/main" noGrp="1"/>
          </p:cNvSpPr>
          <p:nvPr/>
        </p:nvSpPr>
        <p:spPr>
          <a:xfrm xmlns:a="http://schemas.openxmlformats.org/drawingml/2006/main">
            <a:off x="914400"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Public health value</a:t>
            </a:r>
          </a:p>
        </p:txBody>
      </p:sp>
      <p:sp>
        <p:nvSpPr>
          <p:cNvPr id="8" name="">
            <a:extLst xmlns:a="http://schemas.openxmlformats.org/drawingml/2006/main">
              <a:ext uri="{FF2B5EF4-FFF2-40B4-BE49-F238E27FC236}">
                <a16:creationId xmlns:a16="http://schemas.microsoft.com/office/drawing/2014/main" id="{D1CFD331-3672-4CF1-960D-D299EDC14BAC}"/>
              </a:ext>
            </a:extLst>
          </p:cNvPr>
          <p:cNvSpPr>
            <a:spLocks xmlns:a="http://schemas.openxmlformats.org/drawingml/2006/main" noGrp="1"/>
          </p:cNvSpPr>
          <p:nvPr/>
        </p:nvSpPr>
        <p:spPr>
          <a:xfrm xmlns:a="http://schemas.openxmlformats.org/drawingml/2006/main">
            <a:off x="914400"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AI projects often require resources that are easy to overlook: staff time, governance, training, validation, data modernization, monitoring, accessibility, community engagement, and sustainment. Funding strategy should make the full cost of.</a:t>
            </a:r>
          </a:p>
        </p:txBody>
      </p:sp>
      <p:sp>
        <p:nvSpPr>
          <p:cNvPr id="9" name="">
            <a:extLst xmlns:a="http://schemas.openxmlformats.org/drawingml/2006/main">
              <a:ext uri="{FF2B5EF4-FFF2-40B4-BE49-F238E27FC236}">
                <a16:creationId xmlns:a16="http://schemas.microsoft.com/office/drawing/2014/main" id="{A7CFC73A-020F-4568-AE76-B0ACFC5DB9EE}"/>
              </a:ext>
            </a:extLst>
          </p:cNvPr>
          <p:cNvSpPr>
            <a:spLocks xmlns:a="http://schemas.openxmlformats.org/drawingml/2006/main" noGrp="1"/>
          </p:cNvSpPr>
          <p:nvPr/>
        </p:nvSpPr>
        <p:spPr>
          <a:xfrm xmlns:a="http://schemas.openxmlformats.org/drawingml/2006/main">
            <a:off x="5953125"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E6308E77-24B8-457E-9BB1-FEBC53DAF972}"/>
              </a:ext>
            </a:extLst>
          </p:cNvPr>
          <p:cNvSpPr>
            <a:spLocks xmlns:a="http://schemas.openxmlformats.org/drawingml/2006/main" noGrp="1"/>
          </p:cNvSpPr>
          <p:nvPr/>
        </p:nvSpPr>
        <p:spPr>
          <a:xfrm xmlns:a="http://schemas.openxmlformats.org/drawingml/2006/main">
            <a:off x="5953125" y="2905125"/>
            <a:ext cx="66675" cy="2190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9DF4787C-4EF7-485F-9249-F69689A7F353}"/>
              </a:ext>
            </a:extLst>
          </p:cNvPr>
          <p:cNvSpPr>
            <a:spLocks xmlns:a="http://schemas.openxmlformats.org/drawingml/2006/main" noGrp="1"/>
          </p:cNvSpPr>
          <p:nvPr/>
        </p:nvSpPr>
        <p:spPr>
          <a:xfrm xmlns:a="http://schemas.openxmlformats.org/drawingml/2006/main">
            <a:off x="6181725"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Guardrail</a:t>
            </a:r>
          </a:p>
        </p:txBody>
      </p:sp>
      <p:sp>
        <p:nvSpPr>
          <p:cNvPr id="12" name="">
            <a:extLst xmlns:a="http://schemas.openxmlformats.org/drawingml/2006/main">
              <a:ext uri="{FF2B5EF4-FFF2-40B4-BE49-F238E27FC236}">
                <a16:creationId xmlns:a16="http://schemas.microsoft.com/office/drawing/2014/main" id="{7CCCEEE3-D7AF-42D5-B244-0ACDEDA87723}"/>
              </a:ext>
            </a:extLst>
          </p:cNvPr>
          <p:cNvSpPr>
            <a:spLocks xmlns:a="http://schemas.openxmlformats.org/drawingml/2006/main" noGrp="1"/>
          </p:cNvSpPr>
          <p:nvPr/>
        </p:nvSpPr>
        <p:spPr>
          <a:xfrm xmlns:a="http://schemas.openxmlformats.org/drawingml/2006/main">
            <a:off x="6181725"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Do not approve projects without confirmed pilot, scale, and sustainment resources.</a:t>
            </a:r>
          </a:p>
        </p:txBody>
      </p:sp>
      <p:sp>
        <p:nvSpPr>
          <p:cNvPr id="13" name="">
            <a:extLst xmlns:a="http://schemas.openxmlformats.org/drawingml/2006/main">
              <a:ext uri="{FF2B5EF4-FFF2-40B4-BE49-F238E27FC236}">
                <a16:creationId xmlns:a16="http://schemas.microsoft.com/office/drawing/2014/main" id="{CF1EB9E1-2910-4FB1-9DD5-E4BBE0008854}"/>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Federal Funding Opportunities</a:t>
            </a:r>
          </a:p>
        </p:txBody>
      </p:sp>
      <p:sp>
        <p:nvSpPr>
          <p:cNvPr id="14" name="">
            <a:extLst xmlns:a="http://schemas.openxmlformats.org/drawingml/2006/main">
              <a:ext uri="{FF2B5EF4-FFF2-40B4-BE49-F238E27FC236}">
                <a16:creationId xmlns:a16="http://schemas.microsoft.com/office/drawing/2014/main" id="{D9935F34-F36E-4836-8BA1-1FBC6B06CE06}"/>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02</a:t>
            </a:r>
          </a:p>
        </p:txBody>
      </p:sp>
    </p:spTree>
    <p:extLst>
      <p:ext uri="{BB962C8B-B14F-4D97-AF65-F5344CB8AC3E}">
        <p14:creationId xmlns:p14="http://schemas.microsoft.com/office/powerpoint/2010/main" val="333741938"/>
      </p:ext>
    </p:extLst>
  </p:cSld>
</p:sld>
</file>

<file path=ppt/slides/slide3.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A9C15CF-775A-4313-A561-D23D986D7455}"/>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DECEC4DC-818F-45C3-93FD-8D35BD93F0D4}"/>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Learning objectives</a:t>
            </a:r>
          </a:p>
        </p:txBody>
      </p:sp>
      <p:sp>
        <p:nvSpPr>
          <p:cNvPr id="3" name="">
            <a:extLst xmlns:a="http://schemas.openxmlformats.org/drawingml/2006/main">
              <a:ext uri="{FF2B5EF4-FFF2-40B4-BE49-F238E27FC236}">
                <a16:creationId xmlns:a16="http://schemas.microsoft.com/office/drawing/2014/main" id="{90CD0F60-341F-4796-A14F-FE4C35DCFD67}"/>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F62374F4-6801-494D-92D8-1AACA527ED67}"/>
              </a:ext>
            </a:extLst>
          </p:cNvPr>
          <p:cNvSpPr>
            <a:spLocks xmlns:a="http://schemas.openxmlformats.org/drawingml/2006/main" noGrp="1"/>
          </p:cNvSpPr>
          <p:nvPr/>
        </p:nvSpPr>
        <p:spPr>
          <a:xfrm xmlns:a="http://schemas.openxmlformats.org/drawingml/2006/main">
            <a:off x="685800" y="16573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2324A"/>
                </a:solidFill>
              </a:defRPr>
            </a:pPr>
            <a:r>
              <a:rPr sz="1875" b="1">
                <a:solidFill>
                  <a:srgbClr val="12324A"/>
                </a:solidFill>
              </a:rPr>
              <a:t>By the end of this lesson, staff should be able to:</a:t>
            </a:r>
          </a:p>
        </p:txBody>
      </p:sp>
      <p:sp>
        <p:nvSpPr>
          <p:cNvPr id="5" name="">
            <a:extLst xmlns:a="http://schemas.openxmlformats.org/drawingml/2006/main">
              <a:ext uri="{FF2B5EF4-FFF2-40B4-BE49-F238E27FC236}">
                <a16:creationId xmlns:a16="http://schemas.microsoft.com/office/drawing/2014/main" id="{49E888D5-BFA8-4163-842F-0585FFCA6260}"/>
              </a:ext>
            </a:extLst>
          </p:cNvPr>
          <p:cNvSpPr>
            <a:spLocks xmlns:a="http://schemas.openxmlformats.org/drawingml/2006/main" noGrp="1"/>
          </p:cNvSpPr>
          <p:nvPr/>
        </p:nvSpPr>
        <p:spPr>
          <a:xfrm xmlns:a="http://schemas.openxmlformats.org/drawingml/2006/main">
            <a:off x="1047750" y="2286000"/>
            <a:ext cx="94297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24394A"/>
                </a:solidFill>
              </a:defRPr>
            </a:pPr>
            <a:r>
              <a:rPr sz="1725" b="0">
                <a:solidFill>
                  <a:srgbClr val="24394A"/>
                </a:solidFill>
              </a:rPr>
              <a:t>• Explain Federal Funding Opportunities in plain language.</a:t>
            </a:r>
          </a:p>
          <a:p xmlns:a="http://schemas.openxmlformats.org/drawingml/2006/main">
            <a:pPr algn="l">
              <a:defRPr sz="1725" b="0">
                <a:solidFill>
                  <a:srgbClr val="24394A"/>
                </a:solidFill>
              </a:defRPr>
            </a:pPr>
            <a:r>
              <a:rPr sz="1725" b="0">
                <a:solidFill>
                  <a:srgbClr val="24394A"/>
                </a:solidFill>
              </a:rPr>
              <a:t>• Identify appropriate public health uses and limits.</a:t>
            </a:r>
          </a:p>
          <a:p xmlns:a="http://schemas.openxmlformats.org/drawingml/2006/main">
            <a:pPr algn="l">
              <a:defRPr sz="1725" b="0">
                <a:solidFill>
                  <a:srgbClr val="24394A"/>
                </a:solidFill>
              </a:defRPr>
            </a:pPr>
            <a:r>
              <a:rPr sz="1725" b="0">
                <a:solidFill>
                  <a:srgbClr val="24394A"/>
                </a:solidFill>
              </a:rPr>
              <a:t>• Describe human review, governance, equity, privacy, and monitoring expectations.</a:t>
            </a:r>
          </a:p>
          <a:p xmlns:a="http://schemas.openxmlformats.org/drawingml/2006/main">
            <a:pPr algn="l">
              <a:defRPr sz="1725" b="0">
                <a:solidFill>
                  <a:srgbClr val="24394A"/>
                </a:solidFill>
              </a:defRPr>
            </a:pPr>
            <a:r>
              <a:rPr sz="1725" b="0">
                <a:solidFill>
                  <a:srgbClr val="24394A"/>
                </a:solidFill>
              </a:rPr>
              <a:t>• Connect the topic to the related plays and tools.</a:t>
            </a:r>
          </a:p>
        </p:txBody>
      </p:sp>
      <p:sp>
        <p:nvSpPr>
          <p:cNvPr id="6" name="">
            <a:extLst xmlns:a="http://schemas.openxmlformats.org/drawingml/2006/main">
              <a:ext uri="{FF2B5EF4-FFF2-40B4-BE49-F238E27FC236}">
                <a16:creationId xmlns:a16="http://schemas.microsoft.com/office/drawing/2014/main" id="{B33171E2-A5B9-443F-8F27-4541634E9F24}"/>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Federal Funding Opportunities</a:t>
            </a:r>
          </a:p>
        </p:txBody>
      </p:sp>
      <p:sp>
        <p:nvSpPr>
          <p:cNvPr id="7" name="">
            <a:extLst xmlns:a="http://schemas.openxmlformats.org/drawingml/2006/main">
              <a:ext uri="{FF2B5EF4-FFF2-40B4-BE49-F238E27FC236}">
                <a16:creationId xmlns:a16="http://schemas.microsoft.com/office/drawing/2014/main" id="{6401A106-E45E-449F-A070-D199B0AB9E42}"/>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03</a:t>
            </a:r>
          </a:p>
        </p:txBody>
      </p:sp>
    </p:spTree>
    <p:extLst>
      <p:ext uri="{BB962C8B-B14F-4D97-AF65-F5344CB8AC3E}">
        <p14:creationId xmlns:p14="http://schemas.microsoft.com/office/powerpoint/2010/main" val="2540929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25EEC19-CB72-4FC9-9B72-4725BD0D1BA1}"/>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1E03C579-9386-43C2-94E9-8D0D19CDD98F}"/>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Module overview</a:t>
            </a:r>
          </a:p>
        </p:txBody>
      </p:sp>
      <p:sp>
        <p:nvSpPr>
          <p:cNvPr id="3" name="">
            <a:extLst xmlns:a="http://schemas.openxmlformats.org/drawingml/2006/main">
              <a:ext uri="{FF2B5EF4-FFF2-40B4-BE49-F238E27FC236}">
                <a16:creationId xmlns:a16="http://schemas.microsoft.com/office/drawing/2014/main" id="{4A54DBA0-77ED-4008-8E5C-36FAE892B91D}"/>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E1247E99-EA27-4432-B849-491ED72535A7}"/>
              </a:ext>
            </a:extLst>
          </p:cNvPr>
          <p:cNvSpPr>
            <a:spLocks xmlns:a="http://schemas.openxmlformats.org/drawingml/2006/main" noGrp="1"/>
          </p:cNvSpPr>
          <p:nvPr/>
        </p:nvSpPr>
        <p:spPr>
          <a:xfrm xmlns:a="http://schemas.openxmlformats.org/drawingml/2006/main">
            <a:off x="685800" y="1695450"/>
            <a:ext cx="1019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24394A"/>
                </a:solidFill>
              </a:defRPr>
            </a:pPr>
            <a:r>
              <a:rPr sz="1800" b="0">
                <a:solidFill>
                  <a:srgbClr val="24394A"/>
                </a:solidFill>
              </a:rPr>
              <a:t>AI projects need funding for more than software licenses. Responsible implementation may require data modernization, cloud or secure infrastructure, staff time, training, governance, legal and procurement review, evaluation, monitoring, translation, accessibility, community engagement, and sustainment. Funding strategy should be developed before pilots are approved for scale.</a:t>
            </a:r>
          </a:p>
        </p:txBody>
      </p:sp>
      <p:sp>
        <p:nvSpPr>
          <p:cNvPr id="5" name="">
            <a:extLst xmlns:a="http://schemas.openxmlformats.org/drawingml/2006/main">
              <a:ext uri="{FF2B5EF4-FFF2-40B4-BE49-F238E27FC236}">
                <a16:creationId xmlns:a16="http://schemas.microsoft.com/office/drawing/2014/main" id="{0A2E0355-0170-48CE-B92E-58ECC18B3654}"/>
              </a:ext>
            </a:extLst>
          </p:cNvPr>
          <p:cNvSpPr>
            <a:spLocks xmlns:a="http://schemas.openxmlformats.org/drawingml/2006/main" noGrp="1"/>
          </p:cNvSpPr>
          <p:nvPr/>
        </p:nvSpPr>
        <p:spPr>
          <a:xfrm xmlns:a="http://schemas.openxmlformats.org/drawingml/2006/main">
            <a:off x="685800" y="3524250"/>
            <a:ext cx="9953625" cy="1381125"/>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81F386B-69BA-4E53-9245-95A6FE4175FE}"/>
              </a:ext>
            </a:extLst>
          </p:cNvPr>
          <p:cNvSpPr>
            <a:spLocks xmlns:a="http://schemas.openxmlformats.org/drawingml/2006/main" noGrp="1"/>
          </p:cNvSpPr>
          <p:nvPr/>
        </p:nvSpPr>
        <p:spPr>
          <a:xfrm xmlns:a="http://schemas.openxmlformats.org/drawingml/2006/main">
            <a:off x="685800" y="3524250"/>
            <a:ext cx="66675" cy="138112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A25AD192-412F-4BA2-ADBE-DEAB4C20E236}"/>
              </a:ext>
            </a:extLst>
          </p:cNvPr>
          <p:cNvSpPr>
            <a:spLocks xmlns:a="http://schemas.openxmlformats.org/drawingml/2006/main" noGrp="1"/>
          </p:cNvSpPr>
          <p:nvPr/>
        </p:nvSpPr>
        <p:spPr>
          <a:xfrm xmlns:a="http://schemas.openxmlformats.org/drawingml/2006/main">
            <a:off x="914400" y="3714750"/>
            <a:ext cx="94964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Working definition</a:t>
            </a:r>
          </a:p>
        </p:txBody>
      </p:sp>
      <p:sp>
        <p:nvSpPr>
          <p:cNvPr id="8" name="">
            <a:extLst xmlns:a="http://schemas.openxmlformats.org/drawingml/2006/main">
              <a:ext uri="{FF2B5EF4-FFF2-40B4-BE49-F238E27FC236}">
                <a16:creationId xmlns:a16="http://schemas.microsoft.com/office/drawing/2014/main" id="{19809490-F56F-4484-94BD-22471A0A3D40}"/>
              </a:ext>
            </a:extLst>
          </p:cNvPr>
          <p:cNvSpPr>
            <a:spLocks xmlns:a="http://schemas.openxmlformats.org/drawingml/2006/main" noGrp="1"/>
          </p:cNvSpPr>
          <p:nvPr/>
        </p:nvSpPr>
        <p:spPr>
          <a:xfrm xmlns:a="http://schemas.openxmlformats.org/drawingml/2006/main">
            <a:off x="914400" y="4171950"/>
            <a:ext cx="94964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AI work can often be positioned as a capability layer on top of data modernization, infrastructure, workforce, and equity investments.</a:t>
            </a:r>
          </a:p>
        </p:txBody>
      </p:sp>
      <p:sp>
        <p:nvSpPr>
          <p:cNvPr id="9" name="">
            <a:extLst xmlns:a="http://schemas.openxmlformats.org/drawingml/2006/main">
              <a:ext uri="{FF2B5EF4-FFF2-40B4-BE49-F238E27FC236}">
                <a16:creationId xmlns:a16="http://schemas.microsoft.com/office/drawing/2014/main" id="{123D5198-16B5-4493-B08D-04774F256101}"/>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Federal Funding Opportunities</a:t>
            </a:r>
          </a:p>
        </p:txBody>
      </p:sp>
      <p:sp>
        <p:nvSpPr>
          <p:cNvPr id="10" name="">
            <a:extLst xmlns:a="http://schemas.openxmlformats.org/drawingml/2006/main">
              <a:ext uri="{FF2B5EF4-FFF2-40B4-BE49-F238E27FC236}">
                <a16:creationId xmlns:a16="http://schemas.microsoft.com/office/drawing/2014/main" id="{93985DCD-69DB-495D-8558-F88F82143A28}"/>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04</a:t>
            </a:r>
          </a:p>
        </p:txBody>
      </p:sp>
    </p:spTree>
    <p:extLst>
      <p:ext uri="{BB962C8B-B14F-4D97-AF65-F5344CB8AC3E}">
        <p14:creationId xmlns:p14="http://schemas.microsoft.com/office/powerpoint/2010/main" val="533345285"/>
      </p:ext>
    </p:extLst>
  </p:cSld>
</p:sld>
</file>

<file path=ppt/slides/slide5.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5A84F25-5DF7-4088-853A-A2C6BA66B69B}"/>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1DF3F843-F135-4E5F-82A9-0E4C02F25647}"/>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What this means in practice</a:t>
            </a:r>
          </a:p>
        </p:txBody>
      </p:sp>
      <p:sp>
        <p:nvSpPr>
          <p:cNvPr id="3" name="">
            <a:extLst xmlns:a="http://schemas.openxmlformats.org/drawingml/2006/main">
              <a:ext uri="{FF2B5EF4-FFF2-40B4-BE49-F238E27FC236}">
                <a16:creationId xmlns:a16="http://schemas.microsoft.com/office/drawing/2014/main" id="{B466D558-84AA-423D-A2BC-0F5FCF76387F}"/>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0EF2C516-F81E-455A-A726-0ED9EC17A8C3}"/>
              </a:ext>
            </a:extLst>
          </p:cNvPr>
          <p:cNvSpPr>
            <a:spLocks xmlns:a="http://schemas.openxmlformats.org/drawingml/2006/main" noGrp="1"/>
          </p:cNvSpPr>
          <p:nvPr/>
        </p:nvSpPr>
        <p:spPr>
          <a:xfrm xmlns:a="http://schemas.openxmlformats.org/drawingml/2006/main">
            <a:off x="68580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7DD44746-86C9-41B6-819C-1BDAF03D59BB}"/>
              </a:ext>
            </a:extLst>
          </p:cNvPr>
          <p:cNvSpPr>
            <a:spLocks xmlns:a="http://schemas.openxmlformats.org/drawingml/2006/main" noGrp="1"/>
          </p:cNvSpPr>
          <p:nvPr/>
        </p:nvSpPr>
        <p:spPr>
          <a:xfrm xmlns:a="http://schemas.openxmlformats.org/drawingml/2006/main">
            <a:off x="68580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6ECBFEF6-7B1B-4933-8460-BDF8DAEAB32C}"/>
              </a:ext>
            </a:extLst>
          </p:cNvPr>
          <p:cNvSpPr>
            <a:spLocks xmlns:a="http://schemas.openxmlformats.org/drawingml/2006/main" noGrp="1"/>
          </p:cNvSpPr>
          <p:nvPr/>
        </p:nvSpPr>
        <p:spPr>
          <a:xfrm xmlns:a="http://schemas.openxmlformats.org/drawingml/2006/main">
            <a:off x="91440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Funding Alignment</a:t>
            </a:r>
          </a:p>
        </p:txBody>
      </p:sp>
      <p:sp>
        <p:nvSpPr>
          <p:cNvPr id="7" name="">
            <a:extLst xmlns:a="http://schemas.openxmlformats.org/drawingml/2006/main">
              <a:ext uri="{FF2B5EF4-FFF2-40B4-BE49-F238E27FC236}">
                <a16:creationId xmlns:a16="http://schemas.microsoft.com/office/drawing/2014/main" id="{15B608AF-EEFC-459A-AB3B-498A1FD51E22}"/>
              </a:ext>
            </a:extLst>
          </p:cNvPr>
          <p:cNvSpPr>
            <a:spLocks xmlns:a="http://schemas.openxmlformats.org/drawingml/2006/main" noGrp="1"/>
          </p:cNvSpPr>
          <p:nvPr/>
        </p:nvSpPr>
        <p:spPr>
          <a:xfrm xmlns:a="http://schemas.openxmlformats.org/drawingml/2006/main">
            <a:off x="91440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Position AI as an enabling capability within data modernization, workforce, equity, emergency preparedness, surveillance,. Match use cases to allowable costs in DMI, PHIG, HRSA, FEMA, EPA, SAMHSA, NIH, NSF, or state and local funding streams.</a:t>
            </a:r>
          </a:p>
        </p:txBody>
      </p:sp>
      <p:sp>
        <p:nvSpPr>
          <p:cNvPr id="8" name="">
            <a:extLst xmlns:a="http://schemas.openxmlformats.org/drawingml/2006/main">
              <a:ext uri="{FF2B5EF4-FFF2-40B4-BE49-F238E27FC236}">
                <a16:creationId xmlns:a16="http://schemas.microsoft.com/office/drawing/2014/main" id="{72BD47FF-3CCE-46EE-ABBD-71BF2FF4586E}"/>
              </a:ext>
            </a:extLst>
          </p:cNvPr>
          <p:cNvSpPr>
            <a:spLocks xmlns:a="http://schemas.openxmlformats.org/drawingml/2006/main" noGrp="1"/>
          </p:cNvSpPr>
          <p:nvPr/>
        </p:nvSpPr>
        <p:spPr>
          <a:xfrm xmlns:a="http://schemas.openxmlformats.org/drawingml/2006/main">
            <a:off x="4257675"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7B494DB3-DE16-47CE-852E-49640C4927B8}"/>
              </a:ext>
            </a:extLst>
          </p:cNvPr>
          <p:cNvSpPr>
            <a:spLocks xmlns:a="http://schemas.openxmlformats.org/drawingml/2006/main" noGrp="1"/>
          </p:cNvSpPr>
          <p:nvPr/>
        </p:nvSpPr>
        <p:spPr>
          <a:xfrm xmlns:a="http://schemas.openxmlformats.org/drawingml/2006/main">
            <a:off x="4257675" y="1809750"/>
            <a:ext cx="66675" cy="31432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EC70FCAA-A6D8-43A4-A2ED-39AA4B3D7376}"/>
              </a:ext>
            </a:extLst>
          </p:cNvPr>
          <p:cNvSpPr>
            <a:spLocks xmlns:a="http://schemas.openxmlformats.org/drawingml/2006/main" noGrp="1"/>
          </p:cNvSpPr>
          <p:nvPr/>
        </p:nvSpPr>
        <p:spPr>
          <a:xfrm xmlns:a="http://schemas.openxmlformats.org/drawingml/2006/main">
            <a:off x="4486275"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Budget Categories</a:t>
            </a:r>
          </a:p>
        </p:txBody>
      </p:sp>
      <p:sp>
        <p:nvSpPr>
          <p:cNvPr id="11" name="">
            <a:extLst xmlns:a="http://schemas.openxmlformats.org/drawingml/2006/main">
              <a:ext uri="{FF2B5EF4-FFF2-40B4-BE49-F238E27FC236}">
                <a16:creationId xmlns:a16="http://schemas.microsoft.com/office/drawing/2014/main" id="{FF9562EC-EA9D-4AAE-9BDA-E861EB24F03A}"/>
              </a:ext>
            </a:extLst>
          </p:cNvPr>
          <p:cNvSpPr>
            <a:spLocks xmlns:a="http://schemas.openxmlformats.org/drawingml/2006/main" noGrp="1"/>
          </p:cNvSpPr>
          <p:nvPr/>
        </p:nvSpPr>
        <p:spPr>
          <a:xfrm xmlns:a="http://schemas.openxmlformats.org/drawingml/2006/main">
            <a:off x="4486275"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Technology licenses, hosting, security review, integration, and vendor support. Staff time for governance, implementation, training, monitoring, and evaluation. Community engagement, accessibility, translation, and communications support..</a:t>
            </a:r>
          </a:p>
        </p:txBody>
      </p:sp>
      <p:sp>
        <p:nvSpPr>
          <p:cNvPr id="12" name="">
            <a:extLst xmlns:a="http://schemas.openxmlformats.org/drawingml/2006/main">
              <a:ext uri="{FF2B5EF4-FFF2-40B4-BE49-F238E27FC236}">
                <a16:creationId xmlns:a16="http://schemas.microsoft.com/office/drawing/2014/main" id="{176C8BB9-5E81-459F-BCBF-DF2ABAEE30E0}"/>
              </a:ext>
            </a:extLst>
          </p:cNvPr>
          <p:cNvSpPr>
            <a:spLocks xmlns:a="http://schemas.openxmlformats.org/drawingml/2006/main" noGrp="1"/>
          </p:cNvSpPr>
          <p:nvPr/>
        </p:nvSpPr>
        <p:spPr>
          <a:xfrm xmlns:a="http://schemas.openxmlformats.org/drawingml/2006/main">
            <a:off x="782955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0D751E61-D214-487F-A951-09F0E0C3A12C}"/>
              </a:ext>
            </a:extLst>
          </p:cNvPr>
          <p:cNvSpPr>
            <a:spLocks xmlns:a="http://schemas.openxmlformats.org/drawingml/2006/main" noGrp="1"/>
          </p:cNvSpPr>
          <p:nvPr/>
        </p:nvSpPr>
        <p:spPr>
          <a:xfrm xmlns:a="http://schemas.openxmlformats.org/drawingml/2006/main">
            <a:off x="782955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4" name="">
            <a:extLst xmlns:a="http://schemas.openxmlformats.org/drawingml/2006/main">
              <a:ext uri="{FF2B5EF4-FFF2-40B4-BE49-F238E27FC236}">
                <a16:creationId xmlns:a16="http://schemas.microsoft.com/office/drawing/2014/main" id="{AB9D4C60-332F-49C4-BB21-C4A57945CCE3}"/>
              </a:ext>
            </a:extLst>
          </p:cNvPr>
          <p:cNvSpPr>
            <a:spLocks xmlns:a="http://schemas.openxmlformats.org/drawingml/2006/main" noGrp="1"/>
          </p:cNvSpPr>
          <p:nvPr/>
        </p:nvSpPr>
        <p:spPr>
          <a:xfrm xmlns:a="http://schemas.openxmlformats.org/drawingml/2006/main">
            <a:off x="805815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Sustainment Questions</a:t>
            </a:r>
          </a:p>
        </p:txBody>
      </p:sp>
      <p:sp>
        <p:nvSpPr>
          <p:cNvPr id="15" name="">
            <a:extLst xmlns:a="http://schemas.openxmlformats.org/drawingml/2006/main">
              <a:ext uri="{FF2B5EF4-FFF2-40B4-BE49-F238E27FC236}">
                <a16:creationId xmlns:a16="http://schemas.microsoft.com/office/drawing/2014/main" id="{1CB17B85-60AD-4C4C-AD84-EE77CBB45687}"/>
              </a:ext>
            </a:extLst>
          </p:cNvPr>
          <p:cNvSpPr>
            <a:spLocks xmlns:a="http://schemas.openxmlformats.org/drawingml/2006/main" noGrp="1"/>
          </p:cNvSpPr>
          <p:nvPr/>
        </p:nvSpPr>
        <p:spPr>
          <a:xfrm xmlns:a="http://schemas.openxmlformats.org/drawingml/2006/main">
            <a:off x="805815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Who pays after the pilot? What staffing is required to keep the system safe and useful? What costs increase if the system scales across programs or jurisdictions? What functions can be shared regionally or through partnerships?</a:t>
            </a:r>
          </a:p>
        </p:txBody>
      </p:sp>
      <p:sp>
        <p:nvSpPr>
          <p:cNvPr id="16" name="">
            <a:extLst xmlns:a="http://schemas.openxmlformats.org/drawingml/2006/main">
              <a:ext uri="{FF2B5EF4-FFF2-40B4-BE49-F238E27FC236}">
                <a16:creationId xmlns:a16="http://schemas.microsoft.com/office/drawing/2014/main" id="{84C23F56-39C6-4C75-B98E-B588F5522A3E}"/>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Federal Funding Opportunities</a:t>
            </a:r>
          </a:p>
        </p:txBody>
      </p:sp>
      <p:sp>
        <p:nvSpPr>
          <p:cNvPr id="17" name="">
            <a:extLst xmlns:a="http://schemas.openxmlformats.org/drawingml/2006/main">
              <a:ext uri="{FF2B5EF4-FFF2-40B4-BE49-F238E27FC236}">
                <a16:creationId xmlns:a16="http://schemas.microsoft.com/office/drawing/2014/main" id="{D3963548-C43E-4C2D-ADDB-640FFA5A4596}"/>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05</a:t>
            </a:r>
          </a:p>
        </p:txBody>
      </p:sp>
    </p:spTree>
    <p:extLst>
      <p:ext uri="{BB962C8B-B14F-4D97-AF65-F5344CB8AC3E}">
        <p14:creationId xmlns:p14="http://schemas.microsoft.com/office/powerpoint/2010/main" val="45237429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6EBCED6-A58B-4657-AAA8-7FDC3E7624E1}"/>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50714722-BD5C-4348-A1B4-ABDF4E4F0669}"/>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Public health application</a:t>
            </a:r>
          </a:p>
        </p:txBody>
      </p:sp>
      <p:sp>
        <p:nvSpPr>
          <p:cNvPr id="3" name="">
            <a:extLst xmlns:a="http://schemas.openxmlformats.org/drawingml/2006/main">
              <a:ext uri="{FF2B5EF4-FFF2-40B4-BE49-F238E27FC236}">
                <a16:creationId xmlns:a16="http://schemas.microsoft.com/office/drawing/2014/main" id="{C948EAEA-8893-4646-A211-4D59B8E54E04}"/>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46D0F940-1DC6-4073-8BB6-6E5A72A74C64}"/>
              </a:ext>
            </a:extLst>
          </p:cNvPr>
          <p:cNvSpPr>
            <a:spLocks xmlns:a="http://schemas.openxmlformats.org/drawingml/2006/main" noGrp="1"/>
          </p:cNvSpPr>
          <p:nvPr/>
        </p:nvSpPr>
        <p:spPr>
          <a:xfrm xmlns:a="http://schemas.openxmlformats.org/drawingml/2006/main">
            <a:off x="685800" y="171450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Use the topic to examine real workflows, not abstract technology.</a:t>
            </a:r>
          </a:p>
        </p:txBody>
      </p:sp>
      <p:sp>
        <p:nvSpPr>
          <p:cNvPr id="5" name="">
            <a:extLst xmlns:a="http://schemas.openxmlformats.org/drawingml/2006/main">
              <a:ext uri="{FF2B5EF4-FFF2-40B4-BE49-F238E27FC236}">
                <a16:creationId xmlns:a16="http://schemas.microsoft.com/office/drawing/2014/main" id="{BA3B5156-19AB-407F-BB57-69539D515CF9}"/>
              </a:ext>
            </a:extLst>
          </p:cNvPr>
          <p:cNvSpPr>
            <a:spLocks xmlns:a="http://schemas.openxmlformats.org/drawingml/2006/main" noGrp="1"/>
          </p:cNvSpPr>
          <p:nvPr/>
        </p:nvSpPr>
        <p:spPr>
          <a:xfrm xmlns:a="http://schemas.openxmlformats.org/drawingml/2006/main">
            <a:off x="68580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5645366A-2644-4D89-885B-C14586231D3E}"/>
              </a:ext>
            </a:extLst>
          </p:cNvPr>
          <p:cNvSpPr>
            <a:spLocks xmlns:a="http://schemas.openxmlformats.org/drawingml/2006/main" noGrp="1"/>
          </p:cNvSpPr>
          <p:nvPr/>
        </p:nvSpPr>
        <p:spPr>
          <a:xfrm xmlns:a="http://schemas.openxmlformats.org/drawingml/2006/main">
            <a:off x="68580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C1A40793-BD54-46F6-B172-1CC615E5DC47}"/>
              </a:ext>
            </a:extLst>
          </p:cNvPr>
          <p:cNvSpPr>
            <a:spLocks xmlns:a="http://schemas.openxmlformats.org/drawingml/2006/main" noGrp="1"/>
          </p:cNvSpPr>
          <p:nvPr/>
        </p:nvSpPr>
        <p:spPr>
          <a:xfrm xmlns:a="http://schemas.openxmlformats.org/drawingml/2006/main">
            <a:off x="91440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DMI-supported data pipelines</a:t>
            </a:r>
          </a:p>
        </p:txBody>
      </p:sp>
      <p:sp>
        <p:nvSpPr>
          <p:cNvPr id="8" name="">
            <a:extLst xmlns:a="http://schemas.openxmlformats.org/drawingml/2006/main">
              <a:ext uri="{FF2B5EF4-FFF2-40B4-BE49-F238E27FC236}">
                <a16:creationId xmlns:a16="http://schemas.microsoft.com/office/drawing/2014/main" id="{449DA63B-A3BA-4DC7-8FB2-683736C384B3}"/>
              </a:ext>
            </a:extLst>
          </p:cNvPr>
          <p:cNvSpPr>
            <a:spLocks xmlns:a="http://schemas.openxmlformats.org/drawingml/2006/main" noGrp="1"/>
          </p:cNvSpPr>
          <p:nvPr/>
        </p:nvSpPr>
        <p:spPr>
          <a:xfrm xmlns:a="http://schemas.openxmlformats.org/drawingml/2006/main">
            <a:off x="91440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Use data modernization investments to strengthen interoperability, data quality, cloud readiness, and analytics infrastructure needed for AI.</a:t>
            </a:r>
          </a:p>
        </p:txBody>
      </p:sp>
      <p:sp>
        <p:nvSpPr>
          <p:cNvPr id="9" name="">
            <a:extLst xmlns:a="http://schemas.openxmlformats.org/drawingml/2006/main">
              <a:ext uri="{FF2B5EF4-FFF2-40B4-BE49-F238E27FC236}">
                <a16:creationId xmlns:a16="http://schemas.microsoft.com/office/drawing/2014/main" id="{03B99F07-43F5-4DE2-A75A-64C2E2F7D2D2}"/>
              </a:ext>
            </a:extLst>
          </p:cNvPr>
          <p:cNvSpPr>
            <a:spLocks xmlns:a="http://schemas.openxmlformats.org/drawingml/2006/main" noGrp="1"/>
          </p:cNvSpPr>
          <p:nvPr/>
        </p:nvSpPr>
        <p:spPr>
          <a:xfrm xmlns:a="http://schemas.openxmlformats.org/drawingml/2006/main">
            <a:off x="4257675"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5D464170-98BB-47B8-98DE-3ED3E63C33F9}"/>
              </a:ext>
            </a:extLst>
          </p:cNvPr>
          <p:cNvSpPr>
            <a:spLocks xmlns:a="http://schemas.openxmlformats.org/drawingml/2006/main" noGrp="1"/>
          </p:cNvSpPr>
          <p:nvPr/>
        </p:nvSpPr>
        <p:spPr>
          <a:xfrm xmlns:a="http://schemas.openxmlformats.org/drawingml/2006/main">
            <a:off x="4257675" y="2571750"/>
            <a:ext cx="66675" cy="22383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C7B9FD5E-6527-4D32-8A66-6DA06686932A}"/>
              </a:ext>
            </a:extLst>
          </p:cNvPr>
          <p:cNvSpPr>
            <a:spLocks xmlns:a="http://schemas.openxmlformats.org/drawingml/2006/main" noGrp="1"/>
          </p:cNvSpPr>
          <p:nvPr/>
        </p:nvSpPr>
        <p:spPr>
          <a:xfrm xmlns:a="http://schemas.openxmlformats.org/drawingml/2006/main">
            <a:off x="4486275"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PHIG-supported workforce and governance</a:t>
            </a:r>
          </a:p>
        </p:txBody>
      </p:sp>
      <p:sp>
        <p:nvSpPr>
          <p:cNvPr id="12" name="">
            <a:extLst xmlns:a="http://schemas.openxmlformats.org/drawingml/2006/main">
              <a:ext uri="{FF2B5EF4-FFF2-40B4-BE49-F238E27FC236}">
                <a16:creationId xmlns:a16="http://schemas.microsoft.com/office/drawing/2014/main" id="{927F2A7E-1E2B-4BB0-BA6E-D81685FB2986}"/>
              </a:ext>
            </a:extLst>
          </p:cNvPr>
          <p:cNvSpPr>
            <a:spLocks xmlns:a="http://schemas.openxmlformats.org/drawingml/2006/main" noGrp="1"/>
          </p:cNvSpPr>
          <p:nvPr/>
        </p:nvSpPr>
        <p:spPr>
          <a:xfrm xmlns:a="http://schemas.openxmlformats.org/drawingml/2006/main">
            <a:off x="4486275"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Use infrastructure funding to support AI literacy, governance capacity, data staff, policy development, and implementation readiness.</a:t>
            </a:r>
          </a:p>
        </p:txBody>
      </p:sp>
      <p:sp>
        <p:nvSpPr>
          <p:cNvPr id="13" name="">
            <a:extLst xmlns:a="http://schemas.openxmlformats.org/drawingml/2006/main">
              <a:ext uri="{FF2B5EF4-FFF2-40B4-BE49-F238E27FC236}">
                <a16:creationId xmlns:a16="http://schemas.microsoft.com/office/drawing/2014/main" id="{2CBD9718-252A-4D9C-97F1-58D2D9E0E219}"/>
              </a:ext>
            </a:extLst>
          </p:cNvPr>
          <p:cNvSpPr>
            <a:spLocks xmlns:a="http://schemas.openxmlformats.org/drawingml/2006/main" noGrp="1"/>
          </p:cNvSpPr>
          <p:nvPr/>
        </p:nvSpPr>
        <p:spPr>
          <a:xfrm xmlns:a="http://schemas.openxmlformats.org/drawingml/2006/main">
            <a:off x="782955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177615FE-EEF2-4AA8-B5DC-23B41E64D796}"/>
              </a:ext>
            </a:extLst>
          </p:cNvPr>
          <p:cNvSpPr>
            <a:spLocks xmlns:a="http://schemas.openxmlformats.org/drawingml/2006/main" noGrp="1"/>
          </p:cNvSpPr>
          <p:nvPr/>
        </p:nvSpPr>
        <p:spPr>
          <a:xfrm xmlns:a="http://schemas.openxmlformats.org/drawingml/2006/main">
            <a:off x="782955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5" name="">
            <a:extLst xmlns:a="http://schemas.openxmlformats.org/drawingml/2006/main">
              <a:ext uri="{FF2B5EF4-FFF2-40B4-BE49-F238E27FC236}">
                <a16:creationId xmlns:a16="http://schemas.microsoft.com/office/drawing/2014/main" id="{4E8BE8AD-AB5E-4408-8C45-B3990B91E321}"/>
              </a:ext>
            </a:extLst>
          </p:cNvPr>
          <p:cNvSpPr>
            <a:spLocks xmlns:a="http://schemas.openxmlformats.org/drawingml/2006/main" noGrp="1"/>
          </p:cNvSpPr>
          <p:nvPr/>
        </p:nvSpPr>
        <p:spPr>
          <a:xfrm xmlns:a="http://schemas.openxmlformats.org/drawingml/2006/main">
            <a:off x="805815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Grant-aligned pilots</a:t>
            </a:r>
          </a:p>
        </p:txBody>
      </p:sp>
      <p:sp>
        <p:nvSpPr>
          <p:cNvPr id="16" name="">
            <a:extLst xmlns:a="http://schemas.openxmlformats.org/drawingml/2006/main">
              <a:ext uri="{FF2B5EF4-FFF2-40B4-BE49-F238E27FC236}">
                <a16:creationId xmlns:a16="http://schemas.microsoft.com/office/drawing/2014/main" id="{6361CAC2-4A18-4471-9E74-D84930C95CE3}"/>
              </a:ext>
            </a:extLst>
          </p:cNvPr>
          <p:cNvSpPr>
            <a:spLocks xmlns:a="http://schemas.openxmlformats.org/drawingml/2006/main" noGrp="1"/>
          </p:cNvSpPr>
          <p:nvPr/>
        </p:nvSpPr>
        <p:spPr>
          <a:xfrm xmlns:a="http://schemas.openxmlformats.org/drawingml/2006/main">
            <a:off x="805815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Design small pilots that map to allowable funding activities, measurable outputs, evaluation requirements, and sustainment plans.</a:t>
            </a:r>
          </a:p>
        </p:txBody>
      </p:sp>
      <p:sp>
        <p:nvSpPr>
          <p:cNvPr id="17" name="">
            <a:extLst xmlns:a="http://schemas.openxmlformats.org/drawingml/2006/main">
              <a:ext uri="{FF2B5EF4-FFF2-40B4-BE49-F238E27FC236}">
                <a16:creationId xmlns:a16="http://schemas.microsoft.com/office/drawing/2014/main" id="{BDC884C3-971A-4C1B-B634-03CBD73AB986}"/>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Federal Funding Opportunities</a:t>
            </a:r>
          </a:p>
        </p:txBody>
      </p:sp>
      <p:sp>
        <p:nvSpPr>
          <p:cNvPr id="18" name="">
            <a:extLst xmlns:a="http://schemas.openxmlformats.org/drawingml/2006/main">
              <a:ext uri="{FF2B5EF4-FFF2-40B4-BE49-F238E27FC236}">
                <a16:creationId xmlns:a16="http://schemas.microsoft.com/office/drawing/2014/main" id="{B2B2C5BB-B1E8-442A-99C9-ABC2F18B80ED}"/>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06</a:t>
            </a:r>
          </a:p>
        </p:txBody>
      </p:sp>
    </p:spTree>
    <p:extLst>
      <p:ext uri="{BB962C8B-B14F-4D97-AF65-F5344CB8AC3E}">
        <p14:creationId xmlns:p14="http://schemas.microsoft.com/office/powerpoint/2010/main" val="1366218920"/>
      </p:ext>
    </p:extLst>
  </p:cSld>
</p:sld>
</file>

<file path=ppt/slides/slide7.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0A9535E-FBFB-4F6E-8895-40DBC84500D8}"/>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A81F6231-DC93-4072-9F2A-501CA499BDC3}"/>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Facilitated discussion and exercise</a:t>
            </a:r>
          </a:p>
        </p:txBody>
      </p:sp>
      <p:sp>
        <p:nvSpPr>
          <p:cNvPr id="3" name="">
            <a:extLst xmlns:a="http://schemas.openxmlformats.org/drawingml/2006/main">
              <a:ext uri="{FF2B5EF4-FFF2-40B4-BE49-F238E27FC236}">
                <a16:creationId xmlns:a16="http://schemas.microsoft.com/office/drawing/2014/main" id="{6BCB40A8-56E2-49E7-9FFB-63D0E8CEE45E}"/>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39946FC5-B065-4498-A2CA-E41E0F6D880B}"/>
              </a:ext>
            </a:extLst>
          </p:cNvPr>
          <p:cNvSpPr>
            <a:spLocks xmlns:a="http://schemas.openxmlformats.org/drawingml/2006/main" noGrp="1"/>
          </p:cNvSpPr>
          <p:nvPr/>
        </p:nvSpPr>
        <p:spPr>
          <a:xfrm xmlns:a="http://schemas.openxmlformats.org/drawingml/2006/main">
            <a:off x="685800"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D659D78C-B3E5-4DCA-98BD-4DC3C6308286}"/>
              </a:ext>
            </a:extLst>
          </p:cNvPr>
          <p:cNvSpPr>
            <a:spLocks xmlns:a="http://schemas.openxmlformats.org/drawingml/2006/main" noGrp="1"/>
          </p:cNvSpPr>
          <p:nvPr/>
        </p:nvSpPr>
        <p:spPr>
          <a:xfrm xmlns:a="http://schemas.openxmlformats.org/drawingml/2006/main">
            <a:off x="685800" y="1809750"/>
            <a:ext cx="66675" cy="2952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36DC3F2B-C79B-491A-A3F0-1B9017DC4C21}"/>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Discussion questions</a:t>
            </a:r>
          </a:p>
        </p:txBody>
      </p:sp>
      <p:sp>
        <p:nvSpPr>
          <p:cNvPr id="7" name="">
            <a:extLst xmlns:a="http://schemas.openxmlformats.org/drawingml/2006/main">
              <a:ext uri="{FF2B5EF4-FFF2-40B4-BE49-F238E27FC236}">
                <a16:creationId xmlns:a16="http://schemas.microsoft.com/office/drawing/2014/main" id="{115F9ED0-3FE6-49EB-9B49-D7454153F84F}"/>
              </a:ext>
            </a:extLst>
          </p:cNvPr>
          <p:cNvSpPr>
            <a:spLocks xmlns:a="http://schemas.openxmlformats.org/drawingml/2006/main" noGrp="1"/>
          </p:cNvSpPr>
          <p:nvPr/>
        </p:nvSpPr>
        <p:spPr>
          <a:xfrm xmlns:a="http://schemas.openxmlformats.org/drawingml/2006/main">
            <a:off x="914400"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What costs are required before pilot, during deployment, and after scale? Which funding streams align with data, workforce, equity, emergency response, surveillance, or service delivery goals? What happens when short-term funding ends?</a:t>
            </a:r>
          </a:p>
        </p:txBody>
      </p:sp>
      <p:sp>
        <p:nvSpPr>
          <p:cNvPr id="8" name="">
            <a:extLst xmlns:a="http://schemas.openxmlformats.org/drawingml/2006/main">
              <a:ext uri="{FF2B5EF4-FFF2-40B4-BE49-F238E27FC236}">
                <a16:creationId xmlns:a16="http://schemas.microsoft.com/office/drawing/2014/main" id="{A16A6BE5-EF21-4113-9873-C8F6648AA9D7}"/>
              </a:ext>
            </a:extLst>
          </p:cNvPr>
          <p:cNvSpPr>
            <a:spLocks xmlns:a="http://schemas.openxmlformats.org/drawingml/2006/main" noGrp="1"/>
          </p:cNvSpPr>
          <p:nvPr/>
        </p:nvSpPr>
        <p:spPr>
          <a:xfrm xmlns:a="http://schemas.openxmlformats.org/drawingml/2006/main">
            <a:off x="5953125"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B07FE9A3-B5E6-450A-BFE6-0FE7EB027E3D}"/>
              </a:ext>
            </a:extLst>
          </p:cNvPr>
          <p:cNvSpPr>
            <a:spLocks xmlns:a="http://schemas.openxmlformats.org/drawingml/2006/main" noGrp="1"/>
          </p:cNvSpPr>
          <p:nvPr/>
        </p:nvSpPr>
        <p:spPr>
          <a:xfrm xmlns:a="http://schemas.openxmlformats.org/drawingml/2006/main">
            <a:off x="5953125" y="1809750"/>
            <a:ext cx="66675" cy="2952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24AA331C-3106-41A9-95C8-A2C2D38A82C5}"/>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Training exercise</a:t>
            </a:r>
          </a:p>
        </p:txBody>
      </p:sp>
      <p:sp>
        <p:nvSpPr>
          <p:cNvPr id="11" name="">
            <a:extLst xmlns:a="http://schemas.openxmlformats.org/drawingml/2006/main">
              <a:ext uri="{FF2B5EF4-FFF2-40B4-BE49-F238E27FC236}">
                <a16:creationId xmlns:a16="http://schemas.microsoft.com/office/drawing/2014/main" id="{CE6B70AC-EE39-4796-8F45-BFEDDF2142F2}"/>
              </a:ext>
            </a:extLst>
          </p:cNvPr>
          <p:cNvSpPr>
            <a:spLocks xmlns:a="http://schemas.openxmlformats.org/drawingml/2006/main" noGrp="1"/>
          </p:cNvSpPr>
          <p:nvPr/>
        </p:nvSpPr>
        <p:spPr>
          <a:xfrm xmlns:a="http://schemas.openxmlformats.org/drawingml/2006/main">
            <a:off x="6181725"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Build a funding map for one approved use case that includes pilot costs, scale costs, sustainment costs, staffing, evaluation, governance, and possible funding sources.</a:t>
            </a:r>
          </a:p>
        </p:txBody>
      </p:sp>
      <p:sp>
        <p:nvSpPr>
          <p:cNvPr id="12" name="">
            <a:extLst xmlns:a="http://schemas.openxmlformats.org/drawingml/2006/main">
              <a:ext uri="{FF2B5EF4-FFF2-40B4-BE49-F238E27FC236}">
                <a16:creationId xmlns:a16="http://schemas.microsoft.com/office/drawing/2014/main" id="{ED57AB1A-21F4-44FC-A93F-6301C377493E}"/>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Federal Funding Opportunities</a:t>
            </a:r>
          </a:p>
        </p:txBody>
      </p:sp>
      <p:sp>
        <p:nvSpPr>
          <p:cNvPr id="13" name="">
            <a:extLst xmlns:a="http://schemas.openxmlformats.org/drawingml/2006/main">
              <a:ext uri="{FF2B5EF4-FFF2-40B4-BE49-F238E27FC236}">
                <a16:creationId xmlns:a16="http://schemas.microsoft.com/office/drawing/2014/main" id="{F7281135-7439-4B9F-8E5C-89EC8B4D7169}"/>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07</a:t>
            </a:r>
          </a:p>
        </p:txBody>
      </p:sp>
    </p:spTree>
    <p:extLst>
      <p:ext uri="{BB962C8B-B14F-4D97-AF65-F5344CB8AC3E}">
        <p14:creationId xmlns:p14="http://schemas.microsoft.com/office/powerpoint/2010/main" val="27817694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51F712C-0760-4882-9139-4A7CC6EB51A3}"/>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EF6605E1-E2F7-4375-B0A9-6C0C424A58EE}"/>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Next steps and resources</a:t>
            </a:r>
          </a:p>
        </p:txBody>
      </p:sp>
      <p:sp>
        <p:nvSpPr>
          <p:cNvPr id="3" name="">
            <a:extLst xmlns:a="http://schemas.openxmlformats.org/drawingml/2006/main">
              <a:ext uri="{FF2B5EF4-FFF2-40B4-BE49-F238E27FC236}">
                <a16:creationId xmlns:a16="http://schemas.microsoft.com/office/drawing/2014/main" id="{B341F1A7-CB86-409F-BA67-627F048B7C2F}"/>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6FB39140-1B01-4DBC-BBC5-F3DDAD63108B}"/>
              </a:ext>
            </a:extLst>
          </p:cNvPr>
          <p:cNvSpPr>
            <a:spLocks xmlns:a="http://schemas.openxmlformats.org/drawingml/2006/main" noGrp="1"/>
          </p:cNvSpPr>
          <p:nvPr/>
        </p:nvSpPr>
        <p:spPr>
          <a:xfrm xmlns:a="http://schemas.openxmlformats.org/drawingml/2006/main">
            <a:off x="685800" y="1809750"/>
            <a:ext cx="4762500" cy="209550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0F5146DA-86D2-41C5-8AB8-47D83085F93D}"/>
              </a:ext>
            </a:extLst>
          </p:cNvPr>
          <p:cNvSpPr>
            <a:spLocks xmlns:a="http://schemas.openxmlformats.org/drawingml/2006/main" noGrp="1"/>
          </p:cNvSpPr>
          <p:nvPr/>
        </p:nvSpPr>
        <p:spPr>
          <a:xfrm xmlns:a="http://schemas.openxmlformats.org/drawingml/2006/main">
            <a:off x="685800" y="1809750"/>
            <a:ext cx="66675" cy="209550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BA30F440-BC47-4DAF-8264-23DB24831A19}"/>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Apply the lesson</a:t>
            </a:r>
          </a:p>
        </p:txBody>
      </p:sp>
      <p:sp>
        <p:nvSpPr>
          <p:cNvPr id="7" name="">
            <a:extLst xmlns:a="http://schemas.openxmlformats.org/drawingml/2006/main">
              <a:ext uri="{FF2B5EF4-FFF2-40B4-BE49-F238E27FC236}">
                <a16:creationId xmlns:a16="http://schemas.microsoft.com/office/drawing/2014/main" id="{17DDACE2-A528-4562-82CF-2F199F18DF16}"/>
              </a:ext>
            </a:extLst>
          </p:cNvPr>
          <p:cNvSpPr>
            <a:spLocks xmlns:a="http://schemas.openxmlformats.org/drawingml/2006/main" noGrp="1"/>
          </p:cNvSpPr>
          <p:nvPr/>
        </p:nvSpPr>
        <p:spPr>
          <a:xfrm xmlns:a="http://schemas.openxmlformats.org/drawingml/2006/main">
            <a:off x="914400" y="2457450"/>
            <a:ext cx="43053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Use this topic with Plays 8, 9 and Tools 33, 32, 31. Turn the discussion into a documented question, decision, gap, or implementation artifact.</a:t>
            </a:r>
          </a:p>
        </p:txBody>
      </p:sp>
      <p:sp>
        <p:nvSpPr>
          <p:cNvPr id="8" name="">
            <a:extLst xmlns:a="http://schemas.openxmlformats.org/drawingml/2006/main">
              <a:ext uri="{FF2B5EF4-FFF2-40B4-BE49-F238E27FC236}">
                <a16:creationId xmlns:a16="http://schemas.microsoft.com/office/drawing/2014/main" id="{D8FD58EC-7E29-4F06-9C1F-B3CBB917C0DA}"/>
              </a:ext>
            </a:extLst>
          </p:cNvPr>
          <p:cNvSpPr>
            <a:spLocks xmlns:a="http://schemas.openxmlformats.org/drawingml/2006/main" noGrp="1"/>
          </p:cNvSpPr>
          <p:nvPr/>
        </p:nvSpPr>
        <p:spPr>
          <a:xfrm xmlns:a="http://schemas.openxmlformats.org/drawingml/2006/main">
            <a:off x="5953125" y="1809750"/>
            <a:ext cx="4762500" cy="3048000"/>
          </a:xfrm>
          <a:prstGeom xmlns:a="http://schemas.openxmlformats.org/drawingml/2006/main" prst="roundRect">
            <a:avLst>
              <a:gd name="adj" fmla="val 3750"/>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4FC5ECFA-5A1E-4050-A279-D7307A03CD33}"/>
              </a:ext>
            </a:extLst>
          </p:cNvPr>
          <p:cNvSpPr>
            <a:spLocks xmlns:a="http://schemas.openxmlformats.org/drawingml/2006/main" noGrp="1"/>
          </p:cNvSpPr>
          <p:nvPr/>
        </p:nvSpPr>
        <p:spPr>
          <a:xfrm xmlns:a="http://schemas.openxmlformats.org/drawingml/2006/main">
            <a:off x="5953125" y="1809750"/>
            <a:ext cx="66675" cy="304800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0" name="">
            <a:extLst xmlns:a="http://schemas.openxmlformats.org/drawingml/2006/main">
              <a:ext uri="{FF2B5EF4-FFF2-40B4-BE49-F238E27FC236}">
                <a16:creationId xmlns:a16="http://schemas.microsoft.com/office/drawing/2014/main" id="{9BCB5B5A-04AD-4CA1-9E83-DA76054811B1}"/>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References and resources</a:t>
            </a:r>
          </a:p>
        </p:txBody>
      </p:sp>
      <p:sp>
        <p:nvSpPr>
          <p:cNvPr id="11" name="">
            <a:extLst xmlns:a="http://schemas.openxmlformats.org/drawingml/2006/main">
              <a:ext uri="{FF2B5EF4-FFF2-40B4-BE49-F238E27FC236}">
                <a16:creationId xmlns:a16="http://schemas.microsoft.com/office/drawing/2014/main" id="{E67EC68B-4914-4465-9E81-F362F52FF26B}"/>
              </a:ext>
            </a:extLst>
          </p:cNvPr>
          <p:cNvSpPr>
            <a:spLocks xmlns:a="http://schemas.openxmlformats.org/drawingml/2006/main" noGrp="1"/>
          </p:cNvSpPr>
          <p:nvPr/>
        </p:nvSpPr>
        <p:spPr>
          <a:xfrm xmlns:a="http://schemas.openxmlformats.org/drawingml/2006/main">
            <a:off x="6181725" y="2457450"/>
            <a:ext cx="430530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CDC Data Modernization Initiative: Potential alignment for data infrastructure and AI-ready modernization investments. Public Health Infrastructure Grant: Potential alignment for workforce, data systems, organizational capacity, and equity.</a:t>
            </a:r>
          </a:p>
        </p:txBody>
      </p:sp>
      <p:sp>
        <p:nvSpPr>
          <p:cNvPr id="12" name="">
            <a:extLst xmlns:a="http://schemas.openxmlformats.org/drawingml/2006/main">
              <a:ext uri="{FF2B5EF4-FFF2-40B4-BE49-F238E27FC236}">
                <a16:creationId xmlns:a16="http://schemas.microsoft.com/office/drawing/2014/main" id="{B470EE25-5959-4338-A59F-7DEA4C2F680F}"/>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Federal Funding Opportunities</a:t>
            </a:r>
          </a:p>
        </p:txBody>
      </p:sp>
      <p:sp>
        <p:nvSpPr>
          <p:cNvPr id="13" name="">
            <a:extLst xmlns:a="http://schemas.openxmlformats.org/drawingml/2006/main">
              <a:ext uri="{FF2B5EF4-FFF2-40B4-BE49-F238E27FC236}">
                <a16:creationId xmlns:a16="http://schemas.microsoft.com/office/drawing/2014/main" id="{FBC0D4A9-580F-4AD7-ABEF-6E3DDCF468CE}"/>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08</a:t>
            </a:r>
          </a:p>
        </p:txBody>
      </p:sp>
    </p:spTree>
    <p:extLst>
      <p:ext uri="{BB962C8B-B14F-4D97-AF65-F5344CB8AC3E}">
        <p14:creationId xmlns:p14="http://schemas.microsoft.com/office/powerpoint/2010/main" val="20090732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2026-07-02T16:03:05.6960000Z</dcterms:created>
  <dcterms:modified xsi:type="dcterms:W3CDTF">2026-07-02T16:03:05.6960000Z</dcterms:modified>
</coreProperties>
</file>