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 require careful evaluation.</a:t>
            </a:r>
            <a:endParaRPr lang="en-US" sz="1700" dirty="0"/>
          </a:p>
          <a:p>
            <a:r>
              <a:rPr lang="en-US" sz="1700" dirty="0">
                <a:solidFill>
                  <a:srgbClr val="17364A"/>
                </a:solidFill>
                <a:latin typeface="Aptos" pitchFamily="34" charset="0"/>
                <a:ea typeface="Aptos" pitchFamily="34" charset="-122"/>
                <a:cs typeface="Aptos" pitchFamily="34" charset="-120"/>
              </a:rPr>
              <a:t>In public health, generated content may affect case review, public communication, policy interpretation, community trust, staff training, or.</a:t>
            </a:r>
            <a:endParaRPr lang="en-US" sz="1700" dirty="0"/>
          </a:p>
          <a:p>
            <a:r>
              <a:rPr lang="en-US" sz="17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evaluate generative AI outputs using structured review criteria.</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 engage stakeholders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20: Community Engagement Planning (Planning) - Use Community Engagement Planning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21: Stakeholder Mapping &amp; RACI (Template) - Use Stakeholder Mapping &amp; RACI to translate this lesson into a documented public.</a:t>
            </a:r>
            <a:endParaRPr lang="en-US" sz="1460" dirty="0"/>
          </a:p>
          <a:p>
            <a:r>
              <a:rPr lang="en-US" sz="1460" dirty="0">
                <a:solidFill>
                  <a:srgbClr val="17364A"/>
                </a:solidFill>
                <a:latin typeface="Aptos" pitchFamily="34" charset="0"/>
                <a:ea typeface="Aptos" pitchFamily="34" charset="-122"/>
                <a:cs typeface="Aptos" pitchFamily="34" charset="-120"/>
              </a:rPr>
              <a:t>Tool 22: Missing Voices Analysis (Checklist) - Use this tool to complete or strengthen the practical exercise for the module using.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700" dirty="0"/>
          </a:p>
          <a:p>
            <a:r>
              <a:rPr lang="en-US" sz="1700" dirty="0">
                <a:solidFill>
                  <a:srgbClr val="17364A"/>
                </a:solidFill>
                <a:latin typeface="Aptos" pitchFamily="34" charset="0"/>
                <a:ea typeface="Aptos" pitchFamily="34" charset="-122"/>
                <a:cs typeface="Aptos" pitchFamily="34" charset="-120"/>
              </a:rPr>
              <a:t>Distinguish factuality, source grounding, completeness, relevance, tone, and accessibility.</a:t>
            </a:r>
            <a:endParaRPr lang="en-US" sz="1700" dirty="0"/>
          </a:p>
          <a:p>
            <a:r>
              <a:rPr lang="en-US" sz="1700" dirty="0">
                <a:solidFill>
                  <a:srgbClr val="17364A"/>
                </a:solidFill>
                <a:latin typeface="Aptos" pitchFamily="34" charset="0"/>
                <a:ea typeface="Aptos" pitchFamily="34" charset="-122"/>
                <a:cs typeface="Aptos" pitchFamily="34" charset="-120"/>
              </a:rPr>
              <a:t>Identify hallucinations, omissions, unsupported claims, and misleading certainty.</a:t>
            </a:r>
            <a:endParaRPr lang="en-US" sz="1700" dirty="0"/>
          </a:p>
          <a:p>
            <a:r>
              <a:rPr lang="en-US" sz="1700" dirty="0">
                <a:solidFill>
                  <a:srgbClr val="17364A"/>
                </a:solidFill>
                <a:latin typeface="Aptos" pitchFamily="34" charset="0"/>
                <a:ea typeface="Aptos" pitchFamily="34" charset="-122"/>
                <a:cs typeface="Aptos" pitchFamily="34" charset="-120"/>
              </a:rPr>
              <a:t>Design review criteria for different output types, including summaries, drafts, classifications, and recommendations.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generative AI output evaluation rubric.</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generative AI output evaluation rubric.</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 require.</a:t>
            </a:r>
            <a:endParaRPr lang="en-US" sz="1700" dirty="0"/>
          </a:p>
          <a:p>
            <a:r>
              <a:rPr lang="en-US" sz="1700" dirty="0">
                <a:solidFill>
                  <a:srgbClr val="17364A"/>
                </a:solidFill>
                <a:latin typeface="Aptos" pitchFamily="34" charset="0"/>
                <a:ea typeface="Aptos" pitchFamily="34" charset="-122"/>
                <a:cs typeface="Aptos" pitchFamily="34" charset="-120"/>
              </a:rPr>
              <a:t>In public health, generated content may affect case review, public communication, policy interpretation, community trust,.</a:t>
            </a:r>
            <a:endParaRPr lang="en-US" sz="1700" dirty="0"/>
          </a:p>
          <a:p>
            <a:r>
              <a:rPr lang="en-US" sz="17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evaluate generative AI outputs using structured review criteria.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 require.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700" dirty="0"/>
          </a:p>
          <a:p>
            <a:r>
              <a:rPr lang="en-US" sz="1700" dirty="0">
                <a:solidFill>
                  <a:srgbClr val="17364A"/>
                </a:solidFill>
                <a:latin typeface="Aptos" pitchFamily="34" charset="0"/>
                <a:ea typeface="Aptos" pitchFamily="34" charset="-122"/>
                <a:cs typeface="Aptos" pitchFamily="34" charset="-120"/>
              </a:rPr>
              <a:t>Staff may use it to summarize guidance, draft meeting notes, simplify technical language, translate or adapt messages,.</a:t>
            </a:r>
            <a:endParaRPr lang="en-US" sz="1700" dirty="0"/>
          </a:p>
          <a:p>
            <a:r>
              <a:rPr lang="en-US" sz="1700" dirty="0">
                <a:solidFill>
                  <a:srgbClr val="17364A"/>
                </a:solidFill>
                <a:latin typeface="Aptos" pitchFamily="34" charset="0"/>
                <a:ea typeface="Aptos" pitchFamily="34" charset="-122"/>
                <a:cs typeface="Aptos" pitchFamily="34" charset="-120"/>
              </a:rPr>
              <a:t>These uses can be valuable when they save time and improve clarity.</a:t>
            </a:r>
            <a:endParaRPr lang="en-US" sz="1700" dirty="0"/>
          </a:p>
          <a:p>
            <a:r>
              <a:rPr lang="en-US" sz="1700" dirty="0">
                <a:solidFill>
                  <a:srgbClr val="17364A"/>
                </a:solidFill>
                <a:latin typeface="Aptos" pitchFamily="34" charset="0"/>
                <a:ea typeface="Aptos" pitchFamily="34" charset="-122"/>
                <a:cs typeface="Aptos" pitchFamily="34" charset="-120"/>
              </a:rPr>
              <a:t>The same capabilities create risk.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 respiratory illness.</a:t>
            </a:r>
            <a:endParaRPr lang="en-US" sz="1700" dirty="0"/>
          </a:p>
          <a:p>
            <a:r>
              <a:rPr lang="en-US" sz="1700" dirty="0">
                <a:solidFill>
                  <a:srgbClr val="17364A"/>
                </a:solidFill>
                <a:latin typeface="Aptos" pitchFamily="34" charset="0"/>
                <a:ea typeface="Aptos" pitchFamily="34" charset="-122"/>
                <a:cs typeface="Aptos" pitchFamily="34" charset="-120"/>
              </a:rPr>
              <a:t>The draft may be clear and readable, but reviewers must check whether the numbers are correct, whether the recommendations.</a:t>
            </a:r>
            <a:endParaRPr lang="en-US" sz="1700" dirty="0"/>
          </a:p>
          <a:p>
            <a:r>
              <a:rPr lang="en-US" sz="1700" dirty="0">
                <a:solidFill>
                  <a:srgbClr val="17364A"/>
                </a:solidFill>
                <a:latin typeface="Aptos" pitchFamily="34" charset="0"/>
                <a:ea typeface="Aptos" pitchFamily="34" charset="-122"/>
                <a:cs typeface="Aptos" pitchFamily="34" charset="-120"/>
              </a:rPr>
              <a:t>An epidemiology team may use generative AI to summarize case investigation notes for internal review.</a:t>
            </a:r>
            <a:endParaRPr lang="en-US" sz="1700" dirty="0"/>
          </a:p>
          <a:p>
            <a:r>
              <a:rPr lang="en-US" sz="1700" dirty="0">
                <a:solidFill>
                  <a:srgbClr val="17364A"/>
                </a:solidFill>
                <a:latin typeface="Aptos" pitchFamily="34" charset="0"/>
                <a:ea typeface="Aptos" pitchFamily="34" charset="-122"/>
                <a:cs typeface="Aptos" pitchFamily="34" charset="-120"/>
              </a:rPr>
              <a:t>The summary must be checked against source notes because a missed exposure, incorrect date, or invented symptom could.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 respiratory illness.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evaluation should begin with intended use.</a:t>
            </a:r>
            <a:endParaRPr lang="en-US" sz="1700" dirty="0"/>
          </a:p>
          <a:p>
            <a:r>
              <a:rPr lang="en-US" sz="1700" dirty="0">
                <a:solidFill>
                  <a:srgbClr val="17364A"/>
                </a:solidFill>
                <a:latin typeface="Aptos" pitchFamily="34" charset="0"/>
                <a:ea typeface="Aptos" pitchFamily="34" charset="-122"/>
                <a:cs typeface="Aptos" pitchFamily="34" charset="-120"/>
              </a:rPr>
              <a:t>A brainstormed outline, internal draft, public advisory, case summary, policy synthesis, or operational recommendation.</a:t>
            </a:r>
            <a:endParaRPr lang="en-US" sz="1700" dirty="0"/>
          </a:p>
          <a:p>
            <a:r>
              <a:rPr lang="en-US" sz="1700" dirty="0">
                <a:solidFill>
                  <a:srgbClr val="17364A"/>
                </a:solidFill>
                <a:latin typeface="Aptos" pitchFamily="34" charset="0"/>
                <a:ea typeface="Aptos" pitchFamily="34" charset="-122"/>
                <a:cs typeface="Aptos" pitchFamily="34" charset="-120"/>
              </a:rPr>
              <a:t>The more sensitive, public-facing, or consequential the use, the stronger the review should be.</a:t>
            </a:r>
            <a:endParaRPr lang="en-US" sz="1700" dirty="0"/>
          </a:p>
          <a:p>
            <a:r>
              <a:rPr lang="en-US" sz="1700" dirty="0">
                <a:solidFill>
                  <a:srgbClr val="17364A"/>
                </a:solidFill>
                <a:latin typeface="Aptos" pitchFamily="34" charset="0"/>
                <a:ea typeface="Aptos" pitchFamily="34" charset="-122"/>
                <a:cs typeface="Aptos" pitchFamily="34" charset="-120"/>
              </a:rPr>
              <a:t>Factuality review requires comparison to source material.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evaluation should begin with intended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700" dirty="0"/>
          </a:p>
          <a:p>
            <a:r>
              <a:rPr lang="en-US" sz="1700" dirty="0">
                <a:solidFill>
                  <a:srgbClr val="17364A"/>
                </a:solidFill>
                <a:latin typeface="Aptos" pitchFamily="34" charset="0"/>
                <a:ea typeface="Aptos" pitchFamily="34" charset="-122"/>
                <a:cs typeface="Aptos" pitchFamily="34" charset="-120"/>
              </a:rPr>
              <a:t>Reviewers should assess reading level, language access, disability accessibility, cultural context, stigma, blame, and.</a:t>
            </a:r>
            <a:endParaRPr lang="en-US" sz="1700" dirty="0"/>
          </a:p>
          <a:p>
            <a:r>
              <a:rPr lang="en-US" sz="1700" dirty="0">
                <a:solidFill>
                  <a:srgbClr val="17364A"/>
                </a:solidFill>
                <a:latin typeface="Aptos" pitchFamily="34" charset="0"/>
                <a:ea typeface="Aptos" pitchFamily="34" charset="-122"/>
                <a:cs typeface="Aptos" pitchFamily="34" charset="-120"/>
              </a:rPr>
              <a:t>Translation or multilingual adaptation should include review by qualified humans when used for public-facing or.</a:t>
            </a:r>
            <a:endParaRPr lang="en-US" sz="1700" dirty="0"/>
          </a:p>
          <a:p>
            <a:r>
              <a:rPr lang="en-US" sz="1700" dirty="0">
                <a:solidFill>
                  <a:srgbClr val="17364A"/>
                </a:solidFill>
                <a:latin typeface="Aptos" pitchFamily="34" charset="0"/>
                <a:ea typeface="Aptos" pitchFamily="34" charset="-122"/>
                <a:cs typeface="Aptos" pitchFamily="34" charset="-120"/>
              </a:rPr>
              <a:t>Documentation should be proportionate to risk.</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Fluent but false outputs.</a:t>
            </a:r>
            <a:endParaRPr lang="en-US" sz="1700" dirty="0"/>
          </a:p>
          <a:p>
            <a:r>
              <a:rPr lang="en-US" sz="1700" dirty="0">
                <a:solidFill>
                  <a:srgbClr val="17364A"/>
                </a:solidFill>
                <a:latin typeface="Aptos" pitchFamily="34" charset="0"/>
                <a:ea typeface="Aptos" pitchFamily="34" charset="-122"/>
                <a:cs typeface="Aptos" pitchFamily="34" charset="-120"/>
              </a:rPr>
              <a:t>A polished output may contain unsupported claims.</a:t>
            </a:r>
            <a:endParaRPr lang="en-US" sz="1700" dirty="0"/>
          </a:p>
          <a:p>
            <a:r>
              <a:rPr lang="en-US" sz="1700" dirty="0">
                <a:solidFill>
                  <a:srgbClr val="17364A"/>
                </a:solidFill>
                <a:latin typeface="Aptos" pitchFamily="34" charset="0"/>
                <a:ea typeface="Aptos" pitchFamily="34" charset="-122"/>
                <a:cs typeface="Aptos" pitchFamily="34" charset="-120"/>
              </a:rPr>
              <a:t>Guardrails include source checking, citations, and reviewer signoff.</a:t>
            </a:r>
            <a:endParaRPr lang="en-US" sz="1700" dirty="0"/>
          </a:p>
          <a:p>
            <a:r>
              <a:rPr lang="en-US" sz="1700" dirty="0">
                <a:solidFill>
                  <a:srgbClr val="17364A"/>
                </a:solidFill>
                <a:latin typeface="Aptos" pitchFamily="34" charset="0"/>
                <a:ea typeface="Aptos" pitchFamily="34" charset="-122"/>
                <a:cs typeface="Aptos" pitchFamily="34" charset="-120"/>
              </a:rPr>
              <a:t>Omitted caveats.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Fluent but false outputs.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Privacy exposure.</a:t>
            </a:r>
            <a:endParaRPr lang="en-US" sz="1700" dirty="0"/>
          </a:p>
          <a:p>
            <a:r>
              <a:rPr lang="en-US" sz="1700" dirty="0">
                <a:solidFill>
                  <a:srgbClr val="17364A"/>
                </a:solidFill>
                <a:latin typeface="Aptos" pitchFamily="34" charset="0"/>
                <a:ea typeface="Aptos" pitchFamily="34" charset="-122"/>
                <a:cs typeface="Aptos" pitchFamily="34" charset="-120"/>
              </a:rPr>
              <a:t>Prompts or outputs may include sensitive data.</a:t>
            </a:r>
            <a:endParaRPr lang="en-US" sz="1700" dirty="0"/>
          </a:p>
          <a:p>
            <a:r>
              <a:rPr lang="en-US" sz="1700" dirty="0">
                <a:solidFill>
                  <a:srgbClr val="17364A"/>
                </a:solidFill>
                <a:latin typeface="Aptos" pitchFamily="34" charset="0"/>
                <a:ea typeface="Aptos" pitchFamily="34" charset="-122"/>
                <a:cs typeface="Aptos" pitchFamily="34" charset="-120"/>
              </a:rPr>
              <a:t>Guardrails include approved tools, data-use tiers, redaction, access controls, and records guidance.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Privacy exposure.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 generation, and.</a:t>
            </a:r>
            <a:endParaRPr lang="en-US" sz="1700" dirty="0"/>
          </a:p>
          <a:p>
            <a:r>
              <a:rPr lang="en-US" sz="1700" dirty="0">
                <a:solidFill>
                  <a:srgbClr val="17364A"/>
                </a:solidFill>
                <a:latin typeface="Aptos" pitchFamily="34" charset="0"/>
                <a:ea typeface="Aptos" pitchFamily="34" charset="-122"/>
                <a:cs typeface="Aptos" pitchFamily="34" charset="-120"/>
              </a:rPr>
              <a:t>It is also relevant to RAG and agentic workflows because generated text may summarize retrieved sources or explain.</a:t>
            </a:r>
            <a:endParaRPr lang="en-US" sz="1700" dirty="0"/>
          </a:p>
          <a:p>
            <a:r>
              <a:rPr lang="en-US" sz="1700" dirty="0">
                <a:solidFill>
                  <a:srgbClr val="17364A"/>
                </a:solidFill>
                <a:latin typeface="Aptos" pitchFamily="34" charset="0"/>
                <a:ea typeface="Aptos" pitchFamily="34" charset="-122"/>
                <a:cs typeface="Aptos" pitchFamily="34" charset="-120"/>
              </a:rPr>
              <a:t>Evaluation should be built into workflow design, not added after deployment.</a:t>
            </a:r>
            <a:endParaRPr lang="en-US" sz="1700" dirty="0"/>
          </a:p>
          <a:p>
            <a:r>
              <a:rPr lang="en-US" sz="1700" dirty="0">
                <a:solidFill>
                  <a:srgbClr val="17364A"/>
                </a:solidFill>
                <a:latin typeface="Aptos" pitchFamily="34" charset="0"/>
                <a:ea typeface="Aptos" pitchFamily="34" charset="-122"/>
                <a:cs typeface="Aptos" pitchFamily="34" charset="-120"/>
              </a:rPr>
              <a:t>The strongest approach is to create rubrics for specific output types.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 generation,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type of generative AI output is being evaluated?</a:t>
            </a:r>
            <a:endParaRPr lang="en-US" sz="1700" dirty="0"/>
          </a:p>
          <a:p>
            <a:r>
              <a:rPr lang="en-US" sz="1700" dirty="0">
                <a:solidFill>
                  <a:srgbClr val="17364A"/>
                </a:solidFill>
                <a:latin typeface="Aptos" pitchFamily="34" charset="0"/>
                <a:ea typeface="Aptos" pitchFamily="34" charset="-122"/>
                <a:cs typeface="Aptos" pitchFamily="34" charset="-120"/>
              </a:rPr>
              <a:t>What source material should be used to verify the output?</a:t>
            </a:r>
            <a:endParaRPr lang="en-US" sz="1700" dirty="0"/>
          </a:p>
          <a:p>
            <a:r>
              <a:rPr lang="en-US" sz="1700" dirty="0">
                <a:solidFill>
                  <a:srgbClr val="17364A"/>
                </a:solidFill>
                <a:latin typeface="Aptos" pitchFamily="34" charset="0"/>
                <a:ea typeface="Aptos" pitchFamily="34" charset="-122"/>
                <a:cs typeface="Aptos" pitchFamily="34" charset="-120"/>
              </a:rPr>
              <a:t>What errors or omissions would be most harmful?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type of generative AI output is being evaluated?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700" dirty="0"/>
          </a:p>
          <a:p>
            <a:r>
              <a:rPr lang="en-US" sz="1700" dirty="0">
                <a:solidFill>
                  <a:srgbClr val="17364A"/>
                </a:solidFill>
                <a:latin typeface="Aptos" pitchFamily="34" charset="0"/>
                <a:ea typeface="Aptos" pitchFamily="34" charset="-122"/>
                <a:cs typeface="Aptos" pitchFamily="34" charset="-120"/>
              </a:rPr>
              <a:t>What documentation is required before the output can be used?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700" dirty="0"/>
          </a:p>
          <a:p>
            <a:r>
              <a:rPr lang="en-US" sz="1700" dirty="0">
                <a:solidFill>
                  <a:srgbClr val="17364A"/>
                </a:solidFill>
                <a:latin typeface="Aptos" pitchFamily="34" charset="0"/>
                <a:ea typeface="Aptos" pitchFamily="34" charset="-122"/>
                <a:cs typeface="Aptos" pitchFamily="34" charset="-120"/>
              </a:rPr>
              <a:t>Include intended use, source verification, factuality, completeness, unsupported claims, omissions, bias, tone,.</a:t>
            </a:r>
            <a:endParaRPr lang="en-US" sz="1700" dirty="0"/>
          </a:p>
          <a:p>
            <a:r>
              <a:rPr lang="en-US" sz="1700" dirty="0">
                <a:solidFill>
                  <a:srgbClr val="17364A"/>
                </a:solidFill>
                <a:latin typeface="Aptos" pitchFamily="34" charset="0"/>
                <a:ea typeface="Aptos" pitchFamily="34" charset="-122"/>
                <a:cs typeface="Aptos" pitchFamily="34" charset="-120"/>
              </a:rPr>
              <a:t>Then apply the rubric to a sample AI-generated output and document whether the output should be accepted, edited, rejected,.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output evaluation rubric</a:t>
            </a:r>
            <a:endParaRPr lang="en-US" sz="1700" dirty="0"/>
          </a:p>
          <a:p>
            <a:r>
              <a:rPr lang="en-US" sz="1700" dirty="0">
                <a:solidFill>
                  <a:srgbClr val="17364A"/>
                </a:solidFill>
                <a:latin typeface="Aptos" pitchFamily="34" charset="0"/>
                <a:ea typeface="Aptos" pitchFamily="34" charset="-122"/>
                <a:cs typeface="Aptos" pitchFamily="34" charset="-120"/>
              </a:rPr>
              <a:t>Completed sample review</a:t>
            </a:r>
            <a:endParaRPr lang="en-US" sz="1700" dirty="0"/>
          </a:p>
          <a:p>
            <a:r>
              <a:rPr lang="en-US" sz="1700" dirty="0">
                <a:solidFill>
                  <a:srgbClr val="17364A"/>
                </a:solidFill>
                <a:latin typeface="Aptos" pitchFamily="34" charset="0"/>
                <a:ea typeface="Aptos" pitchFamily="34" charset="-122"/>
                <a:cs typeface="Aptos" pitchFamily="34" charset="-120"/>
              </a:rPr>
              <a:t>Source verification notes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output evaluation rubric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Approval or escalation documentation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Approval or escalation documentation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output evaluation rubric</a:t>
            </a:r>
            <a:endParaRPr lang="en-US" sz="1700" dirty="0"/>
          </a:p>
          <a:p>
            <a:r>
              <a:rPr lang="en-US" sz="1700" dirty="0">
                <a:solidFill>
                  <a:srgbClr val="17364A"/>
                </a:solidFill>
                <a:latin typeface="Aptos" pitchFamily="34" charset="0"/>
                <a:ea typeface="Aptos" pitchFamily="34" charset="-122"/>
                <a:cs typeface="Aptos" pitchFamily="34" charset="-120"/>
              </a:rPr>
              <a:t>Completed sample review</a:t>
            </a:r>
            <a:endParaRPr lang="en-US" sz="1700" dirty="0"/>
          </a:p>
          <a:p>
            <a:r>
              <a:rPr lang="en-US" sz="1700" dirty="0">
                <a:solidFill>
                  <a:srgbClr val="17364A"/>
                </a:solidFill>
                <a:latin typeface="Aptos" pitchFamily="34" charset="0"/>
                <a:ea typeface="Aptos" pitchFamily="34" charset="-122"/>
                <a:cs typeface="Aptos" pitchFamily="34" charset="-120"/>
              </a:rPr>
              <a:t>Source verification notes</a:t>
            </a:r>
            <a:endParaRPr lang="en-US" sz="1700" dirty="0"/>
          </a:p>
          <a:p>
            <a:r>
              <a:rPr lang="en-US" sz="1700" dirty="0">
                <a:solidFill>
                  <a:srgbClr val="17364A"/>
                </a:solidFill>
                <a:latin typeface="Aptos" pitchFamily="34" charset="0"/>
                <a:ea typeface="Aptos" pitchFamily="34" charset="-122"/>
                <a:cs typeface="Aptos" pitchFamily="34" charset="-120"/>
              </a:rPr>
              <a:t>Approval or escalation documentation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output evaluation rubric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Why is fluency not enough to trust a generative AI output?</a:t>
            </a:r>
            <a:endParaRPr lang="en-US" sz="1700" dirty="0"/>
          </a:p>
          <a:p>
            <a:r>
              <a:rPr lang="en-US" sz="1700" dirty="0">
                <a:solidFill>
                  <a:srgbClr val="17364A"/>
                </a:solidFill>
                <a:latin typeface="Aptos" pitchFamily="34" charset="0"/>
                <a:ea typeface="Aptos" pitchFamily="34" charset="-122"/>
                <a:cs typeface="Aptos" pitchFamily="34" charset="-120"/>
              </a:rPr>
              <a:t>2. What does grounding mean?</a:t>
            </a:r>
            <a:endParaRPr lang="en-US" sz="1700" dirty="0"/>
          </a:p>
          <a:p>
            <a:r>
              <a:rPr lang="en-US" sz="1700" dirty="0">
                <a:solidFill>
                  <a:srgbClr val="17364A"/>
                </a:solidFill>
                <a:latin typeface="Aptos" pitchFamily="34" charset="0"/>
                <a:ea typeface="Aptos" pitchFamily="34" charset="-122"/>
                <a:cs typeface="Aptos" pitchFamily="34" charset="-120"/>
              </a:rPr>
              <a:t>3. Which issue can be as harmful as an incorrect statement?</a:t>
            </a:r>
            <a:endParaRPr lang="en-US" sz="1700" dirty="0"/>
          </a:p>
          <a:p>
            <a:r>
              <a:rPr lang="en-US" sz="1700" dirty="0">
                <a:solidFill>
                  <a:srgbClr val="17364A"/>
                </a:solidFill>
                <a:latin typeface="Aptos" pitchFamily="34" charset="0"/>
                <a:ea typeface="Aptos" pitchFamily="34" charset="-122"/>
                <a:cs typeface="Aptos" pitchFamily="34" charset="-120"/>
              </a:rPr>
              <a:t>4. What should a rubric define?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Why is fluency not enough to trust a generative AI output?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a:p>
            <a:r>
              <a:rPr lang="en-US" sz="17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AI RMF Generative AI Profile:.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2026-07-12T18:54:57Z</dcterms:created>
  <dcterms:modified xsi:type="dcterms:W3CDTF">2026-07-12T18:54:57Z</dcterms:modified>
</cp:coreProperties>
</file>