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 information,.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2100" dirty="0"/>
          </a:p>
          <a:p>
            <a:r>
              <a:rPr lang="en-US" sz="2100" dirty="0">
                <a:solidFill>
                  <a:srgbClr val="17364A"/>
                </a:solidFill>
                <a:latin typeface="Aptos" pitchFamily="34" charset="0"/>
                <a:ea typeface="Aptos" pitchFamily="34" charset="-122"/>
                <a:cs typeface="Aptos" pitchFamily="34" charset="-120"/>
              </a:rPr>
              <a:t>Explain why LOINC, SNOMED CT, UCUM, local codes, and reportable condition mappings matter for AI.</a:t>
            </a:r>
            <a:endParaRPr lang="en-US" sz="2100" dirty="0"/>
          </a:p>
          <a:p>
            <a:r>
              <a:rPr lang="en-US" sz="2100" dirty="0">
                <a:solidFill>
                  <a:srgbClr val="17364A"/>
                </a:solidFill>
                <a:latin typeface="Aptos" pitchFamily="34" charset="0"/>
                <a:ea typeface="Aptos" pitchFamily="34" charset="-122"/>
                <a:cs typeface="Aptos" pitchFamily="34" charset="-120"/>
              </a:rPr>
              <a:t>Identify common laboratory data quality problems that can affect AI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2100" dirty="0"/>
          </a:p>
          <a:p>
            <a:r>
              <a:rPr lang="en-US" sz="2100" dirty="0">
                <a:solidFill>
                  <a:srgbClr val="17364A"/>
                </a:solidFill>
                <a:latin typeface="Aptos" pitchFamily="34" charset="0"/>
                <a:ea typeface="Aptos" pitchFamily="34" charset="-122"/>
                <a:cs typeface="Aptos" pitchFamily="34" charset="-120"/>
              </a:rPr>
              <a:t>A laboratory result can be difficult to use if the test code is local, the result is free text, the.</a:t>
            </a:r>
            <a:endParaRPr lang="en-US" sz="2100" dirty="0"/>
          </a:p>
          <a:p>
            <a:r>
              <a:rPr lang="en-US" sz="2100" dirty="0">
                <a:solidFill>
                  <a:srgbClr val="17364A"/>
                </a:solidFill>
                <a:latin typeface="Aptos" pitchFamily="34" charset="0"/>
                <a:ea typeface="Aptos" pitchFamily="34" charset="-122"/>
                <a:cs typeface="Aptos" pitchFamily="34" charset="-120"/>
              </a:rPr>
              <a:t>AI tools can magnify these problems by turning unclear data into confident summaries or classifications.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ELR.</a:t>
            </a:r>
            <a:endParaRPr lang="en-US" sz="2100" dirty="0"/>
          </a:p>
          <a:p>
            <a:r>
              <a:rPr lang="en-US" sz="2100" dirty="0">
                <a:solidFill>
                  <a:srgbClr val="17364A"/>
                </a:solidFill>
                <a:latin typeface="Aptos" pitchFamily="34" charset="0"/>
                <a:ea typeface="Aptos" pitchFamily="34" charset="-122"/>
                <a:cs typeface="Aptos" pitchFamily="34" charset="-120"/>
              </a:rPr>
              <a:t>Electronic Laboratory Reporting is the electronic transmission of laboratory reports to public health.</a:t>
            </a:r>
            <a:endParaRPr lang="en-US" sz="2100" dirty="0"/>
          </a:p>
          <a:p>
            <a:r>
              <a:rPr lang="en-US" sz="2100" dirty="0">
                <a:solidFill>
                  <a:srgbClr val="17364A"/>
                </a:solidFill>
                <a:latin typeface="Aptos" pitchFamily="34" charset="0"/>
                <a:ea typeface="Aptos" pitchFamily="34" charset="-122"/>
                <a:cs typeface="Aptos" pitchFamily="34" charset="-120"/>
              </a:rPr>
              <a:t>ELR can improve timeliness and completeness, but it requires interface onboarding, validation,.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UCUM.</a:t>
            </a:r>
            <a:endParaRPr lang="en-US" sz="2100" dirty="0"/>
          </a:p>
          <a:p>
            <a:r>
              <a:rPr lang="en-US" sz="2100" dirty="0">
                <a:solidFill>
                  <a:srgbClr val="17364A"/>
                </a:solidFill>
                <a:latin typeface="Aptos" pitchFamily="34" charset="0"/>
                <a:ea typeface="Aptos" pitchFamily="34" charset="-122"/>
                <a:cs typeface="Aptos" pitchFamily="34" charset="-120"/>
              </a:rPr>
              <a:t>UCUM is a standard for units of measure.</a:t>
            </a:r>
            <a:endParaRPr lang="en-US" sz="2100" dirty="0"/>
          </a:p>
          <a:p>
            <a:r>
              <a:rPr lang="en-US" sz="2100" dirty="0">
                <a:solidFill>
                  <a:srgbClr val="17364A"/>
                </a:solidFill>
                <a:latin typeface="Aptos" pitchFamily="34" charset="0"/>
                <a:ea typeface="Aptos" pitchFamily="34" charset="-122"/>
                <a:cs typeface="Aptos" pitchFamily="34" charset="-120"/>
              </a:rPr>
              <a:t>Unit consistency is essential when interpreting quantitative results, thresholds, reference ranges,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UCUM.</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2100" dirty="0"/>
          </a:p>
          <a:p>
            <a:r>
              <a:rPr lang="en-US" sz="2100" dirty="0">
                <a:solidFill>
                  <a:srgbClr val="17364A"/>
                </a:solidFill>
                <a:latin typeface="Aptos" pitchFamily="34" charset="0"/>
                <a:ea typeface="Aptos" pitchFamily="34" charset="-122"/>
                <a:cs typeface="Aptos" pitchFamily="34" charset="-120"/>
              </a:rPr>
              <a:t>If a local test code is mapped incorrectly, the summary may imply evidence for the wrong condition.</a:t>
            </a:r>
            <a:endParaRPr lang="en-US" sz="2100" dirty="0"/>
          </a:p>
          <a:p>
            <a:r>
              <a:rPr lang="en-US" sz="2100" dirty="0">
                <a:solidFill>
                  <a:srgbClr val="17364A"/>
                </a:solidFill>
                <a:latin typeface="Aptos" pitchFamily="34" charset="0"/>
                <a:ea typeface="Aptos" pitchFamily="34" charset="-122"/>
                <a:cs typeface="Aptos" pitchFamily="34" charset="-120"/>
              </a:rPr>
              <a:t>If units are missing, a quantitative result may be uninterpretable.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quality begins with required fields.</a:t>
            </a:r>
            <a:endParaRPr lang="en-US" sz="2100" dirty="0"/>
          </a:p>
          <a:p>
            <a:r>
              <a:rPr lang="en-US" sz="2100" dirty="0">
                <a:solidFill>
                  <a:srgbClr val="17364A"/>
                </a:solidFill>
                <a:latin typeface="Aptos" pitchFamily="34" charset="0"/>
                <a:ea typeface="Aptos" pitchFamily="34" charset="-122"/>
                <a:cs typeface="Aptos" pitchFamily="34" charset="-120"/>
              </a:rPr>
              <a:t>At minimum, many workflows need patient identifiers, specimen collection date, test ordered, result,.</a:t>
            </a:r>
            <a:endParaRPr lang="en-US" sz="2100" dirty="0"/>
          </a:p>
          <a:p>
            <a:r>
              <a:rPr lang="en-US" sz="2100" dirty="0">
                <a:solidFill>
                  <a:srgbClr val="17364A"/>
                </a:solidFill>
                <a:latin typeface="Aptos" pitchFamily="34" charset="0"/>
                <a:ea typeface="Aptos" pitchFamily="34" charset="-122"/>
                <a:cs typeface="Aptos" pitchFamily="34" charset="-120"/>
              </a:rPr>
              <a:t>The exact requirements depend on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quality begins with required fields.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standardization.</a:t>
            </a:r>
            <a:endParaRPr lang="en-US" sz="2100" dirty="0"/>
          </a:p>
          <a:p>
            <a:r>
              <a:rPr lang="en-US" sz="2100" dirty="0">
                <a:solidFill>
                  <a:srgbClr val="17364A"/>
                </a:solidFill>
                <a:latin typeface="Aptos" pitchFamily="34" charset="0"/>
                <a:ea typeface="Aptos" pitchFamily="34" charset="-122"/>
                <a:cs typeface="Aptos" pitchFamily="34" charset="-120"/>
              </a:rPr>
              <a:t>A standard code may be present but mapped incorrectly.</a:t>
            </a:r>
            <a:endParaRPr lang="en-US" sz="2100" dirty="0"/>
          </a:p>
          <a:p>
            <a:r>
              <a:rPr lang="en-US" sz="2100" dirty="0">
                <a:solidFill>
                  <a:srgbClr val="17364A"/>
                </a:solidFill>
                <a:latin typeface="Aptos" pitchFamily="34" charset="0"/>
                <a:ea typeface="Aptos" pitchFamily="34" charset="-122"/>
                <a:cs typeface="Aptos" pitchFamily="34" charset="-120"/>
              </a:rPr>
              <a:t>Guardrails include mapping review, test cases, and terminology stewardship.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standardization.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pattern changes.</a:t>
            </a:r>
            <a:endParaRPr lang="en-US" sz="2100" dirty="0"/>
          </a:p>
          <a:p>
            <a:r>
              <a:rPr lang="en-US" sz="2100" dirty="0">
                <a:solidFill>
                  <a:srgbClr val="17364A"/>
                </a:solidFill>
                <a:latin typeface="Aptos" pitchFamily="34" charset="0"/>
                <a:ea typeface="Aptos" pitchFamily="34" charset="-122"/>
                <a:cs typeface="Aptos" pitchFamily="34" charset="-120"/>
              </a:rPr>
              <a:t>Lab reporting changes may look like disease changes.</a:t>
            </a:r>
            <a:endParaRPr lang="en-US" sz="2100" dirty="0"/>
          </a:p>
          <a:p>
            <a:r>
              <a:rPr lang="en-US" sz="2100" dirty="0">
                <a:solidFill>
                  <a:srgbClr val="17364A"/>
                </a:solidFill>
                <a:latin typeface="Aptos" pitchFamily="34" charset="0"/>
                <a:ea typeface="Aptos" pitchFamily="34" charset="-122"/>
                <a:cs typeface="Aptos" pitchFamily="34" charset="-120"/>
              </a:rPr>
              <a:t>Guardrails include volume monitoring, partner change logs, and anomaly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pattern changes.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lab trends, but model monitoring must distinguish reporting artifacts from.</a:t>
            </a:r>
            <a:endParaRPr lang="en-US" sz="2100" dirty="0"/>
          </a:p>
          <a:p>
            <a:r>
              <a:rPr lang="en-US" sz="2100" dirty="0">
                <a:solidFill>
                  <a:srgbClr val="17364A"/>
                </a:solidFill>
                <a:latin typeface="Aptos" pitchFamily="34" charset="0"/>
                <a:ea typeface="Aptos" pitchFamily="34" charset="-122"/>
                <a:cs typeface="Aptos" pitchFamily="34" charset="-120"/>
              </a:rPr>
              <a:t>NLP may interpret free-text results, but extraction accuracy must be validated.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2100" dirty="0"/>
          </a:p>
          <a:p>
            <a:r>
              <a:rPr lang="en-US" sz="210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2100" dirty="0"/>
          </a:p>
          <a:p>
            <a:r>
              <a:rPr lang="en-US" sz="2100" dirty="0">
                <a:solidFill>
                  <a:srgbClr val="17364A"/>
                </a:solidFill>
                <a:latin typeface="Aptos" pitchFamily="34" charset="0"/>
                <a:ea typeface="Aptos" pitchFamily="34" charset="-122"/>
                <a:cs typeface="Aptos" pitchFamily="34" charset="-120"/>
              </a:rPr>
              <a:t>Are test-result pairs consistently represented?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missing fields would make AI summarization unsafe?</a:t>
            </a:r>
            <a:endParaRPr lang="en-US" sz="2100" dirty="0"/>
          </a:p>
          <a:p>
            <a:r>
              <a:rPr lang="en-US" sz="210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missing fields would make AI summarization unsafe?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2100" dirty="0"/>
          </a:p>
          <a:p>
            <a:r>
              <a:rPr lang="en-US" sz="2100" dirty="0">
                <a:solidFill>
                  <a:srgbClr val="17364A"/>
                </a:solidFill>
                <a:latin typeface="Aptos" pitchFamily="34" charset="0"/>
                <a:ea typeface="Aptos" pitchFamily="34" charset="-122"/>
                <a:cs typeface="Aptos" pitchFamily="34" charset="-120"/>
              </a:rPr>
              <a:t>Include required lab fields, terminology standards, mapping requirements, missingness checks, unit.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issue log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issue log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2100" dirty="0"/>
          </a:p>
          <a:p>
            <a:r>
              <a:rPr lang="en-US" sz="2100" dirty="0">
                <a:solidFill>
                  <a:srgbClr val="17364A"/>
                </a:solidFill>
                <a:latin typeface="Aptos" pitchFamily="34" charset="0"/>
                <a:ea typeface="Aptos" pitchFamily="34" charset="-122"/>
                <a:cs typeface="Aptos" pitchFamily="34" charset="-120"/>
              </a:rPr>
              <a:t>2. What is LOINC commonly used for?</a:t>
            </a:r>
            <a:endParaRPr lang="en-US" sz="2100" dirty="0"/>
          </a:p>
          <a:p>
            <a:r>
              <a:rPr lang="en-US" sz="2100" dirty="0">
                <a:solidFill>
                  <a:srgbClr val="17364A"/>
                </a:solidFill>
                <a:latin typeface="Aptos" pitchFamily="34" charset="0"/>
                <a:ea typeface="Aptos" pitchFamily="34" charset="-122"/>
                <a:cs typeface="Aptos" pitchFamily="34" charset="-120"/>
              </a:rPr>
              <a:t>3. Which issue can make a quantitative lab result difficult to interpret?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PHIN VADS</a:t>
            </a:r>
            <a:endParaRPr lang="en-US" sz="2100" dirty="0"/>
          </a:p>
          <a:p>
            <a:r>
              <a:rPr lang="en-US" sz="2100" dirty="0">
                <a:solidFill>
                  <a:srgbClr val="17364A"/>
                </a:solidFill>
                <a:latin typeface="Aptos" pitchFamily="34" charset="0"/>
                <a:ea typeface="Aptos" pitchFamily="34" charset="-122"/>
                <a:cs typeface="Aptos" pitchFamily="34" charset="-120"/>
              </a:rPr>
              <a:t>Reportable Condition Mapping Table resources</a:t>
            </a:r>
            <a:endParaRPr lang="en-US" sz="2100" dirty="0"/>
          </a:p>
          <a:p>
            <a:r>
              <a:rPr lang="en-US" sz="2100" dirty="0">
                <a:solidFill>
                  <a:srgbClr val="17364A"/>
                </a:solidFill>
                <a:latin typeface="Aptos" pitchFamily="34" charset="0"/>
                <a:ea typeface="Aptos" pitchFamily="34" charset="-122"/>
                <a:cs typeface="Aptos" pitchFamily="34" charset="-120"/>
              </a:rPr>
              <a:t>APHL laboratory informatics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PHIN VADS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2026-07-12T20:15:59Z</dcterms:created>
  <dcterms:modified xsi:type="dcterms:W3CDTF">2026-07-12T20:15:59Z</dcterms:modified>
</cp:coreProperties>
</file>