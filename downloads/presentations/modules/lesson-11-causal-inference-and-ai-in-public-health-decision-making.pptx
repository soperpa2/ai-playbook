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340 Causal Inference and AI in Public Health Decision-Making
AI models often predict what is likely to happen, but public health leaders frequently need to know what action will change an outcome. This module helps learners distinguish prediction from causal inference so AI outputs are not misused as evidence that a program, policy, or intervention caused an observed effect. Learners examine confounding, bias, comparison groups, counterfactual reasoning, directed acyclic graphs, and quasi-experimental designs at a practical level. The purpose is not to turn every learner into a causal methods expert. The purpose is to help public health teams recognize when causal claims require stronger evidence than a predictive model can provide.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Analytics and Modeling Track
Appears in tracks: analytics-modeling, epidemiology, policy, governance-security
AI models often predict what is likely to happen, but public health leaders frequently need to know what action will change an outcome. This module helps learners distinguish prediction from causal inference so AI outputs are not misused as evidence that a program, policy, or intervention caused an observed effect. Learners examine confounding, bias, comparison groups, counterfactual reasoning, directed acyclic graphs, and quasi-experimental designs at a practical level. The purpose is not to turn every learner into a causal methods expert. The purpose is to help public health teams recognize when causal claims require stronger evidence than a predictive model can provide.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7: Prioritize Use Cases - This lesson informs Play 7 by helping learners connect the lesson topic to prioritize use cases work in the AI Playbook sequence.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Distinguish prediction from causal inference in public health AI.
Explain why correlation and prediction do not establish causation.
Identify confounding, selection bias, collider bias, and temporal ambiguity in public health data.
Recognize when a decision requires causal evidence rather than risk prediction alone.
Identify appropriate evidence sources for evaluating interventions or policy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Create a causal question framing worksheet for an AI-supported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models often predict what is likely to happen, but public health leaders frequently need to know what action will change an outcome. This module helps learners distinguish prediction from causal inference so AI outputs are not misused as evidence that a program, policy, or intervention caused an observed effect.
Learners examine confounding, bias, comparison groups, counterfactual reasoning, directed acyclic graphs, and quasi-experimental designs at a practical level. The purpose is not to turn every learner into a causal methods expert. The purpose is to help public health teams recognize when causal claims require stronger evidence than a predictive model can provide.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Prediction: An estimate of what is likely to happen based on observed patterns.
Causal inference: The process of estimating whether and how an exposure, policy, program, or intervention changes an outcome.
Confounding: A distortion that occurs when another factor is related to both the exposure and the outcome.
Counterfactual: The outcome that would have occurred under a different condition or intervention.
Quasi-experimental design: An evaluation approach that estimates causal effects without random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can make weak evidence appear stronger than it is. A model may predict which communities have higher hospitalization risk, but that does not prove which intervention will reduce hospitalization. A model may find that people who receive a service have better outcomes, but that pattern may reflect who was able to access the service rather than the effect of the service itself.
Public health decisions often involve resource allocation, program design, policy evaluation, and equity tradeoffs. These decisions require clarity about whether the agency is asking a prediction question, an explanation question, or an intervention question. Causal inference helps agencies avoid treating AI-generated associations as proof of program effectiveness.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local health department uses an AI model to predict which neighborhoods are likely to experience low vaccination coverage. The model may help target outreach, but it does not prove why coverage is low or which outreach strategy will work. If leaders want to know whether mobile clinics, reminder messages, school partnerships, or community health workers caused an improvement, they need an evaluation design that supports causal inference.
This distinction prevents overclaiming. The AI model can support prioritization and hypothesis generation, while causal methods can support evaluation of the chosen intervention. Both are valuable, but they answer different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Causal inference begins with a clearly framed question. A useful structure is: among which population, what is the intervention or exposure, what is the comparison, what outcome is measured, and over what time period? Without this structure, teams may ask a model to answer a question that the available data cannot support.
Confounding is one of the most important threats. For example, a program may appear to improve outcomes because participants were already more connected to care. Selection bias may occur when data include only people who interacted with a system. Temporal ambiguity may occur when it is unclear whether the exposure occurred before the outcome. AI can detect patterns in these data, but it does not automatically solve the causal design problem.
Methods such as matching, regression adjustment, difference-in-differences, interrupted time series, regression discontinuity, and instrumental variables may be useful when randomization is not possible. These methods require assumptions that should be documented and reviewed. Public health staff should know when to consult epidemiologists, statisticians, or evaluators before making causal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The main failure mode is causal overreach. A dashboard or AI report may state that a program reduced disease, improved access, or changed behavior when the evidence only shows association. A guardrail is to require causal language review before results are used in reports, funding decisions, policy recommendations, or public communications.
Another risk is inequitable inference. Data may be more complete for some groups than others, and interventions may reach groups differently. A guardrail is to examine whether assumptions hold across populations and whether subgroup effects or access barriers are hidden by aggregate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Predictive models can identify risk, but causal inference is needed to decide what action is likely to change that risk. Generative AI may help draft evaluation questions or summarize literature, but humans must verify methods and assumptions. AI-supported decision-making should label outputs clearly as prediction, association, causal evidence, or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AI outputs in your agency could be mistaken for causal evidence?
Which decisions require knowing what intervention will change an outcome?
What confounders are likely in your program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comparison group could support evaluation?
Who should review causal claims before public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causal question framing worksheet for an AI-supported decision. Identify the population, intervention or exposure, comparison, outcome, time period, likely confounders, data limitations, and what evidence would be needed before making a causal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Causal question framing worksheet
List of assumptions and likely confounders
Recommended evaluation design or expert consultation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Plain-language statement distinguishing prediction from causation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Causal question framing worksheet
List of assumptions and likely confounders
Recommended evaluation design or expert consultation need
Plain-language statement distinguishing prediction from causation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Which statement best distinguishes prediction from causal inference?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340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Causal Inference and AI in Public Health Decision-Making</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What this module helps you do</a:t>
            </a:r>
            <a:endParaRPr lang="en-US" sz="2700" dirty="0"/>
          </a:p>
        </p:txBody>
      </p:sp>
      <p:sp>
        <p:nvSpPr>
          <p:cNvPr id="8" name="Text 6"/>
          <p:cNvSpPr/>
          <p:nvPr/>
        </p:nvSpPr>
        <p:spPr>
          <a:xfrm>
            <a:off x="868680" y="1417320"/>
            <a:ext cx="6675120" cy="3291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AI models often predict what is likely to happen, but public health leaders frequently need to know what action will change an outcome.</a:t>
            </a:r>
            <a:endParaRPr lang="en-US" sz="1700" dirty="0"/>
          </a:p>
          <a:p>
            <a:r>
              <a:rPr lang="en-US" sz="1700" dirty="0">
                <a:solidFill>
                  <a:srgbClr val="17364A"/>
                </a:solidFill>
                <a:latin typeface="Aptos" pitchFamily="34" charset="0"/>
                <a:ea typeface="Aptos" pitchFamily="34" charset="-122"/>
                <a:cs typeface="Aptos" pitchFamily="34" charset="-120"/>
              </a:rPr>
              <a:t>This module helps learners distinguish prediction from causal inference so AI outputs are not misused as evidence that a program, policy, or.</a:t>
            </a:r>
            <a:endParaRPr lang="en-US" sz="1700" dirty="0"/>
          </a:p>
          <a:p>
            <a:r>
              <a:rPr lang="en-US" sz="1700" dirty="0">
                <a:solidFill>
                  <a:srgbClr val="17364A"/>
                </a:solidFill>
                <a:latin typeface="Aptos" pitchFamily="34" charset="0"/>
                <a:ea typeface="Aptos" pitchFamily="34" charset="-122"/>
                <a:cs typeface="Aptos" pitchFamily="34" charset="-120"/>
              </a:rPr>
              <a:t>Learners examine confounding, bias, comparison groups, counterfactual reasoning, directed acyclic graphs, and quasi-experimental designs at a.</a:t>
            </a:r>
            <a:endParaRPr lang="en-US" sz="1700" dirty="0"/>
          </a:p>
          <a:p>
            <a:r>
              <a:rPr lang="en-US" sz="1700" dirty="0">
                <a:solidFill>
                  <a:srgbClr val="17364A"/>
                </a:solidFill>
                <a:latin typeface="Aptos" pitchFamily="34" charset="0"/>
                <a:ea typeface="Aptos" pitchFamily="34" charset="-122"/>
                <a:cs typeface="Aptos" pitchFamily="34" charset="-120"/>
              </a:rPr>
              <a:t>The purpose is not to turn every learner into a causal methods expert.</a:t>
            </a:r>
            <a:endParaRPr lang="en-US" sz="1700" dirty="0"/>
          </a:p>
        </p:txBody>
      </p:sp>
      <p:sp>
        <p:nvSpPr>
          <p:cNvPr id="9" name="Shape 7"/>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Module details</a:t>
            </a:r>
            <a:endParaRPr lang="en-US" sz="950" dirty="0"/>
          </a:p>
        </p:txBody>
      </p:sp>
      <p:sp>
        <p:nvSpPr>
          <p:cNvPr id="11" name="Text 9"/>
          <p:cNvSpPr/>
          <p:nvPr/>
        </p:nvSpPr>
        <p:spPr>
          <a:xfrm>
            <a:off x="8074152" y="1856232"/>
            <a:ext cx="2825496" cy="135331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Level: intermediate/practitioner</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Primary track: Analytics and Modeling Track</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Appears in tracks: analytics-modeling, epidemiology, policy, governance-security</a:t>
            </a:r>
            <a:endParaRPr lang="en-US" sz="1250" dirty="0"/>
          </a:p>
        </p:txBody>
      </p:sp>
      <p:sp>
        <p:nvSpPr>
          <p:cNvPr id="12" name="Shape 10"/>
          <p:cNvSpPr/>
          <p:nvPr/>
        </p:nvSpPr>
        <p:spPr>
          <a:xfrm>
            <a:off x="7909560" y="3611880"/>
            <a:ext cx="3154680" cy="1783080"/>
          </a:xfrm>
          <a:prstGeom prst="roundRect">
            <a:avLst>
              <a:gd name="adj" fmla="val 6154"/>
            </a:avLst>
          </a:prstGeom>
          <a:solidFill>
            <a:srgbClr val="EEF8ED"/>
          </a:solidFill>
          <a:ln w="12700">
            <a:solidFill>
              <a:srgbClr val="B9D7E6"/>
            </a:solidFill>
            <a:prstDash val="solid"/>
          </a:ln>
        </p:spPr>
      </p:sp>
      <p:sp>
        <p:nvSpPr>
          <p:cNvPr id="13" name="Text 11"/>
          <p:cNvSpPr/>
          <p:nvPr/>
        </p:nvSpPr>
        <p:spPr>
          <a:xfrm>
            <a:off x="8074152" y="375818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Learning approach</a:t>
            </a:r>
            <a:endParaRPr lang="en-US" sz="950" dirty="0"/>
          </a:p>
        </p:txBody>
      </p:sp>
      <p:sp>
        <p:nvSpPr>
          <p:cNvPr id="14" name="Text 12"/>
          <p:cNvSpPr/>
          <p:nvPr/>
        </p:nvSpPr>
        <p:spPr>
          <a:xfrm>
            <a:off x="8074152" y="4050792"/>
            <a:ext cx="2825496" cy="121615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Review the core ideas, complete the practical exercise, check your understanding, and use the related plays and tools to apply the lesson.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54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 topic to build and deploy.</a:t>
            </a:r>
            <a:endParaRPr lang="en-US" sz="1540" dirty="0"/>
          </a:p>
          <a:p>
            <a:r>
              <a:rPr lang="en-US" sz="154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 prioritize use cases work.</a:t>
            </a:r>
            <a:endParaRPr lang="en-US" sz="1540" dirty="0"/>
          </a:p>
          <a:p>
            <a:r>
              <a:rPr lang="en-US" sz="154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 vision &amp; guardrails work in.</a:t>
            </a:r>
            <a:endParaRPr lang="en-US" sz="1540" dirty="0"/>
          </a:p>
          <a:p>
            <a:r>
              <a:rPr lang="en-US" sz="154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 readiness assessment work.</a:t>
            </a:r>
            <a:endParaRPr lang="en-US" sz="1540" dirty="0"/>
          </a:p>
        </p:txBody>
      </p:sp>
      <p:sp>
        <p:nvSpPr>
          <p:cNvPr id="9" name="Shape 7"/>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Apply the lesson</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250" dirty="0"/>
          </a:p>
        </p:txBody>
      </p:sp>
      <p:sp>
        <p:nvSpPr>
          <p:cNvPr id="12" name="Shape 10"/>
          <p:cNvSpPr/>
          <p:nvPr/>
        </p:nvSpPr>
        <p:spPr>
          <a:xfrm>
            <a:off x="8046720" y="3794760"/>
            <a:ext cx="3063240" cy="1508760"/>
          </a:xfrm>
          <a:prstGeom prst="roundRect">
            <a:avLst>
              <a:gd name="adj" fmla="val 7273"/>
            </a:avLst>
          </a:prstGeom>
          <a:solidFill>
            <a:srgbClr val="FFF4D9"/>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Keep in mind</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The playbook connection helps turn training into agency work, not just individual knowledge.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Related toolkit resources</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46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 practical exercise for the.</a:t>
            </a:r>
            <a:endParaRPr lang="en-US" sz="1460" dirty="0"/>
          </a:p>
          <a:p>
            <a:r>
              <a:rPr lang="en-US" sz="146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 documented public health.</a:t>
            </a:r>
            <a:endParaRPr lang="en-US" sz="1460" dirty="0"/>
          </a:p>
          <a:p>
            <a:r>
              <a:rPr lang="en-US" sz="146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 Review to translate this.</a:t>
            </a:r>
            <a:endParaRPr lang="en-US" sz="1460" dirty="0"/>
          </a:p>
          <a:p>
            <a:r>
              <a:rPr lang="en-US" sz="146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 Checklist to translate this.</a:t>
            </a:r>
            <a:endParaRPr lang="en-US" sz="1460" dirty="0"/>
          </a:p>
          <a:p>
            <a:r>
              <a:rPr lang="en-US" sz="146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 public health AI planning,.</a:t>
            </a:r>
            <a:endParaRPr lang="en-US" sz="1460" dirty="0"/>
          </a:p>
        </p:txBody>
      </p:sp>
      <p:sp>
        <p:nvSpPr>
          <p:cNvPr id="9" name="Shape 7"/>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the tools</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250" dirty="0"/>
          </a:p>
        </p:txBody>
      </p:sp>
      <p:sp>
        <p:nvSpPr>
          <p:cNvPr id="12" name="Shape 10"/>
          <p:cNvSpPr/>
          <p:nvPr/>
        </p:nvSpPr>
        <p:spPr>
          <a:xfrm>
            <a:off x="8046720" y="3794760"/>
            <a:ext cx="3063240" cy="1508760"/>
          </a:xfrm>
          <a:prstGeom prst="roundRect">
            <a:avLst>
              <a:gd name="adj" fmla="val 7273"/>
            </a:avLst>
          </a:prstGeom>
          <a:solidFill>
            <a:srgbClr val="EEF8ED"/>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Avoid duplication</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If your department already has a strong equivalent tool, adapt or use the existing process instead of recreating it.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Distinguish prediction from causal inference in public health AI.</a:t>
            </a:r>
            <a:endParaRPr lang="en-US" sz="1700" dirty="0"/>
          </a:p>
          <a:p>
            <a:r>
              <a:rPr lang="en-US" sz="1700" dirty="0">
                <a:solidFill>
                  <a:srgbClr val="17364A"/>
                </a:solidFill>
                <a:latin typeface="Aptos" pitchFamily="34" charset="0"/>
                <a:ea typeface="Aptos" pitchFamily="34" charset="-122"/>
                <a:cs typeface="Aptos" pitchFamily="34" charset="-120"/>
              </a:rPr>
              <a:t>Explain why correlation and prediction do not establish causation.</a:t>
            </a:r>
            <a:endParaRPr lang="en-US" sz="1700" dirty="0"/>
          </a:p>
          <a:p>
            <a:r>
              <a:rPr lang="en-US" sz="1700" dirty="0">
                <a:solidFill>
                  <a:srgbClr val="17364A"/>
                </a:solidFill>
                <a:latin typeface="Aptos" pitchFamily="34" charset="0"/>
                <a:ea typeface="Aptos" pitchFamily="34" charset="-122"/>
                <a:cs typeface="Aptos" pitchFamily="34" charset="-120"/>
              </a:rPr>
              <a:t>Identify confounding, selection bias, collider bias, and temporal ambiguity in public health data.</a:t>
            </a:r>
            <a:endParaRPr lang="en-US" sz="1700" dirty="0"/>
          </a:p>
          <a:p>
            <a:r>
              <a:rPr lang="en-US" sz="1700" dirty="0">
                <a:solidFill>
                  <a:srgbClr val="17364A"/>
                </a:solidFill>
                <a:latin typeface="Aptos" pitchFamily="34" charset="0"/>
                <a:ea typeface="Aptos" pitchFamily="34" charset="-122"/>
                <a:cs typeface="Aptos" pitchFamily="34" charset="-120"/>
              </a:rPr>
              <a:t>Recognize when a decision requires causal evidence rather than risk prediction alone.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Distinguish prediction from causal inference in public health AI.</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Create a causal question framing worksheet for an AI-supported decision.</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Create a causal question framing worksheet for an AI-supported decision.</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AI models often predict what is likely to happen, but public health leaders frequently need to know what action will change.</a:t>
            </a:r>
            <a:endParaRPr lang="en-US" sz="1700" dirty="0"/>
          </a:p>
          <a:p>
            <a:r>
              <a:rPr lang="en-US" sz="1700" dirty="0">
                <a:solidFill>
                  <a:srgbClr val="17364A"/>
                </a:solidFill>
                <a:latin typeface="Aptos" pitchFamily="34" charset="0"/>
                <a:ea typeface="Aptos" pitchFamily="34" charset="-122"/>
                <a:cs typeface="Aptos" pitchFamily="34" charset="-120"/>
              </a:rPr>
              <a:t>This module helps learners distinguish prediction from causal inference so AI outputs are not misused as evidence that a.</a:t>
            </a:r>
            <a:endParaRPr lang="en-US" sz="1700" dirty="0"/>
          </a:p>
          <a:p>
            <a:r>
              <a:rPr lang="en-US" sz="1700" dirty="0">
                <a:solidFill>
                  <a:srgbClr val="17364A"/>
                </a:solidFill>
                <a:latin typeface="Aptos" pitchFamily="34" charset="0"/>
                <a:ea typeface="Aptos" pitchFamily="34" charset="-122"/>
                <a:cs typeface="Aptos" pitchFamily="34" charset="-120"/>
              </a:rPr>
              <a:t>Learners examine confounding, bias, comparison groups, counterfactual reasoning, directed acyclic graphs, and.</a:t>
            </a:r>
            <a:endParaRPr lang="en-US" sz="1700" dirty="0"/>
          </a:p>
          <a:p>
            <a:r>
              <a:rPr lang="en-US" sz="1700" dirty="0">
                <a:solidFill>
                  <a:srgbClr val="17364A"/>
                </a:solidFill>
                <a:latin typeface="Aptos" pitchFamily="34" charset="0"/>
                <a:ea typeface="Aptos" pitchFamily="34" charset="-122"/>
                <a:cs typeface="Aptos" pitchFamily="34" charset="-120"/>
              </a:rPr>
              <a:t>The purpose is not to turn every learner into a causal methods expert.</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AI models often predict what is likely to happen, but public health leaders frequently need to know what action will change.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Definitions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Prediction: An estimate of what is likely to happen based on observed patterns.</a:t>
            </a:r>
            <a:endParaRPr lang="en-US" sz="1700" dirty="0"/>
          </a:p>
          <a:p>
            <a:r>
              <a:rPr lang="en-US" sz="1700" dirty="0">
                <a:solidFill>
                  <a:srgbClr val="17364A"/>
                </a:solidFill>
                <a:latin typeface="Aptos" pitchFamily="34" charset="0"/>
                <a:ea typeface="Aptos" pitchFamily="34" charset="-122"/>
                <a:cs typeface="Aptos" pitchFamily="34" charset="-120"/>
              </a:rPr>
              <a:t>Causal inference: The process of estimating whether and how an exposure, policy, program, or intervention changes an outcome.</a:t>
            </a:r>
            <a:endParaRPr lang="en-US" sz="1700" dirty="0"/>
          </a:p>
          <a:p>
            <a:r>
              <a:rPr lang="en-US" sz="1700" dirty="0">
                <a:solidFill>
                  <a:srgbClr val="17364A"/>
                </a:solidFill>
                <a:latin typeface="Aptos" pitchFamily="34" charset="0"/>
                <a:ea typeface="Aptos" pitchFamily="34" charset="-122"/>
                <a:cs typeface="Aptos" pitchFamily="34" charset="-120"/>
              </a:rPr>
              <a:t>Confounding: A distortion that occurs when another factor is related to both the exposure and the outcome.</a:t>
            </a:r>
            <a:endParaRPr lang="en-US" sz="1700" dirty="0"/>
          </a:p>
          <a:p>
            <a:r>
              <a:rPr lang="en-US" sz="1700" dirty="0">
                <a:solidFill>
                  <a:srgbClr val="17364A"/>
                </a:solidFill>
                <a:latin typeface="Aptos" pitchFamily="34" charset="0"/>
                <a:ea typeface="Aptos" pitchFamily="34" charset="-122"/>
                <a:cs typeface="Aptos" pitchFamily="34" charset="-120"/>
              </a:rPr>
              <a:t>Counterfactual: The outcome that would have occurred under a different condition or intervention.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Prediction: An estimate of what is likely to happen based on observed patterns.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AI can make weak evidence appear stronger than it is.</a:t>
            </a:r>
            <a:endParaRPr lang="en-US" sz="1700" dirty="0"/>
          </a:p>
          <a:p>
            <a:r>
              <a:rPr lang="en-US" sz="1700" dirty="0">
                <a:solidFill>
                  <a:srgbClr val="17364A"/>
                </a:solidFill>
                <a:latin typeface="Aptos" pitchFamily="34" charset="0"/>
                <a:ea typeface="Aptos" pitchFamily="34" charset="-122"/>
                <a:cs typeface="Aptos" pitchFamily="34" charset="-120"/>
              </a:rPr>
              <a:t>A model may predict which communities have higher hospitalization risk, but that does not prove which intervention will.</a:t>
            </a:r>
            <a:endParaRPr lang="en-US" sz="1700" dirty="0"/>
          </a:p>
          <a:p>
            <a:r>
              <a:rPr lang="en-US" sz="1700" dirty="0">
                <a:solidFill>
                  <a:srgbClr val="17364A"/>
                </a:solidFill>
                <a:latin typeface="Aptos" pitchFamily="34" charset="0"/>
                <a:ea typeface="Aptos" pitchFamily="34" charset="-122"/>
                <a:cs typeface="Aptos" pitchFamily="34" charset="-120"/>
              </a:rPr>
              <a:t>A model may find that people who receive a service have better outcomes, but that pattern may reflect who was able to.</a:t>
            </a:r>
            <a:endParaRPr lang="en-US" sz="1700" dirty="0"/>
          </a:p>
          <a:p>
            <a:r>
              <a:rPr lang="en-US" sz="1700" dirty="0">
                <a:solidFill>
                  <a:srgbClr val="17364A"/>
                </a:solidFill>
                <a:latin typeface="Aptos" pitchFamily="34" charset="0"/>
                <a:ea typeface="Aptos" pitchFamily="34" charset="-122"/>
                <a:cs typeface="Aptos" pitchFamily="34" charset="-120"/>
              </a:rPr>
              <a:t>Public health decisions often involve resource allocation, program design, policy evaluation, and equity tradeoffs.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AI can make weak evidence appear stronger than it is.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 local health department uses an AI model to predict which neighborhoods are likely to experience low vaccination coverage.</a:t>
            </a:r>
            <a:endParaRPr lang="en-US" sz="1700" dirty="0"/>
          </a:p>
          <a:p>
            <a:r>
              <a:rPr lang="en-US" sz="1700" dirty="0">
                <a:solidFill>
                  <a:srgbClr val="17364A"/>
                </a:solidFill>
                <a:latin typeface="Aptos" pitchFamily="34" charset="0"/>
                <a:ea typeface="Aptos" pitchFamily="34" charset="-122"/>
                <a:cs typeface="Aptos" pitchFamily="34" charset="-120"/>
              </a:rPr>
              <a:t>The model may help target outreach, but it does not prove why coverage is low or which outreach strategy will work.</a:t>
            </a:r>
            <a:endParaRPr lang="en-US" sz="1700" dirty="0"/>
          </a:p>
          <a:p>
            <a:r>
              <a:rPr lang="en-US" sz="1700" dirty="0">
                <a:solidFill>
                  <a:srgbClr val="17364A"/>
                </a:solidFill>
                <a:latin typeface="Aptos" pitchFamily="34" charset="0"/>
                <a:ea typeface="Aptos" pitchFamily="34" charset="-122"/>
                <a:cs typeface="Aptos" pitchFamily="34" charset="-120"/>
              </a:rPr>
              <a:t>If leaders want to know whether mobile clinics, reminder messages, school partnerships, or community health workers caused.</a:t>
            </a:r>
            <a:endParaRPr lang="en-US" sz="1700" dirty="0"/>
          </a:p>
          <a:p>
            <a:r>
              <a:rPr lang="en-US" sz="1700" dirty="0">
                <a:solidFill>
                  <a:srgbClr val="17364A"/>
                </a:solidFill>
                <a:latin typeface="Aptos" pitchFamily="34" charset="0"/>
                <a:ea typeface="Aptos" pitchFamily="34" charset="-122"/>
                <a:cs typeface="Aptos" pitchFamily="34" charset="-120"/>
              </a:rPr>
              <a:t>This distinction prevents overclaiming.</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 local health department uses an AI model to predict which neighborhoods are likely to experience low vaccination coverage.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and Operational Deep Dive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Causal inference begins with a clearly framed question.</a:t>
            </a:r>
            <a:endParaRPr lang="en-US" sz="1700" dirty="0"/>
          </a:p>
          <a:p>
            <a:r>
              <a:rPr lang="en-US" sz="1700" dirty="0">
                <a:solidFill>
                  <a:srgbClr val="17364A"/>
                </a:solidFill>
                <a:latin typeface="Aptos" pitchFamily="34" charset="0"/>
                <a:ea typeface="Aptos" pitchFamily="34" charset="-122"/>
                <a:cs typeface="Aptos" pitchFamily="34" charset="-120"/>
              </a:rPr>
              <a:t>A useful structure is: among which population, what is the intervention or exposure, what is the comparison, what outcome.</a:t>
            </a:r>
            <a:endParaRPr lang="en-US" sz="1700" dirty="0"/>
          </a:p>
          <a:p>
            <a:r>
              <a:rPr lang="en-US" sz="1700" dirty="0">
                <a:solidFill>
                  <a:srgbClr val="17364A"/>
                </a:solidFill>
                <a:latin typeface="Aptos" pitchFamily="34" charset="0"/>
                <a:ea typeface="Aptos" pitchFamily="34" charset="-122"/>
                <a:cs typeface="Aptos" pitchFamily="34" charset="-120"/>
              </a:rPr>
              <a:t>Without this structure, teams may ask a model to answer a question that the available data cannot support.</a:t>
            </a:r>
            <a:endParaRPr lang="en-US" sz="1700" dirty="0"/>
          </a:p>
          <a:p>
            <a:r>
              <a:rPr lang="en-US" sz="1700" dirty="0">
                <a:solidFill>
                  <a:srgbClr val="17364A"/>
                </a:solidFill>
                <a:latin typeface="Aptos" pitchFamily="34" charset="0"/>
                <a:ea typeface="Aptos" pitchFamily="34" charset="-122"/>
                <a:cs typeface="Aptos" pitchFamily="34" charset="-120"/>
              </a:rPr>
              <a:t>Confounding is one of the most important threats.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Causal inference begins with a clearly framed question.</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The main failure mode is causal overreach.</a:t>
            </a:r>
            <a:endParaRPr lang="en-US" sz="1700" dirty="0"/>
          </a:p>
          <a:p>
            <a:r>
              <a:rPr lang="en-US" sz="1700" dirty="0">
                <a:solidFill>
                  <a:srgbClr val="17364A"/>
                </a:solidFill>
                <a:latin typeface="Aptos" pitchFamily="34" charset="0"/>
                <a:ea typeface="Aptos" pitchFamily="34" charset="-122"/>
                <a:cs typeface="Aptos" pitchFamily="34" charset="-120"/>
              </a:rPr>
              <a:t>A dashboard or AI report may state that a program reduced disease, improved access, or changed behavior when the evidence.</a:t>
            </a:r>
            <a:endParaRPr lang="en-US" sz="1700" dirty="0"/>
          </a:p>
          <a:p>
            <a:r>
              <a:rPr lang="en-US" sz="1700" dirty="0">
                <a:solidFill>
                  <a:srgbClr val="17364A"/>
                </a:solidFill>
                <a:latin typeface="Aptos" pitchFamily="34" charset="0"/>
                <a:ea typeface="Aptos" pitchFamily="34" charset="-122"/>
                <a:cs typeface="Aptos" pitchFamily="34" charset="-120"/>
              </a:rPr>
              <a:t>A guardrail is to require causal language review before results are used in reports, funding decisions, policy.</a:t>
            </a:r>
            <a:endParaRPr lang="en-US" sz="1700" dirty="0"/>
          </a:p>
          <a:p>
            <a:r>
              <a:rPr lang="en-US" sz="1700" dirty="0">
                <a:solidFill>
                  <a:srgbClr val="17364A"/>
                </a:solidFill>
                <a:latin typeface="Aptos" pitchFamily="34" charset="0"/>
                <a:ea typeface="Aptos" pitchFamily="34" charset="-122"/>
                <a:cs typeface="Aptos" pitchFamily="34" charset="-120"/>
              </a:rPr>
              <a:t>Another risk is inequitable inference.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The main failure mode is causal overreach.</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Predictive models can identify risk, but causal inference is needed to decide what action is likely to change that risk.</a:t>
            </a:r>
            <a:endParaRPr lang="en-US" sz="1700" dirty="0"/>
          </a:p>
          <a:p>
            <a:r>
              <a:rPr lang="en-US" sz="1700" dirty="0">
                <a:solidFill>
                  <a:srgbClr val="17364A"/>
                </a:solidFill>
                <a:latin typeface="Aptos" pitchFamily="34" charset="0"/>
                <a:ea typeface="Aptos" pitchFamily="34" charset="-122"/>
                <a:cs typeface="Aptos" pitchFamily="34" charset="-120"/>
              </a:rPr>
              <a:t>Generative AI may help draft evaluation questions or summarize literature, but humans must verify methods and assumptions.</a:t>
            </a:r>
            <a:endParaRPr lang="en-US" sz="1700" dirty="0"/>
          </a:p>
          <a:p>
            <a:r>
              <a:rPr lang="en-US" sz="1700" dirty="0">
                <a:solidFill>
                  <a:srgbClr val="17364A"/>
                </a:solidFill>
                <a:latin typeface="Aptos" pitchFamily="34" charset="0"/>
                <a:ea typeface="Aptos" pitchFamily="34" charset="-122"/>
                <a:cs typeface="Aptos" pitchFamily="34" charset="-120"/>
              </a:rPr>
              <a:t>AI-supported decision-making should label outputs clearly as prediction, association, causal evidence, or hypothesis.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Predictive models can identify risk, but causal inference is needed to decide what action is likely to change that risk.</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What AI outputs in your agency could be mistaken for causal evidence?</a:t>
            </a:r>
            <a:endParaRPr lang="en-US" sz="1700" dirty="0"/>
          </a:p>
          <a:p>
            <a:r>
              <a:rPr lang="en-US" sz="1700" dirty="0">
                <a:solidFill>
                  <a:srgbClr val="17364A"/>
                </a:solidFill>
                <a:latin typeface="Aptos" pitchFamily="34" charset="0"/>
                <a:ea typeface="Aptos" pitchFamily="34" charset="-122"/>
                <a:cs typeface="Aptos" pitchFamily="34" charset="-120"/>
              </a:rPr>
              <a:t>Which decisions require knowing what intervention will change an outcome?</a:t>
            </a:r>
            <a:endParaRPr lang="en-US" sz="1700" dirty="0"/>
          </a:p>
          <a:p>
            <a:r>
              <a:rPr lang="en-US" sz="1700" dirty="0">
                <a:solidFill>
                  <a:srgbClr val="17364A"/>
                </a:solidFill>
                <a:latin typeface="Aptos" pitchFamily="34" charset="0"/>
                <a:ea typeface="Aptos" pitchFamily="34" charset="-122"/>
                <a:cs typeface="Aptos" pitchFamily="34" charset="-120"/>
              </a:rPr>
              <a:t>What confounders are likely in your program area?</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What AI outputs in your agency could be mistaken for causal evidence?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What comparison group could support evaluation?</a:t>
            </a:r>
            <a:endParaRPr lang="en-US" sz="1700" dirty="0"/>
          </a:p>
          <a:p>
            <a:r>
              <a:rPr lang="en-US" sz="1700" dirty="0">
                <a:solidFill>
                  <a:srgbClr val="17364A"/>
                </a:solidFill>
                <a:latin typeface="Aptos" pitchFamily="34" charset="0"/>
                <a:ea typeface="Aptos" pitchFamily="34" charset="-122"/>
                <a:cs typeface="Aptos" pitchFamily="34" charset="-120"/>
              </a:rPr>
              <a:t>Who should review causal claims before public release?</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What comparison group could support evaluation?</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Create a causal question framing worksheet for an AI-supported decision.</a:t>
            </a:r>
            <a:endParaRPr lang="en-US" sz="1700" dirty="0"/>
          </a:p>
          <a:p>
            <a:r>
              <a:rPr lang="en-US" sz="1700" dirty="0">
                <a:solidFill>
                  <a:srgbClr val="17364A"/>
                </a:solidFill>
                <a:latin typeface="Aptos" pitchFamily="34" charset="0"/>
                <a:ea typeface="Aptos" pitchFamily="34" charset="-122"/>
                <a:cs typeface="Aptos" pitchFamily="34" charset="-120"/>
              </a:rPr>
              <a:t>Identify the population, intervention or exposure, comparison, outcome, time period, likely confounders, data limitations,.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Create a causal question framing worksheet for an AI-supported decision.</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Causal question framing worksheet</a:t>
            </a:r>
            <a:endParaRPr lang="en-US" sz="1700" dirty="0"/>
          </a:p>
          <a:p>
            <a:r>
              <a:rPr lang="en-US" sz="1700" dirty="0">
                <a:solidFill>
                  <a:srgbClr val="17364A"/>
                </a:solidFill>
                <a:latin typeface="Aptos" pitchFamily="34" charset="0"/>
                <a:ea typeface="Aptos" pitchFamily="34" charset="-122"/>
                <a:cs typeface="Aptos" pitchFamily="34" charset="-120"/>
              </a:rPr>
              <a:t>List of assumptions and likely confounders</a:t>
            </a:r>
            <a:endParaRPr lang="en-US" sz="1700" dirty="0"/>
          </a:p>
          <a:p>
            <a:r>
              <a:rPr lang="en-US" sz="1700" dirty="0">
                <a:solidFill>
                  <a:srgbClr val="17364A"/>
                </a:solidFill>
                <a:latin typeface="Aptos" pitchFamily="34" charset="0"/>
                <a:ea typeface="Aptos" pitchFamily="34" charset="-122"/>
                <a:cs typeface="Aptos" pitchFamily="34" charset="-120"/>
              </a:rPr>
              <a:t>Recommended evaluation design or expert consultation need</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Causal question framing worksheet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Plain-language statement distinguishing prediction from causation</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Plain-language statement distinguishing prediction from causation</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Causal question framing worksheet</a:t>
            </a:r>
            <a:endParaRPr lang="en-US" sz="1700" dirty="0"/>
          </a:p>
          <a:p>
            <a:r>
              <a:rPr lang="en-US" sz="1700" dirty="0">
                <a:solidFill>
                  <a:srgbClr val="17364A"/>
                </a:solidFill>
                <a:latin typeface="Aptos" pitchFamily="34" charset="0"/>
                <a:ea typeface="Aptos" pitchFamily="34" charset="-122"/>
                <a:cs typeface="Aptos" pitchFamily="34" charset="-120"/>
              </a:rPr>
              <a:t>List of assumptions and likely confounders</a:t>
            </a:r>
            <a:endParaRPr lang="en-US" sz="1700" dirty="0"/>
          </a:p>
          <a:p>
            <a:r>
              <a:rPr lang="en-US" sz="1700" dirty="0">
                <a:solidFill>
                  <a:srgbClr val="17364A"/>
                </a:solidFill>
                <a:latin typeface="Aptos" pitchFamily="34" charset="0"/>
                <a:ea typeface="Aptos" pitchFamily="34" charset="-122"/>
                <a:cs typeface="Aptos" pitchFamily="34" charset="-120"/>
              </a:rPr>
              <a:t>Recommended evaluation design or expert consultation need</a:t>
            </a:r>
            <a:endParaRPr lang="en-US" sz="1700" dirty="0"/>
          </a:p>
          <a:p>
            <a:r>
              <a:rPr lang="en-US" sz="1700" dirty="0">
                <a:solidFill>
                  <a:srgbClr val="17364A"/>
                </a:solidFill>
                <a:latin typeface="Aptos" pitchFamily="34" charset="0"/>
                <a:ea typeface="Aptos" pitchFamily="34" charset="-122"/>
                <a:cs typeface="Aptos" pitchFamily="34" charset="-120"/>
              </a:rPr>
              <a:t>Plain-language statement distinguishing prediction from causation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Causal question framing worksheet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1. Which statement best distinguishes prediction from causal inference?</a:t>
            </a:r>
            <a:endParaRPr lang="en-US" sz="1700" dirty="0"/>
          </a:p>
          <a:p>
            <a:r>
              <a:rPr lang="en-US" sz="1700" dirty="0">
                <a:solidFill>
                  <a:srgbClr val="17364A"/>
                </a:solidFill>
                <a:latin typeface="Aptos" pitchFamily="34" charset="0"/>
                <a:ea typeface="Aptos" pitchFamily="34" charset="-122"/>
                <a:cs typeface="Aptos" pitchFamily="34" charset="-120"/>
              </a:rPr>
              <a:t>2. What is the best reason to assign an accountability owner?</a:t>
            </a:r>
            <a:endParaRPr lang="en-US" sz="1700" dirty="0"/>
          </a:p>
          <a:p>
            <a:r>
              <a:rPr lang="en-US" sz="1700" dirty="0">
                <a:solidFill>
                  <a:srgbClr val="17364A"/>
                </a:solidFill>
                <a:latin typeface="Aptos" pitchFamily="34" charset="0"/>
                <a:ea typeface="Aptos" pitchFamily="34" charset="-122"/>
                <a:cs typeface="Aptos" pitchFamily="34" charset="-120"/>
              </a:rPr>
              <a:t>3. When should an AI-supported workflow be escalated for review?</a:t>
            </a:r>
            <a:endParaRPr lang="en-US" sz="1700" dirty="0"/>
          </a:p>
          <a:p>
            <a:r>
              <a:rPr lang="en-US" sz="1700" dirty="0">
                <a:solidFill>
                  <a:srgbClr val="17364A"/>
                </a:solidFill>
                <a:latin typeface="Aptos" pitchFamily="34" charset="0"/>
                <a:ea typeface="Aptos" pitchFamily="34" charset="-122"/>
                <a:cs typeface="Aptos" pitchFamily="34" charset="-120"/>
              </a:rPr>
              <a:t>4. Which practice best supports public accountability?</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1. Which statement best distinguishes prediction from causal inference?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700" dirty="0"/>
          </a:p>
          <a:p>
            <a:r>
              <a:rPr lang="en-US" sz="17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1700" dirty="0"/>
          </a:p>
          <a:p>
            <a:r>
              <a:rPr lang="en-US" sz="1700" dirty="0">
                <a:solidFill>
                  <a:srgbClr val="17364A"/>
                </a:solidFill>
                <a:latin typeface="Aptos" pitchFamily="34" charset="0"/>
                <a:ea typeface="Aptos" pitchFamily="34" charset="-122"/>
                <a:cs typeface="Aptos" pitchFamily="34" charset="-120"/>
              </a:rPr>
              <a:t>WHO Ethics and Governance of Artificial Intelligence for Health guidance: https://www.who.int/publications/i/item/9789240029200</a:t>
            </a:r>
            <a:endParaRPr lang="en-US" sz="1700" dirty="0"/>
          </a:p>
          <a:p>
            <a:r>
              <a:rPr lang="en-US" sz="1700" dirty="0">
                <a:solidFill>
                  <a:srgbClr val="17364A"/>
                </a:solidFill>
                <a:latin typeface="Aptos" pitchFamily="34" charset="0"/>
                <a:ea typeface="Aptos" pitchFamily="34" charset="-122"/>
                <a:cs typeface="Aptos" pitchFamily="34" charset="-120"/>
              </a:rPr>
              <a:t>OWASP Top 10 for Large Language Model Applications: https://owasp.org/www-project-top-10-for-large-language-model-applications/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 language access, and.</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 language access, and.</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Causal Inference and AI in Public Health Decision-Making</dc:title>
  <dc:subject>Causal Inference and AI in Public Health Decision-Making learning module</dc:subject>
  <dc:creator>Paula Soper</dc:creator>
  <cp:lastModifiedBy>Paula Soper</cp:lastModifiedBy>
  <cp:revision>1</cp:revision>
  <dcterms:created xsi:type="dcterms:W3CDTF">2026-07-12T18:54:57Z</dcterms:created>
  <dcterms:modified xsi:type="dcterms:W3CDTF">2026-07-12T18:54:57Z</dcterms:modified>
</cp:coreProperties>
</file>