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 inequities, strengthen.</a:t>
            </a:r>
            <a:endParaRPr lang="en-US" sz="1700" dirty="0"/>
          </a:p>
          <a:p>
            <a:r>
              <a:rPr lang="en-US" sz="1700" dirty="0">
                <a:solidFill>
                  <a:srgbClr val="17364A"/>
                </a:solidFill>
                <a:latin typeface="Aptos" pitchFamily="34" charset="0"/>
                <a:ea typeface="Aptos" pitchFamily="34" charset="-122"/>
                <a:cs typeface="Aptos" pitchFamily="34" charset="-120"/>
              </a:rPr>
              <a:t>For public health, this concept is not abstract.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 inequities.</a:t>
            </a:r>
            <a:endParaRPr lang="en-US" sz="1700" dirty="0"/>
          </a:p>
          <a:p>
            <a:r>
              <a:rPr lang="en-US" sz="1700" dirty="0">
                <a:solidFill>
                  <a:srgbClr val="17364A"/>
                </a:solidFill>
                <a:latin typeface="Aptos" pitchFamily="34" charset="0"/>
                <a:ea typeface="Aptos" pitchFamily="34" charset="-122"/>
                <a:cs typeface="Aptos" pitchFamily="34" charset="-120"/>
              </a:rPr>
              <a:t>AI for Social Good should therefore be judged by whether it advances public health values in measurable, accountable, and community-centered ways.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introductory</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Shared Foundational / Introductory Course</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shared-foundational, policy, communications</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 engage stakeholders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20: Community Engagement Planning (Planning)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21: Stakeholder Mapping &amp; RACI (Template)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22: Missing Voices Analysis (Checklist) - Use this tool to complete or strengthen the practical exercise for the module using.</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AI for Social Good in public health terms.</a:t>
            </a:r>
            <a:endParaRPr lang="en-US" sz="1700" dirty="0"/>
          </a:p>
          <a:p>
            <a:r>
              <a:rPr lang="en-US" sz="1700" dirty="0">
                <a:solidFill>
                  <a:srgbClr val="17364A"/>
                </a:solidFill>
                <a:latin typeface="Aptos" pitchFamily="34" charset="0"/>
                <a:ea typeface="Aptos" pitchFamily="34" charset="-122"/>
                <a:cs typeface="Aptos" pitchFamily="34" charset="-120"/>
              </a:rPr>
              <a:t>Distinguish public benefit from novelty, efficiency, or automation alone.</a:t>
            </a:r>
            <a:endParaRPr lang="en-US" sz="1700" dirty="0"/>
          </a:p>
          <a:p>
            <a:r>
              <a:rPr lang="en-US" sz="1700" dirty="0">
                <a:solidFill>
                  <a:srgbClr val="17364A"/>
                </a:solidFill>
                <a:latin typeface="Aptos" pitchFamily="34" charset="0"/>
                <a:ea typeface="Aptos" pitchFamily="34" charset="-122"/>
                <a:cs typeface="Aptos" pitchFamily="34" charset="-120"/>
              </a:rPr>
              <a:t>Identify how AI can support public health values, including equity, transparency, accessibility, accountability, and community.</a:t>
            </a:r>
            <a:endParaRPr lang="en-US" sz="1700" dirty="0"/>
          </a:p>
          <a:p>
            <a:r>
              <a:rPr lang="en-US" sz="1700" dirty="0">
                <a:solidFill>
                  <a:srgbClr val="17364A"/>
                </a:solidFill>
                <a:latin typeface="Aptos" pitchFamily="34" charset="0"/>
                <a:ea typeface="Aptos" pitchFamily="34" charset="-122"/>
                <a:cs typeface="Aptos" pitchFamily="34" charset="-120"/>
              </a:rPr>
              <a:t>Assess potential harms, including exclusion, surveillance burden, stigma, resource diversion, and unequal benefit.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AI for Social Good in public health terms.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a:t>
            </a:r>
            <a:endParaRPr lang="en-US" sz="1700" dirty="0"/>
          </a:p>
          <a:p>
            <a:r>
              <a:rPr lang="en-US" sz="1700" dirty="0">
                <a:solidFill>
                  <a:srgbClr val="17364A"/>
                </a:solidFill>
                <a:latin typeface="Aptos" pitchFamily="34" charset="0"/>
                <a:ea typeface="Aptos" pitchFamily="34" charset="-122"/>
                <a:cs typeface="Aptos" pitchFamily="34" charset="-120"/>
              </a:rPr>
              <a:t>For public health, this concept is not abstract.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 inequities.</a:t>
            </a:r>
            <a:endParaRPr lang="en-US" sz="1700" dirty="0"/>
          </a:p>
          <a:p>
            <a:r>
              <a:rPr lang="en-US" sz="1700" dirty="0">
                <a:solidFill>
                  <a:srgbClr val="17364A"/>
                </a:solidFill>
                <a:latin typeface="Aptos" pitchFamily="34" charset="0"/>
                <a:ea typeface="Aptos" pitchFamily="34" charset="-122"/>
                <a:cs typeface="Aptos" pitchFamily="34" charset="-120"/>
              </a:rPr>
              <a:t>AI for Social Good should therefore be judged by whether it advances public health values in measurable, accountable,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 well-being rather than.</a:t>
            </a:r>
            <a:endParaRPr lang="en-US" sz="1700" dirty="0"/>
          </a:p>
          <a:p>
            <a:r>
              <a:rPr lang="en-US" sz="1700" dirty="0">
                <a:solidFill>
                  <a:srgbClr val="17364A"/>
                </a:solidFill>
                <a:latin typeface="Aptos" pitchFamily="34" charset="0"/>
                <a:ea typeface="Aptos" pitchFamily="34" charset="-122"/>
                <a:cs typeface="Aptos" pitchFamily="34" charset="-120"/>
              </a:rPr>
              <a:t>AI can help agencies identify emerging needs, improve access to information, reduce administrative burden, support.</a:t>
            </a:r>
            <a:endParaRPr lang="en-US" sz="1700" dirty="0"/>
          </a:p>
          <a:p>
            <a:r>
              <a:rPr lang="en-US" sz="1700" dirty="0">
                <a:solidFill>
                  <a:srgbClr val="17364A"/>
                </a:solidFill>
                <a:latin typeface="Aptos" pitchFamily="34" charset="0"/>
                <a:ea typeface="Aptos" pitchFamily="34" charset="-122"/>
                <a:cs typeface="Aptos" pitchFamily="34" charset="-120"/>
              </a:rPr>
              <a:t>These benefits are especially important when agencies face workforce shortages, fragmented systems, and increasing demands.</a:t>
            </a:r>
            <a:endParaRPr lang="en-US" sz="1700" dirty="0"/>
          </a:p>
          <a:p>
            <a:r>
              <a:rPr lang="en-US" sz="1700" dirty="0">
                <a:solidFill>
                  <a:srgbClr val="17364A"/>
                </a:solidFill>
                <a:latin typeface="Aptos" pitchFamily="34" charset="0"/>
                <a:ea typeface="Aptos" pitchFamily="34" charset="-122"/>
                <a:cs typeface="Aptos" pitchFamily="34" charset="-120"/>
              </a:rPr>
              <a:t>However, AI for Social Good is not guaranteed by good intentions.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 well-being rather than.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700" dirty="0"/>
          </a:p>
          <a:p>
            <a:r>
              <a:rPr lang="en-US" sz="1700" dirty="0">
                <a:solidFill>
                  <a:srgbClr val="17364A"/>
                </a:solidFill>
                <a:latin typeface="Aptos" pitchFamily="34" charset="0"/>
                <a:ea typeface="Aptos" pitchFamily="34" charset="-122"/>
                <a:cs typeface="Aptos" pitchFamily="34" charset="-120"/>
              </a:rPr>
              <a:t>A tool could help staff identify service gaps, summarize eligibility rules, translate plain-language information, and route.</a:t>
            </a:r>
            <a:endParaRPr lang="en-US" sz="1700" dirty="0"/>
          </a:p>
          <a:p>
            <a:r>
              <a:rPr lang="en-US" sz="1700" dirty="0">
                <a:solidFill>
                  <a:srgbClr val="17364A"/>
                </a:solidFill>
                <a:latin typeface="Aptos" pitchFamily="34" charset="0"/>
                <a:ea typeface="Aptos" pitchFamily="34" charset="-122"/>
                <a:cs typeface="Aptos" pitchFamily="34" charset="-120"/>
              </a:rPr>
              <a:t>If designed well, the tool could reduce administrative burden and improve timely access to services.</a:t>
            </a:r>
            <a:endParaRPr lang="en-US" sz="1700" dirty="0"/>
          </a:p>
          <a:p>
            <a:r>
              <a:rPr lang="en-US" sz="1700" dirty="0">
                <a:solidFill>
                  <a:srgbClr val="17364A"/>
                </a:solidFill>
                <a:latin typeface="Aptos" pitchFamily="34" charset="0"/>
                <a:ea typeface="Aptos" pitchFamily="34" charset="-122"/>
                <a:cs typeface="Aptos" pitchFamily="34" charset="-120"/>
              </a:rPr>
              <a:t>The same tool could fail if it assumes internet access, uses only English content, provides outdated referral information,.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begins with problem definition.</a:t>
            </a:r>
            <a:endParaRPr lang="en-US" sz="1700" dirty="0"/>
          </a:p>
          <a:p>
            <a:r>
              <a:rPr lang="en-US" sz="1700" dirty="0">
                <a:solidFill>
                  <a:srgbClr val="17364A"/>
                </a:solidFill>
                <a:latin typeface="Aptos" pitchFamily="34" charset="0"/>
                <a:ea typeface="Aptos" pitchFamily="34" charset="-122"/>
                <a:cs typeface="Aptos" pitchFamily="34" charset="-120"/>
              </a:rPr>
              <a:t>The problem should be a public health problem, not a technology opportunity.</a:t>
            </a:r>
            <a:endParaRPr lang="en-US" sz="1700" dirty="0"/>
          </a:p>
          <a:p>
            <a:r>
              <a:rPr lang="en-US" sz="1700" dirty="0">
                <a:solidFill>
                  <a:srgbClr val="17364A"/>
                </a:solidFill>
                <a:latin typeface="Aptos" pitchFamily="34" charset="0"/>
                <a:ea typeface="Aptos" pitchFamily="34" charset="-122"/>
                <a:cs typeface="Aptos" pitchFamily="34" charset="-120"/>
              </a:rPr>
              <a:t>For example, “use a chatbot” is not a problem definition. “Reduce delays in connecting families to local nutrition,.</a:t>
            </a:r>
            <a:endParaRPr lang="en-US" sz="1700" dirty="0"/>
          </a:p>
          <a:p>
            <a:r>
              <a:rPr lang="en-US" sz="1700" dirty="0">
                <a:solidFill>
                  <a:srgbClr val="17364A"/>
                </a:solidFill>
                <a:latin typeface="Aptos" pitchFamily="34" charset="0"/>
                <a:ea typeface="Aptos" pitchFamily="34" charset="-122"/>
                <a:cs typeface="Aptos" pitchFamily="34" charset="-120"/>
              </a:rPr>
              <a:t>Starting with the problem helps agencies avoid technology-driven solutions that do not address root needs.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Social Good begins with problem definition.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700" dirty="0"/>
          </a:p>
          <a:p>
            <a:r>
              <a:rPr lang="en-US" sz="1700" dirty="0">
                <a:solidFill>
                  <a:srgbClr val="17364A"/>
                </a:solidFill>
                <a:latin typeface="Aptos" pitchFamily="34" charset="0"/>
                <a:ea typeface="Aptos" pitchFamily="34" charset="-122"/>
                <a:cs typeface="Aptos" pitchFamily="34" charset="-120"/>
              </a:rPr>
              <a:t>Agencies should measure whether the AI-supported workflow improves timeliness, access, quality, fairness, staff burden,.</a:t>
            </a:r>
            <a:endParaRPr lang="en-US" sz="1700" dirty="0"/>
          </a:p>
          <a:p>
            <a:r>
              <a:rPr lang="en-US" sz="1700" dirty="0">
                <a:solidFill>
                  <a:srgbClr val="17364A"/>
                </a:solidFill>
                <a:latin typeface="Aptos" pitchFamily="34" charset="0"/>
                <a:ea typeface="Aptos" pitchFamily="34" charset="-122"/>
                <a:cs typeface="Aptos" pitchFamily="34" charset="-120"/>
              </a:rPr>
              <a:t>They should also monitor unintended consequences, such as reduced service quality, increased complaints, inequitable.</a:t>
            </a:r>
            <a:endParaRPr lang="en-US" sz="1700" dirty="0"/>
          </a:p>
          <a:p>
            <a:r>
              <a:rPr lang="en-US" sz="1700" dirty="0">
                <a:solidFill>
                  <a:srgbClr val="17364A"/>
                </a:solidFill>
                <a:latin typeface="Aptos" pitchFamily="34" charset="0"/>
                <a:ea typeface="Aptos" pitchFamily="34" charset="-122"/>
                <a:cs typeface="Aptos" pitchFamily="34" charset="-120"/>
              </a:rPr>
              <a:t>Responsible innovation includes sunset and rollback planning.</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Technology-first design.</a:t>
            </a:r>
            <a:endParaRPr lang="en-US" sz="1700" dirty="0"/>
          </a:p>
          <a:p>
            <a:r>
              <a:rPr lang="en-US" sz="1700" dirty="0">
                <a:solidFill>
                  <a:srgbClr val="17364A"/>
                </a:solidFill>
                <a:latin typeface="Aptos" pitchFamily="34" charset="0"/>
                <a:ea typeface="Aptos" pitchFamily="34" charset="-122"/>
                <a:cs typeface="Aptos" pitchFamily="34" charset="-120"/>
              </a:rPr>
              <a:t>A tool may be adopted because it is novel rather than because it solves a public health problem.</a:t>
            </a:r>
            <a:endParaRPr lang="en-US" sz="1700" dirty="0"/>
          </a:p>
          <a:p>
            <a:r>
              <a:rPr lang="en-US" sz="1700" dirty="0">
                <a:solidFill>
                  <a:srgbClr val="17364A"/>
                </a:solidFill>
                <a:latin typeface="Aptos" pitchFamily="34" charset="0"/>
                <a:ea typeface="Aptos" pitchFamily="34" charset="-122"/>
                <a:cs typeface="Aptos" pitchFamily="34" charset="-120"/>
              </a:rPr>
              <a:t>Guardrails include problem-first planning, alternatives analysis, and public value criteria.</a:t>
            </a:r>
            <a:endParaRPr lang="en-US" sz="1700" dirty="0"/>
          </a:p>
          <a:p>
            <a:r>
              <a:rPr lang="en-US" sz="1700" dirty="0">
                <a:solidFill>
                  <a:srgbClr val="17364A"/>
                </a:solidFill>
                <a:latin typeface="Aptos" pitchFamily="34" charset="0"/>
                <a:ea typeface="Aptos" pitchFamily="34" charset="-122"/>
                <a:cs typeface="Aptos" pitchFamily="34" charset="-120"/>
              </a:rPr>
              <a:t>Unequal benefit.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Technology-first design.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Resource diversion.</a:t>
            </a:r>
            <a:endParaRPr lang="en-US" sz="1700" dirty="0"/>
          </a:p>
          <a:p>
            <a:r>
              <a:rPr lang="en-US" sz="1700" dirty="0">
                <a:solidFill>
                  <a:srgbClr val="17364A"/>
                </a:solidFill>
                <a:latin typeface="Aptos" pitchFamily="34" charset="0"/>
                <a:ea typeface="Aptos" pitchFamily="34" charset="-122"/>
                <a:cs typeface="Aptos" pitchFamily="34" charset="-120"/>
              </a:rPr>
              <a:t>AI projects may consume resources that could be used for more effective interventions.</a:t>
            </a:r>
            <a:endParaRPr lang="en-US" sz="1700" dirty="0"/>
          </a:p>
          <a:p>
            <a:r>
              <a:rPr lang="en-US" sz="1700" dirty="0">
                <a:solidFill>
                  <a:srgbClr val="17364A"/>
                </a:solidFill>
                <a:latin typeface="Aptos" pitchFamily="34" charset="0"/>
                <a:ea typeface="Aptos" pitchFamily="34" charset="-122"/>
                <a:cs typeface="Aptos" pitchFamily="34" charset="-120"/>
              </a:rPr>
              <a:t>Guardrails include impact measurement, cost-benefit review, and periodic reassessment.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Resource diversion.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applies to every AI method.</a:t>
            </a:r>
            <a:endParaRPr lang="en-US" sz="1700" dirty="0"/>
          </a:p>
          <a:p>
            <a:r>
              <a:rPr lang="en-US" sz="1700" dirty="0">
                <a:solidFill>
                  <a:srgbClr val="17364A"/>
                </a:solidFill>
                <a:latin typeface="Aptos" pitchFamily="34" charset="0"/>
                <a:ea typeface="Aptos" pitchFamily="34" charset="-122"/>
                <a:cs typeface="Aptos" pitchFamily="34" charset="-120"/>
              </a:rPr>
              <a:t>Generative AI may improve plain-language communication, but it must be accurate, accessible, and culturally appropriate.</a:t>
            </a:r>
            <a:endParaRPr lang="en-US" sz="1700" dirty="0"/>
          </a:p>
          <a:p>
            <a:r>
              <a:rPr lang="en-US" sz="1700" dirty="0">
                <a:solidFill>
                  <a:srgbClr val="17364A"/>
                </a:solidFill>
                <a:latin typeface="Aptos" pitchFamily="34" charset="0"/>
                <a:ea typeface="Aptos" pitchFamily="34" charset="-122"/>
                <a:cs typeface="Aptos" pitchFamily="34" charset="-120"/>
              </a:rPr>
              <a:t>Predictive analytics may guide supportive outreach, but it should not become a tool for exclusion.</a:t>
            </a:r>
            <a:endParaRPr lang="en-US" sz="1700" dirty="0"/>
          </a:p>
          <a:p>
            <a:r>
              <a:rPr lang="en-US" sz="1700" dirty="0">
                <a:solidFill>
                  <a:srgbClr val="17364A"/>
                </a:solidFill>
                <a:latin typeface="Aptos" pitchFamily="34" charset="0"/>
                <a:ea typeface="Aptos" pitchFamily="34" charset="-122"/>
                <a:cs typeface="Aptos" pitchFamily="34" charset="-120"/>
              </a:rPr>
              <a:t>RAG systems may improve staff access to guidance, but they must include current and authorized content.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Social Good applies to every AI method.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public health problem would this AI use address?</a:t>
            </a:r>
            <a:endParaRPr lang="en-US" sz="1700" dirty="0"/>
          </a:p>
          <a:p>
            <a:r>
              <a:rPr lang="en-US" sz="1700" dirty="0">
                <a:solidFill>
                  <a:srgbClr val="17364A"/>
                </a:solidFill>
                <a:latin typeface="Aptos" pitchFamily="34" charset="0"/>
                <a:ea typeface="Aptos" pitchFamily="34" charset="-122"/>
                <a:cs typeface="Aptos" pitchFamily="34" charset="-120"/>
              </a:rPr>
              <a:t>Who would benefit, and who could be excluded or harmed?</a:t>
            </a:r>
            <a:endParaRPr lang="en-US" sz="1700" dirty="0"/>
          </a:p>
          <a:p>
            <a:r>
              <a:rPr lang="en-US" sz="1700" dirty="0">
                <a:solidFill>
                  <a:srgbClr val="17364A"/>
                </a:solidFill>
                <a:latin typeface="Aptos" pitchFamily="34" charset="0"/>
                <a:ea typeface="Aptos" pitchFamily="34" charset="-122"/>
                <a:cs typeface="Aptos" pitchFamily="34" charset="-120"/>
              </a:rPr>
              <a:t>How were affected communities involved in defining the need and safeguards?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public health problem would this AI use address?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non-AI alternatives should be considered?</a:t>
            </a:r>
            <a:endParaRPr lang="en-US" sz="1700" dirty="0"/>
          </a:p>
          <a:p>
            <a:r>
              <a:rPr lang="en-US" sz="1700" dirty="0">
                <a:solidFill>
                  <a:srgbClr val="17364A"/>
                </a:solidFill>
                <a:latin typeface="Aptos" pitchFamily="34" charset="0"/>
                <a:ea typeface="Aptos" pitchFamily="34" charset="-122"/>
                <a:cs typeface="Aptos" pitchFamily="34" charset="-120"/>
              </a:rPr>
              <a:t>How will the agency measure public value, equity, trust, and unintended consequences?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non-AI alternatives should be considered?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700" dirty="0"/>
          </a:p>
          <a:p>
            <a:r>
              <a:rPr lang="en-US" sz="1700" dirty="0">
                <a:solidFill>
                  <a:srgbClr val="17364A"/>
                </a:solidFill>
                <a:latin typeface="Aptos" pitchFamily="34" charset="0"/>
                <a:ea typeface="Aptos" pitchFamily="34" charset="-122"/>
                <a:cs typeface="Aptos" pitchFamily="34" charset="-120"/>
              </a:rPr>
              <a:t>The brief should define the public health problem, intended public benefit, affected communities, equity considerations,.</a:t>
            </a:r>
            <a:endParaRPr lang="en-US" sz="1700" dirty="0"/>
          </a:p>
          <a:p>
            <a:r>
              <a:rPr lang="en-US" sz="1700" dirty="0">
                <a:solidFill>
                  <a:srgbClr val="17364A"/>
                </a:solidFill>
                <a:latin typeface="Aptos" pitchFamily="34" charset="0"/>
                <a:ea typeface="Aptos" pitchFamily="34" charset="-122"/>
                <a:cs typeface="Aptos" pitchFamily="34" charset="-120"/>
              </a:rPr>
              <a:t>The exercise should result in a decision-support document that helps leaders and governance reviewers determine whether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review brief</a:t>
            </a:r>
            <a:endParaRPr lang="en-US" sz="1700" dirty="0"/>
          </a:p>
          <a:p>
            <a:r>
              <a:rPr lang="en-US" sz="1700" dirty="0">
                <a:solidFill>
                  <a:srgbClr val="17364A"/>
                </a:solidFill>
                <a:latin typeface="Aptos" pitchFamily="34" charset="0"/>
                <a:ea typeface="Aptos" pitchFamily="34" charset="-122"/>
                <a:cs typeface="Aptos" pitchFamily="34" charset="-120"/>
              </a:rPr>
              <a:t>Public value and equity assessment</a:t>
            </a:r>
            <a:endParaRPr lang="en-US" sz="1700" dirty="0"/>
          </a:p>
          <a:p>
            <a:r>
              <a:rPr lang="en-US" sz="1700" dirty="0">
                <a:solidFill>
                  <a:srgbClr val="17364A"/>
                </a:solidFill>
                <a:latin typeface="Aptos" pitchFamily="34" charset="0"/>
                <a:ea typeface="Aptos" pitchFamily="34" charset="-122"/>
                <a:cs typeface="Aptos" pitchFamily="34" charset="-120"/>
              </a:rPr>
              <a:t>Community engagement and accessibility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Social Good review brief</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Impact and unintended-consequence measurement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Impact and unintended-consequence measurement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for Social Good review brief</a:t>
            </a:r>
            <a:endParaRPr lang="en-US" sz="1700" dirty="0"/>
          </a:p>
          <a:p>
            <a:r>
              <a:rPr lang="en-US" sz="1700" dirty="0">
                <a:solidFill>
                  <a:srgbClr val="17364A"/>
                </a:solidFill>
                <a:latin typeface="Aptos" pitchFamily="34" charset="0"/>
                <a:ea typeface="Aptos" pitchFamily="34" charset="-122"/>
                <a:cs typeface="Aptos" pitchFamily="34" charset="-120"/>
              </a:rPr>
              <a:t>Public value and equity assessment</a:t>
            </a:r>
            <a:endParaRPr lang="en-US" sz="1700" dirty="0"/>
          </a:p>
          <a:p>
            <a:r>
              <a:rPr lang="en-US" sz="1700" dirty="0">
                <a:solidFill>
                  <a:srgbClr val="17364A"/>
                </a:solidFill>
                <a:latin typeface="Aptos" pitchFamily="34" charset="0"/>
                <a:ea typeface="Aptos" pitchFamily="34" charset="-122"/>
                <a:cs typeface="Aptos" pitchFamily="34" charset="-120"/>
              </a:rPr>
              <a:t>Community engagement and accessibility plan</a:t>
            </a:r>
            <a:endParaRPr lang="en-US" sz="1700" dirty="0"/>
          </a:p>
          <a:p>
            <a:r>
              <a:rPr lang="en-US" sz="1700" dirty="0">
                <a:solidFill>
                  <a:srgbClr val="17364A"/>
                </a:solidFill>
                <a:latin typeface="Aptos" pitchFamily="34" charset="0"/>
                <a:ea typeface="Aptos" pitchFamily="34" charset="-122"/>
                <a:cs typeface="Aptos" pitchFamily="34" charset="-120"/>
              </a:rPr>
              <a:t>Impact and unintended-consequence measurement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for Social Good review brief</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700" dirty="0"/>
          </a:p>
          <a:p>
            <a:r>
              <a:rPr lang="en-US" sz="1700" dirty="0">
                <a:solidFill>
                  <a:srgbClr val="17364A"/>
                </a:solidFill>
                <a:latin typeface="Aptos" pitchFamily="34" charset="0"/>
                <a:ea typeface="Aptos" pitchFamily="34" charset="-122"/>
                <a:cs typeface="Aptos" pitchFamily="34" charset="-120"/>
              </a:rPr>
              <a:t>2. Why is efficiency alone not enough to show social good?</a:t>
            </a:r>
            <a:endParaRPr lang="en-US" sz="1700" dirty="0"/>
          </a:p>
          <a:p>
            <a:r>
              <a:rPr lang="en-US" sz="1700" dirty="0">
                <a:solidFill>
                  <a:srgbClr val="17364A"/>
                </a:solidFill>
                <a:latin typeface="Aptos" pitchFamily="34" charset="0"/>
                <a:ea typeface="Aptos" pitchFamily="34" charset="-122"/>
                <a:cs typeface="Aptos" pitchFamily="34" charset="-120"/>
              </a:rPr>
              <a:t>3. What does equity by design require?</a:t>
            </a:r>
            <a:endParaRPr lang="en-US" sz="1700" dirty="0"/>
          </a:p>
          <a:p>
            <a:r>
              <a:rPr lang="en-US" sz="1700" dirty="0">
                <a:solidFill>
                  <a:srgbClr val="17364A"/>
                </a:solidFill>
                <a:latin typeface="Aptos" pitchFamily="34" charset="0"/>
                <a:ea typeface="Aptos" pitchFamily="34" charset="-122"/>
                <a:cs typeface="Aptos" pitchFamily="34" charset="-120"/>
              </a:rPr>
              <a:t>4. Which use best reflects AI for Social Good?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2026-07-12T18:54:58Z</dcterms:created>
  <dcterms:modified xsi:type="dcterms:W3CDTF">2026-07-12T18:54:58Z</dcterms:modified>
</cp:coreProperties>
</file>