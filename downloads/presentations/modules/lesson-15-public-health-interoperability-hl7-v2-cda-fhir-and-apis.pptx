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450" dirty="0"/>
          </a:p>
          <a:p>
            <a:r>
              <a:rPr lang="en-US" sz="1450" dirty="0">
                <a:solidFill>
                  <a:srgbClr val="17364A"/>
                </a:solidFill>
                <a:latin typeface="Aptos" pitchFamily="34" charset="0"/>
                <a:ea typeface="Aptos" pitchFamily="34" charset="-122"/>
                <a:cs typeface="Aptos" pitchFamily="34" charset="-120"/>
              </a:rPr>
              <a:t>Distinguish among HL7 v2 messages, CDA documents, FHIR resources, and APIs.</a:t>
            </a:r>
            <a:endParaRPr lang="en-US" sz="1450" dirty="0"/>
          </a:p>
          <a:p>
            <a:r>
              <a:rPr lang="en-US" sz="1450" dirty="0">
                <a:solidFill>
                  <a:srgbClr val="17364A"/>
                </a:solidFill>
                <a:latin typeface="Aptos" pitchFamily="34" charset="0"/>
                <a:ea typeface="Aptos" pitchFamily="34" charset="-122"/>
                <a:cs typeface="Aptos" pitchFamily="34" charset="-120"/>
              </a:rPr>
              <a:t>Identify where interoperability standards appear in public health workflows.</a:t>
            </a:r>
            <a:endParaRPr lang="en-US" sz="1450" dirty="0"/>
          </a:p>
          <a:p>
            <a:r>
              <a:rPr lang="en-US" sz="1450" dirty="0">
                <a:solidFill>
                  <a:srgbClr val="17364A"/>
                </a:solidFill>
                <a:latin typeface="Aptos" pitchFamily="34" charset="0"/>
                <a:ea typeface="Aptos" pitchFamily="34" charset="-122"/>
                <a:cs typeface="Aptos" pitchFamily="34" charset="-120"/>
              </a:rPr>
              <a:t>Explain the purpose of implementation guides and terminology standards.</a:t>
            </a:r>
            <a:endParaRPr lang="en-US" sz="1450" dirty="0"/>
          </a:p>
          <a:p>
            <a:r>
              <a:rPr lang="en-US" sz="1450" dirty="0">
                <a:solidFill>
                  <a:srgbClr val="17364A"/>
                </a:solidFill>
                <a:latin typeface="Aptos" pitchFamily="34" charset="0"/>
                <a:ea typeface="Aptos" pitchFamily="34" charset="-122"/>
                <a:cs typeface="Aptos" pitchFamily="34" charset="-120"/>
              </a:rPr>
              <a:t>Develop interoperability requirements and vendor questions for AI-supported workflows.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Over-reliance on structured data. Structured exchange may omit context found in notes or local fields. Guardrails include source review, workflow validation, and documentation of known data gaps.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standards are used in your agency’s major data exchange workflows? Which workflows still depend on manual uploads or copy-paste processes? What vendor claims would need to be tested before implementation?</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terminology standards are required for the workflow? How would interoperability gaps affect AI outputs or equity?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Interoperability checklist Data exchange diagram Vendor questions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Test scenario and acceptance criteria</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Interoperability checklist</a:t>
            </a:r>
            <a:endParaRPr lang="en-US" sz="1450" dirty="0"/>
          </a:p>
          <a:p>
            <a:r>
              <a:rPr lang="en-US" sz="1450" dirty="0">
                <a:solidFill>
                  <a:srgbClr val="17364A"/>
                </a:solidFill>
                <a:latin typeface="Aptos" pitchFamily="34" charset="0"/>
                <a:ea typeface="Aptos" pitchFamily="34" charset="-122"/>
                <a:cs typeface="Aptos" pitchFamily="34" charset="-120"/>
              </a:rPr>
              <a:t>Data exchange diagram</a:t>
            </a:r>
            <a:endParaRPr lang="en-US" sz="1450" dirty="0"/>
          </a:p>
          <a:p>
            <a:r>
              <a:rPr lang="en-US" sz="1450" dirty="0">
                <a:solidFill>
                  <a:srgbClr val="17364A"/>
                </a:solidFill>
                <a:latin typeface="Aptos" pitchFamily="34" charset="0"/>
                <a:ea typeface="Aptos" pitchFamily="34" charset="-122"/>
                <a:cs typeface="Aptos" pitchFamily="34" charset="-120"/>
              </a:rPr>
              <a:t>Vendor questions</a:t>
            </a:r>
            <a:endParaRPr lang="en-US" sz="1450" dirty="0"/>
          </a:p>
          <a:p>
            <a:r>
              <a:rPr lang="en-US" sz="1450" dirty="0">
                <a:solidFill>
                  <a:srgbClr val="17364A"/>
                </a:solidFill>
                <a:latin typeface="Aptos" pitchFamily="34" charset="0"/>
                <a:ea typeface="Aptos" pitchFamily="34" charset="-122"/>
                <a:cs typeface="Aptos" pitchFamily="34" charset="-120"/>
              </a:rPr>
              <a:t>Test scenario and acceptance criteria</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450" dirty="0"/>
          </a:p>
          <a:p>
            <a:r>
              <a:rPr lang="en-US" sz="1450" dirty="0">
                <a:solidFill>
                  <a:srgbClr val="17364A"/>
                </a:solidFill>
                <a:latin typeface="Aptos" pitchFamily="34" charset="0"/>
                <a:ea typeface="Aptos" pitchFamily="34" charset="-122"/>
                <a:cs typeface="Aptos" pitchFamily="34" charset="-120"/>
              </a:rPr>
              <a:t>2. What is FHIR commonly used for?</a:t>
            </a:r>
            <a:endParaRPr lang="en-US" sz="1450" dirty="0"/>
          </a:p>
          <a:p>
            <a:r>
              <a:rPr lang="en-US" sz="1450" dirty="0">
                <a:solidFill>
                  <a:srgbClr val="17364A"/>
                </a:solidFill>
                <a:latin typeface="Aptos" pitchFamily="34" charset="0"/>
                <a:ea typeface="Aptos" pitchFamily="34" charset="-122"/>
                <a:cs typeface="Aptos" pitchFamily="34" charset="-120"/>
              </a:rPr>
              <a:t>3. What is an implementation guide?</a:t>
            </a:r>
            <a:endParaRPr lang="en-US" sz="1450" dirty="0"/>
          </a:p>
          <a:p>
            <a:r>
              <a:rPr lang="en-US" sz="1450" dirty="0">
                <a:solidFill>
                  <a:srgbClr val="17364A"/>
                </a:solidFill>
                <a:latin typeface="Aptos" pitchFamily="34" charset="0"/>
                <a:ea typeface="Aptos" pitchFamily="34" charset="-122"/>
                <a:cs typeface="Aptos" pitchFamily="34" charset="-120"/>
              </a:rPr>
              <a:t>4. Which question should be asked during AI vendor review?</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HL7 FHIR resources and implementation guides: https://hl7.org/fhir/</a:t>
            </a:r>
            <a:endParaRPr lang="en-US" sz="1450" dirty="0"/>
          </a:p>
          <a:p>
            <a:r>
              <a:rPr lang="en-US" sz="1450" dirty="0">
                <a:solidFill>
                  <a:srgbClr val="17364A"/>
                </a:solidFill>
                <a:latin typeface="Aptos" pitchFamily="34" charset="0"/>
                <a:ea typeface="Aptos" pitchFamily="34" charset="-122"/>
                <a:cs typeface="Aptos" pitchFamily="34" charset="-120"/>
              </a:rPr>
              <a:t>HL7 US Core Implementation Guide: https://build.fhir.org/ig/HL7/US-Core/</a:t>
            </a:r>
            <a:endParaRPr lang="en-US" sz="1450" dirty="0"/>
          </a:p>
          <a:p>
            <a:r>
              <a:rPr lang="en-US" sz="1450" dirty="0">
                <a:solidFill>
                  <a:srgbClr val="17364A"/>
                </a:solidFill>
                <a:latin typeface="Aptos" pitchFamily="34" charset="0"/>
                <a:ea typeface="Aptos" pitchFamily="34" charset="-122"/>
                <a:cs typeface="Aptos" pitchFamily="34" charset="-120"/>
              </a:rPr>
              <a:t>ONC USCDI resources: https://isp.healthit.gov/united-states-core-data-interoperability-uscdi</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Public health implementation guides for eCR, ELR, IIS, and syndromic surveillance</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2026-07-12T18:22:12Z</dcterms:created>
  <dcterms:modified xsi:type="dcterms:W3CDTF">2026-07-12T18:22:12Z</dcterms:modified>
</cp:coreProperties>
</file>