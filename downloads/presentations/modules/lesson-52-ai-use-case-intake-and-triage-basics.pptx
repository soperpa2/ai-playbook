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2100" dirty="0"/>
          </a:p>
          <a:p>
            <a:r>
              <a:rPr lang="en-US" sz="2100" dirty="0">
                <a:solidFill>
                  <a:srgbClr val="17364A"/>
                </a:solidFill>
                <a:latin typeface="Aptos" pitchFamily="34" charset="0"/>
                <a:ea typeface="Aptos" pitchFamily="34" charset="-122"/>
                <a:cs typeface="Aptos" pitchFamily="34" charset="-120"/>
              </a:rPr>
              <a:t>In public health, this step is essential because AI ideas often begin as informal suggestions to save time,.</a:t>
            </a:r>
            <a:endParaRPr lang="en-US" sz="2100" dirty="0"/>
          </a:p>
          <a:p>
            <a:r>
              <a:rPr lang="en-US" sz="2100" dirty="0">
                <a:solidFill>
                  <a:srgbClr val="17364A"/>
                </a:solidFill>
                <a:latin typeface="Aptos" pitchFamily="34" charset="0"/>
                <a:ea typeface="Aptos" pitchFamily="34" charset="-122"/>
                <a:cs typeface="Aptos" pitchFamily="34" charset="-120"/>
              </a:rPr>
              <a:t>Without a common intake process, agencies may approve low-value or high-risk ideas too quickly while overlooking.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Shared Foundational / Introductory Course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governance-and-security, program-management,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31: Use Case Scoring &amp; Prioritization Matrix (Matrix)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49: AI Use Case Intake and Triage Worksheet (Worksheet)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2100" dirty="0"/>
          </a:p>
          <a:p>
            <a:r>
              <a:rPr lang="en-US" sz="2100" dirty="0">
                <a:solidFill>
                  <a:srgbClr val="17364A"/>
                </a:solidFill>
                <a:latin typeface="Aptos" pitchFamily="34" charset="0"/>
                <a:ea typeface="Aptos" pitchFamily="34" charset="-122"/>
                <a:cs typeface="Aptos" pitchFamily="34" charset="-120"/>
              </a:rPr>
              <a:t>Distinguish between low-risk, moderate-risk, and high-risk AI use cases based on data sensitivity,.</a:t>
            </a:r>
            <a:endParaRPr lang="en-US" sz="2100" dirty="0"/>
          </a:p>
          <a:p>
            <a:r>
              <a:rPr lang="en-US" sz="2100" dirty="0">
                <a:solidFill>
                  <a:srgbClr val="17364A"/>
                </a:solidFill>
                <a:latin typeface="Aptos" pitchFamily="34" charset="0"/>
                <a:ea typeface="Aptos" pitchFamily="34" charset="-122"/>
                <a:cs typeface="Aptos" pitchFamily="34" charset="-120"/>
              </a:rPr>
              <a:t>Identify when a use case should be routed to privacy, legal, IT, cybersecurity, equity,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2100" dirty="0"/>
          </a:p>
          <a:p>
            <a:r>
              <a:rPr lang="en-US" sz="2100" dirty="0">
                <a:solidFill>
                  <a:srgbClr val="17364A"/>
                </a:solidFill>
                <a:latin typeface="Aptos" pitchFamily="34" charset="0"/>
                <a:ea typeface="Aptos" pitchFamily="34" charset="-122"/>
                <a:cs typeface="Aptos" pitchFamily="34" charset="-120"/>
              </a:rPr>
              <a:t>In public health, this step is essential because AI ideas often begin as informal suggestions to save.</a:t>
            </a:r>
            <a:endParaRPr lang="en-US" sz="2100" dirty="0"/>
          </a:p>
          <a:p>
            <a:r>
              <a:rPr lang="en-US" sz="2100" dirty="0">
                <a:solidFill>
                  <a:srgbClr val="17364A"/>
                </a:solidFill>
                <a:latin typeface="Aptos" pitchFamily="34" charset="0"/>
                <a:ea typeface="Aptos" pitchFamily="34" charset="-122"/>
                <a:cs typeface="Aptos" pitchFamily="34" charset="-120"/>
              </a:rPr>
              <a:t>Without a common intake process, agencies may approve low-value or high-risk ideas too quickly while.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2100" dirty="0"/>
          </a:p>
          <a:p>
            <a:r>
              <a:rPr lang="en-US" sz="2100" dirty="0">
                <a:solidFill>
                  <a:srgbClr val="17364A"/>
                </a:solidFill>
                <a:latin typeface="Aptos" pitchFamily="34" charset="0"/>
                <a:ea typeface="Aptos" pitchFamily="34" charset="-122"/>
                <a:cs typeface="Aptos" pitchFamily="34" charset="-120"/>
              </a:rPr>
              <a:t>Intake would document the workflow, the staff who would use the output, the source data, whether.</a:t>
            </a:r>
            <a:endParaRPr lang="en-US" sz="2100" dirty="0"/>
          </a:p>
          <a:p>
            <a:r>
              <a:rPr lang="en-US" sz="2100" dirty="0">
                <a:solidFill>
                  <a:srgbClr val="17364A"/>
                </a:solidFill>
                <a:latin typeface="Aptos" pitchFamily="34" charset="0"/>
                <a:ea typeface="Aptos" pitchFamily="34" charset="-122"/>
                <a:cs typeface="Aptos" pitchFamily="34" charset="-120"/>
              </a:rPr>
              <a:t>Triage would likely route the use case to privacy, legal, IT, epidemiology, equity, and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effective intake process begins by defining the problem before selecting the technology.</a:t>
            </a:r>
            <a:endParaRPr lang="en-US" sz="2100" dirty="0"/>
          </a:p>
          <a:p>
            <a:r>
              <a:rPr lang="en-US" sz="2100" dirty="0">
                <a:solidFill>
                  <a:srgbClr val="17364A"/>
                </a:solidFill>
                <a:latin typeface="Aptos" pitchFamily="34" charset="0"/>
                <a:ea typeface="Aptos" pitchFamily="34" charset="-122"/>
                <a:cs typeface="Aptos" pitchFamily="34" charset="-120"/>
              </a:rPr>
              <a:t>Staff should describe the current workflow, the pain point, the people affected, the desired.</a:t>
            </a:r>
            <a:endParaRPr lang="en-US" sz="2100" dirty="0"/>
          </a:p>
          <a:p>
            <a:r>
              <a:rPr lang="en-US" sz="2100" dirty="0">
                <a:solidFill>
                  <a:srgbClr val="17364A"/>
                </a:solidFill>
                <a:latin typeface="Aptos" pitchFamily="34" charset="0"/>
                <a:ea typeface="Aptos" pitchFamily="34" charset="-122"/>
                <a:cs typeface="Aptos" pitchFamily="34" charset="-120"/>
              </a:rPr>
              <a:t>This prevents technology-first proposals that begin with a tool and then search for a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effective intake process begins by defining the problem before selecting the technology.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also supports portfolio management.</a:t>
            </a:r>
            <a:endParaRPr lang="en-US" sz="2100" dirty="0"/>
          </a:p>
          <a:p>
            <a:r>
              <a:rPr lang="en-US" sz="2100" dirty="0">
                <a:solidFill>
                  <a:srgbClr val="17364A"/>
                </a:solidFill>
                <a:latin typeface="Aptos" pitchFamily="34" charset="0"/>
                <a:ea typeface="Aptos" pitchFamily="34" charset="-122"/>
                <a:cs typeface="Aptos" pitchFamily="34" charset="-120"/>
              </a:rPr>
              <a:t>When agencies collect use cases in a consistent format, leaders can compare proposals across programs,.</a:t>
            </a:r>
            <a:endParaRPr lang="en-US" sz="2100" dirty="0"/>
          </a:p>
          <a:p>
            <a:r>
              <a:rPr lang="en-US" sz="2100" dirty="0">
                <a:solidFill>
                  <a:srgbClr val="17364A"/>
                </a:solidFill>
                <a:latin typeface="Aptos" pitchFamily="34" charset="0"/>
                <a:ea typeface="Aptos" pitchFamily="34" charset="-122"/>
                <a:cs typeface="Aptos" pitchFamily="34" charset="-120"/>
              </a:rPr>
              <a:t>The intake record becomes the first governance artifact in the AI lifecycle.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also supports portfolio management.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Informal AI experimentation with sensitive or confidential data before review.</a:t>
            </a:r>
            <a:endParaRPr lang="en-US" sz="2100" dirty="0"/>
          </a:p>
          <a:p>
            <a:r>
              <a:rPr lang="en-US" sz="2100" dirty="0">
                <a:solidFill>
                  <a:srgbClr val="17364A"/>
                </a:solidFill>
                <a:latin typeface="Aptos" pitchFamily="34" charset="0"/>
                <a:ea typeface="Aptos" pitchFamily="34" charset="-122"/>
                <a:cs typeface="Aptos" pitchFamily="34" charset="-120"/>
              </a:rPr>
              <a:t>Tool-first proposals that do not solve a real workflow problem.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2100" dirty="0"/>
          </a:p>
          <a:p>
            <a:r>
              <a:rPr lang="en-US" sz="2100" dirty="0">
                <a:solidFill>
                  <a:srgbClr val="17364A"/>
                </a:solidFill>
                <a:latin typeface="Aptos" pitchFamily="34" charset="0"/>
                <a:ea typeface="Aptos" pitchFamily="34" charset="-122"/>
                <a:cs typeface="Aptos" pitchFamily="34" charset="-120"/>
              </a:rPr>
              <a:t>High-risk public-facing or decision-support uses being treated as low-risk productivity tools.</a:t>
            </a:r>
            <a:endParaRPr lang="en-US" sz="2100" dirty="0"/>
          </a:p>
          <a:p>
            <a:r>
              <a:rPr lang="en-US" sz="2100" dirty="0">
                <a:solidFill>
                  <a:srgbClr val="17364A"/>
                </a:solidFill>
                <a:latin typeface="Aptos" pitchFamily="34" charset="0"/>
                <a:ea typeface="Aptos" pitchFamily="34" charset="-122"/>
                <a:cs typeface="Aptos" pitchFamily="34" charset="-120"/>
              </a:rPr>
              <a:t>Equity, accessibility, and community impacts being considered too late.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a standard intake worksheet before piloting or procuring AI tools.</a:t>
            </a:r>
            <a:endParaRPr lang="en-US" sz="2100" dirty="0"/>
          </a:p>
          <a:p>
            <a:r>
              <a:rPr lang="en-US" sz="2100" dirty="0">
                <a:solidFill>
                  <a:srgbClr val="17364A"/>
                </a:solidFill>
                <a:latin typeface="Aptos" pitchFamily="34" charset="0"/>
                <a:ea typeface="Aptos" pitchFamily="34" charset="-122"/>
                <a:cs typeface="Aptos" pitchFamily="34" charset="-120"/>
              </a:rPr>
              <a:t>Classify proposed uses by data sensitivity, automation level, public-facing impact, and decision.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2100" dirty="0"/>
          </a:p>
          <a:p>
            <a:r>
              <a:rPr lang="en-US" sz="2100" dirty="0">
                <a:solidFill>
                  <a:srgbClr val="17364A"/>
                </a:solidFill>
                <a:latin typeface="Aptos" pitchFamily="34" charset="0"/>
                <a:ea typeface="Aptos" pitchFamily="34" charset="-122"/>
                <a:cs typeface="Aptos" pitchFamily="34" charset="-120"/>
              </a:rPr>
              <a:t>Document use cases that are rejected, deferred, or approved with conditions.</a:t>
            </a:r>
            <a:endParaRPr lang="en-US" sz="2100" dirty="0"/>
          </a:p>
          <a:p>
            <a:r>
              <a:rPr lang="en-US" sz="2100" dirty="0">
                <a:solidFill>
                  <a:srgbClr val="17364A"/>
                </a:solidFill>
                <a:latin typeface="Aptos" pitchFamily="34" charset="0"/>
                <a:ea typeface="Aptos" pitchFamily="34" charset="-122"/>
                <a:cs typeface="Aptos" pitchFamily="34" charset="-120"/>
              </a:rPr>
              <a:t>Maintain a portfolio view of approved, active, paused, and retired AI uses.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problem statement, workflow, intended users, data sources, AI-supported task, output,.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Completed AI use case intake worksheet</a:t>
            </a:r>
            <a:endParaRPr lang="en-US" sz="2100" dirty="0"/>
          </a:p>
          <a:p>
            <a:r>
              <a:rPr lang="en-US" sz="2100" dirty="0">
                <a:solidFill>
                  <a:srgbClr val="17364A"/>
                </a:solidFill>
                <a:latin typeface="Aptos" pitchFamily="34" charset="0"/>
                <a:ea typeface="Aptos" pitchFamily="34" charset="-122"/>
                <a:cs typeface="Aptos" pitchFamily="34" charset="-120"/>
              </a:rPr>
              <a:t>Risk and readiness triage decision</a:t>
            </a:r>
            <a:endParaRPr lang="en-US" sz="2100" dirty="0"/>
          </a:p>
          <a:p>
            <a:r>
              <a:rPr lang="en-US" sz="2100" dirty="0">
                <a:solidFill>
                  <a:srgbClr val="17364A"/>
                </a:solidFill>
                <a:latin typeface="Aptos" pitchFamily="34" charset="0"/>
                <a:ea typeface="Aptos" pitchFamily="34" charset="-122"/>
                <a:cs typeface="Aptos" pitchFamily="34" charset="-120"/>
              </a:rPr>
              <a:t>List of required reviewers and next steps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Completed AI use case intake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Completed AI use case intake worksheet</a:t>
            </a:r>
            <a:endParaRPr lang="en-US" sz="2100" dirty="0"/>
          </a:p>
          <a:p>
            <a:r>
              <a:rPr lang="en-US" sz="2100" dirty="0">
                <a:solidFill>
                  <a:srgbClr val="17364A"/>
                </a:solidFill>
                <a:latin typeface="Aptos" pitchFamily="34" charset="0"/>
                <a:ea typeface="Aptos" pitchFamily="34" charset="-122"/>
                <a:cs typeface="Aptos" pitchFamily="34" charset="-120"/>
              </a:rPr>
              <a:t>Risk and readiness triage decision</a:t>
            </a:r>
            <a:endParaRPr lang="en-US" sz="2100" dirty="0"/>
          </a:p>
          <a:p>
            <a:r>
              <a:rPr lang="en-US" sz="2100" dirty="0">
                <a:solidFill>
                  <a:srgbClr val="17364A"/>
                </a:solidFill>
                <a:latin typeface="Aptos" pitchFamily="34" charset="0"/>
                <a:ea typeface="Aptos" pitchFamily="34" charset="-122"/>
                <a:cs typeface="Aptos" pitchFamily="34" charset="-120"/>
              </a:rPr>
              <a:t>List of required reviewers and next steps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Completed AI use case intake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main purpose of AI use case intake?</a:t>
            </a:r>
            <a:endParaRPr lang="en-US" sz="2100" dirty="0"/>
          </a:p>
          <a:p>
            <a:r>
              <a:rPr lang="en-US" sz="2100" dirty="0">
                <a:solidFill>
                  <a:srgbClr val="17364A"/>
                </a:solidFill>
                <a:latin typeface="Aptos" pitchFamily="34" charset="0"/>
                <a:ea typeface="Aptos" pitchFamily="34" charset="-122"/>
                <a:cs typeface="Aptos" pitchFamily="34" charset="-120"/>
              </a:rPr>
              <a:t>2. Which proposal should usually receive higher-risk triage?</a:t>
            </a:r>
            <a:endParaRPr lang="en-US" sz="2100" dirty="0"/>
          </a:p>
          <a:p>
            <a:r>
              <a:rPr lang="en-US" sz="2100" dirty="0">
                <a:solidFill>
                  <a:srgbClr val="17364A"/>
                </a:solidFill>
                <a:latin typeface="Aptos" pitchFamily="34" charset="0"/>
                <a:ea typeface="Aptos" pitchFamily="34" charset="-122"/>
                <a:cs typeface="Aptos" pitchFamily="34" charset="-120"/>
              </a:rPr>
              <a:t>3. What should happen when a proposed workflow problem can be solved without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main purpose of AI use case intake?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2026-07-12T19:24:28Z</dcterms:created>
  <dcterms:modified xsi:type="dcterms:W3CDTF">2026-07-12T19:24:28Z</dcterms:modified>
</cp:coreProperties>
</file>