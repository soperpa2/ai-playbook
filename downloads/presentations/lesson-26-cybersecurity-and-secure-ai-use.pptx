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cbc1050bd9e4bc3" /><Relationship Type="http://schemas.openxmlformats.org/officeDocument/2006/relationships/extended-properties" Target="/docProps/app.xml" Id="Ra0558d63c09c46fa" /><Relationship Type="http://schemas.openxmlformats.org/officeDocument/2006/relationships/officeDocument" Target="/ppt/presentation.xml" Id="R215bba27dff44bce" /></Relationships>
</file>

<file path=ppt/presentation.xml><?xml version="1.0" encoding="utf-8"?>
<p:presentation xmlns:p="http://schemas.openxmlformats.org/presentationml/2006/main">
  <p:sldMasterIdLst>
    <p:sldMasterId xmlns:r="http://schemas.openxmlformats.org/officeDocument/2006/relationships" id="2147483648" r:id="R31058b7d0b0d491a"/>
  </p:sldMasterIdLst>
  <p:notesMasterIdLst>
    <p:notesMasterId xmlns:r="http://schemas.openxmlformats.org/officeDocument/2006/relationships" r:id="Rb3b42ca89ad44b6a"/>
  </p:notesMasterIdLst>
  <p:sldIdLst>
    <p:sldId xmlns:r="http://schemas.openxmlformats.org/officeDocument/2006/relationships" id="256" r:id="R4acd88d0c20a4f88"/>
    <p:sldId xmlns:r="http://schemas.openxmlformats.org/officeDocument/2006/relationships" id="257" r:id="Rd6a6f567a15c4c83"/>
    <p:sldId xmlns:r="http://schemas.openxmlformats.org/officeDocument/2006/relationships" id="258" r:id="Rc4add043fe28420b"/>
    <p:sldId xmlns:r="http://schemas.openxmlformats.org/officeDocument/2006/relationships" id="259" r:id="Rf9da83f513ac46ee"/>
    <p:sldId xmlns:r="http://schemas.openxmlformats.org/officeDocument/2006/relationships" id="260" r:id="R12cb525b89b942c5"/>
    <p:sldId xmlns:r="http://schemas.openxmlformats.org/officeDocument/2006/relationships" id="261" r:id="Rf00f800abffb4854"/>
    <p:sldId xmlns:r="http://schemas.openxmlformats.org/officeDocument/2006/relationships" id="262" r:id="R832171bf184a4d24"/>
    <p:sldId xmlns:r="http://schemas.openxmlformats.org/officeDocument/2006/relationships" id="263" r:id="R3e1f8e286a104f66"/>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24dd2c766c7436c" /><Relationship Type="http://schemas.openxmlformats.org/officeDocument/2006/relationships/slideMaster" Target="/ppt/slideMasters/slideMaster1.xml" Id="R31058b7d0b0d491a" /><Relationship Type="http://schemas.openxmlformats.org/officeDocument/2006/relationships/notesMaster" Target="/ppt/notesMasters/notesMaster1.xml" Id="Rb3b42ca89ad44b6a" /><Relationship Type="http://schemas.openxmlformats.org/officeDocument/2006/relationships/presProps" Target="/ppt/presProps.xml" Id="Rfea3b6a9cfa544d0" /><Relationship Type="http://schemas.openxmlformats.org/officeDocument/2006/relationships/tableStyles" Target="/ppt/tableStyles.xml" Id="R70bd8d30e6234e90" /><Relationship Type="http://schemas.openxmlformats.org/officeDocument/2006/relationships/slide" Target="/ppt/slides/slide1.xml" Id="R4acd88d0c20a4f88" /><Relationship Type="http://schemas.openxmlformats.org/officeDocument/2006/relationships/slide" Target="/ppt/slides/slide2.xml" Id="Rd6a6f567a15c4c83" /><Relationship Type="http://schemas.openxmlformats.org/officeDocument/2006/relationships/slide" Target="/ppt/slides/slide3.xml" Id="Rc4add043fe28420b" /><Relationship Type="http://schemas.openxmlformats.org/officeDocument/2006/relationships/slide" Target="/ppt/slides/slide4.xml" Id="Rf9da83f513ac46ee" /><Relationship Type="http://schemas.openxmlformats.org/officeDocument/2006/relationships/slide" Target="/ppt/slides/slide5.xml" Id="R12cb525b89b942c5" /><Relationship Type="http://schemas.openxmlformats.org/officeDocument/2006/relationships/slide" Target="/ppt/slides/slide6.xml" Id="Rf00f800abffb4854" /><Relationship Type="http://schemas.openxmlformats.org/officeDocument/2006/relationships/slide" Target="/ppt/slides/slide7.xml" Id="R832171bf184a4d24" /><Relationship Type="http://schemas.openxmlformats.org/officeDocument/2006/relationships/slide" Target="/ppt/slides/slide8.xml" Id="R3e1f8e286a104f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d8fef1ae1042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98cf5d316f4257" /><Relationship Type="http://schemas.openxmlformats.org/officeDocument/2006/relationships/notesMaster" Target="/ppt/notesMasters/notesMaster1.xml" Id="R7e0e5551ff094a1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533df5faee4722" /><Relationship Type="http://schemas.openxmlformats.org/officeDocument/2006/relationships/notesMaster" Target="/ppt/notesMasters/notesMaster1.xml" Id="R697620e8b3b241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6ba97fa9a9e490a" /><Relationship Type="http://schemas.openxmlformats.org/officeDocument/2006/relationships/notesMaster" Target="/ppt/notesMasters/notesMaster1.xml" Id="Rc87f78d20b2944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9bc82fd0630b482e" /><Relationship Type="http://schemas.openxmlformats.org/officeDocument/2006/relationships/notesMaster" Target="/ppt/notesMasters/notesMaster1.xml" Id="Raa487aa9bb264a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2f35f89dd64759" /><Relationship Type="http://schemas.openxmlformats.org/officeDocument/2006/relationships/notesMaster" Target="/ppt/notesMasters/notesMaster1.xml" Id="R3862a9efa9564892" /></Relationships>
</file>

<file path=ppt/notesSlides/_rels/notesSlide6.xml.rels>&#65279;<?xml version="1.0" encoding="utf-8"?><Relationships xmlns="http://schemas.openxmlformats.org/package/2006/relationships"><Relationship Type="http://schemas.openxmlformats.org/officeDocument/2006/relationships/slide" Target="/ppt/slides/slide6.xml" Id="R68830660d656495f" /><Relationship Type="http://schemas.openxmlformats.org/officeDocument/2006/relationships/notesMaster" Target="/ppt/notesMasters/notesMaster1.xml" Id="R27f8d50edf234334" /></Relationships>
</file>

<file path=ppt/notesSlides/_rels/notesSlide7.xml.rels>&#65279;<?xml version="1.0" encoding="utf-8"?><Relationships xmlns="http://schemas.openxmlformats.org/package/2006/relationships"><Relationship Type="http://schemas.openxmlformats.org/officeDocument/2006/relationships/slide" Target="/ppt/slides/slide7.xml" Id="Ra4de0ef95cc54faa" /><Relationship Type="http://schemas.openxmlformats.org/officeDocument/2006/relationships/notesMaster" Target="/ppt/notesMasters/notesMaster1.xml" Id="R4bce702ab8294286" /></Relationships>
</file>

<file path=ppt/notesSlides/_rels/notesSlide8.xml.rels>&#65279;<?xml version="1.0" encoding="utf-8"?><Relationships xmlns="http://schemas.openxmlformats.org/package/2006/relationships"><Relationship Type="http://schemas.openxmlformats.org/officeDocument/2006/relationships/slide" Target="/ppt/slides/slide8.xml" Id="R812dba0fa7b8462d" /><Relationship Type="http://schemas.openxmlformats.org/officeDocument/2006/relationships/notesMaster" Target="/ppt/notesMasters/notesMaster1.xml" Id="Rf0fed759f4b5436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Cybersecurity and Secure AI Use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Secure AI use requires approved environments, access controls, vendor security review, audit logs, prompt-injection awareness, data-loss prevention, and incident escalation.</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Cybersecurity and Secure AI Use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2, 3, 7, 11, 12 and Tools 10, 15, 17, 34, 39, 43.</a:t>
            </a:r>
          </a:p>
          <a:p xmlns:a="http://schemas.openxmlformats.org/drawingml/2006/main">
            <a:r>
              <a:t>Emphasize the core guardrail: AI tools can create new attack surfaces, data leakage pathways, and social engineering risks if security is not built into implementation.</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Cybersecurity and Secure AI Use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2, 3, 7, 11, 12 and Tools 10, 15, 17, 34, 39, 43.</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Cybersecurity and Secure AI Use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2, 3, 7, 11, 12 and Tools 10, 15, 17, 34, 39, 43.</a:t>
            </a:r>
          </a:p>
          <a:p xmlns:a="http://schemas.openxmlformats.org/drawingml/2006/main">
            <a:r>
              <a:t>Ask the group to restate the topic in their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Cybersecurity and Secure AI Use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2, 3, 7, 11, 12 and Tools 10, 15, 17, 34, 39, 43.</a:t>
            </a:r>
          </a:p>
          <a:p xmlns:a="http://schemas.openxmlformats.org/drawingml/2006/main">
            <a:r>
              <a:t>Invite participants to identify where these practices would need to be documented in their own department.</a:t>
            </a:r>
          </a:p>
          <a:p xmlns:a="http://schemas.openxmlformats.org/drawingml/2006/main">
            <a:r>
              <a:t>Start with Security Concerns,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Cybersecurity and Secure AI Use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2, 3, 7, 11, 12 and Tools 10, 15, 17, 34, 39, 43.</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Cybersecurity and Secure AI Use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2, 3, 7, 11, 12 and Tools 10, 15, 17, 34, 39, 43.</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AI security review notes, Approved-use rules, Security escalation checklist.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Cybersecurity and Secure AI Use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2, 3, 7, 11, 12 and Tools 10, 15, 17, 34, 39, 43.</a:t>
            </a:r>
          </a:p>
          <a:p xmlns:a="http://schemas.openxmlformats.org/drawingml/2006/main">
            <a:r>
              <a:t>Point participants to the first resource: NIST Cybersecurity Framework.</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f2e6afbd70424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7674836150498a" /><Relationship Type="http://schemas.openxmlformats.org/officeDocument/2006/relationships/slideLayout" Target="/ppt/slideLayouts/slideLayout1.xml" Id="Rf14084a563524f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14084a563524f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e80823b6ba249f1" /><Relationship Type="http://schemas.openxmlformats.org/officeDocument/2006/relationships/image" Target="/ppt/media/image.png" Id="R62a1d8f823c14561" /><Relationship Type="http://schemas.openxmlformats.org/officeDocument/2006/relationships/notesSlide" Target="/ppt/notesSlides/notesSlide1.xml" Id="R9294b7cdf38f4a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7b8a0077ee34104" /><Relationship Type="http://schemas.openxmlformats.org/officeDocument/2006/relationships/notesSlide" Target="/ppt/notesSlides/notesSlide2.xml" Id="R3bbda35a9ce649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35d7bb7abf54ec7" /><Relationship Type="http://schemas.openxmlformats.org/officeDocument/2006/relationships/notesSlide" Target="/ppt/notesSlides/notesSlide3.xml" Id="R60440cd1bced4b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cf8e3ac7e8d4c75" /><Relationship Type="http://schemas.openxmlformats.org/officeDocument/2006/relationships/notesSlide" Target="/ppt/notesSlides/notesSlide4.xml" Id="Rc44b62075de944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51a1d0102fa4685" /><Relationship Type="http://schemas.openxmlformats.org/officeDocument/2006/relationships/notesSlide" Target="/ppt/notesSlides/notesSlide5.xml" Id="R1226a586dfaf46e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fa2d3c54ea1456c" /><Relationship Type="http://schemas.openxmlformats.org/officeDocument/2006/relationships/notesSlide" Target="/ppt/notesSlides/notesSlide6.xml" Id="Rf00a9cf2ff4743e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58732cea586439c" /><Relationship Type="http://schemas.openxmlformats.org/officeDocument/2006/relationships/notesSlide" Target="/ppt/notesSlides/notesSlide7.xml" Id="Ra10cc4c4c6154c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ea1b1891b9e4606" /><Relationship Type="http://schemas.openxmlformats.org/officeDocument/2006/relationships/notesSlide" Target="/ppt/notesSlides/notesSlide8.xml" Id="R3766731406464588"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2a1d8f823c14561"/>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E099099-8F5B-431B-813C-4E00A8EBB861}"/>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26</a:t>
            </a:r>
          </a:p>
        </p:txBody>
      </p:sp>
      <p:sp>
        <p:nvSpPr>
          <p:cNvPr id="3" name="">
            <a:extLst xmlns:a="http://schemas.openxmlformats.org/drawingml/2006/main">
              <a:ext uri="{FF2B5EF4-FFF2-40B4-BE49-F238E27FC236}">
                <a16:creationId xmlns:a16="http://schemas.microsoft.com/office/drawing/2014/main" id="{6E06E660-AE36-4B67-A394-4AC71A3AFEF3}"/>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Cybersecurity and Secure AI Use</a:t>
            </a:r>
          </a:p>
        </p:txBody>
      </p:sp>
      <p:sp>
        <p:nvSpPr>
          <p:cNvPr id="4" name="">
            <a:extLst xmlns:a="http://schemas.openxmlformats.org/drawingml/2006/main">
              <a:ext uri="{FF2B5EF4-FFF2-40B4-BE49-F238E27FC236}">
                <a16:creationId xmlns:a16="http://schemas.microsoft.com/office/drawing/2014/main" id="{EE631BCC-7B63-4EF3-BED7-7049C9D1DED8}"/>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FB1ABE60-2034-4E32-B0A0-CCF75B3A4180}"/>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BC13A91A-7057-4F47-8637-F71F4A01A1E3}"/>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12628766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76857EC-B99F-480F-84D6-D2A490A67B5B}"/>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8010135B-C3C4-450E-8EA7-45EE1D82372E}"/>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BE0B476D-99EC-4450-99D4-1587D99719F8}"/>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01D17320-DD8C-4BC0-8551-472F72A7A226}"/>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Secure AI use requires approved environments, access controls, vendor security review, audit logs, prompt-injection awareness, data-loss prevention, and incident escalation.</a:t>
            </a:r>
          </a:p>
        </p:txBody>
      </p:sp>
      <p:sp>
        <p:nvSpPr>
          <p:cNvPr id="5" name="">
            <a:extLst xmlns:a="http://schemas.openxmlformats.org/drawingml/2006/main">
              <a:ext uri="{FF2B5EF4-FFF2-40B4-BE49-F238E27FC236}">
                <a16:creationId xmlns:a16="http://schemas.microsoft.com/office/drawing/2014/main" id="{29B2E7C3-126B-410F-B344-F6FFAEA0D62C}"/>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03018D1E-5390-4008-BECE-6A30F0763CB7}"/>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E6A46640-CC53-4C37-90A1-A5AC640C6579}"/>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CB59BB84-4524-43AF-AF74-403107987DB6}"/>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Cybersecurity protects public health operations, sensitive data, system integrity, and community trust.</a:t>
            </a:r>
          </a:p>
        </p:txBody>
      </p:sp>
      <p:sp>
        <p:nvSpPr>
          <p:cNvPr id="9" name="">
            <a:extLst xmlns:a="http://schemas.openxmlformats.org/drawingml/2006/main">
              <a:ext uri="{FF2B5EF4-FFF2-40B4-BE49-F238E27FC236}">
                <a16:creationId xmlns:a16="http://schemas.microsoft.com/office/drawing/2014/main" id="{AF3F4294-130B-4CA0-BFF3-1FC021454B5A}"/>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90A66368-F9AD-4B8A-82D5-D84A2CFD5C74}"/>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EB1A9491-698C-4F93-B437-F0E4FD34DDF4}"/>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DB373D63-D7D2-453F-861E-8BEB58E2815C}"/>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AI tools can create new attack surfaces, data leakage pathways, and social engineering risks if security is not built into implementation.</a:t>
            </a:r>
          </a:p>
        </p:txBody>
      </p:sp>
      <p:sp>
        <p:nvSpPr>
          <p:cNvPr id="13" name="">
            <a:extLst xmlns:a="http://schemas.openxmlformats.org/drawingml/2006/main">
              <a:ext uri="{FF2B5EF4-FFF2-40B4-BE49-F238E27FC236}">
                <a16:creationId xmlns:a16="http://schemas.microsoft.com/office/drawing/2014/main" id="{609EA878-702E-4E6B-90C4-13BC0F613228}"/>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Cybersecurity and Secure AI Use</a:t>
            </a:r>
          </a:p>
        </p:txBody>
      </p:sp>
      <p:sp>
        <p:nvSpPr>
          <p:cNvPr id="14" name="">
            <a:extLst xmlns:a="http://schemas.openxmlformats.org/drawingml/2006/main">
              <a:ext uri="{FF2B5EF4-FFF2-40B4-BE49-F238E27FC236}">
                <a16:creationId xmlns:a16="http://schemas.microsoft.com/office/drawing/2014/main" id="{CE6E3199-CF8C-4E04-BD6D-75DA077D9DFD}"/>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1217185627"/>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8F2161D-841B-4F7A-A6F8-69F20B266485}"/>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4FF7A1BB-5A0E-4624-BDDB-F4B6415ECC72}"/>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A391D49E-5619-4FE4-8EB3-CD009B4E151A}"/>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A61D31F4-39D1-46DA-B174-BBE039BFB747}"/>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FAB0ACE1-B1CC-4F7E-A983-9E120565A743}"/>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Cybersecurity and Secure AI Use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E960CF8A-0405-40B6-ABB1-E04E8C68E7F3}"/>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Cybersecurity and Secure AI Use</a:t>
            </a:r>
          </a:p>
        </p:txBody>
      </p:sp>
      <p:sp>
        <p:nvSpPr>
          <p:cNvPr id="7" name="">
            <a:extLst xmlns:a="http://schemas.openxmlformats.org/drawingml/2006/main">
              <a:ext uri="{FF2B5EF4-FFF2-40B4-BE49-F238E27FC236}">
                <a16:creationId xmlns:a16="http://schemas.microsoft.com/office/drawing/2014/main" id="{EB8980B6-6BC1-4633-ABBE-01B39BB757FB}"/>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35140049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093EC96-5479-4B11-8BAD-BA9FF6CCD987}"/>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CE0D7077-4FE6-4894-BCEB-DA57D0686467}"/>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01DF292E-BA2B-4407-B4BA-AB536FA4271C}"/>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E6E5BC9A-27EB-4BE0-8682-9454988A88E5}"/>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AI security is broader than protecting the model. It includes user accounts, data flows, integrations, APIs, vendor hosting, prompts, outputs, logs, plugins, browser extensions, and connections to existing systems. Staff need to know how secure AI use differs from general software use.</a:t>
            </a:r>
          </a:p>
        </p:txBody>
      </p:sp>
      <p:sp>
        <p:nvSpPr>
          <p:cNvPr id="5" name="">
            <a:extLst xmlns:a="http://schemas.openxmlformats.org/drawingml/2006/main">
              <a:ext uri="{FF2B5EF4-FFF2-40B4-BE49-F238E27FC236}">
                <a16:creationId xmlns:a16="http://schemas.microsoft.com/office/drawing/2014/main" id="{FA11BD37-6C70-4DA1-938E-C899962E8CC9}"/>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B527A9FF-9EA0-4836-A0CA-E618477CB386}"/>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4F9F79EF-04F8-4BF3-B5E2-7893DAFECB08}"/>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Working definition</a:t>
            </a:r>
          </a:p>
        </p:txBody>
      </p:sp>
      <p:sp>
        <p:nvSpPr>
          <p:cNvPr id="8" name="">
            <a:extLst xmlns:a="http://schemas.openxmlformats.org/drawingml/2006/main">
              <a:ext uri="{FF2B5EF4-FFF2-40B4-BE49-F238E27FC236}">
                <a16:creationId xmlns:a16="http://schemas.microsoft.com/office/drawing/2014/main" id="{65BC640E-371D-41C8-81EA-C60BAAE1F478}"/>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Secure AI use requires approved environments, access controls, vendor security review, audit logs, prompt-injection awareness, data-loss prevention, and incident escalation.</a:t>
            </a:r>
          </a:p>
        </p:txBody>
      </p:sp>
      <p:sp>
        <p:nvSpPr>
          <p:cNvPr id="9" name="">
            <a:extLst xmlns:a="http://schemas.openxmlformats.org/drawingml/2006/main">
              <a:ext uri="{FF2B5EF4-FFF2-40B4-BE49-F238E27FC236}">
                <a16:creationId xmlns:a16="http://schemas.microsoft.com/office/drawing/2014/main" id="{A3BAB6B0-86DF-4EC0-9ADB-DD775D567F50}"/>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Cybersecurity and Secure AI Use</a:t>
            </a:r>
          </a:p>
        </p:txBody>
      </p:sp>
      <p:sp>
        <p:nvSpPr>
          <p:cNvPr id="10" name="">
            <a:extLst xmlns:a="http://schemas.openxmlformats.org/drawingml/2006/main">
              <a:ext uri="{FF2B5EF4-FFF2-40B4-BE49-F238E27FC236}">
                <a16:creationId xmlns:a16="http://schemas.microsoft.com/office/drawing/2014/main" id="{CE28D3C7-3D88-4DD3-8707-F671294F3886}"/>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323464094"/>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17990DF-62DE-49CF-B04D-AAACE5797EAD}"/>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B63EF35D-8E78-46B3-BE0D-69B9CA45B90F}"/>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357DEA11-E49F-4C27-A66C-064C5CC1D19D}"/>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B6B0BE2B-3317-4CB4-9117-1A0A28F1A90A}"/>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4E112736-A886-41DD-BE30-5081AE701CF7}"/>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3D7129C0-9EC9-4CDD-995F-8594101082C9}"/>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Security Concerns</a:t>
            </a:r>
          </a:p>
        </p:txBody>
      </p:sp>
      <p:sp>
        <p:nvSpPr>
          <p:cNvPr id="7" name="">
            <a:extLst xmlns:a="http://schemas.openxmlformats.org/drawingml/2006/main">
              <a:ext uri="{FF2B5EF4-FFF2-40B4-BE49-F238E27FC236}">
                <a16:creationId xmlns:a16="http://schemas.microsoft.com/office/drawing/2014/main" id="{5D6FCE30-1F36-462F-B63C-3E8B2DE0DCFA}"/>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Sensitive data entered into unapproved tools or retained by vendors. Prompt injection or malicious content that manipulates AI behavior. Unauthorized access through weak role controls, shared accounts, or unmanaged integrations. Unverified.</a:t>
            </a:r>
          </a:p>
        </p:txBody>
      </p:sp>
      <p:sp>
        <p:nvSpPr>
          <p:cNvPr id="8" name="">
            <a:extLst xmlns:a="http://schemas.openxmlformats.org/drawingml/2006/main">
              <a:ext uri="{FF2B5EF4-FFF2-40B4-BE49-F238E27FC236}">
                <a16:creationId xmlns:a16="http://schemas.microsoft.com/office/drawing/2014/main" id="{584FE811-BD8F-41A8-9592-91AB075A2A29}"/>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016A9071-CD9D-483D-983C-367941F8047D}"/>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02BFF612-F6FE-4591-80E6-7389A8B2273F}"/>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Secure Practices</a:t>
            </a:r>
          </a:p>
        </p:txBody>
      </p:sp>
      <p:sp>
        <p:nvSpPr>
          <p:cNvPr id="11" name="">
            <a:extLst xmlns:a="http://schemas.openxmlformats.org/drawingml/2006/main">
              <a:ext uri="{FF2B5EF4-FFF2-40B4-BE49-F238E27FC236}">
                <a16:creationId xmlns:a16="http://schemas.microsoft.com/office/drawing/2014/main" id="{527A3730-AC17-4618-B21B-33E54118D183}"/>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only approved AI tools for official work. Apply role-based access, multi-factor authentication, logging, data-loss prevention, and least-privilege access. Review vendor security documentation, hosting, subcontractors, breach notification,.</a:t>
            </a:r>
          </a:p>
        </p:txBody>
      </p:sp>
      <p:sp>
        <p:nvSpPr>
          <p:cNvPr id="12" name="">
            <a:extLst xmlns:a="http://schemas.openxmlformats.org/drawingml/2006/main">
              <a:ext uri="{FF2B5EF4-FFF2-40B4-BE49-F238E27FC236}">
                <a16:creationId xmlns:a16="http://schemas.microsoft.com/office/drawing/2014/main" id="{7A3BCA6F-C05E-4D28-A934-2D87B88553A5}"/>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4AF3C102-7FDD-4873-A1EA-AF3B54E82D30}"/>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34491EC1-F0F0-441D-BD7C-6D4F867D8B7B}"/>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Implementation Check</a:t>
            </a:r>
          </a:p>
        </p:txBody>
      </p:sp>
      <p:sp>
        <p:nvSpPr>
          <p:cNvPr id="15" name="">
            <a:extLst xmlns:a="http://schemas.openxmlformats.org/drawingml/2006/main">
              <a:ext uri="{FF2B5EF4-FFF2-40B4-BE49-F238E27FC236}">
                <a16:creationId xmlns:a16="http://schemas.microsoft.com/office/drawing/2014/main" id="{55EDD86D-331B-4FA7-8D7C-8C3864BA41FB}"/>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Include security review before pilot approval. Test integrations in controlled environments. Coordinate AI incident response with cybersecurity and privacy response plans.</a:t>
            </a:r>
          </a:p>
        </p:txBody>
      </p:sp>
      <p:sp>
        <p:nvSpPr>
          <p:cNvPr id="16" name="">
            <a:extLst xmlns:a="http://schemas.openxmlformats.org/drawingml/2006/main">
              <a:ext uri="{FF2B5EF4-FFF2-40B4-BE49-F238E27FC236}">
                <a16:creationId xmlns:a16="http://schemas.microsoft.com/office/drawing/2014/main" id="{61710856-70F4-4951-835A-948569CD8346}"/>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Cybersecurity and Secure AI Use</a:t>
            </a:r>
          </a:p>
        </p:txBody>
      </p:sp>
      <p:sp>
        <p:nvSpPr>
          <p:cNvPr id="17" name="">
            <a:extLst xmlns:a="http://schemas.openxmlformats.org/drawingml/2006/main">
              <a:ext uri="{FF2B5EF4-FFF2-40B4-BE49-F238E27FC236}">
                <a16:creationId xmlns:a16="http://schemas.microsoft.com/office/drawing/2014/main" id="{DFA51846-0A68-4019-A7BB-11C411D80DFB}"/>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105695832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595C5C1-0797-4221-817E-F5996173E2E5}"/>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917A9824-3FD7-4794-87CB-D64F533C9694}"/>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FB719E9D-B023-4F4D-B1F1-EA3055BF5417}"/>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303168CF-B78A-4C21-AF53-8005FE3C4DD0}"/>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1D74F656-6FBF-42CA-B6DE-84DFF0C0E578}"/>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BD4AA0E0-9A3D-4764-951C-8265E92394BF}"/>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70479C02-9277-4FEB-9D53-DB3A975B6C60}"/>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Use approved AI environments</a:t>
            </a:r>
          </a:p>
        </p:txBody>
      </p:sp>
      <p:sp>
        <p:nvSpPr>
          <p:cNvPr id="8" name="">
            <a:extLst xmlns:a="http://schemas.openxmlformats.org/drawingml/2006/main">
              <a:ext uri="{FF2B5EF4-FFF2-40B4-BE49-F238E27FC236}">
                <a16:creationId xmlns:a16="http://schemas.microsoft.com/office/drawing/2014/main" id="{58739477-76EE-424C-920F-0D419C6D0CB9}"/>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9" name="">
            <a:extLst xmlns:a="http://schemas.openxmlformats.org/drawingml/2006/main">
              <a:ext uri="{FF2B5EF4-FFF2-40B4-BE49-F238E27FC236}">
                <a16:creationId xmlns:a16="http://schemas.microsoft.com/office/drawing/2014/main" id="{80D8DB36-2E9B-4D5A-B199-4423502ED787}"/>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AB6858C1-E078-4378-B585-630D1208632E}"/>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E0EEECCE-131B-4EB5-8904-5F61F656B261}"/>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Review vendor integrations</a:t>
            </a:r>
          </a:p>
        </p:txBody>
      </p:sp>
      <p:sp>
        <p:nvSpPr>
          <p:cNvPr id="12" name="">
            <a:extLst xmlns:a="http://schemas.openxmlformats.org/drawingml/2006/main">
              <a:ext uri="{FF2B5EF4-FFF2-40B4-BE49-F238E27FC236}">
                <a16:creationId xmlns:a16="http://schemas.microsoft.com/office/drawing/2014/main" id="{D9CFC90B-3A32-4615-A9F0-31CB4DF4FB2A}"/>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3" name="">
            <a:extLst xmlns:a="http://schemas.openxmlformats.org/drawingml/2006/main">
              <a:ext uri="{FF2B5EF4-FFF2-40B4-BE49-F238E27FC236}">
                <a16:creationId xmlns:a16="http://schemas.microsoft.com/office/drawing/2014/main" id="{16007F31-EFBB-46FB-BF67-161F3D681D62}"/>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37DFA638-4C69-441F-B58F-22647DE6D22D}"/>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6F647FEB-6677-4052-A719-D6B6DD9366BA}"/>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 staff on prompt injection</a:t>
            </a:r>
          </a:p>
        </p:txBody>
      </p:sp>
      <p:sp>
        <p:nvSpPr>
          <p:cNvPr id="16" name="">
            <a:extLst xmlns:a="http://schemas.openxmlformats.org/drawingml/2006/main">
              <a:ext uri="{FF2B5EF4-FFF2-40B4-BE49-F238E27FC236}">
                <a16:creationId xmlns:a16="http://schemas.microsoft.com/office/drawing/2014/main" id="{8B8BB5F9-97BE-4562-9911-5D4DF8E7B4A4}"/>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7" name="">
            <a:extLst xmlns:a="http://schemas.openxmlformats.org/drawingml/2006/main">
              <a:ext uri="{FF2B5EF4-FFF2-40B4-BE49-F238E27FC236}">
                <a16:creationId xmlns:a16="http://schemas.microsoft.com/office/drawing/2014/main" id="{4BE7635B-BBDA-493C-BB1A-665EF74DC097}"/>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Cybersecurity and Secure AI Use</a:t>
            </a:r>
          </a:p>
        </p:txBody>
      </p:sp>
      <p:sp>
        <p:nvSpPr>
          <p:cNvPr id="18" name="">
            <a:extLst xmlns:a="http://schemas.openxmlformats.org/drawingml/2006/main">
              <a:ext uri="{FF2B5EF4-FFF2-40B4-BE49-F238E27FC236}">
                <a16:creationId xmlns:a16="http://schemas.microsoft.com/office/drawing/2014/main" id="{98C28ACB-28EF-4A2E-91B0-2877B4C6B3F4}"/>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1318634693"/>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6EE73AC-0DF0-4FBD-82D1-9F9460744E99}"/>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FA8C2831-987B-4F41-A72A-BB25E1B1028E}"/>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BAD73EF7-28E0-4AEC-9019-0FC7E832F3FD}"/>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BFDC542B-0ABB-40EA-8B47-91EF264CE77A}"/>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17702E90-C041-4269-A66B-2AFF362631E8}"/>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4B087811-E341-4F8E-BDA1-D4790C5DAE79}"/>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E7DB0294-1D02-4249-BEE6-EB9E3A7251BA}"/>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Which AI tools are approved for official work? Which integrations or data flows require security review? How should staff report suspicious AI behavior, data leakage, or unauthorized access?</a:t>
            </a:r>
          </a:p>
        </p:txBody>
      </p:sp>
      <p:sp>
        <p:nvSpPr>
          <p:cNvPr id="8" name="">
            <a:extLst xmlns:a="http://schemas.openxmlformats.org/drawingml/2006/main">
              <a:ext uri="{FF2B5EF4-FFF2-40B4-BE49-F238E27FC236}">
                <a16:creationId xmlns:a16="http://schemas.microsoft.com/office/drawing/2014/main" id="{D84FCB42-7BD2-4E07-9099-D920E826B060}"/>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2F358FE3-4E65-4079-9B00-C2DE6E030E8D}"/>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71736B7A-053C-4C03-9FA8-28BFC3769C01}"/>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8C315492-B70E-46B9-AFC7-127CF52C5D18}"/>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Map the security controls needed for one AI use case, including data classification, access controls, vendor hosting, integrations, logging, incident response, and staff training.</a:t>
            </a:r>
          </a:p>
        </p:txBody>
      </p:sp>
      <p:sp>
        <p:nvSpPr>
          <p:cNvPr id="12" name="">
            <a:extLst xmlns:a="http://schemas.openxmlformats.org/drawingml/2006/main">
              <a:ext uri="{FF2B5EF4-FFF2-40B4-BE49-F238E27FC236}">
                <a16:creationId xmlns:a16="http://schemas.microsoft.com/office/drawing/2014/main" id="{EAB63EA1-65EE-4910-9F00-15AC8E0CA97E}"/>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Cybersecurity and Secure AI Use</a:t>
            </a:r>
          </a:p>
        </p:txBody>
      </p:sp>
      <p:sp>
        <p:nvSpPr>
          <p:cNvPr id="13" name="">
            <a:extLst xmlns:a="http://schemas.openxmlformats.org/drawingml/2006/main">
              <a:ext uri="{FF2B5EF4-FFF2-40B4-BE49-F238E27FC236}">
                <a16:creationId xmlns:a16="http://schemas.microsoft.com/office/drawing/2014/main" id="{9FB23107-968F-4630-AEBA-38D26A714BF8}"/>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45973653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11BFB80-8BCB-49F6-BCDD-40197CBC46B4}"/>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EC86F156-0938-4EDF-AB7F-FF612E0546E3}"/>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9F4AA157-79DF-48FE-8C8C-3A3F94E4A37D}"/>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E4864884-DC61-4BB2-A9A6-F1815A3DA24F}"/>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41F84DE7-7BAF-422C-AEFD-F83DE3913413}"/>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930B84B5-B1AB-465A-BEA4-2C1359827412}"/>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5958DF7B-7266-4272-A659-AF59F482D501}"/>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2, 3, 7, 11, 12 and Tools 10, 15, 17, 34, 39, 43.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AB2C5016-173A-44B7-A996-0905C71379EC}"/>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DE3DE8FD-99BD-4EE3-8AB7-7282061310AD}"/>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5929C131-54E0-4091-BB53-7F2797BB8436}"/>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3FA95C95-4103-4EC5-84A7-F65CF2384F61}"/>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NIST Cybersecurity Framework: Cybersecurity risk management structure for organizational systems. CISA AI and Cybersecurity: Cybersecurity context for AI systems and AI-enabled threats. FedRAMP: Cloud security authorization context for.</a:t>
            </a:r>
          </a:p>
        </p:txBody>
      </p:sp>
      <p:sp>
        <p:nvSpPr>
          <p:cNvPr id="12" name="">
            <a:extLst xmlns:a="http://schemas.openxmlformats.org/drawingml/2006/main">
              <a:ext uri="{FF2B5EF4-FFF2-40B4-BE49-F238E27FC236}">
                <a16:creationId xmlns:a16="http://schemas.microsoft.com/office/drawing/2014/main" id="{B474F404-985B-4301-A8BB-FDAD90D8C66A}"/>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Cybersecurity and Secure AI Use</a:t>
            </a:r>
          </a:p>
        </p:txBody>
      </p:sp>
      <p:sp>
        <p:nvSpPr>
          <p:cNvPr id="13" name="">
            <a:extLst xmlns:a="http://schemas.openxmlformats.org/drawingml/2006/main">
              <a:ext uri="{FF2B5EF4-FFF2-40B4-BE49-F238E27FC236}">
                <a16:creationId xmlns:a16="http://schemas.microsoft.com/office/drawing/2014/main" id="{0D27E6C2-8582-4BEC-BCE5-B378C9E9CA83}"/>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2082615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2026-07-02T17:47:05.5340000Z</dcterms:created>
  <dcterms:modified xsi:type="dcterms:W3CDTF">2026-07-02T17:47:05.5340000Z</dcterms:modified>
</coreProperties>
</file>