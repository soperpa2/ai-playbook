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300 Retrieval-Augmented Generation for Public Health Knowledge Work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Technical Architecture Track
Appears in tracks: analytics-modeling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3: Establish AI Governance - This lesson informs Play 3 by helping learners connect the lesson topic to establish ai governance work in the AI Playbook sequence.
Play 12: Execute Governance and Oversight - This lesson informs Play 12 by helping learners connect the lesson topic to execute governance and oversight work in the AI Playbook.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16: Incident Response Checklist (Checklist) - Use Incident Response Checklist to translate this lesson into a documented public health AI planning, governance,.
Tool 17: Compliance Audit Checklist (Checklist) - Use Compliance Audit Checklist to translate this lesson into a documented public health AI planning, governance, implementation,.
Tool 18: Policy Update &amp; Version Control Log (Log) - Use this tool to complete or strengthen the practical exercise for the module using fictional, de-identified, or generalized.
Tool 19: Plain-Language AI Public Notice Template (Template) - Use Plain-Language AI Public Notice Template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retrieval-augmented generation in plain language.
Describe the major components of a RAG system, including document ingestion, chunking, embeddings, vector search, retrieval, generation, and citation.
Identify public health use cases where RAG may improve knowledge work.
Assess risks related to stale content, access control, retrieval quality, hallucination, and source misuse.
Design governance and monitoring requirements for agency RAG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RAG readiness checklist for a public health knowledge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Retrieval-augmented generation, often called RAG, combines generative AI with retrieval from a defined set of documents or data sources. Instead of relying only on a model’s general training, a RAG system searches approved content and uses retrieved material to generate an answer or summary. In public health, RAG may support policy lookup, protocol interpretation, internal help desks, training support, grant review, emergency response, or program knowledge management.
RAG can make generative AI more useful and safer when it is designed well. It can ground responses in agency documents, cite sources, and reduce the risk of unsupported answers. However, RAG does not automatically solve hallucination, privacy, access control, outdated guidance, conflicting documents, or poor retrieval. The system is only as reliable as the content collection, search process, permissions, and review workflow.
This module teaches learners the core components of RAG and how to evaluate whether a RAG tool is ready for public health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RAG matters because public health agencies manage large collections of guidance, protocols, policies, contracts, plans, reports, forms, FAQs, and training materials. Staff may spend substantial time searching for answers across shared drives, websites, portals, and outdated files. A well-designed RAG system can help users find relevant guidance and produce concise, source-linked answers.
The public health value of RAG depends on governance. If a RAG tool includes outdated guidance, draft policies, documents outside a user’s permission level, or conflicting versions, it may generate misleading answers. If it fails to retrieve the most relevant source, the generated answer may be incomplete or wrong. RAG improves the grounding problem only when the content collection and retrieval process are managed carefully.
RAG is especially important for responsible AI because it offers a middle path between generic public AI tools and fully custom systems. Agencies can build assistants around approved content, but they must define content ownership, update schedules, access rules, citation requirements, testing, monitoring, and user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state health department may create an internal RAG assistant to help staff find current infectious disease investigation protocols. The assistant could search approved protocols, case definitions, reporting rules, and escalation procedures. When a user asks what steps to take for a suspected condition, the system could summarize relevant guidance and cite the source documents.
This workflow requires strong controls. The assistant must include only current approved guidance, respect role-based access, cite sources, and warn users when content is outdated or missing. Staff should verify the cited protocol before acting, especially when the situation is unusual or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A RAG system begins with content selection. Agencies should decide which documents are authoritative, current, approved for the use case, and appropriate for the intended users. Content inventories should include owner, version, effective date, review date, sensitivity level, and access rules. Without this foundation, retrieval can surface obsolete or unauthorized material.
Document processing affects retrieval quality. Files may need to be converted, cleaned, segmented, and indexed. Chunking decisions matter because overly small chunks may omit context while overly large chunks may retrieve irrelevant material. Tables, figures, scanned PDFs, forms, and appendices may require special handling. Public health documents often contain complex context, such as exceptions, legal caveats, and jurisdiction-specific rules.
Embeddings and vector search help identify semantically similar content, but retrieval should be tested. Staff should use realistic questions and evaluate whether the system retrieves the best sources. Testing should include synonyms, acronyms, misspellings, role-specific questions, edge cases, and questions that should produce “not found” or escalation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Generation should be constrained by retrieved material. The system should be instructed to answer from sources, cite them, identify uncertainty, and avoid unsupported claims. It should also explain when guidance conflicts or when source material is insufficient. Users should be able to open the cited source and verify key statements.
Monitoring should include retrieval failures, unsupported answers, stale content, user feedback, access-control incidents, and frequently asked questions. Content governance should define how documents are added, removed, updated, archived, and re-indexed.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Stale or conflicting content. Outdated or inconsistent documents can produce wrong answers. Guardrails include content ownership, version control, review dates, and archival rules.
Permission leakage. RAG may retrieve content a user should not see. Guardrails include role-based access, document-level permissions, and audit logs.
Poor retrieval. The system may retrieve irrelevant or incomplete chunks. Guardrails include test question sets, retrieval evaluation, chunking review, and user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Unsupported generation. The model may add claims beyond retrieved sources. Guardrails include source-only instructions, citation requirements, and reviewer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RAG supports generative AI by grounding outputs in defined sources. It may be used in chat assistants, training tools, policy support, emergency operations, procurement review, and program knowledge bases. It can also support agentic workflows by giving agents access to approved guidance, but actions based on retrieved content require additional guardrails.
Public health RAG systems should be built around trust. Users should know what content is included, what is excluded, how current it is, whether they have permission to use it, and when they must verify or escalate.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content collection would the RAG system use?
Who owns and updates each source document?
How will access permissions be enforced?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How will retrieval quality and citation accuracy be tested?
What should the system do when sources are missing, outdated, or conflicting?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RAG readiness checklist for one public health knowledge workflow. Include content inventory, source authority, document owners, update schedule, sensitivity level, access controls, chunking concerns, retrieval test questions, citation requirements, user review expectations, and monitoring indicators.
The checklist should identify at least three “do not answer” or escalation situations, such as missing guidance, conflicting sources, or questions outside approved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RAG readiness checklist
Content inventory and ownership table
Retrieval test question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Citation and source verification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RAG readiness checklist
Content inventory and ownership table
Retrieval test question set
Citation and source verification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RAG?
2. Why does chunking matter?
3. What is a major RAG governance risk?
4. What should a RAG system do when sources are insufficient?
5. What is strong completion evidence for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AI RMF Generative AI Profile: https://www.nist.gov/publications/artificial-intelligence-risk-management-framework-generative-artificial-intelligence
OWASP Top 10 for Large Language Model Applications: https://owasp.org/www-project-top-10-for-large-language-model-applications/
NIST Artificial Intelligence Risk Management Framework: https://www.nist.gov/itl/ai-risk-management-framework
ONC USCDI: https://isp.healthit.gov/united-states-core-data-interoperability-uscdi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300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Retrieval-Augmented Generation for Public Health Knowledge Work</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 set of.</a:t>
            </a:r>
            <a:endParaRPr lang="en-US" sz="2100" dirty="0"/>
          </a:p>
          <a:p>
            <a:r>
              <a:rPr lang="en-US" sz="2100" dirty="0">
                <a:solidFill>
                  <a:srgbClr val="17364A"/>
                </a:solidFill>
                <a:latin typeface="Aptos" pitchFamily="34" charset="0"/>
                <a:ea typeface="Aptos" pitchFamily="34" charset="-122"/>
                <a:cs typeface="Aptos" pitchFamily="34" charset="-120"/>
              </a:rPr>
              <a:t>Instead of relying only on a model’s general training, a RAG system searches approved content and uses retrieved.</a:t>
            </a:r>
            <a:endParaRPr lang="en-US" sz="2100" dirty="0"/>
          </a:p>
          <a:p>
            <a:r>
              <a:rPr lang="en-US" sz="2100" dirty="0">
                <a:solidFill>
                  <a:srgbClr val="17364A"/>
                </a:solidFill>
                <a:latin typeface="Aptos" pitchFamily="34" charset="0"/>
                <a:ea typeface="Aptos" pitchFamily="34" charset="-122"/>
                <a:cs typeface="Aptos" pitchFamily="34" charset="-120"/>
              </a:rPr>
              <a:t>In public health, RAG may support policy lookup, protocol interpretation, internal help desks, training support,.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intermediate/practitioner</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Technical Architecture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analytics-modeling</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12: Execute Governance and Oversight - This lesson informs Play 12 by helping learners connect the.</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16: Incident Response Checklist (Checklist) - Use Incident Response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17: Compliance Audit Checklist (Checklist) - Use Compliance Audit Checklist to translate this lesson.</a:t>
            </a:r>
            <a:endParaRPr lang="en-US" sz="1850" dirty="0"/>
          </a:p>
          <a:p>
            <a:r>
              <a:rPr lang="en-US" sz="1850" dirty="0">
                <a:solidFill>
                  <a:srgbClr val="17364A"/>
                </a:solidFill>
                <a:latin typeface="Aptos" pitchFamily="34" charset="0"/>
                <a:ea typeface="Aptos" pitchFamily="34" charset="-122"/>
                <a:cs typeface="Aptos" pitchFamily="34" charset="-120"/>
              </a:rPr>
              <a:t>Tool 18: Policy Update &amp; Version Control Log (Log)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19: Plain-Language AI Public Notice Template (Template) - Use Plain-Language AI Public Notice Template.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Define retrieval-augmented generation in plain language.</a:t>
            </a:r>
            <a:endParaRPr lang="en-US" sz="2100" dirty="0"/>
          </a:p>
          <a:p>
            <a:r>
              <a:rPr lang="en-US" sz="2100" dirty="0">
                <a:solidFill>
                  <a:srgbClr val="17364A"/>
                </a:solidFill>
                <a:latin typeface="Aptos" pitchFamily="34" charset="0"/>
                <a:ea typeface="Aptos" pitchFamily="34" charset="-122"/>
                <a:cs typeface="Aptos" pitchFamily="34" charset="-120"/>
              </a:rPr>
              <a:t>Describe the major components of a RAG system, including document ingestion, chunking, embeddings,.</a:t>
            </a:r>
            <a:endParaRPr lang="en-US" sz="2100" dirty="0"/>
          </a:p>
          <a:p>
            <a:r>
              <a:rPr lang="en-US" sz="2100" dirty="0">
                <a:solidFill>
                  <a:srgbClr val="17364A"/>
                </a:solidFill>
                <a:latin typeface="Aptos" pitchFamily="34" charset="0"/>
                <a:ea typeface="Aptos" pitchFamily="34" charset="-122"/>
                <a:cs typeface="Aptos" pitchFamily="34" charset="-120"/>
              </a:rPr>
              <a:t>Identify public health use cases where RAG may improve knowledge 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Define retrieval-augmented generation in plain language.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Produce a RAG readiness checklist for a public health knowledge workflow.</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Produce a RAG readiness checklist for a public health knowledge workflow.</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a:t>
            </a:r>
            <a:endParaRPr lang="en-US" sz="2100" dirty="0"/>
          </a:p>
          <a:p>
            <a:r>
              <a:rPr lang="en-US" sz="2100" dirty="0">
                <a:solidFill>
                  <a:srgbClr val="17364A"/>
                </a:solidFill>
                <a:latin typeface="Aptos" pitchFamily="34" charset="0"/>
                <a:ea typeface="Aptos" pitchFamily="34" charset="-122"/>
                <a:cs typeface="Aptos" pitchFamily="34" charset="-120"/>
              </a:rPr>
              <a:t>Instead of relying only on a model’s general training, a RAG system searches approved content and uses.</a:t>
            </a:r>
            <a:endParaRPr lang="en-US" sz="2100" dirty="0"/>
          </a:p>
          <a:p>
            <a:r>
              <a:rPr lang="en-US" sz="2100" dirty="0">
                <a:solidFill>
                  <a:srgbClr val="17364A"/>
                </a:solidFill>
                <a:latin typeface="Aptos" pitchFamily="34" charset="0"/>
                <a:ea typeface="Aptos" pitchFamily="34" charset="-122"/>
                <a:cs typeface="Aptos" pitchFamily="34" charset="-120"/>
              </a:rPr>
              <a:t>In public health, RAG may support policy lookup, protocol interpretation, internal help desks, training.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Retrieval-augmented generation, often called RAG, combines generative AI with retrieval from a defined.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RAG matters because public health agencies manage large collections of guidance, protocols, policies,.</a:t>
            </a:r>
            <a:endParaRPr lang="en-US" sz="2100" dirty="0"/>
          </a:p>
          <a:p>
            <a:r>
              <a:rPr lang="en-US" sz="2100" dirty="0">
                <a:solidFill>
                  <a:srgbClr val="17364A"/>
                </a:solidFill>
                <a:latin typeface="Aptos" pitchFamily="34" charset="0"/>
                <a:ea typeface="Aptos" pitchFamily="34" charset="-122"/>
                <a:cs typeface="Aptos" pitchFamily="34" charset="-120"/>
              </a:rPr>
              <a:t>Staff may spend substantial time searching for answers across shared drives, websites, portals, and.</a:t>
            </a:r>
            <a:endParaRPr lang="en-US" sz="2100" dirty="0"/>
          </a:p>
          <a:p>
            <a:r>
              <a:rPr lang="en-US" sz="2100" dirty="0">
                <a:solidFill>
                  <a:srgbClr val="17364A"/>
                </a:solidFill>
                <a:latin typeface="Aptos" pitchFamily="34" charset="0"/>
                <a:ea typeface="Aptos" pitchFamily="34" charset="-122"/>
                <a:cs typeface="Aptos" pitchFamily="34" charset="-120"/>
              </a:rPr>
              <a:t>A well-designed RAG system can help users find relevant guidance and produce concise, source-linked.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RAG matters because public health agencies manage large collections of guidance, protocols, policies,.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state health department may create an internal RAG assistant to help staff find current infectious.</a:t>
            </a:r>
            <a:endParaRPr lang="en-US" sz="2100" dirty="0"/>
          </a:p>
          <a:p>
            <a:r>
              <a:rPr lang="en-US" sz="2100" dirty="0">
                <a:solidFill>
                  <a:srgbClr val="17364A"/>
                </a:solidFill>
                <a:latin typeface="Aptos" pitchFamily="34" charset="0"/>
                <a:ea typeface="Aptos" pitchFamily="34" charset="-122"/>
                <a:cs typeface="Aptos" pitchFamily="34" charset="-120"/>
              </a:rPr>
              <a:t>The assistant could search approved protocols, case definitions, reporting rules, and escalation.</a:t>
            </a:r>
            <a:endParaRPr lang="en-US" sz="2100" dirty="0"/>
          </a:p>
          <a:p>
            <a:r>
              <a:rPr lang="en-US" sz="2100" dirty="0">
                <a:solidFill>
                  <a:srgbClr val="17364A"/>
                </a:solidFill>
                <a:latin typeface="Aptos" pitchFamily="34" charset="0"/>
                <a:ea typeface="Aptos" pitchFamily="34" charset="-122"/>
                <a:cs typeface="Aptos" pitchFamily="34" charset="-120"/>
              </a:rPr>
              <a:t>When a user asks what steps to take for a suspected condition, the system could summarize relevant.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state health department may create an internal RAG assistant to help staff find current infectious.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RAG system begins with content selection.</a:t>
            </a:r>
            <a:endParaRPr lang="en-US" sz="2100" dirty="0"/>
          </a:p>
          <a:p>
            <a:r>
              <a:rPr lang="en-US" sz="2100" dirty="0">
                <a:solidFill>
                  <a:srgbClr val="17364A"/>
                </a:solidFill>
                <a:latin typeface="Aptos" pitchFamily="34" charset="0"/>
                <a:ea typeface="Aptos" pitchFamily="34" charset="-122"/>
                <a:cs typeface="Aptos" pitchFamily="34" charset="-120"/>
              </a:rPr>
              <a:t>Agencies should decide which documents are authoritative, current, approved for the use case, and.</a:t>
            </a:r>
            <a:endParaRPr lang="en-US" sz="2100" dirty="0"/>
          </a:p>
          <a:p>
            <a:r>
              <a:rPr lang="en-US" sz="2100" dirty="0">
                <a:solidFill>
                  <a:srgbClr val="17364A"/>
                </a:solidFill>
                <a:latin typeface="Aptos" pitchFamily="34" charset="0"/>
                <a:ea typeface="Aptos" pitchFamily="34" charset="-122"/>
                <a:cs typeface="Aptos" pitchFamily="34" charset="-120"/>
              </a:rPr>
              <a:t>Content inventories should include owner, version, effective date, review date, sensitivity level,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RAG system begins with content selection.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Generation should be constrained by retrieved material.</a:t>
            </a:r>
            <a:endParaRPr lang="en-US" sz="2100" dirty="0"/>
          </a:p>
          <a:p>
            <a:r>
              <a:rPr lang="en-US" sz="2100" dirty="0">
                <a:solidFill>
                  <a:srgbClr val="17364A"/>
                </a:solidFill>
                <a:latin typeface="Aptos" pitchFamily="34" charset="0"/>
                <a:ea typeface="Aptos" pitchFamily="34" charset="-122"/>
                <a:cs typeface="Aptos" pitchFamily="34" charset="-120"/>
              </a:rPr>
              <a:t>The system should be instructed to answer from sources, cite them, identify uncertainty, and avoid.</a:t>
            </a:r>
            <a:endParaRPr lang="en-US" sz="2100" dirty="0"/>
          </a:p>
          <a:p>
            <a:r>
              <a:rPr lang="en-US" sz="2100" dirty="0">
                <a:solidFill>
                  <a:srgbClr val="17364A"/>
                </a:solidFill>
                <a:latin typeface="Aptos" pitchFamily="34" charset="0"/>
                <a:ea typeface="Aptos" pitchFamily="34" charset="-122"/>
                <a:cs typeface="Aptos" pitchFamily="34" charset="-120"/>
              </a:rPr>
              <a:t>It should also explain when guidance conflicts or when source material is insufficient.</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Generation should be constrained by retrieved material.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Stale or conflicting content.</a:t>
            </a:r>
            <a:endParaRPr lang="en-US" sz="2100" dirty="0"/>
          </a:p>
          <a:p>
            <a:r>
              <a:rPr lang="en-US" sz="2100" dirty="0">
                <a:solidFill>
                  <a:srgbClr val="17364A"/>
                </a:solidFill>
                <a:latin typeface="Aptos" pitchFamily="34" charset="0"/>
                <a:ea typeface="Aptos" pitchFamily="34" charset="-122"/>
                <a:cs typeface="Aptos" pitchFamily="34" charset="-120"/>
              </a:rPr>
              <a:t>Outdated or inconsistent documents can produce wrong answers.</a:t>
            </a:r>
            <a:endParaRPr lang="en-US" sz="2100" dirty="0"/>
          </a:p>
          <a:p>
            <a:r>
              <a:rPr lang="en-US" sz="2100" dirty="0">
                <a:solidFill>
                  <a:srgbClr val="17364A"/>
                </a:solidFill>
                <a:latin typeface="Aptos" pitchFamily="34" charset="0"/>
                <a:ea typeface="Aptos" pitchFamily="34" charset="-122"/>
                <a:cs typeface="Aptos" pitchFamily="34" charset="-120"/>
              </a:rPr>
              <a:t>Guardrails include content ownership, version control, review dates, and archival rules.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Stale or conflicting content.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Unsupported generation.</a:t>
            </a:r>
            <a:endParaRPr lang="en-US" sz="2100" dirty="0"/>
          </a:p>
          <a:p>
            <a:r>
              <a:rPr lang="en-US" sz="2100" dirty="0">
                <a:solidFill>
                  <a:srgbClr val="17364A"/>
                </a:solidFill>
                <a:latin typeface="Aptos" pitchFamily="34" charset="0"/>
                <a:ea typeface="Aptos" pitchFamily="34" charset="-122"/>
                <a:cs typeface="Aptos" pitchFamily="34" charset="-120"/>
              </a:rPr>
              <a:t>The model may add claims beyond retrieved sources.</a:t>
            </a:r>
            <a:endParaRPr lang="en-US" sz="2100" dirty="0"/>
          </a:p>
          <a:p>
            <a:r>
              <a:rPr lang="en-US" sz="2100" dirty="0">
                <a:solidFill>
                  <a:srgbClr val="17364A"/>
                </a:solidFill>
                <a:latin typeface="Aptos" pitchFamily="34" charset="0"/>
                <a:ea typeface="Aptos" pitchFamily="34" charset="-122"/>
                <a:cs typeface="Aptos" pitchFamily="34" charset="-120"/>
              </a:rPr>
              <a:t>Guardrails include source-only instructions, citation requirements, and reviewer verification.</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Unsupported generation.</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RAG supports generative AI by grounding outputs in defined sources.</a:t>
            </a:r>
            <a:endParaRPr lang="en-US" sz="2100" dirty="0"/>
          </a:p>
          <a:p>
            <a:r>
              <a:rPr lang="en-US" sz="2100" dirty="0">
                <a:solidFill>
                  <a:srgbClr val="17364A"/>
                </a:solidFill>
                <a:latin typeface="Aptos" pitchFamily="34" charset="0"/>
                <a:ea typeface="Aptos" pitchFamily="34" charset="-122"/>
                <a:cs typeface="Aptos" pitchFamily="34" charset="-120"/>
              </a:rPr>
              <a:t>It may be used in chat assistants, training tools, policy support, emergency operations, procurement.</a:t>
            </a:r>
            <a:endParaRPr lang="en-US" sz="2100" dirty="0"/>
          </a:p>
          <a:p>
            <a:r>
              <a:rPr lang="en-US" sz="2100" dirty="0">
                <a:solidFill>
                  <a:srgbClr val="17364A"/>
                </a:solidFill>
                <a:latin typeface="Aptos" pitchFamily="34" charset="0"/>
                <a:ea typeface="Aptos" pitchFamily="34" charset="-122"/>
                <a:cs typeface="Aptos" pitchFamily="34" charset="-120"/>
              </a:rPr>
              <a:t>It can also support agentic workflows by giving agents access to approved guidance, but actions based.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RAG supports generative AI by grounding outputs in defined sources.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content collection would the RAG system use?</a:t>
            </a:r>
            <a:endParaRPr lang="en-US" sz="2100" dirty="0"/>
          </a:p>
          <a:p>
            <a:r>
              <a:rPr lang="en-US" sz="2100" dirty="0">
                <a:solidFill>
                  <a:srgbClr val="17364A"/>
                </a:solidFill>
                <a:latin typeface="Aptos" pitchFamily="34" charset="0"/>
                <a:ea typeface="Aptos" pitchFamily="34" charset="-122"/>
                <a:cs typeface="Aptos" pitchFamily="34" charset="-120"/>
              </a:rPr>
              <a:t>Who owns and updates each source document?</a:t>
            </a:r>
            <a:endParaRPr lang="en-US" sz="2100" dirty="0"/>
          </a:p>
          <a:p>
            <a:r>
              <a:rPr lang="en-US" sz="2100" dirty="0">
                <a:solidFill>
                  <a:srgbClr val="17364A"/>
                </a:solidFill>
                <a:latin typeface="Aptos" pitchFamily="34" charset="0"/>
                <a:ea typeface="Aptos" pitchFamily="34" charset="-122"/>
                <a:cs typeface="Aptos" pitchFamily="34" charset="-120"/>
              </a:rPr>
              <a:t>How will access permissions be enforced?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content collection would the RAG system use?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How will retrieval quality and citation accuracy be tested?</a:t>
            </a:r>
            <a:endParaRPr lang="en-US" sz="2100" dirty="0"/>
          </a:p>
          <a:p>
            <a:r>
              <a:rPr lang="en-US" sz="2100" dirty="0">
                <a:solidFill>
                  <a:srgbClr val="17364A"/>
                </a:solidFill>
                <a:latin typeface="Aptos" pitchFamily="34" charset="0"/>
                <a:ea typeface="Aptos" pitchFamily="34" charset="-122"/>
                <a:cs typeface="Aptos" pitchFamily="34" charset="-120"/>
              </a:rPr>
              <a:t>What should the system do when sources are missing, outdated, or conflicting?</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How will retrieval quality and citation accuracy be tested?</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RAG readiness checklist for one public health knowledge workflow.</a:t>
            </a:r>
            <a:endParaRPr lang="en-US" sz="2100" dirty="0"/>
          </a:p>
          <a:p>
            <a:r>
              <a:rPr lang="en-US" sz="2100" dirty="0">
                <a:solidFill>
                  <a:srgbClr val="17364A"/>
                </a:solidFill>
                <a:latin typeface="Aptos" pitchFamily="34" charset="0"/>
                <a:ea typeface="Aptos" pitchFamily="34" charset="-122"/>
                <a:cs typeface="Aptos" pitchFamily="34" charset="-120"/>
              </a:rPr>
              <a:t>Include content inventory, source authority, document owners, update schedule, sensitivity level,.</a:t>
            </a:r>
            <a:endParaRPr lang="en-US" sz="2100" dirty="0"/>
          </a:p>
          <a:p>
            <a:r>
              <a:rPr lang="en-US" sz="2100" dirty="0">
                <a:solidFill>
                  <a:srgbClr val="17364A"/>
                </a:solidFill>
                <a:latin typeface="Aptos" pitchFamily="34" charset="0"/>
                <a:ea typeface="Aptos" pitchFamily="34" charset="-122"/>
                <a:cs typeface="Aptos" pitchFamily="34" charset="-120"/>
              </a:rPr>
              <a:t>The checklist should identify at least three “do not answer” or escalation situations, such as missing.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RAG readiness checklist for one public health knowledge workflow.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RAG readiness checklist</a:t>
            </a:r>
            <a:endParaRPr lang="en-US" sz="2100" dirty="0"/>
          </a:p>
          <a:p>
            <a:r>
              <a:rPr lang="en-US" sz="2100" dirty="0">
                <a:solidFill>
                  <a:srgbClr val="17364A"/>
                </a:solidFill>
                <a:latin typeface="Aptos" pitchFamily="34" charset="0"/>
                <a:ea typeface="Aptos" pitchFamily="34" charset="-122"/>
                <a:cs typeface="Aptos" pitchFamily="34" charset="-120"/>
              </a:rPr>
              <a:t>Content inventory and ownership table</a:t>
            </a:r>
            <a:endParaRPr lang="en-US" sz="2100" dirty="0"/>
          </a:p>
          <a:p>
            <a:r>
              <a:rPr lang="en-US" sz="2100" dirty="0">
                <a:solidFill>
                  <a:srgbClr val="17364A"/>
                </a:solidFill>
                <a:latin typeface="Aptos" pitchFamily="34" charset="0"/>
                <a:ea typeface="Aptos" pitchFamily="34" charset="-122"/>
                <a:cs typeface="Aptos" pitchFamily="34" charset="-120"/>
              </a:rPr>
              <a:t>Retrieval test question set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RAG readiness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Citation and source verification protocol</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Citation and source verification protocol</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RAG readiness checklist</a:t>
            </a:r>
            <a:endParaRPr lang="en-US" sz="2100" dirty="0"/>
          </a:p>
          <a:p>
            <a:r>
              <a:rPr lang="en-US" sz="2100" dirty="0">
                <a:solidFill>
                  <a:srgbClr val="17364A"/>
                </a:solidFill>
                <a:latin typeface="Aptos" pitchFamily="34" charset="0"/>
                <a:ea typeface="Aptos" pitchFamily="34" charset="-122"/>
                <a:cs typeface="Aptos" pitchFamily="34" charset="-120"/>
              </a:rPr>
              <a:t>Content inventory and ownership table</a:t>
            </a:r>
            <a:endParaRPr lang="en-US" sz="2100" dirty="0"/>
          </a:p>
          <a:p>
            <a:r>
              <a:rPr lang="en-US" sz="2100" dirty="0">
                <a:solidFill>
                  <a:srgbClr val="17364A"/>
                </a:solidFill>
                <a:latin typeface="Aptos" pitchFamily="34" charset="0"/>
                <a:ea typeface="Aptos" pitchFamily="34" charset="-122"/>
                <a:cs typeface="Aptos" pitchFamily="34" charset="-120"/>
              </a:rPr>
              <a:t>Retrieval test question set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RAG readiness checklist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RAG?</a:t>
            </a:r>
            <a:endParaRPr lang="en-US" sz="2100" dirty="0"/>
          </a:p>
          <a:p>
            <a:r>
              <a:rPr lang="en-US" sz="2100" dirty="0">
                <a:solidFill>
                  <a:srgbClr val="17364A"/>
                </a:solidFill>
                <a:latin typeface="Aptos" pitchFamily="34" charset="0"/>
                <a:ea typeface="Aptos" pitchFamily="34" charset="-122"/>
                <a:cs typeface="Aptos" pitchFamily="34" charset="-120"/>
              </a:rPr>
              <a:t>2. Why does chunking matter?</a:t>
            </a:r>
            <a:endParaRPr lang="en-US" sz="2100" dirty="0"/>
          </a:p>
          <a:p>
            <a:r>
              <a:rPr lang="en-US" sz="2100" dirty="0">
                <a:solidFill>
                  <a:srgbClr val="17364A"/>
                </a:solidFill>
                <a:latin typeface="Aptos" pitchFamily="34" charset="0"/>
                <a:ea typeface="Aptos" pitchFamily="34" charset="-122"/>
                <a:cs typeface="Aptos" pitchFamily="34" charset="-120"/>
              </a:rPr>
              <a:t>3. What is a major RAG governance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RAG?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Retrieval-Augmented Generation for Public Health Knowledge Work</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AI RMF Generative AI Profile:.</a:t>
            </a:r>
            <a:endParaRPr lang="en-US" sz="2100" dirty="0"/>
          </a:p>
          <a:p>
            <a:r>
              <a:rPr lang="en-US" sz="2100" dirty="0">
                <a:solidFill>
                  <a:srgbClr val="17364A"/>
                </a:solidFill>
                <a:latin typeface="Aptos" pitchFamily="34" charset="0"/>
                <a:ea typeface="Aptos" pitchFamily="34" charset="-122"/>
                <a:cs typeface="Aptos" pitchFamily="34" charset="-120"/>
              </a:rPr>
              <a:t>OWASP Top 10 for Large Language Model Applications:.</a:t>
            </a:r>
            <a:endParaRPr lang="en-US" sz="2100" dirty="0"/>
          </a:p>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AI RMF Generative AI Profile:.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Retrieval-Augmented Generation for Public Health Knowledge Work</dc:title>
  <dc:subject>Retrieval-Augmented Generation for Public Health Knowledge Work learning module</dc:subject>
  <dc:creator>Paula Soper</dc:creator>
  <cp:lastModifiedBy>Paula Soper</cp:lastModifiedBy>
  <cp:revision>1</cp:revision>
  <dcterms:created xsi:type="dcterms:W3CDTF">2026-07-12T19:55:20Z</dcterms:created>
  <dcterms:modified xsi:type="dcterms:W3CDTF">2026-07-12T19:55:20Z</dcterms:modified>
</cp:coreProperties>
</file>