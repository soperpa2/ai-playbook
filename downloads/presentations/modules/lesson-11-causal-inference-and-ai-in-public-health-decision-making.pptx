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 what action.</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 as evidence.</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 graphs,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epidemiology, policy,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correlation and prediction do not establish causation.</a:t>
            </a:r>
            <a:endParaRPr lang="en-US" sz="2100" dirty="0"/>
          </a:p>
          <a:p>
            <a:r>
              <a:rPr lang="en-US" sz="2100" dirty="0">
                <a:solidFill>
                  <a:srgbClr val="17364A"/>
                </a:solidFill>
                <a:latin typeface="Aptos" pitchFamily="34" charset="0"/>
                <a:ea typeface="Aptos" pitchFamily="34" charset="-122"/>
                <a:cs typeface="Aptos" pitchFamily="34" charset="-120"/>
              </a:rPr>
              <a:t>Identify confounding, selection bias, collider bias, and temporal ambiguity in public health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2100" dirty="0"/>
          </a:p>
          <a:p>
            <a:r>
              <a:rPr lang="en-US" sz="2100" dirty="0">
                <a:solidFill>
                  <a:srgbClr val="17364A"/>
                </a:solidFill>
                <a:latin typeface="Aptos" pitchFamily="34" charset="0"/>
                <a:ea typeface="Aptos" pitchFamily="34" charset="-122"/>
                <a:cs typeface="Aptos" pitchFamily="34" charset="-120"/>
              </a:rPr>
              <a:t>Causal inference: The process of estimating whether and how an exposure, policy, program, or.</a:t>
            </a:r>
            <a:endParaRPr lang="en-US" sz="2100" dirty="0"/>
          </a:p>
          <a:p>
            <a:r>
              <a:rPr lang="en-US" sz="2100" dirty="0">
                <a:solidFill>
                  <a:srgbClr val="17364A"/>
                </a:solidFill>
                <a:latin typeface="Aptos" pitchFamily="34" charset="0"/>
                <a:ea typeface="Aptos" pitchFamily="34" charset="-122"/>
                <a:cs typeface="Aptos" pitchFamily="34" charset="-120"/>
              </a:rPr>
              <a:t>Confounding: A distortion that occurs when another factor is related to both the exposure and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make weak evidence appear stronger than it is.</a:t>
            </a:r>
            <a:endParaRPr lang="en-US" sz="2100" dirty="0"/>
          </a:p>
          <a:p>
            <a:r>
              <a:rPr lang="en-US" sz="2100" dirty="0">
                <a:solidFill>
                  <a:srgbClr val="17364A"/>
                </a:solidFill>
                <a:latin typeface="Aptos" pitchFamily="34" charset="0"/>
                <a:ea typeface="Aptos" pitchFamily="34" charset="-122"/>
                <a:cs typeface="Aptos" pitchFamily="34" charset="-120"/>
              </a:rPr>
              <a:t>A model may predict which communities have higher hospitalization risk, but that does not prove which.</a:t>
            </a:r>
            <a:endParaRPr lang="en-US" sz="2100" dirty="0"/>
          </a:p>
          <a:p>
            <a:r>
              <a:rPr lang="en-US" sz="2100" dirty="0">
                <a:solidFill>
                  <a:srgbClr val="17364A"/>
                </a:solidFill>
                <a:latin typeface="Aptos" pitchFamily="34" charset="0"/>
                <a:ea typeface="Aptos" pitchFamily="34" charset="-122"/>
                <a:cs typeface="Aptos" pitchFamily="34" charset="-120"/>
              </a:rPr>
              <a:t>A model may find that people who receive a service have better outcomes, but that pattern may reflect.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make weak evidence appear stronger than it 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2100" dirty="0"/>
          </a:p>
          <a:p>
            <a:r>
              <a:rPr lang="en-US" sz="2100" dirty="0">
                <a:solidFill>
                  <a:srgbClr val="17364A"/>
                </a:solidFill>
                <a:latin typeface="Aptos" pitchFamily="34" charset="0"/>
                <a:ea typeface="Aptos" pitchFamily="34" charset="-122"/>
                <a:cs typeface="Aptos" pitchFamily="34" charset="-120"/>
              </a:rPr>
              <a:t>The model may help target outreach, but it does not prove why coverage is low or which outreach.</a:t>
            </a:r>
            <a:endParaRPr lang="en-US" sz="2100" dirty="0"/>
          </a:p>
          <a:p>
            <a:r>
              <a:rPr lang="en-US" sz="2100" dirty="0">
                <a:solidFill>
                  <a:srgbClr val="17364A"/>
                </a:solidFill>
                <a:latin typeface="Aptos" pitchFamily="34" charset="0"/>
                <a:ea typeface="Aptos" pitchFamily="34" charset="-122"/>
                <a:cs typeface="Aptos" pitchFamily="34" charset="-120"/>
              </a:rPr>
              <a:t>If leaders want to know whether mobile clinics, reminder messages, school partnerships, or community.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inference begins with a clearly framed question.</a:t>
            </a:r>
            <a:endParaRPr lang="en-US" sz="2100" dirty="0"/>
          </a:p>
          <a:p>
            <a:r>
              <a:rPr lang="en-US" sz="2100" dirty="0">
                <a:solidFill>
                  <a:srgbClr val="17364A"/>
                </a:solidFill>
                <a:latin typeface="Aptos" pitchFamily="34" charset="0"/>
                <a:ea typeface="Aptos" pitchFamily="34" charset="-122"/>
                <a:cs typeface="Aptos" pitchFamily="34" charset="-120"/>
              </a:rPr>
              <a:t>A useful structure is: among which population, what is the intervention or exposure, what is the.</a:t>
            </a:r>
            <a:endParaRPr lang="en-US" sz="2100" dirty="0"/>
          </a:p>
          <a:p>
            <a:r>
              <a:rPr lang="en-US" sz="2100" dirty="0">
                <a:solidFill>
                  <a:srgbClr val="17364A"/>
                </a:solidFill>
                <a:latin typeface="Aptos" pitchFamily="34" charset="0"/>
                <a:ea typeface="Aptos" pitchFamily="34" charset="-122"/>
                <a:cs typeface="Aptos" pitchFamily="34" charset="-120"/>
              </a:rPr>
              <a:t>Without this structure, teams may ask a model to answer a question that the available data cannot.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inference begins with a clearly framed question.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main failure mode is causal overreach.</a:t>
            </a:r>
            <a:endParaRPr lang="en-US" sz="2100" dirty="0"/>
          </a:p>
          <a:p>
            <a:r>
              <a:rPr lang="en-US" sz="2100" dirty="0">
                <a:solidFill>
                  <a:srgbClr val="17364A"/>
                </a:solidFill>
                <a:latin typeface="Aptos" pitchFamily="34" charset="0"/>
                <a:ea typeface="Aptos" pitchFamily="34" charset="-122"/>
                <a:cs typeface="Aptos" pitchFamily="34" charset="-120"/>
              </a:rPr>
              <a:t>A dashboard or AI report may state that a program reduced disease, improved access, or changed behavior.</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causal language review before results are used in reports, funding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main failure mode is causal overreach.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2100" dirty="0"/>
          </a:p>
          <a:p>
            <a:r>
              <a:rPr lang="en-US" sz="2100" dirty="0">
                <a:solidFill>
                  <a:srgbClr val="17364A"/>
                </a:solidFill>
                <a:latin typeface="Aptos" pitchFamily="34" charset="0"/>
                <a:ea typeface="Aptos" pitchFamily="34" charset="-122"/>
                <a:cs typeface="Aptos" pitchFamily="34" charset="-120"/>
              </a:rPr>
              <a:t>Generative AI may help draft evaluation questions or summarize literature, but humans must verify.</a:t>
            </a:r>
            <a:endParaRPr lang="en-US" sz="2100" dirty="0"/>
          </a:p>
          <a:p>
            <a:r>
              <a:rPr lang="en-US" sz="2100" dirty="0">
                <a:solidFill>
                  <a:srgbClr val="17364A"/>
                </a:solidFill>
                <a:latin typeface="Aptos" pitchFamily="34" charset="0"/>
                <a:ea typeface="Aptos" pitchFamily="34" charset="-122"/>
                <a:cs typeface="Aptos" pitchFamily="34" charset="-120"/>
              </a:rPr>
              <a:t>AI-supported decision-making should label outputs clearly as prediction, association, causal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2100" dirty="0"/>
          </a:p>
          <a:p>
            <a:r>
              <a:rPr lang="en-US" sz="2100" dirty="0">
                <a:solidFill>
                  <a:srgbClr val="17364A"/>
                </a:solidFill>
                <a:latin typeface="Aptos" pitchFamily="34" charset="0"/>
                <a:ea typeface="Aptos" pitchFamily="34" charset="-122"/>
                <a:cs typeface="Aptos" pitchFamily="34" charset="-120"/>
              </a:rPr>
              <a:t>Which decisions require knowing what intervention will change an outcome?</a:t>
            </a:r>
            <a:endParaRPr lang="en-US" sz="2100" dirty="0"/>
          </a:p>
          <a:p>
            <a:r>
              <a:rPr lang="en-US" sz="2100" dirty="0">
                <a:solidFill>
                  <a:srgbClr val="17364A"/>
                </a:solidFill>
                <a:latin typeface="Aptos" pitchFamily="34" charset="0"/>
                <a:ea typeface="Aptos" pitchFamily="34" charset="-122"/>
                <a:cs typeface="Aptos" pitchFamily="34" charset="-120"/>
              </a:rPr>
              <a:t>What confounders are likely in your program area?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comparison group could support evaluation?</a:t>
            </a:r>
            <a:endParaRPr lang="en-US" sz="2100" dirty="0"/>
          </a:p>
          <a:p>
            <a:r>
              <a:rPr lang="en-US" sz="2100" dirty="0">
                <a:solidFill>
                  <a:srgbClr val="17364A"/>
                </a:solidFill>
                <a:latin typeface="Aptos" pitchFamily="34" charset="0"/>
                <a:ea typeface="Aptos" pitchFamily="34" charset="-122"/>
                <a:cs typeface="Aptos" pitchFamily="34" charset="-120"/>
              </a:rPr>
              <a:t>Who should review causal claims before public release?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comparison group could support evaluation?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a:p>
            <a:r>
              <a:rPr lang="en-US" sz="2100" dirty="0">
                <a:solidFill>
                  <a:srgbClr val="17364A"/>
                </a:solidFill>
                <a:latin typeface="Aptos" pitchFamily="34" charset="0"/>
                <a:ea typeface="Aptos" pitchFamily="34" charset="-122"/>
                <a:cs typeface="Aptos" pitchFamily="34" charset="-120"/>
              </a:rPr>
              <a:t>Identify the population, intervention or exposure, comparison, outcome, time period, likely.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2026-07-12T19:24:26Z</dcterms:created>
  <dcterms:modified xsi:type="dcterms:W3CDTF">2026-07-12T19:24:26Z</dcterms:modified>
</cp:coreProperties>
</file>