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 300 AI for Case Investigation and Outbreak Response
Case investigation and outbreak response are high-pressure public health workflows that depend on timely information, structured judgment, coordination, documentation, and community trust. AI may support these workflows by summarizing case records, extracting exposures, identifying missing information, prioritizing review, detecting clusters, drafting situation updates, or organizing response tasks. At the same time, errors can affect real people, public health action, and public confidence. This module teaches epidemiologists, informaticians, and response teams how to evaluate and use AI-supported tools in case investigation and outbreak response. The focus is on support, not replacement. AI can help staff work faster and more consistently, but public health judgment, legal authority, and human accountability remain central. Responsible use requires careful attention to data quality, source traceability, sensitivity, uncertainty, equity, escalation, and documentation. AI should help investigators see relevant information more clearly, not hide assumptions or convert uncertain signals into unsupported conclusions.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intermediate/practitioner
Primary track: Epidemiology Role-Based Track
Appears in tracks: epidemiology, operations-and-data-quality, technical-architecture, public-health-executive-leadership
Case investigation and outbreak response are high-pressure public health workflows that depend on timely information, structured judgment, coordination, documentation, and community trust. AI may support these workflows by summarizing case records, extracting exposures, identifying missing information, prioritizing review, detecting clusters, drafting situation updates, or organizing response tasks. At the same time, errors can affect real people, public health action, and public confidence. This module teaches epidemiologists, informaticians, and response teams how to evaluate and use AI-supported tools in case investigation and outbreak response. The focus is on support, not replacement. AI can help staff work faster and more consistently, but public health judgment, legal authority, and human accountability remain central. Responsible use requires careful attention to data quality, source traceability, sensitivity, uncertainty, equity, escalation, and documentation. AI should help investigators see relevant information more clearly, not hide assumptions or convert uncertain signals into unsupported conclusions.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7: Prioritize Use Cases - This lesson informs Play 7 by helping learners connect the lesson topic to prioritize use cases work in the AI Playbook sequence.
Play 11: Build and Deploy AI Solutions - This lesson informs Play 11 by helping learners connect the lesson topic to build and deploy ai solutions work in the AI Playbook.
Play 1: Vision &amp; Guardrails - This lesson informs Play 1 by helping learners connect the lesson topic to vision &amp; guardrails work in the AI Playbook sequence.
Play 2: Readiness Assessment - This lesson informs Play 2 by helping learners connect the lesson topic to readiness assessment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3: Equity Impact Assessment Checklist (Checklist) - Use this tool to complete or strengthen the practical exercise for the module using fictional, de-identified, or generalized.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Identify case investigation and outbreak response tasks that AI may support.
Distinguish between AI-supported triage, summarization, extraction, signal detection, and decision-making.
Assess data quality, timeliness, source traceability, and equity risks in AI-supported response workflows.
Define human review, escalation, and documentation expectations for AI outputs.
Create an AI-supported case investigation or outbreak response workflow review.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Case investigation and outbreak response are high-pressure public health workflows that depend on timely information, structured judgment, coordination, documentation, and community trust. AI may support these workflows by summarizing case records, extracting exposures, identifying missing information, prioritizing review, detecting clusters, drafting situation updates, or organizing response tasks. At the same time, errors can affect real people, public health action, and public confidence.
This module teaches epidemiologists, informaticians, and response teams how to evaluate and use AI-supported tools in case investigation and outbreak response. The focus is on support, not replacement. AI can help staff work faster and more consistently, but public health judgment, legal authority, and human accountability remain central.
Responsible use requires careful attention to data quality, source traceability, sensitivity, uncertainty, equity, escalation, and documentation. AI should help investigators see relevant information more clearly, not hide assumptions or convert uncertain signals into unsupported conclusions.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national-level module is intended for training and planning purposes. It does not replace legal, privacy, procurement, civil rights, records, or agency policy review. Learners should confirm applicable requirements in their own jurisdiction and organization before implementing AI-supported workflows.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During a foodborne illness investigation, AI is used to summarize interview notes and extract possible exposures. Investigators compare the extracted exposures to original notes, review uncertain or conflicting information, and document final interpretations. The tool helps reduce manual review time, but it does not determine the outbreak source or issue public recommendations without epidemiologist review.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Deep Dive
AI can support case investigation by reducing the burden of reviewing large volumes of information. Natural language processing and generative AI may help summarize case notes, identify missing fields, extract dates and exposures, or draft follow-up questions. These tasks are appropriate only when outputs are traceable to source material and investigators can correct errors before the information is used.
Outbreak response may involve signal detection, anomaly review, geospatial patterns, laboratory results, syndromic surveillance, community reports, and partner communications. AI can help identify patterns or organize information, but it can also generate false signals or miss subtle context. A signal should trigger epidemiologic review, not automatic public health action.
Data quality is especially important during response. Early outbreak data are often incomplete, changing, biased toward reported cases, and uneven across communities. AI tools may overstate certainty if they do not represent missingness and uncertainty clearly. Response teams should document what data are preliminary, what assumptions are being made, and what additional investigation is needed.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Deep Dive
Equity considerations should be explicit. Some communities may be less likely to seek care, be tested, respond to interviews, speak English, have stable contact information, or appear in digital datasets. AI-supported prioritization must not systematically deprioritize people or communities because the data available about them are incomplete.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Risks and failure modes include the following:
AI summaries omitting uncertainty or unsupported details.
False outbreak signals creating unnecessary response or public concern.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Missed signals because some communities are underrepresented in data.
Automated prioritization replacing epidemiologic judgment.
Sensitive investigation information being used in unapproved tools.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Recommended guardrails include the following:
Require source traceability for summaries and extracted information.
Use AI outputs as prompts for review, not automatic conclusions.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Document uncertainty, missing data, and preliminary status.
Apply equity review to prioritization and signal detection workflows.
Define escalation to epidemiology leadership for unusual, high-risk, or public-facing outputs.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Where does this topic appear in your agency, program, or workflow?
Which staff roles would need to understand or apply this concept before AI use is approved?
What could go wrong if this topic is not addressed before implementation?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evidence would governance, leadership, or operations staff need before moving forward?
Which policy, data, equity, privacy, security, or workflow questions remain unresolved?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an AI-supported case investigation or outbreak response workflow review. Include the supported task, data sources, AI output, source traceability, human review point, uncertainty documentation, equity risks, escalation triggers, and monitoring indicators.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Case investigation or outbreak response workflow review
Source traceability checklist
Uncertainty and missing data documentation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Equity and escalation review
Monitoring indicators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Case investigation or outbreak response workflow review
Source traceability checklist
Uncertainty and missing data documentation
Equity and escalation review
Monitoring indicators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should AI outputs do in case investigation?
2. What is an outbreak signal?
3. Why is uncertainty documentation important during response?
4. Which guardrail is appropriate for AI-extracted exposures?
5. What is strong completion evidence?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Artificial Intelligence Risk Management Framework: https://www.nist.gov/itl/ai-risk-management-framework
NIST Generative AI Profile: https://www.nist.gov/publications/artificial-intelligence-risk-management-framework-generative-artificial-intelligence
CDC Public Health Data Strategy and Data Modernization resources: https://www.cdc.gov/public-health-data-strategy/php/about/index.html
OWASP guidance for LLM application security
Agency policies for privacy, cybersecurity, records, procurement, accessibility, and public communications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Relevant public health program SOPs, data governance documentation, and implementation plans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EPI 300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AI for Case Investigation and Outbreak Response</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Case Investigation and Outbreak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Case investigation and outbreak response are high-pressure public health workflows that depend.</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AI may support these workflows by summarizing case records, extracting exposures, identifying.</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At the same time, errors can affect real people, public health action, and public confidence.</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892808"/>
            <a:ext cx="2825496" cy="135331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Level: intermediate/practitioner Primary track: Epidemiology Role-Based Track Appears in tracks: epidemiology, operations-and-data-quality, technical-architecture, public-health-executive-leadership</a:t>
            </a:r>
            <a:endParaRPr lang="en-US" sz="1320" dirty="0"/>
          </a:p>
        </p:txBody>
      </p:sp>
      <p:sp>
        <p:nvSpPr>
          <p:cNvPr id="13" name="Shape 11"/>
          <p:cNvSpPr/>
          <p:nvPr/>
        </p:nvSpPr>
        <p:spPr>
          <a:xfrm>
            <a:off x="7909560" y="3675888"/>
            <a:ext cx="3154680" cy="1691640"/>
          </a:xfrm>
          <a:prstGeom prst="roundRect">
            <a:avLst>
              <a:gd name="adj" fmla="val 6486"/>
            </a:avLst>
          </a:prstGeom>
          <a:solidFill>
            <a:srgbClr val="FFFFFF"/>
          </a:solidFill>
          <a:ln w="12700">
            <a:solidFill>
              <a:srgbClr val="B9D7E6"/>
            </a:solidFill>
            <a:prstDash val="solid"/>
          </a:ln>
        </p:spPr>
      </p:sp>
      <p:sp>
        <p:nvSpPr>
          <p:cNvPr id="14" name="Text 12"/>
          <p:cNvSpPr/>
          <p:nvPr/>
        </p:nvSpPr>
        <p:spPr>
          <a:xfrm>
            <a:off x="8074152" y="3822192"/>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Learning sequence</a:t>
            </a:r>
            <a:endParaRPr lang="en-US" sz="1300" dirty="0"/>
          </a:p>
        </p:txBody>
      </p:sp>
      <p:sp>
        <p:nvSpPr>
          <p:cNvPr id="15" name="Text 13"/>
          <p:cNvSpPr/>
          <p:nvPr/>
        </p:nvSpPr>
        <p:spPr>
          <a:xfrm>
            <a:off x="8092440" y="4187952"/>
            <a:ext cx="2770632" cy="1033272"/>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Read the module for shared vocabulary and context.</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Complete the practical exercise to apply the concept.</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Use the notes and references for deeper review.</a:t>
            </a:r>
            <a:endParaRPr lang="en-US" sz="12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Case Investigation and Outbreak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1016" tIns="1016" rIns="1016" bIns="1016" rtlCol="0" anchor="t">
            <a:normAutofit/>
          </a:bodyPr>
          <a:lstStyle/>
          <a:p>
            <a:pPr indent="0" marL="0">
              <a:buNone/>
            </a:pPr>
            <a:r>
              <a:rPr lang="en-US" sz="1900" dirty="0">
                <a:solidFill>
                  <a:srgbClr val="003A63"/>
                </a:solidFill>
                <a:latin typeface="Aptos" pitchFamily="34" charset="0"/>
                <a:ea typeface="Aptos" pitchFamily="34" charset="-122"/>
                <a:cs typeface="Aptos" pitchFamily="34" charset="-120"/>
              </a:rPr>
              <a:t>• Play 7: Prioritize Use Cases - This lesson informs Play 7 by helping learners connect the.</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11: Build and Deploy AI Solutions - This lesson informs Play 11 by helping learners.</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1: Vision &amp; Guardrails - This lesson informs Play 1 by helping learners connect the.</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2: Readiness Assessment - This lesson informs Play 2 by helping learners connect the.</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892808"/>
            <a:ext cx="2734056" cy="153619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32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4106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play links to</a:t>
            </a:r>
            <a:endParaRPr lang="en-US" sz="1300" dirty="0"/>
          </a:p>
        </p:txBody>
      </p:sp>
      <p:sp>
        <p:nvSpPr>
          <p:cNvPr id="15" name="Text 13"/>
          <p:cNvSpPr/>
          <p:nvPr/>
        </p:nvSpPr>
        <p:spPr>
          <a:xfrm>
            <a:off x="8229600" y="4306824"/>
            <a:ext cx="2679192" cy="941832"/>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Locate the decision point in the playbook sequence.</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Identify who should participate in the work.</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Document the review, approval, or implementation step.</a:t>
            </a:r>
            <a:endParaRPr lang="en-US" sz="12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Case Investigation and Outbreak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1016" tIns="1016" rIns="1016" bIns="1016" rtlCol="0" anchor="t">
            <a:normAutofit/>
          </a:bodyPr>
          <a:lstStyle/>
          <a:p>
            <a:pPr indent="0" marL="0">
              <a:buNone/>
            </a:pPr>
            <a:r>
              <a:rPr lang="en-US" sz="1850" dirty="0">
                <a:solidFill>
                  <a:srgbClr val="003A63"/>
                </a:solidFill>
                <a:latin typeface="Aptos" pitchFamily="34" charset="0"/>
                <a:ea typeface="Aptos" pitchFamily="34" charset="-122"/>
                <a:cs typeface="Aptos" pitchFamily="34" charset="-120"/>
              </a:rPr>
              <a:t>• Tool 3: Equity Impact Assessment Checklist (Checklist) - Use this tool to complete or.</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4: AI Policy Landscape Scan (Worksheet) - Use AI Policy Landscape Scan to translate this.</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5: AI Environmental and Resource Impact Review (Checklist) - Use AI Environmental and.</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6: Human-Centered AI Decision Rule Checklist (Checklist) - Use Human-Centered AI Decision.</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892808"/>
            <a:ext cx="2734056" cy="153619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32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4106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Tool selection cues</a:t>
            </a:r>
            <a:endParaRPr lang="en-US" sz="1300" dirty="0"/>
          </a:p>
        </p:txBody>
      </p:sp>
      <p:sp>
        <p:nvSpPr>
          <p:cNvPr id="15" name="Text 13"/>
          <p:cNvSpPr/>
          <p:nvPr/>
        </p:nvSpPr>
        <p:spPr>
          <a:xfrm>
            <a:off x="8229600" y="4306824"/>
            <a:ext cx="2679192" cy="941832"/>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a tool when no comparable local process exists.</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Adapt existing department templates when they already fit the.</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Save the completed artifact as evidence of the decision.</a:t>
            </a:r>
            <a:endParaRPr lang="en-US" sz="12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Case Investigation and Outbreak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Identify case investigation and outbreak response tasks that AI may support.</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Distinguish between AI-supported triage, summarization, extraction, signal detection, and.</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Assess data quality, timeliness, source traceability, and equity risks in AI-supported response.</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Practice focus</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Identify case investigation and outbreak response tasks that AI may support.</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Distinguish between AI-supported triage, summarization,.</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Assess data quality, timeliness, source traceability, and equity.</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Define human review, escalation, and documentation expectations.</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produce</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3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Case Investigation and Outbreak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Case investigation and outbreak response are high-pressure public health workflows that depend.</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AI may support these workflows by summarizing case records, extracting exposures, identifying.</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At the same time, errors can affect real people, public health action, and public confidence.</a:t>
            </a:r>
            <a:endParaRPr lang="en-US" sz="2100" dirty="0"/>
          </a:p>
        </p:txBody>
      </p:sp>
      <p:sp>
        <p:nvSpPr>
          <p:cNvPr id="10" name="Shape 8"/>
          <p:cNvSpPr/>
          <p:nvPr/>
        </p:nvSpPr>
        <p:spPr>
          <a:xfrm>
            <a:off x="7635240" y="1325880"/>
            <a:ext cx="3474720" cy="1255471"/>
          </a:xfrm>
          <a:prstGeom prst="roundRect">
            <a:avLst>
              <a:gd name="adj" fmla="val 8740"/>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Core concept</a:t>
            </a:r>
            <a:endParaRPr lang="en-US" sz="1300" dirty="0"/>
          </a:p>
        </p:txBody>
      </p:sp>
      <p:sp>
        <p:nvSpPr>
          <p:cNvPr id="12" name="Text 10"/>
          <p:cNvSpPr/>
          <p:nvPr/>
        </p:nvSpPr>
        <p:spPr>
          <a:xfrm>
            <a:off x="7799832" y="1801368"/>
            <a:ext cx="3145536" cy="688543"/>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Case investigation and outbreak response are high-pressure public health workflows that depend on.</a:t>
            </a:r>
            <a:endParaRPr lang="en-US" sz="1320" dirty="0"/>
          </a:p>
        </p:txBody>
      </p:sp>
      <p:sp>
        <p:nvSpPr>
          <p:cNvPr id="13" name="Shape 11"/>
          <p:cNvSpPr/>
          <p:nvPr/>
        </p:nvSpPr>
        <p:spPr>
          <a:xfrm>
            <a:off x="7635240" y="2718511"/>
            <a:ext cx="3474720" cy="1328623"/>
          </a:xfrm>
          <a:prstGeom prst="roundRect">
            <a:avLst>
              <a:gd name="adj" fmla="val 8259"/>
            </a:avLst>
          </a:prstGeom>
          <a:solidFill>
            <a:srgbClr val="FFFFFF"/>
          </a:solidFill>
          <a:ln w="12700">
            <a:solidFill>
              <a:srgbClr val="B9D7E6"/>
            </a:solidFill>
            <a:prstDash val="solid"/>
          </a:ln>
        </p:spPr>
      </p:sp>
      <p:sp>
        <p:nvSpPr>
          <p:cNvPr id="14" name="Text 12"/>
          <p:cNvSpPr/>
          <p:nvPr/>
        </p:nvSpPr>
        <p:spPr>
          <a:xfrm>
            <a:off x="7799832" y="2864815"/>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230575"/>
            <a:ext cx="3090672" cy="670255"/>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Case investigation and outbreak response are high-pressure public.</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AI may support these workflows by summarizing case records,.</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This module teaches epidemiologists, informaticians, and response.</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it</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 department should take.</a:t>
            </a:r>
            <a:endParaRPr lang="en-US" sz="13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Case Investigation and Outbreak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This national-level module is intended for training and planning purposes.</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It does not replace legal, privacy, procurement, civil rights, records, or agency policy review.</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Learners should confirm applicable requirements in their own jurisdiction and organization.</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This national-level module is intended for training and planning purposes.</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798064"/>
            <a:ext cx="3145536" cy="237744"/>
          </a:xfrm>
          <a:prstGeom prst="rect">
            <a:avLst/>
          </a:prstGeom>
          <a:noFill/>
          <a:ln/>
        </p:spPr>
        <p:txBody>
          <a:bodyPr wrap="square" lIns="0" tIns="0" rIns="0" bIns="0" rtlCol="0" anchor="ctr"/>
          <a:lstStyle/>
          <a:p>
            <a:pPr indent="0" marL="0">
              <a:buNone/>
            </a:pPr>
            <a:r>
              <a:rPr lang="en-US" sz="1250" b="1" dirty="0">
                <a:solidFill>
                  <a:srgbClr val="0068B7"/>
                </a:solidFill>
                <a:latin typeface="Aptos" pitchFamily="34" charset="0"/>
                <a:ea typeface="Aptos" pitchFamily="34" charset="-122"/>
                <a:cs typeface="Aptos" pitchFamily="34" charset="-120"/>
              </a:rPr>
              <a:t>Governance pathway</a:t>
            </a:r>
            <a:endParaRPr lang="en-US" sz="1250" dirty="0"/>
          </a:p>
        </p:txBody>
      </p:sp>
      <p:sp>
        <p:nvSpPr>
          <p:cNvPr id="15" name="Shape 13"/>
          <p:cNvSpPr/>
          <p:nvPr/>
        </p:nvSpPr>
        <p:spPr>
          <a:xfrm>
            <a:off x="8763000" y="3351276"/>
            <a:ext cx="164592" cy="0"/>
          </a:xfrm>
          <a:prstGeom prst="line">
            <a:avLst/>
          </a:prstGeom>
          <a:noFill/>
          <a:ln w="15240">
            <a:solidFill>
              <a:srgbClr val="8ABBD8"/>
            </a:solidFill>
            <a:prstDash val="solid"/>
          </a:ln>
        </p:spPr>
      </p:sp>
      <p:sp>
        <p:nvSpPr>
          <p:cNvPr id="16" name="Shape 14"/>
          <p:cNvSpPr/>
          <p:nvPr/>
        </p:nvSpPr>
        <p:spPr>
          <a:xfrm>
            <a:off x="7872984" y="3200400"/>
            <a:ext cx="89001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909560" y="3273552"/>
            <a:ext cx="81686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Submit</a:t>
            </a:r>
            <a:endParaRPr lang="en-US" sz="880" dirty="0"/>
          </a:p>
        </p:txBody>
      </p:sp>
      <p:sp>
        <p:nvSpPr>
          <p:cNvPr id="18" name="Shape 16"/>
          <p:cNvSpPr/>
          <p:nvPr/>
        </p:nvSpPr>
        <p:spPr>
          <a:xfrm>
            <a:off x="9817608" y="3351276"/>
            <a:ext cx="164592" cy="0"/>
          </a:xfrm>
          <a:prstGeom prst="line">
            <a:avLst/>
          </a:prstGeom>
          <a:noFill/>
          <a:ln w="15240">
            <a:solidFill>
              <a:srgbClr val="8ABBD8"/>
            </a:solidFill>
            <a:prstDash val="solid"/>
          </a:ln>
        </p:spPr>
      </p:sp>
      <p:sp>
        <p:nvSpPr>
          <p:cNvPr id="19" name="Shape 17"/>
          <p:cNvSpPr/>
          <p:nvPr/>
        </p:nvSpPr>
        <p:spPr>
          <a:xfrm>
            <a:off x="8927592" y="3200400"/>
            <a:ext cx="89001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64168" y="3273552"/>
            <a:ext cx="81686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Review</a:t>
            </a:r>
            <a:endParaRPr lang="en-US" sz="880" dirty="0"/>
          </a:p>
        </p:txBody>
      </p:sp>
      <p:sp>
        <p:nvSpPr>
          <p:cNvPr id="21" name="Shape 19"/>
          <p:cNvSpPr/>
          <p:nvPr/>
        </p:nvSpPr>
        <p:spPr>
          <a:xfrm>
            <a:off x="9982200" y="3200400"/>
            <a:ext cx="89001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273552"/>
            <a:ext cx="81686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Oversee</a:t>
            </a:r>
            <a:endParaRPr lang="en-US" sz="880" dirty="0"/>
          </a:p>
        </p:txBody>
      </p:sp>
      <p:sp>
        <p:nvSpPr>
          <p:cNvPr id="23" name="Text 21"/>
          <p:cNvSpPr/>
          <p:nvPr/>
        </p:nvSpPr>
        <p:spPr>
          <a:xfrm>
            <a:off x="7854696" y="3694176"/>
            <a:ext cx="3035808" cy="206654"/>
          </a:xfrm>
          <a:prstGeom prst="rect">
            <a:avLst/>
          </a:prstGeom>
          <a:noFill/>
          <a:ln/>
        </p:spPr>
        <p:txBody>
          <a:bodyPr wrap="square" lIns="254" tIns="254" rIns="254" bIns="254" rtlCol="0" anchor="t">
            <a:normAutofit/>
          </a:bodyPr>
          <a:lstStyle/>
          <a:p>
            <a:pPr indent="0" marL="0">
              <a:buNone/>
            </a:pPr>
            <a:r>
              <a:rPr lang="en-US" sz="1120" dirty="0">
                <a:solidFill>
                  <a:srgbClr val="17364A"/>
                </a:solidFill>
                <a:latin typeface="Aptos" pitchFamily="34" charset="0"/>
                <a:ea typeface="Aptos" pitchFamily="34" charset="-122"/>
                <a:cs typeface="Aptos" pitchFamily="34" charset="-120"/>
              </a:rPr>
              <a:t>A proposed AI use should move through documented review before it becomes an operational workflow.</a:t>
            </a:r>
            <a:endParaRPr lang="en-US" sz="1120" dirty="0"/>
          </a:p>
        </p:txBody>
      </p:sp>
      <p:sp>
        <p:nvSpPr>
          <p:cNvPr id="24" name="Shape 22"/>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25" name="Text 23"/>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26" name="Text 24"/>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 an AI-supported workflow is approved.</a:t>
            </a:r>
            <a:endParaRPr lang="en-US" sz="13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Case Investigation and Outbreak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During a foodborne illness investigation, AI is used to summarize interview notes and extract.</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Investigators compare the extracted exposures to original notes, review uncertain or.</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The tool helps reduce manual review time, but it does not determine the outbreak source or.</a:t>
            </a:r>
            <a:endParaRPr lang="en-US" sz="2100" dirty="0"/>
          </a:p>
        </p:txBody>
      </p:sp>
      <p:sp>
        <p:nvSpPr>
          <p:cNvPr id="10" name="Shape 8"/>
          <p:cNvSpPr/>
          <p:nvPr/>
        </p:nvSpPr>
        <p:spPr>
          <a:xfrm>
            <a:off x="7635240" y="1325880"/>
            <a:ext cx="3474720" cy="1255471"/>
          </a:xfrm>
          <a:prstGeom prst="roundRect">
            <a:avLst>
              <a:gd name="adj" fmla="val 8740"/>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Core concept</a:t>
            </a:r>
            <a:endParaRPr lang="en-US" sz="1300" dirty="0"/>
          </a:p>
        </p:txBody>
      </p:sp>
      <p:sp>
        <p:nvSpPr>
          <p:cNvPr id="12" name="Text 10"/>
          <p:cNvSpPr/>
          <p:nvPr/>
        </p:nvSpPr>
        <p:spPr>
          <a:xfrm>
            <a:off x="7799832" y="1801368"/>
            <a:ext cx="3145536" cy="688543"/>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During a foodborne illness investigation, AI is used to summarize interview notes and extract possible.</a:t>
            </a:r>
            <a:endParaRPr lang="en-US" sz="1320" dirty="0"/>
          </a:p>
        </p:txBody>
      </p:sp>
      <p:sp>
        <p:nvSpPr>
          <p:cNvPr id="13" name="Shape 11"/>
          <p:cNvSpPr/>
          <p:nvPr/>
        </p:nvSpPr>
        <p:spPr>
          <a:xfrm>
            <a:off x="7635240" y="2718511"/>
            <a:ext cx="3474720" cy="1328623"/>
          </a:xfrm>
          <a:prstGeom prst="roundRect">
            <a:avLst>
              <a:gd name="adj" fmla="val 8259"/>
            </a:avLst>
          </a:prstGeom>
          <a:solidFill>
            <a:srgbClr val="FFFFFF"/>
          </a:solidFill>
          <a:ln w="12700">
            <a:solidFill>
              <a:srgbClr val="B9D7E6"/>
            </a:solidFill>
            <a:prstDash val="solid"/>
          </a:ln>
        </p:spPr>
      </p:sp>
      <p:sp>
        <p:nvSpPr>
          <p:cNvPr id="14" name="Text 12"/>
          <p:cNvSpPr/>
          <p:nvPr/>
        </p:nvSpPr>
        <p:spPr>
          <a:xfrm>
            <a:off x="7799832" y="2864815"/>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230575"/>
            <a:ext cx="3090672" cy="670255"/>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During a foodborne illness investigation, AI is used to summarize.</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Investigators compare the extracted exposures to original notes,.</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The tool helps reduce manual review time, but it does not.</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it</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 department should take.</a:t>
            </a:r>
            <a:endParaRPr lang="en-US" sz="13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Case Investigation and Outbreak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Topic Deep Dive</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AI can support case investigation by reducing the burden of reviewing large volumes of.</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Natural language processing and generative AI may help summarize case notes, identify missing.</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These tasks are appropriate only when outputs are traceable to source material and.</a:t>
            </a:r>
            <a:endParaRPr lang="en-US" sz="2100" dirty="0"/>
          </a:p>
        </p:txBody>
      </p:sp>
      <p:sp>
        <p:nvSpPr>
          <p:cNvPr id="10" name="Shape 8"/>
          <p:cNvSpPr/>
          <p:nvPr/>
        </p:nvSpPr>
        <p:spPr>
          <a:xfrm>
            <a:off x="7635240" y="1325880"/>
            <a:ext cx="3474720" cy="1255471"/>
          </a:xfrm>
          <a:prstGeom prst="roundRect">
            <a:avLst>
              <a:gd name="adj" fmla="val 8740"/>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Core concept</a:t>
            </a:r>
            <a:endParaRPr lang="en-US" sz="1300" dirty="0"/>
          </a:p>
        </p:txBody>
      </p:sp>
      <p:sp>
        <p:nvSpPr>
          <p:cNvPr id="12" name="Text 10"/>
          <p:cNvSpPr/>
          <p:nvPr/>
        </p:nvSpPr>
        <p:spPr>
          <a:xfrm>
            <a:off x="7799832" y="1801368"/>
            <a:ext cx="3145536" cy="688543"/>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AI can support case investigation by reducing the burden of reviewing large volumes of information.</a:t>
            </a:r>
            <a:endParaRPr lang="en-US" sz="1320" dirty="0"/>
          </a:p>
        </p:txBody>
      </p:sp>
      <p:sp>
        <p:nvSpPr>
          <p:cNvPr id="13" name="Shape 11"/>
          <p:cNvSpPr/>
          <p:nvPr/>
        </p:nvSpPr>
        <p:spPr>
          <a:xfrm>
            <a:off x="7635240" y="2718511"/>
            <a:ext cx="3474720" cy="1328623"/>
          </a:xfrm>
          <a:prstGeom prst="roundRect">
            <a:avLst>
              <a:gd name="adj" fmla="val 8259"/>
            </a:avLst>
          </a:prstGeom>
          <a:solidFill>
            <a:srgbClr val="FFFFFF"/>
          </a:solidFill>
          <a:ln w="12700">
            <a:solidFill>
              <a:srgbClr val="B9D7E6"/>
            </a:solidFill>
            <a:prstDash val="solid"/>
          </a:ln>
        </p:spPr>
      </p:sp>
      <p:sp>
        <p:nvSpPr>
          <p:cNvPr id="14" name="Text 12"/>
          <p:cNvSpPr/>
          <p:nvPr/>
        </p:nvSpPr>
        <p:spPr>
          <a:xfrm>
            <a:off x="7799832" y="2864815"/>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230575"/>
            <a:ext cx="3090672" cy="670255"/>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Natural language processing and generative AI may help summarize.</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These tasks are appropriate only when outputs are traceable to.</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Outbreak response may involve signal detection, anomaly review,.</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it</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 department should take.</a:t>
            </a:r>
            <a:endParaRPr lang="en-US" sz="13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Case Investigation and Outbreak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Topic Deep Dive Continued</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Equity considerations should be explicit.</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Some communities may be less likely to seek care, be tested, respond to interviews, speak.</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AI-supported prioritization must not systematically deprioritize people or communities because.</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Core concept</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Equity considerations should be explicit.</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Some communities may be less likely to seek care, be tested,.</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AI-supported prioritization must not systematically deprioritize.</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it</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 department should take.</a:t>
            </a:r>
            <a:endParaRPr lang="en-US" sz="13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Case Investigation and Outbreak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Risks and failure modes include the following:</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AI summaries omitting uncertainty or unsupported details.</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False outbreak signals creating unnecessary response or public concern.</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Risk check</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Risks and failure modes include the following:</a:t>
            </a:r>
            <a:endParaRPr lang="en-US" sz="1320" dirty="0"/>
          </a:p>
        </p:txBody>
      </p:sp>
      <p:sp>
        <p:nvSpPr>
          <p:cNvPr id="13" name="Shape 11"/>
          <p:cNvSpPr/>
          <p:nvPr/>
        </p:nvSpPr>
        <p:spPr>
          <a:xfrm>
            <a:off x="7635240" y="2670048"/>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798064"/>
            <a:ext cx="3145536" cy="237744"/>
          </a:xfrm>
          <a:prstGeom prst="rect">
            <a:avLst/>
          </a:prstGeom>
          <a:noFill/>
          <a:ln/>
        </p:spPr>
        <p:txBody>
          <a:bodyPr wrap="square" lIns="0" tIns="0" rIns="0" bIns="0" rtlCol="0" anchor="ctr"/>
          <a:lstStyle/>
          <a:p>
            <a:pPr indent="0" marL="0">
              <a:buNone/>
            </a:pPr>
            <a:r>
              <a:rPr lang="en-US" sz="1250" b="1" dirty="0">
                <a:solidFill>
                  <a:srgbClr val="0068B7"/>
                </a:solidFill>
                <a:latin typeface="Aptos" pitchFamily="34" charset="0"/>
                <a:ea typeface="Aptos" pitchFamily="34" charset="-122"/>
                <a:cs typeface="Aptos" pitchFamily="34" charset="-120"/>
              </a:rPr>
              <a:t>Risk control loop</a:t>
            </a:r>
            <a:endParaRPr lang="en-US" sz="1250" dirty="0"/>
          </a:p>
        </p:txBody>
      </p:sp>
      <p:sp>
        <p:nvSpPr>
          <p:cNvPr id="15" name="Shape 13"/>
          <p:cNvSpPr/>
          <p:nvPr/>
        </p:nvSpPr>
        <p:spPr>
          <a:xfrm>
            <a:off x="8763000" y="3351276"/>
            <a:ext cx="164592" cy="0"/>
          </a:xfrm>
          <a:prstGeom prst="line">
            <a:avLst/>
          </a:prstGeom>
          <a:noFill/>
          <a:ln w="15240">
            <a:solidFill>
              <a:srgbClr val="8ABBD8"/>
            </a:solidFill>
            <a:prstDash val="solid"/>
          </a:ln>
        </p:spPr>
      </p:sp>
      <p:sp>
        <p:nvSpPr>
          <p:cNvPr id="16" name="Shape 14"/>
          <p:cNvSpPr/>
          <p:nvPr/>
        </p:nvSpPr>
        <p:spPr>
          <a:xfrm>
            <a:off x="7872984" y="3200400"/>
            <a:ext cx="89001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909560" y="3273552"/>
            <a:ext cx="81686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Identify</a:t>
            </a:r>
            <a:endParaRPr lang="en-US" sz="880" dirty="0"/>
          </a:p>
        </p:txBody>
      </p:sp>
      <p:sp>
        <p:nvSpPr>
          <p:cNvPr id="18" name="Shape 16"/>
          <p:cNvSpPr/>
          <p:nvPr/>
        </p:nvSpPr>
        <p:spPr>
          <a:xfrm>
            <a:off x="9817608" y="3351276"/>
            <a:ext cx="164592" cy="0"/>
          </a:xfrm>
          <a:prstGeom prst="line">
            <a:avLst/>
          </a:prstGeom>
          <a:noFill/>
          <a:ln w="15240">
            <a:solidFill>
              <a:srgbClr val="8ABBD8"/>
            </a:solidFill>
            <a:prstDash val="solid"/>
          </a:ln>
        </p:spPr>
      </p:sp>
      <p:sp>
        <p:nvSpPr>
          <p:cNvPr id="19" name="Shape 17"/>
          <p:cNvSpPr/>
          <p:nvPr/>
        </p:nvSpPr>
        <p:spPr>
          <a:xfrm>
            <a:off x="8927592" y="3200400"/>
            <a:ext cx="89001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64168" y="3273552"/>
            <a:ext cx="81686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Control</a:t>
            </a:r>
            <a:endParaRPr lang="en-US" sz="880" dirty="0"/>
          </a:p>
        </p:txBody>
      </p:sp>
      <p:sp>
        <p:nvSpPr>
          <p:cNvPr id="21" name="Shape 19"/>
          <p:cNvSpPr/>
          <p:nvPr/>
        </p:nvSpPr>
        <p:spPr>
          <a:xfrm>
            <a:off x="9982200" y="3200400"/>
            <a:ext cx="89001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273552"/>
            <a:ext cx="81686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Monitor</a:t>
            </a:r>
            <a:endParaRPr lang="en-US" sz="880" dirty="0"/>
          </a:p>
        </p:txBody>
      </p:sp>
      <p:sp>
        <p:nvSpPr>
          <p:cNvPr id="23" name="Text 21"/>
          <p:cNvSpPr/>
          <p:nvPr/>
        </p:nvSpPr>
        <p:spPr>
          <a:xfrm>
            <a:off x="7854696" y="3694176"/>
            <a:ext cx="3035808" cy="365760"/>
          </a:xfrm>
          <a:prstGeom prst="rect">
            <a:avLst/>
          </a:prstGeom>
          <a:noFill/>
          <a:ln/>
        </p:spPr>
        <p:txBody>
          <a:bodyPr wrap="square" lIns="254" tIns="254" rIns="254" bIns="254" rtlCol="0" anchor="t">
            <a:normAutofit/>
          </a:bodyPr>
          <a:lstStyle/>
          <a:p>
            <a:pPr indent="0" marL="0">
              <a:buNone/>
            </a:pPr>
            <a:r>
              <a:rPr lang="en-US" sz="1120" dirty="0">
                <a:solidFill>
                  <a:srgbClr val="17364A"/>
                </a:solidFill>
                <a:latin typeface="Aptos" pitchFamily="34" charset="0"/>
                <a:ea typeface="Aptos" pitchFamily="34" charset="-122"/>
                <a:cs typeface="Aptos" pitchFamily="34" charset="-120"/>
              </a:rPr>
              <a:t>Responsible use depends on finding risks early, applying safeguards, and watching for drift or harm over time.</a:t>
            </a:r>
            <a:endParaRPr lang="en-US" sz="1120" dirty="0"/>
          </a:p>
        </p:txBody>
      </p:sp>
      <p:sp>
        <p:nvSpPr>
          <p:cNvPr id="24" name="Shape 22"/>
          <p:cNvSpPr/>
          <p:nvPr/>
        </p:nvSpPr>
        <p:spPr>
          <a:xfrm>
            <a:off x="7635240" y="4343400"/>
            <a:ext cx="3474720" cy="1255471"/>
          </a:xfrm>
          <a:prstGeom prst="roundRect">
            <a:avLst>
              <a:gd name="adj" fmla="val 8740"/>
            </a:avLst>
          </a:prstGeom>
          <a:solidFill>
            <a:srgbClr val="EAF6F8"/>
          </a:solidFill>
          <a:ln w="12700">
            <a:solidFill>
              <a:srgbClr val="B9D7E6"/>
            </a:solidFill>
            <a:prstDash val="solid"/>
          </a:ln>
        </p:spPr>
      </p:sp>
      <p:sp>
        <p:nvSpPr>
          <p:cNvPr id="25" name="Text 23"/>
          <p:cNvSpPr/>
          <p:nvPr/>
        </p:nvSpPr>
        <p:spPr>
          <a:xfrm>
            <a:off x="7799832" y="448970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Safeguard to plan</a:t>
            </a:r>
            <a:endParaRPr lang="en-US" sz="1300" dirty="0"/>
          </a:p>
        </p:txBody>
      </p:sp>
      <p:sp>
        <p:nvSpPr>
          <p:cNvPr id="26" name="Text 24"/>
          <p:cNvSpPr/>
          <p:nvPr/>
        </p:nvSpPr>
        <p:spPr>
          <a:xfrm>
            <a:off x="7799832" y="4818888"/>
            <a:ext cx="3145536" cy="688543"/>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Identify what could go wrong, who could be affected, what safeguards are needed, and what evidence should be reviewed before use.</a:t>
            </a:r>
            <a:endParaRPr lang="en-US" sz="13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Case Investigation and Outbreak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Missed signals because some communities are underrepresented in data.</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Automated prioritization replacing epidemiologic judgment.</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Sensitive investigation information being used in unapproved tools.</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Risk check</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Missed signals because some communities are underrepresented in data.</a:t>
            </a:r>
            <a:endParaRPr lang="en-US" sz="1320" dirty="0"/>
          </a:p>
        </p:txBody>
      </p:sp>
      <p:sp>
        <p:nvSpPr>
          <p:cNvPr id="13" name="Shape 11"/>
          <p:cNvSpPr/>
          <p:nvPr/>
        </p:nvSpPr>
        <p:spPr>
          <a:xfrm>
            <a:off x="7635240" y="2670048"/>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798064"/>
            <a:ext cx="3145536" cy="237744"/>
          </a:xfrm>
          <a:prstGeom prst="rect">
            <a:avLst/>
          </a:prstGeom>
          <a:noFill/>
          <a:ln/>
        </p:spPr>
        <p:txBody>
          <a:bodyPr wrap="square" lIns="0" tIns="0" rIns="0" bIns="0" rtlCol="0" anchor="ctr"/>
          <a:lstStyle/>
          <a:p>
            <a:pPr indent="0" marL="0">
              <a:buNone/>
            </a:pPr>
            <a:r>
              <a:rPr lang="en-US" sz="1250" b="1" dirty="0">
                <a:solidFill>
                  <a:srgbClr val="0068B7"/>
                </a:solidFill>
                <a:latin typeface="Aptos" pitchFamily="34" charset="0"/>
                <a:ea typeface="Aptos" pitchFamily="34" charset="-122"/>
                <a:cs typeface="Aptos" pitchFamily="34" charset="-120"/>
              </a:rPr>
              <a:t>Risk control loop</a:t>
            </a:r>
            <a:endParaRPr lang="en-US" sz="1250" dirty="0"/>
          </a:p>
        </p:txBody>
      </p:sp>
      <p:sp>
        <p:nvSpPr>
          <p:cNvPr id="15" name="Shape 13"/>
          <p:cNvSpPr/>
          <p:nvPr/>
        </p:nvSpPr>
        <p:spPr>
          <a:xfrm>
            <a:off x="8763000" y="3351276"/>
            <a:ext cx="164592" cy="0"/>
          </a:xfrm>
          <a:prstGeom prst="line">
            <a:avLst/>
          </a:prstGeom>
          <a:noFill/>
          <a:ln w="15240">
            <a:solidFill>
              <a:srgbClr val="8ABBD8"/>
            </a:solidFill>
            <a:prstDash val="solid"/>
          </a:ln>
        </p:spPr>
      </p:sp>
      <p:sp>
        <p:nvSpPr>
          <p:cNvPr id="16" name="Shape 14"/>
          <p:cNvSpPr/>
          <p:nvPr/>
        </p:nvSpPr>
        <p:spPr>
          <a:xfrm>
            <a:off x="7872984" y="3200400"/>
            <a:ext cx="89001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909560" y="3273552"/>
            <a:ext cx="81686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Identify</a:t>
            </a:r>
            <a:endParaRPr lang="en-US" sz="880" dirty="0"/>
          </a:p>
        </p:txBody>
      </p:sp>
      <p:sp>
        <p:nvSpPr>
          <p:cNvPr id="18" name="Shape 16"/>
          <p:cNvSpPr/>
          <p:nvPr/>
        </p:nvSpPr>
        <p:spPr>
          <a:xfrm>
            <a:off x="9817608" y="3351276"/>
            <a:ext cx="164592" cy="0"/>
          </a:xfrm>
          <a:prstGeom prst="line">
            <a:avLst/>
          </a:prstGeom>
          <a:noFill/>
          <a:ln w="15240">
            <a:solidFill>
              <a:srgbClr val="8ABBD8"/>
            </a:solidFill>
            <a:prstDash val="solid"/>
          </a:ln>
        </p:spPr>
      </p:sp>
      <p:sp>
        <p:nvSpPr>
          <p:cNvPr id="19" name="Shape 17"/>
          <p:cNvSpPr/>
          <p:nvPr/>
        </p:nvSpPr>
        <p:spPr>
          <a:xfrm>
            <a:off x="8927592" y="3200400"/>
            <a:ext cx="89001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64168" y="3273552"/>
            <a:ext cx="81686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Control</a:t>
            </a:r>
            <a:endParaRPr lang="en-US" sz="880" dirty="0"/>
          </a:p>
        </p:txBody>
      </p:sp>
      <p:sp>
        <p:nvSpPr>
          <p:cNvPr id="21" name="Shape 19"/>
          <p:cNvSpPr/>
          <p:nvPr/>
        </p:nvSpPr>
        <p:spPr>
          <a:xfrm>
            <a:off x="9982200" y="3200400"/>
            <a:ext cx="89001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273552"/>
            <a:ext cx="81686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Monitor</a:t>
            </a:r>
            <a:endParaRPr lang="en-US" sz="880" dirty="0"/>
          </a:p>
        </p:txBody>
      </p:sp>
      <p:sp>
        <p:nvSpPr>
          <p:cNvPr id="23" name="Text 21"/>
          <p:cNvSpPr/>
          <p:nvPr/>
        </p:nvSpPr>
        <p:spPr>
          <a:xfrm>
            <a:off x="7854696" y="3694176"/>
            <a:ext cx="3035808" cy="365760"/>
          </a:xfrm>
          <a:prstGeom prst="rect">
            <a:avLst/>
          </a:prstGeom>
          <a:noFill/>
          <a:ln/>
        </p:spPr>
        <p:txBody>
          <a:bodyPr wrap="square" lIns="254" tIns="254" rIns="254" bIns="254" rtlCol="0" anchor="t">
            <a:normAutofit/>
          </a:bodyPr>
          <a:lstStyle/>
          <a:p>
            <a:pPr indent="0" marL="0">
              <a:buNone/>
            </a:pPr>
            <a:r>
              <a:rPr lang="en-US" sz="1120" dirty="0">
                <a:solidFill>
                  <a:srgbClr val="17364A"/>
                </a:solidFill>
                <a:latin typeface="Aptos" pitchFamily="34" charset="0"/>
                <a:ea typeface="Aptos" pitchFamily="34" charset="-122"/>
                <a:cs typeface="Aptos" pitchFamily="34" charset="-120"/>
              </a:rPr>
              <a:t>Responsible use depends on finding risks early, applying safeguards, and watching for drift or harm over time.</a:t>
            </a:r>
            <a:endParaRPr lang="en-US" sz="1120" dirty="0"/>
          </a:p>
        </p:txBody>
      </p:sp>
      <p:sp>
        <p:nvSpPr>
          <p:cNvPr id="24" name="Shape 22"/>
          <p:cNvSpPr/>
          <p:nvPr/>
        </p:nvSpPr>
        <p:spPr>
          <a:xfrm>
            <a:off x="7635240" y="4343400"/>
            <a:ext cx="3474720" cy="1255471"/>
          </a:xfrm>
          <a:prstGeom prst="roundRect">
            <a:avLst>
              <a:gd name="adj" fmla="val 8740"/>
            </a:avLst>
          </a:prstGeom>
          <a:solidFill>
            <a:srgbClr val="EAF6F8"/>
          </a:solidFill>
          <a:ln w="12700">
            <a:solidFill>
              <a:srgbClr val="B9D7E6"/>
            </a:solidFill>
            <a:prstDash val="solid"/>
          </a:ln>
        </p:spPr>
      </p:sp>
      <p:sp>
        <p:nvSpPr>
          <p:cNvPr id="25" name="Text 23"/>
          <p:cNvSpPr/>
          <p:nvPr/>
        </p:nvSpPr>
        <p:spPr>
          <a:xfrm>
            <a:off x="7799832" y="448970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Safeguard to plan</a:t>
            </a:r>
            <a:endParaRPr lang="en-US" sz="1300" dirty="0"/>
          </a:p>
        </p:txBody>
      </p:sp>
      <p:sp>
        <p:nvSpPr>
          <p:cNvPr id="26" name="Text 24"/>
          <p:cNvSpPr/>
          <p:nvPr/>
        </p:nvSpPr>
        <p:spPr>
          <a:xfrm>
            <a:off x="7799832" y="4818888"/>
            <a:ext cx="3145536" cy="688543"/>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Identify what could go wrong, who could be affected, what safeguards are needed, and what evidence should be reviewed before use.</a:t>
            </a:r>
            <a:endParaRPr lang="en-US" sz="13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Case Investigation and Outbreak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Recommended guardrails include the following:</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Require source traceability for summaries and extracted information.</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Use AI outputs as prompts for review, not automatic conclusions.</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Risk check</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Recommended guardrails include the following:</a:t>
            </a:r>
            <a:endParaRPr lang="en-US" sz="1320" dirty="0"/>
          </a:p>
        </p:txBody>
      </p:sp>
      <p:sp>
        <p:nvSpPr>
          <p:cNvPr id="13" name="Shape 11"/>
          <p:cNvSpPr/>
          <p:nvPr/>
        </p:nvSpPr>
        <p:spPr>
          <a:xfrm>
            <a:off x="7635240" y="2670048"/>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877824"/>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Recommended guardrails include the following:</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Require source traceability for summaries and extracted information.</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Use AI outputs as prompts for review, not automatic conclusions.</a:t>
            </a:r>
            <a:endParaRPr lang="en-US" sz="1220" dirty="0"/>
          </a:p>
        </p:txBody>
      </p:sp>
      <p:sp>
        <p:nvSpPr>
          <p:cNvPr id="16" name="Shape 14"/>
          <p:cNvSpPr/>
          <p:nvPr/>
        </p:nvSpPr>
        <p:spPr>
          <a:xfrm>
            <a:off x="7635240" y="4343400"/>
            <a:ext cx="3474720" cy="1255471"/>
          </a:xfrm>
          <a:prstGeom prst="roundRect">
            <a:avLst>
              <a:gd name="adj" fmla="val 8740"/>
            </a:avLst>
          </a:prstGeom>
          <a:solidFill>
            <a:srgbClr val="EAF6F8"/>
          </a:solidFill>
          <a:ln w="12700">
            <a:solidFill>
              <a:srgbClr val="B9D7E6"/>
            </a:solidFill>
            <a:prstDash val="solid"/>
          </a:ln>
        </p:spPr>
      </p:sp>
      <p:sp>
        <p:nvSpPr>
          <p:cNvPr id="17" name="Text 15"/>
          <p:cNvSpPr/>
          <p:nvPr/>
        </p:nvSpPr>
        <p:spPr>
          <a:xfrm>
            <a:off x="7799832" y="448970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Safeguard to plan</a:t>
            </a:r>
            <a:endParaRPr lang="en-US" sz="1300" dirty="0"/>
          </a:p>
        </p:txBody>
      </p:sp>
      <p:sp>
        <p:nvSpPr>
          <p:cNvPr id="18" name="Text 16"/>
          <p:cNvSpPr/>
          <p:nvPr/>
        </p:nvSpPr>
        <p:spPr>
          <a:xfrm>
            <a:off x="7799832" y="4818888"/>
            <a:ext cx="3145536" cy="688543"/>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Identify what could go wrong, who could be affected, what safeguards are needed, and what evidence should be reviewed before use.</a:t>
            </a:r>
            <a:endParaRPr lang="en-US" sz="13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Case Investigation and Outbreak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Document uncertainty, missing data, and preliminary status.</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Apply equity review to prioritization and signal detection workflows.</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Define escalation to epidemiology leadership for unusual, high-risk, or public-facing outputs.</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Risk check</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Document uncertainty, missing data, and preliminary status.</a:t>
            </a:r>
            <a:endParaRPr lang="en-US" sz="1320" dirty="0"/>
          </a:p>
        </p:txBody>
      </p:sp>
      <p:sp>
        <p:nvSpPr>
          <p:cNvPr id="13" name="Shape 11"/>
          <p:cNvSpPr/>
          <p:nvPr/>
        </p:nvSpPr>
        <p:spPr>
          <a:xfrm>
            <a:off x="7635240" y="2670048"/>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877824"/>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Document uncertainty, missing data, and preliminary status.</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Apply equity review to prioritization and signal detection.</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Define escalation to epidemiology leadership for unusual,.</a:t>
            </a:r>
            <a:endParaRPr lang="en-US" sz="1220" dirty="0"/>
          </a:p>
        </p:txBody>
      </p:sp>
      <p:sp>
        <p:nvSpPr>
          <p:cNvPr id="16" name="Shape 14"/>
          <p:cNvSpPr/>
          <p:nvPr/>
        </p:nvSpPr>
        <p:spPr>
          <a:xfrm>
            <a:off x="7635240" y="4343400"/>
            <a:ext cx="3474720" cy="1255471"/>
          </a:xfrm>
          <a:prstGeom prst="roundRect">
            <a:avLst>
              <a:gd name="adj" fmla="val 8740"/>
            </a:avLst>
          </a:prstGeom>
          <a:solidFill>
            <a:srgbClr val="EAF6F8"/>
          </a:solidFill>
          <a:ln w="12700">
            <a:solidFill>
              <a:srgbClr val="B9D7E6"/>
            </a:solidFill>
            <a:prstDash val="solid"/>
          </a:ln>
        </p:spPr>
      </p:sp>
      <p:sp>
        <p:nvSpPr>
          <p:cNvPr id="17" name="Text 15"/>
          <p:cNvSpPr/>
          <p:nvPr/>
        </p:nvSpPr>
        <p:spPr>
          <a:xfrm>
            <a:off x="7799832" y="448970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Safeguard to plan</a:t>
            </a:r>
            <a:endParaRPr lang="en-US" sz="1300" dirty="0"/>
          </a:p>
        </p:txBody>
      </p:sp>
      <p:sp>
        <p:nvSpPr>
          <p:cNvPr id="18" name="Text 16"/>
          <p:cNvSpPr/>
          <p:nvPr/>
        </p:nvSpPr>
        <p:spPr>
          <a:xfrm>
            <a:off x="7799832" y="4818888"/>
            <a:ext cx="3145536" cy="688543"/>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Identify what could go wrong, who could be affected, what safeguards are needed, and what evidence should be reviewed before use.</a:t>
            </a:r>
            <a:endParaRPr lang="en-US" sz="13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Case Investigation and Outbreak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Where does this topic appear in your agency, program, or workflow?</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Which staff roles would need to understand or apply this concept before AI use is approved?</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What could go wrong if this topic is not addressed before implementation?</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Core concept</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Where does this topic appear in your agency, program, or workflow?</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Where does this topic appear in your agency, program, or workflow?</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Which staff roles would need to understand or apply this concept.</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What could go wrong if this topic is not addressed before.</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it</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 department should take.</a:t>
            </a:r>
            <a:endParaRPr lang="en-US" sz="13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Case Investigation and Outbreak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What evidence would governance, leadership, or operations staff need before moving forward?</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Which policy, data, equity, privacy, security, or workflow questions remain unresolved?</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Core concept</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What evidence would governance, leadership, or operations staff need before moving.</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What evidence would governance, leadership, or operations staff.</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Which policy, data, equity, privacy, security, or workflow.</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it</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 department should take.</a:t>
            </a:r>
            <a:endParaRPr lang="en-US" sz="13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Case Investigation and Outbreak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Create an AI-supported case investigation or outbreak response workflow review.</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Include the supported task, data sources, AI output, source traceability, human review point,.</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Practice focus</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Create an AI-supported case investigation or outbreak response workflow review.</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Create an AI-supported case investigation or outbreak response.</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Include the supported task, data sources, AI output, source.</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produce</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32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Case Investigation and Outbreak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Case investigation or outbreak response workflow review</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Source traceability checklist</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Uncertainty and missing data documentation</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Core concept</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Case investigation or outbreak response workflow review</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Case investigation or outbreak response workflow review</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Source traceability checklist</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Uncertainty and missing data documentation</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it</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 department should take.</a:t>
            </a:r>
            <a:endParaRPr lang="en-US" sz="132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Case Investigation and Outbreak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Equity and escalation review</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Monitoring indicators</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Core concept</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Equity and escalation review</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Equity and escalation review</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Monitoring indicators</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it</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 department should take.</a:t>
            </a:r>
            <a:endParaRPr lang="en-US" sz="132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Case Investigation and Outbreak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Case investigation or outbreak response workflow review</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Source traceability checklist</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Uncertainty and missing data documentation</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Practice focus</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Case investigation or outbreak response workflow review</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Equity and escalation review</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Monitoring indicators</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produce</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32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Case Investigation and Outbreak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1. What should AI outputs do in case investigation?</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2. What is an outbreak signal?</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3. Why is uncertainty documentation important during response?</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Practice focus</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1. What should AI outputs do in case investigation?</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1.</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What should AI outputs do in case investigation?</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2.</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produce</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32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Case Investigation and Outbreak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NIST Artificial Intelligence Risk Management Framework:.</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NIST Generative AI Profile:.</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CDC Public Health Data Strategy and Data Modernization resources:.</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Core concept</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NIST Artificial Intelligence Risk Management Framework:.</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NIST Artificial Intelligence Risk Management Framework:.</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OWASP guidance for LLM application security</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Agency policies for privacy, cybersecurity, records, procurement,.</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it</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 department should take.</a:t>
            </a:r>
            <a:endParaRPr lang="en-US" sz="132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Case Investigation and Outbreak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Relevant public health program SOPs, data governance documentation, and implementation plans</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Core concept</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Relevant public health program SOPs, data governance documentation, and implementation.</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Relevant public health program SOPs, data governance.</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it</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 department should take.</a:t>
            </a:r>
            <a:endParaRPr lang="en-US" sz="13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for Case Investigation and Outbreak Response</dc:title>
  <dc:subject>AI for Case Investigation and Outbreak Response learning module</dc:subject>
  <dc:creator>Paula Soper</dc:creator>
  <cp:lastModifiedBy>Paula Soper</cp:lastModifiedBy>
  <cp:revision>1</cp:revision>
  <dcterms:created xsi:type="dcterms:W3CDTF">2026-07-13T02:33:44Z</dcterms:created>
  <dcterms:modified xsi:type="dcterms:W3CDTF">2026-07-13T02:33:44Z</dcterms:modified>
</cp:coreProperties>
</file>