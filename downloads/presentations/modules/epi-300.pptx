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operations-and-data-quality, technical-architecture,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2100" dirty="0"/>
          </a:p>
          <a:p>
            <a:r>
              <a:rPr lang="en-US" sz="2100" dirty="0">
                <a:solidFill>
                  <a:srgbClr val="17364A"/>
                </a:solidFill>
                <a:latin typeface="Aptos" pitchFamily="34" charset="0"/>
                <a:ea typeface="Aptos" pitchFamily="34" charset="-122"/>
                <a:cs typeface="Aptos" pitchFamily="34" charset="-120"/>
              </a:rPr>
              <a:t>Distinguish between AI-supported triage, summarization, extraction, signal detection, and.</a:t>
            </a:r>
            <a:endParaRPr lang="en-US" sz="2100" dirty="0"/>
          </a:p>
          <a:p>
            <a:r>
              <a:rPr lang="en-US" sz="2100" dirty="0">
                <a:solidFill>
                  <a:srgbClr val="17364A"/>
                </a:solidFill>
                <a:latin typeface="Aptos" pitchFamily="34" charset="0"/>
                <a:ea typeface="Aptos" pitchFamily="34" charset="-122"/>
                <a:cs typeface="Aptos" pitchFamily="34" charset="-120"/>
              </a:rPr>
              <a:t>Assess data quality, timeliness, source traceability, and equity risks in AI-supported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2100" dirty="0"/>
          </a:p>
          <a:p>
            <a:r>
              <a:rPr lang="en-US" sz="2100" dirty="0">
                <a:solidFill>
                  <a:srgbClr val="17364A"/>
                </a:solidFill>
                <a:latin typeface="Aptos" pitchFamily="34" charset="0"/>
                <a:ea typeface="Aptos" pitchFamily="34" charset="-122"/>
                <a:cs typeface="Aptos" pitchFamily="34" charset="-120"/>
              </a:rPr>
              <a:t>Investigators compare the extracted exposures to original notes, review uncertain or conflicting.</a:t>
            </a:r>
            <a:endParaRPr lang="en-US" sz="2100" dirty="0"/>
          </a:p>
          <a:p>
            <a:r>
              <a:rPr lang="en-US" sz="2100" dirty="0">
                <a:solidFill>
                  <a:srgbClr val="17364A"/>
                </a:solidFill>
                <a:latin typeface="Aptos" pitchFamily="34" charset="0"/>
                <a:ea typeface="Aptos" pitchFamily="34" charset="-122"/>
                <a:cs typeface="Aptos" pitchFamily="34" charset="-120"/>
              </a:rPr>
              <a:t>The tool helps reduce manual review time, but it does not determine the outbreak source or issue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2100" dirty="0"/>
          </a:p>
          <a:p>
            <a:r>
              <a:rPr lang="en-US" sz="2100" dirty="0">
                <a:solidFill>
                  <a:srgbClr val="17364A"/>
                </a:solidFill>
                <a:latin typeface="Aptos" pitchFamily="34" charset="0"/>
                <a:ea typeface="Aptos" pitchFamily="34" charset="-122"/>
                <a:cs typeface="Aptos" pitchFamily="34" charset="-120"/>
              </a:rPr>
              <a:t>Natural language processing and generative AI may help summarize case notes, identify missing fields,.</a:t>
            </a:r>
            <a:endParaRPr lang="en-US" sz="2100" dirty="0"/>
          </a:p>
          <a:p>
            <a:r>
              <a:rPr lang="en-US" sz="2100" dirty="0">
                <a:solidFill>
                  <a:srgbClr val="17364A"/>
                </a:solidFill>
                <a:latin typeface="Aptos" pitchFamily="34" charset="0"/>
                <a:ea typeface="Aptos" pitchFamily="34" charset="-122"/>
                <a:cs typeface="Aptos" pitchFamily="34" charset="-120"/>
              </a:rPr>
              <a:t>These tasks are appropriate only when outputs are traceable to source material and investigators 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considerations should be explicit.</a:t>
            </a:r>
            <a:endParaRPr lang="en-US" sz="2100" dirty="0"/>
          </a:p>
          <a:p>
            <a:r>
              <a:rPr lang="en-US" sz="2100" dirty="0">
                <a:solidFill>
                  <a:srgbClr val="17364A"/>
                </a:solidFill>
                <a:latin typeface="Aptos" pitchFamily="34" charset="0"/>
                <a:ea typeface="Aptos" pitchFamily="34" charset="-122"/>
                <a:cs typeface="Aptos" pitchFamily="34" charset="-120"/>
              </a:rPr>
              <a:t>Some communities may be less likely to seek care, be tested, respond to interviews, speak English, have.</a:t>
            </a:r>
            <a:endParaRPr lang="en-US" sz="2100" dirty="0"/>
          </a:p>
          <a:p>
            <a:r>
              <a:rPr lang="en-US" sz="2100" dirty="0">
                <a:solidFill>
                  <a:srgbClr val="17364A"/>
                </a:solidFill>
                <a:latin typeface="Aptos" pitchFamily="34" charset="0"/>
                <a:ea typeface="Aptos" pitchFamily="34" charset="-122"/>
                <a:cs typeface="Aptos" pitchFamily="34" charset="-120"/>
              </a:rPr>
              <a:t>AI-supported prioritization must not systematically deprioritize people or communities because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considerations should be explicit.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 summaries omitting uncertainty or unsupported details.</a:t>
            </a:r>
            <a:endParaRPr lang="en-US" sz="2100" dirty="0"/>
          </a:p>
          <a:p>
            <a:r>
              <a:rPr lang="en-US" sz="2100" dirty="0">
                <a:solidFill>
                  <a:srgbClr val="17364A"/>
                </a:solidFill>
                <a:latin typeface="Aptos" pitchFamily="34" charset="0"/>
                <a:ea typeface="Aptos" pitchFamily="34" charset="-122"/>
                <a:cs typeface="Aptos" pitchFamily="34" charset="-120"/>
              </a:rPr>
              <a:t>False outbreak signals creating unnecessary response or public concern.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2100" dirty="0"/>
          </a:p>
          <a:p>
            <a:r>
              <a:rPr lang="en-US" sz="2100" dirty="0">
                <a:solidFill>
                  <a:srgbClr val="17364A"/>
                </a:solidFill>
                <a:latin typeface="Aptos" pitchFamily="34" charset="0"/>
                <a:ea typeface="Aptos" pitchFamily="34" charset="-122"/>
                <a:cs typeface="Aptos" pitchFamily="34" charset="-120"/>
              </a:rPr>
              <a:t>Automated prioritization replacing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2100" dirty="0"/>
          </a:p>
          <a:p>
            <a:r>
              <a:rPr lang="en-US" sz="2100" dirty="0">
                <a:solidFill>
                  <a:srgbClr val="17364A"/>
                </a:solidFill>
                <a:latin typeface="Aptos" pitchFamily="34" charset="0"/>
                <a:ea typeface="Aptos" pitchFamily="34" charset="-122"/>
                <a:cs typeface="Aptos" pitchFamily="34" charset="-120"/>
              </a:rPr>
              <a:t>Use AI outputs as prompts for review, not automatic conclusions.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uncertainty, missing data, and preliminary status.</a:t>
            </a:r>
            <a:endParaRPr lang="en-US" sz="2100" dirty="0"/>
          </a:p>
          <a:p>
            <a:r>
              <a:rPr lang="en-US" sz="2100" dirty="0">
                <a:solidFill>
                  <a:srgbClr val="17364A"/>
                </a:solidFill>
                <a:latin typeface="Aptos" pitchFamily="34" charset="0"/>
                <a:ea typeface="Aptos" pitchFamily="34" charset="-122"/>
                <a:cs typeface="Aptos" pitchFamily="34" charset="-120"/>
              </a:rPr>
              <a:t>Apply equity review to prioritization and signal detection workflows.</a:t>
            </a:r>
            <a:endParaRPr lang="en-US" sz="2100" dirty="0"/>
          </a:p>
          <a:p>
            <a:r>
              <a:rPr lang="en-US" sz="2100" dirty="0">
                <a:solidFill>
                  <a:srgbClr val="17364A"/>
                </a:solidFill>
                <a:latin typeface="Aptos" pitchFamily="34" charset="0"/>
                <a:ea typeface="Aptos" pitchFamily="34" charset="-122"/>
                <a:cs typeface="Aptos" pitchFamily="34" charset="-120"/>
              </a:rPr>
              <a:t>Define escalation to epidemiology leadership for unusual, high-risk, or public-facing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uncertainty, missing data, and preliminary status.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Include the supported task, data sources, AI output, source traceability, human review point,.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review</a:t>
            </a:r>
            <a:endParaRPr lang="en-US" sz="2100" dirty="0"/>
          </a:p>
          <a:p>
            <a:r>
              <a:rPr lang="en-US" sz="2100" dirty="0">
                <a:solidFill>
                  <a:srgbClr val="17364A"/>
                </a:solidFill>
                <a:latin typeface="Aptos" pitchFamily="34" charset="0"/>
                <a:ea typeface="Aptos" pitchFamily="34" charset="-122"/>
                <a:cs typeface="Aptos" pitchFamily="34" charset="-120"/>
              </a:rPr>
              <a:t>Monitoring indicators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should AI outputs do in case investigation?</a:t>
            </a:r>
            <a:endParaRPr lang="en-US" sz="2100" dirty="0"/>
          </a:p>
          <a:p>
            <a:r>
              <a:rPr lang="en-US" sz="2100" dirty="0">
                <a:solidFill>
                  <a:srgbClr val="17364A"/>
                </a:solidFill>
                <a:latin typeface="Aptos" pitchFamily="34" charset="0"/>
                <a:ea typeface="Aptos" pitchFamily="34" charset="-122"/>
                <a:cs typeface="Aptos" pitchFamily="34" charset="-120"/>
              </a:rPr>
              <a:t>2. What is an outbreak signal?</a:t>
            </a:r>
            <a:endParaRPr lang="en-US" sz="2100" dirty="0"/>
          </a:p>
          <a:p>
            <a:r>
              <a:rPr lang="en-US" sz="2100" dirty="0">
                <a:solidFill>
                  <a:srgbClr val="17364A"/>
                </a:solidFill>
                <a:latin typeface="Aptos" pitchFamily="34" charset="0"/>
                <a:ea typeface="Aptos" pitchFamily="34" charset="-122"/>
                <a:cs typeface="Aptos" pitchFamily="34" charset="-120"/>
              </a:rPr>
              <a:t>3. Why is uncertainty documentation important during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should AI outputs do in case investigation?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2026-07-13T01:54:44Z</dcterms:created>
  <dcterms:modified xsi:type="dcterms:W3CDTF">2026-07-13T01:54:44Z</dcterms:modified>
</cp:coreProperties>
</file>