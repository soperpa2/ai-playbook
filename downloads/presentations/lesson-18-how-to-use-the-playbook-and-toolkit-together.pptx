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dbe7df0b0d41c1" /><Relationship Type="http://schemas.openxmlformats.org/officeDocument/2006/relationships/extended-properties" Target="/docProps/app.xml" Id="R3848839fcfd74c76" /><Relationship Type="http://schemas.openxmlformats.org/officeDocument/2006/relationships/officeDocument" Target="/ppt/presentation.xml" Id="Ra4130a104da04cbb" /></Relationships>
</file>

<file path=ppt/presentation.xml><?xml version="1.0" encoding="utf-8"?>
<p:presentation xmlns:p="http://schemas.openxmlformats.org/presentationml/2006/main">
  <p:sldMasterIdLst>
    <p:sldMasterId xmlns:r="http://schemas.openxmlformats.org/officeDocument/2006/relationships" id="2147483648" r:id="R6b0798a5f6354e18"/>
  </p:sldMasterIdLst>
  <p:notesMasterIdLst>
    <p:notesMasterId xmlns:r="http://schemas.openxmlformats.org/officeDocument/2006/relationships" r:id="R34742be9785743e1"/>
  </p:notesMasterIdLst>
  <p:sldIdLst>
    <p:sldId xmlns:r="http://schemas.openxmlformats.org/officeDocument/2006/relationships" id="256" r:id="R5e42294b57a04daf"/>
    <p:sldId xmlns:r="http://schemas.openxmlformats.org/officeDocument/2006/relationships" id="257" r:id="Rb4d04360df6548f4"/>
    <p:sldId xmlns:r="http://schemas.openxmlformats.org/officeDocument/2006/relationships" id="258" r:id="R00fdeeb476ea4a6e"/>
    <p:sldId xmlns:r="http://schemas.openxmlformats.org/officeDocument/2006/relationships" id="259" r:id="R091ab3bc93fb4536"/>
    <p:sldId xmlns:r="http://schemas.openxmlformats.org/officeDocument/2006/relationships" id="260" r:id="R3198f40d0acc4338"/>
    <p:sldId xmlns:r="http://schemas.openxmlformats.org/officeDocument/2006/relationships" id="261" r:id="R367946ae4a15461f"/>
    <p:sldId xmlns:r="http://schemas.openxmlformats.org/officeDocument/2006/relationships" id="262" r:id="Re943961ff3984a39"/>
    <p:sldId xmlns:r="http://schemas.openxmlformats.org/officeDocument/2006/relationships" id="263" r:id="Ra192ae27090e456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3a8b8aab3c47ae" /><Relationship Type="http://schemas.openxmlformats.org/officeDocument/2006/relationships/slideMaster" Target="/ppt/slideMasters/slideMaster1.xml" Id="R6b0798a5f6354e18" /><Relationship Type="http://schemas.openxmlformats.org/officeDocument/2006/relationships/notesMaster" Target="/ppt/notesMasters/notesMaster1.xml" Id="R34742be9785743e1" /><Relationship Type="http://schemas.openxmlformats.org/officeDocument/2006/relationships/presProps" Target="/ppt/presProps.xml" Id="R4ef492e76de943f7" /><Relationship Type="http://schemas.openxmlformats.org/officeDocument/2006/relationships/tableStyles" Target="/ppt/tableStyles.xml" Id="R1f8af360b0c04869" /><Relationship Type="http://schemas.openxmlformats.org/officeDocument/2006/relationships/slide" Target="/ppt/slides/slide1.xml" Id="R5e42294b57a04daf" /><Relationship Type="http://schemas.openxmlformats.org/officeDocument/2006/relationships/slide" Target="/ppt/slides/slide2.xml" Id="Rb4d04360df6548f4" /><Relationship Type="http://schemas.openxmlformats.org/officeDocument/2006/relationships/slide" Target="/ppt/slides/slide3.xml" Id="R00fdeeb476ea4a6e" /><Relationship Type="http://schemas.openxmlformats.org/officeDocument/2006/relationships/slide" Target="/ppt/slides/slide4.xml" Id="R091ab3bc93fb4536" /><Relationship Type="http://schemas.openxmlformats.org/officeDocument/2006/relationships/slide" Target="/ppt/slides/slide5.xml" Id="R3198f40d0acc4338" /><Relationship Type="http://schemas.openxmlformats.org/officeDocument/2006/relationships/slide" Target="/ppt/slides/slide6.xml" Id="R367946ae4a15461f" /><Relationship Type="http://schemas.openxmlformats.org/officeDocument/2006/relationships/slide" Target="/ppt/slides/slide7.xml" Id="Re943961ff3984a39" /><Relationship Type="http://schemas.openxmlformats.org/officeDocument/2006/relationships/slide" Target="/ppt/slides/slide8.xml" Id="Ra192ae27090e45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19ec39efce4c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e4eb26e94741c0" /><Relationship Type="http://schemas.openxmlformats.org/officeDocument/2006/relationships/notesMaster" Target="/ppt/notesMasters/notesMaster1.xml" Id="Rdfae1a129afa4c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3b115d41b94d69" /><Relationship Type="http://schemas.openxmlformats.org/officeDocument/2006/relationships/notesMaster" Target="/ppt/notesMasters/notesMaster1.xml" Id="R85a7128794c04d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78341264ce4c95" /><Relationship Type="http://schemas.openxmlformats.org/officeDocument/2006/relationships/notesMaster" Target="/ppt/notesMasters/notesMaster1.xml" Id="Rf0edb610cc1b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e180d668514a25" /><Relationship Type="http://schemas.openxmlformats.org/officeDocument/2006/relationships/notesMaster" Target="/ppt/notesMasters/notesMaster1.xml" Id="R77d8db16a0084b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45fef8b1a24c45" /><Relationship Type="http://schemas.openxmlformats.org/officeDocument/2006/relationships/notesMaster" Target="/ppt/notesMasters/notesMaster1.xml" Id="R066f5cee0f2c48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1f7b4a58042d8" /><Relationship Type="http://schemas.openxmlformats.org/officeDocument/2006/relationships/notesMaster" Target="/ppt/notesMasters/notesMaster1.xml" Id="R0a5dc3c8f8a740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e5429f7e0478c" /><Relationship Type="http://schemas.openxmlformats.org/officeDocument/2006/relationships/notesMaster" Target="/ppt/notesMasters/notesMaster1.xml" Id="Rdb429ffb389a42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c98394e12b466a" /><Relationship Type="http://schemas.openxmlformats.org/officeDocument/2006/relationships/notesMaster" Target="/ppt/notesMasters/notesMaster1.xml" Id="R2f04a54d5d1f40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How to Use the Playbook and Toolkit Together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Read the play first to understand the decision and output, then use the linked tools during workshops or governance reviews.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11 and Tools 2, 7, 12, 37, 38.</a:t>
            </a:r>
          </a:p>
          <a:p xmlns:a="http://schemas.openxmlformats.org/drawingml/2006/main">
            <a:r>
              <a:t>Emphasize the core guardrail: The tools support the plays; they should not become a disconnected paperwork exercise.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11 and Tools 2, 7, 12, 37, 38.</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11 and Tools 2, 7, 12, 37, 38.</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11 and Tools 2, 7, 12, 37, 38.</a:t>
            </a:r>
          </a:p>
          <a:p xmlns:a="http://schemas.openxmlformats.org/drawingml/2006/main">
            <a:r>
              <a:t>Invite participants to identify where these practices would need to be documented in their own department.</a:t>
            </a:r>
          </a:p>
          <a:p xmlns:a="http://schemas.openxmlformats.org/drawingml/2006/main">
            <a:r>
              <a:t>Start with How to Use the Sequence,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11 and Tools 2, 7, 12, 37, 38.</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11 and Tools 2, 7, 12, 37, 38.</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Customized play-and-tool workplan, Governance gate checklist, Completed tool package for leadership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11 and Tools 2, 7, 12, 37, 38.</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0f59815b8c44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f6c90071d54ad9" /><Relationship Type="http://schemas.openxmlformats.org/officeDocument/2006/relationships/slideLayout" Target="/ppt/slideLayouts/slideLayout1.xml" Id="R0343a707fe8941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43a707fe8941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9d75a3ad604cae" /><Relationship Type="http://schemas.openxmlformats.org/officeDocument/2006/relationships/image" Target="/ppt/media/image.png" Id="R93397767547440dc" /><Relationship Type="http://schemas.openxmlformats.org/officeDocument/2006/relationships/notesSlide" Target="/ppt/notesSlides/notesSlide1.xml" Id="Re19b776d10cc4e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767ee98cd84a83" /><Relationship Type="http://schemas.openxmlformats.org/officeDocument/2006/relationships/notesSlide" Target="/ppt/notesSlides/notesSlide2.xml" Id="R381ff10dd98746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43726be91748c2" /><Relationship Type="http://schemas.openxmlformats.org/officeDocument/2006/relationships/notesSlide" Target="/ppt/notesSlides/notesSlide3.xml" Id="R99edafdf44264e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3fc2c1f8994173" /><Relationship Type="http://schemas.openxmlformats.org/officeDocument/2006/relationships/notesSlide" Target="/ppt/notesSlides/notesSlide4.xml" Id="Rbe4d2b8732e04d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192de1a6264714" /><Relationship Type="http://schemas.openxmlformats.org/officeDocument/2006/relationships/notesSlide" Target="/ppt/notesSlides/notesSlide5.xml" Id="R8e23581647d4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35760a1281470a" /><Relationship Type="http://schemas.openxmlformats.org/officeDocument/2006/relationships/notesSlide" Target="/ppt/notesSlides/notesSlide6.xml" Id="R7474df0ff16642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e94054bd594545" /><Relationship Type="http://schemas.openxmlformats.org/officeDocument/2006/relationships/notesSlide" Target="/ppt/notesSlides/notesSlide7.xml" Id="R8e241780c5384a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4e79f5f71348ab" /><Relationship Type="http://schemas.openxmlformats.org/officeDocument/2006/relationships/notesSlide" Target="/ppt/notesSlides/notesSlide8.xml" Id="Rf427428603b84fce"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3397767547440dc"/>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E48B9E-876A-46FC-B8A6-23E65688AD92}"/>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18</a:t>
            </a:r>
          </a:p>
        </p:txBody>
      </p:sp>
      <p:sp>
        <p:nvSpPr>
          <p:cNvPr id="3" name="">
            <a:extLst xmlns:a="http://schemas.openxmlformats.org/drawingml/2006/main">
              <a:ext uri="{FF2B5EF4-FFF2-40B4-BE49-F238E27FC236}">
                <a16:creationId xmlns:a16="http://schemas.microsoft.com/office/drawing/2014/main" id="{41C9ECC1-7FEB-425C-BF32-4DF6EEB97CC6}"/>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How to Use the Playbook and Toolkit Together</a:t>
            </a:r>
          </a:p>
        </p:txBody>
      </p:sp>
      <p:sp>
        <p:nvSpPr>
          <p:cNvPr id="4" name="">
            <a:extLst xmlns:a="http://schemas.openxmlformats.org/drawingml/2006/main">
              <a:ext uri="{FF2B5EF4-FFF2-40B4-BE49-F238E27FC236}">
                <a16:creationId xmlns:a16="http://schemas.microsoft.com/office/drawing/2014/main" id="{06D7278C-CED5-424E-BB7D-6CCC38F63AB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D4D2712A-2E5D-49A7-B21A-908725229755}"/>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2B65AF8A-AE10-41D7-9A30-429EBC159B37}"/>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162809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9715A0-3836-4E93-BF5A-2F973EBE151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B915E28-BBAF-4A3E-A0A8-355AC66BD21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FE95BC9F-8263-46BD-8E52-559C7C6C1D4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BFB5B02-4295-429F-B445-826392127C81}"/>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Read the play first to understand the decision and output, then use the linked tools during workshops or governance reviews.</a:t>
            </a:r>
          </a:p>
        </p:txBody>
      </p:sp>
      <p:sp>
        <p:nvSpPr>
          <p:cNvPr id="5" name="">
            <a:extLst xmlns:a="http://schemas.openxmlformats.org/drawingml/2006/main">
              <a:ext uri="{FF2B5EF4-FFF2-40B4-BE49-F238E27FC236}">
                <a16:creationId xmlns:a16="http://schemas.microsoft.com/office/drawing/2014/main" id="{082D024E-2429-4A38-A06D-D6788F0172D6}"/>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C60B305-3150-4158-A8A9-E16AEE706732}"/>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9F50DBD-DC5B-4897-B068-35B19B5F9F37}"/>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242E9302-F9DC-46C9-A64F-983304FFC0B3}"/>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playbook creates the sequence and the toolkit creates the documentation. Using them together helps departments move from learning to readiness, governance, use case selection, funding, deployment, monitoring, and sustained oversight.</a:t>
            </a:r>
          </a:p>
        </p:txBody>
      </p:sp>
      <p:sp>
        <p:nvSpPr>
          <p:cNvPr id="9" name="">
            <a:extLst xmlns:a="http://schemas.openxmlformats.org/drawingml/2006/main">
              <a:ext uri="{FF2B5EF4-FFF2-40B4-BE49-F238E27FC236}">
                <a16:creationId xmlns:a16="http://schemas.microsoft.com/office/drawing/2014/main" id="{01ACC2C6-A213-427E-95AC-CF662F593241}"/>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408B086-CE36-4E70-8E7B-745A62430AF1}"/>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765D2DB8-B10B-422A-A119-371953894020}"/>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4FA598EA-17D8-49FE-B23C-B5247A13B4B9}"/>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tools support the plays; they should not become a disconnected paperwork exercise.</a:t>
            </a:r>
          </a:p>
        </p:txBody>
      </p:sp>
      <p:sp>
        <p:nvSpPr>
          <p:cNvPr id="13" name="">
            <a:extLst xmlns:a="http://schemas.openxmlformats.org/drawingml/2006/main">
              <a:ext uri="{FF2B5EF4-FFF2-40B4-BE49-F238E27FC236}">
                <a16:creationId xmlns:a16="http://schemas.microsoft.com/office/drawing/2014/main" id="{C8958F95-5C1E-4EFF-8611-2DC2F46DD18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4" name="">
            <a:extLst xmlns:a="http://schemas.openxmlformats.org/drawingml/2006/main">
              <a:ext uri="{FF2B5EF4-FFF2-40B4-BE49-F238E27FC236}">
                <a16:creationId xmlns:a16="http://schemas.microsoft.com/office/drawing/2014/main" id="{4684A325-CC16-4969-AFB1-5355A3FD73F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56647210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7C9395-FC61-4550-AAE2-D4F37CFF755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CA111CD-F775-4C65-81F9-5BD2536A486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6ECA8A16-DCCC-4C10-837C-C8B0580C82A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A6B69A9-EBE5-450D-B5D0-9895E3268384}"/>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B8C06206-5BC7-45DE-9E09-CC90E841E83A}"/>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How to Use the Playbook and Toolkit Together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354545A3-0E53-43E7-B719-86C1386D334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7" name="">
            <a:extLst xmlns:a="http://schemas.openxmlformats.org/drawingml/2006/main">
              <a:ext uri="{FF2B5EF4-FFF2-40B4-BE49-F238E27FC236}">
                <a16:creationId xmlns:a16="http://schemas.microsoft.com/office/drawing/2014/main" id="{32BFFF63-FE3A-42EC-91EA-ECC72F1C4F2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9435299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AB3C25-B619-4CA8-A037-3C0A709A190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09BC2AF-9EA5-41C8-BA03-D427683EC3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9075ED45-B731-4893-ACCD-61F289C8EBA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2BF86E5-C9CD-4866-9AC0-E92C7B3936EE}"/>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 playbook and toolkit are designed to work together. Plays define the decisions, sequence, participants, outputs, and governance gates. Tools help departments complete the work, document decisions, and create reusable artifacts.</a:t>
            </a:r>
          </a:p>
        </p:txBody>
      </p:sp>
      <p:sp>
        <p:nvSpPr>
          <p:cNvPr id="5" name="">
            <a:extLst xmlns:a="http://schemas.openxmlformats.org/drawingml/2006/main">
              <a:ext uri="{FF2B5EF4-FFF2-40B4-BE49-F238E27FC236}">
                <a16:creationId xmlns:a16="http://schemas.microsoft.com/office/drawing/2014/main" id="{499356C4-9A71-43BC-BB5F-AAA13A91638B}"/>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8FF988A-D688-4F86-85B9-DC6127BB6FAD}"/>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8872AB0-5268-4865-81A6-5339F634FC01}"/>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138830B9-CADF-4705-AFE2-D461E401D663}"/>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Read the play first to understand the decision and output, then use the linked tools during workshops or governance reviews.</a:t>
            </a:r>
          </a:p>
        </p:txBody>
      </p:sp>
      <p:sp>
        <p:nvSpPr>
          <p:cNvPr id="9" name="">
            <a:extLst xmlns:a="http://schemas.openxmlformats.org/drawingml/2006/main">
              <a:ext uri="{FF2B5EF4-FFF2-40B4-BE49-F238E27FC236}">
                <a16:creationId xmlns:a16="http://schemas.microsoft.com/office/drawing/2014/main" id="{416D00AC-C61F-4BF5-B6DA-1BABFBE380C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0" name="">
            <a:extLst xmlns:a="http://schemas.openxmlformats.org/drawingml/2006/main">
              <a:ext uri="{FF2B5EF4-FFF2-40B4-BE49-F238E27FC236}">
                <a16:creationId xmlns:a16="http://schemas.microsoft.com/office/drawing/2014/main" id="{0CB9AAB2-CDD4-4A7B-AD67-C9490559872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1643116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469BCE-042B-4A86-8264-9ED4BF92F2C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9AC544C-8943-4AEA-98DF-3BED00C8542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F586A3B6-6FB5-4A92-851D-9E15D54D80C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0E189D7-1C78-4152-8B76-352AAA5ACE91}"/>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8996577-6F0B-48B6-BB97-2B7B6C25004E}"/>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F9C9FED-32EE-4E66-A8A6-053C3EBB63E6}"/>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Sequence</a:t>
            </a:r>
          </a:p>
        </p:txBody>
      </p:sp>
      <p:sp>
        <p:nvSpPr>
          <p:cNvPr id="7" name="">
            <a:extLst xmlns:a="http://schemas.openxmlformats.org/drawingml/2006/main">
              <a:ext uri="{FF2B5EF4-FFF2-40B4-BE49-F238E27FC236}">
                <a16:creationId xmlns:a16="http://schemas.microsoft.com/office/drawing/2014/main" id="{2860C39E-567D-4CD4-B0E2-0E710550E7BB}"/>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vision and readiness so the department understands purpose, gaps, and constraints. Establish governance before formal use case selection, vendor engagement, pilots, or deployment. Use stakeholder engagement, workforce planning,.</a:t>
            </a:r>
          </a:p>
        </p:txBody>
      </p:sp>
      <p:sp>
        <p:nvSpPr>
          <p:cNvPr id="8" name="">
            <a:extLst xmlns:a="http://schemas.openxmlformats.org/drawingml/2006/main">
              <a:ext uri="{FF2B5EF4-FFF2-40B4-BE49-F238E27FC236}">
                <a16:creationId xmlns:a16="http://schemas.microsoft.com/office/drawing/2014/main" id="{3F6AABD4-3731-4675-9685-DF19E53E05FE}"/>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3B77D8A-5468-4A03-B18A-7CCEA2727B59}"/>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73DF7CB-AC10-45C4-A555-FD7A92EDF73D}"/>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Tools</a:t>
            </a:r>
          </a:p>
        </p:txBody>
      </p:sp>
      <p:sp>
        <p:nvSpPr>
          <p:cNvPr id="11" name="">
            <a:extLst xmlns:a="http://schemas.openxmlformats.org/drawingml/2006/main">
              <a:ext uri="{FF2B5EF4-FFF2-40B4-BE49-F238E27FC236}">
                <a16:creationId xmlns:a16="http://schemas.microsoft.com/office/drawing/2014/main" id="{34311149-23A4-48A2-813E-B6F432F5E542}"/>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Open tools from the play page when the tool is needed for a decision or output. Save progress and update living tools as decisions change. Use completed tools as governance records, implementation artifacts, and evidence for leadership or.</a:t>
            </a:r>
          </a:p>
        </p:txBody>
      </p:sp>
      <p:sp>
        <p:nvSpPr>
          <p:cNvPr id="12" name="">
            <a:extLst xmlns:a="http://schemas.openxmlformats.org/drawingml/2006/main">
              <a:ext uri="{FF2B5EF4-FFF2-40B4-BE49-F238E27FC236}">
                <a16:creationId xmlns:a16="http://schemas.microsoft.com/office/drawing/2014/main" id="{12AE4AA2-0866-45AA-8D3A-DF8D7BEC6D2A}"/>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A5A5D51-E706-4773-9267-53979D45501C}"/>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C6F923A-1A5D-4532-B95F-D1D2D7CBD6E8}"/>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Governance Discipline</a:t>
            </a:r>
          </a:p>
        </p:txBody>
      </p:sp>
      <p:sp>
        <p:nvSpPr>
          <p:cNvPr id="15" name="">
            <a:extLst xmlns:a="http://schemas.openxmlformats.org/drawingml/2006/main">
              <a:ext uri="{FF2B5EF4-FFF2-40B4-BE49-F238E27FC236}">
                <a16:creationId xmlns:a16="http://schemas.microsoft.com/office/drawing/2014/main" id="{02EF51E3-7913-443D-AA42-E6EBC4C1FD9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skip early plays because a tool or vendor is available. Use assessment recommendations to customize the path based on readiness gaps and completed work. Treat the implementation plan, inventory, monitoring dashboard, and policy log as.</a:t>
            </a:r>
          </a:p>
        </p:txBody>
      </p:sp>
      <p:sp>
        <p:nvSpPr>
          <p:cNvPr id="16" name="">
            <a:extLst xmlns:a="http://schemas.openxmlformats.org/drawingml/2006/main">
              <a:ext uri="{FF2B5EF4-FFF2-40B4-BE49-F238E27FC236}">
                <a16:creationId xmlns:a16="http://schemas.microsoft.com/office/drawing/2014/main" id="{EBDF6A4F-06E9-4E57-95E4-8C3BDB6EB36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7" name="">
            <a:extLst xmlns:a="http://schemas.openxmlformats.org/drawingml/2006/main">
              <a:ext uri="{FF2B5EF4-FFF2-40B4-BE49-F238E27FC236}">
                <a16:creationId xmlns:a16="http://schemas.microsoft.com/office/drawing/2014/main" id="{B8857444-9BA2-423E-9576-63204713024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4980832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5BDD3D-A7F9-40AD-BE65-D72837212AF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3222D26-208E-433C-91D2-04576F6C939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7AB325DA-37FB-45DA-94D5-A68EF585098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A76486F-39BA-4E31-85B2-13CD3D8A94F2}"/>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9280B0AC-DAEB-4600-8A0E-3240A66CF75C}"/>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2822B96-3B60-4C38-9411-1779C3910855}"/>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19B1974-87A0-48A1-9802-8726882E2E72}"/>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 7 during Play 2</a:t>
            </a:r>
          </a:p>
        </p:txBody>
      </p:sp>
      <p:sp>
        <p:nvSpPr>
          <p:cNvPr id="8" name="">
            <a:extLst xmlns:a="http://schemas.openxmlformats.org/drawingml/2006/main">
              <a:ext uri="{FF2B5EF4-FFF2-40B4-BE49-F238E27FC236}">
                <a16:creationId xmlns:a16="http://schemas.microsoft.com/office/drawing/2014/main" id="{FFA7A117-CEC0-4064-BCC0-BE00E5CAD521}"/>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Complete the readiness self-assessment before selecting pilots so gaps in governance, data, workforce, equity, and security are visible.</a:t>
            </a:r>
          </a:p>
        </p:txBody>
      </p:sp>
      <p:sp>
        <p:nvSpPr>
          <p:cNvPr id="9" name="">
            <a:extLst xmlns:a="http://schemas.openxmlformats.org/drawingml/2006/main">
              <a:ext uri="{FF2B5EF4-FFF2-40B4-BE49-F238E27FC236}">
                <a16:creationId xmlns:a16="http://schemas.microsoft.com/office/drawing/2014/main" id="{2E9CA98C-1556-4BFF-BA9C-AF57BC4D5366}"/>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F65A723-D968-42C7-A37F-E170324695C5}"/>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3EC60FB-E5F5-41A8-8BF5-4FBB1A56B8E3}"/>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2 and 12 during Play 3</a:t>
            </a:r>
          </a:p>
        </p:txBody>
      </p:sp>
      <p:sp>
        <p:nvSpPr>
          <p:cNvPr id="12" name="">
            <a:extLst xmlns:a="http://schemas.openxmlformats.org/drawingml/2006/main">
              <a:ext uri="{FF2B5EF4-FFF2-40B4-BE49-F238E27FC236}">
                <a16:creationId xmlns:a16="http://schemas.microsoft.com/office/drawing/2014/main" id="{C2E868EE-1D3D-406C-944E-E7234498AADC}"/>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Pair the responsible AI policy template with the governance board charter to define authority, review standards, and decision rights.</a:t>
            </a:r>
          </a:p>
        </p:txBody>
      </p:sp>
      <p:sp>
        <p:nvSpPr>
          <p:cNvPr id="13" name="">
            <a:extLst xmlns:a="http://schemas.openxmlformats.org/drawingml/2006/main">
              <a:ext uri="{FF2B5EF4-FFF2-40B4-BE49-F238E27FC236}">
                <a16:creationId xmlns:a16="http://schemas.microsoft.com/office/drawing/2014/main" id="{E5914732-2107-490F-BF65-E5BA8498F5DD}"/>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FC55220-55D2-4318-B023-AA5E11133806}"/>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4DDC80FE-1AD7-484A-A8E9-76E54FB1DF4D}"/>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37 and 38 before scaling</a:t>
            </a:r>
          </a:p>
        </p:txBody>
      </p:sp>
      <p:sp>
        <p:nvSpPr>
          <p:cNvPr id="16" name="">
            <a:extLst xmlns:a="http://schemas.openxmlformats.org/drawingml/2006/main">
              <a:ext uri="{FF2B5EF4-FFF2-40B4-BE49-F238E27FC236}">
                <a16:creationId xmlns:a16="http://schemas.microsoft.com/office/drawing/2014/main" id="{6D403F24-236E-45A8-B56D-724FBD20792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the pilot dashboard and scale decision framework to determine whether to scale, revise, pause, or retire a pilot.</a:t>
            </a:r>
          </a:p>
        </p:txBody>
      </p:sp>
      <p:sp>
        <p:nvSpPr>
          <p:cNvPr id="17" name="">
            <a:extLst xmlns:a="http://schemas.openxmlformats.org/drawingml/2006/main">
              <a:ext uri="{FF2B5EF4-FFF2-40B4-BE49-F238E27FC236}">
                <a16:creationId xmlns:a16="http://schemas.microsoft.com/office/drawing/2014/main" id="{4D2BAE6F-4233-482C-B1D9-21BF79D422B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8" name="">
            <a:extLst xmlns:a="http://schemas.openxmlformats.org/drawingml/2006/main">
              <a:ext uri="{FF2B5EF4-FFF2-40B4-BE49-F238E27FC236}">
                <a16:creationId xmlns:a16="http://schemas.microsoft.com/office/drawing/2014/main" id="{8877CF89-2CC7-40CE-859F-325AEC82D02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90634921"/>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44BEB2-181F-42DF-A20F-47D8059237F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198BF7D-8247-436C-9E47-51DDD9B9905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2C4DE7B2-5839-4B25-BB73-0889D42BDF1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F3FD02F-2702-4C1E-9297-464F90952102}"/>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BF73FF7-CB3B-4D36-A2EE-F9904D62C92D}"/>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4759B57-4A5B-45AE-A36E-167FDE7C5D72}"/>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F913DE6A-6C12-4650-8586-334057EAFFA4}"/>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plays are required based on the readiness assessment? Which tools document the decisions needed for those plays? Who owns each tool, output, deadline, and governance gate?</a:t>
            </a:r>
          </a:p>
        </p:txBody>
      </p:sp>
      <p:sp>
        <p:nvSpPr>
          <p:cNvPr id="8" name="">
            <a:extLst xmlns:a="http://schemas.openxmlformats.org/drawingml/2006/main">
              <a:ext uri="{FF2B5EF4-FFF2-40B4-BE49-F238E27FC236}">
                <a16:creationId xmlns:a16="http://schemas.microsoft.com/office/drawing/2014/main" id="{A1A908DC-0D64-4584-8BE6-47F6A760E11D}"/>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A496738-0A29-4ECA-91B5-319661DFF501}"/>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D5B07EFD-9378-4301-8C78-BE335EAB735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584A63A6-50DA-4349-9ABA-CCEDFBE1D1B9}"/>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assessment results and convert them into a customized workplan with recommended plays, supporting tools, owners, deadlines, and governance milestones.</a:t>
            </a:r>
          </a:p>
        </p:txBody>
      </p:sp>
      <p:sp>
        <p:nvSpPr>
          <p:cNvPr id="12" name="">
            <a:extLst xmlns:a="http://schemas.openxmlformats.org/drawingml/2006/main">
              <a:ext uri="{FF2B5EF4-FFF2-40B4-BE49-F238E27FC236}">
                <a16:creationId xmlns:a16="http://schemas.microsoft.com/office/drawing/2014/main" id="{36165FB3-E3D8-4D97-BB3E-1BC8C228979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2250229D-DAD5-4470-AF3E-55FA33992FA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7637891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A8E01F-B1E9-4E61-A5A0-47482A5B8DC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D52D259-A962-4F98-99A5-29E324A1664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98260A1E-3123-4D71-A275-EE0550559C7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0E2490-0450-40E1-A029-396F1A870CEA}"/>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5A85870-B893-4645-B159-9ED4F3826C72}"/>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F7B6AD3E-B3A3-4588-9C0B-CF4B5D8D170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8D7C13D5-B111-49F4-BF7A-F7574A8BCEE2}"/>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11 and Tools 2, 7, 12, 37, 38.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2A3667B9-0598-492A-8ACD-58F34A61C91A}"/>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BC57EB7-B09C-4FA0-9340-609024F49027}"/>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6AD1AAF5-9AAB-4808-AC26-112645D672D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9DD3E337-AC39-4857-901F-5AD51ADD8E32}"/>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 as a shared risk language while completing playbook tools. ASPPH AI Framework Report: Use as background for public health AI governance, workforce, and accountability concepts. CDC STLT resources: Use to.</a:t>
            </a:r>
          </a:p>
        </p:txBody>
      </p:sp>
      <p:sp>
        <p:nvSpPr>
          <p:cNvPr id="12" name="">
            <a:extLst xmlns:a="http://schemas.openxmlformats.org/drawingml/2006/main">
              <a:ext uri="{FF2B5EF4-FFF2-40B4-BE49-F238E27FC236}">
                <a16:creationId xmlns:a16="http://schemas.microsoft.com/office/drawing/2014/main" id="{09AC94F4-B629-474D-AC95-1DA1271E18B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5AD496C7-4683-4C54-B161-8103687DE99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715956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2026-07-02T16:03:46.5250000Z</dcterms:created>
  <dcterms:modified xsi:type="dcterms:W3CDTF">2026-07-02T16:03:46.5250000Z</dcterms:modified>
</coreProperties>
</file>