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Generative AI is designed for an individual learner using the AI Playbook and Toolkit for Public Health Departments.
Generative AI produces new text, images, code, summaries, or synthetic data from prompts and examples.
Use the notes in this deck as additional reading and context. They are not written as presenter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concept in plain language for colleagues, leaders, partners, and community-facing discussions.
Identify where the concept affects AI planning, governance, procurement, implementation, monitoring, public trust, or public health decision-making.
Apply the concept to a concrete public health workflow using the linked plays, tools, safeguards, and documentation expectations.
Complete a practical activity that produces an artifact you can use in readiness assessment, governance review, implementation planning, or monitoring.
Produce or contribute to: Generative AI acceptable-use rules.
Produce or contribute to: Human review checklist for AI-assisted drafts.
Produce or contribute to: Approved-source guidance for RAG or document-grounded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Generative AI is most useful when public health work requires drafting, summarizing, translating, organizing, or explaining information. It can reduce the time required to create first drafts, compare documents, prepare meeting materials, or convert technical findings into plain language. It should not be used as an unchecked authority on scientific evidence, law, policy, clinical guidance, or public communication.
Generative AI is especially relevant to public health because so much agency work involves drafting, explaining, summarizing, and adapting information for different audiences. It can help create first drafts of education materials, staff communications, grant language, policy summaries, meeting notes, and leadership briefings.
The same fluency that makes generative AI useful also makes it risky. A generated answer can sound polished while including outdated guidance, fabricated details, missing caveats, or language that does not fit the community context. Your department should treat outputs as drafts that require source checking and subject matter review.
For training purposes, staff should practice distinguishing low-risk drafting support from high-risk public-facing or decision-support uses. A safe implementation approach defines approved tools, prohibited data, source requirements, review steps, and documentation expectations before you use generative AI in routine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Generative AI: AI that creates new content, such as text, summaries, images, code, translations, or synthetic examples. Generative AI can help draft or summarize materials, but its outputs can be incomplete, biased, fabricated, or out of date.
Hallucination: A fluent but false or unsupported AI output. Hallucinations can include fabricated citations, incorrect policy summaries, inaccurate clinical or epidemiologic statements, or confident answers outside the model's knowledge.
Large language model (LLM): A generative AI model trained on large bodies of text to produce, summarize, classify, translate, or transform language. LLM outputs should be reviewed by qualified humans before use in consequential public health work.
Prompt: The instruction, question, source material, or task description provided to a generative AI system. A good prompt states the role, goal, audience, constraints, required sources, format, and review expectations.
Retrieval-augmented generation (RAG): A method that connects a generative AI system to selected source documents or databases so responses can be grounded in approved material. RAG can reduce unsupported answers, but users still need source review and quality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Synthetic data: Artificially generated data designed to resemble real data without directly exposing actual individual records. Synthetic data can support testing and training, but it must still be assessed for privacy risk, bias, and fitness for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material is a core concept for this lesson because it turns generative ai from an abstract AI topic into something you can recognize in daily public health work. The approved documents, data, policies, or examples the AI should rely on.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Human review is a core concept for this lesson because it turns generative ai from an abstract AI topic into something you can recognize in daily public health work. A person checks accuracy, tone, equity, accessibility, privacy, and policy alignment before the output is used.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Approved-source guidance is a core concept for this lesson because it turns generative ai from an abstract AI topic into something you can recognize in daily public health work. Rules explaining which source documents may be used and what sources are not acceptable.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 health education materials is a useful way to apply this lesson because it gives you a concrete workflow to test against the concept. Create draft messages, FAQs, or outreach language that staff can adapt for literacy level, cultural context, accessibility, and approved public health guidance.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Create first drafts of grant narratives is a useful way to apply this lesson because it gives you a concrete workflow to test against the concept. Help teams turn project goals, workplans, staffing needs, and evaluation measures into a structured draft for human editing and grant compliance review.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Summarize policy documents with human review is a useful way to apply this lesson because it gives you a concrete workflow to test against the concept. Extract key requirements, implementation deadlines, affected programs, and decision points from long guidance documents for legal or policy review.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apply this module, begin with a real or realistic public health workflow and describe the task in plain language before naming an AI tool. Use the related plays (Play 1, Play 3, Play 11) to identify the decisions, approvals, people, and timing needed for responsible implementation. Use the related tools (Tool 2, Tool 14, Tool 40) to create documentation that can be reviewed, saved, revised, and used as evidence of readiness. The practical exercise asks you to produce evidence that can feed into that work: Take a public health education message, a policy memo, and an internal meeting summary. Define what generative AI could help draft, what source material it would need, and what review steps would be required before use.
The main guardrail for this lesson is that Outputs can sound plausible while being wrong. Consequential outputs need subject matter review. Treat that guardrail as an operational requirement, not a warning label at the end of the lesson. Before using AI in this area, identify what could go wrong, who would notice the problem, how the concern would be escalated, and what authority exists to pause or change the work. That approach makes risk management part of routine public health practice rather than a separate technical review.
If your department already has a relevant process, such as data governance, technology governance, quality improvement, procurement review, privacy review, emergency response planning, or workforce development, use that process as the starting point. The playbook tools are meant to fill gaps where a method or documentation process does not already exist. There is no need to recreate the wheel when an existing process can be extended to include AI-specific questions, evidence, approval points, and monitoring expectations. This keeps AI governance connected to normal public health operations instead of creating a parallel paperwork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related plays help you decide where this topic fits in the planning and implementation sequence. The related tools help you convert the lesson into a documented artifact, such as a review checklist, inventory record, policy scan, implementation note, communication plan, training assignment, risk register, or monitoring record. Use the assessment results as a starting recommendation, but adjust the path based on what your department has already completed and what is most useful for your public health goals. When a play or tool is not needed, document why it was deferred so future reviewers understand the decision.
This matters for your practice because Generative AI can improve staff efficiency, but it can also produce fluent misinformation, incomplete summaries, biased language, or unsupported recommendations. Public health your department needs practical rules for when generative AI can draft, when it can summarize, when it must use approved source material, and when it should not be used at all. Use that purpose to decide how much documentation, governance review, stakeholder input, and monitoring are proportionate to the risk and public health impact of the work. A low-risk internal learning activity may need only basic documentation, while a public-facing or decision-support workflow may need formal review, validation, transparency, and ongoing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a public health education message, a policy memo, and an internal meeting summary. Define what generative AI could help draft, what source material it would need, and what review steps would be required before use.
Generative AI acceptable-use rules
Human review checklist for AI-assisted drafts
Approved-source guidance for RAG or document-grounded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materials may be drafted with generative AI and which require approved templates or source documents?
What human review is required before AI-assisted content is shared with the public, partners, or leadership?
What data are prohibited from public or consumer AI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Regulatory considerations on artificial intelligence for health: Health-focused regulatory considerations for AI systems. https://iris.who.int/handle/10665/373421
NIST Generative AI Profile: Risk management profile for generative AI systems. https://www.nist.gov/itl/ai-risk-management-framework
ASPPH AI Framework Report: Guidance on human-centered and responsible generative AI use in public health contexts. https://aspph.org/initiatives/ai-for-public-health/ai-framework-report/
OpenAI Prompt Engineering Guide: Practical guidance on writing clearer prompts, decomposing tasks, using examples, and improving model outputs through structured instructions. https://platform.openai.com/docs/guides/prompt-engineering
Google Cloud Prompt Engineering Guide: Plain-language overview of prompt engineering concepts, prompt structure, examples, and responsible use considerations. https://cloud.google.com/discover/what-is-prompt-engineering
Microsoft Prompt Engineering Techniques: Prompting techniques for Azure OpenAI and Microsoft Foundry models, including instructions, grounding, examples, and output formatting. https://learn.microsoft.com/en-us/azure/ai-services/openai/concepts/prompt-engineering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13232" y="2542032"/>
            <a:ext cx="10607040" cy="777240"/>
          </a:xfrm>
          <a:prstGeom prst="rect">
            <a:avLst/>
          </a:prstGeom>
          <a:noFill/>
          <a:ln/>
        </p:spPr>
        <p:txBody>
          <a:bodyPr wrap="square" lIns="0" tIns="0" rIns="0" bIns="0" rtlCol="0" anchor="ct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Generative AI</a:t>
            </a:r>
            <a:endParaRPr lang="en-US" sz="3400" dirty="0"/>
          </a:p>
        </p:txBody>
      </p:sp>
      <p:sp>
        <p:nvSpPr>
          <p:cNvPr id="6" name="Text 3"/>
          <p:cNvSpPr/>
          <p:nvPr/>
        </p:nvSpPr>
        <p:spPr>
          <a:xfrm>
            <a:off x="749808" y="3456432"/>
            <a:ext cx="365760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Learning Module</a:t>
            </a:r>
            <a:endParaRPr lang="en-US" sz="1400" dirty="0"/>
          </a:p>
        </p:txBody>
      </p:sp>
      <p:sp>
        <p:nvSpPr>
          <p:cNvPr id="7" name="Text 4"/>
          <p:cNvSpPr/>
          <p:nvPr/>
        </p:nvSpPr>
        <p:spPr>
          <a:xfrm>
            <a:off x="749808" y="3886200"/>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Generative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Learning Objectives</a:t>
            </a:r>
            <a:endParaRPr lang="en-US" sz="2800" dirty="0"/>
          </a:p>
        </p:txBody>
      </p:sp>
      <p:sp>
        <p:nvSpPr>
          <p:cNvPr id="7" name="Text 5"/>
          <p:cNvSpPr/>
          <p:nvPr/>
        </p:nvSpPr>
        <p:spPr>
          <a:xfrm>
            <a:off x="822960" y="1417320"/>
            <a:ext cx="10332720" cy="448056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Define the concept in plain language for colleagues, leaders, partners, and community-facing discussions.</a:t>
            </a:r>
            <a:endParaRPr lang="en-US" sz="1600" dirty="0"/>
          </a:p>
          <a:p>
            <a:r>
              <a:rPr lang="en-US" sz="1600" dirty="0">
                <a:solidFill>
                  <a:srgbClr val="17364A"/>
                </a:solidFill>
                <a:latin typeface="Aptos" pitchFamily="34" charset="0"/>
                <a:ea typeface="Aptos" pitchFamily="34" charset="-122"/>
                <a:cs typeface="Aptos" pitchFamily="34" charset="-120"/>
              </a:rPr>
              <a:t>Identify where the concept affects AI planning, governance, procurement, implementation, monitoring, public trust, or public health decision-making.</a:t>
            </a:r>
            <a:endParaRPr lang="en-US" sz="1600" dirty="0"/>
          </a:p>
          <a:p>
            <a:r>
              <a:rPr lang="en-US" sz="1600" dirty="0">
                <a:solidFill>
                  <a:srgbClr val="17364A"/>
                </a:solidFill>
                <a:latin typeface="Aptos" pitchFamily="34" charset="0"/>
                <a:ea typeface="Aptos" pitchFamily="34" charset="-122"/>
                <a:cs typeface="Aptos" pitchFamily="34" charset="-120"/>
              </a:rPr>
              <a:t>Apply the concept to a concrete public health workflow using the linked plays, tools, safeguards, and documentation expectations.</a:t>
            </a:r>
            <a:endParaRPr lang="en-US" sz="1600" dirty="0"/>
          </a:p>
          <a:p>
            <a:r>
              <a:rPr lang="en-US" sz="1600" dirty="0">
                <a:solidFill>
                  <a:srgbClr val="17364A"/>
                </a:solidFill>
                <a:latin typeface="Aptos" pitchFamily="34" charset="0"/>
                <a:ea typeface="Aptos" pitchFamily="34" charset="-122"/>
                <a:cs typeface="Aptos" pitchFamily="34" charset="-120"/>
              </a:rPr>
              <a:t>Complete a practical activity that produces an artifact you can use in readiness assessment, governance review, implementation planning, or monitoring.</a:t>
            </a:r>
            <a:endParaRPr lang="en-US" sz="1600" dirty="0"/>
          </a:p>
          <a:p>
            <a:r>
              <a:rPr lang="en-US" sz="1600" dirty="0">
                <a:solidFill>
                  <a:srgbClr val="17364A"/>
                </a:solidFill>
                <a:latin typeface="Aptos" pitchFamily="34" charset="0"/>
                <a:ea typeface="Aptos" pitchFamily="34" charset="-122"/>
                <a:cs typeface="Aptos" pitchFamily="34" charset="-120"/>
              </a:rPr>
              <a:t>Produce or contribute to: Generative AI acceptable-use rules.</a:t>
            </a:r>
            <a:endParaRPr lang="en-US" sz="1600" dirty="0"/>
          </a:p>
          <a:p>
            <a:r>
              <a:rPr lang="en-US" sz="1600" dirty="0">
                <a:solidFill>
                  <a:srgbClr val="17364A"/>
                </a:solidFill>
                <a:latin typeface="Aptos" pitchFamily="34" charset="0"/>
                <a:ea typeface="Aptos" pitchFamily="34" charset="-122"/>
                <a:cs typeface="Aptos" pitchFamily="34" charset="-120"/>
              </a:rPr>
              <a:t>Produce or contribute to: Human review checklist for AI-assisted drafts.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Generative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Module Overview</a:t>
            </a:r>
            <a:endParaRPr lang="en-US" sz="2800" dirty="0"/>
          </a:p>
        </p:txBody>
      </p:sp>
      <p:sp>
        <p:nvSpPr>
          <p:cNvPr id="7" name="Text 5"/>
          <p:cNvSpPr/>
          <p:nvPr/>
        </p:nvSpPr>
        <p:spPr>
          <a:xfrm>
            <a:off x="822960" y="1325880"/>
            <a:ext cx="10424160" cy="4434840"/>
          </a:xfrm>
          <a:prstGeom prst="rect">
            <a:avLst/>
          </a:prstGeom>
          <a:noFill/>
          <a:ln/>
        </p:spPr>
        <p:txBody>
          <a:bodyPr wrap="square" lIns="1016" tIns="1016" rIns="1016" bIns="1016" rtlCol="0" anchor="t">
            <a:normAutofit/>
          </a:bodyPr>
          <a:lstStyle/>
          <a:p>
            <a:pPr indent="0" marL="0">
              <a:buNone/>
            </a:pPr>
            <a:r>
              <a:rPr lang="en-US" sz="1600" dirty="0">
                <a:solidFill>
                  <a:srgbClr val="17364A"/>
                </a:solidFill>
                <a:latin typeface="Aptos" pitchFamily="34" charset="0"/>
                <a:ea typeface="Aptos" pitchFamily="34" charset="-122"/>
                <a:cs typeface="Aptos" pitchFamily="34" charset="-120"/>
              </a:rPr>
              <a:t>Generative AI is most useful when public health work requires drafting, summarizing, translating, organizing, or explaining information. It can reduce the time required to create first drafts, compare documents, prepare meeting materials, or convert technical findings into plain language. It should not be used as an unchecked authority on scientific evidence, law, policy, clinical guidance, or public communication.</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Generative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Definitions</a:t>
            </a:r>
            <a:endParaRPr lang="en-US" sz="2800" dirty="0"/>
          </a:p>
        </p:txBody>
      </p:sp>
      <p:sp>
        <p:nvSpPr>
          <p:cNvPr id="7" name="Text 5"/>
          <p:cNvSpPr/>
          <p:nvPr/>
        </p:nvSpPr>
        <p:spPr>
          <a:xfrm>
            <a:off x="822960" y="1325880"/>
            <a:ext cx="10378440" cy="4754880"/>
          </a:xfrm>
          <a:prstGeom prst="rect">
            <a:avLst/>
          </a:prstGeom>
          <a:noFill/>
          <a:ln/>
        </p:spPr>
        <p:txBody>
          <a:bodyPr wrap="square" lIns="635" tIns="635" rIns="635" bIns="635" rtlCol="0" anchor="t">
            <a:normAutofit/>
          </a:bodyPr>
          <a:lstStyle/>
          <a:p>
            <a:r>
              <a:rPr lang="en-US" sz="1320" dirty="0">
                <a:solidFill>
                  <a:srgbClr val="17364A"/>
                </a:solidFill>
                <a:latin typeface="Aptos" pitchFamily="34" charset="0"/>
                <a:ea typeface="Aptos" pitchFamily="34" charset="-122"/>
                <a:cs typeface="Aptos" pitchFamily="34" charset="-120"/>
              </a:rPr>
              <a:t>Generative AI: AI that creates new content, such as text, summaries, images, code, translations, or synthetic examples. Generative AI can help draft or summarize materials, but its outputs can be incomplete, biased,.</a:t>
            </a:r>
            <a:endParaRPr lang="en-US" sz="1320" dirty="0"/>
          </a:p>
          <a:p>
            <a:r>
              <a:rPr lang="en-US" sz="1320" dirty="0">
                <a:solidFill>
                  <a:srgbClr val="17364A"/>
                </a:solidFill>
                <a:latin typeface="Aptos" pitchFamily="34" charset="0"/>
                <a:ea typeface="Aptos" pitchFamily="34" charset="-122"/>
                <a:cs typeface="Aptos" pitchFamily="34" charset="-120"/>
              </a:rPr>
              <a:t>Hallucination: A fluent but false or unsupported AI output. Hallucinations can include fabricated citations, incorrect policy summaries, inaccurate clinical or epidemiologic statements, or confident answers outside the.</a:t>
            </a:r>
            <a:endParaRPr lang="en-US" sz="1320" dirty="0"/>
          </a:p>
          <a:p>
            <a:r>
              <a:rPr lang="en-US" sz="1320" dirty="0">
                <a:solidFill>
                  <a:srgbClr val="17364A"/>
                </a:solidFill>
                <a:latin typeface="Aptos" pitchFamily="34" charset="0"/>
                <a:ea typeface="Aptos" pitchFamily="34" charset="-122"/>
                <a:cs typeface="Aptos" pitchFamily="34" charset="-120"/>
              </a:rPr>
              <a:t>Large language model (LLM): A generative AI model trained on large bodies of text to produce, summarize, classify, translate, or transform language. LLM outputs should be reviewed by qualified humans before use in consequential public.</a:t>
            </a:r>
            <a:endParaRPr lang="en-US" sz="1320" dirty="0"/>
          </a:p>
          <a:p>
            <a:r>
              <a:rPr lang="en-US" sz="1320" dirty="0">
                <a:solidFill>
                  <a:srgbClr val="17364A"/>
                </a:solidFill>
                <a:latin typeface="Aptos" pitchFamily="34" charset="0"/>
                <a:ea typeface="Aptos" pitchFamily="34" charset="-122"/>
                <a:cs typeface="Aptos" pitchFamily="34" charset="-120"/>
              </a:rPr>
              <a:t>Prompt: The instruction, question, source material, or task description provided to a generative AI system. A good prompt states the role, goal, audience, constraints, required sources, format, and review expectations.</a:t>
            </a:r>
            <a:endParaRPr lang="en-US" sz="1320" dirty="0"/>
          </a:p>
          <a:p>
            <a:r>
              <a:rPr lang="en-US" sz="1320" dirty="0">
                <a:solidFill>
                  <a:srgbClr val="17364A"/>
                </a:solidFill>
                <a:latin typeface="Aptos" pitchFamily="34" charset="0"/>
                <a:ea typeface="Aptos" pitchFamily="34" charset="-122"/>
                <a:cs typeface="Aptos" pitchFamily="34" charset="-120"/>
              </a:rPr>
              <a:t>Retrieval-augmented generation (RAG): A method that connects a generative AI system to selected source documents or databases so responses can be grounded in approved material. RAG can reduce unsupported answers, but users still need source.</a:t>
            </a:r>
            <a:endParaRPr lang="en-US" sz="13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Generative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Definitions Continued</a:t>
            </a:r>
            <a:endParaRPr lang="en-US" sz="2800" dirty="0"/>
          </a:p>
        </p:txBody>
      </p:sp>
      <p:sp>
        <p:nvSpPr>
          <p:cNvPr id="7" name="Text 5"/>
          <p:cNvSpPr/>
          <p:nvPr/>
        </p:nvSpPr>
        <p:spPr>
          <a:xfrm>
            <a:off x="822960" y="1325880"/>
            <a:ext cx="10378440" cy="4754880"/>
          </a:xfrm>
          <a:prstGeom prst="rect">
            <a:avLst/>
          </a:prstGeom>
          <a:noFill/>
          <a:ln/>
        </p:spPr>
        <p:txBody>
          <a:bodyPr wrap="square" lIns="635" tIns="635" rIns="635" bIns="635" rtlCol="0" anchor="t">
            <a:normAutofit/>
          </a:bodyPr>
          <a:lstStyle/>
          <a:p>
            <a:r>
              <a:rPr lang="en-US" sz="1320" dirty="0">
                <a:solidFill>
                  <a:srgbClr val="17364A"/>
                </a:solidFill>
                <a:latin typeface="Aptos" pitchFamily="34" charset="0"/>
                <a:ea typeface="Aptos" pitchFamily="34" charset="-122"/>
                <a:cs typeface="Aptos" pitchFamily="34" charset="-120"/>
              </a:rPr>
              <a:t>Synthetic data: Artificially generated data designed to resemble real data without directly exposing actual individual records. Synthetic data can support testing and training, but it must still be assessed for privacy risk,.</a:t>
            </a:r>
            <a:endParaRPr lang="en-US" sz="13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Generative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Core Concepts</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Source material is a core concept for this lesson because it turns generative ai from an abstract AI topic into something you can recognize in daily public health work. The approved documents, data, policies, or examples the AI should rely on.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Human review is a core concept for this lesson because it turns generative ai from an abstract AI topic into something you can recognize in daily public health work. A person checks accuracy, tone, equity, accessibility, privacy, and policy alignment before the output is used.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Approved-source guidance is a core concept for this lesson because it turns generative ai from an abstract AI topic into something you can recognize in daily public health work. Rules explaining which source documents may be used and what sources are not acceptable.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a:t>
            </a:r>
            <a:endParaRPr lang="en-US" sz="13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Generative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Public Health Application</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Draft health education materials is a useful way to apply this lesson because it gives you a concrete workflow to test against the concept. Create draft messages, FAQs, or outreach language that staff can adapt for literacy level, cultural context, accessibility, and approved public health guidance.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Create first drafts of grant narratives is a useful way to apply this lesson because it gives you a concrete workflow to test against the concept. Help teams turn project goals, workplans, staffing needs, and evaluation measures into a structured draft for human editing and grant compliance review.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Summarize policy documents with human review is a useful way to apply this lesson because it gives you a concrete workflow to test against the concept. Extract key requirements, implementation deadlines, affected programs, and decision points from long guidance documents for legal or policy review.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a:t>
            </a:r>
            <a:endParaRPr lang="en-US" sz="13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Generative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Implementation Guidance</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To apply this module, begin with a real or realistic public health workflow and describe the task in plain language before naming an AI tool. Use the related plays (Play 1, Play 3, Play 11) to identify the decisions, approvals, people, and timing needed for responsible implementation. Use the related tools (Tool 2, Tool 14, Tool 40) to create documentation that can be reviewed, saved, revised, and used as evidence of readiness. The practical exercise asks you to produce evidence that can feed into that work: Take a public health education message, a policy memo, and an internal meeting summary. Define what generative AI could help draft, what source material it would need, and what review steps would be required before use. The main guardrail for this lesson is that Outputs can sound plausible while being wrong. Consequential outputs need subject matter review. Treat that guardrail as an operational requirement, not a warning label at the end of the lesson. Before using AI in this area, identify what could go wrong, who would notice the problem, how the concern would be escalated, and what authority exists to pause or change the work. That approach makes risk management part of routine public health practice rather than a separate technical review. If your department already has a relevant process, such as data governance, technology governance, quality improvement, procurement review, privacy review, emergency response planning, or workforce development, use that process as the starting point. The playbook tools are meant to fill gaps where a method or documentation process does not already exist. There is no need to recreate the wheel when an existing process can be extended to include AI-specific questions, evidence, approval points, and monitoring expectations. This keeps AI governance connected to normal public health operations instead of creating a parallel paperwork system.</a:t>
            </a:r>
            <a:endParaRPr lang="en-US" sz="13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Generative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Using Plays and Tools</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The related plays help you decide where this topic fits in the planning and implementation sequence. The related tools help you convert the lesson into a documented artifact, such as a review checklist, inventory record, policy scan, implementation note, communication plan, training assignment, risk register, or monitoring record. Use the assessment results as a starting recommendation, but adjust the path based on what your department has already completed and what is most useful for your public health goals. When a play or tool is not needed, document why it was deferred so future reviewers understand the decision. This matters for your practice because Generative AI can improve staff efficiency, but it can also produce fluent misinformation, incomplete summaries, biased language, or unsupported recommendations. Public health your department needs practical rules for when generative AI can draft, when it can summarize, when it must use approved source material, and when it should not be used at all. Use that purpose to decide how much documentation, governance review, stakeholder input, and monitoring are proportionate to the risk and public health impact of the work. A low-risk internal learning activity may need only basic documentation, while a public-facing or decision-support workflow may need formal review, validation, transparency, and ongoing oversight.</a:t>
            </a:r>
            <a:endParaRPr lang="en-US" sz="13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Generative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Practical Exercise</a:t>
            </a:r>
            <a:endParaRPr lang="en-US" sz="2800" dirty="0"/>
          </a:p>
        </p:txBody>
      </p:sp>
      <p:sp>
        <p:nvSpPr>
          <p:cNvPr id="7" name="Text 5"/>
          <p:cNvSpPr/>
          <p:nvPr/>
        </p:nvSpPr>
        <p:spPr>
          <a:xfrm>
            <a:off x="822960" y="1234440"/>
            <a:ext cx="10378440" cy="2011680"/>
          </a:xfrm>
          <a:prstGeom prst="rect">
            <a:avLst/>
          </a:prstGeom>
          <a:noFill/>
          <a:ln/>
        </p:spPr>
        <p:txBody>
          <a:bodyPr wrap="square" lIns="1016" tIns="1016" rIns="1016" bIns="1016" rtlCol="0" anchor="t">
            <a:normAutofit/>
          </a:bodyPr>
          <a:lstStyle/>
          <a:p>
            <a:pPr indent="0" marL="0">
              <a:buNone/>
            </a:pPr>
            <a:r>
              <a:rPr lang="en-US" sz="1520" dirty="0">
                <a:solidFill>
                  <a:srgbClr val="17364A"/>
                </a:solidFill>
                <a:latin typeface="Aptos" pitchFamily="34" charset="0"/>
                <a:ea typeface="Aptos" pitchFamily="34" charset="-122"/>
                <a:cs typeface="Aptos" pitchFamily="34" charset="-120"/>
              </a:rPr>
              <a:t>Take a public health education message, a policy memo, and an internal meeting summary. Define what generative AI could help draft, what source material it would need, and what review steps would be required before use.</a:t>
            </a:r>
            <a:endParaRPr lang="en-US" sz="1520" dirty="0"/>
          </a:p>
        </p:txBody>
      </p:sp>
      <p:sp>
        <p:nvSpPr>
          <p:cNvPr id="8" name="Text 6"/>
          <p:cNvSpPr/>
          <p:nvPr/>
        </p:nvSpPr>
        <p:spPr>
          <a:xfrm>
            <a:off x="822960" y="3520440"/>
            <a:ext cx="10378440" cy="1828800"/>
          </a:xfrm>
          <a:prstGeom prst="rect">
            <a:avLst/>
          </a:prstGeom>
          <a:noFill/>
          <a:ln/>
        </p:spPr>
        <p:txBody>
          <a:bodyPr wrap="square" lIns="635" tIns="635" rIns="635" bIns="635" rtlCol="0" anchor="t">
            <a:normAutofit/>
          </a:bodyPr>
          <a:lstStyle/>
          <a:p>
            <a:r>
              <a:rPr lang="en-US" sz="1400" dirty="0">
                <a:solidFill>
                  <a:srgbClr val="17364A"/>
                </a:solidFill>
                <a:latin typeface="Aptos" pitchFamily="34" charset="0"/>
                <a:ea typeface="Aptos" pitchFamily="34" charset="-122"/>
                <a:cs typeface="Aptos" pitchFamily="34" charset="-120"/>
              </a:rPr>
              <a:t>Expected artifact: Generative AI acceptable-use rules</a:t>
            </a:r>
            <a:endParaRPr lang="en-US" sz="1400" dirty="0"/>
          </a:p>
          <a:p>
            <a:r>
              <a:rPr lang="en-US" sz="1400" dirty="0">
                <a:solidFill>
                  <a:srgbClr val="17364A"/>
                </a:solidFill>
                <a:latin typeface="Aptos" pitchFamily="34" charset="0"/>
                <a:ea typeface="Aptos" pitchFamily="34" charset="-122"/>
                <a:cs typeface="Aptos" pitchFamily="34" charset="-120"/>
              </a:rPr>
              <a:t>Expected artifact: Human review checklist for AI-assisted drafts</a:t>
            </a:r>
            <a:endParaRPr lang="en-US" sz="1400" dirty="0"/>
          </a:p>
          <a:p>
            <a:r>
              <a:rPr lang="en-US" sz="1400" dirty="0">
                <a:solidFill>
                  <a:srgbClr val="17364A"/>
                </a:solidFill>
                <a:latin typeface="Aptos" pitchFamily="34" charset="0"/>
                <a:ea typeface="Aptos" pitchFamily="34" charset="-122"/>
                <a:cs typeface="Aptos" pitchFamily="34" charset="-120"/>
              </a:rPr>
              <a:t>Expected artifact: Approved-source guidance for RAG or document-grounded generation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Generative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Reflection Questions</a:t>
            </a:r>
            <a:endParaRPr lang="en-US" sz="2800" dirty="0"/>
          </a:p>
        </p:txBody>
      </p:sp>
      <p:sp>
        <p:nvSpPr>
          <p:cNvPr id="7" name="Text 5"/>
          <p:cNvSpPr/>
          <p:nvPr/>
        </p:nvSpPr>
        <p:spPr>
          <a:xfrm>
            <a:off x="822960" y="1325880"/>
            <a:ext cx="10378440" cy="4572000"/>
          </a:xfrm>
          <a:prstGeom prst="rect">
            <a:avLst/>
          </a:prstGeom>
          <a:noFill/>
          <a:ln/>
        </p:spPr>
        <p:txBody>
          <a:bodyPr wrap="square" lIns="635" tIns="635" rIns="635" bIns="635" rtlCol="0" anchor="t">
            <a:normAutofit/>
          </a:bodyPr>
          <a:lstStyle/>
          <a:p>
            <a:r>
              <a:rPr lang="en-US" sz="1500" dirty="0">
                <a:solidFill>
                  <a:srgbClr val="17364A"/>
                </a:solidFill>
                <a:latin typeface="Aptos" pitchFamily="34" charset="0"/>
                <a:ea typeface="Aptos" pitchFamily="34" charset="-122"/>
                <a:cs typeface="Aptos" pitchFamily="34" charset="-120"/>
              </a:rPr>
              <a:t>Which materials may be drafted with generative AI and which require approved templates or source documents?</a:t>
            </a:r>
            <a:endParaRPr lang="en-US" sz="1500" dirty="0"/>
          </a:p>
          <a:p>
            <a:r>
              <a:rPr lang="en-US" sz="1500" dirty="0">
                <a:solidFill>
                  <a:srgbClr val="17364A"/>
                </a:solidFill>
                <a:latin typeface="Aptos" pitchFamily="34" charset="0"/>
                <a:ea typeface="Aptos" pitchFamily="34" charset="-122"/>
                <a:cs typeface="Aptos" pitchFamily="34" charset="-120"/>
              </a:rPr>
              <a:t>What human review is required before AI-assisted content is shared with the public, partners, or leadership?</a:t>
            </a:r>
            <a:endParaRPr lang="en-US" sz="1500" dirty="0"/>
          </a:p>
          <a:p>
            <a:r>
              <a:rPr lang="en-US" sz="1500" dirty="0">
                <a:solidFill>
                  <a:srgbClr val="17364A"/>
                </a:solidFill>
                <a:latin typeface="Aptos" pitchFamily="34" charset="0"/>
                <a:ea typeface="Aptos" pitchFamily="34" charset="-122"/>
                <a:cs typeface="Aptos" pitchFamily="34" charset="-120"/>
              </a:rPr>
              <a:t>What data are prohibited from public or consumer AI tools?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Generative AI</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References and Resources</a:t>
            </a:r>
            <a:endParaRPr lang="en-US" sz="2800" dirty="0"/>
          </a:p>
        </p:txBody>
      </p:sp>
      <p:sp>
        <p:nvSpPr>
          <p:cNvPr id="7" name="Text 5"/>
          <p:cNvSpPr/>
          <p:nvPr/>
        </p:nvSpPr>
        <p:spPr>
          <a:xfrm>
            <a:off x="822960" y="1280160"/>
            <a:ext cx="10378440" cy="4800600"/>
          </a:xfrm>
          <a:prstGeom prst="rect">
            <a:avLst/>
          </a:prstGeom>
          <a:noFill/>
          <a:ln/>
        </p:spPr>
        <p:txBody>
          <a:bodyPr wrap="square" lIns="635" tIns="635" rIns="635" bIns="635" rtlCol="0" anchor="t">
            <a:normAutofit/>
          </a:bodyPr>
          <a:lstStyle/>
          <a:p>
            <a:r>
              <a:rPr lang="en-US" sz="1280" dirty="0">
                <a:solidFill>
                  <a:srgbClr val="17364A"/>
                </a:solidFill>
                <a:latin typeface="Aptos" pitchFamily="34" charset="0"/>
                <a:ea typeface="Aptos" pitchFamily="34" charset="-122"/>
                <a:cs typeface="Aptos" pitchFamily="34" charset="-120"/>
              </a:rPr>
              <a:t>WHO: Regulatory considerations on artificial intelligence for health: Health-focused regulatory considerations for AI systems.</a:t>
            </a:r>
            <a:endParaRPr lang="en-US" sz="1280" dirty="0"/>
          </a:p>
          <a:p>
            <a:r>
              <a:rPr lang="en-US" sz="1280" dirty="0">
                <a:solidFill>
                  <a:srgbClr val="17364A"/>
                </a:solidFill>
                <a:latin typeface="Aptos" pitchFamily="34" charset="0"/>
                <a:ea typeface="Aptos" pitchFamily="34" charset="-122"/>
                <a:cs typeface="Aptos" pitchFamily="34" charset="-120"/>
              </a:rPr>
              <a:t>NIST Generative AI Profile: Risk management profile for generative AI systems.</a:t>
            </a:r>
            <a:endParaRPr lang="en-US" sz="1280" dirty="0"/>
          </a:p>
          <a:p>
            <a:r>
              <a:rPr lang="en-US" sz="1280" dirty="0">
                <a:solidFill>
                  <a:srgbClr val="17364A"/>
                </a:solidFill>
                <a:latin typeface="Aptos" pitchFamily="34" charset="0"/>
                <a:ea typeface="Aptos" pitchFamily="34" charset="-122"/>
                <a:cs typeface="Aptos" pitchFamily="34" charset="-120"/>
              </a:rPr>
              <a:t>ASPPH AI Framework Report: Guidance on human-centered and responsible generative AI use in public health contexts.</a:t>
            </a:r>
            <a:endParaRPr lang="en-US" sz="1280" dirty="0"/>
          </a:p>
          <a:p>
            <a:r>
              <a:rPr lang="en-US" sz="1280" dirty="0">
                <a:solidFill>
                  <a:srgbClr val="17364A"/>
                </a:solidFill>
                <a:latin typeface="Aptos" pitchFamily="34" charset="0"/>
                <a:ea typeface="Aptos" pitchFamily="34" charset="-122"/>
                <a:cs typeface="Aptos" pitchFamily="34" charset="-120"/>
              </a:rPr>
              <a:t>OpenAI Prompt Engineering Guide: Practical guidance on writing clearer prompts, decomposing tasks, using examples, and improving model outputs through structured.</a:t>
            </a:r>
            <a:endParaRPr lang="en-US" sz="1280" dirty="0"/>
          </a:p>
          <a:p>
            <a:r>
              <a:rPr lang="en-US" sz="1280" dirty="0">
                <a:solidFill>
                  <a:srgbClr val="17364A"/>
                </a:solidFill>
                <a:latin typeface="Aptos" pitchFamily="34" charset="0"/>
                <a:ea typeface="Aptos" pitchFamily="34" charset="-122"/>
                <a:cs typeface="Aptos" pitchFamily="34" charset="-120"/>
              </a:rPr>
              <a:t>Google Cloud Prompt Engineering Guide: Plain-language overview of prompt engineering concepts, prompt structure, examples, and responsible use considerations.</a:t>
            </a:r>
            <a:endParaRPr lang="en-US" sz="1280" dirty="0"/>
          </a:p>
          <a:p>
            <a:r>
              <a:rPr lang="en-US" sz="1280" dirty="0">
                <a:solidFill>
                  <a:srgbClr val="17364A"/>
                </a:solidFill>
                <a:latin typeface="Aptos" pitchFamily="34" charset="0"/>
                <a:ea typeface="Aptos" pitchFamily="34" charset="-122"/>
                <a:cs typeface="Aptos" pitchFamily="34" charset="-120"/>
              </a:rPr>
              <a:t>Microsoft Prompt Engineering Techniques: Prompting techniques for Azure OpenAI and Microsoft Foundry models, including instructions, grounding, examples, and output formatting.</a:t>
            </a:r>
            <a:endParaRPr lang="en-US" sz="12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Generative AI</dc:title>
  <dc:subject>Generative AI learning module</dc:subject>
  <dc:creator>Paula Soper</dc:creator>
  <cp:lastModifiedBy>Paula Soper</cp:lastModifiedBy>
  <cp:revision>1</cp:revision>
  <dcterms:created xsi:type="dcterms:W3CDTF">2026-07-09T20:18:52Z</dcterms:created>
  <dcterms:modified xsi:type="dcterms:W3CDTF">2026-07-09T20:18:52Z</dcterms:modified>
</cp:coreProperties>
</file>