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0b69654c55f4efd" /><Relationship Type="http://schemas.openxmlformats.org/officeDocument/2006/relationships/extended-properties" Target="/docProps/app.xml" Id="R1931eeeb1dca4fed" /><Relationship Type="http://schemas.openxmlformats.org/officeDocument/2006/relationships/officeDocument" Target="/ppt/presentation.xml" Id="R745f5e3057a94743" /></Relationships>
</file>

<file path=ppt/presentation.xml><?xml version="1.0" encoding="utf-8"?>
<p:presentation xmlns:p="http://schemas.openxmlformats.org/presentationml/2006/main">
  <p:sldMasterIdLst>
    <p:sldMasterId xmlns:r="http://schemas.openxmlformats.org/officeDocument/2006/relationships" id="2147483648" r:id="R0f35c75ef1af47e3"/>
  </p:sldMasterIdLst>
  <p:notesMasterIdLst>
    <p:notesMasterId xmlns:r="http://schemas.openxmlformats.org/officeDocument/2006/relationships" r:id="R4f70a6f0c35443ea"/>
  </p:notesMasterIdLst>
  <p:sldIdLst>
    <p:sldId xmlns:r="http://schemas.openxmlformats.org/officeDocument/2006/relationships" id="256" r:id="Rda159f5a85ce4a40"/>
    <p:sldId xmlns:r="http://schemas.openxmlformats.org/officeDocument/2006/relationships" id="257" r:id="Rdfdcefeb30254581"/>
    <p:sldId xmlns:r="http://schemas.openxmlformats.org/officeDocument/2006/relationships" id="258" r:id="R22a6066b06674e50"/>
    <p:sldId xmlns:r="http://schemas.openxmlformats.org/officeDocument/2006/relationships" id="259" r:id="R188e8311f4af4d3a"/>
    <p:sldId xmlns:r="http://schemas.openxmlformats.org/officeDocument/2006/relationships" id="260" r:id="Rab814d11ad4e4183"/>
    <p:sldId xmlns:r="http://schemas.openxmlformats.org/officeDocument/2006/relationships" id="261" r:id="R4db43570b31b4ce3"/>
    <p:sldId xmlns:r="http://schemas.openxmlformats.org/officeDocument/2006/relationships" id="262" r:id="R32799458fbc041eb"/>
    <p:sldId xmlns:r="http://schemas.openxmlformats.org/officeDocument/2006/relationships" id="263" r:id="R91acf1a1fd2d4878"/>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20ba362e76f496c" /><Relationship Type="http://schemas.openxmlformats.org/officeDocument/2006/relationships/slideMaster" Target="/ppt/slideMasters/slideMaster1.xml" Id="R0f35c75ef1af47e3" /><Relationship Type="http://schemas.openxmlformats.org/officeDocument/2006/relationships/notesMaster" Target="/ppt/notesMasters/notesMaster1.xml" Id="R4f70a6f0c35443ea" /><Relationship Type="http://schemas.openxmlformats.org/officeDocument/2006/relationships/presProps" Target="/ppt/presProps.xml" Id="R9da4c2a31d484be5" /><Relationship Type="http://schemas.openxmlformats.org/officeDocument/2006/relationships/tableStyles" Target="/ppt/tableStyles.xml" Id="R19ba6492e25a408f" /><Relationship Type="http://schemas.openxmlformats.org/officeDocument/2006/relationships/slide" Target="/ppt/slides/slide1.xml" Id="Rda159f5a85ce4a40" /><Relationship Type="http://schemas.openxmlformats.org/officeDocument/2006/relationships/slide" Target="/ppt/slides/slide2.xml" Id="Rdfdcefeb30254581" /><Relationship Type="http://schemas.openxmlformats.org/officeDocument/2006/relationships/slide" Target="/ppt/slides/slide3.xml" Id="R22a6066b06674e50" /><Relationship Type="http://schemas.openxmlformats.org/officeDocument/2006/relationships/slide" Target="/ppt/slides/slide4.xml" Id="R188e8311f4af4d3a" /><Relationship Type="http://schemas.openxmlformats.org/officeDocument/2006/relationships/slide" Target="/ppt/slides/slide5.xml" Id="Rab814d11ad4e4183" /><Relationship Type="http://schemas.openxmlformats.org/officeDocument/2006/relationships/slide" Target="/ppt/slides/slide6.xml" Id="R4db43570b31b4ce3" /><Relationship Type="http://schemas.openxmlformats.org/officeDocument/2006/relationships/slide" Target="/ppt/slides/slide7.xml" Id="R32799458fbc041eb" /><Relationship Type="http://schemas.openxmlformats.org/officeDocument/2006/relationships/slide" Target="/ppt/slides/slide8.xml" Id="R91acf1a1fd2d487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17742b48f504b9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804e13be2a24e1a" /><Relationship Type="http://schemas.openxmlformats.org/officeDocument/2006/relationships/notesMaster" Target="/ppt/notesMasters/notesMaster1.xml" Id="R3cce6016669a4d79" /></Relationships>
</file>

<file path=ppt/notesSlides/_rels/notesSlide2.xml.rels>&#65279;<?xml version="1.0" encoding="utf-8"?><Relationships xmlns="http://schemas.openxmlformats.org/package/2006/relationships"><Relationship Type="http://schemas.openxmlformats.org/officeDocument/2006/relationships/slide" Target="/ppt/slides/slide2.xml" Id="Ra0ebe3b830404fb7" /><Relationship Type="http://schemas.openxmlformats.org/officeDocument/2006/relationships/notesMaster" Target="/ppt/notesMasters/notesMaster1.xml" Id="R8c6fecf503404bae" /></Relationships>
</file>

<file path=ppt/notesSlides/_rels/notesSlide3.xml.rels>&#65279;<?xml version="1.0" encoding="utf-8"?><Relationships xmlns="http://schemas.openxmlformats.org/package/2006/relationships"><Relationship Type="http://schemas.openxmlformats.org/officeDocument/2006/relationships/slide" Target="/ppt/slides/slide3.xml" Id="R270ad1aa226141b9" /><Relationship Type="http://schemas.openxmlformats.org/officeDocument/2006/relationships/notesMaster" Target="/ppt/notesMasters/notesMaster1.xml" Id="Re1e8917f32964729" /></Relationships>
</file>

<file path=ppt/notesSlides/_rels/notesSlide4.xml.rels>&#65279;<?xml version="1.0" encoding="utf-8"?><Relationships xmlns="http://schemas.openxmlformats.org/package/2006/relationships"><Relationship Type="http://schemas.openxmlformats.org/officeDocument/2006/relationships/slide" Target="/ppt/slides/slide4.xml" Id="R5610e692d05144da" /><Relationship Type="http://schemas.openxmlformats.org/officeDocument/2006/relationships/notesMaster" Target="/ppt/notesMasters/notesMaster1.xml" Id="R2b47d7e9fcfd4338" /></Relationships>
</file>

<file path=ppt/notesSlides/_rels/notesSlide5.xml.rels>&#65279;<?xml version="1.0" encoding="utf-8"?><Relationships xmlns="http://schemas.openxmlformats.org/package/2006/relationships"><Relationship Type="http://schemas.openxmlformats.org/officeDocument/2006/relationships/slide" Target="/ppt/slides/slide5.xml" Id="Rfe7e6b7e4a2c4fa9" /><Relationship Type="http://schemas.openxmlformats.org/officeDocument/2006/relationships/notesMaster" Target="/ppt/notesMasters/notesMaster1.xml" Id="Rbe297763287543ee" /></Relationships>
</file>

<file path=ppt/notesSlides/_rels/notesSlide6.xml.rels>&#65279;<?xml version="1.0" encoding="utf-8"?><Relationships xmlns="http://schemas.openxmlformats.org/package/2006/relationships"><Relationship Type="http://schemas.openxmlformats.org/officeDocument/2006/relationships/slide" Target="/ppt/slides/slide6.xml" Id="R47f23936036b4354" /><Relationship Type="http://schemas.openxmlformats.org/officeDocument/2006/relationships/notesMaster" Target="/ppt/notesMasters/notesMaster1.xml" Id="Re8ea926d34364962" /></Relationships>
</file>

<file path=ppt/notesSlides/_rels/notesSlide7.xml.rels>&#65279;<?xml version="1.0" encoding="utf-8"?><Relationships xmlns="http://schemas.openxmlformats.org/package/2006/relationships"><Relationship Type="http://schemas.openxmlformats.org/officeDocument/2006/relationships/slide" Target="/ppt/slides/slide7.xml" Id="R3316ded4c88a401e" /><Relationship Type="http://schemas.openxmlformats.org/officeDocument/2006/relationships/notesMaster" Target="/ppt/notesMasters/notesMaster1.xml" Id="Rf774e25618924a47" /></Relationships>
</file>

<file path=ppt/notesSlides/_rels/notesSlide8.xml.rels>&#65279;<?xml version="1.0" encoding="utf-8"?><Relationships xmlns="http://schemas.openxmlformats.org/package/2006/relationships"><Relationship Type="http://schemas.openxmlformats.org/officeDocument/2006/relationships/slide" Target="/ppt/slides/slide8.xml" Id="R166cc3803d9a4ef8" /><Relationship Type="http://schemas.openxmlformats.org/officeDocument/2006/relationships/notesMaster" Target="/ppt/notesMasters/notesMaster1.xml" Id="Rd79a0c7fc1794d5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participants to the When Not to Use AI lesson.</a:t>
            </a:r>
          </a:p>
          <a:p xmlns:a="http://schemas.openxmlformats.org/drawingml/2006/main">
            <a:r>
              <a:t>Explain that this deck is designed for staff training, leadership orientation, governance preparation, or cross-program discussion.</a:t>
            </a:r>
          </a:p>
          <a:p xmlns:a="http://schemas.openxmlformats.org/drawingml/2006/main">
            <a:r>
              <a:t>Frame the topic in plain language: Departments need a clear decision framework for situations where AI is inappropriate, premature, too risky, unsupported by data, legally uncertain, or not worth the operational burden.</a:t>
            </a:r>
          </a:p>
          <a:p xmlns:a="http://schemas.openxmlformats.org/drawingml/2006/main">
            <a:r>
              <a:t>Invite participants to think about where this topic already appears in their department's workflows, vendor tools, data systems, communications, or planning conversations.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When Not to Use AI training module.</a:t>
            </a:r>
          </a:p>
          <a:p xmlns:a="http://schemas.openxmlformats.org/drawingml/2006/main">
            <a:r>
              <a:t>Use this slide to explain the practical public health reason for learning this topic before AI tools are approved or deployed.</a:t>
            </a:r>
          </a:p>
          <a:p xmlns:a="http://schemas.openxmlformats.org/drawingml/2006/main">
            <a:r>
              <a:t>Connect the discussion back to the playbook: this topic supports Plays 1, 2, 3, 7, 12, 13 and Tools 1, 3, 6, 7, 13, 42, 46.</a:t>
            </a:r>
          </a:p>
          <a:p xmlns:a="http://schemas.openxmlformats.org/drawingml/2006/main">
            <a:r>
              <a:t>Emphasize the core guardrail: AI can consume resources, obscure accountability, or create harm when a simpler, safer, human-centered approach is more appropriate.</a:t>
            </a:r>
          </a:p>
          <a:p xmlns:a="http://schemas.openxmlformats.org/drawingml/2006/main">
            <a:r>
              <a:t>Ask participants how this topic could affect their own program area, staff roles, community relationships, data, or public communications.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When Not to Use AI training module.</a:t>
            </a:r>
          </a:p>
          <a:p xmlns:a="http://schemas.openxmlformats.org/drawingml/2006/main">
            <a:r>
              <a:t>Walk through the objectives and connect each one to a practical implementation decision.</a:t>
            </a:r>
          </a:p>
          <a:p xmlns:a="http://schemas.openxmlformats.org/drawingml/2006/main">
            <a:r>
              <a:t>Connect the discussion back to the playbook: this topic supports Plays 1, 2, 3, 7, 12, 13 and Tools 1, 3, 6, 7, 13, 42, 46.</a:t>
            </a:r>
          </a:p>
          <a:p xmlns:a="http://schemas.openxmlformats.org/drawingml/2006/main">
            <a:r>
              <a:t>Explain that participants do not need technical expertise to use this material. The goal is enough shared understanding to participate in governance, readiness assessment, use case review, procurement, deployment, or monitoring.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When Not to Use AI training module.</a:t>
            </a:r>
          </a:p>
          <a:p xmlns:a="http://schemas.openxmlformats.org/drawingml/2006/main">
            <a:r>
              <a:t>Use this slide to provide the narrative overview and definition before moving into detailed application.</a:t>
            </a:r>
          </a:p>
          <a:p xmlns:a="http://schemas.openxmlformats.org/drawingml/2006/main">
            <a:r>
              <a:t>Connect the discussion back to the playbook: this topic supports Plays 1, 2, 3, 7, 12, 13 and Tools 1, 3, 6, 7, 13, 42, 46.</a:t>
            </a:r>
          </a:p>
          <a:p xmlns:a="http://schemas.openxmlformats.org/drawingml/2006/main">
            <a:r>
              <a:t>Ask the group to restate the topic in their own words.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When Not to Use AI training module.</a:t>
            </a:r>
          </a:p>
          <a:p xmlns:a="http://schemas.openxmlformats.org/drawingml/2006/main">
            <a:r>
              <a:t>Use this slide to turn the concept into practical behaviors, decisions, and safeguards.</a:t>
            </a:r>
          </a:p>
          <a:p xmlns:a="http://schemas.openxmlformats.org/drawingml/2006/main">
            <a:r>
              <a:t>Connect the discussion back to the playbook: this topic supports Plays 1, 2, 3, 7, 12, 13 and Tools 1, 3, 6, 7, 13, 42, 46.</a:t>
            </a:r>
          </a:p>
          <a:p xmlns:a="http://schemas.openxmlformats.org/drawingml/2006/main">
            <a:r>
              <a:t>Invite participants to identify where these practices would need to be documented in their own department.</a:t>
            </a:r>
          </a:p>
          <a:p xmlns:a="http://schemas.openxmlformats.org/drawingml/2006/main">
            <a:r>
              <a:t>Start with Red Flags, then compare it with the other practice areas on the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When Not to Use AI training module.</a:t>
            </a:r>
          </a:p>
          <a:p xmlns:a="http://schemas.openxmlformats.org/drawingml/2006/main">
            <a:r>
              <a:t>Use this slide to make the topic concrete through public health workflow examples.</a:t>
            </a:r>
          </a:p>
          <a:p xmlns:a="http://schemas.openxmlformats.org/drawingml/2006/main">
            <a:r>
              <a:t>Connect the discussion back to the playbook: this topic supports Plays 1, 2, 3, 7, 12, 13 and Tools 1, 3, 6, 7, 13, 42, 46.</a:t>
            </a:r>
          </a:p>
          <a:p xmlns:a="http://schemas.openxmlformats.org/drawingml/2006/main">
            <a:r>
              <a:t>For each example, ask: What problem is being solved? What data would be used? Who reviews the AI output? What decision remains human? What could go wrong?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When Not to Use AI training module.</a:t>
            </a:r>
          </a:p>
          <a:p xmlns:a="http://schemas.openxmlformats.org/drawingml/2006/main">
            <a:r>
              <a:t>Use this slide for a facilitated activity near the end of the lesson.</a:t>
            </a:r>
          </a:p>
          <a:p xmlns:a="http://schemas.openxmlformats.org/drawingml/2006/main">
            <a:r>
              <a:t>Connect the discussion back to the playbook: this topic supports Plays 1, 2, 3, 7, 12, 13 and Tools 1, 3, 6, 7, 13, 42, 46.</a:t>
            </a:r>
          </a:p>
          <a:p xmlns:a="http://schemas.openxmlformats.org/drawingml/2006/main">
            <a:r>
              <a:t>Give participants time to work individually or in small groups. Ask them to produce a practical artifact that can feed into readiness assessment, governance review, use case prioritization, or implementation planning.</a:t>
            </a:r>
          </a:p>
          <a:p xmlns:a="http://schemas.openxmlformats.org/drawingml/2006/main">
            <a:r>
              <a:t>Expected takeaways include: AI no-go decision notes, Restricted-use criteria, Alternative solution options.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in the When Not to Use AI training module.</a:t>
            </a:r>
          </a:p>
          <a:p xmlns:a="http://schemas.openxmlformats.org/drawingml/2006/main">
            <a:r>
              <a:t>Close by connecting the lesson to next actions and resources.</a:t>
            </a:r>
          </a:p>
          <a:p xmlns:a="http://schemas.openxmlformats.org/drawingml/2006/main">
            <a:r>
              <a:t>Connect the discussion back to the playbook: this topic supports Plays 1, 2, 3, 7, 12, 13 and Tools 1, 3, 6, 7, 13, 42, 46.</a:t>
            </a:r>
          </a:p>
          <a:p xmlns:a="http://schemas.openxmlformats.org/drawingml/2006/main">
            <a:r>
              <a:t>Point participants to the first resource: Blueprint for an AI Bill of Rights.</a:t>
            </a:r>
          </a:p>
          <a:p xmlns:a="http://schemas.openxmlformats.org/drawingml/2006/main">
            <a:r>
              <a:t>End by asking each participant or team to name one follow-up action they will take after the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b6a47b87888422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cad1eec8df8426b" /><Relationship Type="http://schemas.openxmlformats.org/officeDocument/2006/relationships/slideLayout" Target="/ppt/slideLayouts/slideLayout1.xml" Id="R344252df3c64437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44252df3c64437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71544634e00419d" /><Relationship Type="http://schemas.openxmlformats.org/officeDocument/2006/relationships/image" Target="/ppt/media/image.png" Id="R2a2a520d451c4923" /><Relationship Type="http://schemas.openxmlformats.org/officeDocument/2006/relationships/notesSlide" Target="/ppt/notesSlides/notesSlide1.xml" Id="R24dcb3c885e4403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6e43baf6f8641e8" /><Relationship Type="http://schemas.openxmlformats.org/officeDocument/2006/relationships/notesSlide" Target="/ppt/notesSlides/notesSlide2.xml" Id="R3f3d99f5e72a4bb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19f9dc0a6b3421c" /><Relationship Type="http://schemas.openxmlformats.org/officeDocument/2006/relationships/notesSlide" Target="/ppt/notesSlides/notesSlide3.xml" Id="Rb2cd9f0502694d3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d405ca7171a4796" /><Relationship Type="http://schemas.openxmlformats.org/officeDocument/2006/relationships/notesSlide" Target="/ppt/notesSlides/notesSlide4.xml" Id="Ra33ad470c532466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129d612d5494cc5" /><Relationship Type="http://schemas.openxmlformats.org/officeDocument/2006/relationships/notesSlide" Target="/ppt/notesSlides/notesSlide5.xml" Id="R688f053a6dce46e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67a1cc14f7243ea" /><Relationship Type="http://schemas.openxmlformats.org/officeDocument/2006/relationships/notesSlide" Target="/ppt/notesSlides/notesSlide6.xml" Id="R92087133e7e6414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2cf9de6e861463d" /><Relationship Type="http://schemas.openxmlformats.org/officeDocument/2006/relationships/notesSlide" Target="/ppt/notesSlides/notesSlide7.xml" Id="Rcfbc0b542c5b483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8a1bee6b9a84c4a" /><Relationship Type="http://schemas.openxmlformats.org/officeDocument/2006/relationships/notesSlide" Target="/ppt/notesSlides/notesSlide8.xml" Id="R3cf340875fb04053" /></Relationships>
</file>

<file path=ppt/slides/slide1.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2a2a520d451c4923"/>
          <a:stretch xmlns:a="http://schemas.openxmlformats.org/drawingml/2006/main"/>
        </p:blipFill>
        <p:spPr>
          <a:xfrm xmlns:a="http://schemas.openxmlformats.org/drawingml/2006/main">
            <a:off x="5316097" y="514350"/>
            <a:ext cx="1559806" cy="1524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466773D-9CB6-4DEE-A9F7-F39B298285D3}"/>
              </a:ext>
            </a:extLst>
          </p:cNvPr>
          <p:cNvSpPr>
            <a:spLocks xmlns:a="http://schemas.openxmlformats.org/drawingml/2006/main" noGrp="1"/>
          </p:cNvSpPr>
          <p:nvPr/>
        </p:nvSpPr>
        <p:spPr>
          <a:xfrm xmlns:a="http://schemas.openxmlformats.org/drawingml/2006/main">
            <a:off x="4953000" y="23050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287320"/>
                </a:solidFill>
              </a:defRPr>
            </a:pPr>
            <a:r>
              <a:rPr sz="1800" b="1">
                <a:solidFill>
                  <a:srgbClr val="287320"/>
                </a:solidFill>
              </a:rPr>
              <a:t>Lesson 27</a:t>
            </a:r>
          </a:p>
        </p:txBody>
      </p:sp>
      <p:sp>
        <p:nvSpPr>
          <p:cNvPr id="3" name="">
            <a:extLst xmlns:a="http://schemas.openxmlformats.org/drawingml/2006/main">
              <a:ext uri="{FF2B5EF4-FFF2-40B4-BE49-F238E27FC236}">
                <a16:creationId xmlns:a16="http://schemas.microsoft.com/office/drawing/2014/main" id="{F65B1675-CADE-4161-A8CC-BDEDD98177A1}"/>
              </a:ext>
            </a:extLst>
          </p:cNvPr>
          <p:cNvSpPr>
            <a:spLocks xmlns:a="http://schemas.openxmlformats.org/drawingml/2006/main" noGrp="1"/>
          </p:cNvSpPr>
          <p:nvPr/>
        </p:nvSpPr>
        <p:spPr>
          <a:xfrm xmlns:a="http://schemas.openxmlformats.org/drawingml/2006/main">
            <a:off x="1333500" y="2781300"/>
            <a:ext cx="9525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900" b="1">
                <a:solidFill>
                  <a:srgbClr val="003B70"/>
                </a:solidFill>
              </a:defRPr>
            </a:pPr>
            <a:r>
              <a:rPr sz="3900" b="1">
                <a:solidFill>
                  <a:srgbClr val="003B70"/>
                </a:solidFill>
              </a:rPr>
              <a:t>When Not to Use AI</a:t>
            </a:r>
          </a:p>
        </p:txBody>
      </p:sp>
      <p:sp>
        <p:nvSpPr>
          <p:cNvPr id="4" name="">
            <a:extLst xmlns:a="http://schemas.openxmlformats.org/drawingml/2006/main">
              <a:ext uri="{FF2B5EF4-FFF2-40B4-BE49-F238E27FC236}">
                <a16:creationId xmlns:a16="http://schemas.microsoft.com/office/drawing/2014/main" id="{4AA187F1-07B0-4054-AC21-C76CB94A2841}"/>
              </a:ext>
            </a:extLst>
          </p:cNvPr>
          <p:cNvSpPr>
            <a:spLocks xmlns:a="http://schemas.openxmlformats.org/drawingml/2006/main" noGrp="1"/>
          </p:cNvSpPr>
          <p:nvPr/>
        </p:nvSpPr>
        <p:spPr>
          <a:xfrm xmlns:a="http://schemas.openxmlformats.org/drawingml/2006/main">
            <a:off x="3714750" y="38576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025" b="1">
                <a:solidFill>
                  <a:srgbClr val="005DAA"/>
                </a:solidFill>
              </a:defRPr>
            </a:pPr>
            <a:r>
              <a:rPr sz="2025" b="1">
                <a:solidFill>
                  <a:srgbClr val="005DAA"/>
                </a:solidFill>
              </a:rPr>
              <a:t>Staff Training Module</a:t>
            </a:r>
          </a:p>
        </p:txBody>
      </p:sp>
      <p:sp>
        <p:nvSpPr>
          <p:cNvPr id="5" name="">
            <a:extLst xmlns:a="http://schemas.openxmlformats.org/drawingml/2006/main">
              <a:ext uri="{FF2B5EF4-FFF2-40B4-BE49-F238E27FC236}">
                <a16:creationId xmlns:a16="http://schemas.microsoft.com/office/drawing/2014/main" id="{BE620688-A566-4CA2-BE6A-BD82EC485BB0}"/>
              </a:ext>
            </a:extLst>
          </p:cNvPr>
          <p:cNvSpPr>
            <a:spLocks xmlns:a="http://schemas.openxmlformats.org/drawingml/2006/main" noGrp="1"/>
          </p:cNvSpPr>
          <p:nvPr/>
        </p:nvSpPr>
        <p:spPr>
          <a:xfrm xmlns:a="http://schemas.openxmlformats.org/drawingml/2006/main">
            <a:off x="3429000" y="4495800"/>
            <a:ext cx="5334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135BE3AB-2733-4581-8037-81D09C9A49AD}"/>
              </a:ext>
            </a:extLst>
          </p:cNvPr>
          <p:cNvSpPr>
            <a:spLocks xmlns:a="http://schemas.openxmlformats.org/drawingml/2006/main" noGrp="1"/>
          </p:cNvSpPr>
          <p:nvPr/>
        </p:nvSpPr>
        <p:spPr>
          <a:xfrm xmlns:a="http://schemas.openxmlformats.org/drawingml/2006/main">
            <a:off x="2286000" y="4905375"/>
            <a:ext cx="762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287320"/>
                </a:solidFill>
              </a:defRPr>
            </a:pPr>
            <a:r>
              <a:rPr sz="1500" b="1">
                <a:solidFill>
                  <a:srgbClr val="287320"/>
                </a:solidFill>
              </a:rPr>
              <a:t>AI Playbook and Toolkit for Public Health Departments</a:t>
            </a:r>
          </a:p>
        </p:txBody>
      </p:sp>
    </p:spTree>
    <p:extLst>
      <p:ext uri="{BB962C8B-B14F-4D97-AF65-F5344CB8AC3E}">
        <p14:creationId xmlns:p14="http://schemas.microsoft.com/office/powerpoint/2010/main" val="154278952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4A9A3A7-E47D-468A-A62D-CB19BA4B7C28}"/>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C97D1A9E-2830-4648-837C-4FF743ED64E5}"/>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Why this topic matters</a:t>
            </a:r>
          </a:p>
        </p:txBody>
      </p:sp>
      <p:sp>
        <p:nvSpPr>
          <p:cNvPr id="3" name="">
            <a:extLst xmlns:a="http://schemas.openxmlformats.org/drawingml/2006/main">
              <a:ext uri="{FF2B5EF4-FFF2-40B4-BE49-F238E27FC236}">
                <a16:creationId xmlns:a16="http://schemas.microsoft.com/office/drawing/2014/main" id="{CB538457-7884-4EBC-9819-1DF616DB4381}"/>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420C20A7-6A31-4861-AE2D-7A64E23CB62C}"/>
              </a:ext>
            </a:extLst>
          </p:cNvPr>
          <p:cNvSpPr>
            <a:spLocks xmlns:a="http://schemas.openxmlformats.org/drawingml/2006/main" noGrp="1"/>
          </p:cNvSpPr>
          <p:nvPr/>
        </p:nvSpPr>
        <p:spPr>
          <a:xfrm xmlns:a="http://schemas.openxmlformats.org/drawingml/2006/main">
            <a:off x="685800" y="1714500"/>
            <a:ext cx="10287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Departments need a clear decision framework for situations where AI is inappropriate, premature, too risky, unsupported by data, legally uncertain, or not worth the operational burden.</a:t>
            </a:r>
          </a:p>
        </p:txBody>
      </p:sp>
      <p:sp>
        <p:nvSpPr>
          <p:cNvPr id="5" name="">
            <a:extLst xmlns:a="http://schemas.openxmlformats.org/drawingml/2006/main">
              <a:ext uri="{FF2B5EF4-FFF2-40B4-BE49-F238E27FC236}">
                <a16:creationId xmlns:a16="http://schemas.microsoft.com/office/drawing/2014/main" id="{F89174B7-B39D-42DD-97D2-2B22D43107CA}"/>
              </a:ext>
            </a:extLst>
          </p:cNvPr>
          <p:cNvSpPr>
            <a:spLocks xmlns:a="http://schemas.openxmlformats.org/drawingml/2006/main" noGrp="1"/>
          </p:cNvSpPr>
          <p:nvPr/>
        </p:nvSpPr>
        <p:spPr>
          <a:xfrm xmlns:a="http://schemas.openxmlformats.org/drawingml/2006/main">
            <a:off x="685800"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1FF642D8-94C4-4DB0-A3E1-9809EC111668}"/>
              </a:ext>
            </a:extLst>
          </p:cNvPr>
          <p:cNvSpPr>
            <a:spLocks xmlns:a="http://schemas.openxmlformats.org/drawingml/2006/main" noGrp="1"/>
          </p:cNvSpPr>
          <p:nvPr/>
        </p:nvSpPr>
        <p:spPr>
          <a:xfrm xmlns:a="http://schemas.openxmlformats.org/drawingml/2006/main">
            <a:off x="685800" y="2905125"/>
            <a:ext cx="66675" cy="2190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D1CF4424-E7C9-438F-BB47-6000B5EB6994}"/>
              </a:ext>
            </a:extLst>
          </p:cNvPr>
          <p:cNvSpPr>
            <a:spLocks xmlns:a="http://schemas.openxmlformats.org/drawingml/2006/main" noGrp="1"/>
          </p:cNvSpPr>
          <p:nvPr/>
        </p:nvSpPr>
        <p:spPr>
          <a:xfrm xmlns:a="http://schemas.openxmlformats.org/drawingml/2006/main">
            <a:off x="914400"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Public health value</a:t>
            </a:r>
          </a:p>
        </p:txBody>
      </p:sp>
      <p:sp>
        <p:nvSpPr>
          <p:cNvPr id="8" name="">
            <a:extLst xmlns:a="http://schemas.openxmlformats.org/drawingml/2006/main">
              <a:ext uri="{FF2B5EF4-FFF2-40B4-BE49-F238E27FC236}">
                <a16:creationId xmlns:a16="http://schemas.microsoft.com/office/drawing/2014/main" id="{C485A621-A515-47D1-8CC2-44611D7469AF}"/>
              </a:ext>
            </a:extLst>
          </p:cNvPr>
          <p:cNvSpPr>
            <a:spLocks xmlns:a="http://schemas.openxmlformats.org/drawingml/2006/main" noGrp="1"/>
          </p:cNvSpPr>
          <p:nvPr/>
        </p:nvSpPr>
        <p:spPr>
          <a:xfrm xmlns:a="http://schemas.openxmlformats.org/drawingml/2006/main">
            <a:off x="914400"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A clear no-go framework protects departments from avoidable harm, unfunded pilots, weak accountability, and loss of trust.</a:t>
            </a:r>
          </a:p>
        </p:txBody>
      </p:sp>
      <p:sp>
        <p:nvSpPr>
          <p:cNvPr id="9" name="">
            <a:extLst xmlns:a="http://schemas.openxmlformats.org/drawingml/2006/main">
              <a:ext uri="{FF2B5EF4-FFF2-40B4-BE49-F238E27FC236}">
                <a16:creationId xmlns:a16="http://schemas.microsoft.com/office/drawing/2014/main" id="{74C5FCB5-A9B6-4B13-A2A4-EBC1A58C2156}"/>
              </a:ext>
            </a:extLst>
          </p:cNvPr>
          <p:cNvSpPr>
            <a:spLocks xmlns:a="http://schemas.openxmlformats.org/drawingml/2006/main" noGrp="1"/>
          </p:cNvSpPr>
          <p:nvPr/>
        </p:nvSpPr>
        <p:spPr>
          <a:xfrm xmlns:a="http://schemas.openxmlformats.org/drawingml/2006/main">
            <a:off x="5953125" y="2905125"/>
            <a:ext cx="4762500" cy="2190750"/>
          </a:xfrm>
          <a:prstGeom xmlns:a="http://schemas.openxmlformats.org/drawingml/2006/main" prst="roundRect">
            <a:avLst>
              <a:gd name="adj" fmla="val 5217"/>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325D54F8-BEA4-4195-82A1-132DCEBF7595}"/>
              </a:ext>
            </a:extLst>
          </p:cNvPr>
          <p:cNvSpPr>
            <a:spLocks xmlns:a="http://schemas.openxmlformats.org/drawingml/2006/main" noGrp="1"/>
          </p:cNvSpPr>
          <p:nvPr/>
        </p:nvSpPr>
        <p:spPr>
          <a:xfrm xmlns:a="http://schemas.openxmlformats.org/drawingml/2006/main">
            <a:off x="5953125" y="2905125"/>
            <a:ext cx="66675" cy="2190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837F37C0-8216-4720-8870-3E70F78B9CCA}"/>
              </a:ext>
            </a:extLst>
          </p:cNvPr>
          <p:cNvSpPr>
            <a:spLocks xmlns:a="http://schemas.openxmlformats.org/drawingml/2006/main" noGrp="1"/>
          </p:cNvSpPr>
          <p:nvPr/>
        </p:nvSpPr>
        <p:spPr>
          <a:xfrm xmlns:a="http://schemas.openxmlformats.org/drawingml/2006/main">
            <a:off x="6181725" y="3095625"/>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Guardrail</a:t>
            </a:r>
          </a:p>
        </p:txBody>
      </p:sp>
      <p:sp>
        <p:nvSpPr>
          <p:cNvPr id="12" name="">
            <a:extLst xmlns:a="http://schemas.openxmlformats.org/drawingml/2006/main">
              <a:ext uri="{FF2B5EF4-FFF2-40B4-BE49-F238E27FC236}">
                <a16:creationId xmlns:a16="http://schemas.microsoft.com/office/drawing/2014/main" id="{9B59A7BD-EADE-4FDF-8693-11CF9CE86566}"/>
              </a:ext>
            </a:extLst>
          </p:cNvPr>
          <p:cNvSpPr>
            <a:spLocks xmlns:a="http://schemas.openxmlformats.org/drawingml/2006/main" noGrp="1"/>
          </p:cNvSpPr>
          <p:nvPr/>
        </p:nvSpPr>
        <p:spPr>
          <a:xfrm xmlns:a="http://schemas.openxmlformats.org/drawingml/2006/main">
            <a:off x="6181725" y="3552825"/>
            <a:ext cx="430530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AI can consume resources, obscure accountability, or create harm when a simpler, safer, human-centered approach is more appropriate.</a:t>
            </a:r>
          </a:p>
        </p:txBody>
      </p:sp>
      <p:sp>
        <p:nvSpPr>
          <p:cNvPr id="13" name="">
            <a:extLst xmlns:a="http://schemas.openxmlformats.org/drawingml/2006/main">
              <a:ext uri="{FF2B5EF4-FFF2-40B4-BE49-F238E27FC236}">
                <a16:creationId xmlns:a16="http://schemas.microsoft.com/office/drawing/2014/main" id="{0AF5CA25-72A5-438D-ACFE-0EC0F6F64AD1}"/>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When Not to Use AI</a:t>
            </a:r>
          </a:p>
        </p:txBody>
      </p:sp>
      <p:sp>
        <p:nvSpPr>
          <p:cNvPr id="14" name="">
            <a:extLst xmlns:a="http://schemas.openxmlformats.org/drawingml/2006/main">
              <a:ext uri="{FF2B5EF4-FFF2-40B4-BE49-F238E27FC236}">
                <a16:creationId xmlns:a16="http://schemas.microsoft.com/office/drawing/2014/main" id="{EA78394C-71B4-4BE9-9ABC-E061266E8BEF}"/>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02</a:t>
            </a:r>
          </a:p>
        </p:txBody>
      </p:sp>
    </p:spTree>
    <p:extLst>
      <p:ext uri="{BB962C8B-B14F-4D97-AF65-F5344CB8AC3E}">
        <p14:creationId xmlns:p14="http://schemas.microsoft.com/office/powerpoint/2010/main" val="1823948917"/>
      </p:ext>
    </p:extLst>
  </p:cSld>
</p:sld>
</file>

<file path=ppt/slides/slide3.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B0A6BA1-74BC-4F06-A01E-40E1B49E3B2F}"/>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F9DB852C-1623-4122-8EA2-757294E43987}"/>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Learning objectives</a:t>
            </a:r>
          </a:p>
        </p:txBody>
      </p:sp>
      <p:sp>
        <p:nvSpPr>
          <p:cNvPr id="3" name="">
            <a:extLst xmlns:a="http://schemas.openxmlformats.org/drawingml/2006/main">
              <a:ext uri="{FF2B5EF4-FFF2-40B4-BE49-F238E27FC236}">
                <a16:creationId xmlns:a16="http://schemas.microsoft.com/office/drawing/2014/main" id="{FA9D9900-FB0B-4E0D-8748-CA91DD56A3FA}"/>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83750CF1-1FEE-4C1E-9266-636E1881A931}"/>
              </a:ext>
            </a:extLst>
          </p:cNvPr>
          <p:cNvSpPr>
            <a:spLocks xmlns:a="http://schemas.openxmlformats.org/drawingml/2006/main" noGrp="1"/>
          </p:cNvSpPr>
          <p:nvPr/>
        </p:nvSpPr>
        <p:spPr>
          <a:xfrm xmlns:a="http://schemas.openxmlformats.org/drawingml/2006/main">
            <a:off x="685800" y="1657350"/>
            <a:ext cx="952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2324A"/>
                </a:solidFill>
              </a:defRPr>
            </a:pPr>
            <a:r>
              <a:rPr sz="1875" b="1">
                <a:solidFill>
                  <a:srgbClr val="12324A"/>
                </a:solidFill>
              </a:rPr>
              <a:t>By the end of this lesson, staff should be able to:</a:t>
            </a:r>
          </a:p>
        </p:txBody>
      </p:sp>
      <p:sp>
        <p:nvSpPr>
          <p:cNvPr id="5" name="">
            <a:extLst xmlns:a="http://schemas.openxmlformats.org/drawingml/2006/main">
              <a:ext uri="{FF2B5EF4-FFF2-40B4-BE49-F238E27FC236}">
                <a16:creationId xmlns:a16="http://schemas.microsoft.com/office/drawing/2014/main" id="{65189F75-8D30-4FFC-B560-A186B89C53BF}"/>
              </a:ext>
            </a:extLst>
          </p:cNvPr>
          <p:cNvSpPr>
            <a:spLocks xmlns:a="http://schemas.openxmlformats.org/drawingml/2006/main" noGrp="1"/>
          </p:cNvSpPr>
          <p:nvPr/>
        </p:nvSpPr>
        <p:spPr>
          <a:xfrm xmlns:a="http://schemas.openxmlformats.org/drawingml/2006/main">
            <a:off x="1047750" y="2286000"/>
            <a:ext cx="94297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24394A"/>
                </a:solidFill>
              </a:defRPr>
            </a:pPr>
            <a:r>
              <a:rPr sz="1725" b="0">
                <a:solidFill>
                  <a:srgbClr val="24394A"/>
                </a:solidFill>
              </a:rPr>
              <a:t>• Explain When Not to Use AI in plain language.</a:t>
            </a:r>
          </a:p>
          <a:p xmlns:a="http://schemas.openxmlformats.org/drawingml/2006/main">
            <a:pPr algn="l">
              <a:defRPr sz="1725" b="0">
                <a:solidFill>
                  <a:srgbClr val="24394A"/>
                </a:solidFill>
              </a:defRPr>
            </a:pPr>
            <a:r>
              <a:rPr sz="1725" b="0">
                <a:solidFill>
                  <a:srgbClr val="24394A"/>
                </a:solidFill>
              </a:rPr>
              <a:t>• Identify appropriate public health uses and limits.</a:t>
            </a:r>
          </a:p>
          <a:p xmlns:a="http://schemas.openxmlformats.org/drawingml/2006/main">
            <a:pPr algn="l">
              <a:defRPr sz="1725" b="0">
                <a:solidFill>
                  <a:srgbClr val="24394A"/>
                </a:solidFill>
              </a:defRPr>
            </a:pPr>
            <a:r>
              <a:rPr sz="1725" b="0">
                <a:solidFill>
                  <a:srgbClr val="24394A"/>
                </a:solidFill>
              </a:rPr>
              <a:t>• Describe human review, governance, equity, privacy, and monitoring expectations.</a:t>
            </a:r>
          </a:p>
          <a:p xmlns:a="http://schemas.openxmlformats.org/drawingml/2006/main">
            <a:pPr algn="l">
              <a:defRPr sz="1725" b="0">
                <a:solidFill>
                  <a:srgbClr val="24394A"/>
                </a:solidFill>
              </a:defRPr>
            </a:pPr>
            <a:r>
              <a:rPr sz="1725" b="0">
                <a:solidFill>
                  <a:srgbClr val="24394A"/>
                </a:solidFill>
              </a:rPr>
              <a:t>• Connect the topic to the related plays and tools.</a:t>
            </a:r>
          </a:p>
        </p:txBody>
      </p:sp>
      <p:sp>
        <p:nvSpPr>
          <p:cNvPr id="6" name="">
            <a:extLst xmlns:a="http://schemas.openxmlformats.org/drawingml/2006/main">
              <a:ext uri="{FF2B5EF4-FFF2-40B4-BE49-F238E27FC236}">
                <a16:creationId xmlns:a16="http://schemas.microsoft.com/office/drawing/2014/main" id="{F872706C-091E-4400-9A6A-7DA3396E886F}"/>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When Not to Use AI</a:t>
            </a:r>
          </a:p>
        </p:txBody>
      </p:sp>
      <p:sp>
        <p:nvSpPr>
          <p:cNvPr id="7" name="">
            <a:extLst xmlns:a="http://schemas.openxmlformats.org/drawingml/2006/main">
              <a:ext uri="{FF2B5EF4-FFF2-40B4-BE49-F238E27FC236}">
                <a16:creationId xmlns:a16="http://schemas.microsoft.com/office/drawing/2014/main" id="{1FB84822-B01E-42B9-ACB6-9D4324988D19}"/>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03</a:t>
            </a:r>
          </a:p>
        </p:txBody>
      </p:sp>
    </p:spTree>
    <p:extLst>
      <p:ext uri="{BB962C8B-B14F-4D97-AF65-F5344CB8AC3E}">
        <p14:creationId xmlns:p14="http://schemas.microsoft.com/office/powerpoint/2010/main" val="136106670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DB1E750-22FC-4124-814D-3CD8603260B0}"/>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0A3223B3-6FD2-4894-9287-CBAD20AA88CF}"/>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Module overview</a:t>
            </a:r>
          </a:p>
        </p:txBody>
      </p:sp>
      <p:sp>
        <p:nvSpPr>
          <p:cNvPr id="3" name="">
            <a:extLst xmlns:a="http://schemas.openxmlformats.org/drawingml/2006/main">
              <a:ext uri="{FF2B5EF4-FFF2-40B4-BE49-F238E27FC236}">
                <a16:creationId xmlns:a16="http://schemas.microsoft.com/office/drawing/2014/main" id="{E5580A00-6334-4973-9F61-3BC4A9B84E85}"/>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4D21DE11-4F90-4F40-A643-0E7716F44945}"/>
              </a:ext>
            </a:extLst>
          </p:cNvPr>
          <p:cNvSpPr>
            <a:spLocks xmlns:a="http://schemas.openxmlformats.org/drawingml/2006/main" noGrp="1"/>
          </p:cNvSpPr>
          <p:nvPr/>
        </p:nvSpPr>
        <p:spPr>
          <a:xfrm xmlns:a="http://schemas.openxmlformats.org/drawingml/2006/main">
            <a:off x="685800" y="1695450"/>
            <a:ext cx="10191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24394A"/>
                </a:solidFill>
              </a:defRPr>
            </a:pPr>
            <a:r>
              <a:rPr sz="1800" b="0">
                <a:solidFill>
                  <a:srgbClr val="24394A"/>
                </a:solidFill>
              </a:rPr>
              <a:t>Responsible AI adoption includes saying no. Some tasks should remain human-only, some require more readiness work before AI is considered, and some can be improved more safely through workflow redesign, staffing, training, or better data systems.</a:t>
            </a:r>
          </a:p>
        </p:txBody>
      </p:sp>
      <p:sp>
        <p:nvSpPr>
          <p:cNvPr id="5" name="">
            <a:extLst xmlns:a="http://schemas.openxmlformats.org/drawingml/2006/main">
              <a:ext uri="{FF2B5EF4-FFF2-40B4-BE49-F238E27FC236}">
                <a16:creationId xmlns:a16="http://schemas.microsoft.com/office/drawing/2014/main" id="{5BAFB04D-F60D-4189-B12C-AB678CE5E1D4}"/>
              </a:ext>
            </a:extLst>
          </p:cNvPr>
          <p:cNvSpPr>
            <a:spLocks xmlns:a="http://schemas.openxmlformats.org/drawingml/2006/main" noGrp="1"/>
          </p:cNvSpPr>
          <p:nvPr/>
        </p:nvSpPr>
        <p:spPr>
          <a:xfrm xmlns:a="http://schemas.openxmlformats.org/drawingml/2006/main">
            <a:off x="685800" y="3524250"/>
            <a:ext cx="9953625" cy="1381125"/>
          </a:xfrm>
          <a:prstGeom xmlns:a="http://schemas.openxmlformats.org/drawingml/2006/main" prst="roundRect">
            <a:avLst>
              <a:gd name="adj" fmla="val 827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9EF881DB-5DB4-48B9-A1DB-B27DC0615B9C}"/>
              </a:ext>
            </a:extLst>
          </p:cNvPr>
          <p:cNvSpPr>
            <a:spLocks xmlns:a="http://schemas.openxmlformats.org/drawingml/2006/main" noGrp="1"/>
          </p:cNvSpPr>
          <p:nvPr/>
        </p:nvSpPr>
        <p:spPr>
          <a:xfrm xmlns:a="http://schemas.openxmlformats.org/drawingml/2006/main">
            <a:off x="685800" y="3524250"/>
            <a:ext cx="66675" cy="138112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A38A702F-9DE4-49AA-B578-B206CDC889C8}"/>
              </a:ext>
            </a:extLst>
          </p:cNvPr>
          <p:cNvSpPr>
            <a:spLocks xmlns:a="http://schemas.openxmlformats.org/drawingml/2006/main" noGrp="1"/>
          </p:cNvSpPr>
          <p:nvPr/>
        </p:nvSpPr>
        <p:spPr>
          <a:xfrm xmlns:a="http://schemas.openxmlformats.org/drawingml/2006/main">
            <a:off x="914400" y="3714750"/>
            <a:ext cx="94964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Working definition</a:t>
            </a:r>
          </a:p>
        </p:txBody>
      </p:sp>
      <p:sp>
        <p:nvSpPr>
          <p:cNvPr id="8" name="">
            <a:extLst xmlns:a="http://schemas.openxmlformats.org/drawingml/2006/main">
              <a:ext uri="{FF2B5EF4-FFF2-40B4-BE49-F238E27FC236}">
                <a16:creationId xmlns:a16="http://schemas.microsoft.com/office/drawing/2014/main" id="{A4F1E233-CFEA-4296-8872-8849C4A153C7}"/>
              </a:ext>
            </a:extLst>
          </p:cNvPr>
          <p:cNvSpPr>
            <a:spLocks xmlns:a="http://schemas.openxmlformats.org/drawingml/2006/main" noGrp="1"/>
          </p:cNvSpPr>
          <p:nvPr/>
        </p:nvSpPr>
        <p:spPr>
          <a:xfrm xmlns:a="http://schemas.openxmlformats.org/drawingml/2006/main">
            <a:off x="914400" y="4171950"/>
            <a:ext cx="949642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Departments need a clear decision framework for situations where AI is inappropriate, premature, too risky, unsupported by data, legally uncertain, or not worth the operational burden.</a:t>
            </a:r>
          </a:p>
        </p:txBody>
      </p:sp>
      <p:sp>
        <p:nvSpPr>
          <p:cNvPr id="9" name="">
            <a:extLst xmlns:a="http://schemas.openxmlformats.org/drawingml/2006/main">
              <a:ext uri="{FF2B5EF4-FFF2-40B4-BE49-F238E27FC236}">
                <a16:creationId xmlns:a16="http://schemas.microsoft.com/office/drawing/2014/main" id="{EBE717DF-E7AC-4BB9-B9AF-180CE13226F2}"/>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When Not to Use AI</a:t>
            </a:r>
          </a:p>
        </p:txBody>
      </p:sp>
      <p:sp>
        <p:nvSpPr>
          <p:cNvPr id="10" name="">
            <a:extLst xmlns:a="http://schemas.openxmlformats.org/drawingml/2006/main">
              <a:ext uri="{FF2B5EF4-FFF2-40B4-BE49-F238E27FC236}">
                <a16:creationId xmlns:a16="http://schemas.microsoft.com/office/drawing/2014/main" id="{79F4E3CB-2043-4D31-8229-7800123408C2}"/>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04</a:t>
            </a:r>
          </a:p>
        </p:txBody>
      </p:sp>
    </p:spTree>
    <p:extLst>
      <p:ext uri="{BB962C8B-B14F-4D97-AF65-F5344CB8AC3E}">
        <p14:creationId xmlns:p14="http://schemas.microsoft.com/office/powerpoint/2010/main" val="6996347"/>
      </p:ext>
    </p:extLst>
  </p:cSld>
</p:sld>
</file>

<file path=ppt/slides/slide5.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F47A99A-830F-42B6-818F-47725D4A1C37}"/>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408F2A2B-CFB7-46AE-B4D4-C4C09586A3A0}"/>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What this means in practice</a:t>
            </a:r>
          </a:p>
        </p:txBody>
      </p:sp>
      <p:sp>
        <p:nvSpPr>
          <p:cNvPr id="3" name="">
            <a:extLst xmlns:a="http://schemas.openxmlformats.org/drawingml/2006/main">
              <a:ext uri="{FF2B5EF4-FFF2-40B4-BE49-F238E27FC236}">
                <a16:creationId xmlns:a16="http://schemas.microsoft.com/office/drawing/2014/main" id="{51B67454-F567-4581-A28A-88FAE0CFD241}"/>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6265344B-AB64-4A70-B057-AED392C5B88E}"/>
              </a:ext>
            </a:extLst>
          </p:cNvPr>
          <p:cNvSpPr>
            <a:spLocks xmlns:a="http://schemas.openxmlformats.org/drawingml/2006/main" noGrp="1"/>
          </p:cNvSpPr>
          <p:nvPr/>
        </p:nvSpPr>
        <p:spPr>
          <a:xfrm xmlns:a="http://schemas.openxmlformats.org/drawingml/2006/main">
            <a:off x="68580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21EEB325-DA3C-4421-957F-56F366F24BDD}"/>
              </a:ext>
            </a:extLst>
          </p:cNvPr>
          <p:cNvSpPr>
            <a:spLocks xmlns:a="http://schemas.openxmlformats.org/drawingml/2006/main" noGrp="1"/>
          </p:cNvSpPr>
          <p:nvPr/>
        </p:nvSpPr>
        <p:spPr>
          <a:xfrm xmlns:a="http://schemas.openxmlformats.org/drawingml/2006/main">
            <a:off x="68580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82D337AA-12C6-496A-BF50-BA7C91C03327}"/>
              </a:ext>
            </a:extLst>
          </p:cNvPr>
          <p:cNvSpPr>
            <a:spLocks xmlns:a="http://schemas.openxmlformats.org/drawingml/2006/main" noGrp="1"/>
          </p:cNvSpPr>
          <p:nvPr/>
        </p:nvSpPr>
        <p:spPr>
          <a:xfrm xmlns:a="http://schemas.openxmlformats.org/drawingml/2006/main">
            <a:off x="91440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Red Flags</a:t>
            </a:r>
          </a:p>
        </p:txBody>
      </p:sp>
      <p:sp>
        <p:nvSpPr>
          <p:cNvPr id="7" name="">
            <a:extLst xmlns:a="http://schemas.openxmlformats.org/drawingml/2006/main">
              <a:ext uri="{FF2B5EF4-FFF2-40B4-BE49-F238E27FC236}">
                <a16:creationId xmlns:a16="http://schemas.microsoft.com/office/drawing/2014/main" id="{A4E9AA05-DB23-4ABE-AACA-10D8D15347F8}"/>
              </a:ext>
            </a:extLst>
          </p:cNvPr>
          <p:cNvSpPr>
            <a:spLocks xmlns:a="http://schemas.openxmlformats.org/drawingml/2006/main" noGrp="1"/>
          </p:cNvSpPr>
          <p:nvPr/>
        </p:nvSpPr>
        <p:spPr>
          <a:xfrm xmlns:a="http://schemas.openxmlformats.org/drawingml/2006/main">
            <a:off x="91440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The use case affects rights, enforcement, eligibility, resource allocation, public warnings, or clinical/care decisions without. Data are poor quality, incomplete, unrepresentative, sensitive, or not legally available for the proposed use. The.</a:t>
            </a:r>
          </a:p>
        </p:txBody>
      </p:sp>
      <p:sp>
        <p:nvSpPr>
          <p:cNvPr id="8" name="">
            <a:extLst xmlns:a="http://schemas.openxmlformats.org/drawingml/2006/main">
              <a:ext uri="{FF2B5EF4-FFF2-40B4-BE49-F238E27FC236}">
                <a16:creationId xmlns:a16="http://schemas.microsoft.com/office/drawing/2014/main" id="{C9C86C0A-267E-43DF-A617-F1A7F7A62C46}"/>
              </a:ext>
            </a:extLst>
          </p:cNvPr>
          <p:cNvSpPr>
            <a:spLocks xmlns:a="http://schemas.openxmlformats.org/drawingml/2006/main" noGrp="1"/>
          </p:cNvSpPr>
          <p:nvPr/>
        </p:nvSpPr>
        <p:spPr>
          <a:xfrm xmlns:a="http://schemas.openxmlformats.org/drawingml/2006/main">
            <a:off x="4257675"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594BE789-D8A5-48E8-9DE5-50D78B22015C}"/>
              </a:ext>
            </a:extLst>
          </p:cNvPr>
          <p:cNvSpPr>
            <a:spLocks xmlns:a="http://schemas.openxmlformats.org/drawingml/2006/main" noGrp="1"/>
          </p:cNvSpPr>
          <p:nvPr/>
        </p:nvSpPr>
        <p:spPr>
          <a:xfrm xmlns:a="http://schemas.openxmlformats.org/drawingml/2006/main">
            <a:off x="4257675" y="1809750"/>
            <a:ext cx="66675" cy="31432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774D21BD-96F6-4E75-ACD9-41DBAE62D07E}"/>
              </a:ext>
            </a:extLst>
          </p:cNvPr>
          <p:cNvSpPr>
            <a:spLocks xmlns:a="http://schemas.openxmlformats.org/drawingml/2006/main" noGrp="1"/>
          </p:cNvSpPr>
          <p:nvPr/>
        </p:nvSpPr>
        <p:spPr>
          <a:xfrm xmlns:a="http://schemas.openxmlformats.org/drawingml/2006/main">
            <a:off x="4486275"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Alternative Actions</a:t>
            </a:r>
          </a:p>
        </p:txBody>
      </p:sp>
      <p:sp>
        <p:nvSpPr>
          <p:cNvPr id="11" name="">
            <a:extLst xmlns:a="http://schemas.openxmlformats.org/drawingml/2006/main">
              <a:ext uri="{FF2B5EF4-FFF2-40B4-BE49-F238E27FC236}">
                <a16:creationId xmlns:a16="http://schemas.microsoft.com/office/drawing/2014/main" id="{21293F4C-E83D-4F4F-9973-E3DF0501C64F}"/>
              </a:ext>
            </a:extLst>
          </p:cNvPr>
          <p:cNvSpPr>
            <a:spLocks xmlns:a="http://schemas.openxmlformats.org/drawingml/2006/main" noGrp="1"/>
          </p:cNvSpPr>
          <p:nvPr/>
        </p:nvSpPr>
        <p:spPr>
          <a:xfrm xmlns:a="http://schemas.openxmlformats.org/drawingml/2006/main">
            <a:off x="4486275"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Improve the workflow without AI. Strengthen data quality, documentation, staffing, or training first. Use a simpler rules-based tool, checklist, dashboard, or template. Limit AI to internal drafting or evidence organization rather than.</a:t>
            </a:r>
          </a:p>
        </p:txBody>
      </p:sp>
      <p:sp>
        <p:nvSpPr>
          <p:cNvPr id="12" name="">
            <a:extLst xmlns:a="http://schemas.openxmlformats.org/drawingml/2006/main">
              <a:ext uri="{FF2B5EF4-FFF2-40B4-BE49-F238E27FC236}">
                <a16:creationId xmlns:a16="http://schemas.microsoft.com/office/drawing/2014/main" id="{0271F897-C12A-47EB-8629-ADCEA9CB054C}"/>
              </a:ext>
            </a:extLst>
          </p:cNvPr>
          <p:cNvSpPr>
            <a:spLocks xmlns:a="http://schemas.openxmlformats.org/drawingml/2006/main" noGrp="1"/>
          </p:cNvSpPr>
          <p:nvPr/>
        </p:nvSpPr>
        <p:spPr>
          <a:xfrm xmlns:a="http://schemas.openxmlformats.org/drawingml/2006/main">
            <a:off x="7829550" y="1809750"/>
            <a:ext cx="3143250" cy="31432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03280D4D-5ABE-4CC8-B8AC-78B83CA05060}"/>
              </a:ext>
            </a:extLst>
          </p:cNvPr>
          <p:cNvSpPr>
            <a:spLocks xmlns:a="http://schemas.openxmlformats.org/drawingml/2006/main" noGrp="1"/>
          </p:cNvSpPr>
          <p:nvPr/>
        </p:nvSpPr>
        <p:spPr>
          <a:xfrm xmlns:a="http://schemas.openxmlformats.org/drawingml/2006/main">
            <a:off x="7829550" y="1809750"/>
            <a:ext cx="66675" cy="31432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4" name="">
            <a:extLst xmlns:a="http://schemas.openxmlformats.org/drawingml/2006/main">
              <a:ext uri="{FF2B5EF4-FFF2-40B4-BE49-F238E27FC236}">
                <a16:creationId xmlns:a16="http://schemas.microsoft.com/office/drawing/2014/main" id="{B3F7C22E-AC4C-47C0-B4CA-D60EAAB09F9A}"/>
              </a:ext>
            </a:extLst>
          </p:cNvPr>
          <p:cNvSpPr>
            <a:spLocks xmlns:a="http://schemas.openxmlformats.org/drawingml/2006/main" noGrp="1"/>
          </p:cNvSpPr>
          <p:nvPr/>
        </p:nvSpPr>
        <p:spPr>
          <a:xfrm xmlns:a="http://schemas.openxmlformats.org/drawingml/2006/main">
            <a:off x="8058150" y="2000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Implementation Check</a:t>
            </a:r>
          </a:p>
        </p:txBody>
      </p:sp>
      <p:sp>
        <p:nvSpPr>
          <p:cNvPr id="15" name="">
            <a:extLst xmlns:a="http://schemas.openxmlformats.org/drawingml/2006/main">
              <a:ext uri="{FF2B5EF4-FFF2-40B4-BE49-F238E27FC236}">
                <a16:creationId xmlns:a16="http://schemas.microsoft.com/office/drawing/2014/main" id="{8FAE2DE3-F189-442D-8E0D-5E1BD5D6946E}"/>
              </a:ext>
            </a:extLst>
          </p:cNvPr>
          <p:cNvSpPr>
            <a:spLocks xmlns:a="http://schemas.openxmlformats.org/drawingml/2006/main" noGrp="1"/>
          </p:cNvSpPr>
          <p:nvPr/>
        </p:nvSpPr>
        <p:spPr>
          <a:xfrm xmlns:a="http://schemas.openxmlformats.org/drawingml/2006/main">
            <a:off x="8058150" y="2457450"/>
            <a:ext cx="26860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Create prohibited-use and restricted-use categories. Require governance review for high-impact proposals. Document why a use case was rejected, deferred, limited, or redesigned.</a:t>
            </a:r>
          </a:p>
        </p:txBody>
      </p:sp>
      <p:sp>
        <p:nvSpPr>
          <p:cNvPr id="16" name="">
            <a:extLst xmlns:a="http://schemas.openxmlformats.org/drawingml/2006/main">
              <a:ext uri="{FF2B5EF4-FFF2-40B4-BE49-F238E27FC236}">
                <a16:creationId xmlns:a16="http://schemas.microsoft.com/office/drawing/2014/main" id="{09477E7F-DAFA-4214-B809-9EE1E0714D4A}"/>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When Not to Use AI</a:t>
            </a:r>
          </a:p>
        </p:txBody>
      </p:sp>
      <p:sp>
        <p:nvSpPr>
          <p:cNvPr id="17" name="">
            <a:extLst xmlns:a="http://schemas.openxmlformats.org/drawingml/2006/main">
              <a:ext uri="{FF2B5EF4-FFF2-40B4-BE49-F238E27FC236}">
                <a16:creationId xmlns:a16="http://schemas.microsoft.com/office/drawing/2014/main" id="{04BE47B0-B55F-431C-81AA-44AAFAD53C2C}"/>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05</a:t>
            </a:r>
          </a:p>
        </p:txBody>
      </p:sp>
    </p:spTree>
    <p:extLst>
      <p:ext uri="{BB962C8B-B14F-4D97-AF65-F5344CB8AC3E}">
        <p14:creationId xmlns:p14="http://schemas.microsoft.com/office/powerpoint/2010/main" val="117010896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C936C31-6819-4180-84F7-1B57188AFEC4}"/>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008ED9E1-9FB2-4E68-BDA6-03CCDF21107E}"/>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Public health application</a:t>
            </a:r>
          </a:p>
        </p:txBody>
      </p:sp>
      <p:sp>
        <p:nvSpPr>
          <p:cNvPr id="3" name="">
            <a:extLst xmlns:a="http://schemas.openxmlformats.org/drawingml/2006/main">
              <a:ext uri="{FF2B5EF4-FFF2-40B4-BE49-F238E27FC236}">
                <a16:creationId xmlns:a16="http://schemas.microsoft.com/office/drawing/2014/main" id="{673DE7C8-BB07-4346-929B-C4A60023F9C9}"/>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0A9CB924-B06B-407A-8A16-60B94ECBFE3F}"/>
              </a:ext>
            </a:extLst>
          </p:cNvPr>
          <p:cNvSpPr>
            <a:spLocks xmlns:a="http://schemas.openxmlformats.org/drawingml/2006/main" noGrp="1"/>
          </p:cNvSpPr>
          <p:nvPr/>
        </p:nvSpPr>
        <p:spPr>
          <a:xfrm xmlns:a="http://schemas.openxmlformats.org/drawingml/2006/main">
            <a:off x="685800" y="171450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2324A"/>
                </a:solidFill>
              </a:defRPr>
            </a:pPr>
            <a:r>
              <a:rPr sz="2025" b="1">
                <a:solidFill>
                  <a:srgbClr val="12324A"/>
                </a:solidFill>
              </a:rPr>
              <a:t>Use the topic to examine real workflows, not abstract technology.</a:t>
            </a:r>
          </a:p>
        </p:txBody>
      </p:sp>
      <p:sp>
        <p:nvSpPr>
          <p:cNvPr id="5" name="">
            <a:extLst xmlns:a="http://schemas.openxmlformats.org/drawingml/2006/main">
              <a:ext uri="{FF2B5EF4-FFF2-40B4-BE49-F238E27FC236}">
                <a16:creationId xmlns:a16="http://schemas.microsoft.com/office/drawing/2014/main" id="{9DC5D2FC-168B-4F89-A585-4125C70ADEF4}"/>
              </a:ext>
            </a:extLst>
          </p:cNvPr>
          <p:cNvSpPr>
            <a:spLocks xmlns:a="http://schemas.openxmlformats.org/drawingml/2006/main" noGrp="1"/>
          </p:cNvSpPr>
          <p:nvPr/>
        </p:nvSpPr>
        <p:spPr>
          <a:xfrm xmlns:a="http://schemas.openxmlformats.org/drawingml/2006/main">
            <a:off x="68580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8B70430E-A656-4EAE-B998-F352D3EC742B}"/>
              </a:ext>
            </a:extLst>
          </p:cNvPr>
          <p:cNvSpPr>
            <a:spLocks xmlns:a="http://schemas.openxmlformats.org/drawingml/2006/main" noGrp="1"/>
          </p:cNvSpPr>
          <p:nvPr/>
        </p:nvSpPr>
        <p:spPr>
          <a:xfrm xmlns:a="http://schemas.openxmlformats.org/drawingml/2006/main">
            <a:off x="68580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7" name="">
            <a:extLst xmlns:a="http://schemas.openxmlformats.org/drawingml/2006/main">
              <a:ext uri="{FF2B5EF4-FFF2-40B4-BE49-F238E27FC236}">
                <a16:creationId xmlns:a16="http://schemas.microsoft.com/office/drawing/2014/main" id="{3D73C530-2496-4DBD-A8F3-B087C6DB61DA}"/>
              </a:ext>
            </a:extLst>
          </p:cNvPr>
          <p:cNvSpPr>
            <a:spLocks xmlns:a="http://schemas.openxmlformats.org/drawingml/2006/main" noGrp="1"/>
          </p:cNvSpPr>
          <p:nvPr/>
        </p:nvSpPr>
        <p:spPr>
          <a:xfrm xmlns:a="http://schemas.openxmlformats.org/drawingml/2006/main">
            <a:off x="91440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Reject low-value automation</a:t>
            </a:r>
          </a:p>
        </p:txBody>
      </p:sp>
      <p:sp>
        <p:nvSpPr>
          <p:cNvPr id="8" name="">
            <a:extLst xmlns:a="http://schemas.openxmlformats.org/drawingml/2006/main">
              <a:ext uri="{FF2B5EF4-FFF2-40B4-BE49-F238E27FC236}">
                <a16:creationId xmlns:a16="http://schemas.microsoft.com/office/drawing/2014/main" id="{3FD76D5A-0837-4039-AAF4-47DCE86A98D3}"/>
              </a:ext>
            </a:extLst>
          </p:cNvPr>
          <p:cNvSpPr>
            <a:spLocks xmlns:a="http://schemas.openxmlformats.org/drawingml/2006/main" noGrp="1"/>
          </p:cNvSpPr>
          <p:nvPr/>
        </p:nvSpPr>
        <p:spPr>
          <a:xfrm xmlns:a="http://schemas.openxmlformats.org/drawingml/2006/main">
            <a:off x="91440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9" name="">
            <a:extLst xmlns:a="http://schemas.openxmlformats.org/drawingml/2006/main">
              <a:ext uri="{FF2B5EF4-FFF2-40B4-BE49-F238E27FC236}">
                <a16:creationId xmlns:a16="http://schemas.microsoft.com/office/drawing/2014/main" id="{1B73F782-EF2A-41BF-9B0F-FDCDF67B9903}"/>
              </a:ext>
            </a:extLst>
          </p:cNvPr>
          <p:cNvSpPr>
            <a:spLocks xmlns:a="http://schemas.openxmlformats.org/drawingml/2006/main" noGrp="1"/>
          </p:cNvSpPr>
          <p:nvPr/>
        </p:nvSpPr>
        <p:spPr>
          <a:xfrm xmlns:a="http://schemas.openxmlformats.org/drawingml/2006/main">
            <a:off x="4257675"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EE556A73-487E-4460-BF92-BA4331D1965E}"/>
              </a:ext>
            </a:extLst>
          </p:cNvPr>
          <p:cNvSpPr>
            <a:spLocks xmlns:a="http://schemas.openxmlformats.org/drawingml/2006/main" noGrp="1"/>
          </p:cNvSpPr>
          <p:nvPr/>
        </p:nvSpPr>
        <p:spPr>
          <a:xfrm xmlns:a="http://schemas.openxmlformats.org/drawingml/2006/main">
            <a:off x="4257675" y="2571750"/>
            <a:ext cx="66675" cy="22383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1" name="">
            <a:extLst xmlns:a="http://schemas.openxmlformats.org/drawingml/2006/main">
              <a:ext uri="{FF2B5EF4-FFF2-40B4-BE49-F238E27FC236}">
                <a16:creationId xmlns:a16="http://schemas.microsoft.com/office/drawing/2014/main" id="{43525CD8-0CFB-453C-8863-2B0C42A1D13B}"/>
              </a:ext>
            </a:extLst>
          </p:cNvPr>
          <p:cNvSpPr>
            <a:spLocks xmlns:a="http://schemas.openxmlformats.org/drawingml/2006/main" noGrp="1"/>
          </p:cNvSpPr>
          <p:nvPr/>
        </p:nvSpPr>
        <p:spPr>
          <a:xfrm xmlns:a="http://schemas.openxmlformats.org/drawingml/2006/main">
            <a:off x="4486275"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Pause high-risk use cases</a:t>
            </a:r>
          </a:p>
        </p:txBody>
      </p:sp>
      <p:sp>
        <p:nvSpPr>
          <p:cNvPr id="12" name="">
            <a:extLst xmlns:a="http://schemas.openxmlformats.org/drawingml/2006/main">
              <a:ext uri="{FF2B5EF4-FFF2-40B4-BE49-F238E27FC236}">
                <a16:creationId xmlns:a16="http://schemas.microsoft.com/office/drawing/2014/main" id="{1F579887-0C6C-4B43-82BE-26D1D6C3CF02}"/>
              </a:ext>
            </a:extLst>
          </p:cNvPr>
          <p:cNvSpPr>
            <a:spLocks xmlns:a="http://schemas.openxmlformats.org/drawingml/2006/main" noGrp="1"/>
          </p:cNvSpPr>
          <p:nvPr/>
        </p:nvSpPr>
        <p:spPr>
          <a:xfrm xmlns:a="http://schemas.openxmlformats.org/drawingml/2006/main">
            <a:off x="4486275"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13" name="">
            <a:extLst xmlns:a="http://schemas.openxmlformats.org/drawingml/2006/main">
              <a:ext uri="{FF2B5EF4-FFF2-40B4-BE49-F238E27FC236}">
                <a16:creationId xmlns:a16="http://schemas.microsoft.com/office/drawing/2014/main" id="{F636F4BF-B725-451F-85CF-28BFD796C1C6}"/>
              </a:ext>
            </a:extLst>
          </p:cNvPr>
          <p:cNvSpPr>
            <a:spLocks xmlns:a="http://schemas.openxmlformats.org/drawingml/2006/main" noGrp="1"/>
          </p:cNvSpPr>
          <p:nvPr/>
        </p:nvSpPr>
        <p:spPr>
          <a:xfrm xmlns:a="http://schemas.openxmlformats.org/drawingml/2006/main">
            <a:off x="7829550" y="2571750"/>
            <a:ext cx="3143250" cy="2238375"/>
          </a:xfrm>
          <a:prstGeom xmlns:a="http://schemas.openxmlformats.org/drawingml/2006/main" prst="roundRect">
            <a:avLst>
              <a:gd name="adj" fmla="val 5106"/>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0268721E-8804-4EDD-B29F-C87ABC384B71}"/>
              </a:ext>
            </a:extLst>
          </p:cNvPr>
          <p:cNvSpPr>
            <a:spLocks xmlns:a="http://schemas.openxmlformats.org/drawingml/2006/main" noGrp="1"/>
          </p:cNvSpPr>
          <p:nvPr/>
        </p:nvSpPr>
        <p:spPr>
          <a:xfrm xmlns:a="http://schemas.openxmlformats.org/drawingml/2006/main">
            <a:off x="7829550" y="2571750"/>
            <a:ext cx="66675" cy="2238375"/>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5" name="">
            <a:extLst xmlns:a="http://schemas.openxmlformats.org/drawingml/2006/main">
              <a:ext uri="{FF2B5EF4-FFF2-40B4-BE49-F238E27FC236}">
                <a16:creationId xmlns:a16="http://schemas.microsoft.com/office/drawing/2014/main" id="{BDACBF55-A9B9-463D-8A33-27B4B3948637}"/>
              </a:ext>
            </a:extLst>
          </p:cNvPr>
          <p:cNvSpPr>
            <a:spLocks xmlns:a="http://schemas.openxmlformats.org/drawingml/2006/main" noGrp="1"/>
          </p:cNvSpPr>
          <p:nvPr/>
        </p:nvSpPr>
        <p:spPr>
          <a:xfrm xmlns:a="http://schemas.openxmlformats.org/drawingml/2006/main">
            <a:off x="8058150" y="2762250"/>
            <a:ext cx="2686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Use human-only pathways</a:t>
            </a:r>
          </a:p>
        </p:txBody>
      </p:sp>
      <p:sp>
        <p:nvSpPr>
          <p:cNvPr id="16" name="">
            <a:extLst xmlns:a="http://schemas.openxmlformats.org/drawingml/2006/main">
              <a:ext uri="{FF2B5EF4-FFF2-40B4-BE49-F238E27FC236}">
                <a16:creationId xmlns:a16="http://schemas.microsoft.com/office/drawing/2014/main" id="{78B475F4-47CF-4690-8D2D-2F2717933BDA}"/>
              </a:ext>
            </a:extLst>
          </p:cNvPr>
          <p:cNvSpPr>
            <a:spLocks xmlns:a="http://schemas.openxmlformats.org/drawingml/2006/main" noGrp="1"/>
          </p:cNvSpPr>
          <p:nvPr/>
        </p:nvSpPr>
        <p:spPr>
          <a:xfrm xmlns:a="http://schemas.openxmlformats.org/drawingml/2006/main">
            <a:off x="8058150" y="3219450"/>
            <a:ext cx="2686050" cy="1438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Discuss how this could support a public health workflow, what data would be involved, who would review outputs, and what safeguards would be needed.</a:t>
            </a:r>
          </a:p>
        </p:txBody>
      </p:sp>
      <p:sp>
        <p:nvSpPr>
          <p:cNvPr id="17" name="">
            <a:extLst xmlns:a="http://schemas.openxmlformats.org/drawingml/2006/main">
              <a:ext uri="{FF2B5EF4-FFF2-40B4-BE49-F238E27FC236}">
                <a16:creationId xmlns:a16="http://schemas.microsoft.com/office/drawing/2014/main" id="{0E966DBA-550E-4E36-87FB-71F0C380ED96}"/>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When Not to Use AI</a:t>
            </a:r>
          </a:p>
        </p:txBody>
      </p:sp>
      <p:sp>
        <p:nvSpPr>
          <p:cNvPr id="18" name="">
            <a:extLst xmlns:a="http://schemas.openxmlformats.org/drawingml/2006/main">
              <a:ext uri="{FF2B5EF4-FFF2-40B4-BE49-F238E27FC236}">
                <a16:creationId xmlns:a16="http://schemas.microsoft.com/office/drawing/2014/main" id="{7EF79A74-201C-4452-AE87-0492275C8C65}"/>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06</a:t>
            </a:r>
          </a:p>
        </p:txBody>
      </p:sp>
    </p:spTree>
    <p:extLst>
      <p:ext uri="{BB962C8B-B14F-4D97-AF65-F5344CB8AC3E}">
        <p14:creationId xmlns:p14="http://schemas.microsoft.com/office/powerpoint/2010/main" val="132329860"/>
      </p:ext>
    </p:extLst>
  </p:cSld>
</p:sld>
</file>

<file path=ppt/slides/slide7.xml><?xml version="1.0" encoding="utf-8"?>
<p:sld xmlns:p="http://schemas.openxmlformats.org/presentationml/2006/main">
  <p:cSld>
    <p:bg>
      <p:bgPr>
        <a:solidFill xmlns:a="http://schemas.openxmlformats.org/drawingml/2006/main">
          <a:srgbClr val="F7FBFD"/>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80C8106-7C14-45B2-B8AC-576BACEC0EF6}"/>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CF473D5E-C97D-477A-9403-FC79BEBB4786}"/>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Facilitated discussion and exercise</a:t>
            </a:r>
          </a:p>
        </p:txBody>
      </p:sp>
      <p:sp>
        <p:nvSpPr>
          <p:cNvPr id="3" name="">
            <a:extLst xmlns:a="http://schemas.openxmlformats.org/drawingml/2006/main">
              <a:ext uri="{FF2B5EF4-FFF2-40B4-BE49-F238E27FC236}">
                <a16:creationId xmlns:a16="http://schemas.microsoft.com/office/drawing/2014/main" id="{0A750B67-A6F4-42F5-B641-A075E53DDE36}"/>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5ACDDB44-673A-4DFF-879D-2721C2986BAE}"/>
              </a:ext>
            </a:extLst>
          </p:cNvPr>
          <p:cNvSpPr>
            <a:spLocks xmlns:a="http://schemas.openxmlformats.org/drawingml/2006/main" noGrp="1"/>
          </p:cNvSpPr>
          <p:nvPr/>
        </p:nvSpPr>
        <p:spPr>
          <a:xfrm xmlns:a="http://schemas.openxmlformats.org/drawingml/2006/main">
            <a:off x="685800"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00C508F3-FFBA-4A80-8C53-9FB3FEF04A00}"/>
              </a:ext>
            </a:extLst>
          </p:cNvPr>
          <p:cNvSpPr>
            <a:spLocks xmlns:a="http://schemas.openxmlformats.org/drawingml/2006/main" noGrp="1"/>
          </p:cNvSpPr>
          <p:nvPr/>
        </p:nvSpPr>
        <p:spPr>
          <a:xfrm xmlns:a="http://schemas.openxmlformats.org/drawingml/2006/main">
            <a:off x="685800" y="1809750"/>
            <a:ext cx="66675" cy="295275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6" name="">
            <a:extLst xmlns:a="http://schemas.openxmlformats.org/drawingml/2006/main">
              <a:ext uri="{FF2B5EF4-FFF2-40B4-BE49-F238E27FC236}">
                <a16:creationId xmlns:a16="http://schemas.microsoft.com/office/drawing/2014/main" id="{38063723-B1DD-4BCD-844F-30072760DD29}"/>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Discussion questions</a:t>
            </a:r>
          </a:p>
        </p:txBody>
      </p:sp>
      <p:sp>
        <p:nvSpPr>
          <p:cNvPr id="7" name="">
            <a:extLst xmlns:a="http://schemas.openxmlformats.org/drawingml/2006/main">
              <a:ext uri="{FF2B5EF4-FFF2-40B4-BE49-F238E27FC236}">
                <a16:creationId xmlns:a16="http://schemas.microsoft.com/office/drawing/2014/main" id="{8C1908BD-D575-4145-9219-1D190ADB3D43}"/>
              </a:ext>
            </a:extLst>
          </p:cNvPr>
          <p:cNvSpPr>
            <a:spLocks xmlns:a="http://schemas.openxmlformats.org/drawingml/2006/main" noGrp="1"/>
          </p:cNvSpPr>
          <p:nvPr/>
        </p:nvSpPr>
        <p:spPr>
          <a:xfrm xmlns:a="http://schemas.openxmlformats.org/drawingml/2006/main">
            <a:off x="914400"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Which public health decisions should remain human-only? What conditions would cause governance to reject or defer an AI proposal? What non-AI alternatives could solve the problem more safely?</a:t>
            </a:r>
          </a:p>
        </p:txBody>
      </p:sp>
      <p:sp>
        <p:nvSpPr>
          <p:cNvPr id="8" name="">
            <a:extLst xmlns:a="http://schemas.openxmlformats.org/drawingml/2006/main">
              <a:ext uri="{FF2B5EF4-FFF2-40B4-BE49-F238E27FC236}">
                <a16:creationId xmlns:a16="http://schemas.microsoft.com/office/drawing/2014/main" id="{3472C9FF-87C8-47D1-9A61-273F91E995D4}"/>
              </a:ext>
            </a:extLst>
          </p:cNvPr>
          <p:cNvSpPr>
            <a:spLocks xmlns:a="http://schemas.openxmlformats.org/drawingml/2006/main" noGrp="1"/>
          </p:cNvSpPr>
          <p:nvPr/>
        </p:nvSpPr>
        <p:spPr>
          <a:xfrm xmlns:a="http://schemas.openxmlformats.org/drawingml/2006/main">
            <a:off x="5953125" y="1809750"/>
            <a:ext cx="4762500" cy="2952750"/>
          </a:xfrm>
          <a:prstGeom xmlns:a="http://schemas.openxmlformats.org/drawingml/2006/main" prst="roundRect">
            <a:avLst>
              <a:gd name="adj" fmla="val 3871"/>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515613EC-C89E-42FA-AF30-A1F7950DE8EA}"/>
              </a:ext>
            </a:extLst>
          </p:cNvPr>
          <p:cNvSpPr>
            <a:spLocks xmlns:a="http://schemas.openxmlformats.org/drawingml/2006/main" noGrp="1"/>
          </p:cNvSpPr>
          <p:nvPr/>
        </p:nvSpPr>
        <p:spPr>
          <a:xfrm xmlns:a="http://schemas.openxmlformats.org/drawingml/2006/main">
            <a:off x="5953125" y="1809750"/>
            <a:ext cx="66675" cy="295275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10" name="">
            <a:extLst xmlns:a="http://schemas.openxmlformats.org/drawingml/2006/main">
              <a:ext uri="{FF2B5EF4-FFF2-40B4-BE49-F238E27FC236}">
                <a16:creationId xmlns:a16="http://schemas.microsoft.com/office/drawing/2014/main" id="{914090D5-BCBD-4B7D-B441-5A8F0226EDF3}"/>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Training exercise</a:t>
            </a:r>
          </a:p>
        </p:txBody>
      </p:sp>
      <p:sp>
        <p:nvSpPr>
          <p:cNvPr id="11" name="">
            <a:extLst xmlns:a="http://schemas.openxmlformats.org/drawingml/2006/main">
              <a:ext uri="{FF2B5EF4-FFF2-40B4-BE49-F238E27FC236}">
                <a16:creationId xmlns:a16="http://schemas.microsoft.com/office/drawing/2014/main" id="{CF67DDB6-3FFF-4975-8747-A4BE4A1D9D03}"/>
              </a:ext>
            </a:extLst>
          </p:cNvPr>
          <p:cNvSpPr>
            <a:spLocks xmlns:a="http://schemas.openxmlformats.org/drawingml/2006/main" noGrp="1"/>
          </p:cNvSpPr>
          <p:nvPr/>
        </p:nvSpPr>
        <p:spPr>
          <a:xfrm xmlns:a="http://schemas.openxmlformats.org/drawingml/2006/main">
            <a:off x="6181725" y="2457450"/>
            <a:ext cx="430530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Review three proposed AI use cases and decide whether each should proceed, be limited, be deferred, be redesigned without AI, or be rejected.</a:t>
            </a:r>
          </a:p>
        </p:txBody>
      </p:sp>
      <p:sp>
        <p:nvSpPr>
          <p:cNvPr id="12" name="">
            <a:extLst xmlns:a="http://schemas.openxmlformats.org/drawingml/2006/main">
              <a:ext uri="{FF2B5EF4-FFF2-40B4-BE49-F238E27FC236}">
                <a16:creationId xmlns:a16="http://schemas.microsoft.com/office/drawing/2014/main" id="{143BBF04-3A82-416B-BF5A-8198317E9196}"/>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When Not to Use AI</a:t>
            </a:r>
          </a:p>
        </p:txBody>
      </p:sp>
      <p:sp>
        <p:nvSpPr>
          <p:cNvPr id="13" name="">
            <a:extLst xmlns:a="http://schemas.openxmlformats.org/drawingml/2006/main">
              <a:ext uri="{FF2B5EF4-FFF2-40B4-BE49-F238E27FC236}">
                <a16:creationId xmlns:a16="http://schemas.microsoft.com/office/drawing/2014/main" id="{0072D917-B502-47F5-A7C1-7932006333A7}"/>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07</a:t>
            </a:r>
          </a:p>
        </p:txBody>
      </p:sp>
    </p:spTree>
    <p:extLst>
      <p:ext uri="{BB962C8B-B14F-4D97-AF65-F5344CB8AC3E}">
        <p14:creationId xmlns:p14="http://schemas.microsoft.com/office/powerpoint/2010/main" val="124061416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2391C54-D344-44CA-A4B6-889A8BC7C064}"/>
              </a:ext>
            </a:extLst>
          </p:cNvPr>
          <p:cNvSpPr>
            <a:spLocks xmlns:a="http://schemas.openxmlformats.org/drawingml/2006/main" noGrp="1"/>
          </p:cNvSpPr>
          <p:nvPr/>
        </p:nvSpPr>
        <p:spPr>
          <a:xfrm xmlns:a="http://schemas.openxmlformats.org/drawingml/2006/main">
            <a:off x="685800" y="32385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287320"/>
                </a:solidFill>
              </a:defRPr>
            </a:pPr>
            <a:r>
              <a:rPr sz="975" b="1">
                <a:solidFill>
                  <a:srgbClr val="287320"/>
                </a:solidFill>
              </a:rPr>
              <a:t>AI PLAYBOOK AND TOOLKIT</a:t>
            </a:r>
          </a:p>
        </p:txBody>
      </p:sp>
      <p:sp>
        <p:nvSpPr>
          <p:cNvPr id="2" name="">
            <a:extLst xmlns:a="http://schemas.openxmlformats.org/drawingml/2006/main">
              <a:ext uri="{FF2B5EF4-FFF2-40B4-BE49-F238E27FC236}">
                <a16:creationId xmlns:a16="http://schemas.microsoft.com/office/drawing/2014/main" id="{7A731306-7B4D-454D-894D-1D9F9ECB4428}"/>
              </a:ext>
            </a:extLst>
          </p:cNvPr>
          <p:cNvSpPr>
            <a:spLocks xmlns:a="http://schemas.openxmlformats.org/drawingml/2006/main" noGrp="1"/>
          </p:cNvSpPr>
          <p:nvPr/>
        </p:nvSpPr>
        <p:spPr>
          <a:xfrm xmlns:a="http://schemas.openxmlformats.org/drawingml/2006/main">
            <a:off x="685800" y="666750"/>
            <a:ext cx="1028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3B70"/>
                </a:solidFill>
              </a:defRPr>
            </a:pPr>
            <a:r>
              <a:rPr sz="2700" b="1">
                <a:solidFill>
                  <a:srgbClr val="003B70"/>
                </a:solidFill>
              </a:rPr>
              <a:t>Next steps and resources</a:t>
            </a:r>
          </a:p>
        </p:txBody>
      </p:sp>
      <p:sp>
        <p:nvSpPr>
          <p:cNvPr id="3" name="">
            <a:extLst xmlns:a="http://schemas.openxmlformats.org/drawingml/2006/main">
              <a:ext uri="{FF2B5EF4-FFF2-40B4-BE49-F238E27FC236}">
                <a16:creationId xmlns:a16="http://schemas.microsoft.com/office/drawing/2014/main" id="{65D38CCA-4BD3-41DB-A616-40E6FE4233A9}"/>
              </a:ext>
            </a:extLst>
          </p:cNvPr>
          <p:cNvSpPr>
            <a:spLocks xmlns:a="http://schemas.openxmlformats.org/drawingml/2006/main" noGrp="1"/>
          </p:cNvSpPr>
          <p:nvPr/>
        </p:nvSpPr>
        <p:spPr>
          <a:xfrm xmlns:a="http://schemas.openxmlformats.org/drawingml/2006/main">
            <a:off x="685800" y="1381125"/>
            <a:ext cx="10287000" cy="28575"/>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4" name="">
            <a:extLst xmlns:a="http://schemas.openxmlformats.org/drawingml/2006/main">
              <a:ext uri="{FF2B5EF4-FFF2-40B4-BE49-F238E27FC236}">
                <a16:creationId xmlns:a16="http://schemas.microsoft.com/office/drawing/2014/main" id="{C594FCFB-4307-4295-94D0-02633F0E35F3}"/>
              </a:ext>
            </a:extLst>
          </p:cNvPr>
          <p:cNvSpPr>
            <a:spLocks xmlns:a="http://schemas.openxmlformats.org/drawingml/2006/main" noGrp="1"/>
          </p:cNvSpPr>
          <p:nvPr/>
        </p:nvSpPr>
        <p:spPr>
          <a:xfrm xmlns:a="http://schemas.openxmlformats.org/drawingml/2006/main">
            <a:off x="685800" y="1809750"/>
            <a:ext cx="4762500" cy="2095500"/>
          </a:xfrm>
          <a:prstGeom xmlns:a="http://schemas.openxmlformats.org/drawingml/2006/main" prst="roundRect">
            <a:avLst>
              <a:gd name="adj" fmla="val 5455"/>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5" name="">
            <a:extLst xmlns:a="http://schemas.openxmlformats.org/drawingml/2006/main">
              <a:ext uri="{FF2B5EF4-FFF2-40B4-BE49-F238E27FC236}">
                <a16:creationId xmlns:a16="http://schemas.microsoft.com/office/drawing/2014/main" id="{A05F1942-D969-4F3D-AFB6-5C0D83027C9E}"/>
              </a:ext>
            </a:extLst>
          </p:cNvPr>
          <p:cNvSpPr>
            <a:spLocks xmlns:a="http://schemas.openxmlformats.org/drawingml/2006/main" noGrp="1"/>
          </p:cNvSpPr>
          <p:nvPr/>
        </p:nvSpPr>
        <p:spPr>
          <a:xfrm xmlns:a="http://schemas.openxmlformats.org/drawingml/2006/main">
            <a:off x="685800" y="1809750"/>
            <a:ext cx="66675" cy="2095500"/>
          </a:xfrm>
          <a:prstGeom xmlns:a="http://schemas.openxmlformats.org/drawingml/2006/main" prst="rect">
            <a:avLst/>
          </a:prstGeom>
          <a:solidFill xmlns:a="http://schemas.openxmlformats.org/drawingml/2006/main">
            <a:srgbClr val="368F2C"/>
          </a:solidFill>
          <a:ln xmlns:a="http://schemas.openxmlformats.org/drawingml/2006/main" w="0">
            <a:solidFill>
              <a:srgbClr val="368F2C"/>
            </a:solidFill>
            <a:prstDash val="solid"/>
          </a:ln>
        </p:spPr>
      </p:sp>
      <p:sp>
        <p:nvSpPr>
          <p:cNvPr id="6" name="">
            <a:extLst xmlns:a="http://schemas.openxmlformats.org/drawingml/2006/main">
              <a:ext uri="{FF2B5EF4-FFF2-40B4-BE49-F238E27FC236}">
                <a16:creationId xmlns:a16="http://schemas.microsoft.com/office/drawing/2014/main" id="{575AA996-4EFF-4AC9-AFC3-6B4E4C29D86A}"/>
              </a:ext>
            </a:extLst>
          </p:cNvPr>
          <p:cNvSpPr>
            <a:spLocks xmlns:a="http://schemas.openxmlformats.org/drawingml/2006/main" noGrp="1"/>
          </p:cNvSpPr>
          <p:nvPr/>
        </p:nvSpPr>
        <p:spPr>
          <a:xfrm xmlns:a="http://schemas.openxmlformats.org/drawingml/2006/main">
            <a:off x="914400"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Apply the lesson</a:t>
            </a:r>
          </a:p>
        </p:txBody>
      </p:sp>
      <p:sp>
        <p:nvSpPr>
          <p:cNvPr id="7" name="">
            <a:extLst xmlns:a="http://schemas.openxmlformats.org/drawingml/2006/main">
              <a:ext uri="{FF2B5EF4-FFF2-40B4-BE49-F238E27FC236}">
                <a16:creationId xmlns:a16="http://schemas.microsoft.com/office/drawing/2014/main" id="{EE710C57-BC67-4E19-B1E0-2FFF5999F485}"/>
              </a:ext>
            </a:extLst>
          </p:cNvPr>
          <p:cNvSpPr>
            <a:spLocks xmlns:a="http://schemas.openxmlformats.org/drawingml/2006/main" noGrp="1"/>
          </p:cNvSpPr>
          <p:nvPr/>
        </p:nvSpPr>
        <p:spPr>
          <a:xfrm xmlns:a="http://schemas.openxmlformats.org/drawingml/2006/main">
            <a:off x="914400" y="2457450"/>
            <a:ext cx="43053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Use this topic with Plays 1, 2, 3, 7, 12, 13 and Tools 1, 3, 6, 7, 13, 42, 46. Turn the discussion into a documented question, decision, gap, or implementation artifact.</a:t>
            </a:r>
          </a:p>
        </p:txBody>
      </p:sp>
      <p:sp>
        <p:nvSpPr>
          <p:cNvPr id="8" name="">
            <a:extLst xmlns:a="http://schemas.openxmlformats.org/drawingml/2006/main">
              <a:ext uri="{FF2B5EF4-FFF2-40B4-BE49-F238E27FC236}">
                <a16:creationId xmlns:a16="http://schemas.microsoft.com/office/drawing/2014/main" id="{B4A5CB3C-3A3C-4899-B529-FF816C106240}"/>
              </a:ext>
            </a:extLst>
          </p:cNvPr>
          <p:cNvSpPr>
            <a:spLocks xmlns:a="http://schemas.openxmlformats.org/drawingml/2006/main" noGrp="1"/>
          </p:cNvSpPr>
          <p:nvPr/>
        </p:nvSpPr>
        <p:spPr>
          <a:xfrm xmlns:a="http://schemas.openxmlformats.org/drawingml/2006/main">
            <a:off x="5953125" y="1809750"/>
            <a:ext cx="4762500" cy="3048000"/>
          </a:xfrm>
          <a:prstGeom xmlns:a="http://schemas.openxmlformats.org/drawingml/2006/main" prst="roundRect">
            <a:avLst>
              <a:gd name="adj" fmla="val 3750"/>
            </a:avLst>
          </a:prstGeom>
          <a:solidFill xmlns:a="http://schemas.openxmlformats.org/drawingml/2006/main">
            <a:srgbClr val="FFFFFF"/>
          </a:solidFill>
          <a:ln xmlns:a="http://schemas.openxmlformats.org/drawingml/2006/main" w="9525">
            <a:solidFill>
              <a:srgbClr val="CFE0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59ECFA92-8C9E-45FF-8A72-22FBA2D3CD6A}"/>
              </a:ext>
            </a:extLst>
          </p:cNvPr>
          <p:cNvSpPr>
            <a:spLocks xmlns:a="http://schemas.openxmlformats.org/drawingml/2006/main" noGrp="1"/>
          </p:cNvSpPr>
          <p:nvPr/>
        </p:nvSpPr>
        <p:spPr>
          <a:xfrm xmlns:a="http://schemas.openxmlformats.org/drawingml/2006/main">
            <a:off x="5953125" y="1809750"/>
            <a:ext cx="66675" cy="3048000"/>
          </a:xfrm>
          <a:prstGeom xmlns:a="http://schemas.openxmlformats.org/drawingml/2006/main" prst="rect">
            <a:avLst/>
          </a:prstGeom>
          <a:solidFill xmlns:a="http://schemas.openxmlformats.org/drawingml/2006/main">
            <a:srgbClr val="005DAA"/>
          </a:solidFill>
          <a:ln xmlns:a="http://schemas.openxmlformats.org/drawingml/2006/main" w="0">
            <a:solidFill>
              <a:srgbClr val="005DAA"/>
            </a:solidFill>
            <a:prstDash val="solid"/>
          </a:ln>
        </p:spPr>
      </p:sp>
      <p:sp>
        <p:nvSpPr>
          <p:cNvPr id="10" name="">
            <a:extLst xmlns:a="http://schemas.openxmlformats.org/drawingml/2006/main">
              <a:ext uri="{FF2B5EF4-FFF2-40B4-BE49-F238E27FC236}">
                <a16:creationId xmlns:a16="http://schemas.microsoft.com/office/drawing/2014/main" id="{7C0D530E-B83A-4DFC-A585-E638810FECE8}"/>
              </a:ext>
            </a:extLst>
          </p:cNvPr>
          <p:cNvSpPr>
            <a:spLocks xmlns:a="http://schemas.openxmlformats.org/drawingml/2006/main" noGrp="1"/>
          </p:cNvSpPr>
          <p:nvPr/>
        </p:nvSpPr>
        <p:spPr>
          <a:xfrm xmlns:a="http://schemas.openxmlformats.org/drawingml/2006/main">
            <a:off x="6181725" y="2000250"/>
            <a:ext cx="430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3B70"/>
                </a:solidFill>
              </a:defRPr>
            </a:pPr>
            <a:r>
              <a:rPr sz="1650" b="1">
                <a:solidFill>
                  <a:srgbClr val="003B70"/>
                </a:solidFill>
              </a:rPr>
              <a:t>References and resources</a:t>
            </a:r>
          </a:p>
        </p:txBody>
      </p:sp>
      <p:sp>
        <p:nvSpPr>
          <p:cNvPr id="11" name="">
            <a:extLst xmlns:a="http://schemas.openxmlformats.org/drawingml/2006/main">
              <a:ext uri="{FF2B5EF4-FFF2-40B4-BE49-F238E27FC236}">
                <a16:creationId xmlns:a16="http://schemas.microsoft.com/office/drawing/2014/main" id="{FDE685C4-6FB9-4AF0-82FC-C73D9BD171E3}"/>
              </a:ext>
            </a:extLst>
          </p:cNvPr>
          <p:cNvSpPr>
            <a:spLocks xmlns:a="http://schemas.openxmlformats.org/drawingml/2006/main" noGrp="1"/>
          </p:cNvSpPr>
          <p:nvPr/>
        </p:nvSpPr>
        <p:spPr>
          <a:xfrm xmlns:a="http://schemas.openxmlformats.org/drawingml/2006/main">
            <a:off x="6181725" y="2457450"/>
            <a:ext cx="4305300" cy="2247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4394A"/>
                </a:solidFill>
              </a:defRPr>
            </a:pPr>
            <a:r>
              <a:rPr sz="1275" b="0">
                <a:solidFill>
                  <a:srgbClr val="24394A"/>
                </a:solidFill>
              </a:rPr>
              <a:t>Blueprint for an AI Bill of Rights: Principles for human alternatives, notice, and protection from automated harms. NIST AI Risk Management Framework: Risk-based framing for deciding whether and how AI should be used. ASPPH AI Framework.</a:t>
            </a:r>
          </a:p>
        </p:txBody>
      </p:sp>
      <p:sp>
        <p:nvSpPr>
          <p:cNvPr id="12" name="">
            <a:extLst xmlns:a="http://schemas.openxmlformats.org/drawingml/2006/main">
              <a:ext uri="{FF2B5EF4-FFF2-40B4-BE49-F238E27FC236}">
                <a16:creationId xmlns:a16="http://schemas.microsoft.com/office/drawing/2014/main" id="{FF8F709D-3D88-4BE9-A7CF-DCC5749D11C2}"/>
              </a:ext>
            </a:extLst>
          </p:cNvPr>
          <p:cNvSpPr>
            <a:spLocks xmlns:a="http://schemas.openxmlformats.org/drawingml/2006/main" noGrp="1"/>
          </p:cNvSpPr>
          <p:nvPr/>
        </p:nvSpPr>
        <p:spPr>
          <a:xfrm xmlns:a="http://schemas.openxmlformats.org/drawingml/2006/main">
            <a:off x="685800" y="642937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0">
                <a:solidFill>
                  <a:srgbClr val="5D7080"/>
                </a:solidFill>
              </a:defRPr>
            </a:pPr>
            <a:r>
              <a:rPr sz="900" b="0">
                <a:solidFill>
                  <a:srgbClr val="5D7080"/>
                </a:solidFill>
              </a:rPr>
              <a:t>When Not to Use AI</a:t>
            </a:r>
          </a:p>
        </p:txBody>
      </p:sp>
      <p:sp>
        <p:nvSpPr>
          <p:cNvPr id="13" name="">
            <a:extLst xmlns:a="http://schemas.openxmlformats.org/drawingml/2006/main">
              <a:ext uri="{FF2B5EF4-FFF2-40B4-BE49-F238E27FC236}">
                <a16:creationId xmlns:a16="http://schemas.microsoft.com/office/drawing/2014/main" id="{239E835A-3D2A-4355-8304-B8089FD7A785}"/>
              </a:ext>
            </a:extLst>
          </p:cNvPr>
          <p:cNvSpPr>
            <a:spLocks xmlns:a="http://schemas.openxmlformats.org/drawingml/2006/main" noGrp="1"/>
          </p:cNvSpPr>
          <p:nvPr/>
        </p:nvSpPr>
        <p:spPr>
          <a:xfrm xmlns:a="http://schemas.openxmlformats.org/drawingml/2006/main">
            <a:off x="11049000" y="6429375"/>
            <a:ext cx="457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005DAA"/>
                </a:solidFill>
              </a:defRPr>
            </a:pPr>
            <a:r>
              <a:rPr sz="900" b="1">
                <a:solidFill>
                  <a:srgbClr val="005DAA"/>
                </a:solidFill>
              </a:rPr>
              <a:t>08</a:t>
            </a:r>
          </a:p>
        </p:txBody>
      </p:sp>
    </p:spTree>
    <p:extLst>
      <p:ext uri="{BB962C8B-B14F-4D97-AF65-F5344CB8AC3E}">
        <p14:creationId xmlns:p14="http://schemas.microsoft.com/office/powerpoint/2010/main" val="11492068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2026-07-02T17:47:05.6980000Z</dcterms:created>
  <dcterms:modified xsi:type="dcterms:W3CDTF">2026-07-02T17:47:05.6980000Z</dcterms:modified>
</coreProperties>
</file>