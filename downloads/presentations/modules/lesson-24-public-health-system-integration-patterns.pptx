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AI rarely succeeds as a stand-alone application.</a:t>
            </a:r>
            <a:endParaRPr lang="en-US" sz="1700" dirty="0"/>
          </a:p>
          <a:p>
            <a:r>
              <a:rPr lang="en-US" sz="1700" dirty="0">
                <a:solidFill>
                  <a:srgbClr val="17364A"/>
                </a:solidFill>
                <a:latin typeface="Aptos" pitchFamily="34" charset="0"/>
                <a:ea typeface="Aptos" pitchFamily="34" charset="-122"/>
                <a:cs typeface="Aptos" pitchFamily="34" charset="-120"/>
              </a:rPr>
              <a:t>The value of an AI-supported workflow depends on how well it is integrated with systems of record, data exchange services, terminology services,.</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understand the integration patterns that allow AI to support public health work without creating fragmented pilots or.</a:t>
            </a:r>
            <a:endParaRPr lang="en-US" sz="1700" dirty="0"/>
          </a:p>
          <a:p>
            <a:r>
              <a:rPr lang="en-US" sz="1700" dirty="0">
                <a:solidFill>
                  <a:srgbClr val="17364A"/>
                </a:solidFill>
                <a:latin typeface="Aptos" pitchFamily="34" charset="0"/>
                <a:ea typeface="Aptos" pitchFamily="34" charset="-122"/>
                <a:cs typeface="Aptos" pitchFamily="34" charset="-120"/>
              </a:rPr>
              <a:t>The module focuses on practical integration choices rather than software engineering theory.</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 operations-data-quality, program-management,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700" dirty="0"/>
          </a:p>
          <a:p>
            <a:r>
              <a:rPr lang="en-US" sz="1700" dirty="0">
                <a:solidFill>
                  <a:srgbClr val="17364A"/>
                </a:solidFill>
                <a:latin typeface="Aptos" pitchFamily="34" charset="0"/>
                <a:ea typeface="Aptos" pitchFamily="34" charset="-122"/>
                <a:cs typeface="Aptos" pitchFamily="34" charset="-120"/>
              </a:rPr>
              <a:t>Distinguish among common integration patterns such as point-to-point interfaces, APIs, message brokers, interface engines,.</a:t>
            </a:r>
            <a:endParaRPr lang="en-US" sz="1700" dirty="0"/>
          </a:p>
          <a:p>
            <a:r>
              <a:rPr lang="en-US" sz="1700" dirty="0">
                <a:solidFill>
                  <a:srgbClr val="17364A"/>
                </a:solidFill>
                <a:latin typeface="Aptos" pitchFamily="34" charset="0"/>
                <a:ea typeface="Aptos" pitchFamily="34" charset="-122"/>
                <a:cs typeface="Aptos" pitchFamily="34" charset="-120"/>
              </a:rPr>
              <a:t>Identify the systems of record, upstream sources, downstream systems, and shared services involved in an AI-supported workflow.</a:t>
            </a:r>
            <a:endParaRPr lang="en-US" sz="1700" dirty="0"/>
          </a:p>
          <a:p>
            <a:r>
              <a:rPr lang="en-US" sz="1700" dirty="0">
                <a:solidFill>
                  <a:srgbClr val="17364A"/>
                </a:solidFill>
                <a:latin typeface="Aptos" pitchFamily="34" charset="0"/>
                <a:ea typeface="Aptos" pitchFamily="34" charset="-122"/>
                <a:cs typeface="Aptos" pitchFamily="34" charset="-120"/>
              </a:rPr>
              <a:t>Assess whether a proposed AI tool requires read-only access, write-back access, embedded workflow integration, or manual review.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AI rarely succeeds as a stand-alone application.</a:t>
            </a:r>
            <a:endParaRPr lang="en-US" sz="1700" dirty="0"/>
          </a:p>
          <a:p>
            <a:r>
              <a:rPr lang="en-US" sz="1700" dirty="0">
                <a:solidFill>
                  <a:srgbClr val="17364A"/>
                </a:solidFill>
                <a:latin typeface="Aptos" pitchFamily="34" charset="0"/>
                <a:ea typeface="Aptos" pitchFamily="34" charset="-122"/>
                <a:cs typeface="Aptos" pitchFamily="34" charset="-120"/>
              </a:rPr>
              <a:t>The value of an AI-supported workflow depends on how well it is integrated with systems of record, data exchange services,.</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understand the integration patterns that allow AI to support public health work without creating.</a:t>
            </a:r>
            <a:endParaRPr lang="en-US" sz="1700" dirty="0"/>
          </a:p>
          <a:p>
            <a:r>
              <a:rPr lang="en-US" sz="1700" dirty="0">
                <a:solidFill>
                  <a:srgbClr val="17364A"/>
                </a:solidFill>
                <a:latin typeface="Aptos" pitchFamily="34" charset="0"/>
                <a:ea typeface="Aptos" pitchFamily="34" charset="-122"/>
                <a:cs typeface="Aptos" pitchFamily="34" charset="-120"/>
              </a:rPr>
              <a:t>The module focuses on practical integration choices rather than software engineering theory.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AI rarely succeeds as a stand-alone application.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1700" dirty="0"/>
          </a:p>
          <a:p>
            <a:r>
              <a:rPr lang="en-US" sz="1700" dirty="0">
                <a:solidFill>
                  <a:srgbClr val="17364A"/>
                </a:solidFill>
                <a:latin typeface="Aptos" pitchFamily="34" charset="0"/>
                <a:ea typeface="Aptos" pitchFamily="34" charset="-122"/>
                <a:cs typeface="Aptos" pitchFamily="34" charset="-120"/>
              </a:rPr>
              <a:t>Interface engine: Software that routes, transforms, validates, and monitors messages between systems.</a:t>
            </a:r>
            <a:endParaRPr lang="en-US" sz="1700" dirty="0"/>
          </a:p>
          <a:p>
            <a:r>
              <a:rPr lang="en-US" sz="1700" dirty="0">
                <a:solidFill>
                  <a:srgbClr val="17364A"/>
                </a:solidFill>
                <a:latin typeface="Aptos" pitchFamily="34" charset="0"/>
                <a:ea typeface="Aptos" pitchFamily="34" charset="-122"/>
                <a:cs typeface="Aptos" pitchFamily="34" charset="-120"/>
              </a:rPr>
              <a:t>Message broker: A service that allows systems to send and receive messages through a managed queue or topic.</a:t>
            </a:r>
            <a:endParaRPr lang="en-US" sz="1700" dirty="0"/>
          </a:p>
          <a:p>
            <a:r>
              <a:rPr lang="en-US" sz="1700" dirty="0">
                <a:solidFill>
                  <a:srgbClr val="17364A"/>
                </a:solidFill>
                <a:latin typeface="Aptos" pitchFamily="34" charset="0"/>
                <a:ea typeface="Aptos" pitchFamily="34" charset="-122"/>
                <a:cs typeface="Aptos" pitchFamily="34" charset="-120"/>
              </a:rPr>
              <a:t>Bulk data exchange: The transfer of large datasets at scheduled intervals or on demand.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 isolated tool that adds.</a:t>
            </a:r>
            <a:endParaRPr lang="en-US" sz="1700" dirty="0"/>
          </a:p>
          <a:p>
            <a:r>
              <a:rPr lang="en-US" sz="1700" dirty="0">
                <a:solidFill>
                  <a:srgbClr val="17364A"/>
                </a:solidFill>
                <a:latin typeface="Aptos" pitchFamily="34" charset="0"/>
                <a:ea typeface="Aptos" pitchFamily="34" charset="-122"/>
                <a:cs typeface="Aptos" pitchFamily="34" charset="-120"/>
              </a:rPr>
              <a:t>If staff must copy and paste sensitive information between systems, the AI tool may appear helpful while increasing privacy.</a:t>
            </a:r>
            <a:endParaRPr lang="en-US" sz="1700" dirty="0"/>
          </a:p>
          <a:p>
            <a:r>
              <a:rPr lang="en-US" sz="1700" dirty="0">
                <a:solidFill>
                  <a:srgbClr val="17364A"/>
                </a:solidFill>
                <a:latin typeface="Aptos" pitchFamily="34" charset="0"/>
                <a:ea typeface="Aptos" pitchFamily="34" charset="-122"/>
                <a:cs typeface="Aptos" pitchFamily="34" charset="-120"/>
              </a:rPr>
              <a:t>If an AI service writes back to a system of record without appropriate controls, a technical integration can become an.</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often operate in mixed environments that include legacy surveillance systems, modern cloud.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 isolated tool that adds.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 tasks for investigators.</a:t>
            </a:r>
            <a:endParaRPr lang="en-US" sz="1700" dirty="0"/>
          </a:p>
          <a:p>
            <a:r>
              <a:rPr lang="en-US" sz="1700" dirty="0">
                <a:solidFill>
                  <a:srgbClr val="17364A"/>
                </a:solidFill>
                <a:latin typeface="Aptos" pitchFamily="34" charset="0"/>
                <a:ea typeface="Aptos" pitchFamily="34" charset="-122"/>
                <a:cs typeface="Aptos" pitchFamily="34" charset="-120"/>
              </a:rPr>
              <a:t>A weak integration pattern would require staff to export case data, paste it into an external tool, copy the summary, and.</a:t>
            </a:r>
            <a:endParaRPr lang="en-US" sz="1700" dirty="0"/>
          </a:p>
          <a:p>
            <a:r>
              <a:rPr lang="en-US" sz="1700" dirty="0">
                <a:solidFill>
                  <a:srgbClr val="17364A"/>
                </a:solidFill>
                <a:latin typeface="Aptos" pitchFamily="34" charset="0"/>
                <a:ea typeface="Aptos" pitchFamily="34" charset="-122"/>
                <a:cs typeface="Aptos" pitchFamily="34" charset="-120"/>
              </a:rPr>
              <a:t>A stronger pattern would retrieve approved fields from the surveillance system, generate a draft summary inside the.</a:t>
            </a:r>
            <a:endParaRPr lang="en-US" sz="1700" dirty="0"/>
          </a:p>
          <a:p>
            <a:r>
              <a:rPr lang="en-US" sz="1700" dirty="0">
                <a:solidFill>
                  <a:srgbClr val="17364A"/>
                </a:solidFill>
                <a:latin typeface="Aptos" pitchFamily="34" charset="0"/>
                <a:ea typeface="Aptos" pitchFamily="34" charset="-122"/>
                <a:cs typeface="Aptos" pitchFamily="34" charset="-120"/>
              </a:rPr>
              <a:t>The technical design matters because the AI tool is no longer just generating text.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 tasks for investigators.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Point-to-point interfaces connect two systems directly.</a:t>
            </a:r>
            <a:endParaRPr lang="en-US" sz="1700" dirty="0"/>
          </a:p>
          <a:p>
            <a:r>
              <a:rPr lang="en-US" sz="1700" dirty="0">
                <a:solidFill>
                  <a:srgbClr val="17364A"/>
                </a:solidFill>
                <a:latin typeface="Aptos" pitchFamily="34" charset="0"/>
                <a:ea typeface="Aptos" pitchFamily="34" charset="-122"/>
                <a:cs typeface="Aptos" pitchFamily="34" charset="-120"/>
              </a:rPr>
              <a:t>They can be useful when the exchange is stable and narrow, but they become difficult to maintain as the number of systems.</a:t>
            </a:r>
            <a:endParaRPr lang="en-US" sz="1700" dirty="0"/>
          </a:p>
          <a:p>
            <a:r>
              <a:rPr lang="en-US" sz="1700" dirty="0">
                <a:solidFill>
                  <a:srgbClr val="17364A"/>
                </a:solidFill>
                <a:latin typeface="Aptos" pitchFamily="34" charset="0"/>
                <a:ea typeface="Aptos" pitchFamily="34" charset="-122"/>
                <a:cs typeface="Aptos" pitchFamily="34" charset="-120"/>
              </a:rPr>
              <a:t>In public health, too many point-to-point connections can create brittle architecture, inconsistent validation, and high.</a:t>
            </a:r>
            <a:endParaRPr lang="en-US" sz="1700" dirty="0"/>
          </a:p>
          <a:p>
            <a:r>
              <a:rPr lang="en-US" sz="1700" dirty="0">
                <a:solidFill>
                  <a:srgbClr val="17364A"/>
                </a:solidFill>
                <a:latin typeface="Aptos" pitchFamily="34" charset="0"/>
                <a:ea typeface="Aptos" pitchFamily="34" charset="-122"/>
                <a:cs typeface="Aptos" pitchFamily="34" charset="-120"/>
              </a:rPr>
              <a:t>Interface engines and message brokers support more scalable exchange.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Point-to-point interfaces connect two systems directly.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integration by workaround.</a:t>
            </a:r>
            <a:endParaRPr lang="en-US" sz="1700" dirty="0"/>
          </a:p>
          <a:p>
            <a:r>
              <a:rPr lang="en-US" sz="1700" dirty="0">
                <a:solidFill>
                  <a:srgbClr val="17364A"/>
                </a:solidFill>
                <a:latin typeface="Aptos" pitchFamily="34" charset="0"/>
                <a:ea typeface="Aptos" pitchFamily="34" charset="-122"/>
                <a:cs typeface="Aptos" pitchFamily="34" charset="-120"/>
              </a:rPr>
              <a:t>Staff may use manual exports, screenshots, shared drives, or copy-and-paste workflows when a tool is not properly integrated.</a:t>
            </a:r>
            <a:endParaRPr lang="en-US" sz="1700" dirty="0"/>
          </a:p>
          <a:p>
            <a:r>
              <a:rPr lang="en-US" sz="1700" dirty="0">
                <a:solidFill>
                  <a:srgbClr val="17364A"/>
                </a:solidFill>
                <a:latin typeface="Aptos" pitchFamily="34" charset="0"/>
                <a:ea typeface="Aptos" pitchFamily="34" charset="-122"/>
                <a:cs typeface="Aptos" pitchFamily="34" charset="-120"/>
              </a:rPr>
              <a:t>These practices can create privacy risk, version confusion, and gaps in the official record.</a:t>
            </a:r>
            <a:endParaRPr lang="en-US" sz="1700" dirty="0"/>
          </a:p>
          <a:p>
            <a:r>
              <a:rPr lang="en-US" sz="1700" dirty="0">
                <a:solidFill>
                  <a:srgbClr val="17364A"/>
                </a:solidFill>
                <a:latin typeface="Aptos" pitchFamily="34" charset="0"/>
                <a:ea typeface="Aptos" pitchFamily="34" charset="-122"/>
                <a:cs typeface="Aptos" pitchFamily="34" charset="-120"/>
              </a:rPr>
              <a:t>A guardrail is to require integration review before operational use and to document whether manual transfer of sensitive.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integration by workaround.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 grounded in.</a:t>
            </a:r>
            <a:endParaRPr lang="en-US" sz="1700" dirty="0"/>
          </a:p>
          <a:p>
            <a:r>
              <a:rPr lang="en-US" sz="1700" dirty="0">
                <a:solidFill>
                  <a:srgbClr val="17364A"/>
                </a:solidFill>
                <a:latin typeface="Aptos" pitchFamily="34" charset="0"/>
                <a:ea typeface="Aptos" pitchFamily="34" charset="-122"/>
                <a:cs typeface="Aptos" pitchFamily="34" charset="-120"/>
              </a:rPr>
              <a:t>Predictive models may require scheduled data feeds and monitoring dashboards.</a:t>
            </a:r>
            <a:endParaRPr lang="en-US" sz="1700" dirty="0"/>
          </a:p>
          <a:p>
            <a:r>
              <a:rPr lang="en-US" sz="1700" dirty="0">
                <a:solidFill>
                  <a:srgbClr val="17364A"/>
                </a:solidFill>
                <a:latin typeface="Aptos" pitchFamily="34" charset="0"/>
                <a:ea typeface="Aptos" pitchFamily="34" charset="-122"/>
                <a:cs typeface="Aptos" pitchFamily="34" charset="-120"/>
              </a:rPr>
              <a:t>Agentic workflows require the strongest integration controls because they may call tools, access data, create tasks, or.</a:t>
            </a:r>
            <a:endParaRPr lang="en-US" sz="1700" dirty="0"/>
          </a:p>
          <a:p>
            <a:r>
              <a:rPr lang="en-US" sz="1700" dirty="0">
                <a:solidFill>
                  <a:srgbClr val="17364A"/>
                </a:solidFill>
                <a:latin typeface="Aptos" pitchFamily="34" charset="0"/>
                <a:ea typeface="Aptos" pitchFamily="34" charset="-122"/>
                <a:cs typeface="Aptos" pitchFamily="34" charset="-120"/>
              </a:rPr>
              <a:t>For each AI use case, the integration pattern should match the sensitivity and operational consequence of the action.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 grounded in.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700" dirty="0"/>
          </a:p>
          <a:p>
            <a:r>
              <a:rPr lang="en-US" sz="1700" dirty="0">
                <a:solidFill>
                  <a:srgbClr val="17364A"/>
                </a:solidFill>
                <a:latin typeface="Aptos" pitchFamily="34" charset="0"/>
                <a:ea typeface="Aptos" pitchFamily="34" charset="-122"/>
                <a:cs typeface="Aptos" pitchFamily="34" charset="-120"/>
              </a:rPr>
              <a:t>Which systems are the official systems of record?</a:t>
            </a:r>
            <a:endParaRPr lang="en-US" sz="1700" dirty="0"/>
          </a:p>
          <a:p>
            <a:r>
              <a:rPr lang="en-US" sz="1700" dirty="0">
                <a:solidFill>
                  <a:srgbClr val="17364A"/>
                </a:solidFill>
                <a:latin typeface="Aptos" pitchFamily="34" charset="0"/>
                <a:ea typeface="Aptos" pitchFamily="34" charset="-122"/>
                <a:cs typeface="Aptos" pitchFamily="34" charset="-120"/>
              </a:rPr>
              <a:t>Where would API access reduce burden without increasing risk?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actions should remain read-only?</a:t>
            </a:r>
            <a:endParaRPr lang="en-US" sz="1700" dirty="0"/>
          </a:p>
          <a:p>
            <a:r>
              <a:rPr lang="en-US" sz="1700" dirty="0">
                <a:solidFill>
                  <a:srgbClr val="17364A"/>
                </a:solidFill>
                <a:latin typeface="Aptos" pitchFamily="34" charset="0"/>
                <a:ea typeface="Aptos" pitchFamily="34" charset="-122"/>
                <a:cs typeface="Aptos" pitchFamily="34" charset="-120"/>
              </a:rPr>
              <a:t>What logs would be needed to reconstruct an AI-supported action?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actions should remain read-only?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700" dirty="0"/>
          </a:p>
          <a:p>
            <a:r>
              <a:rPr lang="en-US" sz="1700" dirty="0">
                <a:solidFill>
                  <a:srgbClr val="17364A"/>
                </a:solidFill>
                <a:latin typeface="Aptos" pitchFamily="34" charset="0"/>
                <a:ea typeface="Aptos" pitchFamily="34" charset="-122"/>
                <a:cs typeface="Aptos" pitchFamily="34" charset="-120"/>
              </a:rPr>
              <a:t>Identify the systems involved, the data exchanged, the integration method, whether the AI tool is read-only or write-back,.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Integration pattern worksheet</a:t>
            </a:r>
            <a:endParaRPr lang="en-US" sz="1700" dirty="0"/>
          </a:p>
          <a:p>
            <a:r>
              <a:rPr lang="en-US" sz="1700" dirty="0">
                <a:solidFill>
                  <a:srgbClr val="17364A"/>
                </a:solidFill>
                <a:latin typeface="Aptos" pitchFamily="34" charset="0"/>
                <a:ea typeface="Aptos" pitchFamily="34" charset="-122"/>
                <a:cs typeface="Aptos" pitchFamily="34" charset="-120"/>
              </a:rPr>
              <a:t>System-of-record and source-system list</a:t>
            </a:r>
            <a:endParaRPr lang="en-US" sz="1700" dirty="0"/>
          </a:p>
          <a:p>
            <a:r>
              <a:rPr lang="en-US" sz="1700" dirty="0">
                <a:solidFill>
                  <a:srgbClr val="17364A"/>
                </a:solidFill>
                <a:latin typeface="Aptos" pitchFamily="34" charset="0"/>
                <a:ea typeface="Aptos" pitchFamily="34" charset="-122"/>
                <a:cs typeface="Aptos" pitchFamily="34" charset="-120"/>
              </a:rPr>
              <a:t>Read/write permission recommendation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Integration pattern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Error handling and audit log requirements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Error handling and audit log requirements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Integration pattern worksheet</a:t>
            </a:r>
            <a:endParaRPr lang="en-US" sz="1700" dirty="0"/>
          </a:p>
          <a:p>
            <a:r>
              <a:rPr lang="en-US" sz="1700" dirty="0">
                <a:solidFill>
                  <a:srgbClr val="17364A"/>
                </a:solidFill>
                <a:latin typeface="Aptos" pitchFamily="34" charset="0"/>
                <a:ea typeface="Aptos" pitchFamily="34" charset="-122"/>
                <a:cs typeface="Aptos" pitchFamily="34" charset="-120"/>
              </a:rPr>
              <a:t>System-of-record and source-system list</a:t>
            </a:r>
            <a:endParaRPr lang="en-US" sz="1700" dirty="0"/>
          </a:p>
          <a:p>
            <a:r>
              <a:rPr lang="en-US" sz="1700" dirty="0">
                <a:solidFill>
                  <a:srgbClr val="17364A"/>
                </a:solidFill>
                <a:latin typeface="Aptos" pitchFamily="34" charset="0"/>
                <a:ea typeface="Aptos" pitchFamily="34" charset="-122"/>
                <a:cs typeface="Aptos" pitchFamily="34" charset="-120"/>
              </a:rPr>
              <a:t>Read/write permission recommendation</a:t>
            </a:r>
            <a:endParaRPr lang="en-US" sz="1700" dirty="0"/>
          </a:p>
          <a:p>
            <a:r>
              <a:rPr lang="en-US" sz="1700" dirty="0">
                <a:solidFill>
                  <a:srgbClr val="17364A"/>
                </a:solidFill>
                <a:latin typeface="Aptos" pitchFamily="34" charset="0"/>
                <a:ea typeface="Aptos" pitchFamily="34" charset="-122"/>
                <a:cs typeface="Aptos" pitchFamily="34" charset="-120"/>
              </a:rPr>
              <a:t>Error handling and audit log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Integration pattern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2026-07-12T18:54:57Z</dcterms:created>
  <dcterms:modified xsi:type="dcterms:W3CDTF">2026-07-12T18:54:57Z</dcterms:modified>
</cp:coreProperties>
</file>