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 400 Executive AI Decision Rights and Accountability
AI governance can only work when decision rights are clear. Leaders need to know who can approve a pilot, who can accept residual risk, who can authorize use of sensitive data, who can pause a tool, and who is accountable when an AI-supported workflow affects public health action. Ambiguous accountability is especially risky in public health because AI outputs may influence investigations, communications, referrals, resource allocation, and community trust. This module focuses on executive decision rights and accountability structures. Learners examine how to assign ownership across strategy, risk, technical implementation, program operations, privacy, legal, cybersecurity, procurement, communications, and community accountability. The module emphasizes that accountability cannot be delegated to a vendor or to the AI system itself. Public health agencies remain accountable for how AI is selected, used, monitored, and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advanced/leadership
Primary track: Public Health Executive Leadership Track
Appears in tracks: governance-security
AI governance can only work when decision rights are clear. Leaders need to know who can approve a pilot, who can accept residual risk, who can authorize use of sensitive data, who can pause a tool, and who is accountable when an AI-supported workflow affects public health action. Ambiguous accountability is especially risky in public health because AI outputs may influence investigations, communications, referrals, resource allocation, and community trust. This module focuses on executive decision rights and accountability structures. Learners examine how to assign ownership across strategy, risk, technical implementation, program operations, privacy, legal, cybersecurity, procurement, communications, and community accountability. The module emphasizes that accountability cannot be delegated to a vendor or to the AI system itself. Public health agencies remain accountable for how AI is selected, used, monitored, and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1: Vision &amp; Guardrails - This lesson informs Play 1 by helping learners connect the lesson topic to vision &amp; guardrails work in the AI Playbook sequence.
Play 3: Establish AI Governance - This lesson informs Play 3 by helping learners connect the lesson topic to establish ai governance work in the AI Playbook sequence.
Play 7: Prioritize Use Cases - This lesson informs Play 7 by helping learners connect the lesson topic to prioritize use cases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32: Vendor Evaluation Checklist (Checklist) - Use this tool to complete or strengthen the practical exercise for the module using fictional, de-identified, or generalized.
Tool 34: STLT AI Procurement and Vendor Addendum (Checklist) - Use this tool to complete or strengthen the practical exercise for the module using fictional, de-identified, or generalized.
Tool 3: Equity Impact Assessment Checklist (Checklist) - Use this tool to complete or strengthen the practical exercise for the module using fictional, de-identified, or generalized.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AI accountability must be assigned to people and roles rather than to tools or vendors.
Identify executive, program, technical, privacy, legal, security, and governance responsibilities for AI decisions.
Create a decision-rights matrix for AI use case approval, risk acceptance, monitoring, escalation, and retirement.
Distinguish between consultative input, approval authority, and operational ownership.
Define accountability expectations for vendor-supported AI tools and internally developed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AI governance can only work when decision rights are clear. Leaders need to know who can approve a pilot, who can accept residual risk, who can authorize use of sensitive data, who can pause a tool, and who is accountable when an AI-supported workflow affects public health action. Ambiguous accountability is especially risky in public health because AI outputs may influence investigations, communications, referrals, resource allocation, and community trust.
This module focuses on executive decision rights and accountability structures. Learners examine how to assign ownership across strategy, risk, technical implementation, program operations, privacy, legal, cybersecurity, procurement, communications, and community accountability. The module emphasizes that accountability cannot be delegated to a vendor or to the AI system itself. Public health agencies remain accountable for how AI is selected, used, monitored, and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module provides national-level training guidance for public health agencies and partners. It is not legal advice and does not replace review by agency legal counsel, privacy officers, procurement officials, civil rights staff, records officers, or other authorized decision-makers. Requirements may vary by state, locality, territory, Tribe, agency, funding source, data-sharing agreement, emergency authority, and organizational policy. Learners should use this module to identify the issues that require review and should confirm applicable requirements before approving, procuring, deploying, or publicly communicating about AI-supported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AI systems can distribute responsibility across many actors. A vendor may provide the model, IT may manage access, a program may define the workflow, an epidemiologist may review the output, and leadership may approve implementation. Without a formal accountability model, each actor may assume that another party is responsible for validation, monitoring, public explanation, or incident response.
Clear decision rights support trust and speed. When leaders know which decisions they own, they can act quickly when a tool performs poorly, when a privacy concern emerges, or when a public-facing communication needs review. Decision rights also prevent informal escalation patterns in which difficult decisions are delayed because no one is clearly authorized to accept, modify, or reject a proposed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local health department implements an AI-assisted tool to classify incoming environmental health complaints by topic and urgency. The vendor configured the model, IT manages access, environmental health staff review the queue, and the program director owns the workflow. A complaint is misclassified and a serious housing-related concern is not routed for timely follow-up.
A decision-rights matrix helps the agency respond. The program owner is accountable for workflow performance, the vendor must provide technical support and documentation, IT reviews logging and access, governance reviews whether use should continue, and an executive sponsor decides whether the risk requires pausing the tool. Because responsibilities are defined in advance, the agency can respond without confusion or blame shifting.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and Governance Deep Dive
Decision rights should be defined across the full AI lifecycle. During ideation, leadership may decide whether a use case aligns with agency priorities. During review, governance may decide whether the use case is low, moderate, or high risk. During procurement, authorized officials decide whether vendor claims, contract language, and technical requirements are sufficient. During implementation, program and technical owners decide whether acceptance criteria have been met. During operations, defined owners decide whether monitoring results require adjustment, escalation, or retirement.
A public health accountability model should separate approval authority from operational ownership. An executive may approve a use case, but the program owner remains accountable for how the workflow functions. A privacy officer may advise on data safeguards, but the program cannot treat that consultation as a substitute for ongoing compliance. A vendor may provide model documentation, but the agency must decide whether the documentation is sufficient for its context and authorities.
Decision rights should also include stop authority. Agencies often define who can approve a tool but fail to define who can pause it. Stop authority is essential for AI because model performance, data flows, user behavior, and public conditions can change over time. A clear pause process helps staff report concerns early rather than waiting for a serious incident.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One risk is accountability diffusion. When everyone is involved but no one is accountable, important concerns may go unresolved. A guardrail is to assign a named program owner and governance owner for every AI use case.
Another risk is inappropriate risk acceptance by staff who lack authority. A frontline supervisor may feel pressure to continue a tool despite known concerns. A guardrail is to define which risks can be accepted at the program level and which require executive or governance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For generative AI, decision rights should clarify who approves public release of AI-assisted content. For predictive analytics, leaders should decide whether the score may inform resource allocation or only support review. For agentic AI, decision rights should define who authorizes system actions, rollback procedures, and changes to permissions. Accountability should remain tied to public health roles and legal authority.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current or proposed AI use case in your agency raises this leadership or governance issue most clearly?
Who currently has authority to make decisions about this issue, and is that authority documented?
What evidence would governance or leadership need before approving the use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staff, partners, or communities would be affected if this issue were handled poorly?
What policy, process, or artifact should be created or updated after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 decision-rights matrix for one AI use case. Include approval, data access, validation, launch, monitoring, incident escalation, risk acceptance, public communication, and retirement.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Begin
Choose a real or realistic public health AI use case. Document assumptions, unresolved questions, and which agency roles would need to review the artifact before it is adopted. The exercise should produce a work product that could support governance review, leadership discussion, implementation planning, or policy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Decision-rights matrix; RACI table; risk acceptance thresholds; escalation authority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Decision-rights matrix; RACI table; risk acceptance thresholds; escalation authority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the strongest reason this module topic belongs in AI leadership and governance training?
2. Which practice best supports accountable public health AI governance?
3. When should an AI use case be escalated for leadership or governance review?
4. What is weak evidence of completion for a leadership and governance module?
5. What should leaders do when an AI use case has meaningful benefits but unresolved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(AI RMF 1.0): https://www.nist.gov/itl/ai-risk-management-framework
NIST Generative AI Profile: https://www.nist.gov/publications/artificial-intelligence-risk-management-framework-generative-artificial-intelligence
NIST Privacy Framework
CDC Public Health Data Strategy and Data Modernization resources: https://www.cdc.gov/public-health-data-strategy/php/about/index.html
WHO Ethics and Governance of Artificial Intelligence for Health: https://www.who.int/publications/i/item/9789240029200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OMB Memorandum M-24-10 on federal AI governance, risk management, and innovation, where relevant to public-sector governance models
Agency strategic plans, procurement policies, privacy policies, cybersecurity policies, records policies, and equity plans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EXE 400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Executive AI Decision Rights and Accountability</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can only work when decision rights are clear.</a:t>
            </a:r>
            <a:endParaRPr lang="en-US" sz="2100" dirty="0"/>
          </a:p>
          <a:p>
            <a:r>
              <a:rPr lang="en-US" sz="2100" dirty="0">
                <a:solidFill>
                  <a:srgbClr val="17364A"/>
                </a:solidFill>
                <a:latin typeface="Aptos" pitchFamily="34" charset="0"/>
                <a:ea typeface="Aptos" pitchFamily="34" charset="-122"/>
                <a:cs typeface="Aptos" pitchFamily="34" charset="-120"/>
              </a:rPr>
              <a:t>Leaders need to know who can approve a pilot, who can accept residual risk, who can authorize use of sensitive.</a:t>
            </a:r>
            <a:endParaRPr lang="en-US" sz="2100" dirty="0"/>
          </a:p>
          <a:p>
            <a:r>
              <a:rPr lang="en-US" sz="2100" dirty="0">
                <a:solidFill>
                  <a:srgbClr val="17364A"/>
                </a:solidFill>
                <a:latin typeface="Aptos" pitchFamily="34" charset="0"/>
                <a:ea typeface="Aptos" pitchFamily="34" charset="-122"/>
                <a:cs typeface="Aptos" pitchFamily="34" charset="-120"/>
              </a:rPr>
              <a:t>Ambiguous accountability is especially risky in public health because AI outputs may influence investigations,.</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Module details</a:t>
            </a:r>
            <a:endParaRPr lang="en-US" sz="1300" dirty="0"/>
          </a:p>
        </p:txBody>
      </p:sp>
      <p:sp>
        <p:nvSpPr>
          <p:cNvPr id="12" name="Text 10"/>
          <p:cNvSpPr/>
          <p:nvPr/>
        </p:nvSpPr>
        <p:spPr>
          <a:xfrm>
            <a:off x="8074152" y="1920240"/>
            <a:ext cx="2825496" cy="128016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Level: advanced/leadership</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Primary track: Public Health Executive Leadership Track</a:t>
            </a:r>
            <a:endParaRPr lang="en-US" sz="1550" dirty="0"/>
          </a:p>
          <a:p>
            <a:pPr indent="0" marL="0">
              <a:buNone/>
            </a:pPr>
            <a:r>
              <a:rPr lang="en-US" sz="1550" dirty="0">
                <a:solidFill>
                  <a:srgbClr val="17364A"/>
                </a:solidFill>
                <a:latin typeface="Aptos" pitchFamily="34" charset="0"/>
                <a:ea typeface="Aptos" pitchFamily="34" charset="-122"/>
                <a:cs typeface="Aptos" pitchFamily="34" charset="-120"/>
              </a:rPr>
              <a:t>Appears in tracks: governance-security</a:t>
            </a:r>
            <a:endParaRPr lang="en-US" sz="1550" dirty="0"/>
          </a:p>
        </p:txBody>
      </p:sp>
      <p:sp>
        <p:nvSpPr>
          <p:cNvPr id="13" name="Shape 11"/>
          <p:cNvSpPr/>
          <p:nvPr/>
        </p:nvSpPr>
        <p:spPr>
          <a:xfrm>
            <a:off x="7635240" y="3730752"/>
            <a:ext cx="103327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708392"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Learn</a:t>
            </a:r>
            <a:endParaRPr lang="en-US" sz="1500" dirty="0"/>
          </a:p>
        </p:txBody>
      </p:sp>
      <p:sp>
        <p:nvSpPr>
          <p:cNvPr id="15" name="Text 13"/>
          <p:cNvSpPr/>
          <p:nvPr/>
        </p:nvSpPr>
        <p:spPr>
          <a:xfrm>
            <a:off x="8695944"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8924544" y="3730752"/>
            <a:ext cx="103327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8997696"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Apply</a:t>
            </a:r>
            <a:endParaRPr lang="en-US" sz="1500" dirty="0"/>
          </a:p>
        </p:txBody>
      </p:sp>
      <p:sp>
        <p:nvSpPr>
          <p:cNvPr id="18" name="Text 16"/>
          <p:cNvSpPr/>
          <p:nvPr/>
        </p:nvSpPr>
        <p:spPr>
          <a:xfrm>
            <a:off x="9985248" y="3941064"/>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13848" y="3730752"/>
            <a:ext cx="103327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287000" y="3922776"/>
            <a:ext cx="88696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Document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900" dirty="0">
                <a:solidFill>
                  <a:srgbClr val="17364A"/>
                </a:solidFill>
                <a:latin typeface="Aptos" pitchFamily="34" charset="0"/>
                <a:ea typeface="Aptos" pitchFamily="34" charset="-122"/>
                <a:cs typeface="Aptos" pitchFamily="34" charset="-120"/>
              </a:rPr>
              <a:t>Play 11: Build and Deploy AI Solutions - This lesson informs Play 11 by helping learners connect the lesson.</a:t>
            </a:r>
            <a:endParaRPr lang="en-US" sz="1900" dirty="0"/>
          </a:p>
          <a:p>
            <a:r>
              <a:rPr lang="en-US" sz="1900" dirty="0">
                <a:solidFill>
                  <a:srgbClr val="17364A"/>
                </a:solidFill>
                <a:latin typeface="Aptos" pitchFamily="34" charset="0"/>
                <a:ea typeface="Aptos" pitchFamily="34" charset="-122"/>
                <a:cs typeface="Aptos" pitchFamily="34" charset="-120"/>
              </a:rPr>
              <a:t>Play 1: Vision &amp; Guardrails - This lesson informs Play 1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3: Establish AI Governance - This lesson informs Play 3 by helping learners connect the lesson topic to.</a:t>
            </a:r>
            <a:endParaRPr lang="en-US" sz="1900" dirty="0"/>
          </a:p>
          <a:p>
            <a:r>
              <a:rPr lang="en-US" sz="1900" dirty="0">
                <a:solidFill>
                  <a:srgbClr val="17364A"/>
                </a:solidFill>
                <a:latin typeface="Aptos" pitchFamily="34" charset="0"/>
                <a:ea typeface="Aptos" pitchFamily="34" charset="-122"/>
                <a:cs typeface="Aptos" pitchFamily="34" charset="-120"/>
              </a:rPr>
              <a:t>Play 7: Prioritize Use Cases - This lesson informs Play 7 by helping learners connect the lesson topic to.</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Apply the lesson</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the related plays to identify decisions, participants, timing, approvals, and documentation needed for responsible implementation.</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Lesson</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Plays</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6A4CA3"/>
          </a:solidFill>
          <a:ln w="12700">
            <a:solidFill>
              <a:srgbClr val="6A4CA3"/>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Action</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635" tIns="635" rIns="635" bIns="635" rtlCol="0" anchor="t">
            <a:normAutofit/>
          </a:bodyPr>
          <a:lstStyle/>
          <a:p>
            <a:r>
              <a:rPr lang="en-US" sz="1850" dirty="0">
                <a:solidFill>
                  <a:srgbClr val="17364A"/>
                </a:solidFill>
                <a:latin typeface="Aptos" pitchFamily="34" charset="0"/>
                <a:ea typeface="Aptos" pitchFamily="34" charset="-122"/>
                <a:cs typeface="Aptos" pitchFamily="34" charset="-120"/>
              </a:rPr>
              <a:t>Tool 32: Vendor Evaluation Checklist (Checklist) - Use this tool to complete or strengthen the practical.</a:t>
            </a:r>
            <a:endParaRPr lang="en-US" sz="1850" dirty="0"/>
          </a:p>
          <a:p>
            <a:r>
              <a:rPr lang="en-US" sz="1850" dirty="0">
                <a:solidFill>
                  <a:srgbClr val="17364A"/>
                </a:solidFill>
                <a:latin typeface="Aptos" pitchFamily="34" charset="0"/>
                <a:ea typeface="Aptos" pitchFamily="34" charset="-122"/>
                <a:cs typeface="Aptos" pitchFamily="34" charset="-120"/>
              </a:rPr>
              <a:t>Tool 34: STLT AI Procurement and Vendor Addendum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3: Equity Impact Assessment Checklist (Checklist) - Use this tool to complete or strengthen the.</a:t>
            </a:r>
            <a:endParaRPr lang="en-US" sz="1850" dirty="0"/>
          </a:p>
          <a:p>
            <a:r>
              <a:rPr lang="en-US" sz="1850" dirty="0">
                <a:solidFill>
                  <a:srgbClr val="17364A"/>
                </a:solidFill>
                <a:latin typeface="Aptos" pitchFamily="34" charset="0"/>
                <a:ea typeface="Aptos" pitchFamily="34" charset="-122"/>
                <a:cs typeface="Aptos" pitchFamily="34" charset="-120"/>
              </a:rPr>
              <a:t>Tool 4: AI Policy Landscape Scan (Worksheet) - Use AI Policy Landscape Scan to translate this lesson into a.</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63624"/>
            <a:ext cx="273405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the tools</a:t>
            </a:r>
            <a:endParaRPr lang="en-US" sz="1300" dirty="0"/>
          </a:p>
        </p:txBody>
      </p:sp>
      <p:sp>
        <p:nvSpPr>
          <p:cNvPr id="12" name="Text 10"/>
          <p:cNvSpPr/>
          <p:nvPr/>
        </p:nvSpPr>
        <p:spPr>
          <a:xfrm>
            <a:off x="8211312" y="1920240"/>
            <a:ext cx="2734056" cy="146304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Use linked tools when your department needs a structured worksheet, template, checklist, review process, or documentation artifact.</a:t>
            </a:r>
            <a:endParaRPr lang="en-US" sz="1550" dirty="0"/>
          </a:p>
        </p:txBody>
      </p:sp>
      <p:sp>
        <p:nvSpPr>
          <p:cNvPr id="13" name="Shape 11"/>
          <p:cNvSpPr/>
          <p:nvPr/>
        </p:nvSpPr>
        <p:spPr>
          <a:xfrm>
            <a:off x="7818120" y="3977640"/>
            <a:ext cx="972312" cy="749808"/>
          </a:xfrm>
          <a:prstGeom prst="roundRect">
            <a:avLst>
              <a:gd name="adj" fmla="val 14634"/>
            </a:avLst>
          </a:prstGeom>
          <a:solidFill>
            <a:srgbClr val="0068B7"/>
          </a:solidFill>
          <a:ln w="12700">
            <a:solidFill>
              <a:srgbClr val="0068B7"/>
            </a:solidFill>
            <a:prstDash val="solid"/>
          </a:ln>
        </p:spPr>
      </p:sp>
      <p:sp>
        <p:nvSpPr>
          <p:cNvPr id="14" name="Text 12"/>
          <p:cNvSpPr/>
          <p:nvPr/>
        </p:nvSpPr>
        <p:spPr>
          <a:xfrm>
            <a:off x="7891272"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Concept</a:t>
            </a:r>
            <a:endParaRPr lang="en-US" sz="1500" dirty="0"/>
          </a:p>
        </p:txBody>
      </p:sp>
      <p:sp>
        <p:nvSpPr>
          <p:cNvPr id="15" name="Text 13"/>
          <p:cNvSpPr/>
          <p:nvPr/>
        </p:nvSpPr>
        <p:spPr>
          <a:xfrm>
            <a:off x="8817864"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6" name="Shape 14"/>
          <p:cNvSpPr/>
          <p:nvPr/>
        </p:nvSpPr>
        <p:spPr>
          <a:xfrm>
            <a:off x="9046464" y="3977640"/>
            <a:ext cx="972312" cy="749808"/>
          </a:xfrm>
          <a:prstGeom prst="roundRect">
            <a:avLst>
              <a:gd name="adj" fmla="val 14634"/>
            </a:avLst>
          </a:prstGeom>
          <a:solidFill>
            <a:srgbClr val="2F8A28"/>
          </a:solidFill>
          <a:ln w="12700">
            <a:solidFill>
              <a:srgbClr val="2F8A28"/>
            </a:solidFill>
            <a:prstDash val="solid"/>
          </a:ln>
        </p:spPr>
      </p:sp>
      <p:sp>
        <p:nvSpPr>
          <p:cNvPr id="17" name="Text 15"/>
          <p:cNvSpPr/>
          <p:nvPr/>
        </p:nvSpPr>
        <p:spPr>
          <a:xfrm>
            <a:off x="9119616"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Tool</a:t>
            </a:r>
            <a:endParaRPr lang="en-US" sz="1500" dirty="0"/>
          </a:p>
        </p:txBody>
      </p:sp>
      <p:sp>
        <p:nvSpPr>
          <p:cNvPr id="18" name="Text 16"/>
          <p:cNvSpPr/>
          <p:nvPr/>
        </p:nvSpPr>
        <p:spPr>
          <a:xfrm>
            <a:off x="10046208" y="4187952"/>
            <a:ext cx="201168" cy="256032"/>
          </a:xfrm>
          <a:prstGeom prst="rect">
            <a:avLst/>
          </a:prstGeom>
          <a:noFill/>
          <a:ln/>
        </p:spPr>
        <p:txBody>
          <a:bodyPr wrap="square" lIns="0" tIns="0" rIns="0" bIns="0" rtlCol="0" anchor="ctr"/>
          <a:lstStyle/>
          <a:p>
            <a:pPr algn="ctr" indent="0" marL="0">
              <a:buNone/>
            </a:pPr>
            <a:r>
              <a:rPr lang="en-US" sz="1800" b="1" dirty="0">
                <a:solidFill>
                  <a:srgbClr val="0068B7"/>
                </a:solidFill>
                <a:latin typeface="Aptos" pitchFamily="34" charset="0"/>
                <a:ea typeface="Aptos" pitchFamily="34" charset="-122"/>
                <a:cs typeface="Aptos" pitchFamily="34" charset="-120"/>
              </a:rPr>
              <a:t>â†’</a:t>
            </a:r>
            <a:endParaRPr lang="en-US" sz="1800" dirty="0"/>
          </a:p>
        </p:txBody>
      </p:sp>
      <p:sp>
        <p:nvSpPr>
          <p:cNvPr id="19" name="Shape 17"/>
          <p:cNvSpPr/>
          <p:nvPr/>
        </p:nvSpPr>
        <p:spPr>
          <a:xfrm>
            <a:off x="10274808" y="3977640"/>
            <a:ext cx="972312" cy="749808"/>
          </a:xfrm>
          <a:prstGeom prst="roundRect">
            <a:avLst>
              <a:gd name="adj" fmla="val 14634"/>
            </a:avLst>
          </a:prstGeom>
          <a:solidFill>
            <a:srgbClr val="D69A2D"/>
          </a:solidFill>
          <a:ln w="12700">
            <a:solidFill>
              <a:srgbClr val="D69A2D"/>
            </a:solidFill>
            <a:prstDash val="solid"/>
          </a:ln>
        </p:spPr>
      </p:sp>
      <p:sp>
        <p:nvSpPr>
          <p:cNvPr id="20" name="Text 18"/>
          <p:cNvSpPr/>
          <p:nvPr/>
        </p:nvSpPr>
        <p:spPr>
          <a:xfrm>
            <a:off x="10347960" y="4169664"/>
            <a:ext cx="826008" cy="310896"/>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Artifact</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Explain why AI accountability must be assigned to people and roles rather than to tools or vendors.</a:t>
            </a:r>
            <a:endParaRPr lang="en-US" sz="2100" dirty="0"/>
          </a:p>
          <a:p>
            <a:r>
              <a:rPr lang="en-US" sz="2100" dirty="0">
                <a:solidFill>
                  <a:srgbClr val="17364A"/>
                </a:solidFill>
                <a:latin typeface="Aptos" pitchFamily="34" charset="0"/>
                <a:ea typeface="Aptos" pitchFamily="34" charset="-122"/>
                <a:cs typeface="Aptos" pitchFamily="34" charset="-120"/>
              </a:rPr>
              <a:t>Identify executive, program, technical, privacy, legal, security, and governance responsibilities for.</a:t>
            </a:r>
            <a:endParaRPr lang="en-US" sz="2100" dirty="0"/>
          </a:p>
          <a:p>
            <a:r>
              <a:rPr lang="en-US" sz="2100" dirty="0">
                <a:solidFill>
                  <a:srgbClr val="17364A"/>
                </a:solidFill>
                <a:latin typeface="Aptos" pitchFamily="34" charset="0"/>
                <a:ea typeface="Aptos" pitchFamily="34" charset="-122"/>
                <a:cs typeface="Aptos" pitchFamily="34" charset="-120"/>
              </a:rPr>
              <a:t>Create a decision-rights matrix for AI use case approval, risk acceptance, monitoring, escalation,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Explain why AI accountability must be assigned to people and roles rather than to tools or vendors.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governance can only work when decision rights are clear.</a:t>
            </a:r>
            <a:endParaRPr lang="en-US" sz="2100" dirty="0"/>
          </a:p>
          <a:p>
            <a:r>
              <a:rPr lang="en-US" sz="2100" dirty="0">
                <a:solidFill>
                  <a:srgbClr val="17364A"/>
                </a:solidFill>
                <a:latin typeface="Aptos" pitchFamily="34" charset="0"/>
                <a:ea typeface="Aptos" pitchFamily="34" charset="-122"/>
                <a:cs typeface="Aptos" pitchFamily="34" charset="-120"/>
              </a:rPr>
              <a:t>Leaders need to know who can approve a pilot, who can accept residual risk, who can authorize use of.</a:t>
            </a:r>
            <a:endParaRPr lang="en-US" sz="2100" dirty="0"/>
          </a:p>
          <a:p>
            <a:r>
              <a:rPr lang="en-US" sz="2100" dirty="0">
                <a:solidFill>
                  <a:srgbClr val="17364A"/>
                </a:solidFill>
                <a:latin typeface="Aptos" pitchFamily="34" charset="0"/>
                <a:ea typeface="Aptos" pitchFamily="34" charset="-122"/>
                <a:cs typeface="Aptos" pitchFamily="34" charset="-120"/>
              </a:rPr>
              <a:t>Ambiguous accountability is especially risky in public health because AI outputs may influence.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governance can only work when decision rights are clear.</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2100" dirty="0"/>
          </a:p>
          <a:p>
            <a:r>
              <a:rPr lang="en-US" sz="2100" dirty="0">
                <a:solidFill>
                  <a:srgbClr val="17364A"/>
                </a:solidFill>
                <a:latin typeface="Aptos" pitchFamily="34" charset="0"/>
                <a:ea typeface="Aptos" pitchFamily="34" charset="-122"/>
                <a:cs typeface="Aptos" pitchFamily="34" charset="-120"/>
              </a:rPr>
              <a:t>It is not legal advice and does not replace review by agency legal counsel, privacy officers,.</a:t>
            </a:r>
            <a:endParaRPr lang="en-US" sz="2100" dirty="0"/>
          </a:p>
          <a:p>
            <a:r>
              <a:rPr lang="en-US" sz="2100" dirty="0">
                <a:solidFill>
                  <a:srgbClr val="17364A"/>
                </a:solidFill>
                <a:latin typeface="Aptos" pitchFamily="34" charset="0"/>
                <a:ea typeface="Aptos" pitchFamily="34" charset="-122"/>
                <a:cs typeface="Aptos" pitchFamily="34" charset="-120"/>
              </a:rPr>
              <a:t>Requirements may vary by state, locality, territory, Tribe, agency, funding source, data-sharing.</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This module provides national-level training guidance for public health agencies and partners.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AI systems can distribute responsibility across many actors.</a:t>
            </a:r>
            <a:endParaRPr lang="en-US" sz="2100" dirty="0"/>
          </a:p>
          <a:p>
            <a:r>
              <a:rPr lang="en-US" sz="2100" dirty="0">
                <a:solidFill>
                  <a:srgbClr val="17364A"/>
                </a:solidFill>
                <a:latin typeface="Aptos" pitchFamily="34" charset="0"/>
                <a:ea typeface="Aptos" pitchFamily="34" charset="-122"/>
                <a:cs typeface="Aptos" pitchFamily="34" charset="-120"/>
              </a:rPr>
              <a:t>A vendor may provide the model, IT may manage access, a program may define the workflow, an.</a:t>
            </a:r>
            <a:endParaRPr lang="en-US" sz="2100" dirty="0"/>
          </a:p>
          <a:p>
            <a:r>
              <a:rPr lang="en-US" sz="2100" dirty="0">
                <a:solidFill>
                  <a:srgbClr val="17364A"/>
                </a:solidFill>
                <a:latin typeface="Aptos" pitchFamily="34" charset="0"/>
                <a:ea typeface="Aptos" pitchFamily="34" charset="-122"/>
                <a:cs typeface="Aptos" pitchFamily="34" charset="-120"/>
              </a:rPr>
              <a:t>Without a formal accountability model, each actor may assume that another party is responsible for.</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AI systems can distribute responsibility across many actors.</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A local health department implements an AI-assisted tool to classify incoming environmental health.</a:t>
            </a:r>
            <a:endParaRPr lang="en-US" sz="2100" dirty="0"/>
          </a:p>
          <a:p>
            <a:r>
              <a:rPr lang="en-US" sz="2100" dirty="0">
                <a:solidFill>
                  <a:srgbClr val="17364A"/>
                </a:solidFill>
                <a:latin typeface="Aptos" pitchFamily="34" charset="0"/>
                <a:ea typeface="Aptos" pitchFamily="34" charset="-122"/>
                <a:cs typeface="Aptos" pitchFamily="34" charset="-120"/>
              </a:rPr>
              <a:t>The vendor configured the model, IT manages access, environmental health staff review the queue, and.</a:t>
            </a:r>
            <a:endParaRPr lang="en-US" sz="2100" dirty="0"/>
          </a:p>
          <a:p>
            <a:r>
              <a:rPr lang="en-US" sz="2100" dirty="0">
                <a:solidFill>
                  <a:srgbClr val="17364A"/>
                </a:solidFill>
                <a:latin typeface="Aptos" pitchFamily="34" charset="0"/>
                <a:ea typeface="Aptos" pitchFamily="34" charset="-122"/>
                <a:cs typeface="Aptos" pitchFamily="34" charset="-120"/>
              </a:rPr>
              <a:t>A complaint is misclassified and a serious housing-related concern is not routed for timely follow-up.</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A local health department implements an AI-assisted tool to classify incoming environmental health.</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6</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and Governance Deep Dive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 rights should be defined across the full AI lifecycle.</a:t>
            </a:r>
            <a:endParaRPr lang="en-US" sz="2100" dirty="0"/>
          </a:p>
          <a:p>
            <a:r>
              <a:rPr lang="en-US" sz="2100" dirty="0">
                <a:solidFill>
                  <a:srgbClr val="17364A"/>
                </a:solidFill>
                <a:latin typeface="Aptos" pitchFamily="34" charset="0"/>
                <a:ea typeface="Aptos" pitchFamily="34" charset="-122"/>
                <a:cs typeface="Aptos" pitchFamily="34" charset="-120"/>
              </a:rPr>
              <a:t>During ideation, leadership may decide whether a use case aligns with agency priorities.</a:t>
            </a:r>
            <a:endParaRPr lang="en-US" sz="2100" dirty="0"/>
          </a:p>
          <a:p>
            <a:r>
              <a:rPr lang="en-US" sz="2100" dirty="0">
                <a:solidFill>
                  <a:srgbClr val="17364A"/>
                </a:solidFill>
                <a:latin typeface="Aptos" pitchFamily="34" charset="0"/>
                <a:ea typeface="Aptos" pitchFamily="34" charset="-122"/>
                <a:cs typeface="Aptos" pitchFamily="34" charset="-120"/>
              </a:rPr>
              <a:t>During review, governance may decide whether the use case is low, moderate, or high risk.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 rights should be defined across the full AI lifecycle.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7</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One risk is accountability diffusion.</a:t>
            </a:r>
            <a:endParaRPr lang="en-US" sz="2100" dirty="0"/>
          </a:p>
          <a:p>
            <a:r>
              <a:rPr lang="en-US" sz="2100" dirty="0">
                <a:solidFill>
                  <a:srgbClr val="17364A"/>
                </a:solidFill>
                <a:latin typeface="Aptos" pitchFamily="34" charset="0"/>
                <a:ea typeface="Aptos" pitchFamily="34" charset="-122"/>
                <a:cs typeface="Aptos" pitchFamily="34" charset="-120"/>
              </a:rPr>
              <a:t>When everyone is involved but no one is accountable, important concerns may go unresolved.</a:t>
            </a:r>
            <a:endParaRPr lang="en-US" sz="2100" dirty="0"/>
          </a:p>
          <a:p>
            <a:r>
              <a:rPr lang="en-US" sz="2100" dirty="0">
                <a:solidFill>
                  <a:srgbClr val="17364A"/>
                </a:solidFill>
                <a:latin typeface="Aptos" pitchFamily="34" charset="0"/>
                <a:ea typeface="Aptos" pitchFamily="34" charset="-122"/>
                <a:cs typeface="Aptos" pitchFamily="34" charset="-120"/>
              </a:rPr>
              <a:t>A guardrail is to assign a named program owner and governance owner for every AI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One risk is accountability diffusion.</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8</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For generative AI, decision rights should clarify who approves public release of AI-assisted content.</a:t>
            </a:r>
            <a:endParaRPr lang="en-US" sz="2100" dirty="0"/>
          </a:p>
          <a:p>
            <a:r>
              <a:rPr lang="en-US" sz="2100" dirty="0">
                <a:solidFill>
                  <a:srgbClr val="17364A"/>
                </a:solidFill>
                <a:latin typeface="Aptos" pitchFamily="34" charset="0"/>
                <a:ea typeface="Aptos" pitchFamily="34" charset="-122"/>
                <a:cs typeface="Aptos" pitchFamily="34" charset="-120"/>
              </a:rPr>
              <a:t>For predictive analytics, leaders should decide whether the score may inform resource allocation or.</a:t>
            </a:r>
            <a:endParaRPr lang="en-US" sz="2100" dirty="0"/>
          </a:p>
          <a:p>
            <a:r>
              <a:rPr lang="en-US" sz="2100" dirty="0">
                <a:solidFill>
                  <a:srgbClr val="17364A"/>
                </a:solidFill>
                <a:latin typeface="Aptos" pitchFamily="34" charset="0"/>
                <a:ea typeface="Aptos" pitchFamily="34" charset="-122"/>
                <a:cs typeface="Aptos" pitchFamily="34" charset="-120"/>
              </a:rPr>
              <a:t>For agentic AI, decision rights should define who authorizes system actions, rollback procedures, and.</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For generative AI, decision rights should clarify who approves public release of AI-assisted content.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9</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2100" dirty="0"/>
          </a:p>
          <a:p>
            <a:r>
              <a:rPr lang="en-US" sz="2100" dirty="0">
                <a:solidFill>
                  <a:srgbClr val="17364A"/>
                </a:solidFill>
                <a:latin typeface="Aptos" pitchFamily="34" charset="0"/>
                <a:ea typeface="Aptos" pitchFamily="34" charset="-122"/>
                <a:cs typeface="Aptos" pitchFamily="34" charset="-120"/>
              </a:rPr>
              <a:t>Who currently has authority to make decisions about this issue, and is that authority documented?</a:t>
            </a:r>
            <a:endParaRPr lang="en-US" sz="2100" dirty="0"/>
          </a:p>
          <a:p>
            <a:r>
              <a:rPr lang="en-US" sz="2100" dirty="0">
                <a:solidFill>
                  <a:srgbClr val="17364A"/>
                </a:solidFill>
                <a:latin typeface="Aptos" pitchFamily="34" charset="0"/>
                <a:ea typeface="Aptos" pitchFamily="34" charset="-122"/>
                <a:cs typeface="Aptos" pitchFamily="34" charset="-120"/>
              </a:rPr>
              <a:t>What evidence would governance or leadership need before approving the use case?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current or proposed AI use case in your agency raises this leadership or governance issue most.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2100" dirty="0"/>
          </a:p>
          <a:p>
            <a:r>
              <a:rPr lang="en-US" sz="2100" dirty="0">
                <a:solidFill>
                  <a:srgbClr val="17364A"/>
                </a:solidFill>
                <a:latin typeface="Aptos" pitchFamily="34" charset="0"/>
                <a:ea typeface="Aptos" pitchFamily="34" charset="-122"/>
                <a:cs typeface="Aptos" pitchFamily="34" charset="-120"/>
              </a:rPr>
              <a:t>What policy, process, or artifact should be created or updated after this module?</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Which staff, partners, or communities would be affected if this issue were handled poorly?</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10</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Create a decision-rights matrix for one AI use case.</a:t>
            </a:r>
            <a:endParaRPr lang="en-US" sz="2100" dirty="0"/>
          </a:p>
          <a:p>
            <a:r>
              <a:rPr lang="en-US" sz="2100" dirty="0">
                <a:solidFill>
                  <a:srgbClr val="17364A"/>
                </a:solidFill>
                <a:latin typeface="Aptos" pitchFamily="34" charset="0"/>
                <a:ea typeface="Aptos" pitchFamily="34" charset="-122"/>
                <a:cs typeface="Aptos" pitchFamily="34" charset="-120"/>
              </a:rPr>
              <a:t>Include approval, data access, validation, launch, monitoring, incident escalation, risk acceptance,.</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Create a decision-rights matrix for one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11</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Before You Begin</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Choose a real or realistic public health AI use case.</a:t>
            </a:r>
            <a:endParaRPr lang="en-US" sz="2100" dirty="0"/>
          </a:p>
          <a:p>
            <a:r>
              <a:rPr lang="en-US" sz="2100" dirty="0">
                <a:solidFill>
                  <a:srgbClr val="17364A"/>
                </a:solidFill>
                <a:latin typeface="Aptos" pitchFamily="34" charset="0"/>
                <a:ea typeface="Aptos" pitchFamily="34" charset="-122"/>
                <a:cs typeface="Aptos" pitchFamily="34" charset="-120"/>
              </a:rPr>
              <a:t>Document assumptions, unresolved questions, and which agency roles would need to review the artifact.</a:t>
            </a:r>
            <a:endParaRPr lang="en-US" sz="2100" dirty="0"/>
          </a:p>
          <a:p>
            <a:r>
              <a:rPr lang="en-US" sz="2100" dirty="0">
                <a:solidFill>
                  <a:srgbClr val="17364A"/>
                </a:solidFill>
                <a:latin typeface="Aptos" pitchFamily="34" charset="0"/>
                <a:ea typeface="Aptos" pitchFamily="34" charset="-122"/>
                <a:cs typeface="Aptos" pitchFamily="34" charset="-120"/>
              </a:rPr>
              <a:t>The exercise should produce a work product that could support governance review, leadership discussion,.</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Choose a real or realistic public health AI use case.</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12</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13</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Decision-rights matrix; RACI table; risk acceptance thresholds; escalation authority list.</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14</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2100" dirty="0"/>
          </a:p>
          <a:p>
            <a:r>
              <a:rPr lang="en-US" sz="2100" dirty="0">
                <a:solidFill>
                  <a:srgbClr val="17364A"/>
                </a:solidFill>
                <a:latin typeface="Aptos" pitchFamily="34" charset="0"/>
                <a:ea typeface="Aptos" pitchFamily="34" charset="-122"/>
                <a:cs typeface="Aptos" pitchFamily="34" charset="-120"/>
              </a:rPr>
              <a:t>2. Which practice best supports accountable public health AI governance?</a:t>
            </a:r>
            <a:endParaRPr lang="en-US" sz="2100" dirty="0"/>
          </a:p>
          <a:p>
            <a:r>
              <a:rPr lang="en-US" sz="2100" dirty="0">
                <a:solidFill>
                  <a:srgbClr val="17364A"/>
                </a:solidFill>
                <a:latin typeface="Aptos" pitchFamily="34" charset="0"/>
                <a:ea typeface="Aptos" pitchFamily="34" charset="-122"/>
                <a:cs typeface="Aptos" pitchFamily="34" charset="-120"/>
              </a:rPr>
              <a:t>3. When should an AI use case be escalated for leadership or governance review?</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1. What is the strongest reason this module topic belongs in AI leadership and governance training?</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Shape 6"/>
          <p:cNvSpPr/>
          <p:nvPr/>
        </p:nvSpPr>
        <p:spPr>
          <a:xfrm>
            <a:off x="640080" y="658368"/>
            <a:ext cx="420624" cy="420624"/>
          </a:xfrm>
          <a:prstGeom prst="ellipse">
            <a:avLst/>
          </a:prstGeom>
          <a:solidFill>
            <a:srgbClr val="0068B7"/>
          </a:solidFill>
          <a:ln w="12700">
            <a:solidFill>
              <a:srgbClr val="0068B7"/>
            </a:solidFill>
            <a:prstDash val="solid"/>
          </a:ln>
        </p:spPr>
      </p:sp>
      <p:sp>
        <p:nvSpPr>
          <p:cNvPr id="9" name="Text 7"/>
          <p:cNvSpPr/>
          <p:nvPr/>
        </p:nvSpPr>
        <p:spPr>
          <a:xfrm>
            <a:off x="640080" y="731520"/>
            <a:ext cx="420624" cy="164592"/>
          </a:xfrm>
          <a:prstGeom prst="rect">
            <a:avLst/>
          </a:prstGeom>
          <a:noFill/>
          <a:ln/>
        </p:spPr>
        <p:txBody>
          <a:bodyPr wrap="square" lIns="0" tIns="0" rIns="0" bIns="0" rtlCol="0" anchor="ctr"/>
          <a:lstStyle/>
          <a:p>
            <a:pPr algn="ctr" indent="0" marL="0">
              <a:buNone/>
            </a:pPr>
            <a:r>
              <a:rPr lang="en-US" sz="1100" b="1" dirty="0">
                <a:solidFill>
                  <a:srgbClr val="FFFFFF"/>
                </a:solidFill>
                <a:latin typeface="Aptos" pitchFamily="34" charset="0"/>
                <a:ea typeface="Aptos" pitchFamily="34" charset="-122"/>
                <a:cs typeface="Aptos" pitchFamily="34" charset="-120"/>
              </a:rPr>
              <a:t>15</a:t>
            </a:r>
            <a:endParaRPr lang="en-US" sz="1100" dirty="0"/>
          </a:p>
        </p:txBody>
      </p:sp>
      <p:sp>
        <p:nvSpPr>
          <p:cNvPr id="10" name="Text 8"/>
          <p:cNvSpPr/>
          <p:nvPr/>
        </p:nvSpPr>
        <p:spPr>
          <a:xfrm>
            <a:off x="640080" y="621792"/>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11" name="Text 9"/>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2100" dirty="0"/>
          </a:p>
          <a:p>
            <a:r>
              <a:rPr lang="en-US" sz="2100" dirty="0">
                <a:solidFill>
                  <a:srgbClr val="17364A"/>
                </a:solidFill>
                <a:latin typeface="Aptos" pitchFamily="34" charset="0"/>
                <a:ea typeface="Aptos" pitchFamily="34" charset="-122"/>
                <a:cs typeface="Aptos" pitchFamily="34" charset="-120"/>
              </a:rPr>
              <a:t>NIST Generative AI Profile:.</a:t>
            </a:r>
            <a:endParaRPr lang="en-US" sz="2100" dirty="0"/>
          </a:p>
          <a:p>
            <a:r>
              <a:rPr lang="en-US" sz="2100" dirty="0">
                <a:solidFill>
                  <a:srgbClr val="17364A"/>
                </a:solidFill>
                <a:latin typeface="Aptos" pitchFamily="34" charset="0"/>
                <a:ea typeface="Aptos" pitchFamily="34" charset="-122"/>
                <a:cs typeface="Aptos" pitchFamily="34" charset="-120"/>
              </a:rPr>
              <a:t>NIST Privacy Framework</a:t>
            </a:r>
            <a:endParaRPr lang="en-US" sz="2100" dirty="0"/>
          </a:p>
        </p:txBody>
      </p:sp>
      <p:sp>
        <p:nvSpPr>
          <p:cNvPr id="12" name="Shape 10"/>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3" name="Text 11"/>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4" name="Text 12"/>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NIST Artificial Intelligence Risk Management Framework (AI RMF 1.0):.</a:t>
            </a:r>
            <a:endParaRPr lang="en-US" sz="1550" dirty="0"/>
          </a:p>
        </p:txBody>
      </p:sp>
      <p:sp>
        <p:nvSpPr>
          <p:cNvPr id="15" name="Shape 13"/>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6" name="Text 14"/>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7" name="Text 15"/>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Executive AI Decision Rights and Accountability</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966960" y="6537960"/>
            <a:ext cx="164592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Â©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 Continued</a:t>
            </a:r>
            <a:endParaRPr lang="en-US" sz="3400" dirty="0"/>
          </a:p>
        </p:txBody>
      </p:sp>
      <p:sp>
        <p:nvSpPr>
          <p:cNvPr id="9" name="Text 7"/>
          <p:cNvSpPr/>
          <p:nvPr/>
        </p:nvSpPr>
        <p:spPr>
          <a:xfrm>
            <a:off x="868680" y="1508760"/>
            <a:ext cx="6537960" cy="4160520"/>
          </a:xfrm>
          <a:prstGeom prst="rect">
            <a:avLst/>
          </a:prstGeom>
          <a:noFill/>
          <a:ln/>
        </p:spPr>
        <p:txBody>
          <a:bodyPr wrap="square" lIns="635" tIns="635" rIns="635" bIns="635" rtlCol="0" anchor="t">
            <a:normAutofit/>
          </a:bodyPr>
          <a:lstStyle/>
          <a:p>
            <a:r>
              <a:rPr lang="en-US" sz="210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2100" dirty="0"/>
          </a:p>
          <a:p>
            <a:r>
              <a:rPr lang="en-US" sz="2100" dirty="0">
                <a:solidFill>
                  <a:srgbClr val="17364A"/>
                </a:solidFill>
                <a:latin typeface="Aptos" pitchFamily="34" charset="0"/>
                <a:ea typeface="Aptos" pitchFamily="34" charset="-122"/>
                <a:cs typeface="Aptos" pitchFamily="34" charset="-120"/>
              </a:rPr>
              <a:t>Agency strategic plans, procurement policies, privacy policies, cybersecurity policies, records.</a:t>
            </a:r>
            <a:endParaRPr lang="en-US" sz="2100" dirty="0"/>
          </a:p>
        </p:txBody>
      </p:sp>
      <p:sp>
        <p:nvSpPr>
          <p:cNvPr id="10" name="Shape 8"/>
          <p:cNvSpPr/>
          <p:nvPr/>
        </p:nvSpPr>
        <p:spPr>
          <a:xfrm>
            <a:off x="7909560" y="1417320"/>
            <a:ext cx="3154680" cy="1828800"/>
          </a:xfrm>
          <a:prstGeom prst="roundRect">
            <a:avLst>
              <a:gd name="adj" fmla="val 6000"/>
            </a:avLst>
          </a:prstGeom>
          <a:solidFill>
            <a:srgbClr val="EEF8ED"/>
          </a:solidFill>
          <a:ln w="12700">
            <a:solidFill>
              <a:srgbClr val="B9D7E6"/>
            </a:solidFill>
            <a:prstDash val="solid"/>
          </a:ln>
        </p:spPr>
      </p:sp>
      <p:sp>
        <p:nvSpPr>
          <p:cNvPr id="11" name="Text 9"/>
          <p:cNvSpPr/>
          <p:nvPr/>
        </p:nvSpPr>
        <p:spPr>
          <a:xfrm>
            <a:off x="8074152" y="156362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Key idea</a:t>
            </a:r>
            <a:endParaRPr lang="en-US" sz="1300" dirty="0"/>
          </a:p>
        </p:txBody>
      </p:sp>
      <p:sp>
        <p:nvSpPr>
          <p:cNvPr id="12" name="Text 10"/>
          <p:cNvSpPr/>
          <p:nvPr/>
        </p:nvSpPr>
        <p:spPr>
          <a:xfrm>
            <a:off x="8074152" y="1920240"/>
            <a:ext cx="2825496" cy="118872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OMB Memorandum M-24-10 on federal AI governance, risk management, and innovation, where relevant to.</a:t>
            </a:r>
            <a:endParaRPr lang="en-US" sz="1550" dirty="0"/>
          </a:p>
        </p:txBody>
      </p:sp>
      <p:sp>
        <p:nvSpPr>
          <p:cNvPr id="13" name="Shape 11"/>
          <p:cNvSpPr/>
          <p:nvPr/>
        </p:nvSpPr>
        <p:spPr>
          <a:xfrm>
            <a:off x="7909560" y="3520440"/>
            <a:ext cx="3154680" cy="1737360"/>
          </a:xfrm>
          <a:prstGeom prst="roundRect">
            <a:avLst>
              <a:gd name="adj" fmla="val 6316"/>
            </a:avLst>
          </a:prstGeom>
          <a:solidFill>
            <a:srgbClr val="EAF6F8"/>
          </a:solidFill>
          <a:ln w="12700">
            <a:solidFill>
              <a:srgbClr val="B9D7E6"/>
            </a:solidFill>
            <a:prstDash val="solid"/>
          </a:ln>
        </p:spPr>
      </p:sp>
      <p:sp>
        <p:nvSpPr>
          <p:cNvPr id="14" name="Text 12"/>
          <p:cNvSpPr/>
          <p:nvPr/>
        </p:nvSpPr>
        <p:spPr>
          <a:xfrm>
            <a:off x="8074152" y="3666744"/>
            <a:ext cx="2825496" cy="256032"/>
          </a:xfrm>
          <a:prstGeom prst="rect">
            <a:avLst/>
          </a:prstGeom>
          <a:noFill/>
          <a:ln/>
        </p:spPr>
        <p:txBody>
          <a:bodyPr wrap="square" lIns="0" tIns="0" rIns="0" bIns="0" rtlCol="0" anchor="ctr"/>
          <a:lstStyle/>
          <a:p>
            <a:pPr indent="0" marL="0">
              <a:buNone/>
            </a:pPr>
            <a:r>
              <a:rPr lang="en-US" sz="1300" b="1" dirty="0">
                <a:solidFill>
                  <a:srgbClr val="0068B7"/>
                </a:solidFill>
                <a:latin typeface="Aptos" pitchFamily="34" charset="0"/>
                <a:ea typeface="Aptos" pitchFamily="34" charset="-122"/>
                <a:cs typeface="Aptos" pitchFamily="34" charset="-120"/>
              </a:rPr>
              <a:t>Use this for</a:t>
            </a:r>
            <a:endParaRPr lang="en-US" sz="1300" dirty="0"/>
          </a:p>
        </p:txBody>
      </p:sp>
      <p:sp>
        <p:nvSpPr>
          <p:cNvPr id="15" name="Text 13"/>
          <p:cNvSpPr/>
          <p:nvPr/>
        </p:nvSpPr>
        <p:spPr>
          <a:xfrm>
            <a:off x="8074152" y="4023360"/>
            <a:ext cx="2825496" cy="1097280"/>
          </a:xfrm>
          <a:prstGeom prst="rect">
            <a:avLst/>
          </a:prstGeom>
          <a:noFill/>
          <a:ln/>
        </p:spPr>
        <p:txBody>
          <a:bodyPr wrap="square" lIns="0" tIns="0" rIns="0" bIns="0" rtlCol="0" anchor="t">
            <a:normAutofit/>
          </a:bodyPr>
          <a:lstStyle/>
          <a:p>
            <a:pPr indent="0" marL="0">
              <a:buNone/>
            </a:pPr>
            <a:r>
              <a:rPr lang="en-US" sz="1550" dirty="0">
                <a:solidFill>
                  <a:srgbClr val="17364A"/>
                </a:solidFill>
                <a:latin typeface="Aptos" pitchFamily="34" charset="0"/>
                <a:ea typeface="Aptos" pitchFamily="34" charset="-122"/>
                <a:cs typeface="Aptos" pitchFamily="34" charset="-120"/>
              </a:rPr>
              <a:t>Connect the concept to public health decisions, safeguards, documentation, or implementation work.</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AI Decision Rights and Accountability</dc:title>
  <dc:subject>Executive AI Decision Rights and Accountability learning module</dc:subject>
  <dc:creator>Paula Soper</dc:creator>
  <cp:lastModifiedBy>Paula Soper</cp:lastModifiedBy>
  <cp:revision>1</cp:revision>
  <dcterms:created xsi:type="dcterms:W3CDTF">2026-07-12T19:55:21Z</dcterms:created>
  <dcterms:modified xsi:type="dcterms:W3CDTF">2026-07-12T19:55:21Z</dcterms:modified>
</cp:coreProperties>
</file>