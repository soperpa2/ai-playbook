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 understand.</a:t>
            </a:r>
            <a:endParaRPr lang="en-US" sz="2100" dirty="0"/>
          </a:p>
          <a:p>
            <a:r>
              <a:rPr lang="en-US" sz="21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2100" dirty="0"/>
          </a:p>
          <a:p>
            <a:r>
              <a:rPr lang="en-US" sz="21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 responsible.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implementation requires change management.</a:t>
            </a:r>
            <a:endParaRPr lang="en-US" sz="2100" dirty="0"/>
          </a:p>
          <a:p>
            <a:r>
              <a:rPr lang="en-US" sz="2100" dirty="0">
                <a:solidFill>
                  <a:srgbClr val="17364A"/>
                </a:solidFill>
                <a:latin typeface="Aptos" pitchFamily="34" charset="0"/>
                <a:ea typeface="Aptos" pitchFamily="34" charset="-122"/>
                <a:cs typeface="Aptos" pitchFamily="34" charset="-120"/>
              </a:rPr>
              <a:t>Identify stakeholders affected by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Develop a change management plan that includes communication, training, workflow updates, feedback,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implementation requires change management.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Develop a change management plan that includes communication, training, workflow updates,.</a:t>
            </a:r>
            <a:endParaRPr lang="en-US" sz="1380" dirty="0"/>
          </a:p>
          <a:p>
            <a:r>
              <a:rPr lang="en-US" sz="1380" dirty="0">
                <a:solidFill>
                  <a:srgbClr val="17364A"/>
                </a:solidFill>
                <a:latin typeface="Aptos" pitchFamily="34" charset="0"/>
                <a:ea typeface="Aptos" pitchFamily="34" charset="-122"/>
                <a:cs typeface="Aptos" pitchFamily="34" charset="-120"/>
              </a:rPr>
              <a:t>Recognize staff concerns related to trust, workload, deskilling, surveillance,.</a:t>
            </a:r>
            <a:endParaRPr lang="en-US" sz="1380" dirty="0"/>
          </a:p>
          <a:p>
            <a:r>
              <a:rPr lang="en-US" sz="1380" dirty="0">
                <a:solidFill>
                  <a:srgbClr val="17364A"/>
                </a:solidFill>
                <a:latin typeface="Aptos" pitchFamily="34" charset="0"/>
                <a:ea typeface="Aptos" pitchFamily="34" charset="-122"/>
                <a:cs typeface="Aptos" pitchFamily="34" charset="-120"/>
              </a:rPr>
              <a:t>Produce an AI adoption and change management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2100" dirty="0"/>
          </a:p>
          <a:p>
            <a:r>
              <a:rPr lang="en-US" sz="21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2100" dirty="0"/>
          </a:p>
          <a:p>
            <a:r>
              <a:rPr lang="en-US" sz="21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adoption changes how people work, make decisions, document actions, communicate with.</a:t>
            </a:r>
            <a:endParaRPr lang="en-US" sz="1380" dirty="0"/>
          </a:p>
          <a:p>
            <a:r>
              <a:rPr lang="en-US" sz="1380" dirty="0">
                <a:solidFill>
                  <a:srgbClr val="17364A"/>
                </a:solidFill>
                <a:latin typeface="Aptos" pitchFamily="34" charset="0"/>
                <a:ea typeface="Aptos" pitchFamily="34" charset="-122"/>
                <a:cs typeface="Aptos" pitchFamily="34" charset="-120"/>
              </a:rPr>
              <a:t>Staff need to understand why a tool is being introduced, how it affects their workflow,.</a:t>
            </a:r>
            <a:endParaRPr lang="en-US" sz="1380" dirty="0"/>
          </a:p>
          <a:p>
            <a:r>
              <a:rPr lang="en-US" sz="1380" dirty="0">
                <a:solidFill>
                  <a:srgbClr val="17364A"/>
                </a:solidFill>
                <a:latin typeface="Aptos" pitchFamily="34" charset="0"/>
                <a:ea typeface="Aptos" pitchFamily="34" charset="-122"/>
                <a:cs typeface="Aptos" pitchFamily="34" charset="-120"/>
              </a:rPr>
              <a:t>This module helps leaders plan the organizational side of AI adoption.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2100" dirty="0"/>
          </a:p>
          <a:p>
            <a:r>
              <a:rPr lang="en-US" sz="2100" dirty="0">
                <a:solidFill>
                  <a:srgbClr val="17364A"/>
                </a:solidFill>
                <a:latin typeface="Aptos" pitchFamily="34" charset="0"/>
                <a:ea typeface="Aptos" pitchFamily="34" charset="-122"/>
                <a:cs typeface="Aptos" pitchFamily="34" charset="-120"/>
              </a:rPr>
              <a:t>Staff may not trust the output, may over-trust it, may not understand their review responsibilities, or.</a:t>
            </a:r>
            <a:endParaRPr lang="en-US" sz="2100" dirty="0"/>
          </a:p>
          <a:p>
            <a:r>
              <a:rPr lang="en-US" sz="2100" dirty="0">
                <a:solidFill>
                  <a:srgbClr val="17364A"/>
                </a:solidFill>
                <a:latin typeface="Aptos" pitchFamily="34" charset="0"/>
                <a:ea typeface="Aptos" pitchFamily="34" charset="-122"/>
                <a:cs typeface="Aptos" pitchFamily="34" charset="-120"/>
              </a:rPr>
              <a:t>Leaders may underestimate the time needed for training, workflow redesign, and user feedback.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may not trust the output, may over-trust it, may not understand their review.</a:t>
            </a:r>
            <a:endParaRPr lang="en-US" sz="1380" dirty="0"/>
          </a:p>
          <a:p>
            <a:r>
              <a:rPr lang="en-US" sz="1380" dirty="0">
                <a:solidFill>
                  <a:srgbClr val="17364A"/>
                </a:solidFill>
                <a:latin typeface="Aptos" pitchFamily="34" charset="0"/>
                <a:ea typeface="Aptos" pitchFamily="34" charset="-122"/>
                <a:cs typeface="Aptos" pitchFamily="34" charset="-120"/>
              </a:rPr>
              <a:t>Change management is also an equity and workforce issue.</a:t>
            </a:r>
            <a:endParaRPr lang="en-US" sz="1380" dirty="0"/>
          </a:p>
          <a:p>
            <a:r>
              <a:rPr lang="en-US" sz="1380" dirty="0">
                <a:solidFill>
                  <a:srgbClr val="17364A"/>
                </a:solidFill>
                <a:latin typeface="Aptos" pitchFamily="34" charset="0"/>
                <a:ea typeface="Aptos" pitchFamily="34" charset="-122"/>
                <a:cs typeface="Aptos" pitchFamily="34" charset="-120"/>
              </a:rPr>
              <a:t>Staff who are not included in design may experience AI as a threat or burden.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2100" dirty="0"/>
          </a:p>
          <a:p>
            <a:r>
              <a:rPr lang="en-US" sz="2100" dirty="0">
                <a:solidFill>
                  <a:srgbClr val="17364A"/>
                </a:solidFill>
                <a:latin typeface="Aptos" pitchFamily="34" charset="0"/>
                <a:ea typeface="Aptos" pitchFamily="34" charset="-122"/>
                <a:cs typeface="Aptos" pitchFamily="34" charset="-120"/>
              </a:rPr>
              <a:t>The tool is technically functional, but staff do not use it because they are unsure whether answers are.</a:t>
            </a:r>
            <a:endParaRPr lang="en-US" sz="2100" dirty="0"/>
          </a:p>
          <a:p>
            <a:r>
              <a:rPr lang="en-US" sz="2100" dirty="0">
                <a:solidFill>
                  <a:srgbClr val="17364A"/>
                </a:solidFill>
                <a:latin typeface="Aptos" pitchFamily="34" charset="0"/>
                <a:ea typeface="Aptos" pitchFamily="34" charset="-122"/>
                <a:cs typeface="Aptos" pitchFamily="34" charset="-120"/>
              </a:rPr>
              <a:t>Some staff worry that the tool will be used to judge their productivity.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tool is technically functional, but staff do not use it because they are unsure.</a:t>
            </a:r>
            <a:endParaRPr lang="en-US" sz="1380" dirty="0"/>
          </a:p>
          <a:p>
            <a:r>
              <a:rPr lang="en-US" sz="1380" dirty="0">
                <a:solidFill>
                  <a:srgbClr val="17364A"/>
                </a:solidFill>
                <a:latin typeface="Aptos" pitchFamily="34" charset="0"/>
                <a:ea typeface="Aptos" pitchFamily="34" charset="-122"/>
                <a:cs typeface="Aptos" pitchFamily="34" charset="-120"/>
              </a:rPr>
              <a:t>A change management plan addresses these concerns directly.</a:t>
            </a:r>
            <a:endParaRPr lang="en-US" sz="1380" dirty="0"/>
          </a:p>
          <a:p>
            <a:r>
              <a:rPr lang="en-US" sz="1380" dirty="0">
                <a:solidFill>
                  <a:srgbClr val="17364A"/>
                </a:solidFill>
                <a:latin typeface="Aptos" pitchFamily="34" charset="0"/>
                <a:ea typeface="Aptos" pitchFamily="34" charset="-122"/>
                <a:cs typeface="Aptos" pitchFamily="34" charset="-120"/>
              </a:rPr>
              <a:t>It explains the purpose of the tool, approved uses, prohibited uses, privacy protections,.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2100" dirty="0"/>
          </a:p>
          <a:p>
            <a:r>
              <a:rPr lang="en-US" sz="2100" dirty="0">
                <a:solidFill>
                  <a:srgbClr val="17364A"/>
                </a:solidFill>
                <a:latin typeface="Aptos" pitchFamily="34" charset="0"/>
                <a:ea typeface="Aptos" pitchFamily="34" charset="-122"/>
                <a:cs typeface="Aptos" pitchFamily="34" charset="-120"/>
              </a:rPr>
              <a:t>Leaders should identify who will be affected, what pain points the tool is supposed to address, which.</a:t>
            </a:r>
            <a:endParaRPr lang="en-US" sz="2100" dirty="0"/>
          </a:p>
          <a:p>
            <a:r>
              <a:rPr lang="en-US" sz="2100" dirty="0">
                <a:solidFill>
                  <a:srgbClr val="17364A"/>
                </a:solidFill>
                <a:latin typeface="Aptos" pitchFamily="34" charset="0"/>
                <a:ea typeface="Aptos" pitchFamily="34" charset="-122"/>
                <a:cs typeface="Aptos" pitchFamily="34" charset="-120"/>
              </a:rPr>
              <a:t>Stakeholder engagement should include frontline users, supervisors, program leaders, IT, privacy,.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Leaders should identify who will be affected, what pain points the tool is supposed to.</a:t>
            </a:r>
            <a:endParaRPr lang="en-US" sz="1380" dirty="0"/>
          </a:p>
          <a:p>
            <a:r>
              <a:rPr lang="en-US" sz="1380" dirty="0">
                <a:solidFill>
                  <a:srgbClr val="17364A"/>
                </a:solidFill>
                <a:latin typeface="Aptos" pitchFamily="34" charset="0"/>
                <a:ea typeface="Aptos" pitchFamily="34" charset="-122"/>
                <a:cs typeface="Aptos" pitchFamily="34" charset="-120"/>
              </a:rPr>
              <a:t>Stakeholder engagement should include frontline users, supervisors, program leaders, IT,.</a:t>
            </a:r>
            <a:endParaRPr lang="en-US" sz="1380" dirty="0"/>
          </a:p>
          <a:p>
            <a:r>
              <a:rPr lang="en-US" sz="1380" dirty="0">
                <a:solidFill>
                  <a:srgbClr val="17364A"/>
                </a:solidFill>
                <a:latin typeface="Aptos" pitchFamily="34" charset="0"/>
                <a:ea typeface="Aptos" pitchFamily="34" charset="-122"/>
                <a:cs typeface="Aptos" pitchFamily="34" charset="-120"/>
              </a:rPr>
              <a:t>The communication plan should be specific.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adoption without understanding.</a:t>
            </a:r>
            <a:endParaRPr lang="en-US" sz="2100" dirty="0"/>
          </a:p>
          <a:p>
            <a:r>
              <a:rPr lang="en-US" sz="2100" dirty="0">
                <a:solidFill>
                  <a:srgbClr val="17364A"/>
                </a:solidFill>
                <a:latin typeface="Aptos" pitchFamily="34" charset="0"/>
                <a:ea typeface="Aptos" pitchFamily="34" charset="-122"/>
                <a:cs typeface="Aptos" pitchFamily="34" charset="-120"/>
              </a:rPr>
              <a:t>Staff may use the tool incorrectly or treat outputs as authoritative because training was superficial.</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role-based training and workflow-specific practice before access is granted.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adoption without understanding.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risk is resistance caused by lack of transparency.</a:t>
            </a:r>
            <a:endParaRPr lang="en-US" sz="1380" dirty="0"/>
          </a:p>
          <a:p>
            <a:r>
              <a:rPr lang="en-US" sz="1380" dirty="0">
                <a:solidFill>
                  <a:srgbClr val="17364A"/>
                </a:solidFill>
                <a:latin typeface="Aptos" pitchFamily="34" charset="0"/>
                <a:ea typeface="Aptos" pitchFamily="34" charset="-122"/>
                <a:cs typeface="Aptos" pitchFamily="34" charset="-120"/>
              </a:rPr>
              <a:t>If staff believe AI is being introduced to monitor or replace them, they may avoid or.</a:t>
            </a:r>
            <a:endParaRPr lang="en-US" sz="1380" dirty="0"/>
          </a:p>
          <a:p>
            <a:r>
              <a:rPr lang="en-US" sz="1380" dirty="0">
                <a:solidFill>
                  <a:srgbClr val="17364A"/>
                </a:solidFill>
                <a:latin typeface="Aptos" pitchFamily="34" charset="0"/>
                <a:ea typeface="Aptos" pitchFamily="34" charset="-122"/>
                <a:cs typeface="Aptos" pitchFamily="34" charset="-120"/>
              </a:rPr>
              <a:t>A guardrail is to communicate purpose, boundaries, data practices, and workforce.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2100" dirty="0"/>
          </a:p>
          <a:p>
            <a:r>
              <a:rPr lang="en-US" sz="2100" dirty="0">
                <a:solidFill>
                  <a:srgbClr val="17364A"/>
                </a:solidFill>
                <a:latin typeface="Aptos" pitchFamily="34" charset="0"/>
                <a:ea typeface="Aptos" pitchFamily="34" charset="-122"/>
                <a:cs typeface="Aptos" pitchFamily="34" charset="-120"/>
              </a:rPr>
              <a:t>Predictive analytics adoption requires training on interpretation, limitations, and override.</a:t>
            </a:r>
            <a:endParaRPr lang="en-US" sz="2100" dirty="0"/>
          </a:p>
          <a:p>
            <a:r>
              <a:rPr lang="en-US" sz="2100" dirty="0">
                <a:solidFill>
                  <a:srgbClr val="17364A"/>
                </a:solidFill>
                <a:latin typeface="Aptos" pitchFamily="34" charset="0"/>
                <a:ea typeface="Aptos" pitchFamily="34" charset="-122"/>
                <a:cs typeface="Aptos" pitchFamily="34" charset="-120"/>
              </a:rPr>
              <a:t>Agentic workflow adoption requires training on approvals, stop procedures, and escalation.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Predictive analytics adoption requires training on interpretation, limitations, and.</a:t>
            </a:r>
            <a:endParaRPr lang="en-US" sz="1380" dirty="0"/>
          </a:p>
          <a:p>
            <a:r>
              <a:rPr lang="en-US" sz="1380" dirty="0">
                <a:solidFill>
                  <a:srgbClr val="17364A"/>
                </a:solidFill>
                <a:latin typeface="Aptos" pitchFamily="34" charset="0"/>
                <a:ea typeface="Aptos" pitchFamily="34" charset="-122"/>
                <a:cs typeface="Aptos" pitchFamily="34" charset="-120"/>
              </a:rPr>
              <a:t>Each AI type changes work in different ways, so change management must be specific.</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change management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stakeholder map, communication messages, training needs, workflow changes, adoption measures,.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change management plan for one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change management plan for one AI use case.</a:t>
            </a:r>
            <a:endParaRPr lang="en-US" sz="1380" dirty="0"/>
          </a:p>
          <a:p>
            <a:r>
              <a:rPr lang="en-US" sz="1380" dirty="0">
                <a:solidFill>
                  <a:srgbClr val="17364A"/>
                </a:solidFill>
                <a:latin typeface="Aptos" pitchFamily="34" charset="0"/>
                <a:ea typeface="Aptos" pitchFamily="34" charset="-122"/>
                <a:cs typeface="Aptos" pitchFamily="34" charset="-120"/>
              </a:rPr>
              <a:t>Include stakeholder map, communication messages, training needs, workflow changes,.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adoption plan; stakeholder map; communication plan; training plan; feedback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adoption plan; stakeholder map; communication plan; training plan; feedback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2026-07-13T02:11:43Z</dcterms:created>
  <dcterms:modified xsi:type="dcterms:W3CDTF">2026-07-13T02:11:43Z</dcterms:modified>
</cp:coreProperties>
</file>