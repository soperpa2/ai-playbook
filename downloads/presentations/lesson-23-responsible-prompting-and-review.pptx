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09b10922564c7d" /><Relationship Type="http://schemas.openxmlformats.org/officeDocument/2006/relationships/extended-properties" Target="/docProps/app.xml" Id="R272726e03eff4e77" /><Relationship Type="http://schemas.openxmlformats.org/officeDocument/2006/relationships/officeDocument" Target="/ppt/presentation.xml" Id="Rc88ccf3243b04ffa" /></Relationships>
</file>

<file path=ppt/presentation.xml><?xml version="1.0" encoding="utf-8"?>
<p:presentation xmlns:p="http://schemas.openxmlformats.org/presentationml/2006/main">
  <p:sldMasterIdLst>
    <p:sldMasterId xmlns:r="http://schemas.openxmlformats.org/officeDocument/2006/relationships" id="2147483648" r:id="R0793df4e551e48ac"/>
  </p:sldMasterIdLst>
  <p:notesMasterIdLst>
    <p:notesMasterId xmlns:r="http://schemas.openxmlformats.org/officeDocument/2006/relationships" r:id="R521da304649d4d0e"/>
  </p:notesMasterIdLst>
  <p:sldIdLst>
    <p:sldId xmlns:r="http://schemas.openxmlformats.org/officeDocument/2006/relationships" id="256" r:id="R169b5f7a65a1469d"/>
    <p:sldId xmlns:r="http://schemas.openxmlformats.org/officeDocument/2006/relationships" id="257" r:id="R24b25c3dcd2443d8"/>
    <p:sldId xmlns:r="http://schemas.openxmlformats.org/officeDocument/2006/relationships" id="258" r:id="Re98ad2988e624f2c"/>
    <p:sldId xmlns:r="http://schemas.openxmlformats.org/officeDocument/2006/relationships" id="259" r:id="R68c02fa8cdc2462b"/>
    <p:sldId xmlns:r="http://schemas.openxmlformats.org/officeDocument/2006/relationships" id="260" r:id="Rb8ceaeb72afd4e5f"/>
    <p:sldId xmlns:r="http://schemas.openxmlformats.org/officeDocument/2006/relationships" id="261" r:id="R3aca215fa1f04c63"/>
    <p:sldId xmlns:r="http://schemas.openxmlformats.org/officeDocument/2006/relationships" id="262" r:id="R6700f78af4eb484f"/>
    <p:sldId xmlns:r="http://schemas.openxmlformats.org/officeDocument/2006/relationships" id="263" r:id="Ra2a83c8c88304a1f"/>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fac90627a94236" /><Relationship Type="http://schemas.openxmlformats.org/officeDocument/2006/relationships/slideMaster" Target="/ppt/slideMasters/slideMaster1.xml" Id="R0793df4e551e48ac" /><Relationship Type="http://schemas.openxmlformats.org/officeDocument/2006/relationships/notesMaster" Target="/ppt/notesMasters/notesMaster1.xml" Id="R521da304649d4d0e" /><Relationship Type="http://schemas.openxmlformats.org/officeDocument/2006/relationships/presProps" Target="/ppt/presProps.xml" Id="R9888ee244c774e03" /><Relationship Type="http://schemas.openxmlformats.org/officeDocument/2006/relationships/tableStyles" Target="/ppt/tableStyles.xml" Id="Rc368abd9d01943d6" /><Relationship Type="http://schemas.openxmlformats.org/officeDocument/2006/relationships/slide" Target="/ppt/slides/slide1.xml" Id="R169b5f7a65a1469d" /><Relationship Type="http://schemas.openxmlformats.org/officeDocument/2006/relationships/slide" Target="/ppt/slides/slide2.xml" Id="R24b25c3dcd2443d8" /><Relationship Type="http://schemas.openxmlformats.org/officeDocument/2006/relationships/slide" Target="/ppt/slides/slide3.xml" Id="Re98ad2988e624f2c" /><Relationship Type="http://schemas.openxmlformats.org/officeDocument/2006/relationships/slide" Target="/ppt/slides/slide4.xml" Id="R68c02fa8cdc2462b" /><Relationship Type="http://schemas.openxmlformats.org/officeDocument/2006/relationships/slide" Target="/ppt/slides/slide5.xml" Id="Rb8ceaeb72afd4e5f" /><Relationship Type="http://schemas.openxmlformats.org/officeDocument/2006/relationships/slide" Target="/ppt/slides/slide6.xml" Id="R3aca215fa1f04c63" /><Relationship Type="http://schemas.openxmlformats.org/officeDocument/2006/relationships/slide" Target="/ppt/slides/slide7.xml" Id="R6700f78af4eb484f" /><Relationship Type="http://schemas.openxmlformats.org/officeDocument/2006/relationships/slide" Target="/ppt/slides/slide8.xml" Id="Ra2a83c8c88304a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b8c12d29164e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6ef80e40e84175" /><Relationship Type="http://schemas.openxmlformats.org/officeDocument/2006/relationships/notesMaster" Target="/ppt/notesMasters/notesMaster1.xml" Id="R18959d4777534c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6e97e5618445cd" /><Relationship Type="http://schemas.openxmlformats.org/officeDocument/2006/relationships/notesMaster" Target="/ppt/notesMasters/notesMaster1.xml" Id="Re88760aad30c47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3663c8024c445e" /><Relationship Type="http://schemas.openxmlformats.org/officeDocument/2006/relationships/notesMaster" Target="/ppt/notesMasters/notesMaster1.xml" Id="R3354ec93b8a749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22c7d4ba8487a" /><Relationship Type="http://schemas.openxmlformats.org/officeDocument/2006/relationships/notesMaster" Target="/ppt/notesMasters/notesMaster1.xml" Id="R4d68acb478094d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ba18468ea847ed" /><Relationship Type="http://schemas.openxmlformats.org/officeDocument/2006/relationships/notesMaster" Target="/ppt/notesMasters/notesMaster1.xml" Id="R018da34f855e46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3e82264c4744d6" /><Relationship Type="http://schemas.openxmlformats.org/officeDocument/2006/relationships/notesMaster" Target="/ppt/notesMasters/notesMaster1.xml" Id="R1087415956e94a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7714662d4749f5" /><Relationship Type="http://schemas.openxmlformats.org/officeDocument/2006/relationships/notesMaster" Target="/ppt/notesMasters/notesMaster1.xml" Id="Rcf0930894b064e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19b5b737fd48d7" /><Relationship Type="http://schemas.openxmlformats.org/officeDocument/2006/relationships/notesMaster" Target="/ppt/notesMasters/notesMaster1.xml" Id="Rebbd5a19cddd49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Responsible Prompting and Review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Responsible prompting helps staff use generative AI safely by protecting data, asking precise questions, requiring sources when needed, and reviewing outputs before use.</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3, 5, 6, 10, 11 and Tools 2, 14, 23, 28, 29, 40.</a:t>
            </a:r>
          </a:p>
          <a:p xmlns:a="http://schemas.openxmlformats.org/drawingml/2006/main">
            <a:r>
              <a:t>Emphasize the core guardrail: A polished AI response can still be inaccurate, biased, outdated, unsupported, or inappropriate for public health use.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3, 5, 6, 10, 11 and Tools 2, 14, 23, 28, 29, 40.</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3, 5, 6, 10, 11 and Tools 2, 14, 23, 28, 29, 40.</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3, 5, 6, 10, 11 and Tools 2, 14, 23, 28, 29, 40.</a:t>
            </a:r>
          </a:p>
          <a:p xmlns:a="http://schemas.openxmlformats.org/drawingml/2006/main">
            <a:r>
              <a:t>Invite participants to identify where these practices would need to be documented in their own department.</a:t>
            </a:r>
          </a:p>
          <a:p xmlns:a="http://schemas.openxmlformats.org/drawingml/2006/main">
            <a:r>
              <a:t>Start with Prompting Practices,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3, 5, 6, 10, 11 and Tools 2, 14, 23, 28, 29, 40.</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3, 5, 6, 10, 11 and Tools 2, 14, 23, 28, 29, 40.</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Responsible prompt examples, Output review checklist, Documentation expectations.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Responsible Prompting and Review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3, 5, 6, 10, 11 and Tools 2, 14, 23, 28, 29, 40.</a:t>
            </a:r>
          </a:p>
          <a:p xmlns:a="http://schemas.openxmlformats.org/drawingml/2006/main">
            <a:r>
              <a:t>Point participants to the first resource: OpenAI Prompt Engineering Guide.</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2057dbabd041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b11b566e9a43b0" /><Relationship Type="http://schemas.openxmlformats.org/officeDocument/2006/relationships/slideLayout" Target="/ppt/slideLayouts/slideLayout1.xml" Id="Raf863203013c4b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863203013c4b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448028e41b4a58" /><Relationship Type="http://schemas.openxmlformats.org/officeDocument/2006/relationships/image" Target="/ppt/media/image.png" Id="Rbc53033e612a4b2e" /><Relationship Type="http://schemas.openxmlformats.org/officeDocument/2006/relationships/notesSlide" Target="/ppt/notesSlides/notesSlide1.xml" Id="Rdd78883ff04c42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6ae0d878f547c9" /><Relationship Type="http://schemas.openxmlformats.org/officeDocument/2006/relationships/notesSlide" Target="/ppt/notesSlides/notesSlide2.xml" Id="Rfddac120b9c84a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41180f1d074e0f" /><Relationship Type="http://schemas.openxmlformats.org/officeDocument/2006/relationships/notesSlide" Target="/ppt/notesSlides/notesSlide3.xml" Id="R89a39d86e8974e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5aa4bc9d32405f" /><Relationship Type="http://schemas.openxmlformats.org/officeDocument/2006/relationships/notesSlide" Target="/ppt/notesSlides/notesSlide4.xml" Id="Rc0514f98847547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66000cfcf94cfb" /><Relationship Type="http://schemas.openxmlformats.org/officeDocument/2006/relationships/notesSlide" Target="/ppt/notesSlides/notesSlide5.xml" Id="Rb39018f1440046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94a38a0bde43c8" /><Relationship Type="http://schemas.openxmlformats.org/officeDocument/2006/relationships/notesSlide" Target="/ppt/notesSlides/notesSlide6.xml" Id="R9cc0c3db9ff545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b2562343d54826" /><Relationship Type="http://schemas.openxmlformats.org/officeDocument/2006/relationships/notesSlide" Target="/ppt/notesSlides/notesSlide7.xml" Id="Re161694b2a694c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eac060820141ce" /><Relationship Type="http://schemas.openxmlformats.org/officeDocument/2006/relationships/notesSlide" Target="/ppt/notesSlides/notesSlide8.xml" Id="Rc12e927846dc4ba2"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53033e612a4b2e"/>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3FD0FF-EF8F-4F6F-9861-72A8B1FBD86D}"/>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23</a:t>
            </a:r>
          </a:p>
        </p:txBody>
      </p:sp>
      <p:sp>
        <p:nvSpPr>
          <p:cNvPr id="3" name="">
            <a:extLst xmlns:a="http://schemas.openxmlformats.org/drawingml/2006/main">
              <a:ext uri="{FF2B5EF4-FFF2-40B4-BE49-F238E27FC236}">
                <a16:creationId xmlns:a16="http://schemas.microsoft.com/office/drawing/2014/main" id="{8FF55C5B-AB3B-47BE-A20E-06F35AA980FA}"/>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Responsible Prompting and Review</a:t>
            </a:r>
          </a:p>
        </p:txBody>
      </p:sp>
      <p:sp>
        <p:nvSpPr>
          <p:cNvPr id="4" name="">
            <a:extLst xmlns:a="http://schemas.openxmlformats.org/drawingml/2006/main">
              <a:ext uri="{FF2B5EF4-FFF2-40B4-BE49-F238E27FC236}">
                <a16:creationId xmlns:a16="http://schemas.microsoft.com/office/drawing/2014/main" id="{D425337D-3D2E-49D3-8831-75EE91FB4A26}"/>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26BC8081-7FC6-4387-B66E-8198ECF38AAB}"/>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76094EE8-C389-4770-975C-A693CEAD11BB}"/>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3751654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44F29F1-CCD8-4832-933F-C54ECD9FFCD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D4C24C7-3070-4F1B-8B52-7C10A2B9C17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D7B10BA3-00A9-464F-B11C-785F9C7AD69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4DE3E69-1ED7-4D03-8342-C542A890D906}"/>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Responsible prompting helps staff use generative AI safely by protecting data, asking precise questions, requiring sources when needed, and reviewing outputs before use.</a:t>
            </a:r>
          </a:p>
        </p:txBody>
      </p:sp>
      <p:sp>
        <p:nvSpPr>
          <p:cNvPr id="5" name="">
            <a:extLst xmlns:a="http://schemas.openxmlformats.org/drawingml/2006/main">
              <a:ext uri="{FF2B5EF4-FFF2-40B4-BE49-F238E27FC236}">
                <a16:creationId xmlns:a16="http://schemas.microsoft.com/office/drawing/2014/main" id="{7AA0BFB1-2E36-45AC-9CA3-CD204DE4C05C}"/>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2F6CD2E4-34B0-4C16-8474-DCFE5A94B5A2}"/>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246997F8-E67B-480F-9A32-794B2EF9826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16FF718C-15C0-47FA-80A4-9D92F76D835D}"/>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Responsible prompting and review reduce the chance that staff use AI in ways that expose data, spread misinformation, create inaccessible communication, or bypass expert review.</a:t>
            </a:r>
          </a:p>
        </p:txBody>
      </p:sp>
      <p:sp>
        <p:nvSpPr>
          <p:cNvPr id="9" name="">
            <a:extLst xmlns:a="http://schemas.openxmlformats.org/drawingml/2006/main">
              <a:ext uri="{FF2B5EF4-FFF2-40B4-BE49-F238E27FC236}">
                <a16:creationId xmlns:a16="http://schemas.microsoft.com/office/drawing/2014/main" id="{F687BA41-43C0-4429-9467-CAB6C572E56E}"/>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E831C46-0A2F-4C1B-838C-C4CCCB426907}"/>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C02253CF-E1CF-4C89-8CD3-7585A51880FC}"/>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243257CA-8E77-4A4C-8125-DF4EA6B76366}"/>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polished AI response can still be inaccurate, biased, outdated, unsupported, or inappropriate for public health use.</a:t>
            </a:r>
          </a:p>
        </p:txBody>
      </p:sp>
      <p:sp>
        <p:nvSpPr>
          <p:cNvPr id="13" name="">
            <a:extLst xmlns:a="http://schemas.openxmlformats.org/drawingml/2006/main">
              <a:ext uri="{FF2B5EF4-FFF2-40B4-BE49-F238E27FC236}">
                <a16:creationId xmlns:a16="http://schemas.microsoft.com/office/drawing/2014/main" id="{13D0EEEB-3F4A-4BB8-AEDB-DCD40AF04A2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14" name="">
            <a:extLst xmlns:a="http://schemas.openxmlformats.org/drawingml/2006/main">
              <a:ext uri="{FF2B5EF4-FFF2-40B4-BE49-F238E27FC236}">
                <a16:creationId xmlns:a16="http://schemas.microsoft.com/office/drawing/2014/main" id="{25B7FCFB-C8CC-41FB-BEEB-3E0308F2546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687154389"/>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FC21B1-C25F-4F03-A7C3-10626854C4D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A95213A-6F46-44CB-B6F4-6BA1861BA92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FF5C6A22-CA24-479E-B555-7EC37B85E10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874B306-F016-4E81-ADB0-1F6544ADCD8D}"/>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5133C839-96B6-4DB4-9356-4B32D686F171}"/>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Responsible Prompting and Review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028B4B6D-D61A-447B-979E-41EC3971FC6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7" name="">
            <a:extLst xmlns:a="http://schemas.openxmlformats.org/drawingml/2006/main">
              <a:ext uri="{FF2B5EF4-FFF2-40B4-BE49-F238E27FC236}">
                <a16:creationId xmlns:a16="http://schemas.microsoft.com/office/drawing/2014/main" id="{97A3E10D-2F77-4760-83F1-D514347154F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7559567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574689-BEBA-4FA7-8C4C-B714A24AC8C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B7C65F0-20CE-4F7E-9B12-08E6DF24207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8D6BA75F-B11E-4445-AAF1-61D1699E570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C953541-726A-41AF-8480-A7FF8B3EBDE0}"/>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Staff need practical guidance for everyday generative AI use. Prompting is not magic language; it is a structured way to define task, audience, source material, constraints, review criteria, and prohibited data. The review step is more important than the prompt.</a:t>
            </a:r>
          </a:p>
        </p:txBody>
      </p:sp>
      <p:sp>
        <p:nvSpPr>
          <p:cNvPr id="5" name="">
            <a:extLst xmlns:a="http://schemas.openxmlformats.org/drawingml/2006/main">
              <a:ext uri="{FF2B5EF4-FFF2-40B4-BE49-F238E27FC236}">
                <a16:creationId xmlns:a16="http://schemas.microsoft.com/office/drawing/2014/main" id="{DBF3BA02-5918-4CC3-BCAA-85A03BB50906}"/>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0627198-27CE-400A-B1E6-15A33C00C588}"/>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19B7B9B-53F1-4995-A519-5F6B2544D8AC}"/>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D2C6FD51-ED1A-4599-9A00-DAA8D8EDF0D0}"/>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Responsible prompting helps staff use generative AI safely by protecting data, asking precise questions, requiring sources when needed, and reviewing outputs before use.</a:t>
            </a:r>
          </a:p>
        </p:txBody>
      </p:sp>
      <p:sp>
        <p:nvSpPr>
          <p:cNvPr id="9" name="">
            <a:extLst xmlns:a="http://schemas.openxmlformats.org/drawingml/2006/main">
              <a:ext uri="{FF2B5EF4-FFF2-40B4-BE49-F238E27FC236}">
                <a16:creationId xmlns:a16="http://schemas.microsoft.com/office/drawing/2014/main" id="{A3C449E5-EE55-413B-B821-28EBE2CBE3F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10" name="">
            <a:extLst xmlns:a="http://schemas.openxmlformats.org/drawingml/2006/main">
              <a:ext uri="{FF2B5EF4-FFF2-40B4-BE49-F238E27FC236}">
                <a16:creationId xmlns:a16="http://schemas.microsoft.com/office/drawing/2014/main" id="{2FF0CC0A-6142-494F-8571-E5D46A60DE5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443420852"/>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FF7706-E214-41AA-A110-F7436BCA670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856DF33-A054-499D-910B-07D828D4268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BEAF6E5F-3FEA-4878-9283-B5635499C01B}"/>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4889929-6C19-481A-9A8A-BCED5D822154}"/>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3F0D0A9-2C16-4AFE-8F03-111E320D1EB6}"/>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32EED044-3076-49EE-B917-E7EFA8AFC84E}"/>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Prompting Practices</a:t>
            </a:r>
          </a:p>
        </p:txBody>
      </p:sp>
      <p:sp>
        <p:nvSpPr>
          <p:cNvPr id="7" name="">
            <a:extLst xmlns:a="http://schemas.openxmlformats.org/drawingml/2006/main">
              <a:ext uri="{FF2B5EF4-FFF2-40B4-BE49-F238E27FC236}">
                <a16:creationId xmlns:a16="http://schemas.microsoft.com/office/drawing/2014/main" id="{C5732985-F553-4835-822F-D0A2447FE043}"/>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State the task, audience, purpose, tone, and output format. Provide approved source material when the output must reflect agency policy or current guidance. Ask the tool to identify assumptions, limitations, uncertainty, and items needing.</a:t>
            </a:r>
          </a:p>
        </p:txBody>
      </p:sp>
      <p:sp>
        <p:nvSpPr>
          <p:cNvPr id="8" name="">
            <a:extLst xmlns:a="http://schemas.openxmlformats.org/drawingml/2006/main">
              <a:ext uri="{FF2B5EF4-FFF2-40B4-BE49-F238E27FC236}">
                <a16:creationId xmlns:a16="http://schemas.microsoft.com/office/drawing/2014/main" id="{1741A3C2-369A-479E-9A29-80C3E74407FD}"/>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53F6E53-A513-4614-BAFC-46BF58F63C88}"/>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7D10C05C-B741-4DF4-9A2F-E47D43E5DF24}"/>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Practices</a:t>
            </a:r>
          </a:p>
        </p:txBody>
      </p:sp>
      <p:sp>
        <p:nvSpPr>
          <p:cNvPr id="11" name="">
            <a:extLst xmlns:a="http://schemas.openxmlformats.org/drawingml/2006/main">
              <a:ext uri="{FF2B5EF4-FFF2-40B4-BE49-F238E27FC236}">
                <a16:creationId xmlns:a16="http://schemas.microsoft.com/office/drawing/2014/main" id="{91972C56-1D8B-46C7-A696-A0E3A8B657BA}"/>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Check factual claims, dates, citations, calculations, recommendations, and legal or policy statements. Review plain language, accessibility, cultural context, language access, and potential stigma. Confirm that the output does not imply an.</a:t>
            </a:r>
          </a:p>
        </p:txBody>
      </p:sp>
      <p:sp>
        <p:nvSpPr>
          <p:cNvPr id="12" name="">
            <a:extLst xmlns:a="http://schemas.openxmlformats.org/drawingml/2006/main">
              <a:ext uri="{FF2B5EF4-FFF2-40B4-BE49-F238E27FC236}">
                <a16:creationId xmlns:a16="http://schemas.microsoft.com/office/drawing/2014/main" id="{B2F6E967-98C7-4AD1-9D4C-79C5D614BDCC}"/>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824DF5D-63DD-4111-9B94-AAF72058FCF0}"/>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F607D954-F2CF-4181-A7C5-DE9D229C90CF}"/>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EF209FA4-B78E-43D3-8628-7BD2EB85C604}"/>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Train staff with examples from their own workflows. Provide approved prompt templates and review checklists. Use escalation rules for public-facing, high-risk, or uncertain outputs.</a:t>
            </a:r>
          </a:p>
        </p:txBody>
      </p:sp>
      <p:sp>
        <p:nvSpPr>
          <p:cNvPr id="16" name="">
            <a:extLst xmlns:a="http://schemas.openxmlformats.org/drawingml/2006/main">
              <a:ext uri="{FF2B5EF4-FFF2-40B4-BE49-F238E27FC236}">
                <a16:creationId xmlns:a16="http://schemas.microsoft.com/office/drawing/2014/main" id="{339BDE7B-63D2-4B6A-9890-A3FE3BBDB06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17" name="">
            <a:extLst xmlns:a="http://schemas.openxmlformats.org/drawingml/2006/main">
              <a:ext uri="{FF2B5EF4-FFF2-40B4-BE49-F238E27FC236}">
                <a16:creationId xmlns:a16="http://schemas.microsoft.com/office/drawing/2014/main" id="{7AE4FF62-A93A-4864-BB70-DA2F7FE0B35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9558360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9EF3A4-7172-4D35-97F3-F7A42DE77DA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4512A6E-322B-4A13-8F28-10031F59309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DF06BE21-D354-4E66-9244-01CE9A645D9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4E29DA4-4FF7-4311-A57D-D8794F91525E}"/>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14080664-4915-474A-8041-16F79E2BB5F7}"/>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759FA13-5469-4CDF-B6AD-8954D0D688B9}"/>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33129176-15C6-4EA0-8E71-61B4BC4933EC}"/>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Write source-grounded prompts</a:t>
            </a:r>
          </a:p>
        </p:txBody>
      </p:sp>
      <p:sp>
        <p:nvSpPr>
          <p:cNvPr id="8" name="">
            <a:extLst xmlns:a="http://schemas.openxmlformats.org/drawingml/2006/main">
              <a:ext uri="{FF2B5EF4-FFF2-40B4-BE49-F238E27FC236}">
                <a16:creationId xmlns:a16="http://schemas.microsoft.com/office/drawing/2014/main" id="{1DD83080-A602-44FA-A0B8-DC0435BFE373}"/>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9285F8BD-4B59-4788-A229-9470F3A5D72E}"/>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EEA343E-3F2C-4ADC-A3A9-D6884B8569B4}"/>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A736816A-B60D-49CE-A606-9DC93142F4CF}"/>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drafts for hallucinations</a:t>
            </a:r>
          </a:p>
        </p:txBody>
      </p:sp>
      <p:sp>
        <p:nvSpPr>
          <p:cNvPr id="12" name="">
            <a:extLst xmlns:a="http://schemas.openxmlformats.org/drawingml/2006/main">
              <a:ext uri="{FF2B5EF4-FFF2-40B4-BE49-F238E27FC236}">
                <a16:creationId xmlns:a16="http://schemas.microsoft.com/office/drawing/2014/main" id="{ECFA05E7-042C-4468-B2E9-19264AD31007}"/>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428BF4CF-7D9B-468D-93B2-EC8DAA2E8610}"/>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4C9880B1-131C-4A63-A2EB-434EAA5A86AC}"/>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451B7394-1F4F-4B2E-AD30-431792362001}"/>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Document AI-assisted work</a:t>
            </a:r>
          </a:p>
        </p:txBody>
      </p:sp>
      <p:sp>
        <p:nvSpPr>
          <p:cNvPr id="16" name="">
            <a:extLst xmlns:a="http://schemas.openxmlformats.org/drawingml/2006/main">
              <a:ext uri="{FF2B5EF4-FFF2-40B4-BE49-F238E27FC236}">
                <a16:creationId xmlns:a16="http://schemas.microsoft.com/office/drawing/2014/main" id="{F3843E82-9F56-4CB4-8A14-F2667A27ABAD}"/>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5AA7D82C-297E-40CF-A374-B28305C20C2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18" name="">
            <a:extLst xmlns:a="http://schemas.openxmlformats.org/drawingml/2006/main">
              <a:ext uri="{FF2B5EF4-FFF2-40B4-BE49-F238E27FC236}">
                <a16:creationId xmlns:a16="http://schemas.microsoft.com/office/drawing/2014/main" id="{A683ED1B-019F-4404-8CDB-541F6189B8A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543141874"/>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52C06A-9C69-4C93-A513-56EABCC9A38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5A908AB-C188-4BCF-A7CE-A956AE3EE45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32132D7E-BBD7-442F-9ABC-E323FEBB10A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7F9CF67-0862-416F-B5E3-2E45A828A49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862D489-08A9-424C-81BE-413F9F7B2515}"/>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5C6E4F41-8F74-4FF3-9AC4-6A67C907B275}"/>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0CB4783C-EDBB-4311-B81A-8571DFBB6331}"/>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AI-assisted drafting tasks should be allowed for staff? Which outputs require source verification, supervisor review, or communications approval? How should staff document AI-assisted work?</a:t>
            </a:r>
          </a:p>
        </p:txBody>
      </p:sp>
      <p:sp>
        <p:nvSpPr>
          <p:cNvPr id="8" name="">
            <a:extLst xmlns:a="http://schemas.openxmlformats.org/drawingml/2006/main">
              <a:ext uri="{FF2B5EF4-FFF2-40B4-BE49-F238E27FC236}">
                <a16:creationId xmlns:a16="http://schemas.microsoft.com/office/drawing/2014/main" id="{0EEBE5C3-8F06-4230-BC7B-A3D406C27964}"/>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B53497EF-60E6-404C-82BF-EF3DC880B529}"/>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14F1F82F-9308-4D57-9799-C8B2AE6D2A4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E32D2A2F-E77C-467B-B9C4-4EC9CB234937}"/>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Rewrite three unsafe prompts into responsible prompts, then review sample AI outputs for data exposure, hallucinations, tone, equity concerns, missing sources, and required approvals.</a:t>
            </a:r>
          </a:p>
        </p:txBody>
      </p:sp>
      <p:sp>
        <p:nvSpPr>
          <p:cNvPr id="12" name="">
            <a:extLst xmlns:a="http://schemas.openxmlformats.org/drawingml/2006/main">
              <a:ext uri="{FF2B5EF4-FFF2-40B4-BE49-F238E27FC236}">
                <a16:creationId xmlns:a16="http://schemas.microsoft.com/office/drawing/2014/main" id="{7C9B3FB7-CCAF-41E3-ADBF-CA54015DE9F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13" name="">
            <a:extLst xmlns:a="http://schemas.openxmlformats.org/drawingml/2006/main">
              <a:ext uri="{FF2B5EF4-FFF2-40B4-BE49-F238E27FC236}">
                <a16:creationId xmlns:a16="http://schemas.microsoft.com/office/drawing/2014/main" id="{39A46597-82B7-4403-B51E-C2AC81F84D9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5711955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ADFAE6-8677-47AA-A8F4-76641A7BAA6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D77C407-4EB6-4D50-81C4-D524DC6C4851}"/>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CAA2A647-D2F3-41D4-A1DB-4DB963E14DF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5D34342-CE9D-46AF-B51F-BA54CDFBA761}"/>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FD1FCBB-74B0-45A8-A95B-1620B392DF6C}"/>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043A17BA-D6F7-4C2A-A971-320412E8E651}"/>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E0DDB0EE-48EF-46B9-864A-83D1C9491797}"/>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3, 5, 6, 10, 11 and Tools 2, 14, 23, 28, 29, 40.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F89A5A66-A964-4B93-B27F-65EC8981F0F8}"/>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CE3D7B0-FB9F-4BD1-A591-C2450E8E9F70}"/>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49E861AC-D45D-45F1-B624-4E58A0988C73}"/>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2AC4D5B4-2306-43F9-8873-82F44EAA899E}"/>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OpenAI Prompt Engineering Guide: Core prompt engineering practices for clear instructions, examples, task decomposition, and. Google Cloud Prompt Engineering Guide: High-quality overview of prompt components, prompt patterns, and how prompts.</a:t>
            </a:r>
          </a:p>
        </p:txBody>
      </p:sp>
      <p:sp>
        <p:nvSpPr>
          <p:cNvPr id="12" name="">
            <a:extLst xmlns:a="http://schemas.openxmlformats.org/drawingml/2006/main">
              <a:ext uri="{FF2B5EF4-FFF2-40B4-BE49-F238E27FC236}">
                <a16:creationId xmlns:a16="http://schemas.microsoft.com/office/drawing/2014/main" id="{54488DC6-26D4-4269-9909-7ED351986C6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Responsible Prompting and Review</a:t>
            </a:r>
          </a:p>
        </p:txBody>
      </p:sp>
      <p:sp>
        <p:nvSpPr>
          <p:cNvPr id="13" name="">
            <a:extLst xmlns:a="http://schemas.openxmlformats.org/drawingml/2006/main">
              <a:ext uri="{FF2B5EF4-FFF2-40B4-BE49-F238E27FC236}">
                <a16:creationId xmlns:a16="http://schemas.microsoft.com/office/drawing/2014/main" id="{07DE5B70-3D15-40D6-A906-ABBD5822ACA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6583312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2026-07-02T17:47:04.9150000Z</dcterms:created>
  <dcterms:modified xsi:type="dcterms:W3CDTF">2026-07-02T17:47:04.9150000Z</dcterms:modified>
</coreProperties>
</file>