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29ea7e2129c46e8" /><Relationship Type="http://schemas.openxmlformats.org/officeDocument/2006/relationships/extended-properties" Target="/docProps/app.xml" Id="R9895fe19614a4313" /><Relationship Type="http://schemas.openxmlformats.org/officeDocument/2006/relationships/officeDocument" Target="/ppt/presentation.xml" Id="R69dc81b92e94463a" /></Relationships>
</file>

<file path=ppt/presentation.xml><?xml version="1.0" encoding="utf-8"?>
<p:presentation xmlns:p="http://schemas.openxmlformats.org/presentationml/2006/main">
  <p:sldMasterIdLst>
    <p:sldMasterId xmlns:r="http://schemas.openxmlformats.org/officeDocument/2006/relationships" id="2147483648" r:id="R935bb846c61b4429"/>
  </p:sldMasterIdLst>
  <p:notesMasterIdLst>
    <p:notesMasterId xmlns:r="http://schemas.openxmlformats.org/officeDocument/2006/relationships" r:id="R191a073d95e64646"/>
  </p:notesMasterIdLst>
  <p:sldIdLst>
    <p:sldId xmlns:r="http://schemas.openxmlformats.org/officeDocument/2006/relationships" id="256" r:id="Raeb69e7eb7724a57"/>
    <p:sldId xmlns:r="http://schemas.openxmlformats.org/officeDocument/2006/relationships" id="257" r:id="Re5ae29aab1784d85"/>
    <p:sldId xmlns:r="http://schemas.openxmlformats.org/officeDocument/2006/relationships" id="258" r:id="Rc3da208560cc4392"/>
    <p:sldId xmlns:r="http://schemas.openxmlformats.org/officeDocument/2006/relationships" id="259" r:id="R934058f228124158"/>
    <p:sldId xmlns:r="http://schemas.openxmlformats.org/officeDocument/2006/relationships" id="260" r:id="R6a2647b9a7c64036"/>
    <p:sldId xmlns:r="http://schemas.openxmlformats.org/officeDocument/2006/relationships" id="261" r:id="R6d6bccba7db2434a"/>
    <p:sldId xmlns:r="http://schemas.openxmlformats.org/officeDocument/2006/relationships" id="262" r:id="Rc6349d0c7b3141dc"/>
    <p:sldId xmlns:r="http://schemas.openxmlformats.org/officeDocument/2006/relationships" id="263" r:id="R21a71e958a2c444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57f340379ee4a36" /><Relationship Type="http://schemas.openxmlformats.org/officeDocument/2006/relationships/slideMaster" Target="/ppt/slideMasters/slideMaster1.xml" Id="R935bb846c61b4429" /><Relationship Type="http://schemas.openxmlformats.org/officeDocument/2006/relationships/notesMaster" Target="/ppt/notesMasters/notesMaster1.xml" Id="R191a073d95e64646" /><Relationship Type="http://schemas.openxmlformats.org/officeDocument/2006/relationships/presProps" Target="/ppt/presProps.xml" Id="R6c401e13efba4cbf" /><Relationship Type="http://schemas.openxmlformats.org/officeDocument/2006/relationships/tableStyles" Target="/ppt/tableStyles.xml" Id="Ra02ba831294d4328" /><Relationship Type="http://schemas.openxmlformats.org/officeDocument/2006/relationships/slide" Target="/ppt/slides/slide1.xml" Id="Raeb69e7eb7724a57" /><Relationship Type="http://schemas.openxmlformats.org/officeDocument/2006/relationships/slide" Target="/ppt/slides/slide2.xml" Id="Re5ae29aab1784d85" /><Relationship Type="http://schemas.openxmlformats.org/officeDocument/2006/relationships/slide" Target="/ppt/slides/slide3.xml" Id="Rc3da208560cc4392" /><Relationship Type="http://schemas.openxmlformats.org/officeDocument/2006/relationships/slide" Target="/ppt/slides/slide4.xml" Id="R934058f228124158" /><Relationship Type="http://schemas.openxmlformats.org/officeDocument/2006/relationships/slide" Target="/ppt/slides/slide5.xml" Id="R6a2647b9a7c64036" /><Relationship Type="http://schemas.openxmlformats.org/officeDocument/2006/relationships/slide" Target="/ppt/slides/slide6.xml" Id="R6d6bccba7db2434a" /><Relationship Type="http://schemas.openxmlformats.org/officeDocument/2006/relationships/slide" Target="/ppt/slides/slide7.xml" Id="Rc6349d0c7b3141dc" /><Relationship Type="http://schemas.openxmlformats.org/officeDocument/2006/relationships/slide" Target="/ppt/slides/slide8.xml" Id="R21a71e958a2c444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28212a5ba0f4f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fac1385d8f844b5" /><Relationship Type="http://schemas.openxmlformats.org/officeDocument/2006/relationships/notesMaster" Target="/ppt/notesMasters/notesMaster1.xml" Id="R28d82e3be007431d" /></Relationships>
</file>

<file path=ppt/notesSlides/_rels/notesSlide2.xml.rels>&#65279;<?xml version="1.0" encoding="utf-8"?><Relationships xmlns="http://schemas.openxmlformats.org/package/2006/relationships"><Relationship Type="http://schemas.openxmlformats.org/officeDocument/2006/relationships/slide" Target="/ppt/slides/slide2.xml" Id="R508c1d8ec24541b4" /><Relationship Type="http://schemas.openxmlformats.org/officeDocument/2006/relationships/notesMaster" Target="/ppt/notesMasters/notesMaster1.xml" Id="R14f7db1ed3ea42fa"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802a067d724836" /><Relationship Type="http://schemas.openxmlformats.org/officeDocument/2006/relationships/notesMaster" Target="/ppt/notesMasters/notesMaster1.xml" Id="Rd662ec2a042a4b4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efb1adee0584979" /><Relationship Type="http://schemas.openxmlformats.org/officeDocument/2006/relationships/notesMaster" Target="/ppt/notesMasters/notesMaster1.xml" Id="Rc8bc03ccecf94a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67aa913367664be3" /><Relationship Type="http://schemas.openxmlformats.org/officeDocument/2006/relationships/notesMaster" Target="/ppt/notesMasters/notesMaster1.xml" Id="Re5033407ff484f5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5b65ffeafb74cc8" /><Relationship Type="http://schemas.openxmlformats.org/officeDocument/2006/relationships/notesMaster" Target="/ppt/notesMasters/notesMaster1.xml" Id="R0bf3f8632564481e" /></Relationships>
</file>

<file path=ppt/notesSlides/_rels/notesSlide7.xml.rels>&#65279;<?xml version="1.0" encoding="utf-8"?><Relationships xmlns="http://schemas.openxmlformats.org/package/2006/relationships"><Relationship Type="http://schemas.openxmlformats.org/officeDocument/2006/relationships/slide" Target="/ppt/slides/slide7.xml" Id="Raac1deedd29c4399" /><Relationship Type="http://schemas.openxmlformats.org/officeDocument/2006/relationships/notesMaster" Target="/ppt/notesMasters/notesMaster1.xml" Id="R1e0da35c21154178" /></Relationships>
</file>

<file path=ppt/notesSlides/_rels/notesSlide8.xml.rels>&#65279;<?xml version="1.0" encoding="utf-8"?><Relationships xmlns="http://schemas.openxmlformats.org/package/2006/relationships"><Relationship Type="http://schemas.openxmlformats.org/officeDocument/2006/relationships/slide" Target="/ppt/slides/slide8.xml" Id="R456f2102729644ed" /><Relationship Type="http://schemas.openxmlformats.org/officeDocument/2006/relationships/notesMaster" Target="/ppt/notesMasters/notesMaster1.xml" Id="R3475726987b54f8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participants to the AI-Supported Public Health Workflows lesson.</a:t>
            </a:r>
          </a:p>
          <a:p xmlns:a="http://schemas.openxmlformats.org/drawingml/2006/main">
            <a:r>
              <a:t>Explain that this deck is designed for staff training, leadership orientation, governance preparation, or cross-program discussion.</a:t>
            </a:r>
          </a:p>
          <a:p xmlns:a="http://schemas.openxmlformats.org/drawingml/2006/main">
            <a:r>
              <a:t>Frame the topic in plain language: AI can support signal detection, evidence gathering, analysis, synthesis, briefing, communication, and decision support.</a:t>
            </a:r>
          </a:p>
          <a:p xmlns:a="http://schemas.openxmlformats.org/drawingml/2006/main">
            <a:r>
              <a:t>Invite participants to think about where this topic already appears in their department's workflows, vendor tools, data systems, communications, or planning conversations.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AI-Supported Public Health Workflows training module.</a:t>
            </a:r>
          </a:p>
          <a:p xmlns:a="http://schemas.openxmlformats.org/drawingml/2006/main">
            <a:r>
              <a:t>Use this slide to explain the practical public health reason for learning this topic before AI tools are approved or deployed.</a:t>
            </a:r>
          </a:p>
          <a:p xmlns:a="http://schemas.openxmlformats.org/drawingml/2006/main">
            <a:r>
              <a:t>Connect the discussion back to the playbook: this topic supports Plays 7, 10, 11 and Tools 30, 28, 37.</a:t>
            </a:r>
          </a:p>
          <a:p xmlns:a="http://schemas.openxmlformats.org/drawingml/2006/main">
            <a:r>
              <a:t>Emphasize the core guardrail: Match the tool to workflow stage and keep humans responsible for decisions.</a:t>
            </a:r>
          </a:p>
          <a:p xmlns:a="http://schemas.openxmlformats.org/drawingml/2006/main">
            <a:r>
              <a:t>Ask participants how this topic could affect their own program area, staff roles, community relationships, data, or public communications.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AI-Supported Public Health Workflows training module.</a:t>
            </a:r>
          </a:p>
          <a:p xmlns:a="http://schemas.openxmlformats.org/drawingml/2006/main">
            <a:r>
              <a:t>Walk through the objectives and connect each one to a practical implementation decision.</a:t>
            </a:r>
          </a:p>
          <a:p xmlns:a="http://schemas.openxmlformats.org/drawingml/2006/main">
            <a:r>
              <a:t>Connect the discussion back to the playbook: this topic supports Plays 7, 10, 11 and Tools 30, 28, 37.</a:t>
            </a:r>
          </a:p>
          <a:p xmlns:a="http://schemas.openxmlformats.org/drawingml/2006/main">
            <a:r>
              <a:t>Explain that participants do not need technical expertise to use this material. The goal is enough shared understanding to participate in governance, readiness assessment, use case review, procurement, deployment, or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AI-Supported Public Health Workflows training module.</a:t>
            </a:r>
          </a:p>
          <a:p xmlns:a="http://schemas.openxmlformats.org/drawingml/2006/main">
            <a:r>
              <a:t>Use this slide to provide the narrative overview and definition before moving into detailed application.</a:t>
            </a:r>
          </a:p>
          <a:p xmlns:a="http://schemas.openxmlformats.org/drawingml/2006/main">
            <a:r>
              <a:t>Connect the discussion back to the playbook: this topic supports Plays 7, 10, 11 and Tools 30, 28, 37.</a:t>
            </a:r>
          </a:p>
          <a:p xmlns:a="http://schemas.openxmlformats.org/drawingml/2006/main">
            <a:r>
              <a:t>Ask the group to restate the topic in their own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AI-Supported Public Health Workflows training module.</a:t>
            </a:r>
          </a:p>
          <a:p xmlns:a="http://schemas.openxmlformats.org/drawingml/2006/main">
            <a:r>
              <a:t>Use this slide to turn the concept into practical behaviors, decisions, and safeguards.</a:t>
            </a:r>
          </a:p>
          <a:p xmlns:a="http://schemas.openxmlformats.org/drawingml/2006/main">
            <a:r>
              <a:t>Connect the discussion back to the playbook: this topic supports Plays 7, 10, 11 and Tools 30, 28, 37.</a:t>
            </a:r>
          </a:p>
          <a:p xmlns:a="http://schemas.openxmlformats.org/drawingml/2006/main">
            <a:r>
              <a:t>Invite participants to identify where these practices would need to be documented in their own department.</a:t>
            </a:r>
          </a:p>
          <a:p xmlns:a="http://schemas.openxmlformats.org/drawingml/2006/main">
            <a:r>
              <a:t>Start with Workflow Mapping Questions, then compare it with the other practice areas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AI-Supported Public Health Workflows training module.</a:t>
            </a:r>
          </a:p>
          <a:p xmlns:a="http://schemas.openxmlformats.org/drawingml/2006/main">
            <a:r>
              <a:t>Use this slide to make the topic concrete through public health workflow examples.</a:t>
            </a:r>
          </a:p>
          <a:p xmlns:a="http://schemas.openxmlformats.org/drawingml/2006/main">
            <a:r>
              <a:t>Connect the discussion back to the playbook: this topic supports Plays 7, 10, 11 and Tools 30, 28, 37.</a:t>
            </a:r>
          </a:p>
          <a:p xmlns:a="http://schemas.openxmlformats.org/drawingml/2006/main">
            <a:r>
              <a:t>For each example, ask: What problem is being solved? What data would be used? Who reviews the AI output? What decision remains human? What could go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AI-Supported Public Health Workflows training module.</a:t>
            </a:r>
          </a:p>
          <a:p xmlns:a="http://schemas.openxmlformats.org/drawingml/2006/main">
            <a:r>
              <a:t>Use this slide for a facilitated activity near the end of the lesson.</a:t>
            </a:r>
          </a:p>
          <a:p xmlns:a="http://schemas.openxmlformats.org/drawingml/2006/main">
            <a:r>
              <a:t>Connect the discussion back to the playbook: this topic supports Plays 7, 10, 11 and Tools 30, 28, 37.</a:t>
            </a:r>
          </a:p>
          <a:p xmlns:a="http://schemas.openxmlformats.org/drawingml/2006/main">
            <a:r>
              <a:t>Give participants time to work individually or in small groups. Ask them to produce a practical artifact that can feed into readiness assessment, governance review, use case prioritization, or implementation planning.</a:t>
            </a:r>
          </a:p>
          <a:p xmlns:a="http://schemas.openxmlformats.org/drawingml/2006/main">
            <a:r>
              <a:t>Expected takeaways include: AI workflow map, Workflow risk and control table, Pilot success measures.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AI-Supported Public Health Workflows training module.</a:t>
            </a:r>
          </a:p>
          <a:p xmlns:a="http://schemas.openxmlformats.org/drawingml/2006/main">
            <a:r>
              <a:t>Close by connecting the lesson to next actions and resources.</a:t>
            </a:r>
          </a:p>
          <a:p xmlns:a="http://schemas.openxmlformats.org/drawingml/2006/main">
            <a:r>
              <a:t>Connect the discussion back to the playbook: this topic supports Plays 7, 10, 11 and Tools 30, 28, 37.</a:t>
            </a:r>
          </a:p>
          <a:p xmlns:a="http://schemas.openxmlformats.org/drawingml/2006/main">
            <a:r>
              <a:t>Point participants to the first resource: CDC Data Modernization Initiative.</a:t>
            </a:r>
          </a:p>
          <a:p xmlns:a="http://schemas.openxmlformats.org/drawingml/2006/main">
            <a:r>
              <a:t>End by asking each participant or team to name one follow-up action they will take after the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a414fa9a804473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0a4a1e2b7014dc5" /><Relationship Type="http://schemas.openxmlformats.org/officeDocument/2006/relationships/slideLayout" Target="/ppt/slideLayouts/slideLayout1.xml" Id="R928643df7e104c8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28643df7e104c8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66758a922e64b36" /><Relationship Type="http://schemas.openxmlformats.org/officeDocument/2006/relationships/image" Target="/ppt/media/image.png" Id="R4f875017a2204f5d" /><Relationship Type="http://schemas.openxmlformats.org/officeDocument/2006/relationships/notesSlide" Target="/ppt/notesSlides/notesSlide1.xml" Id="R33b030e52e1a498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b4a6ab80add4811" /><Relationship Type="http://schemas.openxmlformats.org/officeDocument/2006/relationships/notesSlide" Target="/ppt/notesSlides/notesSlide2.xml" Id="R89783c1f590b4b1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1cef45349b4ae6" /><Relationship Type="http://schemas.openxmlformats.org/officeDocument/2006/relationships/notesSlide" Target="/ppt/notesSlides/notesSlide3.xml" Id="R2cbbb1c5b3d84e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8c9b53ccb2e46ed" /><Relationship Type="http://schemas.openxmlformats.org/officeDocument/2006/relationships/notesSlide" Target="/ppt/notesSlides/notesSlide4.xml" Id="Rb1c317a5bc77408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4e75ffe354a4804" /><Relationship Type="http://schemas.openxmlformats.org/officeDocument/2006/relationships/notesSlide" Target="/ppt/notesSlides/notesSlide5.xml" Id="R96955547503549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0e4035408584c46" /><Relationship Type="http://schemas.openxmlformats.org/officeDocument/2006/relationships/notesSlide" Target="/ppt/notesSlides/notesSlide6.xml" Id="R98131c18d0eb468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8cbc7742423479c" /><Relationship Type="http://schemas.openxmlformats.org/officeDocument/2006/relationships/notesSlide" Target="/ppt/notesSlides/notesSlide7.xml" Id="R3a190e19908a485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371c721e45a4eb5" /><Relationship Type="http://schemas.openxmlformats.org/officeDocument/2006/relationships/notesSlide" Target="/ppt/notesSlides/notesSlide8.xml" Id="Re29c6b419a6c4577" /></Relationships>
</file>

<file path=ppt/slides/slide1.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f875017a2204f5d"/>
          <a:stretch xmlns:a="http://schemas.openxmlformats.org/drawingml/2006/main"/>
        </p:blipFill>
        <p:spPr>
          <a:xfrm xmlns:a="http://schemas.openxmlformats.org/drawingml/2006/main">
            <a:off x="5316097" y="514350"/>
            <a:ext cx="1559806" cy="1524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9C2922F-AE8E-47E7-B373-942B5C07A8B9}"/>
              </a:ext>
            </a:extLst>
          </p:cNvPr>
          <p:cNvSpPr>
            <a:spLocks xmlns:a="http://schemas.openxmlformats.org/drawingml/2006/main" noGrp="1"/>
          </p:cNvSpPr>
          <p:nvPr/>
        </p:nvSpPr>
        <p:spPr>
          <a:xfrm xmlns:a="http://schemas.openxmlformats.org/drawingml/2006/main">
            <a:off x="4953000" y="23050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287320"/>
                </a:solidFill>
              </a:defRPr>
            </a:pPr>
            <a:r>
              <a:rPr sz="1800" b="1">
                <a:solidFill>
                  <a:srgbClr val="287320"/>
                </a:solidFill>
              </a:rPr>
              <a:t>Lesson 6</a:t>
            </a:r>
          </a:p>
        </p:txBody>
      </p:sp>
      <p:sp>
        <p:nvSpPr>
          <p:cNvPr id="3" name="">
            <a:extLst xmlns:a="http://schemas.openxmlformats.org/drawingml/2006/main">
              <a:ext uri="{FF2B5EF4-FFF2-40B4-BE49-F238E27FC236}">
                <a16:creationId xmlns:a16="http://schemas.microsoft.com/office/drawing/2014/main" id="{8E9CF817-DA15-4B80-9D88-474E501AF78F}"/>
              </a:ext>
            </a:extLst>
          </p:cNvPr>
          <p:cNvSpPr>
            <a:spLocks xmlns:a="http://schemas.openxmlformats.org/drawingml/2006/main" noGrp="1"/>
          </p:cNvSpPr>
          <p:nvPr/>
        </p:nvSpPr>
        <p:spPr>
          <a:xfrm xmlns:a="http://schemas.openxmlformats.org/drawingml/2006/main">
            <a:off x="1333500" y="2781300"/>
            <a:ext cx="9525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900" b="1">
                <a:solidFill>
                  <a:srgbClr val="003B70"/>
                </a:solidFill>
              </a:defRPr>
            </a:pPr>
            <a:r>
              <a:rPr sz="3900" b="1">
                <a:solidFill>
                  <a:srgbClr val="003B70"/>
                </a:solidFill>
              </a:rPr>
              <a:t>AI-Supported Public Health Workflows</a:t>
            </a:r>
          </a:p>
        </p:txBody>
      </p:sp>
      <p:sp>
        <p:nvSpPr>
          <p:cNvPr id="4" name="">
            <a:extLst xmlns:a="http://schemas.openxmlformats.org/drawingml/2006/main">
              <a:ext uri="{FF2B5EF4-FFF2-40B4-BE49-F238E27FC236}">
                <a16:creationId xmlns:a16="http://schemas.microsoft.com/office/drawing/2014/main" id="{98CB218A-FAEB-4221-9715-10F2458CA034}"/>
              </a:ext>
            </a:extLst>
          </p:cNvPr>
          <p:cNvSpPr>
            <a:spLocks xmlns:a="http://schemas.openxmlformats.org/drawingml/2006/main" noGrp="1"/>
          </p:cNvSpPr>
          <p:nvPr/>
        </p:nvSpPr>
        <p:spPr>
          <a:xfrm xmlns:a="http://schemas.openxmlformats.org/drawingml/2006/main">
            <a:off x="3714750" y="3857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a:solidFill>
                  <a:srgbClr val="005DAA"/>
                </a:solidFill>
              </a:defRPr>
            </a:pPr>
            <a:r>
              <a:rPr sz="2025" b="1">
                <a:solidFill>
                  <a:srgbClr val="005DAA"/>
                </a:solidFill>
              </a:rPr>
              <a:t>Staff Training Module</a:t>
            </a:r>
          </a:p>
        </p:txBody>
      </p:sp>
      <p:sp>
        <p:nvSpPr>
          <p:cNvPr id="5" name="">
            <a:extLst xmlns:a="http://schemas.openxmlformats.org/drawingml/2006/main">
              <a:ext uri="{FF2B5EF4-FFF2-40B4-BE49-F238E27FC236}">
                <a16:creationId xmlns:a16="http://schemas.microsoft.com/office/drawing/2014/main" id="{B30D6148-3730-4D5B-AFF5-84571D06A1ED}"/>
              </a:ext>
            </a:extLst>
          </p:cNvPr>
          <p:cNvSpPr>
            <a:spLocks xmlns:a="http://schemas.openxmlformats.org/drawingml/2006/main" noGrp="1"/>
          </p:cNvSpPr>
          <p:nvPr/>
        </p:nvSpPr>
        <p:spPr>
          <a:xfrm xmlns:a="http://schemas.openxmlformats.org/drawingml/2006/main">
            <a:off x="3429000" y="4495800"/>
            <a:ext cx="5334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1CC05F2E-7116-4A2F-851C-7E3B95AB304B}"/>
              </a:ext>
            </a:extLst>
          </p:cNvPr>
          <p:cNvSpPr>
            <a:spLocks xmlns:a="http://schemas.openxmlformats.org/drawingml/2006/main" noGrp="1"/>
          </p:cNvSpPr>
          <p:nvPr/>
        </p:nvSpPr>
        <p:spPr>
          <a:xfrm xmlns:a="http://schemas.openxmlformats.org/drawingml/2006/main">
            <a:off x="2286000" y="4905375"/>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87320"/>
                </a:solidFill>
              </a:defRPr>
            </a:pPr>
            <a:r>
              <a:rPr sz="1500" b="1">
                <a:solidFill>
                  <a:srgbClr val="287320"/>
                </a:solidFill>
              </a:rPr>
              <a:t>AI Playbook and Toolkit for Public Health Departments</a:t>
            </a:r>
          </a:p>
        </p:txBody>
      </p:sp>
    </p:spTree>
    <p:extLst>
      <p:ext uri="{BB962C8B-B14F-4D97-AF65-F5344CB8AC3E}">
        <p14:creationId xmlns:p14="http://schemas.microsoft.com/office/powerpoint/2010/main" val="20689494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0831225-BED2-4033-89DE-A0A64A652370}"/>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109C58B1-F338-429B-8756-B1AEF3B4B321}"/>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Why this topic matters</a:t>
            </a:r>
          </a:p>
        </p:txBody>
      </p:sp>
      <p:sp>
        <p:nvSpPr>
          <p:cNvPr id="3" name="">
            <a:extLst xmlns:a="http://schemas.openxmlformats.org/drawingml/2006/main">
              <a:ext uri="{FF2B5EF4-FFF2-40B4-BE49-F238E27FC236}">
                <a16:creationId xmlns:a16="http://schemas.microsoft.com/office/drawing/2014/main" id="{17B04984-E637-47F1-9DAE-181B8160D934}"/>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1295544B-B36B-4272-86A5-4BFF6064B410}"/>
              </a:ext>
            </a:extLst>
          </p:cNvPr>
          <p:cNvSpPr>
            <a:spLocks xmlns:a="http://schemas.openxmlformats.org/drawingml/2006/main" noGrp="1"/>
          </p:cNvSpPr>
          <p:nvPr/>
        </p:nvSpPr>
        <p:spPr>
          <a:xfrm xmlns:a="http://schemas.openxmlformats.org/drawingml/2006/main">
            <a:off x="685800" y="17145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AI can support signal detection, evidence gathering, analysis, synthesis, briefing, communication, and decision support.</a:t>
            </a:r>
          </a:p>
        </p:txBody>
      </p:sp>
      <p:sp>
        <p:nvSpPr>
          <p:cNvPr id="5" name="">
            <a:extLst xmlns:a="http://schemas.openxmlformats.org/drawingml/2006/main">
              <a:ext uri="{FF2B5EF4-FFF2-40B4-BE49-F238E27FC236}">
                <a16:creationId xmlns:a16="http://schemas.microsoft.com/office/drawing/2014/main" id="{0AE5D06F-5FA2-4647-8F56-41AE2E537C8D}"/>
              </a:ext>
            </a:extLst>
          </p:cNvPr>
          <p:cNvSpPr>
            <a:spLocks xmlns:a="http://schemas.openxmlformats.org/drawingml/2006/main" noGrp="1"/>
          </p:cNvSpPr>
          <p:nvPr/>
        </p:nvSpPr>
        <p:spPr>
          <a:xfrm xmlns:a="http://schemas.openxmlformats.org/drawingml/2006/main">
            <a:off x="685800"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3D05D698-CA90-48CC-B5FD-788D16AB717D}"/>
              </a:ext>
            </a:extLst>
          </p:cNvPr>
          <p:cNvSpPr>
            <a:spLocks xmlns:a="http://schemas.openxmlformats.org/drawingml/2006/main" noGrp="1"/>
          </p:cNvSpPr>
          <p:nvPr/>
        </p:nvSpPr>
        <p:spPr>
          <a:xfrm xmlns:a="http://schemas.openxmlformats.org/drawingml/2006/main">
            <a:off x="685800" y="2905125"/>
            <a:ext cx="66675" cy="2190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7C5A82E6-3456-4594-8937-FFB254B8B536}"/>
              </a:ext>
            </a:extLst>
          </p:cNvPr>
          <p:cNvSpPr>
            <a:spLocks xmlns:a="http://schemas.openxmlformats.org/drawingml/2006/main" noGrp="1"/>
          </p:cNvSpPr>
          <p:nvPr/>
        </p:nvSpPr>
        <p:spPr>
          <a:xfrm xmlns:a="http://schemas.openxmlformats.org/drawingml/2006/main">
            <a:off x="914400"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Public health value</a:t>
            </a:r>
          </a:p>
        </p:txBody>
      </p:sp>
      <p:sp>
        <p:nvSpPr>
          <p:cNvPr id="8" name="">
            <a:extLst xmlns:a="http://schemas.openxmlformats.org/drawingml/2006/main">
              <a:ext uri="{FF2B5EF4-FFF2-40B4-BE49-F238E27FC236}">
                <a16:creationId xmlns:a16="http://schemas.microsoft.com/office/drawing/2014/main" id="{A78EC71B-1E6D-4FF9-B12E-DA0F181E5C4F}"/>
              </a:ext>
            </a:extLst>
          </p:cNvPr>
          <p:cNvSpPr>
            <a:spLocks xmlns:a="http://schemas.openxmlformats.org/drawingml/2006/main" noGrp="1"/>
          </p:cNvSpPr>
          <p:nvPr/>
        </p:nvSpPr>
        <p:spPr>
          <a:xfrm xmlns:a="http://schemas.openxmlformats.org/drawingml/2006/main">
            <a:off x="914400"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AI projects often fail when they are not anchored in a real workflow. Public health work includes handoffs, legal authorities, partner relationships, community trust, and time-sensitive decisions. Workflow mapping helps agencies find where AI.</a:t>
            </a:r>
          </a:p>
        </p:txBody>
      </p:sp>
      <p:sp>
        <p:nvSpPr>
          <p:cNvPr id="9" name="">
            <a:extLst xmlns:a="http://schemas.openxmlformats.org/drawingml/2006/main">
              <a:ext uri="{FF2B5EF4-FFF2-40B4-BE49-F238E27FC236}">
                <a16:creationId xmlns:a16="http://schemas.microsoft.com/office/drawing/2014/main" id="{24A21D27-BF4E-46D2-B52F-7F76ADB0A3BA}"/>
              </a:ext>
            </a:extLst>
          </p:cNvPr>
          <p:cNvSpPr>
            <a:spLocks xmlns:a="http://schemas.openxmlformats.org/drawingml/2006/main" noGrp="1"/>
          </p:cNvSpPr>
          <p:nvPr/>
        </p:nvSpPr>
        <p:spPr>
          <a:xfrm xmlns:a="http://schemas.openxmlformats.org/drawingml/2006/main">
            <a:off x="5953125"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DF7529DC-078C-4DED-B7F5-78A7F961A402}"/>
              </a:ext>
            </a:extLst>
          </p:cNvPr>
          <p:cNvSpPr>
            <a:spLocks xmlns:a="http://schemas.openxmlformats.org/drawingml/2006/main" noGrp="1"/>
          </p:cNvSpPr>
          <p:nvPr/>
        </p:nvSpPr>
        <p:spPr>
          <a:xfrm xmlns:a="http://schemas.openxmlformats.org/drawingml/2006/main">
            <a:off x="5953125" y="2905125"/>
            <a:ext cx="66675" cy="2190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4983A013-5C1B-4D2B-8C6E-EC7D7106BD68}"/>
              </a:ext>
            </a:extLst>
          </p:cNvPr>
          <p:cNvSpPr>
            <a:spLocks xmlns:a="http://schemas.openxmlformats.org/drawingml/2006/main" noGrp="1"/>
          </p:cNvSpPr>
          <p:nvPr/>
        </p:nvSpPr>
        <p:spPr>
          <a:xfrm xmlns:a="http://schemas.openxmlformats.org/drawingml/2006/main">
            <a:off x="6181725"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Guardrail</a:t>
            </a:r>
          </a:p>
        </p:txBody>
      </p:sp>
      <p:sp>
        <p:nvSpPr>
          <p:cNvPr id="12" name="">
            <a:extLst xmlns:a="http://schemas.openxmlformats.org/drawingml/2006/main">
              <a:ext uri="{FF2B5EF4-FFF2-40B4-BE49-F238E27FC236}">
                <a16:creationId xmlns:a16="http://schemas.microsoft.com/office/drawing/2014/main" id="{6B585EB1-BA11-46A7-BB7D-BE6208E4398F}"/>
              </a:ext>
            </a:extLst>
          </p:cNvPr>
          <p:cNvSpPr>
            <a:spLocks xmlns:a="http://schemas.openxmlformats.org/drawingml/2006/main" noGrp="1"/>
          </p:cNvSpPr>
          <p:nvPr/>
        </p:nvSpPr>
        <p:spPr>
          <a:xfrm xmlns:a="http://schemas.openxmlformats.org/drawingml/2006/main">
            <a:off x="6181725"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Match the tool to workflow stage and keep humans responsible for decisions.</a:t>
            </a:r>
          </a:p>
        </p:txBody>
      </p:sp>
      <p:sp>
        <p:nvSpPr>
          <p:cNvPr id="13" name="">
            <a:extLst xmlns:a="http://schemas.openxmlformats.org/drawingml/2006/main">
              <a:ext uri="{FF2B5EF4-FFF2-40B4-BE49-F238E27FC236}">
                <a16:creationId xmlns:a16="http://schemas.microsoft.com/office/drawing/2014/main" id="{0255616A-39D1-40E2-B606-697329D208F1}"/>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AI-Supported Public Health Workflows</a:t>
            </a:r>
          </a:p>
        </p:txBody>
      </p:sp>
      <p:sp>
        <p:nvSpPr>
          <p:cNvPr id="14" name="">
            <a:extLst xmlns:a="http://schemas.openxmlformats.org/drawingml/2006/main">
              <a:ext uri="{FF2B5EF4-FFF2-40B4-BE49-F238E27FC236}">
                <a16:creationId xmlns:a16="http://schemas.microsoft.com/office/drawing/2014/main" id="{97CD1158-0A3D-4B6F-8688-7E342DCB4D9F}"/>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02</a:t>
            </a:r>
          </a:p>
        </p:txBody>
      </p:sp>
    </p:spTree>
    <p:extLst>
      <p:ext uri="{BB962C8B-B14F-4D97-AF65-F5344CB8AC3E}">
        <p14:creationId xmlns:p14="http://schemas.microsoft.com/office/powerpoint/2010/main" val="1352755934"/>
      </p:ext>
    </p:extLst>
  </p:cSld>
</p:sld>
</file>

<file path=ppt/slides/slide3.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8092C79-A361-48B6-BB1A-FA2894BFF12D}"/>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78B214D4-B9CF-4CFC-AE75-FB6E28B2A4BE}"/>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Learning objectives</a:t>
            </a:r>
          </a:p>
        </p:txBody>
      </p:sp>
      <p:sp>
        <p:nvSpPr>
          <p:cNvPr id="3" name="">
            <a:extLst xmlns:a="http://schemas.openxmlformats.org/drawingml/2006/main">
              <a:ext uri="{FF2B5EF4-FFF2-40B4-BE49-F238E27FC236}">
                <a16:creationId xmlns:a16="http://schemas.microsoft.com/office/drawing/2014/main" id="{5D093EB1-49EC-41E5-8D63-311668B0025F}"/>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704EC9EF-BE48-425F-838D-1A74D198F25B}"/>
              </a:ext>
            </a:extLst>
          </p:cNvPr>
          <p:cNvSpPr>
            <a:spLocks xmlns:a="http://schemas.openxmlformats.org/drawingml/2006/main" noGrp="1"/>
          </p:cNvSpPr>
          <p:nvPr/>
        </p:nvSpPr>
        <p:spPr>
          <a:xfrm xmlns:a="http://schemas.openxmlformats.org/drawingml/2006/main">
            <a:off x="685800" y="16573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2324A"/>
                </a:solidFill>
              </a:defRPr>
            </a:pPr>
            <a:r>
              <a:rPr sz="1875" b="1">
                <a:solidFill>
                  <a:srgbClr val="12324A"/>
                </a:solidFill>
              </a:rPr>
              <a:t>By the end of this lesson, staff should be able to:</a:t>
            </a:r>
          </a:p>
        </p:txBody>
      </p:sp>
      <p:sp>
        <p:nvSpPr>
          <p:cNvPr id="5" name="">
            <a:extLst xmlns:a="http://schemas.openxmlformats.org/drawingml/2006/main">
              <a:ext uri="{FF2B5EF4-FFF2-40B4-BE49-F238E27FC236}">
                <a16:creationId xmlns:a16="http://schemas.microsoft.com/office/drawing/2014/main" id="{65E61A10-77BA-42E6-B369-A805D9A038ED}"/>
              </a:ext>
            </a:extLst>
          </p:cNvPr>
          <p:cNvSpPr>
            <a:spLocks xmlns:a="http://schemas.openxmlformats.org/drawingml/2006/main" noGrp="1"/>
          </p:cNvSpPr>
          <p:nvPr/>
        </p:nvSpPr>
        <p:spPr>
          <a:xfrm xmlns:a="http://schemas.openxmlformats.org/drawingml/2006/main">
            <a:off x="1047750" y="2286000"/>
            <a:ext cx="942975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24394A"/>
                </a:solidFill>
              </a:defRPr>
            </a:pPr>
            <a:r>
              <a:rPr sz="1725" b="0">
                <a:solidFill>
                  <a:srgbClr val="24394A"/>
                </a:solidFill>
              </a:rPr>
              <a:t>• Explain AI-Supported Public Health Workflows in plain language.</a:t>
            </a:r>
          </a:p>
          <a:p xmlns:a="http://schemas.openxmlformats.org/drawingml/2006/main">
            <a:pPr algn="l">
              <a:defRPr sz="1725" b="0">
                <a:solidFill>
                  <a:srgbClr val="24394A"/>
                </a:solidFill>
              </a:defRPr>
            </a:pPr>
            <a:r>
              <a:rPr sz="1725" b="0">
                <a:solidFill>
                  <a:srgbClr val="24394A"/>
                </a:solidFill>
              </a:rPr>
              <a:t>• Identify appropriate public health uses and limits.</a:t>
            </a:r>
          </a:p>
          <a:p xmlns:a="http://schemas.openxmlformats.org/drawingml/2006/main">
            <a:pPr algn="l">
              <a:defRPr sz="1725" b="0">
                <a:solidFill>
                  <a:srgbClr val="24394A"/>
                </a:solidFill>
              </a:defRPr>
            </a:pPr>
            <a:r>
              <a:rPr sz="1725" b="0">
                <a:solidFill>
                  <a:srgbClr val="24394A"/>
                </a:solidFill>
              </a:rPr>
              <a:t>• Describe human review, governance, equity, privacy, and monitoring expectations.</a:t>
            </a:r>
          </a:p>
          <a:p xmlns:a="http://schemas.openxmlformats.org/drawingml/2006/main">
            <a:pPr algn="l">
              <a:defRPr sz="1725" b="0">
                <a:solidFill>
                  <a:srgbClr val="24394A"/>
                </a:solidFill>
              </a:defRPr>
            </a:pPr>
            <a:r>
              <a:rPr sz="1725" b="0">
                <a:solidFill>
                  <a:srgbClr val="24394A"/>
                </a:solidFill>
              </a:rPr>
              <a:t>• Connect the topic to the related plays and tools.</a:t>
            </a:r>
          </a:p>
        </p:txBody>
      </p:sp>
      <p:sp>
        <p:nvSpPr>
          <p:cNvPr id="6" name="">
            <a:extLst xmlns:a="http://schemas.openxmlformats.org/drawingml/2006/main">
              <a:ext uri="{FF2B5EF4-FFF2-40B4-BE49-F238E27FC236}">
                <a16:creationId xmlns:a16="http://schemas.microsoft.com/office/drawing/2014/main" id="{5425CCD7-7139-4827-B8C0-F9F6B0098184}"/>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AI-Supported Public Health Workflows</a:t>
            </a:r>
          </a:p>
        </p:txBody>
      </p:sp>
      <p:sp>
        <p:nvSpPr>
          <p:cNvPr id="7" name="">
            <a:extLst xmlns:a="http://schemas.openxmlformats.org/drawingml/2006/main">
              <a:ext uri="{FF2B5EF4-FFF2-40B4-BE49-F238E27FC236}">
                <a16:creationId xmlns:a16="http://schemas.microsoft.com/office/drawing/2014/main" id="{C3A0D294-2EBE-48FC-905E-2CA617DA6C73}"/>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03</a:t>
            </a:r>
          </a:p>
        </p:txBody>
      </p:sp>
    </p:spTree>
    <p:extLst>
      <p:ext uri="{BB962C8B-B14F-4D97-AF65-F5344CB8AC3E}">
        <p14:creationId xmlns:p14="http://schemas.microsoft.com/office/powerpoint/2010/main" val="25623380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E190462-CB87-4A49-A895-1435457F3DAB}"/>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75246642-29FB-46C2-8CC3-4BC91D9173D4}"/>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Module overview</a:t>
            </a:r>
          </a:p>
        </p:txBody>
      </p:sp>
      <p:sp>
        <p:nvSpPr>
          <p:cNvPr id="3" name="">
            <a:extLst xmlns:a="http://schemas.openxmlformats.org/drawingml/2006/main">
              <a:ext uri="{FF2B5EF4-FFF2-40B4-BE49-F238E27FC236}">
                <a16:creationId xmlns:a16="http://schemas.microsoft.com/office/drawing/2014/main" id="{6E977AE5-7CE6-4648-B193-05F652BFD6BE}"/>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2AFADEE9-31D6-41DB-8DBA-2AE7FE959F7E}"/>
              </a:ext>
            </a:extLst>
          </p:cNvPr>
          <p:cNvSpPr>
            <a:spLocks xmlns:a="http://schemas.openxmlformats.org/drawingml/2006/main" noGrp="1"/>
          </p:cNvSpPr>
          <p:nvPr/>
        </p:nvSpPr>
        <p:spPr>
          <a:xfrm xmlns:a="http://schemas.openxmlformats.org/drawingml/2006/main">
            <a:off x="685800" y="1695450"/>
            <a:ext cx="1019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24394A"/>
                </a:solidFill>
              </a:defRPr>
            </a:pPr>
            <a:r>
              <a:rPr sz="1800" b="0">
                <a:solidFill>
                  <a:srgbClr val="24394A"/>
                </a:solidFill>
              </a:rPr>
              <a:t>AI is most useful when it is tied to a specific public health workflow rather than introduced as a general productivity tool. Workflow mapping helps teams identify where AI could support signal detection, evidence gathering, analysis, synthesis, communication, decision support, documentation, monitoring, or service delivery without displacing accountability.</a:t>
            </a:r>
          </a:p>
        </p:txBody>
      </p:sp>
      <p:sp>
        <p:nvSpPr>
          <p:cNvPr id="5" name="">
            <a:extLst xmlns:a="http://schemas.openxmlformats.org/drawingml/2006/main">
              <a:ext uri="{FF2B5EF4-FFF2-40B4-BE49-F238E27FC236}">
                <a16:creationId xmlns:a16="http://schemas.microsoft.com/office/drawing/2014/main" id="{13853B4A-F25A-4A51-B949-EC59C3960953}"/>
              </a:ext>
            </a:extLst>
          </p:cNvPr>
          <p:cNvSpPr>
            <a:spLocks xmlns:a="http://schemas.openxmlformats.org/drawingml/2006/main" noGrp="1"/>
          </p:cNvSpPr>
          <p:nvPr/>
        </p:nvSpPr>
        <p:spPr>
          <a:xfrm xmlns:a="http://schemas.openxmlformats.org/drawingml/2006/main">
            <a:off x="685800" y="3524250"/>
            <a:ext cx="9953625" cy="1381125"/>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1D337FF3-4BB2-424D-B5EB-10D5723EBC71}"/>
              </a:ext>
            </a:extLst>
          </p:cNvPr>
          <p:cNvSpPr>
            <a:spLocks xmlns:a="http://schemas.openxmlformats.org/drawingml/2006/main" noGrp="1"/>
          </p:cNvSpPr>
          <p:nvPr/>
        </p:nvSpPr>
        <p:spPr>
          <a:xfrm xmlns:a="http://schemas.openxmlformats.org/drawingml/2006/main">
            <a:off x="685800" y="3524250"/>
            <a:ext cx="66675" cy="138112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9CA091B7-D10F-45C8-A938-060D12D0B1A6}"/>
              </a:ext>
            </a:extLst>
          </p:cNvPr>
          <p:cNvSpPr>
            <a:spLocks xmlns:a="http://schemas.openxmlformats.org/drawingml/2006/main" noGrp="1"/>
          </p:cNvSpPr>
          <p:nvPr/>
        </p:nvSpPr>
        <p:spPr>
          <a:xfrm xmlns:a="http://schemas.openxmlformats.org/drawingml/2006/main">
            <a:off x="914400" y="3714750"/>
            <a:ext cx="94964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Working definition</a:t>
            </a:r>
          </a:p>
        </p:txBody>
      </p:sp>
      <p:sp>
        <p:nvSpPr>
          <p:cNvPr id="8" name="">
            <a:extLst xmlns:a="http://schemas.openxmlformats.org/drawingml/2006/main">
              <a:ext uri="{FF2B5EF4-FFF2-40B4-BE49-F238E27FC236}">
                <a16:creationId xmlns:a16="http://schemas.microsoft.com/office/drawing/2014/main" id="{39F103FF-AB99-4F51-9A02-2C6477D76959}"/>
              </a:ext>
            </a:extLst>
          </p:cNvPr>
          <p:cNvSpPr>
            <a:spLocks xmlns:a="http://schemas.openxmlformats.org/drawingml/2006/main" noGrp="1"/>
          </p:cNvSpPr>
          <p:nvPr/>
        </p:nvSpPr>
        <p:spPr>
          <a:xfrm xmlns:a="http://schemas.openxmlformats.org/drawingml/2006/main">
            <a:off x="914400" y="4171950"/>
            <a:ext cx="9496425"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AI can support signal detection, evidence gathering, analysis, synthesis, briefing, communication, and decision support.</a:t>
            </a:r>
          </a:p>
        </p:txBody>
      </p:sp>
      <p:sp>
        <p:nvSpPr>
          <p:cNvPr id="9" name="">
            <a:extLst xmlns:a="http://schemas.openxmlformats.org/drawingml/2006/main">
              <a:ext uri="{FF2B5EF4-FFF2-40B4-BE49-F238E27FC236}">
                <a16:creationId xmlns:a16="http://schemas.microsoft.com/office/drawing/2014/main" id="{F98BA8E5-9935-4924-A853-715762ECA7A3}"/>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AI-Supported Public Health Workflows</a:t>
            </a:r>
          </a:p>
        </p:txBody>
      </p:sp>
      <p:sp>
        <p:nvSpPr>
          <p:cNvPr id="10" name="">
            <a:extLst xmlns:a="http://schemas.openxmlformats.org/drawingml/2006/main">
              <a:ext uri="{FF2B5EF4-FFF2-40B4-BE49-F238E27FC236}">
                <a16:creationId xmlns:a16="http://schemas.microsoft.com/office/drawing/2014/main" id="{ACCBA61B-DB6B-4FEB-8579-5663FCA1E377}"/>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04</a:t>
            </a:r>
          </a:p>
        </p:txBody>
      </p:sp>
    </p:spTree>
    <p:extLst>
      <p:ext uri="{BB962C8B-B14F-4D97-AF65-F5344CB8AC3E}">
        <p14:creationId xmlns:p14="http://schemas.microsoft.com/office/powerpoint/2010/main" val="1955265621"/>
      </p:ext>
    </p:extLst>
  </p:cSld>
</p:sld>
</file>

<file path=ppt/slides/slide5.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DF46569-A15E-4DBD-89EC-9B4A9B05F765}"/>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F2619739-1E4A-4270-8D56-71BEDA8D58E7}"/>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What this means in practice</a:t>
            </a:r>
          </a:p>
        </p:txBody>
      </p:sp>
      <p:sp>
        <p:nvSpPr>
          <p:cNvPr id="3" name="">
            <a:extLst xmlns:a="http://schemas.openxmlformats.org/drawingml/2006/main">
              <a:ext uri="{FF2B5EF4-FFF2-40B4-BE49-F238E27FC236}">
                <a16:creationId xmlns:a16="http://schemas.microsoft.com/office/drawing/2014/main" id="{CF2F0349-6BC1-4545-AA14-FA44611D2AEF}"/>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EBAA4D4E-677B-4688-A157-290B630D0414}"/>
              </a:ext>
            </a:extLst>
          </p:cNvPr>
          <p:cNvSpPr>
            <a:spLocks xmlns:a="http://schemas.openxmlformats.org/drawingml/2006/main" noGrp="1"/>
          </p:cNvSpPr>
          <p:nvPr/>
        </p:nvSpPr>
        <p:spPr>
          <a:xfrm xmlns:a="http://schemas.openxmlformats.org/drawingml/2006/main">
            <a:off x="68580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BED0BD7B-32D9-48BF-8351-D2115D71772D}"/>
              </a:ext>
            </a:extLst>
          </p:cNvPr>
          <p:cNvSpPr>
            <a:spLocks xmlns:a="http://schemas.openxmlformats.org/drawingml/2006/main" noGrp="1"/>
          </p:cNvSpPr>
          <p:nvPr/>
        </p:nvSpPr>
        <p:spPr>
          <a:xfrm xmlns:a="http://schemas.openxmlformats.org/drawingml/2006/main">
            <a:off x="68580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12146D8F-BB41-4BE5-A90A-87E4A56E5ADB}"/>
              </a:ext>
            </a:extLst>
          </p:cNvPr>
          <p:cNvSpPr>
            <a:spLocks xmlns:a="http://schemas.openxmlformats.org/drawingml/2006/main" noGrp="1"/>
          </p:cNvSpPr>
          <p:nvPr/>
        </p:nvSpPr>
        <p:spPr>
          <a:xfrm xmlns:a="http://schemas.openxmlformats.org/drawingml/2006/main">
            <a:off x="91440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Workflow Mapping Questions</a:t>
            </a:r>
          </a:p>
        </p:txBody>
      </p:sp>
      <p:sp>
        <p:nvSpPr>
          <p:cNvPr id="7" name="">
            <a:extLst xmlns:a="http://schemas.openxmlformats.org/drawingml/2006/main">
              <a:ext uri="{FF2B5EF4-FFF2-40B4-BE49-F238E27FC236}">
                <a16:creationId xmlns:a16="http://schemas.microsoft.com/office/drawing/2014/main" id="{23899128-D381-4F47-9625-832DFC746A13}"/>
              </a:ext>
            </a:extLst>
          </p:cNvPr>
          <p:cNvSpPr>
            <a:spLocks xmlns:a="http://schemas.openxmlformats.org/drawingml/2006/main" noGrp="1"/>
          </p:cNvSpPr>
          <p:nvPr/>
        </p:nvSpPr>
        <p:spPr>
          <a:xfrm xmlns:a="http://schemas.openxmlformats.org/drawingml/2006/main">
            <a:off x="91440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What event starts the workflow, and what output ends it? Where do staff spend time searching, summarizing, routing, checking, rewriting, or reconciling information? Which steps require judgment, legal authority, community relationship,.</a:t>
            </a:r>
          </a:p>
        </p:txBody>
      </p:sp>
      <p:sp>
        <p:nvSpPr>
          <p:cNvPr id="8" name="">
            <a:extLst xmlns:a="http://schemas.openxmlformats.org/drawingml/2006/main">
              <a:ext uri="{FF2B5EF4-FFF2-40B4-BE49-F238E27FC236}">
                <a16:creationId xmlns:a16="http://schemas.microsoft.com/office/drawing/2014/main" id="{7CFE978F-6501-461A-928D-0B8BF53363DD}"/>
              </a:ext>
            </a:extLst>
          </p:cNvPr>
          <p:cNvSpPr>
            <a:spLocks xmlns:a="http://schemas.openxmlformats.org/drawingml/2006/main" noGrp="1"/>
          </p:cNvSpPr>
          <p:nvPr/>
        </p:nvSpPr>
        <p:spPr>
          <a:xfrm xmlns:a="http://schemas.openxmlformats.org/drawingml/2006/main">
            <a:off x="4257675"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ED198EB4-F82A-4FCB-8CE9-B810DC76ABCC}"/>
              </a:ext>
            </a:extLst>
          </p:cNvPr>
          <p:cNvSpPr>
            <a:spLocks xmlns:a="http://schemas.openxmlformats.org/drawingml/2006/main" noGrp="1"/>
          </p:cNvSpPr>
          <p:nvPr/>
        </p:nvSpPr>
        <p:spPr>
          <a:xfrm xmlns:a="http://schemas.openxmlformats.org/drawingml/2006/main">
            <a:off x="4257675" y="1809750"/>
            <a:ext cx="66675" cy="31432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F1F48CD0-E54E-4B0F-ADFD-04D56FAC77AF}"/>
              </a:ext>
            </a:extLst>
          </p:cNvPr>
          <p:cNvSpPr>
            <a:spLocks xmlns:a="http://schemas.openxmlformats.org/drawingml/2006/main" noGrp="1"/>
          </p:cNvSpPr>
          <p:nvPr/>
        </p:nvSpPr>
        <p:spPr>
          <a:xfrm xmlns:a="http://schemas.openxmlformats.org/drawingml/2006/main">
            <a:off x="4486275"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Potential AI Support</a:t>
            </a:r>
          </a:p>
        </p:txBody>
      </p:sp>
      <p:sp>
        <p:nvSpPr>
          <p:cNvPr id="11" name="">
            <a:extLst xmlns:a="http://schemas.openxmlformats.org/drawingml/2006/main">
              <a:ext uri="{FF2B5EF4-FFF2-40B4-BE49-F238E27FC236}">
                <a16:creationId xmlns:a16="http://schemas.microsoft.com/office/drawing/2014/main" id="{E2B08099-13A1-43D5-ACE6-FB774EE871C8}"/>
              </a:ext>
            </a:extLst>
          </p:cNvPr>
          <p:cNvSpPr>
            <a:spLocks xmlns:a="http://schemas.openxmlformats.org/drawingml/2006/main" noGrp="1"/>
          </p:cNvSpPr>
          <p:nvPr/>
        </p:nvSpPr>
        <p:spPr>
          <a:xfrm xmlns:a="http://schemas.openxmlformats.org/drawingml/2006/main">
            <a:off x="4486275"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Detect unusual patterns and prepare alerts for human review. Summarize reports, partner updates, inspection notes, or case records into structured fields. Draft situation reports, FAQs, or internal updates from approved source material. Track.</a:t>
            </a:r>
          </a:p>
        </p:txBody>
      </p:sp>
      <p:sp>
        <p:nvSpPr>
          <p:cNvPr id="12" name="">
            <a:extLst xmlns:a="http://schemas.openxmlformats.org/drawingml/2006/main">
              <a:ext uri="{FF2B5EF4-FFF2-40B4-BE49-F238E27FC236}">
                <a16:creationId xmlns:a16="http://schemas.microsoft.com/office/drawing/2014/main" id="{1E569BA3-2629-4EB3-96C5-2E91BF348D69}"/>
              </a:ext>
            </a:extLst>
          </p:cNvPr>
          <p:cNvSpPr>
            <a:spLocks xmlns:a="http://schemas.openxmlformats.org/drawingml/2006/main" noGrp="1"/>
          </p:cNvSpPr>
          <p:nvPr/>
        </p:nvSpPr>
        <p:spPr>
          <a:xfrm xmlns:a="http://schemas.openxmlformats.org/drawingml/2006/main">
            <a:off x="782955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1977A3BA-3CB8-47D9-9736-97ADA06FD465}"/>
              </a:ext>
            </a:extLst>
          </p:cNvPr>
          <p:cNvSpPr>
            <a:spLocks xmlns:a="http://schemas.openxmlformats.org/drawingml/2006/main" noGrp="1"/>
          </p:cNvSpPr>
          <p:nvPr/>
        </p:nvSpPr>
        <p:spPr>
          <a:xfrm xmlns:a="http://schemas.openxmlformats.org/drawingml/2006/main">
            <a:off x="782955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4" name="">
            <a:extLst xmlns:a="http://schemas.openxmlformats.org/drawingml/2006/main">
              <a:ext uri="{FF2B5EF4-FFF2-40B4-BE49-F238E27FC236}">
                <a16:creationId xmlns:a16="http://schemas.microsoft.com/office/drawing/2014/main" id="{87BECE50-AEA0-4388-A076-C771C39AC5C1}"/>
              </a:ext>
            </a:extLst>
          </p:cNvPr>
          <p:cNvSpPr>
            <a:spLocks xmlns:a="http://schemas.openxmlformats.org/drawingml/2006/main" noGrp="1"/>
          </p:cNvSpPr>
          <p:nvPr/>
        </p:nvSpPr>
        <p:spPr>
          <a:xfrm xmlns:a="http://schemas.openxmlformats.org/drawingml/2006/main">
            <a:off x="805815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Design Safeguards</a:t>
            </a:r>
          </a:p>
        </p:txBody>
      </p:sp>
      <p:sp>
        <p:nvSpPr>
          <p:cNvPr id="15" name="">
            <a:extLst xmlns:a="http://schemas.openxmlformats.org/drawingml/2006/main">
              <a:ext uri="{FF2B5EF4-FFF2-40B4-BE49-F238E27FC236}">
                <a16:creationId xmlns:a16="http://schemas.microsoft.com/office/drawing/2014/main" id="{B47365D8-2EB9-4D70-B774-222B2EBEBABD}"/>
              </a:ext>
            </a:extLst>
          </p:cNvPr>
          <p:cNvSpPr>
            <a:spLocks xmlns:a="http://schemas.openxmlformats.org/drawingml/2006/main" noGrp="1"/>
          </p:cNvSpPr>
          <p:nvPr/>
        </p:nvSpPr>
        <p:spPr>
          <a:xfrm xmlns:a="http://schemas.openxmlformats.org/drawingml/2006/main">
            <a:off x="805815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Keep AI support close to the staff workflow and test whether it actually saves time or improves quality. Measure false positives, false negatives, staff burden, equity effects, and downstream operational impact. Make handoffs explicit so staff.</a:t>
            </a:r>
          </a:p>
        </p:txBody>
      </p:sp>
      <p:sp>
        <p:nvSpPr>
          <p:cNvPr id="16" name="">
            <a:extLst xmlns:a="http://schemas.openxmlformats.org/drawingml/2006/main">
              <a:ext uri="{FF2B5EF4-FFF2-40B4-BE49-F238E27FC236}">
                <a16:creationId xmlns:a16="http://schemas.microsoft.com/office/drawing/2014/main" id="{0280D3DE-4417-4777-A67F-729ABCD24688}"/>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AI-Supported Public Health Workflows</a:t>
            </a:r>
          </a:p>
        </p:txBody>
      </p:sp>
      <p:sp>
        <p:nvSpPr>
          <p:cNvPr id="17" name="">
            <a:extLst xmlns:a="http://schemas.openxmlformats.org/drawingml/2006/main">
              <a:ext uri="{FF2B5EF4-FFF2-40B4-BE49-F238E27FC236}">
                <a16:creationId xmlns:a16="http://schemas.microsoft.com/office/drawing/2014/main" id="{A6F5F13A-275D-43FA-98C0-67CC0E041D2F}"/>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05</a:t>
            </a:r>
          </a:p>
        </p:txBody>
      </p:sp>
    </p:spTree>
    <p:extLst>
      <p:ext uri="{BB962C8B-B14F-4D97-AF65-F5344CB8AC3E}">
        <p14:creationId xmlns:p14="http://schemas.microsoft.com/office/powerpoint/2010/main" val="49623700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BBE991B-EFEC-4501-A8EA-094B1F4081CE}"/>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F5262D9C-E7C1-4D4C-898A-CA54697C0CDF}"/>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Public health application</a:t>
            </a:r>
          </a:p>
        </p:txBody>
      </p:sp>
      <p:sp>
        <p:nvSpPr>
          <p:cNvPr id="3" name="">
            <a:extLst xmlns:a="http://schemas.openxmlformats.org/drawingml/2006/main">
              <a:ext uri="{FF2B5EF4-FFF2-40B4-BE49-F238E27FC236}">
                <a16:creationId xmlns:a16="http://schemas.microsoft.com/office/drawing/2014/main" id="{831F00DB-2AA9-4F5B-9B4E-0FE8DF7AB1B4}"/>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E375A54D-E8FC-4CDE-9FA5-3B6440431458}"/>
              </a:ext>
            </a:extLst>
          </p:cNvPr>
          <p:cNvSpPr>
            <a:spLocks xmlns:a="http://schemas.openxmlformats.org/drawingml/2006/main" noGrp="1"/>
          </p:cNvSpPr>
          <p:nvPr/>
        </p:nvSpPr>
        <p:spPr>
          <a:xfrm xmlns:a="http://schemas.openxmlformats.org/drawingml/2006/main">
            <a:off x="685800" y="171450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Use the topic to examine real workflows, not abstract technology.</a:t>
            </a:r>
          </a:p>
        </p:txBody>
      </p:sp>
      <p:sp>
        <p:nvSpPr>
          <p:cNvPr id="5" name="">
            <a:extLst xmlns:a="http://schemas.openxmlformats.org/drawingml/2006/main">
              <a:ext uri="{FF2B5EF4-FFF2-40B4-BE49-F238E27FC236}">
                <a16:creationId xmlns:a16="http://schemas.microsoft.com/office/drawing/2014/main" id="{9102C4A6-BE59-470D-B484-E12CFEF1499D}"/>
              </a:ext>
            </a:extLst>
          </p:cNvPr>
          <p:cNvSpPr>
            <a:spLocks xmlns:a="http://schemas.openxmlformats.org/drawingml/2006/main" noGrp="1"/>
          </p:cNvSpPr>
          <p:nvPr/>
        </p:nvSpPr>
        <p:spPr>
          <a:xfrm xmlns:a="http://schemas.openxmlformats.org/drawingml/2006/main">
            <a:off x="68580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3AF484D8-CE23-4907-9A9E-B6EC3E22E9DA}"/>
              </a:ext>
            </a:extLst>
          </p:cNvPr>
          <p:cNvSpPr>
            <a:spLocks xmlns:a="http://schemas.openxmlformats.org/drawingml/2006/main" noGrp="1"/>
          </p:cNvSpPr>
          <p:nvPr/>
        </p:nvSpPr>
        <p:spPr>
          <a:xfrm xmlns:a="http://schemas.openxmlformats.org/drawingml/2006/main">
            <a:off x="68580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46951AC5-F962-42D8-88B7-7C6F7D2ADBE4}"/>
              </a:ext>
            </a:extLst>
          </p:cNvPr>
          <p:cNvSpPr>
            <a:spLocks xmlns:a="http://schemas.openxmlformats.org/drawingml/2006/main" noGrp="1"/>
          </p:cNvSpPr>
          <p:nvPr/>
        </p:nvSpPr>
        <p:spPr>
          <a:xfrm xmlns:a="http://schemas.openxmlformats.org/drawingml/2006/main">
            <a:off x="91440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Detect anomalies</a:t>
            </a:r>
          </a:p>
        </p:txBody>
      </p:sp>
      <p:sp>
        <p:nvSpPr>
          <p:cNvPr id="8" name="">
            <a:extLst xmlns:a="http://schemas.openxmlformats.org/drawingml/2006/main">
              <a:ext uri="{FF2B5EF4-FFF2-40B4-BE49-F238E27FC236}">
                <a16:creationId xmlns:a16="http://schemas.microsoft.com/office/drawing/2014/main" id="{1144CA3C-5603-471C-94D7-1A71ECCD12CD}"/>
              </a:ext>
            </a:extLst>
          </p:cNvPr>
          <p:cNvSpPr>
            <a:spLocks xmlns:a="http://schemas.openxmlformats.org/drawingml/2006/main" noGrp="1"/>
          </p:cNvSpPr>
          <p:nvPr/>
        </p:nvSpPr>
        <p:spPr>
          <a:xfrm xmlns:a="http://schemas.openxmlformats.org/drawingml/2006/main">
            <a:off x="91440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Flag unusual changes in surveillance, laboratory, syndromic, environmental, or service-utilization data for staff investigation.</a:t>
            </a:r>
          </a:p>
        </p:txBody>
      </p:sp>
      <p:sp>
        <p:nvSpPr>
          <p:cNvPr id="9" name="">
            <a:extLst xmlns:a="http://schemas.openxmlformats.org/drawingml/2006/main">
              <a:ext uri="{FF2B5EF4-FFF2-40B4-BE49-F238E27FC236}">
                <a16:creationId xmlns:a16="http://schemas.microsoft.com/office/drawing/2014/main" id="{CB4629D6-D1AA-49C9-8879-2FAC6F840E96}"/>
              </a:ext>
            </a:extLst>
          </p:cNvPr>
          <p:cNvSpPr>
            <a:spLocks xmlns:a="http://schemas.openxmlformats.org/drawingml/2006/main" noGrp="1"/>
          </p:cNvSpPr>
          <p:nvPr/>
        </p:nvSpPr>
        <p:spPr>
          <a:xfrm xmlns:a="http://schemas.openxmlformats.org/drawingml/2006/main">
            <a:off x="4257675"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4755688C-3BB0-4108-BBF1-9BED3B7170D9}"/>
              </a:ext>
            </a:extLst>
          </p:cNvPr>
          <p:cNvSpPr>
            <a:spLocks xmlns:a="http://schemas.openxmlformats.org/drawingml/2006/main" noGrp="1"/>
          </p:cNvSpPr>
          <p:nvPr/>
        </p:nvSpPr>
        <p:spPr>
          <a:xfrm xmlns:a="http://schemas.openxmlformats.org/drawingml/2006/main">
            <a:off x="4257675" y="2571750"/>
            <a:ext cx="66675" cy="22383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C127627E-3495-403B-A788-9B69B6C117C2}"/>
              </a:ext>
            </a:extLst>
          </p:cNvPr>
          <p:cNvSpPr>
            <a:spLocks xmlns:a="http://schemas.openxmlformats.org/drawingml/2006/main" noGrp="1"/>
          </p:cNvSpPr>
          <p:nvPr/>
        </p:nvSpPr>
        <p:spPr>
          <a:xfrm xmlns:a="http://schemas.openxmlformats.org/drawingml/2006/main">
            <a:off x="4486275"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Synthesize outbreak updates</a:t>
            </a:r>
          </a:p>
        </p:txBody>
      </p:sp>
      <p:sp>
        <p:nvSpPr>
          <p:cNvPr id="12" name="">
            <a:extLst xmlns:a="http://schemas.openxmlformats.org/drawingml/2006/main">
              <a:ext uri="{FF2B5EF4-FFF2-40B4-BE49-F238E27FC236}">
                <a16:creationId xmlns:a16="http://schemas.microsoft.com/office/drawing/2014/main" id="{4BAC6F03-843D-44B1-8D3B-14A69EC587F8}"/>
              </a:ext>
            </a:extLst>
          </p:cNvPr>
          <p:cNvSpPr>
            <a:spLocks xmlns:a="http://schemas.openxmlformats.org/drawingml/2006/main" noGrp="1"/>
          </p:cNvSpPr>
          <p:nvPr/>
        </p:nvSpPr>
        <p:spPr>
          <a:xfrm xmlns:a="http://schemas.openxmlformats.org/drawingml/2006/main">
            <a:off x="4486275"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Combine situation reports, surveillance data, partner updates, and public communications into a concise operational update.</a:t>
            </a:r>
          </a:p>
        </p:txBody>
      </p:sp>
      <p:sp>
        <p:nvSpPr>
          <p:cNvPr id="13" name="">
            <a:extLst xmlns:a="http://schemas.openxmlformats.org/drawingml/2006/main">
              <a:ext uri="{FF2B5EF4-FFF2-40B4-BE49-F238E27FC236}">
                <a16:creationId xmlns:a16="http://schemas.microsoft.com/office/drawing/2014/main" id="{63DB5A53-347D-4B93-9BD1-BC8B4E9B825A}"/>
              </a:ext>
            </a:extLst>
          </p:cNvPr>
          <p:cNvSpPr>
            <a:spLocks xmlns:a="http://schemas.openxmlformats.org/drawingml/2006/main" noGrp="1"/>
          </p:cNvSpPr>
          <p:nvPr/>
        </p:nvSpPr>
        <p:spPr>
          <a:xfrm xmlns:a="http://schemas.openxmlformats.org/drawingml/2006/main">
            <a:off x="782955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E12F056A-D092-4C65-8BB9-40235A28477E}"/>
              </a:ext>
            </a:extLst>
          </p:cNvPr>
          <p:cNvSpPr>
            <a:spLocks xmlns:a="http://schemas.openxmlformats.org/drawingml/2006/main" noGrp="1"/>
          </p:cNvSpPr>
          <p:nvPr/>
        </p:nvSpPr>
        <p:spPr>
          <a:xfrm xmlns:a="http://schemas.openxmlformats.org/drawingml/2006/main">
            <a:off x="782955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5" name="">
            <a:extLst xmlns:a="http://schemas.openxmlformats.org/drawingml/2006/main">
              <a:ext uri="{FF2B5EF4-FFF2-40B4-BE49-F238E27FC236}">
                <a16:creationId xmlns:a16="http://schemas.microsoft.com/office/drawing/2014/main" id="{3BE94355-FC1B-4B49-B1F3-08FEF86A3E17}"/>
              </a:ext>
            </a:extLst>
          </p:cNvPr>
          <p:cNvSpPr>
            <a:spLocks xmlns:a="http://schemas.openxmlformats.org/drawingml/2006/main" noGrp="1"/>
          </p:cNvSpPr>
          <p:nvPr/>
        </p:nvSpPr>
        <p:spPr>
          <a:xfrm xmlns:a="http://schemas.openxmlformats.org/drawingml/2006/main">
            <a:off x="805815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Draft situation reports</a:t>
            </a:r>
          </a:p>
        </p:txBody>
      </p:sp>
      <p:sp>
        <p:nvSpPr>
          <p:cNvPr id="16" name="">
            <a:extLst xmlns:a="http://schemas.openxmlformats.org/drawingml/2006/main">
              <a:ext uri="{FF2B5EF4-FFF2-40B4-BE49-F238E27FC236}">
                <a16:creationId xmlns:a16="http://schemas.microsoft.com/office/drawing/2014/main" id="{9C48D016-0DFB-437F-9561-DFD4AD4FB19E}"/>
              </a:ext>
            </a:extLst>
          </p:cNvPr>
          <p:cNvSpPr>
            <a:spLocks xmlns:a="http://schemas.openxmlformats.org/drawingml/2006/main" noGrp="1"/>
          </p:cNvSpPr>
          <p:nvPr/>
        </p:nvSpPr>
        <p:spPr>
          <a:xfrm xmlns:a="http://schemas.openxmlformats.org/drawingml/2006/main">
            <a:off x="805815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Create an initial SitRep structure with current status, risks, actions taken, resource needs, and next operational decisions.</a:t>
            </a:r>
          </a:p>
        </p:txBody>
      </p:sp>
      <p:sp>
        <p:nvSpPr>
          <p:cNvPr id="17" name="">
            <a:extLst xmlns:a="http://schemas.openxmlformats.org/drawingml/2006/main">
              <a:ext uri="{FF2B5EF4-FFF2-40B4-BE49-F238E27FC236}">
                <a16:creationId xmlns:a16="http://schemas.microsoft.com/office/drawing/2014/main" id="{D1BD27CA-FD6E-4018-83F2-BABD12628F73}"/>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AI-Supported Public Health Workflows</a:t>
            </a:r>
          </a:p>
        </p:txBody>
      </p:sp>
      <p:sp>
        <p:nvSpPr>
          <p:cNvPr id="18" name="">
            <a:extLst xmlns:a="http://schemas.openxmlformats.org/drawingml/2006/main">
              <a:ext uri="{FF2B5EF4-FFF2-40B4-BE49-F238E27FC236}">
                <a16:creationId xmlns:a16="http://schemas.microsoft.com/office/drawing/2014/main" id="{A18E5A31-38AE-4C6B-9D00-2DC8D6A67DDF}"/>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06</a:t>
            </a:r>
          </a:p>
        </p:txBody>
      </p:sp>
    </p:spTree>
    <p:extLst>
      <p:ext uri="{BB962C8B-B14F-4D97-AF65-F5344CB8AC3E}">
        <p14:creationId xmlns:p14="http://schemas.microsoft.com/office/powerpoint/2010/main" val="1113926486"/>
      </p:ext>
    </p:extLst>
  </p:cSld>
</p:sld>
</file>

<file path=ppt/slides/slide7.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6CC53F6-EF9E-487B-9B6C-EEC30952C7AB}"/>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8948C457-8AD3-4312-851C-249890EB0120}"/>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Facilitated discussion and exercise</a:t>
            </a:r>
          </a:p>
        </p:txBody>
      </p:sp>
      <p:sp>
        <p:nvSpPr>
          <p:cNvPr id="3" name="">
            <a:extLst xmlns:a="http://schemas.openxmlformats.org/drawingml/2006/main">
              <a:ext uri="{FF2B5EF4-FFF2-40B4-BE49-F238E27FC236}">
                <a16:creationId xmlns:a16="http://schemas.microsoft.com/office/drawing/2014/main" id="{004020D1-94BD-44A5-89EC-A810BCB69D3F}"/>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6389B4A6-825A-41D8-B7D3-32ACB21055FC}"/>
              </a:ext>
            </a:extLst>
          </p:cNvPr>
          <p:cNvSpPr>
            <a:spLocks xmlns:a="http://schemas.openxmlformats.org/drawingml/2006/main" noGrp="1"/>
          </p:cNvSpPr>
          <p:nvPr/>
        </p:nvSpPr>
        <p:spPr>
          <a:xfrm xmlns:a="http://schemas.openxmlformats.org/drawingml/2006/main">
            <a:off x="685800"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41E8B131-5B1F-4DE8-B734-1DA194A5C65D}"/>
              </a:ext>
            </a:extLst>
          </p:cNvPr>
          <p:cNvSpPr>
            <a:spLocks xmlns:a="http://schemas.openxmlformats.org/drawingml/2006/main" noGrp="1"/>
          </p:cNvSpPr>
          <p:nvPr/>
        </p:nvSpPr>
        <p:spPr>
          <a:xfrm xmlns:a="http://schemas.openxmlformats.org/drawingml/2006/main">
            <a:off x="685800" y="1809750"/>
            <a:ext cx="66675" cy="2952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0D79B12A-98A6-4475-AEEB-53D976DE801E}"/>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Discussion questions</a:t>
            </a:r>
          </a:p>
        </p:txBody>
      </p:sp>
      <p:sp>
        <p:nvSpPr>
          <p:cNvPr id="7" name="">
            <a:extLst xmlns:a="http://schemas.openxmlformats.org/drawingml/2006/main">
              <a:ext uri="{FF2B5EF4-FFF2-40B4-BE49-F238E27FC236}">
                <a16:creationId xmlns:a16="http://schemas.microsoft.com/office/drawing/2014/main" id="{C4AA3EB5-DDCC-420B-A2A5-99D36AA3983A}"/>
              </a:ext>
            </a:extLst>
          </p:cNvPr>
          <p:cNvSpPr>
            <a:spLocks xmlns:a="http://schemas.openxmlformats.org/drawingml/2006/main" noGrp="1"/>
          </p:cNvSpPr>
          <p:nvPr/>
        </p:nvSpPr>
        <p:spPr>
          <a:xfrm xmlns:a="http://schemas.openxmlformats.org/drawingml/2006/main">
            <a:off x="914400"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What problem in the workflow is AI expected to solve? Where does the workflow require professional judgment, legal authority, or community knowledge? How will staff know whether AI improves timeliness, quality, consistency, equity, or workload?</a:t>
            </a:r>
          </a:p>
        </p:txBody>
      </p:sp>
      <p:sp>
        <p:nvSpPr>
          <p:cNvPr id="8" name="">
            <a:extLst xmlns:a="http://schemas.openxmlformats.org/drawingml/2006/main">
              <a:ext uri="{FF2B5EF4-FFF2-40B4-BE49-F238E27FC236}">
                <a16:creationId xmlns:a16="http://schemas.microsoft.com/office/drawing/2014/main" id="{770E4BEF-944B-41A0-BA85-C4CC9FE7587C}"/>
              </a:ext>
            </a:extLst>
          </p:cNvPr>
          <p:cNvSpPr>
            <a:spLocks xmlns:a="http://schemas.openxmlformats.org/drawingml/2006/main" noGrp="1"/>
          </p:cNvSpPr>
          <p:nvPr/>
        </p:nvSpPr>
        <p:spPr>
          <a:xfrm xmlns:a="http://schemas.openxmlformats.org/drawingml/2006/main">
            <a:off x="5953125"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16F18C18-6848-4ABC-9744-826A6345CEBC}"/>
              </a:ext>
            </a:extLst>
          </p:cNvPr>
          <p:cNvSpPr>
            <a:spLocks xmlns:a="http://schemas.openxmlformats.org/drawingml/2006/main" noGrp="1"/>
          </p:cNvSpPr>
          <p:nvPr/>
        </p:nvSpPr>
        <p:spPr>
          <a:xfrm xmlns:a="http://schemas.openxmlformats.org/drawingml/2006/main">
            <a:off x="5953125" y="1809750"/>
            <a:ext cx="66675" cy="2952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EB49B9C4-198E-4AC5-B9B5-F366CA5CEDA8}"/>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Training exercise</a:t>
            </a:r>
          </a:p>
        </p:txBody>
      </p:sp>
      <p:sp>
        <p:nvSpPr>
          <p:cNvPr id="11" name="">
            <a:extLst xmlns:a="http://schemas.openxmlformats.org/drawingml/2006/main">
              <a:ext uri="{FF2B5EF4-FFF2-40B4-BE49-F238E27FC236}">
                <a16:creationId xmlns:a16="http://schemas.microsoft.com/office/drawing/2014/main" id="{51C79EA6-D79D-4AA6-BC33-06ACB496C1CD}"/>
              </a:ext>
            </a:extLst>
          </p:cNvPr>
          <p:cNvSpPr>
            <a:spLocks xmlns:a="http://schemas.openxmlformats.org/drawingml/2006/main" noGrp="1"/>
          </p:cNvSpPr>
          <p:nvPr/>
        </p:nvSpPr>
        <p:spPr>
          <a:xfrm xmlns:a="http://schemas.openxmlformats.org/drawingml/2006/main">
            <a:off x="6181725"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Choose one workflow and map the trigger, inputs, staff roles, decisions, outputs, handoffs, risks, and performance measures. Identify one AI support point and one step that should remain fully human-controlled.</a:t>
            </a:r>
          </a:p>
        </p:txBody>
      </p:sp>
      <p:sp>
        <p:nvSpPr>
          <p:cNvPr id="12" name="">
            <a:extLst xmlns:a="http://schemas.openxmlformats.org/drawingml/2006/main">
              <a:ext uri="{FF2B5EF4-FFF2-40B4-BE49-F238E27FC236}">
                <a16:creationId xmlns:a16="http://schemas.microsoft.com/office/drawing/2014/main" id="{E64E6AB2-B929-4C18-8D08-D2692BF58D3A}"/>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AI-Supported Public Health Workflows</a:t>
            </a:r>
          </a:p>
        </p:txBody>
      </p:sp>
      <p:sp>
        <p:nvSpPr>
          <p:cNvPr id="13" name="">
            <a:extLst xmlns:a="http://schemas.openxmlformats.org/drawingml/2006/main">
              <a:ext uri="{FF2B5EF4-FFF2-40B4-BE49-F238E27FC236}">
                <a16:creationId xmlns:a16="http://schemas.microsoft.com/office/drawing/2014/main" id="{A246047C-5B74-4577-B7A1-F80E02A88298}"/>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07</a:t>
            </a:r>
          </a:p>
        </p:txBody>
      </p:sp>
    </p:spTree>
    <p:extLst>
      <p:ext uri="{BB962C8B-B14F-4D97-AF65-F5344CB8AC3E}">
        <p14:creationId xmlns:p14="http://schemas.microsoft.com/office/powerpoint/2010/main" val="137433679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483FB24-6B8A-4EA1-99DF-063CEA2DCB32}"/>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1225D2F9-F984-4116-BD85-EA66A0E68829}"/>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Next steps and resources</a:t>
            </a:r>
          </a:p>
        </p:txBody>
      </p:sp>
      <p:sp>
        <p:nvSpPr>
          <p:cNvPr id="3" name="">
            <a:extLst xmlns:a="http://schemas.openxmlformats.org/drawingml/2006/main">
              <a:ext uri="{FF2B5EF4-FFF2-40B4-BE49-F238E27FC236}">
                <a16:creationId xmlns:a16="http://schemas.microsoft.com/office/drawing/2014/main" id="{59801377-148F-4DAF-8D23-302A7A3D1B67}"/>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5C882A5F-FB28-42B4-937E-643241699688}"/>
              </a:ext>
            </a:extLst>
          </p:cNvPr>
          <p:cNvSpPr>
            <a:spLocks xmlns:a="http://schemas.openxmlformats.org/drawingml/2006/main" noGrp="1"/>
          </p:cNvSpPr>
          <p:nvPr/>
        </p:nvSpPr>
        <p:spPr>
          <a:xfrm xmlns:a="http://schemas.openxmlformats.org/drawingml/2006/main">
            <a:off x="685800" y="1809750"/>
            <a:ext cx="4762500" cy="209550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D54B59F7-1BD3-4E60-9E3A-9C6D8C992E89}"/>
              </a:ext>
            </a:extLst>
          </p:cNvPr>
          <p:cNvSpPr>
            <a:spLocks xmlns:a="http://schemas.openxmlformats.org/drawingml/2006/main" noGrp="1"/>
          </p:cNvSpPr>
          <p:nvPr/>
        </p:nvSpPr>
        <p:spPr>
          <a:xfrm xmlns:a="http://schemas.openxmlformats.org/drawingml/2006/main">
            <a:off x="685800" y="1809750"/>
            <a:ext cx="66675" cy="209550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13AF2856-1264-41F8-A132-6FD32D8A85C9}"/>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Apply the lesson</a:t>
            </a:r>
          </a:p>
        </p:txBody>
      </p:sp>
      <p:sp>
        <p:nvSpPr>
          <p:cNvPr id="7" name="">
            <a:extLst xmlns:a="http://schemas.openxmlformats.org/drawingml/2006/main">
              <a:ext uri="{FF2B5EF4-FFF2-40B4-BE49-F238E27FC236}">
                <a16:creationId xmlns:a16="http://schemas.microsoft.com/office/drawing/2014/main" id="{4F172835-4CA6-4884-AC4F-261D09B487B8}"/>
              </a:ext>
            </a:extLst>
          </p:cNvPr>
          <p:cNvSpPr>
            <a:spLocks xmlns:a="http://schemas.openxmlformats.org/drawingml/2006/main" noGrp="1"/>
          </p:cNvSpPr>
          <p:nvPr/>
        </p:nvSpPr>
        <p:spPr>
          <a:xfrm xmlns:a="http://schemas.openxmlformats.org/drawingml/2006/main">
            <a:off x="914400" y="2457450"/>
            <a:ext cx="43053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Use this topic with Plays 7, 10, 11 and Tools 30, 28, 37. Turn the discussion into a documented question, decision, gap, or implementation artifact.</a:t>
            </a:r>
          </a:p>
        </p:txBody>
      </p:sp>
      <p:sp>
        <p:nvSpPr>
          <p:cNvPr id="8" name="">
            <a:extLst xmlns:a="http://schemas.openxmlformats.org/drawingml/2006/main">
              <a:ext uri="{FF2B5EF4-FFF2-40B4-BE49-F238E27FC236}">
                <a16:creationId xmlns:a16="http://schemas.microsoft.com/office/drawing/2014/main" id="{955BC0AE-E28D-4965-8D23-2C2AC4BB7D2B}"/>
              </a:ext>
            </a:extLst>
          </p:cNvPr>
          <p:cNvSpPr>
            <a:spLocks xmlns:a="http://schemas.openxmlformats.org/drawingml/2006/main" noGrp="1"/>
          </p:cNvSpPr>
          <p:nvPr/>
        </p:nvSpPr>
        <p:spPr>
          <a:xfrm xmlns:a="http://schemas.openxmlformats.org/drawingml/2006/main">
            <a:off x="5953125" y="1809750"/>
            <a:ext cx="4762500" cy="3048000"/>
          </a:xfrm>
          <a:prstGeom xmlns:a="http://schemas.openxmlformats.org/drawingml/2006/main" prst="roundRect">
            <a:avLst>
              <a:gd name="adj" fmla="val 3750"/>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E3F3EA37-9F71-47F2-BD24-8CA959AB090D}"/>
              </a:ext>
            </a:extLst>
          </p:cNvPr>
          <p:cNvSpPr>
            <a:spLocks xmlns:a="http://schemas.openxmlformats.org/drawingml/2006/main" noGrp="1"/>
          </p:cNvSpPr>
          <p:nvPr/>
        </p:nvSpPr>
        <p:spPr>
          <a:xfrm xmlns:a="http://schemas.openxmlformats.org/drawingml/2006/main">
            <a:off x="5953125" y="1809750"/>
            <a:ext cx="66675" cy="304800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0" name="">
            <a:extLst xmlns:a="http://schemas.openxmlformats.org/drawingml/2006/main">
              <a:ext uri="{FF2B5EF4-FFF2-40B4-BE49-F238E27FC236}">
                <a16:creationId xmlns:a16="http://schemas.microsoft.com/office/drawing/2014/main" id="{51A175EB-F169-4DAB-8494-3743ADAAE4D7}"/>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References and resources</a:t>
            </a:r>
          </a:p>
        </p:txBody>
      </p:sp>
      <p:sp>
        <p:nvSpPr>
          <p:cNvPr id="11" name="">
            <a:extLst xmlns:a="http://schemas.openxmlformats.org/drawingml/2006/main">
              <a:ext uri="{FF2B5EF4-FFF2-40B4-BE49-F238E27FC236}">
                <a16:creationId xmlns:a16="http://schemas.microsoft.com/office/drawing/2014/main" id="{F3A9260F-31F7-4091-B53C-E4767DB2A44A}"/>
              </a:ext>
            </a:extLst>
          </p:cNvPr>
          <p:cNvSpPr>
            <a:spLocks xmlns:a="http://schemas.openxmlformats.org/drawingml/2006/main" noGrp="1"/>
          </p:cNvSpPr>
          <p:nvPr/>
        </p:nvSpPr>
        <p:spPr>
          <a:xfrm xmlns:a="http://schemas.openxmlformats.org/drawingml/2006/main">
            <a:off x="6181725" y="2457450"/>
            <a:ext cx="4305300" cy="2247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CDC Data Modernization Initiative: Context for modern public health data flows and AI-ready infrastructure. CDC STLT Data Connection: Peer-learning resource for public health data modernization and workflow improvement. NIST AI Risk Management.</a:t>
            </a:r>
          </a:p>
        </p:txBody>
      </p:sp>
      <p:sp>
        <p:nvSpPr>
          <p:cNvPr id="12" name="">
            <a:extLst xmlns:a="http://schemas.openxmlformats.org/drawingml/2006/main">
              <a:ext uri="{FF2B5EF4-FFF2-40B4-BE49-F238E27FC236}">
                <a16:creationId xmlns:a16="http://schemas.microsoft.com/office/drawing/2014/main" id="{BDC7EE40-A778-489F-8037-CD3589CFB8E7}"/>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AI-Supported Public Health Workflows</a:t>
            </a:r>
          </a:p>
        </p:txBody>
      </p:sp>
      <p:sp>
        <p:nvSpPr>
          <p:cNvPr id="13" name="">
            <a:extLst xmlns:a="http://schemas.openxmlformats.org/drawingml/2006/main">
              <a:ext uri="{FF2B5EF4-FFF2-40B4-BE49-F238E27FC236}">
                <a16:creationId xmlns:a16="http://schemas.microsoft.com/office/drawing/2014/main" id="{B58B0877-6553-4BC3-8306-A9509F534226}"/>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08</a:t>
            </a:r>
          </a:p>
        </p:txBody>
      </p:sp>
    </p:spTree>
    <p:extLst>
      <p:ext uri="{BB962C8B-B14F-4D97-AF65-F5344CB8AC3E}">
        <p14:creationId xmlns:p14="http://schemas.microsoft.com/office/powerpoint/2010/main" val="3620016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2026-07-02T16:02:59.5060000Z</dcterms:created>
  <dcterms:modified xsi:type="dcterms:W3CDTF">2026-07-02T16:02:59.5060000Z</dcterms:modified>
</coreProperties>
</file>