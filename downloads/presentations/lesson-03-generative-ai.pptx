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5fe32e6f4854654" /><Relationship Type="http://schemas.openxmlformats.org/officeDocument/2006/relationships/extended-properties" Target="/docProps/app.xml" Id="R370d11e77e024ce6" /><Relationship Type="http://schemas.openxmlformats.org/officeDocument/2006/relationships/officeDocument" Target="/ppt/presentation.xml" Id="R1849a81d6345458a" /></Relationships>
</file>

<file path=ppt/presentation.xml><?xml version="1.0" encoding="utf-8"?>
<p:presentation xmlns:p="http://schemas.openxmlformats.org/presentationml/2006/main">
  <p:sldMasterIdLst>
    <p:sldMasterId xmlns:r="http://schemas.openxmlformats.org/officeDocument/2006/relationships" id="2147483648" r:id="R212df5564d0f442b"/>
  </p:sldMasterIdLst>
  <p:notesMasterIdLst>
    <p:notesMasterId xmlns:r="http://schemas.openxmlformats.org/officeDocument/2006/relationships" r:id="Rc76615021e994ab4"/>
  </p:notesMasterIdLst>
  <p:sldIdLst>
    <p:sldId xmlns:r="http://schemas.openxmlformats.org/officeDocument/2006/relationships" id="256" r:id="R6ad17402e93547bd"/>
    <p:sldId xmlns:r="http://schemas.openxmlformats.org/officeDocument/2006/relationships" id="257" r:id="R2270f68da47b48ac"/>
    <p:sldId xmlns:r="http://schemas.openxmlformats.org/officeDocument/2006/relationships" id="258" r:id="R8e6f14a0c9b34b6f"/>
    <p:sldId xmlns:r="http://schemas.openxmlformats.org/officeDocument/2006/relationships" id="259" r:id="R52643f8ad4fb4e60"/>
    <p:sldId xmlns:r="http://schemas.openxmlformats.org/officeDocument/2006/relationships" id="260" r:id="R076d550f172f4300"/>
    <p:sldId xmlns:r="http://schemas.openxmlformats.org/officeDocument/2006/relationships" id="261" r:id="Rbb09ee4242084b32"/>
    <p:sldId xmlns:r="http://schemas.openxmlformats.org/officeDocument/2006/relationships" id="262" r:id="Re40c62544a1e4437"/>
    <p:sldId xmlns:r="http://schemas.openxmlformats.org/officeDocument/2006/relationships" id="263" r:id="R15d33681fe4146b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3c48219f3d481f" /><Relationship Type="http://schemas.openxmlformats.org/officeDocument/2006/relationships/slideMaster" Target="/ppt/slideMasters/slideMaster1.xml" Id="R212df5564d0f442b" /><Relationship Type="http://schemas.openxmlformats.org/officeDocument/2006/relationships/notesMaster" Target="/ppt/notesMasters/notesMaster1.xml" Id="Rc76615021e994ab4" /><Relationship Type="http://schemas.openxmlformats.org/officeDocument/2006/relationships/presProps" Target="/ppt/presProps.xml" Id="R65c2a0ae51e74f67" /><Relationship Type="http://schemas.openxmlformats.org/officeDocument/2006/relationships/tableStyles" Target="/ppt/tableStyles.xml" Id="R9a37a918186a412f" /><Relationship Type="http://schemas.openxmlformats.org/officeDocument/2006/relationships/slide" Target="/ppt/slides/slide1.xml" Id="R6ad17402e93547bd" /><Relationship Type="http://schemas.openxmlformats.org/officeDocument/2006/relationships/slide" Target="/ppt/slides/slide2.xml" Id="R2270f68da47b48ac" /><Relationship Type="http://schemas.openxmlformats.org/officeDocument/2006/relationships/slide" Target="/ppt/slides/slide3.xml" Id="R8e6f14a0c9b34b6f" /><Relationship Type="http://schemas.openxmlformats.org/officeDocument/2006/relationships/slide" Target="/ppt/slides/slide4.xml" Id="R52643f8ad4fb4e60" /><Relationship Type="http://schemas.openxmlformats.org/officeDocument/2006/relationships/slide" Target="/ppt/slides/slide5.xml" Id="R076d550f172f4300" /><Relationship Type="http://schemas.openxmlformats.org/officeDocument/2006/relationships/slide" Target="/ppt/slides/slide6.xml" Id="Rbb09ee4242084b32" /><Relationship Type="http://schemas.openxmlformats.org/officeDocument/2006/relationships/slide" Target="/ppt/slides/slide7.xml" Id="Re40c62544a1e4437" /><Relationship Type="http://schemas.openxmlformats.org/officeDocument/2006/relationships/slide" Target="/ppt/slides/slide8.xml" Id="R15d33681fe4146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907324de1340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d921a550a44585" /><Relationship Type="http://schemas.openxmlformats.org/officeDocument/2006/relationships/notesMaster" Target="/ppt/notesMasters/notesMaster1.xml" Id="Rddda5b9fa64741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9f39e8f71d43ef" /><Relationship Type="http://schemas.openxmlformats.org/officeDocument/2006/relationships/notesMaster" Target="/ppt/notesMasters/notesMaster1.xml" Id="Rd848f47f65d948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cff4ee2f2641d7" /><Relationship Type="http://schemas.openxmlformats.org/officeDocument/2006/relationships/notesMaster" Target="/ppt/notesMasters/notesMaster1.xml" Id="Raa9b077e617b41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e14df695644c73" /><Relationship Type="http://schemas.openxmlformats.org/officeDocument/2006/relationships/notesMaster" Target="/ppt/notesMasters/notesMaster1.xml" Id="Rf43fac2ab46747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fd6cacd3334f83" /><Relationship Type="http://schemas.openxmlformats.org/officeDocument/2006/relationships/notesMaster" Target="/ppt/notesMasters/notesMaster1.xml" Id="R223bbe763f4b47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4a97226fd84efa" /><Relationship Type="http://schemas.openxmlformats.org/officeDocument/2006/relationships/notesMaster" Target="/ppt/notesMasters/notesMaster1.xml" Id="R9f2f587c265442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d0ce1212e74a91" /><Relationship Type="http://schemas.openxmlformats.org/officeDocument/2006/relationships/notesMaster" Target="/ppt/notesMasters/notesMaster1.xml" Id="R474d4da2fa6b4fa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63f23dfc4f4568" /><Relationship Type="http://schemas.openxmlformats.org/officeDocument/2006/relationships/notesMaster" Target="/ppt/notesMasters/notesMaster1.xml" Id="Rb7e902b22c984e0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Generative AI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Generative AI produces new text, images, code, summaries, or synthetic data from prompts and examples.</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3, 11 and Tools 2, 14, 36.</a:t>
            </a:r>
          </a:p>
          <a:p xmlns:a="http://schemas.openxmlformats.org/drawingml/2006/main">
            <a:r>
              <a:t>Emphasize the core guardrail: Outputs can sound plausible while being wrong. Consequential outputs need subject matter review.</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3, 11 and Tools 2, 14, 36.</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3, 11 and Tools 2, 14, 36.</a:t>
            </a:r>
          </a:p>
          <a:p xmlns:a="http://schemas.openxmlformats.org/drawingml/2006/main">
            <a:r>
              <a:t>Reinforce this definition: Definition: Generative AI refers to systems trained on large bodies of existing data that can produce new content, including text, images, code, summaries, and synthetic datasets, when prompted by a user.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3, 11 and Tools 2, 14, 36.</a:t>
            </a:r>
          </a:p>
          <a:p xmlns:a="http://schemas.openxmlformats.org/drawingml/2006/main">
            <a:r>
              <a:t>Invite participants to identify where these practices would need to be documented in their own department.</a:t>
            </a:r>
          </a:p>
          <a:p xmlns:a="http://schemas.openxmlformats.org/drawingml/2006/main">
            <a:r>
              <a:t>Start with High-Value Uses,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3, 11 and Tools 2, 14, 36.</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3, 11 and Tools 2, 14, 36.</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Generative AI acceptable-use rules, Human review checklist for AI-assisted drafts, Approved-source guidance for RAG or document-grounded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Generative AI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3, 11 and Tools 2, 14, 36.</a:t>
            </a:r>
          </a:p>
          <a:p xmlns:a="http://schemas.openxmlformats.org/drawingml/2006/main">
            <a:r>
              <a:t>Point participants to the first resource: WHO: Regulatory considerations on artificial intelligence for health.</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ef817da8654d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5a7bc94f144bdc" /><Relationship Type="http://schemas.openxmlformats.org/officeDocument/2006/relationships/slideLayout" Target="/ppt/slideLayouts/slideLayout1.xml" Id="Rfacac8c32f0344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cac8c32f0344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8256a7aa8f4274" /><Relationship Type="http://schemas.openxmlformats.org/officeDocument/2006/relationships/image" Target="/ppt/media/image.png" Id="Rf1616d59ae9f4611" /><Relationship Type="http://schemas.openxmlformats.org/officeDocument/2006/relationships/notesSlide" Target="/ppt/notesSlides/notesSlide1.xml" Id="R9f4ae1efffc248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a575d2f7c7c4742" /><Relationship Type="http://schemas.openxmlformats.org/officeDocument/2006/relationships/notesSlide" Target="/ppt/notesSlides/notesSlide2.xml" Id="R9bfe41ebb39f45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f0eaf8aeb94a53" /><Relationship Type="http://schemas.openxmlformats.org/officeDocument/2006/relationships/notesSlide" Target="/ppt/notesSlides/notesSlide3.xml" Id="R2f51e9123df54c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a120a9e37c482d" /><Relationship Type="http://schemas.openxmlformats.org/officeDocument/2006/relationships/notesSlide" Target="/ppt/notesSlides/notesSlide4.xml" Id="Rd8a1ab1153cd47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3c3d15a1d74f5d" /><Relationship Type="http://schemas.openxmlformats.org/officeDocument/2006/relationships/notesSlide" Target="/ppt/notesSlides/notesSlide5.xml" Id="R695cac45811049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3535ccc2ba94f2e" /><Relationship Type="http://schemas.openxmlformats.org/officeDocument/2006/relationships/notesSlide" Target="/ppt/notesSlides/notesSlide6.xml" Id="Rf1ded5f15f6341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9d5d7626864deb" /><Relationship Type="http://schemas.openxmlformats.org/officeDocument/2006/relationships/notesSlide" Target="/ppt/notesSlides/notesSlide7.xml" Id="R668671dfd83c41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e306f4b0844a7b" /><Relationship Type="http://schemas.openxmlformats.org/officeDocument/2006/relationships/notesSlide" Target="/ppt/notesSlides/notesSlide8.xml" Id="R1a9f2ae14cf841b0"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1616d59ae9f4611"/>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82B7E21-7ACD-4EEC-95AA-88DEBB4DEDF3}"/>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3</a:t>
            </a:r>
          </a:p>
        </p:txBody>
      </p:sp>
      <p:sp>
        <p:nvSpPr>
          <p:cNvPr id="3" name="">
            <a:extLst xmlns:a="http://schemas.openxmlformats.org/drawingml/2006/main">
              <a:ext uri="{FF2B5EF4-FFF2-40B4-BE49-F238E27FC236}">
                <a16:creationId xmlns:a16="http://schemas.microsoft.com/office/drawing/2014/main" id="{F6EB826A-6C9C-4484-819D-0CBA5098197E}"/>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Generative AI</a:t>
            </a:r>
          </a:p>
        </p:txBody>
      </p:sp>
      <p:sp>
        <p:nvSpPr>
          <p:cNvPr id="4" name="">
            <a:extLst xmlns:a="http://schemas.openxmlformats.org/drawingml/2006/main">
              <a:ext uri="{FF2B5EF4-FFF2-40B4-BE49-F238E27FC236}">
                <a16:creationId xmlns:a16="http://schemas.microsoft.com/office/drawing/2014/main" id="{FCBCB2DB-586D-49E9-9C49-7CC2AE416780}"/>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38F7EE4F-CA14-4345-8FA3-82B4FA6958A4}"/>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C2AC6D29-6A99-4804-A97F-EC74707286F2}"/>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7114679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A5B2389-F806-4B7E-877A-CA15F6990C7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2F9F0C7-2685-468A-B227-D6D96AD217E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5F215518-6DB9-4501-9ADA-87386861C86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E8CBEC8-1581-4EC1-B13D-49721DEAF093}"/>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Generative AI produces new text, images, code, summaries, or synthetic data from prompts and examples.</a:t>
            </a:r>
          </a:p>
        </p:txBody>
      </p:sp>
      <p:sp>
        <p:nvSpPr>
          <p:cNvPr id="5" name="">
            <a:extLst xmlns:a="http://schemas.openxmlformats.org/drawingml/2006/main">
              <a:ext uri="{FF2B5EF4-FFF2-40B4-BE49-F238E27FC236}">
                <a16:creationId xmlns:a16="http://schemas.microsoft.com/office/drawing/2014/main" id="{D3B89062-429C-48DA-BC10-BF00588DF874}"/>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A4B90A6-83FE-40C9-BBFA-266A9A36BFE1}"/>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8F86B737-F15A-45B7-9F41-192EA99B9003}"/>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C1B045BB-7EE0-45F8-86C4-859FE22ECA92}"/>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Generative AI can improve staff efficiency, but it can also produce fluent misinformation, incomplete summaries, biased language, or unsupported recommendations. Public health departments need practical rules for when generative AI can draft,.</a:t>
            </a:r>
          </a:p>
        </p:txBody>
      </p:sp>
      <p:sp>
        <p:nvSpPr>
          <p:cNvPr id="9" name="">
            <a:extLst xmlns:a="http://schemas.openxmlformats.org/drawingml/2006/main">
              <a:ext uri="{FF2B5EF4-FFF2-40B4-BE49-F238E27FC236}">
                <a16:creationId xmlns:a16="http://schemas.microsoft.com/office/drawing/2014/main" id="{6550ACE7-A823-41F2-B4BF-A9388C627622}"/>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D27FDF6B-91FE-4565-AF19-BC8003B3F6FF}"/>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A9A66AE8-6B27-4D5C-AF61-72F093EE13F8}"/>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DE04E874-AB17-4B6F-BBA3-95053BCF6C97}"/>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Outputs can sound plausible while being wrong. Consequential outputs need subject matter review.</a:t>
            </a:r>
          </a:p>
        </p:txBody>
      </p:sp>
      <p:sp>
        <p:nvSpPr>
          <p:cNvPr id="13" name="">
            <a:extLst xmlns:a="http://schemas.openxmlformats.org/drawingml/2006/main">
              <a:ext uri="{FF2B5EF4-FFF2-40B4-BE49-F238E27FC236}">
                <a16:creationId xmlns:a16="http://schemas.microsoft.com/office/drawing/2014/main" id="{DF18E7DF-A083-4399-AF14-70A5F410A98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14" name="">
            <a:extLst xmlns:a="http://schemas.openxmlformats.org/drawingml/2006/main">
              <a:ext uri="{FF2B5EF4-FFF2-40B4-BE49-F238E27FC236}">
                <a16:creationId xmlns:a16="http://schemas.microsoft.com/office/drawing/2014/main" id="{906CC2D3-E340-49E5-B7B1-A071B93EE67E}"/>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373954576"/>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32D0BC-99C6-4A2B-A220-CB31F836653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24A90B3-D3BE-4B1D-BEC7-29F11B513CC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1C9F2E66-291B-436D-A99E-879C572EC70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A360764-7C73-43FB-9E10-53E7C26E8887}"/>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C8AF5518-6BBA-4E58-AE77-CE43EFE806E5}"/>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Generative AI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87087051-E679-4796-AB6B-FB5991579E2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7" name="">
            <a:extLst xmlns:a="http://schemas.openxmlformats.org/drawingml/2006/main">
              <a:ext uri="{FF2B5EF4-FFF2-40B4-BE49-F238E27FC236}">
                <a16:creationId xmlns:a16="http://schemas.microsoft.com/office/drawing/2014/main" id="{E0D65C62-F418-4540-A3D3-802F5535555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4991552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2D2620A-1432-49F4-A4BB-93F53EAA855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11807B9B-A99B-4E6E-8F9F-FF275E9750A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E716FA65-8FB2-4FBA-9FBE-816BC79E138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814FFF9-9B77-442D-803A-BB84905E35C4}"/>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Generative AI is most useful when public health work requires drafting, summarizing, translating, organizing, or explaining information. It can reduce the time required to create first drafts, compare documents, prepare meeting materials, or convert technical findings into plain language. It should not be used as an unchecked authority on scientific evidence, law, policy, clinical guidance, or public communication.</a:t>
            </a:r>
          </a:p>
        </p:txBody>
      </p:sp>
      <p:sp>
        <p:nvSpPr>
          <p:cNvPr id="5" name="">
            <a:extLst xmlns:a="http://schemas.openxmlformats.org/drawingml/2006/main">
              <a:ext uri="{FF2B5EF4-FFF2-40B4-BE49-F238E27FC236}">
                <a16:creationId xmlns:a16="http://schemas.microsoft.com/office/drawing/2014/main" id="{0D9C7656-A90D-4323-81E7-FBAFF2750039}"/>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9D886C1-5FB1-4550-AF4B-52580AAF97D6}"/>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CB3AD781-A095-4B4D-AD14-04E6FC0B2841}"/>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7EEAF7A3-950D-4B45-96EB-08EF1FBE6B6A}"/>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Definition: Generative AI refers to systems trained on large bodies of existing data that can produce new content, including text, images, code, summaries, and synthetic datasets, when prompted by a user.</a:t>
            </a:r>
          </a:p>
        </p:txBody>
      </p:sp>
      <p:sp>
        <p:nvSpPr>
          <p:cNvPr id="9" name="">
            <a:extLst xmlns:a="http://schemas.openxmlformats.org/drawingml/2006/main">
              <a:ext uri="{FF2B5EF4-FFF2-40B4-BE49-F238E27FC236}">
                <a16:creationId xmlns:a16="http://schemas.microsoft.com/office/drawing/2014/main" id="{792137E8-508F-4832-9FCE-E3B1BF8D930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10" name="">
            <a:extLst xmlns:a="http://schemas.openxmlformats.org/drawingml/2006/main">
              <a:ext uri="{FF2B5EF4-FFF2-40B4-BE49-F238E27FC236}">
                <a16:creationId xmlns:a16="http://schemas.microsoft.com/office/drawing/2014/main" id="{8DAF60C1-AF3E-4E41-9C44-A8D7D57CBB7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620369871"/>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AA6632-0C39-4627-B741-ED85AE1F263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51D8C860-589C-4ECA-9C28-4A13F4519E7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E8C24F3A-37CF-4542-A6B0-734AB13DCEB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076F7C1-B5E8-4D75-B243-B739851EAE57}"/>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8C6FCEB6-0CDD-4B32-A168-F0BB87612DA5}"/>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177AEAFF-B585-4C4F-AC2A-C057DC5152E7}"/>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High-Value Uses</a:t>
            </a:r>
          </a:p>
        </p:txBody>
      </p:sp>
      <p:sp>
        <p:nvSpPr>
          <p:cNvPr id="7" name="">
            <a:extLst xmlns:a="http://schemas.openxmlformats.org/drawingml/2006/main">
              <a:ext uri="{FF2B5EF4-FFF2-40B4-BE49-F238E27FC236}">
                <a16:creationId xmlns:a16="http://schemas.microsoft.com/office/drawing/2014/main" id="{DF2458BF-E05A-46AB-92FB-112F39E942C4}"/>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Draft public health education materials that staff revise for accuracy, tone, literacy level, and cultural context. Summarize long guidance documents, inspection notes, surveillance updates, grant requirements, or policy changes for internal.</a:t>
            </a:r>
          </a:p>
        </p:txBody>
      </p:sp>
      <p:sp>
        <p:nvSpPr>
          <p:cNvPr id="8" name="">
            <a:extLst xmlns:a="http://schemas.openxmlformats.org/drawingml/2006/main">
              <a:ext uri="{FF2B5EF4-FFF2-40B4-BE49-F238E27FC236}">
                <a16:creationId xmlns:a16="http://schemas.microsoft.com/office/drawing/2014/main" id="{00D62437-9383-4AFA-B5DC-6D54EC82FE05}"/>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B521D79-AAFE-4313-9F83-07A6B8FBCA60}"/>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CCE80106-F124-47E6-871C-7E5F38CD7AF8}"/>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Quality Controls</a:t>
            </a:r>
          </a:p>
        </p:txBody>
      </p:sp>
      <p:sp>
        <p:nvSpPr>
          <p:cNvPr id="11" name="">
            <a:extLst xmlns:a="http://schemas.openxmlformats.org/drawingml/2006/main">
              <a:ext uri="{FF2B5EF4-FFF2-40B4-BE49-F238E27FC236}">
                <a16:creationId xmlns:a16="http://schemas.microsoft.com/office/drawing/2014/main" id="{C53C23A0-E16C-45CA-93FC-A3C5FDCA9DF8}"/>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Require staff review for factual accuracy, citations, public health recommendations, legal requirements, and equity implications. Use approved source materials or retrieval-augmented generation when the output must reflect specific agency.</a:t>
            </a:r>
          </a:p>
        </p:txBody>
      </p:sp>
      <p:sp>
        <p:nvSpPr>
          <p:cNvPr id="12" name="">
            <a:extLst xmlns:a="http://schemas.openxmlformats.org/drawingml/2006/main">
              <a:ext uri="{FF2B5EF4-FFF2-40B4-BE49-F238E27FC236}">
                <a16:creationId xmlns:a16="http://schemas.microsoft.com/office/drawing/2014/main" id="{27E5293B-A002-4DE8-A7AD-32D954E490EE}"/>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3FB75B82-D4A1-4C43-8434-8EA4DCECBDB2}"/>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BC398F1B-C256-4983-9FC8-233CEE528B9F}"/>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When Not to Use It</a:t>
            </a:r>
          </a:p>
        </p:txBody>
      </p:sp>
      <p:sp>
        <p:nvSpPr>
          <p:cNvPr id="15" name="">
            <a:extLst xmlns:a="http://schemas.openxmlformats.org/drawingml/2006/main">
              <a:ext uri="{FF2B5EF4-FFF2-40B4-BE49-F238E27FC236}">
                <a16:creationId xmlns:a16="http://schemas.microsoft.com/office/drawing/2014/main" id="{C245C092-E555-4AE8-BA8B-9AB76E230A53}"/>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Do not use generative AI to make final eligibility, enforcement, clinical, outbreak response, or public warning decisions. Do not rely on unsourced outputs for legal interpretation, epidemiologic conclusions, or scientific claims. Do not.</a:t>
            </a:r>
          </a:p>
        </p:txBody>
      </p:sp>
      <p:sp>
        <p:nvSpPr>
          <p:cNvPr id="16" name="">
            <a:extLst xmlns:a="http://schemas.openxmlformats.org/drawingml/2006/main">
              <a:ext uri="{FF2B5EF4-FFF2-40B4-BE49-F238E27FC236}">
                <a16:creationId xmlns:a16="http://schemas.microsoft.com/office/drawing/2014/main" id="{8B080A51-4877-4C65-9675-0D771D3134B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17" name="">
            <a:extLst xmlns:a="http://schemas.openxmlformats.org/drawingml/2006/main">
              <a:ext uri="{FF2B5EF4-FFF2-40B4-BE49-F238E27FC236}">
                <a16:creationId xmlns:a16="http://schemas.microsoft.com/office/drawing/2014/main" id="{9ECB1951-1418-4B48-BD21-50F5E680A76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8800612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D6F78B-1D4D-43EA-9CCC-202C75DA1503}"/>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74B02F1-1DDA-45DA-810F-BF010378920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B7CF7B3D-70DE-47CF-A7BD-F2B6ED828DF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E845EBC-D6AA-4862-81E1-1E805BA3751B}"/>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2F4BE4FA-715E-40D3-9E60-415418260E4D}"/>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3C5A7A4-86F4-4B0A-9F2D-D6D5EC37FFAA}"/>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043F256A-AFB4-464F-BEFD-2B4634F0CD36}"/>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Draft health education materials</a:t>
            </a:r>
          </a:p>
        </p:txBody>
      </p:sp>
      <p:sp>
        <p:nvSpPr>
          <p:cNvPr id="8" name="">
            <a:extLst xmlns:a="http://schemas.openxmlformats.org/drawingml/2006/main">
              <a:ext uri="{FF2B5EF4-FFF2-40B4-BE49-F238E27FC236}">
                <a16:creationId xmlns:a16="http://schemas.microsoft.com/office/drawing/2014/main" id="{054AD3DD-F4B3-403F-8259-F894814C52E0}"/>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Create draft messages, FAQs, or outreach language that staff can adapt for literacy level, cultural context, accessibility, and approved public health guidance.</a:t>
            </a:r>
          </a:p>
        </p:txBody>
      </p:sp>
      <p:sp>
        <p:nvSpPr>
          <p:cNvPr id="9" name="">
            <a:extLst xmlns:a="http://schemas.openxmlformats.org/drawingml/2006/main">
              <a:ext uri="{FF2B5EF4-FFF2-40B4-BE49-F238E27FC236}">
                <a16:creationId xmlns:a16="http://schemas.microsoft.com/office/drawing/2014/main" id="{779341C7-AFAD-44E0-9DF9-71D8AA6406A5}"/>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866397F-93AE-4D90-B6DB-1B3C10E84C88}"/>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3B09A007-8AA4-47A2-8CCB-A8A43D9F4403}"/>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Create first drafts of grant narratives</a:t>
            </a:r>
          </a:p>
        </p:txBody>
      </p:sp>
      <p:sp>
        <p:nvSpPr>
          <p:cNvPr id="12" name="">
            <a:extLst xmlns:a="http://schemas.openxmlformats.org/drawingml/2006/main">
              <a:ext uri="{FF2B5EF4-FFF2-40B4-BE49-F238E27FC236}">
                <a16:creationId xmlns:a16="http://schemas.microsoft.com/office/drawing/2014/main" id="{E1E65A65-43AE-4544-A71B-B5B4C164D099}"/>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Help teams turn project goals, workplans, staffing needs, and evaluation measures into a structured draft for human editing and grant compliance review.</a:t>
            </a:r>
          </a:p>
        </p:txBody>
      </p:sp>
      <p:sp>
        <p:nvSpPr>
          <p:cNvPr id="13" name="">
            <a:extLst xmlns:a="http://schemas.openxmlformats.org/drawingml/2006/main">
              <a:ext uri="{FF2B5EF4-FFF2-40B4-BE49-F238E27FC236}">
                <a16:creationId xmlns:a16="http://schemas.microsoft.com/office/drawing/2014/main" id="{84A9238D-44F5-4791-AE90-70A0D4E1B694}"/>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6F3F9CB-B7AD-4B6B-9DA1-C87EC66FB43C}"/>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AC6A9504-8063-4CD3-BC03-E904AE69D44B}"/>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Summarize policy documents with human review</a:t>
            </a:r>
          </a:p>
        </p:txBody>
      </p:sp>
      <p:sp>
        <p:nvSpPr>
          <p:cNvPr id="16" name="">
            <a:extLst xmlns:a="http://schemas.openxmlformats.org/drawingml/2006/main">
              <a:ext uri="{FF2B5EF4-FFF2-40B4-BE49-F238E27FC236}">
                <a16:creationId xmlns:a16="http://schemas.microsoft.com/office/drawing/2014/main" id="{3CAC48F9-F05C-4EE1-93E9-1ED697A94E4F}"/>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Extract key requirements, implementation deadlines, affected programs, and decision points from long guidance documents for legal or policy review.</a:t>
            </a:r>
          </a:p>
        </p:txBody>
      </p:sp>
      <p:sp>
        <p:nvSpPr>
          <p:cNvPr id="17" name="">
            <a:extLst xmlns:a="http://schemas.openxmlformats.org/drawingml/2006/main">
              <a:ext uri="{FF2B5EF4-FFF2-40B4-BE49-F238E27FC236}">
                <a16:creationId xmlns:a16="http://schemas.microsoft.com/office/drawing/2014/main" id="{3B5CB6A4-5969-4F32-9133-CC5844A2A82C}"/>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18" name="">
            <a:extLst xmlns:a="http://schemas.openxmlformats.org/drawingml/2006/main">
              <a:ext uri="{FF2B5EF4-FFF2-40B4-BE49-F238E27FC236}">
                <a16:creationId xmlns:a16="http://schemas.microsoft.com/office/drawing/2014/main" id="{B6B600D2-CBB6-4123-8443-A2DADB9B555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568322538"/>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9913DB-F534-4D63-A0F0-5006B35E524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97EE83F-3553-4A79-A787-34E9AEBA15C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14D26BDD-801E-4F69-819C-FF3D5C5F0A2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D27EE54-24FD-44F1-A591-FD67CFF066CE}"/>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86856809-E7E3-494B-94D7-2E82E0DE9CBE}"/>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E3CFA837-E5EE-4F64-91C2-3FF165A61667}"/>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E1E3892E-243A-4737-BA0F-FA58FF961815}"/>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materials may be drafted with generative AI and which require approved templates or source documents? What human review is required before AI-assisted content is shared with the public, partners, or leadership? What data are prohibited.</a:t>
            </a:r>
          </a:p>
        </p:txBody>
      </p:sp>
      <p:sp>
        <p:nvSpPr>
          <p:cNvPr id="8" name="">
            <a:extLst xmlns:a="http://schemas.openxmlformats.org/drawingml/2006/main">
              <a:ext uri="{FF2B5EF4-FFF2-40B4-BE49-F238E27FC236}">
                <a16:creationId xmlns:a16="http://schemas.microsoft.com/office/drawing/2014/main" id="{4A351670-35B2-46A4-B76D-25469F56D96B}"/>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C34F1DBD-BC8F-4C77-9FC9-7DEDA284041C}"/>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2B419BD9-5B38-457A-B149-FABE3CE78AB7}"/>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466B9E84-92F7-4E96-88E0-E2B8F4EB9DD2}"/>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Take a public health education message, a policy memo, and an internal meeting summary. Define what generative AI could help draft, what source material it would need, and what review steps would be required before use.</a:t>
            </a:r>
          </a:p>
        </p:txBody>
      </p:sp>
      <p:sp>
        <p:nvSpPr>
          <p:cNvPr id="12" name="">
            <a:extLst xmlns:a="http://schemas.openxmlformats.org/drawingml/2006/main">
              <a:ext uri="{FF2B5EF4-FFF2-40B4-BE49-F238E27FC236}">
                <a16:creationId xmlns:a16="http://schemas.microsoft.com/office/drawing/2014/main" id="{34FFE268-8199-4CFA-9463-A7BC4B5F60C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13" name="">
            <a:extLst xmlns:a="http://schemas.openxmlformats.org/drawingml/2006/main">
              <a:ext uri="{FF2B5EF4-FFF2-40B4-BE49-F238E27FC236}">
                <a16:creationId xmlns:a16="http://schemas.microsoft.com/office/drawing/2014/main" id="{93DC9EBD-2369-4844-9D38-072547A8461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2805458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84C88E-ABCA-4E4B-B3B8-4FEB6B84BC52}"/>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5FAA26E-33A7-4451-9B72-5996A201039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7026AB27-C198-4F90-A22F-27A9FBD042E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1A79F6D1-6E8F-44F3-93CD-4CDF37DAADEF}"/>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DF23FC39-4F71-4A64-B0C8-CC54391C07A5}"/>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FA2692E0-12C8-4DA2-94A9-D47606C91A9C}"/>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6A3B0810-8803-4E15-BB2E-0C60DD02C6B4}"/>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3, 11 and Tools 2, 14, 36.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87B7CC93-7EAB-415D-9D95-59B3689F3782}"/>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C04D4B25-C5A3-4C75-AF37-FB467F9F7559}"/>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7F07F4AB-ED93-46BD-AA25-0ACFACA13BCD}"/>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317B72C0-34FA-4515-81C5-9E27F3A5B0EE}"/>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WHO: Regulatory considerations on artificial intelligence for health: Health-focused regulatory considerations for AI systems. NIST Generative AI Profile: Risk management profile for generative AI systems. ASPPH AI Framework Report: Guidance.</a:t>
            </a:r>
          </a:p>
        </p:txBody>
      </p:sp>
      <p:sp>
        <p:nvSpPr>
          <p:cNvPr id="12" name="">
            <a:extLst xmlns:a="http://schemas.openxmlformats.org/drawingml/2006/main">
              <a:ext uri="{FF2B5EF4-FFF2-40B4-BE49-F238E27FC236}">
                <a16:creationId xmlns:a16="http://schemas.microsoft.com/office/drawing/2014/main" id="{BE483DB3-BB56-42FC-876D-0EE543F02F9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Generative AI</a:t>
            </a:r>
          </a:p>
        </p:txBody>
      </p:sp>
      <p:sp>
        <p:nvSpPr>
          <p:cNvPr id="13" name="">
            <a:extLst xmlns:a="http://schemas.openxmlformats.org/drawingml/2006/main">
              <a:ext uri="{FF2B5EF4-FFF2-40B4-BE49-F238E27FC236}">
                <a16:creationId xmlns:a16="http://schemas.microsoft.com/office/drawing/2014/main" id="{C153BE93-3CCE-4CD5-BC2C-964966CFD29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1345991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2026-07-02T16:02:58.9340000Z</dcterms:created>
  <dcterms:modified xsi:type="dcterms:W3CDTF">2026-07-02T16:02:58.9340000Z</dcterms:modified>
</coreProperties>
</file>