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94cfe5a6c64b8a" /><Relationship Type="http://schemas.openxmlformats.org/officeDocument/2006/relationships/extended-properties" Target="/docProps/app.xml" Id="Rd8f602c93dcf436e" /><Relationship Type="http://schemas.openxmlformats.org/officeDocument/2006/relationships/officeDocument" Target="/ppt/presentation.xml" Id="R4aeba3faf73748b5" /></Relationships>
</file>

<file path=ppt/presentation.xml><?xml version="1.0" encoding="utf-8"?>
<p:presentation xmlns:p="http://schemas.openxmlformats.org/presentationml/2006/main">
  <p:sldMasterIdLst>
    <p:sldMasterId xmlns:r="http://schemas.openxmlformats.org/officeDocument/2006/relationships" id="2147483648" r:id="Rf10bec2808544754"/>
  </p:sldMasterIdLst>
  <p:notesMasterIdLst>
    <p:notesMasterId xmlns:r="http://schemas.openxmlformats.org/officeDocument/2006/relationships" r:id="R619cf6f0c84c4794"/>
  </p:notesMasterIdLst>
  <p:sldIdLst>
    <p:sldId xmlns:r="http://schemas.openxmlformats.org/officeDocument/2006/relationships" id="256" r:id="R901e33910fc14467"/>
    <p:sldId xmlns:r="http://schemas.openxmlformats.org/officeDocument/2006/relationships" id="257" r:id="R77bf5eea30f943ee"/>
    <p:sldId xmlns:r="http://schemas.openxmlformats.org/officeDocument/2006/relationships" id="258" r:id="Rbb5d649ee65e46e2"/>
    <p:sldId xmlns:r="http://schemas.openxmlformats.org/officeDocument/2006/relationships" id="259" r:id="R291338b922804c5a"/>
    <p:sldId xmlns:r="http://schemas.openxmlformats.org/officeDocument/2006/relationships" id="260" r:id="Recd7083e86624d23"/>
    <p:sldId xmlns:r="http://schemas.openxmlformats.org/officeDocument/2006/relationships" id="261" r:id="Rd2a9cd466bce4f42"/>
    <p:sldId xmlns:r="http://schemas.openxmlformats.org/officeDocument/2006/relationships" id="262" r:id="Rd3ddfaf09e9c4594"/>
    <p:sldId xmlns:r="http://schemas.openxmlformats.org/officeDocument/2006/relationships" id="263" r:id="Re5975bd86bbf429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2caf6273fb4f55" /><Relationship Type="http://schemas.openxmlformats.org/officeDocument/2006/relationships/slideMaster" Target="/ppt/slideMasters/slideMaster1.xml" Id="Rf10bec2808544754" /><Relationship Type="http://schemas.openxmlformats.org/officeDocument/2006/relationships/notesMaster" Target="/ppt/notesMasters/notesMaster1.xml" Id="R619cf6f0c84c4794" /><Relationship Type="http://schemas.openxmlformats.org/officeDocument/2006/relationships/presProps" Target="/ppt/presProps.xml" Id="R5bac3feece7d49d6" /><Relationship Type="http://schemas.openxmlformats.org/officeDocument/2006/relationships/tableStyles" Target="/ppt/tableStyles.xml" Id="Ra801d340a1d34e6b" /><Relationship Type="http://schemas.openxmlformats.org/officeDocument/2006/relationships/slide" Target="/ppt/slides/slide1.xml" Id="R901e33910fc14467" /><Relationship Type="http://schemas.openxmlformats.org/officeDocument/2006/relationships/slide" Target="/ppt/slides/slide2.xml" Id="R77bf5eea30f943ee" /><Relationship Type="http://schemas.openxmlformats.org/officeDocument/2006/relationships/slide" Target="/ppt/slides/slide3.xml" Id="Rbb5d649ee65e46e2" /><Relationship Type="http://schemas.openxmlformats.org/officeDocument/2006/relationships/slide" Target="/ppt/slides/slide4.xml" Id="R291338b922804c5a" /><Relationship Type="http://schemas.openxmlformats.org/officeDocument/2006/relationships/slide" Target="/ppt/slides/slide5.xml" Id="Recd7083e86624d23" /><Relationship Type="http://schemas.openxmlformats.org/officeDocument/2006/relationships/slide" Target="/ppt/slides/slide6.xml" Id="Rd2a9cd466bce4f42" /><Relationship Type="http://schemas.openxmlformats.org/officeDocument/2006/relationships/slide" Target="/ppt/slides/slide7.xml" Id="Rd3ddfaf09e9c4594" /><Relationship Type="http://schemas.openxmlformats.org/officeDocument/2006/relationships/slide" Target="/ppt/slides/slide8.xml" Id="Re5975bd86bbf42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3c01dad4ea4f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87cd304a0c46d9" /><Relationship Type="http://schemas.openxmlformats.org/officeDocument/2006/relationships/notesMaster" Target="/ppt/notesMasters/notesMaster1.xml" Id="R8f53a172325c43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c555ae04114d97" /><Relationship Type="http://schemas.openxmlformats.org/officeDocument/2006/relationships/notesMaster" Target="/ppt/notesMasters/notesMaster1.xml" Id="Rf2993ec2cedd4d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c3efc716b642df" /><Relationship Type="http://schemas.openxmlformats.org/officeDocument/2006/relationships/notesMaster" Target="/ppt/notesMasters/notesMaster1.xml" Id="R81d98efe539340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7469a6ea0c4db1" /><Relationship Type="http://schemas.openxmlformats.org/officeDocument/2006/relationships/notesMaster" Target="/ppt/notesMasters/notesMaster1.xml" Id="R8226d0c374bf4e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6c7fb9f8de4dd8" /><Relationship Type="http://schemas.openxmlformats.org/officeDocument/2006/relationships/notesMaster" Target="/ppt/notesMasters/notesMaster1.xml" Id="Radde006913b64f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3ec721807a492b" /><Relationship Type="http://schemas.openxmlformats.org/officeDocument/2006/relationships/notesMaster" Target="/ppt/notesMasters/notesMaster1.xml" Id="R65c815bee94040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485c72a3974e20" /><Relationship Type="http://schemas.openxmlformats.org/officeDocument/2006/relationships/notesMaster" Target="/ppt/notesMasters/notesMaster1.xml" Id="R79da5ad4f86e47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772f6ee4ae45a1" /><Relationship Type="http://schemas.openxmlformats.org/officeDocument/2006/relationships/notesMaster" Target="/ppt/notesMasters/notesMaster1.xml" Id="Ref993328e6e949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Missing Voices in Data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Missing voices analysis asks whose experiences, records, language needs, disability access needs, rural context, tribal sovereignty interests, or community knowledge are absent from the data.</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4, 7, 13 and Tools 3, 22, 47.</a:t>
            </a:r>
          </a:p>
          <a:p xmlns:a="http://schemas.openxmlformats.org/drawingml/2006/main">
            <a:r>
              <a:t>Emphasize the core guardrail: Models may appear accurate overall while failing communities that are missing, underrepresented, misclassified, or poorly represented.</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4, 7, 13 and Tools 3, 22, 47.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4, 7, 13 and Tools 3, 22, 47.</a:t>
            </a:r>
          </a:p>
          <a:p xmlns:a="http://schemas.openxmlformats.org/drawingml/2006/main">
            <a:r>
              <a:t>Reinforce this definition: Definition: Missing voices analysis identifies people, communities, settings, and forms of knowledge that are absent or poorly represented in the data, design process, validation evidence, or monitoring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4, 7, 13 and Tools 3, 22, 47.</a:t>
            </a:r>
          </a:p>
          <a:p xmlns:a="http://schemas.openxmlformats.org/drawingml/2006/main">
            <a:r>
              <a:t>Invite participants to identify where these practices would need to be documented in their own department.</a:t>
            </a:r>
          </a:p>
          <a:p xmlns:a="http://schemas.openxmlformats.org/drawingml/2006/main">
            <a:r>
              <a:t>Start with Who May Be Missing,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4, 7, 13 and Tools 3, 22, 47.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4, 7, 13 and Tools 3, 22, 47.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Missing voices analysis, Community validation plan, Subgroup monitoring measures.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Missing Voices in Data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4, 7, 13 and Tools 3, 22, 47.</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6d78fa426849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d5537ef26a4833" /><Relationship Type="http://schemas.openxmlformats.org/officeDocument/2006/relationships/slideLayout" Target="/ppt/slideLayouts/slideLayout1.xml" Id="Rb052938ac19c40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52938ac19c40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84288ef11b4531" /><Relationship Type="http://schemas.openxmlformats.org/officeDocument/2006/relationships/image" Target="/ppt/media/image.png" Id="R72f4531f5a4a4c8f" /><Relationship Type="http://schemas.openxmlformats.org/officeDocument/2006/relationships/notesSlide" Target="/ppt/notesSlides/notesSlide1.xml" Id="R48bdc07b9d8b46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785d1059e441be" /><Relationship Type="http://schemas.openxmlformats.org/officeDocument/2006/relationships/notesSlide" Target="/ppt/notesSlides/notesSlide2.xml" Id="Rf18c02ed5b2846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e4be9018394816" /><Relationship Type="http://schemas.openxmlformats.org/officeDocument/2006/relationships/notesSlide" Target="/ppt/notesSlides/notesSlide3.xml" Id="R7980b21a8d224a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ce152d4ba184667" /><Relationship Type="http://schemas.openxmlformats.org/officeDocument/2006/relationships/notesSlide" Target="/ppt/notesSlides/notesSlide4.xml" Id="R6398cda4699b4c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18be7d352e47e8" /><Relationship Type="http://schemas.openxmlformats.org/officeDocument/2006/relationships/notesSlide" Target="/ppt/notesSlides/notesSlide5.xml" Id="R73e89a52be484b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bcc86e21994cbb" /><Relationship Type="http://schemas.openxmlformats.org/officeDocument/2006/relationships/notesSlide" Target="/ppt/notesSlides/notesSlide6.xml" Id="R686cfea01c6c4f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05b41c9b414705" /><Relationship Type="http://schemas.openxmlformats.org/officeDocument/2006/relationships/notesSlide" Target="/ppt/notesSlides/notesSlide7.xml" Id="Rcb120550b2134b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fc8c2342d649c3" /><Relationship Type="http://schemas.openxmlformats.org/officeDocument/2006/relationships/notesSlide" Target="/ppt/notesSlides/notesSlide8.xml" Id="Rbdc7e83d97f7488e"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2f4531f5a4a4c8f"/>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8FEA28-840F-41D8-A971-EB6D95EBA589}"/>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12</a:t>
            </a:r>
          </a:p>
        </p:txBody>
      </p:sp>
      <p:sp>
        <p:nvSpPr>
          <p:cNvPr id="3" name="">
            <a:extLst xmlns:a="http://schemas.openxmlformats.org/drawingml/2006/main">
              <a:ext uri="{FF2B5EF4-FFF2-40B4-BE49-F238E27FC236}">
                <a16:creationId xmlns:a16="http://schemas.microsoft.com/office/drawing/2014/main" id="{853AE8A7-7F6E-40C9-99B6-3394757E4A12}"/>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Missing Voices in Data</a:t>
            </a:r>
          </a:p>
        </p:txBody>
      </p:sp>
      <p:sp>
        <p:nvSpPr>
          <p:cNvPr id="4" name="">
            <a:extLst xmlns:a="http://schemas.openxmlformats.org/drawingml/2006/main">
              <a:ext uri="{FF2B5EF4-FFF2-40B4-BE49-F238E27FC236}">
                <a16:creationId xmlns:a16="http://schemas.microsoft.com/office/drawing/2014/main" id="{FC6B8DF9-C0D2-4B74-8BE3-975D953EEA1C}"/>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A6496440-33AF-45E4-B7FB-AD28BCC79000}"/>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6C702215-2B9A-4F56-9DAD-38FA604CEDCE}"/>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9160765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24AF7D-774B-4AAF-8377-0EFECC58E42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5206D8B-F038-4AD8-8A9A-B08FB79F087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17F1BB62-45A2-49DE-A0FC-D83AA970C84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61EA7B0-5ECF-4B06-9E8E-538B96448E45}"/>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Missing voices analysis asks whose experiences, records, language needs, disability access needs, rural context, tribal sovereignty interests, or community knowledge are absent from the data.</a:t>
            </a:r>
          </a:p>
        </p:txBody>
      </p:sp>
      <p:sp>
        <p:nvSpPr>
          <p:cNvPr id="5" name="">
            <a:extLst xmlns:a="http://schemas.openxmlformats.org/drawingml/2006/main">
              <a:ext uri="{FF2B5EF4-FFF2-40B4-BE49-F238E27FC236}">
                <a16:creationId xmlns:a16="http://schemas.microsoft.com/office/drawing/2014/main" id="{A4461B4F-1ABE-461A-924F-D418322420F9}"/>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168259E-3D67-457F-9FF0-07DF9DA3264F}"/>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AAA7BF8-5A4F-4D5C-8166-6A7EEC413C8F}"/>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EFA7EFEE-91A6-4079-97F7-B7C0E43097A7}"/>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Missing voices analysis helps agencies avoid designing AI systems around only the data and perspectives that are easiest to obtain. It is essential for equity, trust, and real-world performance.</a:t>
            </a:r>
          </a:p>
        </p:txBody>
      </p:sp>
      <p:sp>
        <p:nvSpPr>
          <p:cNvPr id="9" name="">
            <a:extLst xmlns:a="http://schemas.openxmlformats.org/drawingml/2006/main">
              <a:ext uri="{FF2B5EF4-FFF2-40B4-BE49-F238E27FC236}">
                <a16:creationId xmlns:a16="http://schemas.microsoft.com/office/drawing/2014/main" id="{571A2D2E-8772-41B3-BD91-B1CE6B2734D8}"/>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EABACE9-FF5A-415F-B57F-4F63A9C4B16C}"/>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E959D2A-E2D4-43D5-B74B-971E34C72C74}"/>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BAAEE267-2E8B-4590-BE9C-1BB91D9EADAA}"/>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Models may appear accurate overall while failing communities that are missing, underrepresented, misclassified, or poorly represented.</a:t>
            </a:r>
          </a:p>
        </p:txBody>
      </p:sp>
      <p:sp>
        <p:nvSpPr>
          <p:cNvPr id="13" name="">
            <a:extLst xmlns:a="http://schemas.openxmlformats.org/drawingml/2006/main">
              <a:ext uri="{FF2B5EF4-FFF2-40B4-BE49-F238E27FC236}">
                <a16:creationId xmlns:a16="http://schemas.microsoft.com/office/drawing/2014/main" id="{7305C52A-36CF-4F77-83BB-5BCF7C1C308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4" name="">
            <a:extLst xmlns:a="http://schemas.openxmlformats.org/drawingml/2006/main">
              <a:ext uri="{FF2B5EF4-FFF2-40B4-BE49-F238E27FC236}">
                <a16:creationId xmlns:a16="http://schemas.microsoft.com/office/drawing/2014/main" id="{CECD2A87-4030-43A2-AB40-688A2DF50D6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506978734"/>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ACDAB7-CB9F-48EF-B143-99F689444A3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7CAC962-E313-451C-9184-B964B67564E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C4E3E65F-5AFA-4CF5-8199-A02ADF0A291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2389788-7298-420A-92EF-361E2772F71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664D7F89-1E1A-467D-9E5F-D53E272E2575}"/>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Missing Voices in Data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1745A4DB-3B96-4C3B-B2D6-F7BB5EB37F7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7" name="">
            <a:extLst xmlns:a="http://schemas.openxmlformats.org/drawingml/2006/main">
              <a:ext uri="{FF2B5EF4-FFF2-40B4-BE49-F238E27FC236}">
                <a16:creationId xmlns:a16="http://schemas.microsoft.com/office/drawing/2014/main" id="{EFBA64A1-88C0-4126-B956-468669C1490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7378520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75E666-9D85-4963-AFF3-FF6AC220643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0B0F185-D3B9-4A41-9862-E3645B7D8D2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7DF9BFB3-FDA5-4A67-9DD8-629CC7E1FB0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9FF4D43-E2FE-4B65-905D-7F597BEBF187}"/>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Missing voices analysis asks who is absent from the data, design process, validation testing, governance discussion, or evaluation. Public health AI can look accurate overall while failing groups that are underrepresented, misclassified, or affected differently by the workflow. Missing voices review should happen before use case approval and again during monitoring.</a:t>
            </a:r>
          </a:p>
        </p:txBody>
      </p:sp>
      <p:sp>
        <p:nvSpPr>
          <p:cNvPr id="5" name="">
            <a:extLst xmlns:a="http://schemas.openxmlformats.org/drawingml/2006/main">
              <a:ext uri="{FF2B5EF4-FFF2-40B4-BE49-F238E27FC236}">
                <a16:creationId xmlns:a16="http://schemas.microsoft.com/office/drawing/2014/main" id="{588697A2-C484-4005-B033-0CA59766AA99}"/>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A2A360F-9B5E-4B86-B16F-7780BB0180DB}"/>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0443972-3CCB-427E-B5F3-B4F957B980F9}"/>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A8EF1E15-6726-4533-8F1E-3D02B0EAFF42}"/>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Missing voices analysis identifies people, communities, settings, and forms of knowledge that are absent or poorly represented in the data, design process, validation evidence, or monitoring plan.</a:t>
            </a:r>
          </a:p>
        </p:txBody>
      </p:sp>
      <p:sp>
        <p:nvSpPr>
          <p:cNvPr id="9" name="">
            <a:extLst xmlns:a="http://schemas.openxmlformats.org/drawingml/2006/main">
              <a:ext uri="{FF2B5EF4-FFF2-40B4-BE49-F238E27FC236}">
                <a16:creationId xmlns:a16="http://schemas.microsoft.com/office/drawing/2014/main" id="{F0C76D58-B22A-4B04-AF08-BE5AEA584B5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0" name="">
            <a:extLst xmlns:a="http://schemas.openxmlformats.org/drawingml/2006/main">
              <a:ext uri="{FF2B5EF4-FFF2-40B4-BE49-F238E27FC236}">
                <a16:creationId xmlns:a16="http://schemas.microsoft.com/office/drawing/2014/main" id="{19983024-CAAB-484C-BC69-818D82D0324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007776531"/>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14B254-8C44-45B4-9071-5B1165F7499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3A29E27-5095-45A4-A873-8ECF08DCDDB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508EF85A-DEF1-4138-8ED7-8249CFB81B8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33D3F47-2123-457C-88C3-499309244AD9}"/>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C3A3FCC-9977-4181-9E92-68101F3F787A}"/>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96C3FFD-754D-46A3-8481-809191EB9232}"/>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Who May Be Missing</a:t>
            </a:r>
          </a:p>
        </p:txBody>
      </p:sp>
      <p:sp>
        <p:nvSpPr>
          <p:cNvPr id="7" name="">
            <a:extLst xmlns:a="http://schemas.openxmlformats.org/drawingml/2006/main">
              <a:ext uri="{FF2B5EF4-FFF2-40B4-BE49-F238E27FC236}">
                <a16:creationId xmlns:a16="http://schemas.microsoft.com/office/drawing/2014/main" id="{9BAFEDB2-E887-4D70-8FC8-C6673F93192B}"/>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People with limited English proficiency, people with disabilities, rural residents, people experiencing homelessness, immigrant. Frontline staff who understand workflow realities but are not included in planning. Community partners who can.</a:t>
            </a:r>
          </a:p>
        </p:txBody>
      </p:sp>
      <p:sp>
        <p:nvSpPr>
          <p:cNvPr id="8" name="">
            <a:extLst xmlns:a="http://schemas.openxmlformats.org/drawingml/2006/main">
              <a:ext uri="{FF2B5EF4-FFF2-40B4-BE49-F238E27FC236}">
                <a16:creationId xmlns:a16="http://schemas.microsoft.com/office/drawing/2014/main" id="{A8494B40-DFA0-404F-82F7-AFAF85B8FB3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BFAA41C-D3C4-4072-9F3D-15C336ACF494}"/>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876B014-B07C-429D-ACD4-30DE3E9FB480}"/>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Apply It</a:t>
            </a:r>
          </a:p>
        </p:txBody>
      </p:sp>
      <p:sp>
        <p:nvSpPr>
          <p:cNvPr id="11" name="">
            <a:extLst xmlns:a="http://schemas.openxmlformats.org/drawingml/2006/main">
              <a:ext uri="{FF2B5EF4-FFF2-40B4-BE49-F238E27FC236}">
                <a16:creationId xmlns:a16="http://schemas.microsoft.com/office/drawing/2014/main" id="{C8F4348A-F638-4AB0-8BE8-749976ADADB3}"/>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whether source data include the populations affected by the decision or communication. Ask whether subgroup performance will be tested before and after deployment. Use community validation when the workflow has public-facing or.</a:t>
            </a:r>
          </a:p>
        </p:txBody>
      </p:sp>
      <p:sp>
        <p:nvSpPr>
          <p:cNvPr id="12" name="">
            <a:extLst xmlns:a="http://schemas.openxmlformats.org/drawingml/2006/main">
              <a:ext uri="{FF2B5EF4-FFF2-40B4-BE49-F238E27FC236}">
                <a16:creationId xmlns:a16="http://schemas.microsoft.com/office/drawing/2014/main" id="{6EE2206B-1801-4720-9777-53886B258E44}"/>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79AB371-64DA-4D9A-A433-23BC54837909}"/>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505CBE11-9DA1-4DD4-B05E-867568BAA059}"/>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Ongoing Monitoring</a:t>
            </a:r>
          </a:p>
        </p:txBody>
      </p:sp>
      <p:sp>
        <p:nvSpPr>
          <p:cNvPr id="15" name="">
            <a:extLst xmlns:a="http://schemas.openxmlformats.org/drawingml/2006/main">
              <a:ext uri="{FF2B5EF4-FFF2-40B4-BE49-F238E27FC236}">
                <a16:creationId xmlns:a16="http://schemas.microsoft.com/office/drawing/2014/main" id="{164F8E1E-F9EF-4797-BD2E-01F4BD54549C}"/>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Track subgroup performance, service access, complaints, corrections, and unintended impacts. Revisit the analysis when the model, data, policy, population, or workflow changes.</a:t>
            </a:r>
          </a:p>
        </p:txBody>
      </p:sp>
      <p:sp>
        <p:nvSpPr>
          <p:cNvPr id="16" name="">
            <a:extLst xmlns:a="http://schemas.openxmlformats.org/drawingml/2006/main">
              <a:ext uri="{FF2B5EF4-FFF2-40B4-BE49-F238E27FC236}">
                <a16:creationId xmlns:a16="http://schemas.microsoft.com/office/drawing/2014/main" id="{6D9561D1-C922-4103-85F3-6E81325CCDC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7" name="">
            <a:extLst xmlns:a="http://schemas.openxmlformats.org/drawingml/2006/main">
              <a:ext uri="{FF2B5EF4-FFF2-40B4-BE49-F238E27FC236}">
                <a16:creationId xmlns:a16="http://schemas.microsoft.com/office/drawing/2014/main" id="{24DDC3BA-D17A-4071-86FC-A2E25DAE2B8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0068890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CB00EA-CDCB-47FE-A2FB-84EB7DC68A5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5D202B4-80D1-4009-A12E-D3F260A0FDB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9556BF37-7EDE-4837-9460-F17359191A8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6F56D48-F7E5-4D8F-AE72-4C2780267D78}"/>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6247570E-45FC-4968-A59E-5A70B7FE91B4}"/>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B4616E7-7ACF-4B17-9237-172F05729BE1}"/>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70C3355-8087-47AC-8BAC-D61D09CD3724}"/>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Identify underrepresented groups</a:t>
            </a:r>
          </a:p>
        </p:txBody>
      </p:sp>
      <p:sp>
        <p:nvSpPr>
          <p:cNvPr id="8" name="">
            <a:extLst xmlns:a="http://schemas.openxmlformats.org/drawingml/2006/main">
              <a:ext uri="{FF2B5EF4-FFF2-40B4-BE49-F238E27FC236}">
                <a16:creationId xmlns:a16="http://schemas.microsoft.com/office/drawing/2014/main" id="{24B91F99-D630-4EEF-B7FA-446832DD40C7}"/>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81D3334E-0452-4471-AD75-AFA507430218}"/>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C0828A3-69EE-4EA2-8530-252370676406}"/>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D81C070-C37B-4ECC-9748-64F65A5BDDCE}"/>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Add community validation before launch</a:t>
            </a:r>
          </a:p>
        </p:txBody>
      </p:sp>
      <p:sp>
        <p:nvSpPr>
          <p:cNvPr id="12" name="">
            <a:extLst xmlns:a="http://schemas.openxmlformats.org/drawingml/2006/main">
              <a:ext uri="{FF2B5EF4-FFF2-40B4-BE49-F238E27FC236}">
                <a16:creationId xmlns:a16="http://schemas.microsoft.com/office/drawing/2014/main" id="{8EEF619C-11DA-47B3-9A48-665283ED0900}"/>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53820B5B-8170-4DF7-B5A7-186ECA3677D8}"/>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53E76C8-8B3D-431D-BAA2-ABE24DFC7F2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575D8055-CF8F-49E2-AD17-4F6BF01C3A3B}"/>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Monitor subgroup performance after deployment</a:t>
            </a:r>
          </a:p>
        </p:txBody>
      </p:sp>
      <p:sp>
        <p:nvSpPr>
          <p:cNvPr id="16" name="">
            <a:extLst xmlns:a="http://schemas.openxmlformats.org/drawingml/2006/main">
              <a:ext uri="{FF2B5EF4-FFF2-40B4-BE49-F238E27FC236}">
                <a16:creationId xmlns:a16="http://schemas.microsoft.com/office/drawing/2014/main" id="{3F7E76A8-B210-4DFC-A583-09D17EAD5675}"/>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A15D4DF9-0446-488F-B26F-3B4386B0D55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8" name="">
            <a:extLst xmlns:a="http://schemas.openxmlformats.org/drawingml/2006/main">
              <a:ext uri="{FF2B5EF4-FFF2-40B4-BE49-F238E27FC236}">
                <a16:creationId xmlns:a16="http://schemas.microsoft.com/office/drawing/2014/main" id="{929DB006-B485-4991-9B1B-E4710056650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387919405"/>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02A0BD-8C9A-47DC-8EEB-C99BADAB1D3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0D41B2E-2C30-431F-90E4-2DBD9BCADCF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F9159114-10CC-49AA-A7EC-8DE64DFC928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E78AEFA-B792-49CA-A5BF-F523DD3BFDF2}"/>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EB5C5CE-9C77-4C56-B79F-8E58AD0CD2EC}"/>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6F335F8F-C9BC-48D1-97ED-BC16D38F4A6F}"/>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642D13DA-7A69-446B-8EE0-EBF25467DA4B}"/>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Whose data, experience, language needs, disability access needs, rural context, or community knowledge may be missing? Who should validate assumptions before launch? How will subgroup performance and community concerns be monitored after.</a:t>
            </a:r>
          </a:p>
        </p:txBody>
      </p:sp>
      <p:sp>
        <p:nvSpPr>
          <p:cNvPr id="8" name="">
            <a:extLst xmlns:a="http://schemas.openxmlformats.org/drawingml/2006/main">
              <a:ext uri="{FF2B5EF4-FFF2-40B4-BE49-F238E27FC236}">
                <a16:creationId xmlns:a16="http://schemas.microsoft.com/office/drawing/2014/main" id="{F427D24C-ED5E-46CD-BCAA-9B3C01DBFD51}"/>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18FA2FA-4DD5-4B5B-A75E-02A4BDF31338}"/>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6862390A-45B1-4050-ADA0-F2F98A558512}"/>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AF92A97B-A2DE-40E4-948E-44703E7D6016}"/>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For a selected use case, identify groups that may be missing from the data, planning process, validation sample, or governance review. Define how each gap will be addressed.</a:t>
            </a:r>
          </a:p>
        </p:txBody>
      </p:sp>
      <p:sp>
        <p:nvSpPr>
          <p:cNvPr id="12" name="">
            <a:extLst xmlns:a="http://schemas.openxmlformats.org/drawingml/2006/main">
              <a:ext uri="{FF2B5EF4-FFF2-40B4-BE49-F238E27FC236}">
                <a16:creationId xmlns:a16="http://schemas.microsoft.com/office/drawing/2014/main" id="{F903D440-9CDE-4FF3-987D-BA1AD2B355E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3" name="">
            <a:extLst xmlns:a="http://schemas.openxmlformats.org/drawingml/2006/main">
              <a:ext uri="{FF2B5EF4-FFF2-40B4-BE49-F238E27FC236}">
                <a16:creationId xmlns:a16="http://schemas.microsoft.com/office/drawing/2014/main" id="{60F3F707-517B-4726-B573-E4468159BCF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3893442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E77389-E631-4728-95EE-57E26724021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208212C-CDE7-40C7-8675-3E2EDB50496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BDCEC5B2-EA4E-4C07-917E-E4E3FEBB91C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2294BBA-B0A4-4814-8A5E-93DBCA1AB0C7}"/>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0481B46-BA4B-4785-B717-2BFD8D90F0CB}"/>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11814AD-D649-4D1A-BBD8-38B8E7E028B4}"/>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CE0D344C-E2D5-4EED-85CD-E9DD3BEAFF2B}"/>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4, 7, 13 and Tools 3, 22, 47.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5911F247-FF1F-4809-AA33-795F0468D8CB}"/>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8BA3E53-4D75-4C8A-B837-B6C559664320}"/>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903BB944-6958-4AF5-B36D-B6BFC7D06E6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CDB39AFF-7EB7-4F1E-ACAC-8FD0DA688146}"/>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Introduces missing voices and human-centered AI considerations for public health. CDC Health Equity: Health equity context for identifying who may be missed or harmed by public health systems. NIH Tribal Health.</a:t>
            </a:r>
          </a:p>
        </p:txBody>
      </p:sp>
      <p:sp>
        <p:nvSpPr>
          <p:cNvPr id="12" name="">
            <a:extLst xmlns:a="http://schemas.openxmlformats.org/drawingml/2006/main">
              <a:ext uri="{FF2B5EF4-FFF2-40B4-BE49-F238E27FC236}">
                <a16:creationId xmlns:a16="http://schemas.microsoft.com/office/drawing/2014/main" id="{CA113F87-74A8-4626-AE16-F306732064E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Missing Voices in Data</a:t>
            </a:r>
          </a:p>
        </p:txBody>
      </p:sp>
      <p:sp>
        <p:nvSpPr>
          <p:cNvPr id="13" name="">
            <a:extLst xmlns:a="http://schemas.openxmlformats.org/drawingml/2006/main">
              <a:ext uri="{FF2B5EF4-FFF2-40B4-BE49-F238E27FC236}">
                <a16:creationId xmlns:a16="http://schemas.microsoft.com/office/drawing/2014/main" id="{87BD0A3A-8DD8-4ECD-BF77-F923C1EABCF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3841855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2026-07-02T17:47:03.0130000Z</dcterms:created>
  <dcterms:modified xsi:type="dcterms:W3CDTF">2026-07-02T17:47:03.0130000Z</dcterms:modified>
</coreProperties>
</file>