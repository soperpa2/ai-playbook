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3cdff9b21a4159" /><Relationship Type="http://schemas.openxmlformats.org/officeDocument/2006/relationships/extended-properties" Target="/docProps/app.xml" Id="Re5406244d0c24828" /><Relationship Type="http://schemas.openxmlformats.org/officeDocument/2006/relationships/officeDocument" Target="/ppt/presentation.xml" Id="R92f3982efe4d47cc" /></Relationships>
</file>

<file path=ppt/presentation.xml><?xml version="1.0" encoding="utf-8"?>
<p:presentation xmlns:p="http://schemas.openxmlformats.org/presentationml/2006/main">
  <p:sldMasterIdLst>
    <p:sldMasterId xmlns:r="http://schemas.openxmlformats.org/officeDocument/2006/relationships" id="2147483648" r:id="R307eb9e0403d46fa"/>
  </p:sldMasterIdLst>
  <p:notesMasterIdLst>
    <p:notesMasterId xmlns:r="http://schemas.openxmlformats.org/officeDocument/2006/relationships" r:id="R0fda72c9e8ac45dd"/>
  </p:notesMasterIdLst>
  <p:sldIdLst>
    <p:sldId xmlns:r="http://schemas.openxmlformats.org/officeDocument/2006/relationships" id="256" r:id="Rf2d2e295825e413f"/>
    <p:sldId xmlns:r="http://schemas.openxmlformats.org/officeDocument/2006/relationships" id="257" r:id="Rdc79292fa0674e8b"/>
    <p:sldId xmlns:r="http://schemas.openxmlformats.org/officeDocument/2006/relationships" id="258" r:id="R0888021e2e2f4064"/>
    <p:sldId xmlns:r="http://schemas.openxmlformats.org/officeDocument/2006/relationships" id="259" r:id="Rc1764f9ee6754036"/>
    <p:sldId xmlns:r="http://schemas.openxmlformats.org/officeDocument/2006/relationships" id="260" r:id="Rf16afc94f6454732"/>
    <p:sldId xmlns:r="http://schemas.openxmlformats.org/officeDocument/2006/relationships" id="261" r:id="Ra94092609d384048"/>
    <p:sldId xmlns:r="http://schemas.openxmlformats.org/officeDocument/2006/relationships" id="262" r:id="R01dd402afaa64ff9"/>
    <p:sldId xmlns:r="http://schemas.openxmlformats.org/officeDocument/2006/relationships" id="263" r:id="R384d49e4cc874a4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4121a00fbc4657" /><Relationship Type="http://schemas.openxmlformats.org/officeDocument/2006/relationships/slideMaster" Target="/ppt/slideMasters/slideMaster1.xml" Id="R307eb9e0403d46fa" /><Relationship Type="http://schemas.openxmlformats.org/officeDocument/2006/relationships/notesMaster" Target="/ppt/notesMasters/notesMaster1.xml" Id="R0fda72c9e8ac45dd" /><Relationship Type="http://schemas.openxmlformats.org/officeDocument/2006/relationships/presProps" Target="/ppt/presProps.xml" Id="Rff2b0a1674e542f0" /><Relationship Type="http://schemas.openxmlformats.org/officeDocument/2006/relationships/tableStyles" Target="/ppt/tableStyles.xml" Id="R9b83e311f9014f1c" /><Relationship Type="http://schemas.openxmlformats.org/officeDocument/2006/relationships/slide" Target="/ppt/slides/slide1.xml" Id="Rf2d2e295825e413f" /><Relationship Type="http://schemas.openxmlformats.org/officeDocument/2006/relationships/slide" Target="/ppt/slides/slide2.xml" Id="Rdc79292fa0674e8b" /><Relationship Type="http://schemas.openxmlformats.org/officeDocument/2006/relationships/slide" Target="/ppt/slides/slide3.xml" Id="R0888021e2e2f4064" /><Relationship Type="http://schemas.openxmlformats.org/officeDocument/2006/relationships/slide" Target="/ppt/slides/slide4.xml" Id="Rc1764f9ee6754036" /><Relationship Type="http://schemas.openxmlformats.org/officeDocument/2006/relationships/slide" Target="/ppt/slides/slide5.xml" Id="Rf16afc94f6454732" /><Relationship Type="http://schemas.openxmlformats.org/officeDocument/2006/relationships/slide" Target="/ppt/slides/slide6.xml" Id="Ra94092609d384048" /><Relationship Type="http://schemas.openxmlformats.org/officeDocument/2006/relationships/slide" Target="/ppt/slides/slide7.xml" Id="R01dd402afaa64ff9" /><Relationship Type="http://schemas.openxmlformats.org/officeDocument/2006/relationships/slide" Target="/ppt/slides/slide8.xml" Id="R384d49e4cc874a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1ceeb75bab4c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6cd0d401049b1" /><Relationship Type="http://schemas.openxmlformats.org/officeDocument/2006/relationships/notesMaster" Target="/ppt/notesMasters/notesMaster1.xml" Id="Rd5cdab95be4141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c3d5652aa34568" /><Relationship Type="http://schemas.openxmlformats.org/officeDocument/2006/relationships/notesMaster" Target="/ppt/notesMasters/notesMaster1.xml" Id="R20df12deaad14c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e96d86e93d41e9" /><Relationship Type="http://schemas.openxmlformats.org/officeDocument/2006/relationships/notesMaster" Target="/ppt/notesMasters/notesMaster1.xml" Id="R422391b2a99d4e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96a479e6e24e94" /><Relationship Type="http://schemas.openxmlformats.org/officeDocument/2006/relationships/notesMaster" Target="/ppt/notesMasters/notesMaster1.xml" Id="R647d0d054ca74e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f12e07e659455d" /><Relationship Type="http://schemas.openxmlformats.org/officeDocument/2006/relationships/notesMaster" Target="/ppt/notesMasters/notesMaster1.xml" Id="Rff2c760329e14e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b571a8e54b465b" /><Relationship Type="http://schemas.openxmlformats.org/officeDocument/2006/relationships/notesMaster" Target="/ppt/notesMasters/notesMaster1.xml" Id="Rb5f505ecd199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0a9aeeae154c1c" /><Relationship Type="http://schemas.openxmlformats.org/officeDocument/2006/relationships/notesMaster" Target="/ppt/notesMasters/notesMaster1.xml" Id="Rcf22f0845f3e4d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9cebf396fc4fe3" /><Relationship Type="http://schemas.openxmlformats.org/officeDocument/2006/relationships/notesMaster" Target="/ppt/notesMasters/notesMaster1.xml" Id="R4febd8d55b084b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Privacy, Confidentiality, and Public Records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use in public health must account for PHI, PII, confidential public health records, investigation data, data-sharing limits, retention rules, and public records obligations.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7, 11, 12 and Tools 7, 10, 15, 17, 34.</a:t>
            </a:r>
          </a:p>
          <a:p xmlns:a="http://schemas.openxmlformats.org/drawingml/2006/main">
            <a:r>
              <a:t>Emphasize the core guardrail: Sensitive or confidential data can be exposed, retained, reused, or disclosed if staff use the wrong AI environment.</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7, 11, 12 and Tools 7, 10, 15, 17, 34.</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7, 11, 12 and Tools 7, 10, 15, 17, 34.</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7, 11, 12 and Tools 7, 10, 15, 17, 34.</a:t>
            </a:r>
          </a:p>
          <a:p xmlns:a="http://schemas.openxmlformats.org/drawingml/2006/main">
            <a:r>
              <a:t>Invite participants to identify where these practices would need to be documented in their own department.</a:t>
            </a:r>
          </a:p>
          <a:p xmlns:a="http://schemas.openxmlformats.org/drawingml/2006/main">
            <a:r>
              <a:t>Start with Key Data Categories,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7, 11, 12 and Tools 7, 10, 15, 17, 34.</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7, 11, 12 and Tools 7, 10, 15, 17, 34.</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data classification examples, Privacy escalation rules, Public records documentation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Privacy, Confidentiality, and Public Records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7, 11, 12 and Tools 7, 10, 15, 17, 34.</a:t>
            </a:r>
          </a:p>
          <a:p xmlns:a="http://schemas.openxmlformats.org/drawingml/2006/main">
            <a:r>
              <a:t>Point participants to the first resource: HIPAA.</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460bd150a54f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38b9edf10947cc" /><Relationship Type="http://schemas.openxmlformats.org/officeDocument/2006/relationships/slideLayout" Target="/ppt/slideLayouts/slideLayout1.xml" Id="R913376bad0bc42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3376bad0bc42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829e80e93e4d99" /><Relationship Type="http://schemas.openxmlformats.org/officeDocument/2006/relationships/image" Target="/ppt/media/image.png" Id="Re71cc727041a4ffd" /><Relationship Type="http://schemas.openxmlformats.org/officeDocument/2006/relationships/notesSlide" Target="/ppt/notesSlides/notesSlide1.xml" Id="R665a9da7834049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8d4ecb83dc4f26" /><Relationship Type="http://schemas.openxmlformats.org/officeDocument/2006/relationships/notesSlide" Target="/ppt/notesSlides/notesSlide2.xml" Id="Rc45f5e4b2d544d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4b8ed006a14e46" /><Relationship Type="http://schemas.openxmlformats.org/officeDocument/2006/relationships/notesSlide" Target="/ppt/notesSlides/notesSlide3.xml" Id="R6d7d25d96d354c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178f6a9ae54e98" /><Relationship Type="http://schemas.openxmlformats.org/officeDocument/2006/relationships/notesSlide" Target="/ppt/notesSlides/notesSlide4.xml" Id="Ra88c4d9d950645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940dd1fd0946b4" /><Relationship Type="http://schemas.openxmlformats.org/officeDocument/2006/relationships/notesSlide" Target="/ppt/notesSlides/notesSlide5.xml" Id="R3683e3ee75854a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76c2f6c54a406f" /><Relationship Type="http://schemas.openxmlformats.org/officeDocument/2006/relationships/notesSlide" Target="/ppt/notesSlides/notesSlide6.xml" Id="Re015875fa0d34f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067d47c8794b6f" /><Relationship Type="http://schemas.openxmlformats.org/officeDocument/2006/relationships/notesSlide" Target="/ppt/notesSlides/notesSlide7.xml" Id="Rd5ffc2d6824347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8a81473110423d" /><Relationship Type="http://schemas.openxmlformats.org/officeDocument/2006/relationships/notesSlide" Target="/ppt/notesSlides/notesSlide8.xml" Id="R5307d749ac16481f"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1cc727041a4ff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E3A4CD-45BE-4F8D-A21E-B70BE1747641}"/>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19</a:t>
            </a:r>
          </a:p>
        </p:txBody>
      </p:sp>
      <p:sp>
        <p:nvSpPr>
          <p:cNvPr id="3" name="">
            <a:extLst xmlns:a="http://schemas.openxmlformats.org/drawingml/2006/main">
              <a:ext uri="{FF2B5EF4-FFF2-40B4-BE49-F238E27FC236}">
                <a16:creationId xmlns:a16="http://schemas.microsoft.com/office/drawing/2014/main" id="{44955D76-D167-4495-B6F7-6C9D8326D4B9}"/>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Privacy, Confidentiality, and Public Records</a:t>
            </a:r>
          </a:p>
        </p:txBody>
      </p:sp>
      <p:sp>
        <p:nvSpPr>
          <p:cNvPr id="4" name="">
            <a:extLst xmlns:a="http://schemas.openxmlformats.org/drawingml/2006/main">
              <a:ext uri="{FF2B5EF4-FFF2-40B4-BE49-F238E27FC236}">
                <a16:creationId xmlns:a16="http://schemas.microsoft.com/office/drawing/2014/main" id="{7FEE3254-7E12-4733-A7DA-08A68B617635}"/>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C083291-77F3-47AA-BADB-DD1A6377A869}"/>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319ECFE-BC93-4F92-A9AD-F514D7A9F7E4}"/>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6402256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A072DE-6B5B-4121-B42C-277ED91DCA5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8104DA5-82E3-4C70-BF64-BE5B67689CC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630AA42A-3FD4-4E1B-9ECA-AB7C976C606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4A62988-74C4-4731-A8F5-9F1AAEDF9D8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use in public health must account for PHI, PII, confidential public health records, investigation data, data-sharing limits, retention rules, and public records obligations.</a:t>
            </a:r>
          </a:p>
        </p:txBody>
      </p:sp>
      <p:sp>
        <p:nvSpPr>
          <p:cNvPr id="5" name="">
            <a:extLst xmlns:a="http://schemas.openxmlformats.org/drawingml/2006/main">
              <a:ext uri="{FF2B5EF4-FFF2-40B4-BE49-F238E27FC236}">
                <a16:creationId xmlns:a16="http://schemas.microsoft.com/office/drawing/2014/main" id="{1AD1B3A2-0B02-4E64-856D-9FFEDFC51C55}"/>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D7C15F6-8A6A-4D9F-B9B6-0F9CBB3B5B40}"/>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5DF8736-AE1E-4565-B96C-57DDD05E4A6E}"/>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AA4C1F9A-92E0-4090-B6F4-6E5C5079C4A2}"/>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Privacy, confidentiality, and records controls are foundational for STLT public health AI because departments handle sensitive information, regulatory records, investigations, partner data, and public accountability obligations.</a:t>
            </a:r>
          </a:p>
        </p:txBody>
      </p:sp>
      <p:sp>
        <p:nvSpPr>
          <p:cNvPr id="9" name="">
            <a:extLst xmlns:a="http://schemas.openxmlformats.org/drawingml/2006/main">
              <a:ext uri="{FF2B5EF4-FFF2-40B4-BE49-F238E27FC236}">
                <a16:creationId xmlns:a16="http://schemas.microsoft.com/office/drawing/2014/main" id="{9113A0AC-AE89-45CF-8ABB-A21E38795999}"/>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A552FB0-F345-44D6-9F80-51809670BE4B}"/>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B0B2508C-2B57-4593-9C09-C5B886FDC176}"/>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1F41CF9B-FC2E-4A90-8CB4-C7032619E765}"/>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Sensitive or confidential data can be exposed, retained, reused, or disclosed if staff use the wrong AI environment.</a:t>
            </a:r>
          </a:p>
        </p:txBody>
      </p:sp>
      <p:sp>
        <p:nvSpPr>
          <p:cNvPr id="13" name="">
            <a:extLst xmlns:a="http://schemas.openxmlformats.org/drawingml/2006/main">
              <a:ext uri="{FF2B5EF4-FFF2-40B4-BE49-F238E27FC236}">
                <a16:creationId xmlns:a16="http://schemas.microsoft.com/office/drawing/2014/main" id="{46741893-39E0-4EE6-A388-7B94A7F8CFF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4" name="">
            <a:extLst xmlns:a="http://schemas.openxmlformats.org/drawingml/2006/main">
              <a:ext uri="{FF2B5EF4-FFF2-40B4-BE49-F238E27FC236}">
                <a16:creationId xmlns:a16="http://schemas.microsoft.com/office/drawing/2014/main" id="{99D1955B-ABAA-4C2E-93BD-A5707EA48F7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58813960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F73181-C27E-4627-BE70-4FC5174DFD3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94332BD-D08D-4BD9-AE60-32E94808962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51973BC4-0E1D-4959-84CE-0BAE9A62C76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2958A93-A41F-45D4-8D11-17D78DFA25D3}"/>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5E326D27-5AA4-478F-A9BC-E386FC785E0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Privacy, Confidentiality, and Public Records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2E0B146C-6F59-42B0-8141-99EAFB7F9BC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7" name="">
            <a:extLst xmlns:a="http://schemas.openxmlformats.org/drawingml/2006/main">
              <a:ext uri="{FF2B5EF4-FFF2-40B4-BE49-F238E27FC236}">
                <a16:creationId xmlns:a16="http://schemas.microsoft.com/office/drawing/2014/main" id="{364C445B-2AC0-43D4-92A7-600B89B6DD3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0853161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DFBC69-4BCF-4F8A-A0BA-0B982705742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103C4F0-0B2E-450B-B014-68775E65017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68A90A41-0D5E-41C8-8E7B-A2FA0A2AAD2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1BE18CC-E01C-4B68-975D-8F278CEB2BD3}"/>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can change where data travel, who can access them, how long they are retained, and whether outputs become records. Staff need plain-language training on what information may be used, which AI environments are approved, and when legal, privacy, records, or data-sharing review is required.</a:t>
            </a:r>
          </a:p>
        </p:txBody>
      </p:sp>
      <p:sp>
        <p:nvSpPr>
          <p:cNvPr id="5" name="">
            <a:extLst xmlns:a="http://schemas.openxmlformats.org/drawingml/2006/main">
              <a:ext uri="{FF2B5EF4-FFF2-40B4-BE49-F238E27FC236}">
                <a16:creationId xmlns:a16="http://schemas.microsoft.com/office/drawing/2014/main" id="{C06DCEF2-2050-4584-9331-ECF90A053075}"/>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2615D25-D996-402C-8985-4F1E394964AF}"/>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EFB4C12-9633-4FEA-90F1-24D36E3BADC2}"/>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948A2ABD-C030-414D-A645-591DB04C1468}"/>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use in public health must account for PHI, PII, confidential public health records, investigation data, data-sharing limits, retention rules, and public records obligations.</a:t>
            </a:r>
          </a:p>
        </p:txBody>
      </p:sp>
      <p:sp>
        <p:nvSpPr>
          <p:cNvPr id="9" name="">
            <a:extLst xmlns:a="http://schemas.openxmlformats.org/drawingml/2006/main">
              <a:ext uri="{FF2B5EF4-FFF2-40B4-BE49-F238E27FC236}">
                <a16:creationId xmlns:a16="http://schemas.microsoft.com/office/drawing/2014/main" id="{96333EB2-8FDE-4ECA-A2FB-743B018AA5A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0" name="">
            <a:extLst xmlns:a="http://schemas.openxmlformats.org/drawingml/2006/main">
              <a:ext uri="{FF2B5EF4-FFF2-40B4-BE49-F238E27FC236}">
                <a16:creationId xmlns:a16="http://schemas.microsoft.com/office/drawing/2014/main" id="{093EA278-841A-4C82-B431-6B21FC810EC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90927274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3A8A78-FFC7-45E8-AA77-AAB1612694C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E1F9C5C-4058-4806-9C9B-F2DF8F3C1DE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3ADE4264-D3AC-4DEA-AAFF-B63CFC74D6E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4CE333E-0BC8-4514-BFFB-552BDE29218B}"/>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9897DAB-8B09-4CE2-9B64-8706AD1A49FC}"/>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7672F0F-F99A-4825-8DA3-8D0969B8ECDB}"/>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Data Categories</a:t>
            </a:r>
          </a:p>
        </p:txBody>
      </p:sp>
      <p:sp>
        <p:nvSpPr>
          <p:cNvPr id="7" name="">
            <a:extLst xmlns:a="http://schemas.openxmlformats.org/drawingml/2006/main">
              <a:ext uri="{FF2B5EF4-FFF2-40B4-BE49-F238E27FC236}">
                <a16:creationId xmlns:a16="http://schemas.microsoft.com/office/drawing/2014/main" id="{5EE9FC46-23A3-4959-8C74-71A93D8CAF21}"/>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information that can safely be used in approved public-facing contexts. Internal information that may be used in enterprise tools under agency policy. Confidential, identifiable, or protected information that requires restricted.</a:t>
            </a:r>
          </a:p>
        </p:txBody>
      </p:sp>
      <p:sp>
        <p:nvSpPr>
          <p:cNvPr id="8" name="">
            <a:extLst xmlns:a="http://schemas.openxmlformats.org/drawingml/2006/main">
              <a:ext uri="{FF2B5EF4-FFF2-40B4-BE49-F238E27FC236}">
                <a16:creationId xmlns:a16="http://schemas.microsoft.com/office/drawing/2014/main" id="{5AB58DB6-C95F-4852-8318-239A49D67E47}"/>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61F3B90-1CAF-47AF-A0D2-976DDB888437}"/>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C68E073-2C4C-433B-B9F0-4C0127A90D33}"/>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Records and Retention</a:t>
            </a:r>
          </a:p>
        </p:txBody>
      </p:sp>
      <p:sp>
        <p:nvSpPr>
          <p:cNvPr id="11" name="">
            <a:extLst xmlns:a="http://schemas.openxmlformats.org/drawingml/2006/main">
              <a:ext uri="{FF2B5EF4-FFF2-40B4-BE49-F238E27FC236}">
                <a16:creationId xmlns:a16="http://schemas.microsoft.com/office/drawing/2014/main" id="{BADD143F-954A-4411-BF05-3BE63325825C}"/>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prompts, outputs, summaries, edits, decisions, and approvals may become records depending on jurisdiction and use. Departments should define when AI-assisted work must be retained, where it is stored, and how it is labeled. Staff should.</a:t>
            </a:r>
          </a:p>
        </p:txBody>
      </p:sp>
      <p:sp>
        <p:nvSpPr>
          <p:cNvPr id="12" name="">
            <a:extLst xmlns:a="http://schemas.openxmlformats.org/drawingml/2006/main">
              <a:ext uri="{FF2B5EF4-FFF2-40B4-BE49-F238E27FC236}">
                <a16:creationId xmlns:a16="http://schemas.microsoft.com/office/drawing/2014/main" id="{AA909116-1863-43B9-B17A-13F044ECDBB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84FC161-39BB-43C6-A4BF-CED5D8ED248F}"/>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4E28907D-F7B5-46F1-99D2-34E3D32607FD}"/>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2AC14A6D-3F12-4373-ACE5-9686AEE8DBA0}"/>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Classify data before selecting an AI tool. Review data use agreements, vendor terms, retention rules, and public records obligations. Train staff on prohibited data entry and escalation pathways for uncertain cases.</a:t>
            </a:r>
          </a:p>
        </p:txBody>
      </p:sp>
      <p:sp>
        <p:nvSpPr>
          <p:cNvPr id="16" name="">
            <a:extLst xmlns:a="http://schemas.openxmlformats.org/drawingml/2006/main">
              <a:ext uri="{FF2B5EF4-FFF2-40B4-BE49-F238E27FC236}">
                <a16:creationId xmlns:a16="http://schemas.microsoft.com/office/drawing/2014/main" id="{E66C4107-7EF0-48AD-AE39-73E943D8977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7" name="">
            <a:extLst xmlns:a="http://schemas.openxmlformats.org/drawingml/2006/main">
              <a:ext uri="{FF2B5EF4-FFF2-40B4-BE49-F238E27FC236}">
                <a16:creationId xmlns:a16="http://schemas.microsoft.com/office/drawing/2014/main" id="{8CF310E3-3F96-4F77-B2D6-A83E9906B98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894572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5FFD19-1CFD-4D07-BED8-D6695777948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C8277AF-DB72-4D38-927A-DA06DD3A2EF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768518BD-7A01-4AC5-B13C-07314D6D627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E93A3DD-7D94-4730-9B3D-76083263BF12}"/>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A0D91E47-40E2-4CFB-85A3-B4B2A619A4C6}"/>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6EFECC2-D552-425D-92C5-84DE580B3701}"/>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16DC791-4074-4D7D-944A-F8285A706829}"/>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Classify data before AI use</a:t>
            </a:r>
          </a:p>
        </p:txBody>
      </p:sp>
      <p:sp>
        <p:nvSpPr>
          <p:cNvPr id="8" name="">
            <a:extLst xmlns:a="http://schemas.openxmlformats.org/drawingml/2006/main">
              <a:ext uri="{FF2B5EF4-FFF2-40B4-BE49-F238E27FC236}">
                <a16:creationId xmlns:a16="http://schemas.microsoft.com/office/drawing/2014/main" id="{A38E72F8-E052-456B-91EA-0B11F9CB18C6}"/>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85AD0269-2F22-405C-A8A6-6AF63C575B92}"/>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87B8043-2CF0-4178-9192-287876F11B23}"/>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B6F45E9-44FC-4199-9E19-B73BEA4E9E09}"/>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public records implications</a:t>
            </a:r>
          </a:p>
        </p:txBody>
      </p:sp>
      <p:sp>
        <p:nvSpPr>
          <p:cNvPr id="12" name="">
            <a:extLst xmlns:a="http://schemas.openxmlformats.org/drawingml/2006/main">
              <a:ext uri="{FF2B5EF4-FFF2-40B4-BE49-F238E27FC236}">
                <a16:creationId xmlns:a16="http://schemas.microsoft.com/office/drawing/2014/main" id="{9CA9C0CB-F9D1-454D-9B07-CC1F3BFE2BBB}"/>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74648A52-EA76-4999-A2FE-00D2849139D4}"/>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7C45DA4-487D-4380-A4C7-6F85FEFA2F63}"/>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19E3A68E-E199-4A28-AC26-B277CD6C14EF}"/>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Avoid entering sensitive data in public tools</a:t>
            </a:r>
          </a:p>
        </p:txBody>
      </p:sp>
      <p:sp>
        <p:nvSpPr>
          <p:cNvPr id="16" name="">
            <a:extLst xmlns:a="http://schemas.openxmlformats.org/drawingml/2006/main">
              <a:ext uri="{FF2B5EF4-FFF2-40B4-BE49-F238E27FC236}">
                <a16:creationId xmlns:a16="http://schemas.microsoft.com/office/drawing/2014/main" id="{69D15FD6-9626-4B03-9E76-40767E0CB01A}"/>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022D4DC4-16E8-4111-B35C-1DA2C1CDDDA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8" name="">
            <a:extLst xmlns:a="http://schemas.openxmlformats.org/drawingml/2006/main">
              <a:ext uri="{FF2B5EF4-FFF2-40B4-BE49-F238E27FC236}">
                <a16:creationId xmlns:a16="http://schemas.microsoft.com/office/drawing/2014/main" id="{EB7D55B6-B0F3-4F80-A02A-E641C508ACE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37172752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7B549A-6EDA-4A26-919F-AB696750B40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8D2BC37-1517-42D4-B01D-0DD7DBDA709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4D5A6587-C9CB-4E97-A193-0304DA46628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DBCA3A9-277A-49A3-94EC-5F9928ABEC55}"/>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7DAF425-3B88-4402-8948-A30B91DC2CF6}"/>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9154E5A-05A5-4CE9-9A6C-4B21068AC59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47B005A-2661-470C-93DA-DCEB08A6D764}"/>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types of department data should never be entered into public AI tools? Where should AI prompts and outputs be stored when they support official work? Who decides whether a proposed AI use requires privacy, legal, or records review?</a:t>
            </a:r>
          </a:p>
        </p:txBody>
      </p:sp>
      <p:sp>
        <p:nvSpPr>
          <p:cNvPr id="8" name="">
            <a:extLst xmlns:a="http://schemas.openxmlformats.org/drawingml/2006/main">
              <a:ext uri="{FF2B5EF4-FFF2-40B4-BE49-F238E27FC236}">
                <a16:creationId xmlns:a16="http://schemas.microsoft.com/office/drawing/2014/main" id="{26A462DF-7A0A-40E8-8514-E8AA87FB5F8A}"/>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1EB206C-8B4A-473A-A13C-9E121CE3644F}"/>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C58ECD59-18F0-4893-81D1-E8FD191C515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23D26671-B690-46BD-8F94-2460059682DE}"/>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Sort example AI tasks into public, internal, confidential, and highly restricted data-use categories, then identify the approved AI environment and review pathway for each.</a:t>
            </a:r>
          </a:p>
        </p:txBody>
      </p:sp>
      <p:sp>
        <p:nvSpPr>
          <p:cNvPr id="12" name="">
            <a:extLst xmlns:a="http://schemas.openxmlformats.org/drawingml/2006/main">
              <a:ext uri="{FF2B5EF4-FFF2-40B4-BE49-F238E27FC236}">
                <a16:creationId xmlns:a16="http://schemas.microsoft.com/office/drawing/2014/main" id="{B6720F98-0AE6-4A79-A941-4B11F313D66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3" name="">
            <a:extLst xmlns:a="http://schemas.openxmlformats.org/drawingml/2006/main">
              <a:ext uri="{FF2B5EF4-FFF2-40B4-BE49-F238E27FC236}">
                <a16:creationId xmlns:a16="http://schemas.microsoft.com/office/drawing/2014/main" id="{709110C8-E1CA-4B47-A9AE-EE916C0A576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2059564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9FE940-5671-4EA3-880A-EFFAB3AFCBD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83ECDDD-C674-4A24-A32B-619436B16C9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19B39A55-74BE-4531-9A9C-6A3095DF92C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3798F46-DE9B-41CA-9131-A6B0C01AC3B6}"/>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4CEA2F8-C811-454E-8EEC-6C6757BDFCAE}"/>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49A8625-7345-4746-A471-C3AE7C5E3DCE}"/>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1774A42D-C6E2-4838-8033-D889164BFD79}"/>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7, 11, 12 and Tools 7, 10, 15, 17, 34.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87FA8869-8422-4585-A5F2-CF03921739D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8EC6716-CB81-453F-A4EF-8420DEDC6AD3}"/>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2ED73C5E-3377-4B7D-AF0A-EB929BACC5B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9950F4D-5AD0-450E-AD5E-C3C58F7EE717}"/>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HIPAA: Federal privacy framework when protected health information may be involved. CDC Public Health Data Policy and Standards: Public health data policy and standards context for responsible data use. NIST Privacy Framework: Privacy risk.</a:t>
            </a:r>
          </a:p>
        </p:txBody>
      </p:sp>
      <p:sp>
        <p:nvSpPr>
          <p:cNvPr id="12" name="">
            <a:extLst xmlns:a="http://schemas.openxmlformats.org/drawingml/2006/main">
              <a:ext uri="{FF2B5EF4-FFF2-40B4-BE49-F238E27FC236}">
                <a16:creationId xmlns:a16="http://schemas.microsoft.com/office/drawing/2014/main" id="{E5DB5199-A4E3-49A7-A088-6752439BD6A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Privacy, Confidentiality, and Public Records</a:t>
            </a:r>
          </a:p>
        </p:txBody>
      </p:sp>
      <p:sp>
        <p:nvSpPr>
          <p:cNvPr id="13" name="">
            <a:extLst xmlns:a="http://schemas.openxmlformats.org/drawingml/2006/main">
              <a:ext uri="{FF2B5EF4-FFF2-40B4-BE49-F238E27FC236}">
                <a16:creationId xmlns:a16="http://schemas.microsoft.com/office/drawing/2014/main" id="{498AB0CC-C6CC-4706-B616-008420BDD85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649798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2026-07-02T17:47:04.1570000Z</dcterms:created>
  <dcterms:modified xsi:type="dcterms:W3CDTF">2026-07-02T17:47:04.1570000Z</dcterms:modified>
</coreProperties>
</file>