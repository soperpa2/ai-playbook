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 410 AI Portfolio Strategy and Use Case Prioritization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advanced/leadership
Primary track: Public Health Executive Leadership Track
Appears in tracks: governance-security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7: Prioritize Use Cases - This lesson informs Play 7 by helping learners connect the lesson topic to prioritize use cases work in the AI Playbook sequence.
Play 8: Develop a Funding Strategy - This lesson informs Play 8 by helping learners connect the lesson topic to develop a funding strategy work in the AI Playbook sequence.
Play 1: Vision &amp; Guardrails - This lesson informs Play 1 by helping learners connect the lesson topic to vision &amp; guardrails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33: Funding Strategy Checklists (Checklist) - Use this tool to complete or strengthen the practical exercise for the module using fictional, de-identified, or generalized.
Tool 35: AI Total Cost of Ownership and Sustainability Worksheet (Worksheet)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this tool to complete or strengthen the practical exercise for the module using fictional, de-identified, or generalized.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the purpose of an AI portfolio strategy for public health agencies.
Develop criteria for prioritizing AI use cases based on public health value, readiness, risk, and sustainability.
Identify use cases that should be pursued, piloted, deferred, redesigned, or rejected.
Create a portfolio view that balances innovation, risk, equity, and operational capacity.
Produce a use case prioritization rubric for governance or leadership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AI opportunities can quickly exceed an agency's capacity to evaluate, implement, and sustain them. Leaders need a portfolio strategy that helps distinguish high-value public health uses from attractive but low-impact experiments. A portfolio approach organizes AI opportunities across programs, risk levels, readiness, equity impact, technical feasibility, expected benefit, and sustainability needs.
This module teaches leaders how to create an AI use case intake and prioritization process. The module emphasizes that prioritization should not be based only on novelty or vendor availability. It should be based on mission alignment, public health value, data readiness, workflow fit, risk, equity, staff capacity, cost, and the ability to monitor and sustain the use case over time.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national-level module is intended for training and planning purposes. It does not replace legal, privacy, procurement, civil rights, records, or agency policy review. Learners should confirm applicable requirements in their own jurisdiction and organization before implementing AI-supported workflows.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Public health agencies have many possible AI use cases: summarizing case notes, analyzing call logs, drafting messages, identifying data quality gaps, forecasting demand, prioritizing inspections, supporting grants, and improving knowledge management. Without a portfolio strategy, agencies may choose projects because they are visible, easy to demonstrate, or championed by a strong vendor rather than because they advance the public health mission.
A portfolio strategy protects scarce capacity. Technical teams, privacy officers, legal counsel, procurement staff, program leaders, and data stewards cannot review every idea at the same intensity. Prioritization helps the agency focus deep review on use cases with meaningful benefit and material risk while creating faster pathways for low-risk internal productivity uses.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health department receives proposals for five AI uses: a public chatbot, a staff policy assistant, an outbreak signal detection model, a vendor tool to summarize eCRs, and an internal tool to draft grant narratives. Each proposal has different benefits and risks. A public chatbot may be visible but high-risk if it gives health advice. A staff policy assistant may be lower risk if it uses approved internal documents. An outbreak model may be valuable but require strong data quality and validation.
A portfolio review allows the agency to compare these proposals systematically. The agency may approve a low-risk internal pilot, defer the chatbot until public communication safeguards are developed, require validation planning for the outbreak model, and move the eCR summarization tool into deeper technical review. The result is a balanced portfolio rather than a series of disconnected decisions.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Governance Deep Dive
A useful portfolio strategy begins with categories. Agencies can classify AI opportunities by function, such as internal productivity, knowledge management, surveillance support, decision support, communication, automation, research, or public-facing service. They can also classify by risk, such as low, moderate, high, or prohibited. These categories help leadership understand where AI activity is concentrated and whether the portfolio reflects agency priorities.
Prioritization criteria should include mission alignment, expected public health benefit, workflow burden reduction, data readiness, legal authority, privacy sensitivity, equity impact, technical feasibility, implementation complexity, vendor dependency, cost, sustainability, and monitoring feasibility. A use case with high potential benefit but weak data readiness may be deferred until modernization work improves. A use case with moderate benefit and low risk may be an appropriate early pilot.
Portfolio governance should include regular review. Some use cases should move from idea to pilot, from pilot to operational use, or from operational use to retirement. Others should be stopped because they lack value, create unacceptable risk, duplicate another effort, or depend on unsustainable funding. A living portfolio helps leadership make these decisions transparently.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A major risk is pilot proliferation. Agencies may launch many small AI pilots without a pathway to scale, evaluate, sustain, or retire them. A guardrail is to require every pilot to define success criteria, evaluation evidence, funding assumptions, and an end point.
Another risk is inequitable prioritization. Projects serving better-resourced programs may advance faster than projects addressing underserved communities. A guardrail is to include equity impact and community benefit in the prioritization rubric.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projects may be prioritized for internal knowledge management before public-facing use. Predictive analytics projects may be prioritized only when data and validation plans are mature. Agentic workflows may be deferred until governance has defined decision rights, access controls, and rollback procedures. Portfolio strategy helps leaders sequence AI adoption responsibly.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current or proposed AI use case in your agency raises this leadership or governance issue most clearly?
Who currently has authority to make decisions about this issue, and is that authority documented?
What evidence would governance or leadership need before approving the use case?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Which staff, partners, or communities would be affected if this issue were handled poorly?
What policy, process, or artifact should be created or updated after this module?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Develop an AI use case prioritization rubric with criteria, scoring levels, required evidence, and decision categories such as pursue, pilot, redesign, defer, or reject.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You Begin
Choose a real or realistic public health AI use case. Document assumptions, unresolved questions, and which agency roles would need to review the artifact before it is adopted. The exercise should produce a work product that could support governance review, leadership discussion, implementation planning, or policy development.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Use case intake form; prioritization rubric; sample portfolio view; decision category definitions.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Use case intake form; prioritization rubric; sample portfolio view; decision category definitions.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the strongest reason this module topic belongs in AI leadership and governance training?
2. Which practice best supports accountable public health AI governance?
3. When should an AI use case be escalated for leadership or governance review?
4. What is weak evidence of completion for a leadership and governance module?
5. What should leaders do when an AI use case has meaningful benefits but unresolved risks?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(AI RMF 1.0): https://www.nist.gov/itl/ai-risk-management-framework
NIST Generative AI Profile: https://www.nist.gov/publications/artificial-intelligence-risk-management-framework-generative-artificial-intelligence
NIST Privacy Framework
CDC Public Health Data Strategy and Data Modernization resources: https://www.cdc.gov/public-health-data-strategy/php/about/index.html
WHO Ethics and Governance of Artificial Intelligence for Health: https://www.who.int/publications/i/item/9789240029200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OMB Memorandum M-24-10 on federal AI governance, risk management, and innovation, where relevant to public-sector governance models
Agency strategic plans, procurement policies, privacy policies, cybersecurity policies, records policies, and equity plans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EXE 410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AI Portfolio Strategy and Use Case Prioritization</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2100" dirty="0"/>
          </a:p>
          <a:p>
            <a:r>
              <a:rPr lang="en-US" sz="21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 but.</a:t>
            </a:r>
            <a:endParaRPr lang="en-US" sz="2100" dirty="0"/>
          </a:p>
          <a:p>
            <a:r>
              <a:rPr lang="en-US" sz="21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 technical.</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advanced/leadership</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Public Health Executive Leadership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governance-security</a:t>
            </a:r>
            <a:endParaRPr lang="en-US" sz="155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Read the module for shared vocabulary and context.</a:t>
            </a:r>
            <a:endParaRPr lang="en-US" sz="1380" dirty="0"/>
          </a:p>
          <a:p>
            <a:r>
              <a:rPr lang="en-US" sz="1380" dirty="0">
                <a:solidFill>
                  <a:srgbClr val="17364A"/>
                </a:solidFill>
                <a:latin typeface="Aptos" pitchFamily="34" charset="0"/>
                <a:ea typeface="Aptos" pitchFamily="34" charset="-122"/>
                <a:cs typeface="Aptos" pitchFamily="34" charset="-120"/>
              </a:rPr>
              <a:t>Complete the practical exercise to apply the concept.</a:t>
            </a:r>
            <a:endParaRPr lang="en-US" sz="1380" dirty="0"/>
          </a:p>
          <a:p>
            <a:r>
              <a:rPr lang="en-US" sz="1380" dirty="0">
                <a:solidFill>
                  <a:srgbClr val="17364A"/>
                </a:solidFill>
                <a:latin typeface="Aptos" pitchFamily="34" charset="0"/>
                <a:ea typeface="Aptos" pitchFamily="34" charset="-122"/>
                <a:cs typeface="Aptos" pitchFamily="34" charset="-120"/>
              </a:rPr>
              <a:t>Use the notes and references for deeper review.</a:t>
            </a:r>
            <a:endParaRPr lang="en-US" sz="13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11: Build and Deploy AI Solutions - This lesson informs Play 11 by helping learners connect the lesson.</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8: Develop a Funding Strategy - This lesson informs Play 8 by helping learners connect the lesson topic.</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Locate the decision point in the playbook sequence.</a:t>
            </a:r>
            <a:endParaRPr lang="en-US" sz="1380" dirty="0"/>
          </a:p>
          <a:p>
            <a:r>
              <a:rPr lang="en-US" sz="1380" dirty="0">
                <a:solidFill>
                  <a:srgbClr val="17364A"/>
                </a:solidFill>
                <a:latin typeface="Aptos" pitchFamily="34" charset="0"/>
                <a:ea typeface="Aptos" pitchFamily="34" charset="-122"/>
                <a:cs typeface="Aptos" pitchFamily="34" charset="-120"/>
              </a:rPr>
              <a:t>Identify who should participate in the work.</a:t>
            </a:r>
            <a:endParaRPr lang="en-US" sz="1380" dirty="0"/>
          </a:p>
          <a:p>
            <a:r>
              <a:rPr lang="en-US" sz="1380" dirty="0">
                <a:solidFill>
                  <a:srgbClr val="17364A"/>
                </a:solidFill>
                <a:latin typeface="Aptos" pitchFamily="34" charset="0"/>
                <a:ea typeface="Aptos" pitchFamily="34" charset="-122"/>
                <a:cs typeface="Aptos" pitchFamily="34" charset="-120"/>
              </a:rPr>
              <a:t>Document the review, approval, or implementation step.</a:t>
            </a:r>
            <a:endParaRPr lang="en-US" sz="13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33: Funding Strategy Checklists (Checklist)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35: AI Total Cost of Ownership and Sustainability Worksheet (Worksheet) - Use this tool to complete or.</a:t>
            </a:r>
            <a:endParaRPr lang="en-US" sz="1850" dirty="0"/>
          </a:p>
          <a:p>
            <a:r>
              <a:rPr lang="en-US" sz="1850" dirty="0">
                <a:solidFill>
                  <a:srgbClr val="17364A"/>
                </a:solidFill>
                <a:latin typeface="Aptos" pitchFamily="34" charset="0"/>
                <a:ea typeface="Aptos" pitchFamily="34" charset="-122"/>
                <a:cs typeface="Aptos" pitchFamily="34" charset="-120"/>
              </a:rPr>
              <a:t>Tool 4: AI Policy Landscape Scan (Worksheet) - Use AI Policy Landscape Scan to translate this lesson into a.</a:t>
            </a:r>
            <a:endParaRPr lang="en-US" sz="1850" dirty="0"/>
          </a:p>
          <a:p>
            <a:r>
              <a:rPr lang="en-US" sz="1850" dirty="0">
                <a:solidFill>
                  <a:srgbClr val="17364A"/>
                </a:solidFill>
                <a:latin typeface="Aptos" pitchFamily="34" charset="0"/>
                <a:ea typeface="Aptos" pitchFamily="34" charset="-122"/>
                <a:cs typeface="Aptos" pitchFamily="34" charset="-120"/>
              </a:rPr>
              <a:t>Tool 5: AI Environmental and Resource Impact Review (Checklist) - Use this tool to complete or strengthen.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a tool when no comparable local process exists.</a:t>
            </a:r>
            <a:endParaRPr lang="en-US" sz="1380" dirty="0"/>
          </a:p>
          <a:p>
            <a:r>
              <a:rPr lang="en-US" sz="1380" dirty="0">
                <a:solidFill>
                  <a:srgbClr val="17364A"/>
                </a:solidFill>
                <a:latin typeface="Aptos" pitchFamily="34" charset="0"/>
                <a:ea typeface="Aptos" pitchFamily="34" charset="-122"/>
                <a:cs typeface="Aptos" pitchFamily="34" charset="-120"/>
              </a:rPr>
              <a:t>Adapt existing department templates when they already fit the purpose.</a:t>
            </a:r>
            <a:endParaRPr lang="en-US" sz="1380" dirty="0"/>
          </a:p>
          <a:p>
            <a:r>
              <a:rPr lang="en-US" sz="1380" dirty="0">
                <a:solidFill>
                  <a:srgbClr val="17364A"/>
                </a:solidFill>
                <a:latin typeface="Aptos" pitchFamily="34" charset="0"/>
                <a:ea typeface="Aptos" pitchFamily="34" charset="-122"/>
                <a:cs typeface="Aptos" pitchFamily="34" charset="-120"/>
              </a:rPr>
              <a:t>Save the completed artifact as evidence of the decision.</a:t>
            </a:r>
            <a:endParaRPr lang="en-US" sz="13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2100" dirty="0"/>
          </a:p>
          <a:p>
            <a:r>
              <a:rPr lang="en-US" sz="2100" dirty="0">
                <a:solidFill>
                  <a:srgbClr val="17364A"/>
                </a:solidFill>
                <a:latin typeface="Aptos" pitchFamily="34" charset="0"/>
                <a:ea typeface="Aptos" pitchFamily="34" charset="-122"/>
                <a:cs typeface="Aptos" pitchFamily="34" charset="-120"/>
              </a:rPr>
              <a:t>Develop criteria for prioritizing AI use cases based on public health value, readiness, risk, and.</a:t>
            </a:r>
            <a:endParaRPr lang="en-US" sz="2100" dirty="0"/>
          </a:p>
          <a:p>
            <a:r>
              <a:rPr lang="en-US" sz="2100" dirty="0">
                <a:solidFill>
                  <a:srgbClr val="17364A"/>
                </a:solidFill>
                <a:latin typeface="Aptos" pitchFamily="34" charset="0"/>
                <a:ea typeface="Aptos" pitchFamily="34" charset="-122"/>
                <a:cs typeface="Aptos" pitchFamily="34" charset="-120"/>
              </a:rPr>
              <a:t>Identify use cases that should be pursued, piloted, deferred, redesigned, or rejected.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Define the purpose of an AI portfolio strategy for public health agencies.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Develop criteria for prioritizing AI use cases based on public health value, readiness,.</a:t>
            </a:r>
            <a:endParaRPr lang="en-US" sz="1380" dirty="0"/>
          </a:p>
          <a:p>
            <a:r>
              <a:rPr lang="en-US" sz="1380" dirty="0">
                <a:solidFill>
                  <a:srgbClr val="17364A"/>
                </a:solidFill>
                <a:latin typeface="Aptos" pitchFamily="34" charset="0"/>
                <a:ea typeface="Aptos" pitchFamily="34" charset="-122"/>
                <a:cs typeface="Aptos" pitchFamily="34" charset="-120"/>
              </a:rPr>
              <a:t>Create a portfolio view that balances innovation, risk, equity, and operational capacity.</a:t>
            </a:r>
            <a:endParaRPr lang="en-US" sz="1380" dirty="0"/>
          </a:p>
          <a:p>
            <a:r>
              <a:rPr lang="en-US" sz="1380" dirty="0">
                <a:solidFill>
                  <a:srgbClr val="17364A"/>
                </a:solidFill>
                <a:latin typeface="Aptos" pitchFamily="34" charset="0"/>
                <a:ea typeface="Aptos" pitchFamily="34" charset="-122"/>
                <a:cs typeface="Aptos" pitchFamily="34" charset="-120"/>
              </a:rPr>
              <a:t>Produce a use case prioritization rubric for governance or leadership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2100" dirty="0"/>
          </a:p>
          <a:p>
            <a:r>
              <a:rPr lang="en-US" sz="2100" dirty="0">
                <a:solidFill>
                  <a:srgbClr val="17364A"/>
                </a:solidFill>
                <a:latin typeface="Aptos" pitchFamily="34" charset="0"/>
                <a:ea typeface="Aptos" pitchFamily="34" charset="-122"/>
                <a:cs typeface="Aptos" pitchFamily="34" charset="-120"/>
              </a:rPr>
              <a:t>Leaders need a portfolio strategy that helps distinguish high-value public health uses from attractive.</a:t>
            </a:r>
            <a:endParaRPr lang="en-US" sz="2100" dirty="0"/>
          </a:p>
          <a:p>
            <a:r>
              <a:rPr lang="en-US" sz="2100" dirty="0">
                <a:solidFill>
                  <a:srgbClr val="17364A"/>
                </a:solidFill>
                <a:latin typeface="Aptos" pitchFamily="34" charset="0"/>
                <a:ea typeface="Aptos" pitchFamily="34" charset="-122"/>
                <a:cs typeface="Aptos" pitchFamily="34" charset="-120"/>
              </a:rPr>
              <a:t>A portfolio approach organizes AI opportunities across programs, risk levels, readiness, equity impact,.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AI opportunities can quickly exceed an agency's capacity to evaluate, implement, and sustain them.</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Leaders need a portfolio strategy that helps distinguish high-value public health uses.</a:t>
            </a:r>
            <a:endParaRPr lang="en-US" sz="1380" dirty="0"/>
          </a:p>
          <a:p>
            <a:r>
              <a:rPr lang="en-US" sz="1380" dirty="0">
                <a:solidFill>
                  <a:srgbClr val="17364A"/>
                </a:solidFill>
                <a:latin typeface="Aptos" pitchFamily="34" charset="0"/>
                <a:ea typeface="Aptos" pitchFamily="34" charset="-122"/>
                <a:cs typeface="Aptos" pitchFamily="34" charset="-120"/>
              </a:rPr>
              <a:t>A portfolio approach organizes AI opportunities across programs, risk levels, readiness,.</a:t>
            </a:r>
            <a:endParaRPr lang="en-US" sz="1380" dirty="0"/>
          </a:p>
          <a:p>
            <a:r>
              <a:rPr lang="en-US" sz="1380" dirty="0">
                <a:solidFill>
                  <a:srgbClr val="17364A"/>
                </a:solidFill>
                <a:latin typeface="Aptos" pitchFamily="34" charset="0"/>
                <a:ea typeface="Aptos" pitchFamily="34" charset="-122"/>
                <a:cs typeface="Aptos" pitchFamily="34" charset="-120"/>
              </a:rPr>
              <a:t>This module teaches leaders how to create an AI use case intake and prioritization process.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2100" dirty="0"/>
          </a:p>
          <a:p>
            <a:r>
              <a:rPr lang="en-US" sz="2100" dirty="0">
                <a:solidFill>
                  <a:srgbClr val="17364A"/>
                </a:solidFill>
                <a:latin typeface="Aptos" pitchFamily="34" charset="0"/>
                <a:ea typeface="Aptos" pitchFamily="34" charset="-122"/>
                <a:cs typeface="Aptos" pitchFamily="34" charset="-120"/>
              </a:rPr>
              <a:t>It does not replace legal, privacy, procurement, civil rights, records, or agency policy review.</a:t>
            </a:r>
            <a:endParaRPr lang="en-US" sz="2100" dirty="0"/>
          </a:p>
          <a:p>
            <a:r>
              <a:rPr lang="en-US" sz="2100" dirty="0">
                <a:solidFill>
                  <a:srgbClr val="17364A"/>
                </a:solidFill>
                <a:latin typeface="Aptos" pitchFamily="34" charset="0"/>
                <a:ea typeface="Aptos" pitchFamily="34" charset="-122"/>
                <a:cs typeface="Aptos" pitchFamily="34" charset="-120"/>
              </a:rPr>
              <a:t>Learners should confirm applicable requirements in their own jurisdiction and organization before.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This national-level module is intended for training and planning purposes.</a:t>
            </a:r>
            <a:endParaRPr lang="en-US" sz="1380" dirty="0"/>
          </a:p>
          <a:p>
            <a:r>
              <a:rPr lang="en-US" sz="1380" dirty="0">
                <a:solidFill>
                  <a:srgbClr val="17364A"/>
                </a:solidFill>
                <a:latin typeface="Aptos" pitchFamily="34" charset="0"/>
                <a:ea typeface="Aptos" pitchFamily="34" charset="-122"/>
                <a:cs typeface="Aptos" pitchFamily="34" charset="-120"/>
              </a:rPr>
              <a:t>It does not replace legal, privacy, procurement, civil rights, records, or agency policy.</a:t>
            </a:r>
            <a:endParaRPr lang="en-US" sz="1380" dirty="0"/>
          </a:p>
          <a:p>
            <a:r>
              <a:rPr lang="en-US" sz="1380" dirty="0">
                <a:solidFill>
                  <a:srgbClr val="17364A"/>
                </a:solidFill>
                <a:latin typeface="Aptos" pitchFamily="34" charset="0"/>
                <a:ea typeface="Aptos" pitchFamily="34" charset="-122"/>
                <a:cs typeface="Aptos" pitchFamily="34" charset="-120"/>
              </a:rPr>
              <a:t>Learners should confirm applicable requirements in their own jurisdiction and organization.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2100" dirty="0"/>
          </a:p>
          <a:p>
            <a:r>
              <a:rPr lang="en-US" sz="2100" dirty="0">
                <a:solidFill>
                  <a:srgbClr val="17364A"/>
                </a:solidFill>
                <a:latin typeface="Aptos" pitchFamily="34" charset="0"/>
                <a:ea typeface="Aptos" pitchFamily="34" charset="-122"/>
                <a:cs typeface="Aptos" pitchFamily="34" charset="-120"/>
              </a:rPr>
              <a:t>Without a portfolio strategy, agencies may choose projects because they are visible, easy to.</a:t>
            </a:r>
            <a:endParaRPr lang="en-US" sz="2100" dirty="0"/>
          </a:p>
          <a:p>
            <a:r>
              <a:rPr lang="en-US" sz="2100" dirty="0">
                <a:solidFill>
                  <a:srgbClr val="17364A"/>
                </a:solidFill>
                <a:latin typeface="Aptos" pitchFamily="34" charset="0"/>
                <a:ea typeface="Aptos" pitchFamily="34" charset="-122"/>
                <a:cs typeface="Aptos" pitchFamily="34" charset="-120"/>
              </a:rPr>
              <a:t>A portfolio strategy protects scarce capacity.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Public health agencies have many possible AI use cases: summarizing case notes, analyzing call logs,.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Public health agencies have many possible AI use cases: summarizing case notes, analyzing.</a:t>
            </a:r>
            <a:endParaRPr lang="en-US" sz="1380" dirty="0"/>
          </a:p>
          <a:p>
            <a:r>
              <a:rPr lang="en-US" sz="1380" dirty="0">
                <a:solidFill>
                  <a:srgbClr val="17364A"/>
                </a:solidFill>
                <a:latin typeface="Aptos" pitchFamily="34" charset="0"/>
                <a:ea typeface="Aptos" pitchFamily="34" charset="-122"/>
                <a:cs typeface="Aptos" pitchFamily="34" charset="-120"/>
              </a:rPr>
              <a:t>Without a portfolio strategy, agencies may choose projects because they are visible, easy.</a:t>
            </a:r>
            <a:endParaRPr lang="en-US" sz="1380" dirty="0"/>
          </a:p>
          <a:p>
            <a:r>
              <a:rPr lang="en-US" sz="1380" dirty="0">
                <a:solidFill>
                  <a:srgbClr val="17364A"/>
                </a:solidFill>
                <a:latin typeface="Aptos" pitchFamily="34" charset="0"/>
                <a:ea typeface="Aptos" pitchFamily="34" charset="-122"/>
                <a:cs typeface="Aptos" pitchFamily="34" charset="-120"/>
              </a:rPr>
              <a:t>Technical teams, privacy officers, legal counsel, procurement staff, program leaders, and.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2100" dirty="0"/>
          </a:p>
          <a:p>
            <a:r>
              <a:rPr lang="en-US" sz="2100" dirty="0">
                <a:solidFill>
                  <a:srgbClr val="17364A"/>
                </a:solidFill>
                <a:latin typeface="Aptos" pitchFamily="34" charset="0"/>
                <a:ea typeface="Aptos" pitchFamily="34" charset="-122"/>
                <a:cs typeface="Aptos" pitchFamily="34" charset="-120"/>
              </a:rPr>
              <a:t>Each proposal has different benefits and risks.</a:t>
            </a:r>
            <a:endParaRPr lang="en-US" sz="2100" dirty="0"/>
          </a:p>
          <a:p>
            <a:r>
              <a:rPr lang="en-US" sz="2100" dirty="0">
                <a:solidFill>
                  <a:srgbClr val="17364A"/>
                </a:solidFill>
                <a:latin typeface="Aptos" pitchFamily="34" charset="0"/>
                <a:ea typeface="Aptos" pitchFamily="34" charset="-122"/>
                <a:cs typeface="Aptos" pitchFamily="34" charset="-120"/>
              </a:rPr>
              <a:t>A public chatbot may be visible but high-risk if it gives health advice.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health department receives proposals for five AI uses: a public chatbot, a staff policy assistant, an.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health department receives proposals for five AI uses: a public chatbot, a staff policy.</a:t>
            </a:r>
            <a:endParaRPr lang="en-US" sz="1380" dirty="0"/>
          </a:p>
          <a:p>
            <a:r>
              <a:rPr lang="en-US" sz="1380" dirty="0">
                <a:solidFill>
                  <a:srgbClr val="17364A"/>
                </a:solidFill>
                <a:latin typeface="Aptos" pitchFamily="34" charset="0"/>
                <a:ea typeface="Aptos" pitchFamily="34" charset="-122"/>
                <a:cs typeface="Aptos" pitchFamily="34" charset="-120"/>
              </a:rPr>
              <a:t>A staff policy assistant may be lower risk if it uses approved internal documents.</a:t>
            </a:r>
            <a:endParaRPr lang="en-US" sz="1380" dirty="0"/>
          </a:p>
          <a:p>
            <a:r>
              <a:rPr lang="en-US" sz="1380" dirty="0">
                <a:solidFill>
                  <a:srgbClr val="17364A"/>
                </a:solidFill>
                <a:latin typeface="Aptos" pitchFamily="34" charset="0"/>
                <a:ea typeface="Aptos" pitchFamily="34" charset="-122"/>
                <a:cs typeface="Aptos" pitchFamily="34" charset="-120"/>
              </a:rPr>
              <a:t>An outbreak model may be valuable but require strong data quality and validation.</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Governance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useful portfolio strategy begins with categories.</a:t>
            </a:r>
            <a:endParaRPr lang="en-US" sz="2100" dirty="0"/>
          </a:p>
          <a:p>
            <a:r>
              <a:rPr lang="en-US" sz="2100" dirty="0">
                <a:solidFill>
                  <a:srgbClr val="17364A"/>
                </a:solidFill>
                <a:latin typeface="Aptos" pitchFamily="34" charset="0"/>
                <a:ea typeface="Aptos" pitchFamily="34" charset="-122"/>
                <a:cs typeface="Aptos" pitchFamily="34" charset="-120"/>
              </a:rPr>
              <a:t>Agencies can classify AI opportunities by function, such as internal productivity, knowledge.</a:t>
            </a:r>
            <a:endParaRPr lang="en-US" sz="2100" dirty="0"/>
          </a:p>
          <a:p>
            <a:r>
              <a:rPr lang="en-US" sz="2100" dirty="0">
                <a:solidFill>
                  <a:srgbClr val="17364A"/>
                </a:solidFill>
                <a:latin typeface="Aptos" pitchFamily="34" charset="0"/>
                <a:ea typeface="Aptos" pitchFamily="34" charset="-122"/>
                <a:cs typeface="Aptos" pitchFamily="34" charset="-120"/>
              </a:rPr>
              <a:t>They can also classify by risk, such as low, moderate, high, or prohibited.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useful portfolio strategy begins with categories.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Agencies can classify AI opportunities by function, such as internal productivity,.</a:t>
            </a:r>
            <a:endParaRPr lang="en-US" sz="1380" dirty="0"/>
          </a:p>
          <a:p>
            <a:r>
              <a:rPr lang="en-US" sz="1380" dirty="0">
                <a:solidFill>
                  <a:srgbClr val="17364A"/>
                </a:solidFill>
                <a:latin typeface="Aptos" pitchFamily="34" charset="0"/>
                <a:ea typeface="Aptos" pitchFamily="34" charset="-122"/>
                <a:cs typeface="Aptos" pitchFamily="34" charset="-120"/>
              </a:rPr>
              <a:t>These categories help leadership understand where AI activity is concentrated and whether.</a:t>
            </a:r>
            <a:endParaRPr lang="en-US" sz="1380" dirty="0"/>
          </a:p>
          <a:p>
            <a:r>
              <a:rPr lang="en-US" sz="1380" dirty="0">
                <a:solidFill>
                  <a:srgbClr val="17364A"/>
                </a:solidFill>
                <a:latin typeface="Aptos" pitchFamily="34" charset="0"/>
                <a:ea typeface="Aptos" pitchFamily="34" charset="-122"/>
                <a:cs typeface="Aptos" pitchFamily="34" charset="-120"/>
              </a:rPr>
              <a:t>Prioritization criteria should include mission alignment, expected public health benefit,.</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major risk is pilot proliferation.</a:t>
            </a:r>
            <a:endParaRPr lang="en-US" sz="2100" dirty="0"/>
          </a:p>
          <a:p>
            <a:r>
              <a:rPr lang="en-US" sz="2100" dirty="0">
                <a:solidFill>
                  <a:srgbClr val="17364A"/>
                </a:solidFill>
                <a:latin typeface="Aptos" pitchFamily="34" charset="0"/>
                <a:ea typeface="Aptos" pitchFamily="34" charset="-122"/>
                <a:cs typeface="Aptos" pitchFamily="34" charset="-120"/>
              </a:rPr>
              <a:t>Agencies may launch many small AI pilots without a pathway to scale, evaluate, sustain, or retire them.</a:t>
            </a:r>
            <a:endParaRPr lang="en-US" sz="2100" dirty="0"/>
          </a:p>
          <a:p>
            <a:r>
              <a:rPr lang="en-US" sz="2100" dirty="0">
                <a:solidFill>
                  <a:srgbClr val="17364A"/>
                </a:solidFill>
                <a:latin typeface="Aptos" pitchFamily="34" charset="0"/>
                <a:ea typeface="Aptos" pitchFamily="34" charset="-122"/>
                <a:cs typeface="Aptos" pitchFamily="34" charset="-120"/>
              </a:rPr>
              <a:t>A guardrail is to require every pilot to define success criteria, evaluation evidence, funding.</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major risk is pilot proliferation.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 guardrail is to require every pilot to define success criteria, evaluation evidence,.</a:t>
            </a:r>
            <a:endParaRPr lang="en-US" sz="1380" dirty="0"/>
          </a:p>
          <a:p>
            <a:r>
              <a:rPr lang="en-US" sz="1380" dirty="0">
                <a:solidFill>
                  <a:srgbClr val="17364A"/>
                </a:solidFill>
                <a:latin typeface="Aptos" pitchFamily="34" charset="0"/>
                <a:ea typeface="Aptos" pitchFamily="34" charset="-122"/>
                <a:cs typeface="Aptos" pitchFamily="34" charset="-120"/>
              </a:rPr>
              <a:t>Another risk is inequitable prioritization.</a:t>
            </a:r>
            <a:endParaRPr lang="en-US" sz="1380" dirty="0"/>
          </a:p>
          <a:p>
            <a:r>
              <a:rPr lang="en-US" sz="1380" dirty="0">
                <a:solidFill>
                  <a:srgbClr val="17364A"/>
                </a:solidFill>
                <a:latin typeface="Aptos" pitchFamily="34" charset="0"/>
                <a:ea typeface="Aptos" pitchFamily="34" charset="-122"/>
                <a:cs typeface="Aptos" pitchFamily="34" charset="-120"/>
              </a:rPr>
              <a:t>Projects serving better-resourced programs may advance faster than projects addressing.</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2100" dirty="0"/>
          </a:p>
          <a:p>
            <a:r>
              <a:rPr lang="en-US" sz="2100" dirty="0">
                <a:solidFill>
                  <a:srgbClr val="17364A"/>
                </a:solidFill>
                <a:latin typeface="Aptos" pitchFamily="34" charset="0"/>
                <a:ea typeface="Aptos" pitchFamily="34" charset="-122"/>
                <a:cs typeface="Aptos" pitchFamily="34" charset="-120"/>
              </a:rPr>
              <a:t>Predictive analytics projects may be prioritized only when data and validation plans are mature.</a:t>
            </a:r>
            <a:endParaRPr lang="en-US" sz="2100" dirty="0"/>
          </a:p>
          <a:p>
            <a:r>
              <a:rPr lang="en-US" sz="2100" dirty="0">
                <a:solidFill>
                  <a:srgbClr val="17364A"/>
                </a:solidFill>
                <a:latin typeface="Aptos" pitchFamily="34" charset="0"/>
                <a:ea typeface="Aptos" pitchFamily="34" charset="-122"/>
                <a:cs typeface="Aptos" pitchFamily="34" charset="-120"/>
              </a:rPr>
              <a:t>Agentic workflows may be deferred until governance has defined decision rights, access controls,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projects may be prioritized for internal knowledge management before public-facing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Agentic workflows may be deferred until governance has defined decision rights, access.</a:t>
            </a:r>
            <a:endParaRPr lang="en-US" sz="1380" dirty="0"/>
          </a:p>
          <a:p>
            <a:r>
              <a:rPr lang="en-US" sz="1380" dirty="0">
                <a:solidFill>
                  <a:srgbClr val="17364A"/>
                </a:solidFill>
                <a:latin typeface="Aptos" pitchFamily="34" charset="0"/>
                <a:ea typeface="Aptos" pitchFamily="34" charset="-122"/>
                <a:cs typeface="Aptos" pitchFamily="34" charset="-120"/>
              </a:rPr>
              <a:t>Portfolio strategy helps leaders sequence AI adoption responsibly.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2100" dirty="0"/>
          </a:p>
          <a:p>
            <a:r>
              <a:rPr lang="en-US" sz="2100" dirty="0">
                <a:solidFill>
                  <a:srgbClr val="17364A"/>
                </a:solidFill>
                <a:latin typeface="Aptos" pitchFamily="34" charset="0"/>
                <a:ea typeface="Aptos" pitchFamily="34" charset="-122"/>
                <a:cs typeface="Aptos" pitchFamily="34" charset="-120"/>
              </a:rPr>
              <a:t>Who currently has authority to make decisions about this issue, and is that authority documented?</a:t>
            </a:r>
            <a:endParaRPr lang="en-US" sz="2100" dirty="0"/>
          </a:p>
          <a:p>
            <a:r>
              <a:rPr lang="en-US" sz="210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current or proposed AI use case in your agency raises this leadership or governance issue most.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current or proposed AI use case in your agency raises this leadership or governance.</a:t>
            </a:r>
            <a:endParaRPr lang="en-US" sz="1380" dirty="0"/>
          </a:p>
          <a:p>
            <a:r>
              <a:rPr lang="en-US" sz="1380" dirty="0">
                <a:solidFill>
                  <a:srgbClr val="17364A"/>
                </a:solidFill>
                <a:latin typeface="Aptos" pitchFamily="34" charset="0"/>
                <a:ea typeface="Aptos" pitchFamily="34" charset="-122"/>
                <a:cs typeface="Aptos" pitchFamily="34" charset="-120"/>
              </a:rPr>
              <a:t>Who currently has authority to make decisions about this issue, and is that authority.</a:t>
            </a:r>
            <a:endParaRPr lang="en-US" sz="1380" dirty="0"/>
          </a:p>
          <a:p>
            <a:r>
              <a:rPr lang="en-US" sz="1380" dirty="0">
                <a:solidFill>
                  <a:srgbClr val="17364A"/>
                </a:solidFill>
                <a:latin typeface="Aptos" pitchFamily="34" charset="0"/>
                <a:ea typeface="Aptos" pitchFamily="34" charset="-122"/>
                <a:cs typeface="Aptos" pitchFamily="34" charset="-120"/>
              </a:rPr>
              <a:t>What evidence would governance or leadership need before approving the use case?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2100" dirty="0"/>
          </a:p>
          <a:p>
            <a:r>
              <a:rPr lang="en-US" sz="210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Which staff, partners, or communities would be affected if this issue were handled poorly?</a:t>
            </a:r>
            <a:endParaRPr lang="en-US" sz="1380" dirty="0"/>
          </a:p>
          <a:p>
            <a:r>
              <a:rPr lang="en-US" sz="1380" dirty="0">
                <a:solidFill>
                  <a:srgbClr val="17364A"/>
                </a:solidFill>
                <a:latin typeface="Aptos" pitchFamily="34" charset="0"/>
                <a:ea typeface="Aptos" pitchFamily="34" charset="-122"/>
                <a:cs typeface="Aptos" pitchFamily="34" charset="-120"/>
              </a:rPr>
              <a:t>What policy, process, or artifact should be created or updated after this module?</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Develop an AI use case prioritization rubric with criteria, scoring levels, required evidence, and.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Develop an AI use case prioritization rubric with criteria, scoring levels, required.</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Before You Begin</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Choose a real or realistic public health AI use case.</a:t>
            </a:r>
            <a:endParaRPr lang="en-US" sz="2100" dirty="0"/>
          </a:p>
          <a:p>
            <a:r>
              <a:rPr lang="en-US" sz="2100" dirty="0">
                <a:solidFill>
                  <a:srgbClr val="17364A"/>
                </a:solidFill>
                <a:latin typeface="Aptos" pitchFamily="34" charset="0"/>
                <a:ea typeface="Aptos" pitchFamily="34" charset="-122"/>
                <a:cs typeface="Aptos" pitchFamily="34" charset="-120"/>
              </a:rPr>
              <a:t>Document assumptions, unresolved questions, and which agency roles would need to review the artifact.</a:t>
            </a:r>
            <a:endParaRPr lang="en-US" sz="2100" dirty="0"/>
          </a:p>
          <a:p>
            <a:r>
              <a:rPr lang="en-US" sz="2100" dirty="0">
                <a:solidFill>
                  <a:srgbClr val="17364A"/>
                </a:solidFill>
                <a:latin typeface="Aptos" pitchFamily="34" charset="0"/>
                <a:ea typeface="Aptos" pitchFamily="34" charset="-122"/>
                <a:cs typeface="Aptos" pitchFamily="34" charset="-120"/>
              </a:rPr>
              <a:t>The exercise should produce a work product that could support governance review, leadership discussion,.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Choose a real or realistic public health AI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Document assumptions, unresolved questions, and which agency roles would need to review.</a:t>
            </a:r>
            <a:endParaRPr lang="en-US" sz="1380" dirty="0"/>
          </a:p>
          <a:p>
            <a:r>
              <a:rPr lang="en-US" sz="1380" dirty="0">
                <a:solidFill>
                  <a:srgbClr val="17364A"/>
                </a:solidFill>
                <a:latin typeface="Aptos" pitchFamily="34" charset="0"/>
                <a:ea typeface="Aptos" pitchFamily="34" charset="-122"/>
                <a:cs typeface="Aptos" pitchFamily="34" charset="-120"/>
              </a:rPr>
              <a:t>The exercise should produce a work product that could support governance review,.</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case intake form; prioritization rubric; sample portfolio view; decision category.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case intake form; prioritization rubric; sample portfolio view; decision category definitions.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Use case intake form; prioritization rubric; sample portfolio view; decision category.</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2100" dirty="0"/>
          </a:p>
          <a:p>
            <a:r>
              <a:rPr lang="en-US" sz="2100" dirty="0">
                <a:solidFill>
                  <a:srgbClr val="17364A"/>
                </a:solidFill>
                <a:latin typeface="Aptos" pitchFamily="34" charset="0"/>
                <a:ea typeface="Aptos" pitchFamily="34" charset="-122"/>
                <a:cs typeface="Aptos" pitchFamily="34" charset="-120"/>
              </a:rPr>
              <a:t>2. Which practice best supports accountable public health AI governance?</a:t>
            </a:r>
            <a:endParaRPr lang="en-US" sz="2100" dirty="0"/>
          </a:p>
          <a:p>
            <a:r>
              <a:rPr lang="en-US" sz="2100" dirty="0">
                <a:solidFill>
                  <a:srgbClr val="17364A"/>
                </a:solidFill>
                <a:latin typeface="Aptos" pitchFamily="34" charset="0"/>
                <a:ea typeface="Aptos" pitchFamily="34" charset="-122"/>
                <a:cs typeface="Aptos" pitchFamily="34" charset="-120"/>
              </a:rPr>
              <a:t>3. When should an AI use case be escalated for leadership or governance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Practice focus</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What is the strongest reason this module topic belongs in AI leadership and governance training?</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1.</a:t>
            </a:r>
            <a:endParaRPr lang="en-US" sz="1380" dirty="0"/>
          </a:p>
          <a:p>
            <a:r>
              <a:rPr lang="en-US" sz="1380" dirty="0">
                <a:solidFill>
                  <a:srgbClr val="17364A"/>
                </a:solidFill>
                <a:latin typeface="Aptos" pitchFamily="34" charset="0"/>
                <a:ea typeface="Aptos" pitchFamily="34" charset="-122"/>
                <a:cs typeface="Aptos" pitchFamily="34" charset="-120"/>
              </a:rPr>
              <a:t>What is the strongest reason this module topic belongs in AI leadership and governance.</a:t>
            </a:r>
            <a:endParaRPr lang="en-US" sz="1380" dirty="0"/>
          </a:p>
          <a:p>
            <a:r>
              <a:rPr lang="en-US" sz="1380" dirty="0">
                <a:solidFill>
                  <a:srgbClr val="17364A"/>
                </a:solidFill>
                <a:latin typeface="Aptos" pitchFamily="34" charset="0"/>
                <a:ea typeface="Aptos" pitchFamily="34" charset="-122"/>
                <a:cs typeface="Aptos" pitchFamily="34" charset="-120"/>
              </a:rPr>
              <a:t>2.</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produce</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2100" dirty="0"/>
          </a:p>
          <a:p>
            <a:r>
              <a:rPr lang="en-US" sz="2100" dirty="0">
                <a:solidFill>
                  <a:srgbClr val="17364A"/>
                </a:solidFill>
                <a:latin typeface="Aptos" pitchFamily="34" charset="0"/>
                <a:ea typeface="Aptos" pitchFamily="34" charset="-122"/>
                <a:cs typeface="Aptos" pitchFamily="34" charset="-120"/>
              </a:rPr>
              <a:t>NIST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Privacy Framework</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NIST Artificial Intelligence Risk Management Framework (AI RMF 1.0):.</a:t>
            </a:r>
            <a:endParaRPr lang="en-US" sz="1380" dirty="0"/>
          </a:p>
          <a:p>
            <a:r>
              <a:rPr lang="en-US" sz="1380" dirty="0">
                <a:solidFill>
                  <a:srgbClr val="17364A"/>
                </a:solidFill>
                <a:latin typeface="Aptos" pitchFamily="34" charset="0"/>
                <a:ea typeface="Aptos" pitchFamily="34" charset="-122"/>
                <a:cs typeface="Aptos" pitchFamily="34" charset="-120"/>
              </a:rPr>
              <a:t>CDC Public Health Data Strategy and Data Modernization resources:.</a:t>
            </a:r>
            <a:endParaRPr lang="en-US" sz="1380" dirty="0"/>
          </a:p>
          <a:p>
            <a:r>
              <a:rPr lang="en-US" sz="1380" dirty="0">
                <a:solidFill>
                  <a:srgbClr val="17364A"/>
                </a:solidFill>
                <a:latin typeface="Aptos" pitchFamily="34" charset="0"/>
                <a:ea typeface="Aptos" pitchFamily="34" charset="-122"/>
                <a:cs typeface="Aptos" pitchFamily="34" charset="-120"/>
              </a:rPr>
              <a:t>WHO Ethics and Governance of Artificial Intelligence for Health:.</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AI Portfolio Strategy and Use Case Prioritization</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2100" dirty="0"/>
          </a:p>
          <a:p>
            <a:r>
              <a:rPr lang="en-US" sz="2100" dirty="0">
                <a:solidFill>
                  <a:srgbClr val="17364A"/>
                </a:solidFill>
                <a:latin typeface="Aptos" pitchFamily="34" charset="0"/>
                <a:ea typeface="Aptos" pitchFamily="34" charset="-122"/>
                <a:cs typeface="Aptos" pitchFamily="34" charset="-120"/>
              </a:rPr>
              <a:t>Agency strategic plans, procurement policies, privacy policies, cybersecurity policies, records.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Core concept</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OMB Memorandum M-24-10 on federal AI governance, risk management, and innovation, where relevant to.</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93522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300984"/>
            <a:ext cx="3090672" cy="877824"/>
          </a:xfrm>
          <a:prstGeom prst="rect">
            <a:avLst/>
          </a:prstGeom>
          <a:noFill/>
          <a:ln/>
        </p:spPr>
        <p:txBody>
          <a:bodyPr wrap="square" lIns="254" tIns="254" rIns="254" bIns="254" rtlCol="0" anchor="t">
            <a:normAutofit/>
          </a:bodyPr>
          <a:lstStyle/>
          <a:p>
            <a:r>
              <a:rPr lang="en-US" sz="1380" dirty="0">
                <a:solidFill>
                  <a:srgbClr val="17364A"/>
                </a:solidFill>
                <a:latin typeface="Aptos" pitchFamily="34" charset="0"/>
                <a:ea typeface="Aptos" pitchFamily="34" charset="-122"/>
                <a:cs typeface="Aptos" pitchFamily="34" charset="-120"/>
              </a:rPr>
              <a:t>OMB Memorandum M-24-10 on federal AI governance, risk management, and innovation, where.</a:t>
            </a:r>
            <a:endParaRPr lang="en-US" sz="1380" dirty="0"/>
          </a:p>
          <a:p>
            <a:r>
              <a:rPr lang="en-US" sz="1380" dirty="0">
                <a:solidFill>
                  <a:srgbClr val="17364A"/>
                </a:solidFill>
                <a:latin typeface="Aptos" pitchFamily="34" charset="0"/>
                <a:ea typeface="Aptos" pitchFamily="34" charset="-122"/>
                <a:cs typeface="Aptos" pitchFamily="34" charset="-120"/>
              </a:rPr>
              <a:t>Agency strategic plans, procurement policies, privacy policies, cybersecurity policies,.</a:t>
            </a:r>
            <a:endParaRPr lang="en-US" sz="1380" dirty="0"/>
          </a:p>
        </p:txBody>
      </p:sp>
      <p:sp>
        <p:nvSpPr>
          <p:cNvPr id="16" name="Shape 14"/>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7" name="Text 15"/>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it</a:t>
            </a:r>
            <a:endParaRPr lang="en-US" sz="1300" dirty="0"/>
          </a:p>
        </p:txBody>
      </p:sp>
      <p:sp>
        <p:nvSpPr>
          <p:cNvPr id="18" name="Text 16"/>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public health purpose, responsible use, required safeguards, documentation, and the next action a department should take.</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Portfolio Strategy and Use Case Prioritization</dc:title>
  <dc:subject>AI Portfolio Strategy and Use Case Prioritization learning module</dc:subject>
  <dc:creator>Paula Soper</dc:creator>
  <cp:lastModifiedBy>Paula Soper</cp:lastModifiedBy>
  <cp:revision>1</cp:revision>
  <dcterms:created xsi:type="dcterms:W3CDTF">2026-07-13T02:11:43Z</dcterms:created>
  <dcterms:modified xsi:type="dcterms:W3CDTF">2026-07-13T02:11:43Z</dcterms:modified>
</cp:coreProperties>
</file>