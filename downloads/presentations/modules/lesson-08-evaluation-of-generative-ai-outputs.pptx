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20: Community Engagement Planning (Planning) - Use Community Engagement Planning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Stakeholder Mapping &amp; RACI to translate this lesson.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2100" dirty="0"/>
          </a:p>
          <a:p>
            <a:r>
              <a:rPr lang="en-US" sz="2100" dirty="0">
                <a:solidFill>
                  <a:srgbClr val="17364A"/>
                </a:solidFill>
                <a:latin typeface="Aptos" pitchFamily="34" charset="0"/>
                <a:ea typeface="Aptos" pitchFamily="34" charset="-122"/>
                <a:cs typeface="Aptos" pitchFamily="34" charset="-120"/>
              </a:rPr>
              <a:t>Distinguish factuality, source grounding, completeness, relevance, tone, and accessibility.</a:t>
            </a:r>
            <a:endParaRPr lang="en-US" sz="2100" dirty="0"/>
          </a:p>
          <a:p>
            <a:r>
              <a:rPr lang="en-US" sz="2100" dirty="0">
                <a:solidFill>
                  <a:srgbClr val="17364A"/>
                </a:solidFill>
                <a:latin typeface="Aptos" pitchFamily="34" charset="0"/>
                <a:ea typeface="Aptos" pitchFamily="34" charset="-122"/>
                <a:cs typeface="Aptos" pitchFamily="34" charset="-120"/>
              </a:rPr>
              <a:t>Identify hallucinations, omissions, unsupported claims, and misleading 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generative AI output evaluation rubric.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generative AI output evaluation rubric.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2100" dirty="0"/>
          </a:p>
          <a:p>
            <a:r>
              <a:rPr lang="en-US" sz="2100" dirty="0">
                <a:solidFill>
                  <a:srgbClr val="17364A"/>
                </a:solidFill>
                <a:latin typeface="Aptos" pitchFamily="34" charset="0"/>
                <a:ea typeface="Aptos" pitchFamily="34" charset="-122"/>
                <a:cs typeface="Aptos" pitchFamily="34" charset="-120"/>
              </a:rPr>
              <a:t>Staff may use it to summarize guidance, draft meeting notes, simplify technical language, translate or.</a:t>
            </a:r>
            <a:endParaRPr lang="en-US" sz="2100" dirty="0"/>
          </a:p>
          <a:p>
            <a:r>
              <a:rPr lang="en-US" sz="2100" dirty="0">
                <a:solidFill>
                  <a:srgbClr val="17364A"/>
                </a:solidFill>
                <a:latin typeface="Aptos" pitchFamily="34" charset="0"/>
                <a:ea typeface="Aptos" pitchFamily="34" charset="-122"/>
                <a:cs typeface="Aptos" pitchFamily="34" charset="-120"/>
              </a:rPr>
              <a:t>These uses can be valuable when they save time and improve clarity.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2100" dirty="0"/>
          </a:p>
          <a:p>
            <a:r>
              <a:rPr lang="en-US" sz="2100" dirty="0">
                <a:solidFill>
                  <a:srgbClr val="17364A"/>
                </a:solidFill>
                <a:latin typeface="Aptos" pitchFamily="34" charset="0"/>
                <a:ea typeface="Aptos" pitchFamily="34" charset="-122"/>
                <a:cs typeface="Aptos" pitchFamily="34" charset="-120"/>
              </a:rPr>
              <a:t>The draft may be clear and readable, but reviewers must check whether the numbers are correct, whether.</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use generative AI to summarize case investigation notes for internal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evaluation should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A brainstormed outline, internal draft, public advisory, case summary, policy synthesis, or operational.</a:t>
            </a:r>
            <a:endParaRPr lang="en-US" sz="2100" dirty="0"/>
          </a:p>
          <a:p>
            <a:r>
              <a:rPr lang="en-US" sz="2100" dirty="0">
                <a:solidFill>
                  <a:srgbClr val="17364A"/>
                </a:solidFill>
                <a:latin typeface="Aptos" pitchFamily="34" charset="0"/>
                <a:ea typeface="Aptos" pitchFamily="34" charset="-122"/>
                <a:cs typeface="Aptos" pitchFamily="34" charset="-120"/>
              </a:rPr>
              <a:t>The more sensitive, public-facing, or consequential the use, the stronger the review should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evaluation should begin with intended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2100" dirty="0"/>
          </a:p>
          <a:p>
            <a:r>
              <a:rPr lang="en-US" sz="2100" dirty="0">
                <a:solidFill>
                  <a:srgbClr val="17364A"/>
                </a:solidFill>
                <a:latin typeface="Aptos" pitchFamily="34" charset="0"/>
                <a:ea typeface="Aptos" pitchFamily="34" charset="-122"/>
                <a:cs typeface="Aptos" pitchFamily="34" charset="-120"/>
              </a:rPr>
              <a:t>Reviewers should assess reading level, language access, disability accessibility, cultural context,.</a:t>
            </a:r>
            <a:endParaRPr lang="en-US" sz="2100" dirty="0"/>
          </a:p>
          <a:p>
            <a:r>
              <a:rPr lang="en-US" sz="2100" dirty="0">
                <a:solidFill>
                  <a:srgbClr val="17364A"/>
                </a:solidFill>
                <a:latin typeface="Aptos" pitchFamily="34" charset="0"/>
                <a:ea typeface="Aptos" pitchFamily="34" charset="-122"/>
                <a:cs typeface="Aptos" pitchFamily="34" charset="-120"/>
              </a:rPr>
              <a:t>Translation or multilingual adaptation should include review by qualified humans when used for.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Fluent but false outputs.</a:t>
            </a:r>
            <a:endParaRPr lang="en-US" sz="2100" dirty="0"/>
          </a:p>
          <a:p>
            <a:r>
              <a:rPr lang="en-US" sz="2100" dirty="0">
                <a:solidFill>
                  <a:srgbClr val="17364A"/>
                </a:solidFill>
                <a:latin typeface="Aptos" pitchFamily="34" charset="0"/>
                <a:ea typeface="Aptos" pitchFamily="34" charset="-122"/>
                <a:cs typeface="Aptos" pitchFamily="34" charset="-120"/>
              </a:rPr>
              <a:t>A polished output may contain unsupported claims.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checking, citations, and reviewer signoff.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Fluent but false outputs.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exposure.</a:t>
            </a:r>
            <a:endParaRPr lang="en-US" sz="2100" dirty="0"/>
          </a:p>
          <a:p>
            <a:r>
              <a:rPr lang="en-US" sz="2100" dirty="0">
                <a:solidFill>
                  <a:srgbClr val="17364A"/>
                </a:solidFill>
                <a:latin typeface="Aptos" pitchFamily="34" charset="0"/>
                <a:ea typeface="Aptos" pitchFamily="34" charset="-122"/>
                <a:cs typeface="Aptos" pitchFamily="34" charset="-120"/>
              </a:rPr>
              <a:t>Prompts or outputs may include sensitive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approved tools, data-use tiers, redaction, access controls, and records guidance.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exposure.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2100" dirty="0"/>
          </a:p>
          <a:p>
            <a:r>
              <a:rPr lang="en-US" sz="2100" dirty="0">
                <a:solidFill>
                  <a:srgbClr val="17364A"/>
                </a:solidFill>
                <a:latin typeface="Aptos" pitchFamily="34" charset="0"/>
                <a:ea typeface="Aptos" pitchFamily="34" charset="-122"/>
                <a:cs typeface="Aptos" pitchFamily="34" charset="-120"/>
              </a:rPr>
              <a:t>It is also relevant to RAG and agentic workflows because generated text may summarize retrieved sources.</a:t>
            </a:r>
            <a:endParaRPr lang="en-US" sz="2100" dirty="0"/>
          </a:p>
          <a:p>
            <a:r>
              <a:rPr lang="en-US" sz="2100" dirty="0">
                <a:solidFill>
                  <a:srgbClr val="17364A"/>
                </a:solidFill>
                <a:latin typeface="Aptos" pitchFamily="34" charset="0"/>
                <a:ea typeface="Aptos" pitchFamily="34" charset="-122"/>
                <a:cs typeface="Aptos" pitchFamily="34" charset="-120"/>
              </a:rPr>
              <a:t>Evaluation should be built into workflow design, not added after deployment.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type of generative AI output is being evaluated?</a:t>
            </a:r>
            <a:endParaRPr lang="en-US" sz="2100" dirty="0"/>
          </a:p>
          <a:p>
            <a:r>
              <a:rPr lang="en-US" sz="2100" dirty="0">
                <a:solidFill>
                  <a:srgbClr val="17364A"/>
                </a:solidFill>
                <a:latin typeface="Aptos" pitchFamily="34" charset="0"/>
                <a:ea typeface="Aptos" pitchFamily="34" charset="-122"/>
                <a:cs typeface="Aptos" pitchFamily="34" charset="-120"/>
              </a:rPr>
              <a:t>What source material should be used to verify the output?</a:t>
            </a:r>
            <a:endParaRPr lang="en-US" sz="2100" dirty="0"/>
          </a:p>
          <a:p>
            <a:r>
              <a:rPr lang="en-US" sz="2100" dirty="0">
                <a:solidFill>
                  <a:srgbClr val="17364A"/>
                </a:solidFill>
                <a:latin typeface="Aptos" pitchFamily="34" charset="0"/>
                <a:ea typeface="Aptos" pitchFamily="34" charset="-122"/>
                <a:cs typeface="Aptos" pitchFamily="34" charset="-120"/>
              </a:rPr>
              <a:t>What errors or omissions would be most harmful?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type of generative AI output is being evaluated?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2100" dirty="0"/>
          </a:p>
          <a:p>
            <a:r>
              <a:rPr lang="en-US" sz="2100" dirty="0">
                <a:solidFill>
                  <a:srgbClr val="17364A"/>
                </a:solidFill>
                <a:latin typeface="Aptos" pitchFamily="34" charset="0"/>
                <a:ea typeface="Aptos" pitchFamily="34" charset="-122"/>
                <a:cs typeface="Aptos" pitchFamily="34" charset="-120"/>
              </a:rPr>
              <a:t>What documentation is required before the output can be used?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intended use, source verification, factuality, completeness, unsupported claims, omissions,.</a:t>
            </a:r>
            <a:endParaRPr lang="en-US" sz="2100" dirty="0"/>
          </a:p>
          <a:p>
            <a:r>
              <a:rPr lang="en-US" sz="2100" dirty="0">
                <a:solidFill>
                  <a:srgbClr val="17364A"/>
                </a:solidFill>
                <a:latin typeface="Aptos" pitchFamily="34" charset="0"/>
                <a:ea typeface="Aptos" pitchFamily="34" charset="-122"/>
                <a:cs typeface="Aptos" pitchFamily="34" charset="-120"/>
              </a:rPr>
              <a:t>Then apply the rubric to a sample AI-generated output and document whether the output should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or escalation documentation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or escalation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fluency not enough to trust a generative AI output?</a:t>
            </a:r>
            <a:endParaRPr lang="en-US" sz="2100" dirty="0"/>
          </a:p>
          <a:p>
            <a:r>
              <a:rPr lang="en-US" sz="2100" dirty="0">
                <a:solidFill>
                  <a:srgbClr val="17364A"/>
                </a:solidFill>
                <a:latin typeface="Aptos" pitchFamily="34" charset="0"/>
                <a:ea typeface="Aptos" pitchFamily="34" charset="-122"/>
                <a:cs typeface="Aptos" pitchFamily="34" charset="-120"/>
              </a:rPr>
              <a:t>2. What does grounding mean?</a:t>
            </a:r>
            <a:endParaRPr lang="en-US" sz="2100" dirty="0"/>
          </a:p>
          <a:p>
            <a:r>
              <a:rPr lang="en-US" sz="2100" dirty="0">
                <a:solidFill>
                  <a:srgbClr val="17364A"/>
                </a:solidFill>
                <a:latin typeface="Aptos" pitchFamily="34" charset="0"/>
                <a:ea typeface="Aptos" pitchFamily="34" charset="-122"/>
                <a:cs typeface="Aptos" pitchFamily="34" charset="-120"/>
              </a:rPr>
              <a:t>3. Which issue can be as harmful as an incorrect statement?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fluency not enough to trust a generative AI output?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2026-07-12T19:24:26Z</dcterms:created>
  <dcterms:modified xsi:type="dcterms:W3CDTF">2026-07-12T19:24:26Z</dcterms:modified>
</cp:coreProperties>
</file>