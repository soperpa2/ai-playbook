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240 Time-Series Analysis, Anomaly Detection, and Outbreak Signals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12: Execute Governance and Oversight - This lesson informs Play 12 by helping learners connect the lesson topic to execute governance and oversight work in the AI Playbook.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time-series analysis and anomaly detection in public health terms.
Explain baselines, seasonality, trends, reporting delays, and thresholds.
Distinguish statistical signals from confirmed outbreaks or public health events.
Identify risks from alert fatigue, data artifacts, delayed reporting, and model drift.
Design guardrails for AI-supported surveillance alerts.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anomaly detection review plan for one public health data stream.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Time-series methods matter because public health surveillance is often about change. A single count may be difficult to interpret without knowing whether it is higher than expected for that time, place, population, reporting source, and condition. AI-supported anomaly detection can help staff review large volumes of data and prioritize signals that deserve attention.
However, public health time-series data are shaped by reporting systems as much as disease patterns. Weekends, holidays, provider onboarding, lab code changes, EHR outages, weather events, testing availability, and public attention can all change observed data. An anomaly may indicate an outbreak, but it may also indicate a data feed problem or behavior change.
Responsible use requires a workflow that treats alerts as starting points for investigation. Staff must know what data are being monitored, how the baseline was selected, what triggers an alert, what review steps follow, and when a signal becomes an incident, outbreak investigation, or communication issue.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anomaly detection to monitor emergency department visits for respiratory symptoms. The system may flag a county when visits exceed the expected range for that day and season. The alert could prompt review of age groups, facilities, diagnosis text, lab data, school absenteeism, and local context.
The alert is valuable only if it enters a disciplined review process. A sudden increase may reflect a true outbreak, a coding change, a new facility feed, a holiday effect, or a backlog. The analyst should review data quality, compare related indicators, assess geography and populations, and document whether the signal requires action or continued monitoring.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Baseline selection is one of the most important technical decisions. A baseline may use several prior weeks, several prior years, a regression model, seasonal decomposition, or more complex algorithms. The baseline should match the public health question. A short baseline may adapt quickly but miss seasonal context. A long baseline may capture seasonality but fail when underlying systems change.
Time-series data often require preprocessing. Analysts may need to address missing days, duplicate submissions, delayed reporting, facility onboarding, outliers, and known holidays. Data corrections can appear as sudden spikes or drops. AI tools should distinguish between raw signals and quality-adjusted signals whenever possible.
Thresholds control alert volume and sensitivity. A very sensitive threshold may detect early signals but generate many false alarms. A conservative threshold may reduce workload but delay detection. Thresholds should be chosen with input from epidemiologists, program staff, and emergency response leads because operational capacity and consequences matter.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Anomaly detection methods vary in complexity. Simple methods may compare counts to moving averages or standard deviations. More advanced methods may use regression, Bayesian approaches, control charts, machine learning, or ensemble models. More complex methods are not automatically better. In public health practice, interpretability, stability, transparency, and workflow fit often matter as much as statistical sophistication.
Alert review should be documented. Staff should record what signal occurred, what data were reviewed, what explanation was considered, what action was taken, and whether the alert was useful. Over time, these review notes can improve thresholds, reduce alert fatigue, and support accountability.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Reporting artifacts. Feed failures, delayed batches, or coding changes can trigger false alerts. Guardrails include data quality checks, feed monitoring, and partner change logs.
Alert fatigue. Too many alerts can reduce attention. Guardrails include threshold tuning, tiered alerting, user feedback, and periodic alert review.
Overreaction to signals. A statistical signal may be mistaken for a confirmed outbreak. Guardrails include defined review protocols and communication approval.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Missed emerging events. Overly conservative thresholds may miss early signals. Guardrails include multiple indicators, sensitivity review, and escalation pathways for staff concerns.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Time-series and anomaly detection methods can support predictive dashboards, syndromic surveillance, wastewater monitoring, outbreak intelligence, and emergency preparedness. Generative AI may summarize signal review, but it should include uncertainty and source indicators. Agentic workflows may route alerts or create tasks, but those actions should be limited to defined protocols and human review.
The best AI-supported surveillance workflows combine automation with epidemiologic judgment. AI can help detect changes, but humans determine whether the signal is meaningful, what additional evidence is needed, and what public health action is appropriate.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time-series data stream would benefit from automated signal review?
What baseline is appropriate for the condition, data source, and decision?
Which reporting artifacts could create false signals?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threshold balances early detection and alert fatigue?
How will staff document review, decisions, and lessons learned?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anomaly detection review plan for one public health data stream. Include the monitored indicator, data source, update frequency, baseline approach, known reporting patterns, threshold rationale, alert tiers, review steps, related indicators, documentation expectations, and escalation criteria.
The plan should identify how staff will distinguish statistical anomalies from data quality issues and public health events.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Anomaly detection review plan
Baseline and threshold rationale
Alert review protocol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Signal documentation template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Anomaly detection review plan
Baseline and threshold rationale
Alert review protocol
Signal documentation template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an anomaly in a public health time series?
2. Why does seasonality matter?
3. What is a common risk of too many low-value alerts?
4. Which statement is most accurate?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National Syndromic Surveillance Program: https://www.cdc.gov/nssp/
CDC Evaluation Framework: https://www.cdc.gov/evaluation/
NIST Artificial Intelligence Risk Management Framework: https://www.nist.gov/itl/ai-risk-management-framework
CDC Public Health Data Strategy: https://www.cdc.gov/public-health-data-strategy/php/about/index.html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Time-Series Analysis, Anomaly Detection, and Outbreak Signals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analysis examines data collected over time.</a:t>
            </a:r>
            <a:endParaRPr lang="en-US" sz="2100" dirty="0"/>
          </a:p>
          <a:p>
            <a:r>
              <a:rPr lang="en-US" sz="2100" dirty="0">
                <a:solidFill>
                  <a:srgbClr val="17364A"/>
                </a:solidFill>
                <a:latin typeface="Aptos" pitchFamily="34" charset="0"/>
                <a:ea typeface="Aptos" pitchFamily="34" charset="-122"/>
                <a:cs typeface="Aptos" pitchFamily="34" charset="-120"/>
              </a:rPr>
              <a:t>In public health, time patterns are central to surveillance, outbreak detection, syndromic monitoring, wastewater.</a:t>
            </a:r>
            <a:endParaRPr lang="en-US" sz="2100" dirty="0"/>
          </a:p>
          <a:p>
            <a:r>
              <a:rPr lang="en-US" sz="2100" dirty="0">
                <a:solidFill>
                  <a:srgbClr val="17364A"/>
                </a:solidFill>
                <a:latin typeface="Aptos" pitchFamily="34" charset="0"/>
                <a:ea typeface="Aptos" pitchFamily="34" charset="-122"/>
                <a:cs typeface="Aptos" pitchFamily="34" charset="-120"/>
              </a:rPr>
              <a:t>AI-supported anomaly detection can help identify unusual increases, decreases, or pattern changes that may.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time-series analysis and anomaly detection in public health terms.</a:t>
            </a:r>
            <a:endParaRPr lang="en-US" sz="2100" dirty="0"/>
          </a:p>
          <a:p>
            <a:r>
              <a:rPr lang="en-US" sz="2100" dirty="0">
                <a:solidFill>
                  <a:srgbClr val="17364A"/>
                </a:solidFill>
                <a:latin typeface="Aptos" pitchFamily="34" charset="0"/>
                <a:ea typeface="Aptos" pitchFamily="34" charset="-122"/>
                <a:cs typeface="Aptos" pitchFamily="34" charset="-120"/>
              </a:rPr>
              <a:t>Explain baselines, seasonality, trends, reporting delays, and thresholds.</a:t>
            </a:r>
            <a:endParaRPr lang="en-US" sz="2100" dirty="0"/>
          </a:p>
          <a:p>
            <a:r>
              <a:rPr lang="en-US" sz="2100" dirty="0">
                <a:solidFill>
                  <a:srgbClr val="17364A"/>
                </a:solidFill>
                <a:latin typeface="Aptos" pitchFamily="34" charset="0"/>
                <a:ea typeface="Aptos" pitchFamily="34" charset="-122"/>
                <a:cs typeface="Aptos" pitchFamily="34" charset="-120"/>
              </a:rPr>
              <a:t>Distinguish statistical signals from confirmed outbreaks or public health events.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time-series analysis and anomaly detection in public health terms.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Identify risks from alert fatigue, data artifacts, delayed reporting, and model drift.</a:t>
            </a:r>
            <a:endParaRPr lang="en-US" sz="1380" dirty="0"/>
          </a:p>
          <a:p>
            <a:r>
              <a:rPr lang="en-US" sz="1380" dirty="0">
                <a:solidFill>
                  <a:srgbClr val="17364A"/>
                </a:solidFill>
                <a:latin typeface="Aptos" pitchFamily="34" charset="0"/>
                <a:ea typeface="Aptos" pitchFamily="34" charset="-122"/>
                <a:cs typeface="Aptos" pitchFamily="34" charset="-120"/>
              </a:rPr>
              <a:t>Design guardrails for AI-supported surveillance alerts.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anomaly detection review plan for one public health data stream.</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anomaly detection review plan for one public health data stream.</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Produce an anomaly detection review plan for one public health data stream.</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analysis examines data collected over time.</a:t>
            </a:r>
            <a:endParaRPr lang="en-US" sz="2100" dirty="0"/>
          </a:p>
          <a:p>
            <a:r>
              <a:rPr lang="en-US" sz="2100" dirty="0">
                <a:solidFill>
                  <a:srgbClr val="17364A"/>
                </a:solidFill>
                <a:latin typeface="Aptos" pitchFamily="34" charset="0"/>
                <a:ea typeface="Aptos" pitchFamily="34" charset="-122"/>
                <a:cs typeface="Aptos" pitchFamily="34" charset="-120"/>
              </a:rPr>
              <a:t>In public health, time patterns are central to surveillance, outbreak detection, syndromic monitoring,.</a:t>
            </a:r>
            <a:endParaRPr lang="en-US" sz="2100" dirty="0"/>
          </a:p>
          <a:p>
            <a:r>
              <a:rPr lang="en-US" sz="2100" dirty="0">
                <a:solidFill>
                  <a:srgbClr val="17364A"/>
                </a:solidFill>
                <a:latin typeface="Aptos" pitchFamily="34" charset="0"/>
                <a:ea typeface="Aptos" pitchFamily="34" charset="-122"/>
                <a:cs typeface="Aptos" pitchFamily="34" charset="-120"/>
              </a:rPr>
              <a:t>AI-supported anomaly detection can help identify unusual increases, decreases, or pattern changes that.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Time-series analysis examines data collected over time.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 public health, time patterns are central to surveillance, outbreak detection, syndromic.</a:t>
            </a:r>
            <a:endParaRPr lang="en-US" sz="1380" dirty="0"/>
          </a:p>
          <a:p>
            <a:r>
              <a:rPr lang="en-US" sz="1380" dirty="0">
                <a:solidFill>
                  <a:srgbClr val="17364A"/>
                </a:solidFill>
                <a:latin typeface="Aptos" pitchFamily="34" charset="0"/>
                <a:ea typeface="Aptos" pitchFamily="34" charset="-122"/>
                <a:cs typeface="Aptos" pitchFamily="34" charset="-120"/>
              </a:rPr>
              <a:t>AI-supported anomaly detection can help identify unusual increases, decreases, or pattern.</a:t>
            </a:r>
            <a:endParaRPr lang="en-US" sz="1380" dirty="0"/>
          </a:p>
          <a:p>
            <a:r>
              <a:rPr lang="en-US" sz="1380" dirty="0">
                <a:solidFill>
                  <a:srgbClr val="17364A"/>
                </a:solidFill>
                <a:latin typeface="Aptos" pitchFamily="34" charset="0"/>
                <a:ea typeface="Aptos" pitchFamily="34" charset="-122"/>
                <a:cs typeface="Aptos" pitchFamily="34" charset="-120"/>
              </a:rPr>
              <a:t>This module explains how time-series and anomaly detection methods can support public.</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methods matter because public health surveillance is often about change.</a:t>
            </a:r>
            <a:endParaRPr lang="en-US" sz="2100" dirty="0"/>
          </a:p>
          <a:p>
            <a:r>
              <a:rPr lang="en-US" sz="2100" dirty="0">
                <a:solidFill>
                  <a:srgbClr val="17364A"/>
                </a:solidFill>
                <a:latin typeface="Aptos" pitchFamily="34" charset="0"/>
                <a:ea typeface="Aptos" pitchFamily="34" charset="-122"/>
                <a:cs typeface="Aptos" pitchFamily="34" charset="-120"/>
              </a:rPr>
              <a:t>A single count may be difficult to interpret without knowing whether it is higher than expected for.</a:t>
            </a:r>
            <a:endParaRPr lang="en-US" sz="2100" dirty="0"/>
          </a:p>
          <a:p>
            <a:r>
              <a:rPr lang="en-US" sz="2100" dirty="0">
                <a:solidFill>
                  <a:srgbClr val="17364A"/>
                </a:solidFill>
                <a:latin typeface="Aptos" pitchFamily="34" charset="0"/>
                <a:ea typeface="Aptos" pitchFamily="34" charset="-122"/>
                <a:cs typeface="Aptos" pitchFamily="34" charset="-120"/>
              </a:rPr>
              <a:t>AI-supported anomaly detection can help staff review large volumes of data and prioritize signals that.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Time-series methods matter because public health surveillance is often about change.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single count may be difficult to interpret without knowing whether it is higher than.</a:t>
            </a:r>
            <a:endParaRPr lang="en-US" sz="1380" dirty="0"/>
          </a:p>
          <a:p>
            <a:r>
              <a:rPr lang="en-US" sz="1380" dirty="0">
                <a:solidFill>
                  <a:srgbClr val="17364A"/>
                </a:solidFill>
                <a:latin typeface="Aptos" pitchFamily="34" charset="0"/>
                <a:ea typeface="Aptos" pitchFamily="34" charset="-122"/>
                <a:cs typeface="Aptos" pitchFamily="34" charset="-120"/>
              </a:rPr>
              <a:t>AI-supported anomaly detection can help staff review large volumes of data and prioritize.</a:t>
            </a:r>
            <a:endParaRPr lang="en-US" sz="1380" dirty="0"/>
          </a:p>
          <a:p>
            <a:r>
              <a:rPr lang="en-US" sz="1380" dirty="0">
                <a:solidFill>
                  <a:srgbClr val="17364A"/>
                </a:solidFill>
                <a:latin typeface="Aptos" pitchFamily="34" charset="0"/>
                <a:ea typeface="Aptos" pitchFamily="34" charset="-122"/>
                <a:cs typeface="Aptos" pitchFamily="34" charset="-120"/>
              </a:rPr>
              <a:t>However, public health time-series data are shaped by reporting systems as much as disease.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syndromic surveillance team may use anomaly detection to monitor emergency department visits for.</a:t>
            </a:r>
            <a:endParaRPr lang="en-US" sz="2100" dirty="0"/>
          </a:p>
          <a:p>
            <a:r>
              <a:rPr lang="en-US" sz="2100" dirty="0">
                <a:solidFill>
                  <a:srgbClr val="17364A"/>
                </a:solidFill>
                <a:latin typeface="Aptos" pitchFamily="34" charset="0"/>
                <a:ea typeface="Aptos" pitchFamily="34" charset="-122"/>
                <a:cs typeface="Aptos" pitchFamily="34" charset="-120"/>
              </a:rPr>
              <a:t>The system may flag a county when visits exceed the expected range for that day and season.</a:t>
            </a:r>
            <a:endParaRPr lang="en-US" sz="2100" dirty="0"/>
          </a:p>
          <a:p>
            <a:r>
              <a:rPr lang="en-US" sz="2100" dirty="0">
                <a:solidFill>
                  <a:srgbClr val="17364A"/>
                </a:solidFill>
                <a:latin typeface="Aptos" pitchFamily="34" charset="0"/>
                <a:ea typeface="Aptos" pitchFamily="34" charset="-122"/>
                <a:cs typeface="Aptos" pitchFamily="34" charset="-120"/>
              </a:rPr>
              <a:t>The alert could prompt review of age groups, facilities, diagnosis text, lab data, school absenteeism,.</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syndromic surveillance team may use anomaly detection to monitor emergency department visits for.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syndromic surveillance team may use anomaly detection to monitor emergency department.</a:t>
            </a:r>
            <a:endParaRPr lang="en-US" sz="1380" dirty="0"/>
          </a:p>
          <a:p>
            <a:r>
              <a:rPr lang="en-US" sz="1380" dirty="0">
                <a:solidFill>
                  <a:srgbClr val="17364A"/>
                </a:solidFill>
                <a:latin typeface="Aptos" pitchFamily="34" charset="0"/>
                <a:ea typeface="Aptos" pitchFamily="34" charset="-122"/>
                <a:cs typeface="Aptos" pitchFamily="34" charset="-120"/>
              </a:rPr>
              <a:t>The alert could prompt review of age groups, facilities, diagnosis text, lab data, school.</a:t>
            </a:r>
            <a:endParaRPr lang="en-US" sz="1380" dirty="0"/>
          </a:p>
          <a:p>
            <a:r>
              <a:rPr lang="en-US" sz="1380" dirty="0">
                <a:solidFill>
                  <a:srgbClr val="17364A"/>
                </a:solidFill>
                <a:latin typeface="Aptos" pitchFamily="34" charset="0"/>
                <a:ea typeface="Aptos" pitchFamily="34" charset="-122"/>
                <a:cs typeface="Aptos" pitchFamily="34" charset="-120"/>
              </a:rPr>
              <a:t>The alert is valuable only if it enters a disciplined review process.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Baseline selection is one of the most important technical decisions.</a:t>
            </a:r>
            <a:endParaRPr lang="en-US" sz="2100" dirty="0"/>
          </a:p>
          <a:p>
            <a:r>
              <a:rPr lang="en-US" sz="2100" dirty="0">
                <a:solidFill>
                  <a:srgbClr val="17364A"/>
                </a:solidFill>
                <a:latin typeface="Aptos" pitchFamily="34" charset="0"/>
                <a:ea typeface="Aptos" pitchFamily="34" charset="-122"/>
                <a:cs typeface="Aptos" pitchFamily="34" charset="-120"/>
              </a:rPr>
              <a:t>A baseline may use several prior weeks, several prior years, a regression model, seasonal.</a:t>
            </a:r>
            <a:endParaRPr lang="en-US" sz="2100" dirty="0"/>
          </a:p>
          <a:p>
            <a:r>
              <a:rPr lang="en-US" sz="2100" dirty="0">
                <a:solidFill>
                  <a:srgbClr val="17364A"/>
                </a:solidFill>
                <a:latin typeface="Aptos" pitchFamily="34" charset="0"/>
                <a:ea typeface="Aptos" pitchFamily="34" charset="-122"/>
                <a:cs typeface="Aptos" pitchFamily="34" charset="-120"/>
              </a:rPr>
              <a:t>The baseline should match the public health question.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Baseline selection is one of the most important technical decisions.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baseline may use several prior weeks, several prior years, a regression model, seasonal.</a:t>
            </a:r>
            <a:endParaRPr lang="en-US" sz="1380" dirty="0"/>
          </a:p>
          <a:p>
            <a:r>
              <a:rPr lang="en-US" sz="1380" dirty="0">
                <a:solidFill>
                  <a:srgbClr val="17364A"/>
                </a:solidFill>
                <a:latin typeface="Aptos" pitchFamily="34" charset="0"/>
                <a:ea typeface="Aptos" pitchFamily="34" charset="-122"/>
                <a:cs typeface="Aptos" pitchFamily="34" charset="-120"/>
              </a:rPr>
              <a:t>A short baseline may adapt quickly but miss seasonal context.</a:t>
            </a:r>
            <a:endParaRPr lang="en-US" sz="1380" dirty="0"/>
          </a:p>
          <a:p>
            <a:r>
              <a:rPr lang="en-US" sz="1380" dirty="0">
                <a:solidFill>
                  <a:srgbClr val="17364A"/>
                </a:solidFill>
                <a:latin typeface="Aptos" pitchFamily="34" charset="0"/>
                <a:ea typeface="Aptos" pitchFamily="34" charset="-122"/>
                <a:cs typeface="Aptos" pitchFamily="34" charset="-120"/>
              </a:rPr>
              <a:t>A long baseline may capture seasonality but fail when underlying systems change.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Anomaly detection methods vary in complexity.</a:t>
            </a:r>
            <a:endParaRPr lang="en-US" sz="2100" dirty="0"/>
          </a:p>
          <a:p>
            <a:r>
              <a:rPr lang="en-US" sz="2100" dirty="0">
                <a:solidFill>
                  <a:srgbClr val="17364A"/>
                </a:solidFill>
                <a:latin typeface="Aptos" pitchFamily="34" charset="0"/>
                <a:ea typeface="Aptos" pitchFamily="34" charset="-122"/>
                <a:cs typeface="Aptos" pitchFamily="34" charset="-120"/>
              </a:rPr>
              <a:t>Simple methods may compare counts to moving averages or standard deviations.</a:t>
            </a:r>
            <a:endParaRPr lang="en-US" sz="2100" dirty="0"/>
          </a:p>
          <a:p>
            <a:r>
              <a:rPr lang="en-US" sz="2100" dirty="0">
                <a:solidFill>
                  <a:srgbClr val="17364A"/>
                </a:solidFill>
                <a:latin typeface="Aptos" pitchFamily="34" charset="0"/>
                <a:ea typeface="Aptos" pitchFamily="34" charset="-122"/>
                <a:cs typeface="Aptos" pitchFamily="34" charset="-120"/>
              </a:rPr>
              <a:t>More advanced methods may use regression, Bayesian approaches, control charts, machine learning, 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Anomaly detection methods vary in complexity.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More advanced methods may use regression, Bayesian approaches, control charts, machine.</a:t>
            </a:r>
            <a:endParaRPr lang="en-US" sz="1380" dirty="0"/>
          </a:p>
          <a:p>
            <a:r>
              <a:rPr lang="en-US" sz="1380" dirty="0">
                <a:solidFill>
                  <a:srgbClr val="17364A"/>
                </a:solidFill>
                <a:latin typeface="Aptos" pitchFamily="34" charset="0"/>
                <a:ea typeface="Aptos" pitchFamily="34" charset="-122"/>
                <a:cs typeface="Aptos" pitchFamily="34" charset="-120"/>
              </a:rPr>
              <a:t>More complex methods are not automatically better.</a:t>
            </a:r>
            <a:endParaRPr lang="en-US" sz="1380" dirty="0"/>
          </a:p>
          <a:p>
            <a:r>
              <a:rPr lang="en-US" sz="1380" dirty="0">
                <a:solidFill>
                  <a:srgbClr val="17364A"/>
                </a:solidFill>
                <a:latin typeface="Aptos" pitchFamily="34" charset="0"/>
                <a:ea typeface="Aptos" pitchFamily="34" charset="-122"/>
                <a:cs typeface="Aptos" pitchFamily="34" charset="-120"/>
              </a:rPr>
              <a:t>In public health practice, interpretability, stability, transparency, and workflow fit.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Reporting artifacts.</a:t>
            </a:r>
            <a:endParaRPr lang="en-US" sz="2100" dirty="0"/>
          </a:p>
          <a:p>
            <a:r>
              <a:rPr lang="en-US" sz="2100" dirty="0">
                <a:solidFill>
                  <a:srgbClr val="17364A"/>
                </a:solidFill>
                <a:latin typeface="Aptos" pitchFamily="34" charset="0"/>
                <a:ea typeface="Aptos" pitchFamily="34" charset="-122"/>
                <a:cs typeface="Aptos" pitchFamily="34" charset="-120"/>
              </a:rPr>
              <a:t>Feed failures, delayed batches, or coding changes can trigger false alerts.</a:t>
            </a:r>
            <a:endParaRPr lang="en-US" sz="2100" dirty="0"/>
          </a:p>
          <a:p>
            <a:r>
              <a:rPr lang="en-US" sz="2100" dirty="0">
                <a:solidFill>
                  <a:srgbClr val="17364A"/>
                </a:solidFill>
                <a:latin typeface="Aptos" pitchFamily="34" charset="0"/>
                <a:ea typeface="Aptos" pitchFamily="34" charset="-122"/>
                <a:cs typeface="Aptos" pitchFamily="34" charset="-120"/>
              </a:rPr>
              <a:t>Guardrails include data quality checks, feed monitoring, and partner change logs.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Reporting artifacts.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Alert fatigue.</a:t>
            </a:r>
            <a:endParaRPr lang="en-US" sz="1380" dirty="0"/>
          </a:p>
          <a:p>
            <a:r>
              <a:rPr lang="en-US" sz="1380" dirty="0">
                <a:solidFill>
                  <a:srgbClr val="17364A"/>
                </a:solidFill>
                <a:latin typeface="Aptos" pitchFamily="34" charset="0"/>
                <a:ea typeface="Aptos" pitchFamily="34" charset="-122"/>
                <a:cs typeface="Aptos" pitchFamily="34" charset="-120"/>
              </a:rPr>
              <a:t>Too many alerts can reduce attention.</a:t>
            </a:r>
            <a:endParaRPr lang="en-US" sz="1380" dirty="0"/>
          </a:p>
          <a:p>
            <a:r>
              <a:rPr lang="en-US" sz="1380" dirty="0">
                <a:solidFill>
                  <a:srgbClr val="17364A"/>
                </a:solidFill>
                <a:latin typeface="Aptos" pitchFamily="34" charset="0"/>
                <a:ea typeface="Aptos" pitchFamily="34" charset="-122"/>
                <a:cs typeface="Aptos" pitchFamily="34" charset="-120"/>
              </a:rPr>
              <a:t>Guardrails include threshold tuning, tiered alerting, user feedback, and periodic alert.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Missed emerging events.</a:t>
            </a:r>
            <a:endParaRPr lang="en-US" sz="2100" dirty="0"/>
          </a:p>
          <a:p>
            <a:r>
              <a:rPr lang="en-US" sz="2100" dirty="0">
                <a:solidFill>
                  <a:srgbClr val="17364A"/>
                </a:solidFill>
                <a:latin typeface="Aptos" pitchFamily="34" charset="0"/>
                <a:ea typeface="Aptos" pitchFamily="34" charset="-122"/>
                <a:cs typeface="Aptos" pitchFamily="34" charset="-120"/>
              </a:rPr>
              <a:t>Overly conservative thresholds may miss early signals.</a:t>
            </a:r>
            <a:endParaRPr lang="en-US" sz="2100" dirty="0"/>
          </a:p>
          <a:p>
            <a:r>
              <a:rPr lang="en-US" sz="2100" dirty="0">
                <a:solidFill>
                  <a:srgbClr val="17364A"/>
                </a:solidFill>
                <a:latin typeface="Aptos" pitchFamily="34" charset="0"/>
                <a:ea typeface="Aptos" pitchFamily="34" charset="-122"/>
                <a:cs typeface="Aptos" pitchFamily="34" charset="-120"/>
              </a:rPr>
              <a:t>Guardrails include multiple indicators, sensitivity review, and escalation pathways for staff concerns.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Missed emerging events.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Missed emerging events.</a:t>
            </a:r>
            <a:endParaRPr lang="en-US" sz="1380" dirty="0"/>
          </a:p>
          <a:p>
            <a:r>
              <a:rPr lang="en-US" sz="1380" dirty="0">
                <a:solidFill>
                  <a:srgbClr val="17364A"/>
                </a:solidFill>
                <a:latin typeface="Aptos" pitchFamily="34" charset="0"/>
                <a:ea typeface="Aptos" pitchFamily="34" charset="-122"/>
                <a:cs typeface="Aptos" pitchFamily="34" charset="-120"/>
              </a:rPr>
              <a:t>Overly conservative thresholds may miss early signals.</a:t>
            </a:r>
            <a:endParaRPr lang="en-US" sz="1380" dirty="0"/>
          </a:p>
          <a:p>
            <a:r>
              <a:rPr lang="en-US" sz="1380" dirty="0">
                <a:solidFill>
                  <a:srgbClr val="17364A"/>
                </a:solidFill>
                <a:latin typeface="Aptos" pitchFamily="34" charset="0"/>
                <a:ea typeface="Aptos" pitchFamily="34" charset="-122"/>
                <a:cs typeface="Aptos" pitchFamily="34" charset="-120"/>
              </a:rPr>
              <a:t>Guardrails include multiple indicators, sensitivity review, and escalation pathways for.</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and anomaly detection methods can support predictive dashboards, syndromic surveillance,.</a:t>
            </a:r>
            <a:endParaRPr lang="en-US" sz="2100" dirty="0"/>
          </a:p>
          <a:p>
            <a:r>
              <a:rPr lang="en-US" sz="2100" dirty="0">
                <a:solidFill>
                  <a:srgbClr val="17364A"/>
                </a:solidFill>
                <a:latin typeface="Aptos" pitchFamily="34" charset="0"/>
                <a:ea typeface="Aptos" pitchFamily="34" charset="-122"/>
                <a:cs typeface="Aptos" pitchFamily="34" charset="-120"/>
              </a:rPr>
              <a:t>Generative AI may summarize signal review, but it should include uncertainty and source indicators.</a:t>
            </a:r>
            <a:endParaRPr lang="en-US" sz="2100" dirty="0"/>
          </a:p>
          <a:p>
            <a:r>
              <a:rPr lang="en-US" sz="2100" dirty="0">
                <a:solidFill>
                  <a:srgbClr val="17364A"/>
                </a:solidFill>
                <a:latin typeface="Aptos" pitchFamily="34" charset="0"/>
                <a:ea typeface="Aptos" pitchFamily="34" charset="-122"/>
                <a:cs typeface="Aptos" pitchFamily="34" charset="-120"/>
              </a:rPr>
              <a:t>Agentic workflows may route alerts or create tasks, but those actions should be limited to defined.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Time-series and anomaly detection methods can support predictive dashboards, syndromic surveillance,.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Time-series and anomaly detection methods can support predictive dashboards, syndromic.</a:t>
            </a:r>
            <a:endParaRPr lang="en-US" sz="1380" dirty="0"/>
          </a:p>
          <a:p>
            <a:r>
              <a:rPr lang="en-US" sz="1380" dirty="0">
                <a:solidFill>
                  <a:srgbClr val="17364A"/>
                </a:solidFill>
                <a:latin typeface="Aptos" pitchFamily="34" charset="0"/>
                <a:ea typeface="Aptos" pitchFamily="34" charset="-122"/>
                <a:cs typeface="Aptos" pitchFamily="34" charset="-120"/>
              </a:rPr>
              <a:t>Agentic workflows may route alerts or create tasks, but those actions should be limited to.</a:t>
            </a:r>
            <a:endParaRPr lang="en-US" sz="1380" dirty="0"/>
          </a:p>
          <a:p>
            <a:r>
              <a:rPr lang="en-US" sz="1380" dirty="0">
                <a:solidFill>
                  <a:srgbClr val="17364A"/>
                </a:solidFill>
                <a:latin typeface="Aptos" pitchFamily="34" charset="0"/>
                <a:ea typeface="Aptos" pitchFamily="34" charset="-122"/>
                <a:cs typeface="Aptos" pitchFamily="34" charset="-120"/>
              </a:rPr>
              <a:t>The best AI-supported surveillance workflows combine automation with epidemiologic judgment.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time-series data stream would benefit from automated signal review?</a:t>
            </a:r>
            <a:endParaRPr lang="en-US" sz="2100" dirty="0"/>
          </a:p>
          <a:p>
            <a:r>
              <a:rPr lang="en-US" sz="2100" dirty="0">
                <a:solidFill>
                  <a:srgbClr val="17364A"/>
                </a:solidFill>
                <a:latin typeface="Aptos" pitchFamily="34" charset="0"/>
                <a:ea typeface="Aptos" pitchFamily="34" charset="-122"/>
                <a:cs typeface="Aptos" pitchFamily="34" charset="-120"/>
              </a:rPr>
              <a:t>What baseline is appropriate for the condition, data source, and decision?</a:t>
            </a:r>
            <a:endParaRPr lang="en-US" sz="2100" dirty="0"/>
          </a:p>
          <a:p>
            <a:r>
              <a:rPr lang="en-US" sz="2100" dirty="0">
                <a:solidFill>
                  <a:srgbClr val="17364A"/>
                </a:solidFill>
                <a:latin typeface="Aptos" pitchFamily="34" charset="0"/>
                <a:ea typeface="Aptos" pitchFamily="34" charset="-122"/>
                <a:cs typeface="Aptos" pitchFamily="34" charset="-120"/>
              </a:rPr>
              <a:t>Which reporting artifacts could create false signals?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time-series data stream would benefit from automated signal review?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time-series data stream would benefit from automated signal review?</a:t>
            </a:r>
            <a:endParaRPr lang="en-US" sz="1380" dirty="0"/>
          </a:p>
          <a:p>
            <a:r>
              <a:rPr lang="en-US" sz="1380" dirty="0">
                <a:solidFill>
                  <a:srgbClr val="17364A"/>
                </a:solidFill>
                <a:latin typeface="Aptos" pitchFamily="34" charset="0"/>
                <a:ea typeface="Aptos" pitchFamily="34" charset="-122"/>
                <a:cs typeface="Aptos" pitchFamily="34" charset="-120"/>
              </a:rPr>
              <a:t>What baseline is appropriate for the condition, data source, and decision?</a:t>
            </a:r>
            <a:endParaRPr lang="en-US" sz="1380" dirty="0"/>
          </a:p>
          <a:p>
            <a:r>
              <a:rPr lang="en-US" sz="1380" dirty="0">
                <a:solidFill>
                  <a:srgbClr val="17364A"/>
                </a:solidFill>
                <a:latin typeface="Aptos" pitchFamily="34" charset="0"/>
                <a:ea typeface="Aptos" pitchFamily="34" charset="-122"/>
                <a:cs typeface="Aptos" pitchFamily="34" charset="-120"/>
              </a:rPr>
              <a:t>Which reporting artifacts could create false signals?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threshold balances early detection and alert fatigue?</a:t>
            </a:r>
            <a:endParaRPr lang="en-US" sz="2100" dirty="0"/>
          </a:p>
          <a:p>
            <a:r>
              <a:rPr lang="en-US" sz="2100" dirty="0">
                <a:solidFill>
                  <a:srgbClr val="17364A"/>
                </a:solidFill>
                <a:latin typeface="Aptos" pitchFamily="34" charset="0"/>
                <a:ea typeface="Aptos" pitchFamily="34" charset="-122"/>
                <a:cs typeface="Aptos" pitchFamily="34" charset="-120"/>
              </a:rPr>
              <a:t>How will staff document review, decisions, and lessons learned?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threshold balances early detection and alert fatigue?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threshold balances early detection and alert fatigue?</a:t>
            </a:r>
            <a:endParaRPr lang="en-US" sz="1380" dirty="0"/>
          </a:p>
          <a:p>
            <a:r>
              <a:rPr lang="en-US" sz="1380" dirty="0">
                <a:solidFill>
                  <a:srgbClr val="17364A"/>
                </a:solidFill>
                <a:latin typeface="Aptos" pitchFamily="34" charset="0"/>
                <a:ea typeface="Aptos" pitchFamily="34" charset="-122"/>
                <a:cs typeface="Aptos" pitchFamily="34" charset="-120"/>
              </a:rPr>
              <a:t>How will staff document review, decisions, and lessons learned?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anomaly detection review plan for one public health data stream.</a:t>
            </a:r>
            <a:endParaRPr lang="en-US" sz="2100" dirty="0"/>
          </a:p>
          <a:p>
            <a:r>
              <a:rPr lang="en-US" sz="2100" dirty="0">
                <a:solidFill>
                  <a:srgbClr val="17364A"/>
                </a:solidFill>
                <a:latin typeface="Aptos" pitchFamily="34" charset="0"/>
                <a:ea typeface="Aptos" pitchFamily="34" charset="-122"/>
                <a:cs typeface="Aptos" pitchFamily="34" charset="-120"/>
              </a:rPr>
              <a:t>Include the monitored indicator, data source, update frequency, baseline approach, known reporting.</a:t>
            </a:r>
            <a:endParaRPr lang="en-US" sz="2100" dirty="0"/>
          </a:p>
          <a:p>
            <a:r>
              <a:rPr lang="en-US" sz="2100" dirty="0">
                <a:solidFill>
                  <a:srgbClr val="17364A"/>
                </a:solidFill>
                <a:latin typeface="Aptos" pitchFamily="34" charset="0"/>
                <a:ea typeface="Aptos" pitchFamily="34" charset="-122"/>
                <a:cs typeface="Aptos" pitchFamily="34" charset="-120"/>
              </a:rPr>
              <a:t>The plan should identify how staff will distinguish statistical anomalies from data quality issues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anomaly detection review plan for one public health data stream.</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Include the monitored indicator, data source, update frequency, baseline approach, known.</a:t>
            </a:r>
            <a:endParaRPr lang="en-US" sz="1380" dirty="0"/>
          </a:p>
          <a:p>
            <a:r>
              <a:rPr lang="en-US" sz="1380" dirty="0">
                <a:solidFill>
                  <a:srgbClr val="17364A"/>
                </a:solidFill>
                <a:latin typeface="Aptos" pitchFamily="34" charset="0"/>
                <a:ea typeface="Aptos" pitchFamily="34" charset="-122"/>
                <a:cs typeface="Aptos" pitchFamily="34" charset="-120"/>
              </a:rPr>
              <a:t>The plan should identify how staff will distinguish statistical anomalies from data.</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Anomaly detection review plan</a:t>
            </a:r>
            <a:endParaRPr lang="en-US" sz="2100" dirty="0"/>
          </a:p>
          <a:p>
            <a:r>
              <a:rPr lang="en-US" sz="2100" dirty="0">
                <a:solidFill>
                  <a:srgbClr val="17364A"/>
                </a:solidFill>
                <a:latin typeface="Aptos" pitchFamily="34" charset="0"/>
                <a:ea typeface="Aptos" pitchFamily="34" charset="-122"/>
                <a:cs typeface="Aptos" pitchFamily="34" charset="-120"/>
              </a:rPr>
              <a:t>Baseline and threshold rationale</a:t>
            </a:r>
            <a:endParaRPr lang="en-US" sz="2100" dirty="0"/>
          </a:p>
          <a:p>
            <a:r>
              <a:rPr lang="en-US" sz="2100" dirty="0">
                <a:solidFill>
                  <a:srgbClr val="17364A"/>
                </a:solidFill>
                <a:latin typeface="Aptos" pitchFamily="34" charset="0"/>
                <a:ea typeface="Aptos" pitchFamily="34" charset="-122"/>
                <a:cs typeface="Aptos" pitchFamily="34" charset="-120"/>
              </a:rPr>
              <a:t>Alert review protocol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Anomaly detection review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Anomaly detection review plan</a:t>
            </a:r>
            <a:endParaRPr lang="en-US" sz="1380" dirty="0"/>
          </a:p>
          <a:p>
            <a:r>
              <a:rPr lang="en-US" sz="1380" dirty="0">
                <a:solidFill>
                  <a:srgbClr val="17364A"/>
                </a:solidFill>
                <a:latin typeface="Aptos" pitchFamily="34" charset="0"/>
                <a:ea typeface="Aptos" pitchFamily="34" charset="-122"/>
                <a:cs typeface="Aptos" pitchFamily="34" charset="-120"/>
              </a:rPr>
              <a:t>Baseline and threshold rationale</a:t>
            </a:r>
            <a:endParaRPr lang="en-US" sz="1380" dirty="0"/>
          </a:p>
          <a:p>
            <a:r>
              <a:rPr lang="en-US" sz="1380" dirty="0">
                <a:solidFill>
                  <a:srgbClr val="17364A"/>
                </a:solidFill>
                <a:latin typeface="Aptos" pitchFamily="34" charset="0"/>
                <a:ea typeface="Aptos" pitchFamily="34" charset="-122"/>
                <a:cs typeface="Aptos" pitchFamily="34" charset="-120"/>
              </a:rPr>
              <a:t>Alert review protocol</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Signal documentation template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Signal documentation template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Signal documentation template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Anomaly detection review plan</a:t>
            </a:r>
            <a:endParaRPr lang="en-US" sz="2100" dirty="0"/>
          </a:p>
          <a:p>
            <a:r>
              <a:rPr lang="en-US" sz="2100" dirty="0">
                <a:solidFill>
                  <a:srgbClr val="17364A"/>
                </a:solidFill>
                <a:latin typeface="Aptos" pitchFamily="34" charset="0"/>
                <a:ea typeface="Aptos" pitchFamily="34" charset="-122"/>
                <a:cs typeface="Aptos" pitchFamily="34" charset="-120"/>
              </a:rPr>
              <a:t>Baseline and threshold rationale</a:t>
            </a:r>
            <a:endParaRPr lang="en-US" sz="2100" dirty="0"/>
          </a:p>
          <a:p>
            <a:r>
              <a:rPr lang="en-US" sz="2100" dirty="0">
                <a:solidFill>
                  <a:srgbClr val="17364A"/>
                </a:solidFill>
                <a:latin typeface="Aptos" pitchFamily="34" charset="0"/>
                <a:ea typeface="Aptos" pitchFamily="34" charset="-122"/>
                <a:cs typeface="Aptos" pitchFamily="34" charset="-120"/>
              </a:rPr>
              <a:t>Alert review protocol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Anomaly detection review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Anomaly detection review plan</a:t>
            </a:r>
            <a:endParaRPr lang="en-US" sz="1380" dirty="0"/>
          </a:p>
          <a:p>
            <a:r>
              <a:rPr lang="en-US" sz="1380" dirty="0">
                <a:solidFill>
                  <a:srgbClr val="17364A"/>
                </a:solidFill>
                <a:latin typeface="Aptos" pitchFamily="34" charset="0"/>
                <a:ea typeface="Aptos" pitchFamily="34" charset="-122"/>
                <a:cs typeface="Aptos" pitchFamily="34" charset="-120"/>
              </a:rPr>
              <a:t>Baseline and threshold rationale</a:t>
            </a:r>
            <a:endParaRPr lang="en-US" sz="1380" dirty="0"/>
          </a:p>
          <a:p>
            <a:r>
              <a:rPr lang="en-US" sz="1380" dirty="0">
                <a:solidFill>
                  <a:srgbClr val="17364A"/>
                </a:solidFill>
                <a:latin typeface="Aptos" pitchFamily="34" charset="0"/>
                <a:ea typeface="Aptos" pitchFamily="34" charset="-122"/>
                <a:cs typeface="Aptos" pitchFamily="34" charset="-120"/>
              </a:rPr>
              <a:t>Alert review protocol</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an anomaly in a public health time series?</a:t>
            </a:r>
            <a:endParaRPr lang="en-US" sz="2100" dirty="0"/>
          </a:p>
          <a:p>
            <a:r>
              <a:rPr lang="en-US" sz="2100" dirty="0">
                <a:solidFill>
                  <a:srgbClr val="17364A"/>
                </a:solidFill>
                <a:latin typeface="Aptos" pitchFamily="34" charset="0"/>
                <a:ea typeface="Aptos" pitchFamily="34" charset="-122"/>
                <a:cs typeface="Aptos" pitchFamily="34" charset="-120"/>
              </a:rPr>
              <a:t>2. Why does seasonality matter?</a:t>
            </a:r>
            <a:endParaRPr lang="en-US" sz="2100" dirty="0"/>
          </a:p>
          <a:p>
            <a:r>
              <a:rPr lang="en-US" sz="2100" dirty="0">
                <a:solidFill>
                  <a:srgbClr val="17364A"/>
                </a:solidFill>
                <a:latin typeface="Aptos" pitchFamily="34" charset="0"/>
                <a:ea typeface="Aptos" pitchFamily="34" charset="-122"/>
                <a:cs typeface="Aptos" pitchFamily="34" charset="-120"/>
              </a:rPr>
              <a:t>3. What is a common risk of too many low-value alerts?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an anomaly in a public health time series?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an anomaly in a public health time series?</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National Syndromic Surveillance Program: https://www.cdc.gov/nssp/</a:t>
            </a:r>
            <a:endParaRPr lang="en-US" sz="2100" dirty="0"/>
          </a:p>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National Syndromic Surveillance Program: https://www.cdc.gov/nssp/</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CDC Public Health Data Strategy:.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Time-Series Analysis, Anomaly Detection, and Outbreak Signals</dc:title>
  <dc:subject>Time-Series Analysis, Anomaly Detection, and Outbreak Signals learning module</dc:subject>
  <dc:creator>Paula Soper</dc:creator>
  <cp:lastModifiedBy>Paula Soper</cp:lastModifiedBy>
  <cp:revision>1</cp:revision>
  <dcterms:created xsi:type="dcterms:W3CDTF">2026-07-13T02:11:42Z</dcterms:created>
  <dcterms:modified xsi:type="dcterms:W3CDTF">2026-07-13T02:11:42Z</dcterms:modified>
</cp:coreProperties>
</file>