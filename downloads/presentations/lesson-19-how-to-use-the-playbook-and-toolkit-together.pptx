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3410609b1d4639" /><Relationship Type="http://schemas.openxmlformats.org/officeDocument/2006/relationships/extended-properties" Target="/docProps/app.xml" Id="Rcbe8242f5f754a0b" /><Relationship Type="http://schemas.openxmlformats.org/officeDocument/2006/relationships/officeDocument" Target="/ppt/presentation.xml" Id="R086f4d139af54a0d" /></Relationships>
</file>

<file path=ppt/presentation.xml><?xml version="1.0" encoding="utf-8"?>
<p:presentation xmlns:p="http://schemas.openxmlformats.org/presentationml/2006/main">
  <p:sldMasterIdLst>
    <p:sldMasterId xmlns:r="http://schemas.openxmlformats.org/officeDocument/2006/relationships" id="2147483648" r:id="R746514be75d44dcf"/>
  </p:sldMasterIdLst>
  <p:notesMasterIdLst>
    <p:notesMasterId xmlns:r="http://schemas.openxmlformats.org/officeDocument/2006/relationships" r:id="R440fdafa17cc40fa"/>
  </p:notesMasterIdLst>
  <p:sldIdLst>
    <p:sldId xmlns:r="http://schemas.openxmlformats.org/officeDocument/2006/relationships" id="256" r:id="R160ade3e7f8d4d0c"/>
    <p:sldId xmlns:r="http://schemas.openxmlformats.org/officeDocument/2006/relationships" id="257" r:id="R52669f1bb8144a01"/>
    <p:sldId xmlns:r="http://schemas.openxmlformats.org/officeDocument/2006/relationships" id="258" r:id="Re3a545caa3374fd9"/>
    <p:sldId xmlns:r="http://schemas.openxmlformats.org/officeDocument/2006/relationships" id="259" r:id="Ra128b505cebc425b"/>
    <p:sldId xmlns:r="http://schemas.openxmlformats.org/officeDocument/2006/relationships" id="260" r:id="R09eb8452afcb4f14"/>
    <p:sldId xmlns:r="http://schemas.openxmlformats.org/officeDocument/2006/relationships" id="261" r:id="R03472cb15b0248a4"/>
    <p:sldId xmlns:r="http://schemas.openxmlformats.org/officeDocument/2006/relationships" id="262" r:id="Re5c2408ae43a4b7f"/>
    <p:sldId xmlns:r="http://schemas.openxmlformats.org/officeDocument/2006/relationships" id="263" r:id="R663fe3ec07c94a0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a52c15435048dc" /><Relationship Type="http://schemas.openxmlformats.org/officeDocument/2006/relationships/slideMaster" Target="/ppt/slideMasters/slideMaster1.xml" Id="R746514be75d44dcf" /><Relationship Type="http://schemas.openxmlformats.org/officeDocument/2006/relationships/notesMaster" Target="/ppt/notesMasters/notesMaster1.xml" Id="R440fdafa17cc40fa" /><Relationship Type="http://schemas.openxmlformats.org/officeDocument/2006/relationships/presProps" Target="/ppt/presProps.xml" Id="R25627c43f3b54e28" /><Relationship Type="http://schemas.openxmlformats.org/officeDocument/2006/relationships/tableStyles" Target="/ppt/tableStyles.xml" Id="R65031d80350a4c60" /><Relationship Type="http://schemas.openxmlformats.org/officeDocument/2006/relationships/slide" Target="/ppt/slides/slide1.xml" Id="R160ade3e7f8d4d0c" /><Relationship Type="http://schemas.openxmlformats.org/officeDocument/2006/relationships/slide" Target="/ppt/slides/slide2.xml" Id="R52669f1bb8144a01" /><Relationship Type="http://schemas.openxmlformats.org/officeDocument/2006/relationships/slide" Target="/ppt/slides/slide3.xml" Id="Re3a545caa3374fd9" /><Relationship Type="http://schemas.openxmlformats.org/officeDocument/2006/relationships/slide" Target="/ppt/slides/slide4.xml" Id="Ra128b505cebc425b" /><Relationship Type="http://schemas.openxmlformats.org/officeDocument/2006/relationships/slide" Target="/ppt/slides/slide5.xml" Id="R09eb8452afcb4f14" /><Relationship Type="http://schemas.openxmlformats.org/officeDocument/2006/relationships/slide" Target="/ppt/slides/slide6.xml" Id="R03472cb15b0248a4" /><Relationship Type="http://schemas.openxmlformats.org/officeDocument/2006/relationships/slide" Target="/ppt/slides/slide7.xml" Id="Re5c2408ae43a4b7f" /><Relationship Type="http://schemas.openxmlformats.org/officeDocument/2006/relationships/slide" Target="/ppt/slides/slide8.xml" Id="R663fe3ec07c94a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aa178d9db645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91c9c19cde44e5" /><Relationship Type="http://schemas.openxmlformats.org/officeDocument/2006/relationships/notesMaster" Target="/ppt/notesMasters/notesMaster1.xml" Id="R20db293c5ceb46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2cb479fc084129" /><Relationship Type="http://schemas.openxmlformats.org/officeDocument/2006/relationships/notesMaster" Target="/ppt/notesMasters/notesMaster1.xml" Id="R06ea45ca00544d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7871bad1ba4568" /><Relationship Type="http://schemas.openxmlformats.org/officeDocument/2006/relationships/notesMaster" Target="/ppt/notesMasters/notesMaster1.xml" Id="R33135202031d40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e1b44645114ab0" /><Relationship Type="http://schemas.openxmlformats.org/officeDocument/2006/relationships/notesMaster" Target="/ppt/notesMasters/notesMaster1.xml" Id="R355b8d2b41354e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9430b170984563" /><Relationship Type="http://schemas.openxmlformats.org/officeDocument/2006/relationships/notesMaster" Target="/ppt/notesMasters/notesMaster1.xml" Id="R8f6a7c2d16994c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edf9e604fd41cf" /><Relationship Type="http://schemas.openxmlformats.org/officeDocument/2006/relationships/notesMaster" Target="/ppt/notesMasters/notesMaster1.xml" Id="Rc0b028e00f764c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3de72391b948d8" /><Relationship Type="http://schemas.openxmlformats.org/officeDocument/2006/relationships/notesMaster" Target="/ppt/notesMasters/notesMaster1.xml" Id="Rf497a1362bea40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205904663b4798" /><Relationship Type="http://schemas.openxmlformats.org/officeDocument/2006/relationships/notesMaster" Target="/ppt/notesMasters/notesMaster1.xml" Id="Rf6b5315cc6f740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How to Use the Playbook and Toolkit Together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Read the play first to understand the decision and output, then use the linked tools during workshops or governance reviews.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11 and Tools 2, 7, 12, 37, 38.</a:t>
            </a:r>
          </a:p>
          <a:p xmlns:a="http://schemas.openxmlformats.org/drawingml/2006/main">
            <a:r>
              <a:t>Emphasize the core guardrail: The tools support the plays; they should not become a disconnected paperwork exercise.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11 and Tools 2, 7, 12, 37, 38.</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11 and Tools 2, 7, 12, 37, 38.</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11 and Tools 2, 7, 12, 37, 38.</a:t>
            </a:r>
          </a:p>
          <a:p xmlns:a="http://schemas.openxmlformats.org/drawingml/2006/main">
            <a:r>
              <a:t>Invite participants to identify where these practices would need to be documented in their own department.</a:t>
            </a:r>
          </a:p>
          <a:p xmlns:a="http://schemas.openxmlformats.org/drawingml/2006/main">
            <a:r>
              <a:t>Start with How to Use the Sequence,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11 and Tools 2, 7, 12, 37, 38.</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11 and Tools 2, 7, 12, 37, 38.</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Customized play-and-tool workplan, Governance gate checklist, Completed tool package for leadership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11 and Tools 2, 7, 12, 37, 38.</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77c951c15c4d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c568aa54d2439c" /><Relationship Type="http://schemas.openxmlformats.org/officeDocument/2006/relationships/slideLayout" Target="/ppt/slideLayouts/slideLayout1.xml" Id="Rc92956118d5141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2956118d5141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a6a0cef5c24a0a" /><Relationship Type="http://schemas.openxmlformats.org/officeDocument/2006/relationships/image" Target="/ppt/media/image.png" Id="R9c809b0e80a04d83" /><Relationship Type="http://schemas.openxmlformats.org/officeDocument/2006/relationships/notesSlide" Target="/ppt/notesSlides/notesSlide1.xml" Id="Rfa307593c7bf43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d9968c0ade481d" /><Relationship Type="http://schemas.openxmlformats.org/officeDocument/2006/relationships/notesSlide" Target="/ppt/notesSlides/notesSlide2.xml" Id="R79a33198f5dd48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18d93c72c84531" /><Relationship Type="http://schemas.openxmlformats.org/officeDocument/2006/relationships/notesSlide" Target="/ppt/notesSlides/notesSlide3.xml" Id="Rb3067cbcdaf342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ff262f58494352" /><Relationship Type="http://schemas.openxmlformats.org/officeDocument/2006/relationships/notesSlide" Target="/ppt/notesSlides/notesSlide4.xml" Id="R3615748f6f96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fab17c094a481c" /><Relationship Type="http://schemas.openxmlformats.org/officeDocument/2006/relationships/notesSlide" Target="/ppt/notesSlides/notesSlide5.xml" Id="R05640ed370a64c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33f86a308946a1" /><Relationship Type="http://schemas.openxmlformats.org/officeDocument/2006/relationships/notesSlide" Target="/ppt/notesSlides/notesSlide6.xml" Id="Rbdad7fc33f2e4b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47f57594e34223" /><Relationship Type="http://schemas.openxmlformats.org/officeDocument/2006/relationships/notesSlide" Target="/ppt/notesSlides/notesSlide7.xml" Id="R8d20240b97cf41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f2d46053f54421" /><Relationship Type="http://schemas.openxmlformats.org/officeDocument/2006/relationships/notesSlide" Target="/ppt/notesSlides/notesSlide8.xml" Id="Rc041fc54b7414610"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c809b0e80a04d83"/>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E713E2-D54C-413D-81D9-57C1B8A49C2C}"/>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19</a:t>
            </a:r>
          </a:p>
        </p:txBody>
      </p:sp>
      <p:sp>
        <p:nvSpPr>
          <p:cNvPr id="3" name="">
            <a:extLst xmlns:a="http://schemas.openxmlformats.org/drawingml/2006/main">
              <a:ext uri="{FF2B5EF4-FFF2-40B4-BE49-F238E27FC236}">
                <a16:creationId xmlns:a16="http://schemas.microsoft.com/office/drawing/2014/main" id="{6FAD6A35-233A-4B52-873E-F7B2FB38DA82}"/>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How to Use the Playbook and Toolkit Together</a:t>
            </a:r>
          </a:p>
        </p:txBody>
      </p:sp>
      <p:sp>
        <p:nvSpPr>
          <p:cNvPr id="4" name="">
            <a:extLst xmlns:a="http://schemas.openxmlformats.org/drawingml/2006/main">
              <a:ext uri="{FF2B5EF4-FFF2-40B4-BE49-F238E27FC236}">
                <a16:creationId xmlns:a16="http://schemas.microsoft.com/office/drawing/2014/main" id="{80A37355-8B47-4D98-B476-9A97EAC41AF2}"/>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29066C15-47C0-4A3A-9593-8DB1A670B66A}"/>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F3C3E54-7716-4C58-97AE-9356FE34826C}"/>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5596627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703830-534C-4C95-B284-67A84BE1FA2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D52F14B-20F3-4699-9C19-CAFFC40EB71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2B9ACDA0-DA07-427E-84E8-09477F1C951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BFC7FCA-E355-4E1F-8A8A-1D5C8DED2708}"/>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Read the play first to understand the decision and output, then use the linked tools during workshops or governance reviews.</a:t>
            </a:r>
          </a:p>
        </p:txBody>
      </p:sp>
      <p:sp>
        <p:nvSpPr>
          <p:cNvPr id="5" name="">
            <a:extLst xmlns:a="http://schemas.openxmlformats.org/drawingml/2006/main">
              <a:ext uri="{FF2B5EF4-FFF2-40B4-BE49-F238E27FC236}">
                <a16:creationId xmlns:a16="http://schemas.microsoft.com/office/drawing/2014/main" id="{ED38EDE4-ACEC-48DF-B7F8-9534873FC096}"/>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9C2D119-92E7-4A4C-A743-7BF898D55C94}"/>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FC783F39-0ED2-4737-AE80-BA93BB1E9BDA}"/>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AC2DD1E7-C3A3-4020-8814-5FF0CDAFF0DD}"/>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playbook creates the sequence and the toolkit creates the documentation. Using them together helps departments move from learning to readiness, governance, use case selection, funding, deployment, monitoring, and sustained oversight.</a:t>
            </a:r>
          </a:p>
        </p:txBody>
      </p:sp>
      <p:sp>
        <p:nvSpPr>
          <p:cNvPr id="9" name="">
            <a:extLst xmlns:a="http://schemas.openxmlformats.org/drawingml/2006/main">
              <a:ext uri="{FF2B5EF4-FFF2-40B4-BE49-F238E27FC236}">
                <a16:creationId xmlns:a16="http://schemas.microsoft.com/office/drawing/2014/main" id="{B82BFA2A-FA24-4433-B679-4737B92B3EEF}"/>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63691BE-B4D4-4C2B-87EB-C2188D2AF7F6}"/>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1525DA9-7107-4652-948A-EE189ED31CDF}"/>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0D4D8FFC-5A0C-48E4-A90E-5FE8858A379D}"/>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tools support the plays; they should not become a disconnected paperwork exercise.</a:t>
            </a:r>
          </a:p>
        </p:txBody>
      </p:sp>
      <p:sp>
        <p:nvSpPr>
          <p:cNvPr id="13" name="">
            <a:extLst xmlns:a="http://schemas.openxmlformats.org/drawingml/2006/main">
              <a:ext uri="{FF2B5EF4-FFF2-40B4-BE49-F238E27FC236}">
                <a16:creationId xmlns:a16="http://schemas.microsoft.com/office/drawing/2014/main" id="{27E201FD-0C32-4833-B42F-E80967E9061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4" name="">
            <a:extLst xmlns:a="http://schemas.openxmlformats.org/drawingml/2006/main">
              <a:ext uri="{FF2B5EF4-FFF2-40B4-BE49-F238E27FC236}">
                <a16:creationId xmlns:a16="http://schemas.microsoft.com/office/drawing/2014/main" id="{F27F7A94-D8DA-40FD-BC0C-7182B5FE110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62092426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FDD3B1-B660-4B35-BB09-874BD7539B7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7AF5503-024B-4355-B49E-643C2401CCE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8ABAE9F5-D23C-4BC1-8BCD-2846117BAFF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0B8CE24-1F08-4E0F-84B0-8AC51D83222B}"/>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EC89FD20-1CE7-45FF-A681-E6F02D1F30D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How to Use the Playbook and Toolkit Together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29132D87-600B-48FB-B900-E02B60E5305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7" name="">
            <a:extLst xmlns:a="http://schemas.openxmlformats.org/drawingml/2006/main">
              <a:ext uri="{FF2B5EF4-FFF2-40B4-BE49-F238E27FC236}">
                <a16:creationId xmlns:a16="http://schemas.microsoft.com/office/drawing/2014/main" id="{B8C7389A-CCC0-4340-B7CF-9041EC2D9E2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1276262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3207E0-AD75-46B5-96CA-1B144265CBF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19901C2-547A-4720-96D2-5BC3C772296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5DBA47CA-650B-4137-A170-5055CF6D4B4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9B2D1C2-D8C6-4A9C-8B24-E5EA5D76C0C0}"/>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 playbook and toolkit are designed to work together. Plays define the decisions, sequence, participants, outputs, and governance gates. Tools help departments complete the work, document decisions, and create reusable artifacts.</a:t>
            </a:r>
          </a:p>
        </p:txBody>
      </p:sp>
      <p:sp>
        <p:nvSpPr>
          <p:cNvPr id="5" name="">
            <a:extLst xmlns:a="http://schemas.openxmlformats.org/drawingml/2006/main">
              <a:ext uri="{FF2B5EF4-FFF2-40B4-BE49-F238E27FC236}">
                <a16:creationId xmlns:a16="http://schemas.microsoft.com/office/drawing/2014/main" id="{30986F49-66C1-47EA-9566-F0C42B1EDA1F}"/>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1FA0A9C-58D7-412A-BEB6-0C844E4A58DE}"/>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A6C2041-8BAE-4636-AA92-D658DBE9EB6B}"/>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F45DB95D-FE1B-423D-AF3E-EB3F0F941DE1}"/>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Read the play first to understand the decision and output, then use the linked tools during workshops or governance reviews.</a:t>
            </a:r>
          </a:p>
        </p:txBody>
      </p:sp>
      <p:sp>
        <p:nvSpPr>
          <p:cNvPr id="9" name="">
            <a:extLst xmlns:a="http://schemas.openxmlformats.org/drawingml/2006/main">
              <a:ext uri="{FF2B5EF4-FFF2-40B4-BE49-F238E27FC236}">
                <a16:creationId xmlns:a16="http://schemas.microsoft.com/office/drawing/2014/main" id="{52121F4C-B6FA-4C6E-98E9-92282F63068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0" name="">
            <a:extLst xmlns:a="http://schemas.openxmlformats.org/drawingml/2006/main">
              <a:ext uri="{FF2B5EF4-FFF2-40B4-BE49-F238E27FC236}">
                <a16:creationId xmlns:a16="http://schemas.microsoft.com/office/drawing/2014/main" id="{9CCDC4AC-56F9-45BB-8DA0-971813D2658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83137244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11E2DD-17C3-4C78-BD3A-37D87ED53B6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5DDEA38-BE0C-4EFC-BE19-09E5ACA6968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83D0F31C-4655-4853-A8B7-BF19AEE2FAA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7DF622C-6E60-4841-A048-CA12FAFC413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AF1719C-2F4C-40BD-83C6-A93A1CC68AAB}"/>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23AA7620-9A20-46C6-958C-3019A6BF4B2C}"/>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Sequence</a:t>
            </a:r>
          </a:p>
        </p:txBody>
      </p:sp>
      <p:sp>
        <p:nvSpPr>
          <p:cNvPr id="7" name="">
            <a:extLst xmlns:a="http://schemas.openxmlformats.org/drawingml/2006/main">
              <a:ext uri="{FF2B5EF4-FFF2-40B4-BE49-F238E27FC236}">
                <a16:creationId xmlns:a16="http://schemas.microsoft.com/office/drawing/2014/main" id="{F6AEC51D-BE0E-41FE-82DC-A765493BCDF7}"/>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vision and readiness so the department understands purpose, gaps, and constraints. Establish governance before formal use case selection, vendor engagement, pilots, or deployment. Use stakeholder engagement, workforce planning,.</a:t>
            </a:r>
          </a:p>
        </p:txBody>
      </p:sp>
      <p:sp>
        <p:nvSpPr>
          <p:cNvPr id="8" name="">
            <a:extLst xmlns:a="http://schemas.openxmlformats.org/drawingml/2006/main">
              <a:ext uri="{FF2B5EF4-FFF2-40B4-BE49-F238E27FC236}">
                <a16:creationId xmlns:a16="http://schemas.microsoft.com/office/drawing/2014/main" id="{9F4C85DA-5814-4991-A364-E5B75BF2EFCF}"/>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A57338B-28B1-42F7-87CD-C469477D2A05}"/>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835D1DE-62BE-4856-B897-E347DE0F54E3}"/>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Tools</a:t>
            </a:r>
          </a:p>
        </p:txBody>
      </p:sp>
      <p:sp>
        <p:nvSpPr>
          <p:cNvPr id="11" name="">
            <a:extLst xmlns:a="http://schemas.openxmlformats.org/drawingml/2006/main">
              <a:ext uri="{FF2B5EF4-FFF2-40B4-BE49-F238E27FC236}">
                <a16:creationId xmlns:a16="http://schemas.microsoft.com/office/drawing/2014/main" id="{CED4C2AE-A9D2-4E5F-8119-66C071942F36}"/>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Open tools from the play page when the tool is needed for a decision or output. Save progress and update living tools as decisions change. Use completed tools as governance records, implementation artifacts, and evidence for leadership or.</a:t>
            </a:r>
          </a:p>
        </p:txBody>
      </p:sp>
      <p:sp>
        <p:nvSpPr>
          <p:cNvPr id="12" name="">
            <a:extLst xmlns:a="http://schemas.openxmlformats.org/drawingml/2006/main">
              <a:ext uri="{FF2B5EF4-FFF2-40B4-BE49-F238E27FC236}">
                <a16:creationId xmlns:a16="http://schemas.microsoft.com/office/drawing/2014/main" id="{B3539EAF-8C19-4068-896A-3EBCE656489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EC1DB05-7C2E-473B-8F48-5590BF7C31B1}"/>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449BBD3-4160-437E-8550-116469369FD3}"/>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Governance Discipline</a:t>
            </a:r>
          </a:p>
        </p:txBody>
      </p:sp>
      <p:sp>
        <p:nvSpPr>
          <p:cNvPr id="15" name="">
            <a:extLst xmlns:a="http://schemas.openxmlformats.org/drawingml/2006/main">
              <a:ext uri="{FF2B5EF4-FFF2-40B4-BE49-F238E27FC236}">
                <a16:creationId xmlns:a16="http://schemas.microsoft.com/office/drawing/2014/main" id="{27FED5E5-7F0C-4894-8172-A18EC00BFBA4}"/>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skip early plays because a tool or vendor is available. Use assessment recommendations to customize the path based on readiness gaps and completed work. Treat the implementation plan, inventory, monitoring dashboard, and policy log as.</a:t>
            </a:r>
          </a:p>
        </p:txBody>
      </p:sp>
      <p:sp>
        <p:nvSpPr>
          <p:cNvPr id="16" name="">
            <a:extLst xmlns:a="http://schemas.openxmlformats.org/drawingml/2006/main">
              <a:ext uri="{FF2B5EF4-FFF2-40B4-BE49-F238E27FC236}">
                <a16:creationId xmlns:a16="http://schemas.microsoft.com/office/drawing/2014/main" id="{2EE5DD87-D437-48CC-AA46-38105D6394F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7" name="">
            <a:extLst xmlns:a="http://schemas.openxmlformats.org/drawingml/2006/main">
              <a:ext uri="{FF2B5EF4-FFF2-40B4-BE49-F238E27FC236}">
                <a16:creationId xmlns:a16="http://schemas.microsoft.com/office/drawing/2014/main" id="{6D8F0E12-685F-472E-8871-40234ABCC46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65168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4FFE74-3885-4D43-AF73-AB1C684CF7D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FA3E1AD-C6EE-42B9-897A-E0859F68452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E9C6FD10-F9D9-4988-8F3F-9F1947FF291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EEAA7F8-1B6E-48BA-8498-25B7ED879905}"/>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49D71D4F-E4CC-41EB-B765-E3F432E98FEA}"/>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5538819-F27F-49BE-AE89-1848EBA65DC6}"/>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2A2A7FA-E95F-469F-AF6C-34857F8625FC}"/>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 7 during Play 2</a:t>
            </a:r>
          </a:p>
        </p:txBody>
      </p:sp>
      <p:sp>
        <p:nvSpPr>
          <p:cNvPr id="8" name="">
            <a:extLst xmlns:a="http://schemas.openxmlformats.org/drawingml/2006/main">
              <a:ext uri="{FF2B5EF4-FFF2-40B4-BE49-F238E27FC236}">
                <a16:creationId xmlns:a16="http://schemas.microsoft.com/office/drawing/2014/main" id="{28412A09-F29E-4553-AB8B-27624118BF8F}"/>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Complete the readiness self-assessment before selecting pilots so gaps in governance, data, workforce, equity, and security are visible.</a:t>
            </a:r>
          </a:p>
        </p:txBody>
      </p:sp>
      <p:sp>
        <p:nvSpPr>
          <p:cNvPr id="9" name="">
            <a:extLst xmlns:a="http://schemas.openxmlformats.org/drawingml/2006/main">
              <a:ext uri="{FF2B5EF4-FFF2-40B4-BE49-F238E27FC236}">
                <a16:creationId xmlns:a16="http://schemas.microsoft.com/office/drawing/2014/main" id="{0F06620E-889F-4FCC-B4C0-5BAFC7B6EEB1}"/>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7A05908-7330-4BDB-89CC-E06A15C9671C}"/>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220A6FE6-400D-47C6-8E60-4FB8A4AB0163}"/>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2 and 12 during Play 3</a:t>
            </a:r>
          </a:p>
        </p:txBody>
      </p:sp>
      <p:sp>
        <p:nvSpPr>
          <p:cNvPr id="12" name="">
            <a:extLst xmlns:a="http://schemas.openxmlformats.org/drawingml/2006/main">
              <a:ext uri="{FF2B5EF4-FFF2-40B4-BE49-F238E27FC236}">
                <a16:creationId xmlns:a16="http://schemas.microsoft.com/office/drawing/2014/main" id="{A3B88D87-2036-4DD6-912B-7CC582CAFC7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Pair the responsible AI policy template with the governance board charter to define authority, review standards, and decision rights.</a:t>
            </a:r>
          </a:p>
        </p:txBody>
      </p:sp>
      <p:sp>
        <p:nvSpPr>
          <p:cNvPr id="13" name="">
            <a:extLst xmlns:a="http://schemas.openxmlformats.org/drawingml/2006/main">
              <a:ext uri="{FF2B5EF4-FFF2-40B4-BE49-F238E27FC236}">
                <a16:creationId xmlns:a16="http://schemas.microsoft.com/office/drawing/2014/main" id="{15AEAA19-E685-4358-BF4C-83FC548A89D4}"/>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69ABE5E-A08A-473A-86F8-1485882767C4}"/>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5F224FA6-7C03-4BCA-9CEF-614B982AF18E}"/>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37 and 38 before scaling</a:t>
            </a:r>
          </a:p>
        </p:txBody>
      </p:sp>
      <p:sp>
        <p:nvSpPr>
          <p:cNvPr id="16" name="">
            <a:extLst xmlns:a="http://schemas.openxmlformats.org/drawingml/2006/main">
              <a:ext uri="{FF2B5EF4-FFF2-40B4-BE49-F238E27FC236}">
                <a16:creationId xmlns:a16="http://schemas.microsoft.com/office/drawing/2014/main" id="{87CF10D4-8E88-461D-8696-9F49D5F0D00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the pilot dashboard and scale decision framework to determine whether to scale, revise, pause, or retire a pilot.</a:t>
            </a:r>
          </a:p>
        </p:txBody>
      </p:sp>
      <p:sp>
        <p:nvSpPr>
          <p:cNvPr id="17" name="">
            <a:extLst xmlns:a="http://schemas.openxmlformats.org/drawingml/2006/main">
              <a:ext uri="{FF2B5EF4-FFF2-40B4-BE49-F238E27FC236}">
                <a16:creationId xmlns:a16="http://schemas.microsoft.com/office/drawing/2014/main" id="{C6E741F3-36E3-4898-B6B9-14700258855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8" name="">
            <a:extLst xmlns:a="http://schemas.openxmlformats.org/drawingml/2006/main">
              <a:ext uri="{FF2B5EF4-FFF2-40B4-BE49-F238E27FC236}">
                <a16:creationId xmlns:a16="http://schemas.microsoft.com/office/drawing/2014/main" id="{E4149D68-DC39-46DF-B400-7391A5B39E4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22868987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F7AD13-485A-47B4-A4B1-4C628C5048D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E52D35B-62D4-4943-9F97-2B2DC83D8BD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D5E13736-84BD-4F45-8DC7-2DE66CF785C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A80C0A9-DAAE-434C-ADB5-8D282108C088}"/>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DB946A5-C355-42FC-85B1-C2DD6289CEA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03D3E27B-7728-4918-8168-896FBB3122E0}"/>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B22336DA-6B7C-437B-844C-5DC9C6DB15ED}"/>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plays are required based on the readiness assessment? Which tools document the decisions needed for those plays? Who owns each tool, output, deadline, and governance gate?</a:t>
            </a:r>
          </a:p>
        </p:txBody>
      </p:sp>
      <p:sp>
        <p:nvSpPr>
          <p:cNvPr id="8" name="">
            <a:extLst xmlns:a="http://schemas.openxmlformats.org/drawingml/2006/main">
              <a:ext uri="{FF2B5EF4-FFF2-40B4-BE49-F238E27FC236}">
                <a16:creationId xmlns:a16="http://schemas.microsoft.com/office/drawing/2014/main" id="{E15E1AE7-4893-4A36-B4B8-020A2E7E84E4}"/>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7F26C14-8A34-49DB-BD14-3966A15011C9}"/>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1B7DB2F-3876-4BCD-A5AA-20333BB7CD5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98B9B772-95BC-4D88-B5C5-33D6204331D5}"/>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assessment results and convert them into a customized workplan with recommended plays, supporting tools, owners, deadlines, and governance milestones.</a:t>
            </a:r>
          </a:p>
        </p:txBody>
      </p:sp>
      <p:sp>
        <p:nvSpPr>
          <p:cNvPr id="12" name="">
            <a:extLst xmlns:a="http://schemas.openxmlformats.org/drawingml/2006/main">
              <a:ext uri="{FF2B5EF4-FFF2-40B4-BE49-F238E27FC236}">
                <a16:creationId xmlns:a16="http://schemas.microsoft.com/office/drawing/2014/main" id="{EE529359-9C23-4EC8-876F-76B4B5D1A27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C6A855F2-534C-48CD-ACF1-D8D44CFDBB1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5416663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CBF199-CAA3-4CBC-AFCE-5828A643680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D898B32-B8B7-4902-B124-42F0DFB7767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330EF73F-2A5E-45E6-B5B6-B9960A0F545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A5554EB-6110-469C-AB3A-9D057E0083E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0A6CB05-9B5C-44D2-B7D8-44B4827F9257}"/>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475021D-3E19-4E5C-8048-6D266C953389}"/>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912FCC7-0256-4FE7-8922-ADAEE4E8C334}"/>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11 and Tools 2, 7, 12, 37, 38.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2AB21463-FEC7-4547-BB06-27F068EF0804}"/>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F6F93F2-B639-4453-BD44-02F2A6C1D016}"/>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91B928DE-F743-4B81-80C1-CAAE67B08D74}"/>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99BCB4D5-87B8-4C95-8D32-6824921505E4}"/>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 as a shared risk language while completing playbook tools. ASPPH AI Framework Report: Use as background for public health AI governance, workforce, and accountability concepts. CDC STLT resources: Use to.</a:t>
            </a:r>
          </a:p>
        </p:txBody>
      </p:sp>
      <p:sp>
        <p:nvSpPr>
          <p:cNvPr id="12" name="">
            <a:extLst xmlns:a="http://schemas.openxmlformats.org/drawingml/2006/main">
              <a:ext uri="{FF2B5EF4-FFF2-40B4-BE49-F238E27FC236}">
                <a16:creationId xmlns:a16="http://schemas.microsoft.com/office/drawing/2014/main" id="{CAF53B22-4B25-41E7-9D20-9C1A97B6DA2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C5603C11-4BC2-4099-94DE-560225EDDE4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3974904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2026-07-02T16:03:06.1510000Z</dcterms:created>
  <dcterms:modified xsi:type="dcterms:W3CDTF">2026-07-02T16:03:06.1510000Z</dcterms:modified>
</coreProperties>
</file>