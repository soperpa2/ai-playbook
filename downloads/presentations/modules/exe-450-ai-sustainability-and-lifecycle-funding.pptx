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450 AI Sustainability and Lifecycle Funding
Responsible AI does not end at launch. AI tools require ongoing funding, staff time, monitoring, updates, vendor management, training, incident response, documentation, and eventual retirement. Sustainability planning ensures that AI-supported workflows do not become unfunded, unmonitored, or outdated after the initial pilot or grant period ends. This module helps leaders plan for the full AI lifecycle. It focuses on funding models, ownership, maintenance, monitoring, contract renewal, retraining, policy updates, user support, accessibility updates, cybersecurity review, and sunset criteria. The module emphasizes that a tool should not be approved if the agency cannot reasonably sustain the safeguards needed for responsible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Responsible AI does not end at launch. AI tools require ongoing funding, staff time, monitoring, updates, vendor management, training, incident response, documentation, and eventual retirement. Sustainability planning ensures that AI-supported workflows do not become unfunded, unmonitored, or outdated after the initial pilot or grant period ends. This module helps leaders plan for the full AI lifecycle. It focuses on funding models, ownership, maintenance, monitoring, contract renewal, retraining, policy updates, user support, accessibility updates, cybersecurity review, and sunset criteria. The module emphasizes that a tool should not be approved if the agency cannot reasonably sustain the safeguards needed for responsible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8: Develop a Funding Strategy - This lesson informs Play 8 by helping learners connect the lesson topic to develop a funding strategy work in the AI Playbook sequence.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33: Funding Strategy Checklists (Checklist) - Use this tool to complete or strengthen the practical exercise for the module using fictional, de-identified, or generalized.
Tool 35: AI Total Cost of Ownership and Sustainability Worksheet (Worksheet) - Use this tool to complete or strengthen the practical exercise for the module using fictional, de-identified, or generalized.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sustainability must be planned before launch.
Identify lifecycle costs and responsibilities for AI tools and workflows.
Develop sustainability criteria for moving from pilot to operational use.
Define sunset, pause, and retirement criteria for AI use cases.
Produce an AI lifecycle funding and sustainability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Responsible AI does not end at launch. AI tools require ongoing funding, staff time, monitoring, updates, vendor management, training, incident response, documentation, and eventual retirement. Sustainability planning ensures that AI-supported workflows do not become unfunded, unmonitored, or outdated after the initial pilot or grant period ends.
This module helps leaders plan for the full AI lifecycle. It focuses on funding models, ownership, maintenance, monitoring, contract renewal, retraining, policy updates, user support, accessibility updates, cybersecurity review, and sunset criteria. The module emphasizes that a tool should not be approved if the agency cannot reasonably sustain the safeguards needed for responsible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Many AI efforts begin as pilots, innovation projects, or grant-funded experiments. These projects may succeed technically but fail operationally if there is no plan for ongoing support. Public health agencies may be left with a tool that staff rely on but no budget for validation updates, vendor support, data integration maintenance, monitoring, or training new users.
Sustainability is also a risk-control issue. AI tools can become unsafe when they are not maintained. Data sources change, regulations change, staff roles change, vendor models change, and public expectations change. A sustainability plan helps the agency decide whether the tool should continue, be modified, be replaced, or be retired.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grant funds a two-year AI pilot to help identify likely duplicate records in a public health system. The pilot improves efficiency, but the grant does not cover long-term hosting, monitoring, system upgrades, training, or validation after data sources change. When funding ends, staff continue relying on the tool even though no one is assigned to review performance.
A sustainability plan would have addressed this before launch. It would define operational ownership, long-term funding, monitoring indicators, update cadence, user support, vendor responsibilities, and criteria for continuing or retiring the tool. It would also define a manual fallback process if the tool is paused.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AI lifecycle planning should begin during intake and business case review. Leaders should ask whether the use case is a short-term experiment, a time-limited emergency support tool, or a long-term operational capability. Each category has different funding and governance needs. A time-limited tool may need clear end dates and data deletion rules. An operational tool needs sustained staffing, budget, contracts, monitoring, and training.
Lifecycle costs include more than licenses. Agencies must consider integration maintenance, data pipeline monitoring, model evaluation, cybersecurity review, privacy review, accessibility updates, user support, vendor management, documentation, incident response, retraining or reconfiguration, and future procurement. These costs should be tied to ownership. If no role or budget owns a lifecycle function, the function may not happen.
Sunset and retirement criteria are essential. A tool may be retired if it no longer aligns with agency priorities, if benefits are not realized, if risks outweigh value, if vendor terms change, if performance deteriorates, if data sources are no longer reliable, or if a better shared service becomes available. Retirement should be planned so staff know how to transition without disrupting public health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pilot dependency. Staff may begin relying on a tool that was never funded or governed for long-term use. A guardrail is to define pilot duration, scale limits, success criteria, and continuation requirements before launch.
Another risk is silent degradation. A tool may continue operating after data, policies, user behavior, or vendor models change. A guardrail is to require periodic lifecycle review and clear pause or sunset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sustainability requires prompt and source updates, user training, output review, and policy alignment. Predictive analytics sustainability requires drift monitoring, recalibration, subgroup review, and documentation. Agentic AI sustainability requires continued security review, permission management, incident drills, and rollback testing. Lifecycle funding should match the safeguards required by the AI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lifecycle funding and sustainability plan for one AI use case. Include costs, owners, funding sources, monitoring, update cadence, vendor management, training, fallback process, and sunset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Sustainability plan; lifecycle cost list; ownership map; continuation and sunset criteria; rollback or fallback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Sustainability plan; lifecycle cost list; ownership map; continuation and sunset criteria; rollback or fallback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450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Sustainability and Lifecycle Funding</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Responsible AI does not end at launch.</a:t>
            </a:r>
            <a:endParaRPr lang="en-US" sz="2100" dirty="0"/>
          </a:p>
          <a:p>
            <a:r>
              <a:rPr lang="en-US" sz="2100" dirty="0">
                <a:solidFill>
                  <a:srgbClr val="17364A"/>
                </a:solidFill>
                <a:latin typeface="Aptos" pitchFamily="34" charset="0"/>
                <a:ea typeface="Aptos" pitchFamily="34" charset="-122"/>
                <a:cs typeface="Aptos" pitchFamily="34" charset="-120"/>
              </a:rPr>
              <a:t>AI tools require ongoing funding, staff time, monitoring, updates, vendor management, training, incident.</a:t>
            </a:r>
            <a:endParaRPr lang="en-US" sz="2100" dirty="0"/>
          </a:p>
          <a:p>
            <a:r>
              <a:rPr lang="en-US" sz="2100" dirty="0">
                <a:solidFill>
                  <a:srgbClr val="17364A"/>
                </a:solidFill>
                <a:latin typeface="Aptos" pitchFamily="34" charset="0"/>
                <a:ea typeface="Aptos" pitchFamily="34" charset="-122"/>
                <a:cs typeface="Aptos" pitchFamily="34" charset="-120"/>
              </a:rPr>
              <a:t>Sustainability planning ensures that AI-supported workflows do not become unfunded, unmonitored, or outdated.</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8: Develop a Funding Strategy - This lesson informs Play 8 by helping learners connect the lesson topic.</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33: Funding Strategy Checklists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35: AI Total Cost of Ownership and Sustainability Worksheet (Worksheet) - Use this tool to complete or.</a:t>
            </a:r>
            <a:endParaRPr lang="en-US" sz="1850" dirty="0"/>
          </a:p>
          <a:p>
            <a:r>
              <a:rPr lang="en-US" sz="1850" dirty="0">
                <a:solidFill>
                  <a:srgbClr val="17364A"/>
                </a:solidFill>
                <a:latin typeface="Aptos" pitchFamily="34" charset="0"/>
                <a:ea typeface="Aptos" pitchFamily="34" charset="-122"/>
                <a:cs typeface="Aptos" pitchFamily="34" charset="-120"/>
              </a:rPr>
              <a:t>Tool 32: Vendor Evaluation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34: STLT AI Procurement and Vendor Addendum (Checklist) - Use this tool to complete or strengthen the.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AI sustainability must be planned before launch.</a:t>
            </a:r>
            <a:endParaRPr lang="en-US" sz="2100" dirty="0"/>
          </a:p>
          <a:p>
            <a:r>
              <a:rPr lang="en-US" sz="2100" dirty="0">
                <a:solidFill>
                  <a:srgbClr val="17364A"/>
                </a:solidFill>
                <a:latin typeface="Aptos" pitchFamily="34" charset="0"/>
                <a:ea typeface="Aptos" pitchFamily="34" charset="-122"/>
                <a:cs typeface="Aptos" pitchFamily="34" charset="-120"/>
              </a:rPr>
              <a:t>Identify lifecycle costs and responsibilities for AI tools and workflows.</a:t>
            </a:r>
            <a:endParaRPr lang="en-US" sz="2100" dirty="0"/>
          </a:p>
          <a:p>
            <a:r>
              <a:rPr lang="en-US" sz="2100" dirty="0">
                <a:solidFill>
                  <a:srgbClr val="17364A"/>
                </a:solidFill>
                <a:latin typeface="Aptos" pitchFamily="34" charset="0"/>
                <a:ea typeface="Aptos" pitchFamily="34" charset="-122"/>
                <a:cs typeface="Aptos" pitchFamily="34" charset="-120"/>
              </a:rPr>
              <a:t>Develop sustainability criteria for moving from pilot to operational use.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AI sustainability must be planned before launch.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Responsible AI does not end at launch.</a:t>
            </a:r>
            <a:endParaRPr lang="en-US" sz="2100" dirty="0"/>
          </a:p>
          <a:p>
            <a:r>
              <a:rPr lang="en-US" sz="2100" dirty="0">
                <a:solidFill>
                  <a:srgbClr val="17364A"/>
                </a:solidFill>
                <a:latin typeface="Aptos" pitchFamily="34" charset="0"/>
                <a:ea typeface="Aptos" pitchFamily="34" charset="-122"/>
                <a:cs typeface="Aptos" pitchFamily="34" charset="-120"/>
              </a:rPr>
              <a:t>AI tools require ongoing funding, staff time, monitoring, updates, vendor management, training,.</a:t>
            </a:r>
            <a:endParaRPr lang="en-US" sz="2100" dirty="0"/>
          </a:p>
          <a:p>
            <a:r>
              <a:rPr lang="en-US" sz="2100" dirty="0">
                <a:solidFill>
                  <a:srgbClr val="17364A"/>
                </a:solidFill>
                <a:latin typeface="Aptos" pitchFamily="34" charset="0"/>
                <a:ea typeface="Aptos" pitchFamily="34" charset="-122"/>
                <a:cs typeface="Aptos" pitchFamily="34" charset="-120"/>
              </a:rPr>
              <a:t>Sustainability planning ensures that AI-supported workflows do not become unfunded, unmonitored,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Responsible AI does not end at launch.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2100" dirty="0"/>
          </a:p>
          <a:p>
            <a:r>
              <a:rPr lang="en-US" sz="2100" dirty="0">
                <a:solidFill>
                  <a:srgbClr val="17364A"/>
                </a:solidFill>
                <a:latin typeface="Aptos" pitchFamily="34" charset="0"/>
                <a:ea typeface="Aptos" pitchFamily="34" charset="-122"/>
                <a:cs typeface="Aptos" pitchFamily="34" charset="-120"/>
              </a:rPr>
              <a:t>It does not replace legal, privacy, procurement, civil rights, records, or agency policy review.</a:t>
            </a:r>
            <a:endParaRPr lang="en-US" sz="2100" dirty="0"/>
          </a:p>
          <a:p>
            <a:r>
              <a:rPr lang="en-US" sz="2100" dirty="0">
                <a:solidFill>
                  <a:srgbClr val="17364A"/>
                </a:solidFill>
                <a:latin typeface="Aptos" pitchFamily="34" charset="0"/>
                <a:ea typeface="Aptos" pitchFamily="34" charset="-122"/>
                <a:cs typeface="Aptos" pitchFamily="34" charset="-120"/>
              </a:rPr>
              <a:t>Learners should confirm applicable requirements in their own jurisdiction and organization before.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Many AI efforts begin as pilots, innovation projects, or grant-funded experiments.</a:t>
            </a:r>
            <a:endParaRPr lang="en-US" sz="2100" dirty="0"/>
          </a:p>
          <a:p>
            <a:r>
              <a:rPr lang="en-US" sz="2100" dirty="0">
                <a:solidFill>
                  <a:srgbClr val="17364A"/>
                </a:solidFill>
                <a:latin typeface="Aptos" pitchFamily="34" charset="0"/>
                <a:ea typeface="Aptos" pitchFamily="34" charset="-122"/>
                <a:cs typeface="Aptos" pitchFamily="34" charset="-120"/>
              </a:rPr>
              <a:t>These projects may succeed technically but fail operationally if there is no plan for ongoing support.</a:t>
            </a:r>
            <a:endParaRPr lang="en-US" sz="2100" dirty="0"/>
          </a:p>
          <a:p>
            <a:r>
              <a:rPr lang="en-US" sz="2100" dirty="0">
                <a:solidFill>
                  <a:srgbClr val="17364A"/>
                </a:solidFill>
                <a:latin typeface="Aptos" pitchFamily="34" charset="0"/>
                <a:ea typeface="Aptos" pitchFamily="34" charset="-122"/>
                <a:cs typeface="Aptos" pitchFamily="34" charset="-120"/>
              </a:rPr>
              <a:t>Public health agencies may be left with a tool that staff rely on but no budget for validation updates,.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Many AI efforts begin as pilots, innovation projects, or grant-funded experiments.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grant funds a two-year AI pilot to help identify likely duplicate records in a public health system.</a:t>
            </a:r>
            <a:endParaRPr lang="en-US" sz="2100" dirty="0"/>
          </a:p>
          <a:p>
            <a:r>
              <a:rPr lang="en-US" sz="2100" dirty="0">
                <a:solidFill>
                  <a:srgbClr val="17364A"/>
                </a:solidFill>
                <a:latin typeface="Aptos" pitchFamily="34" charset="0"/>
                <a:ea typeface="Aptos" pitchFamily="34" charset="-122"/>
                <a:cs typeface="Aptos" pitchFamily="34" charset="-120"/>
              </a:rPr>
              <a:t>The pilot improves efficiency, but the grant does not cover long-term hosting, monitoring, system.</a:t>
            </a:r>
            <a:endParaRPr lang="en-US" sz="2100" dirty="0"/>
          </a:p>
          <a:p>
            <a:r>
              <a:rPr lang="en-US" sz="2100" dirty="0">
                <a:solidFill>
                  <a:srgbClr val="17364A"/>
                </a:solidFill>
                <a:latin typeface="Aptos" pitchFamily="34" charset="0"/>
                <a:ea typeface="Aptos" pitchFamily="34" charset="-122"/>
                <a:cs typeface="Aptos" pitchFamily="34" charset="-120"/>
              </a:rPr>
              <a:t>When funding ends, staff continue relying on the tool even though no one is assigned to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grant funds a two-year AI pilot to help identify likely duplicate records in a public health system.</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lifecycle planning should begin during intake and business case review.</a:t>
            </a:r>
            <a:endParaRPr lang="en-US" sz="2100" dirty="0"/>
          </a:p>
          <a:p>
            <a:r>
              <a:rPr lang="en-US" sz="2100" dirty="0">
                <a:solidFill>
                  <a:srgbClr val="17364A"/>
                </a:solidFill>
                <a:latin typeface="Aptos" pitchFamily="34" charset="0"/>
                <a:ea typeface="Aptos" pitchFamily="34" charset="-122"/>
                <a:cs typeface="Aptos" pitchFamily="34" charset="-120"/>
              </a:rPr>
              <a:t>Leaders should ask whether the use case is a short-term experiment, a time-limited emergency support.</a:t>
            </a:r>
            <a:endParaRPr lang="en-US" sz="2100" dirty="0"/>
          </a:p>
          <a:p>
            <a:r>
              <a:rPr lang="en-US" sz="2100" dirty="0">
                <a:solidFill>
                  <a:srgbClr val="17364A"/>
                </a:solidFill>
                <a:latin typeface="Aptos" pitchFamily="34" charset="0"/>
                <a:ea typeface="Aptos" pitchFamily="34" charset="-122"/>
                <a:cs typeface="Aptos" pitchFamily="34" charset="-120"/>
              </a:rPr>
              <a:t>Each category has different funding and governance needs.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lifecycle planning should begin during intake and business case review.</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One risk is pilot dependency.</a:t>
            </a:r>
            <a:endParaRPr lang="en-US" sz="2100" dirty="0"/>
          </a:p>
          <a:p>
            <a:r>
              <a:rPr lang="en-US" sz="2100" dirty="0">
                <a:solidFill>
                  <a:srgbClr val="17364A"/>
                </a:solidFill>
                <a:latin typeface="Aptos" pitchFamily="34" charset="0"/>
                <a:ea typeface="Aptos" pitchFamily="34" charset="-122"/>
                <a:cs typeface="Aptos" pitchFamily="34" charset="-120"/>
              </a:rPr>
              <a:t>Staff may begin relying on a tool that was never funded or governed for long-term use.</a:t>
            </a:r>
            <a:endParaRPr lang="en-US" sz="2100" dirty="0"/>
          </a:p>
          <a:p>
            <a:r>
              <a:rPr lang="en-US" sz="2100" dirty="0">
                <a:solidFill>
                  <a:srgbClr val="17364A"/>
                </a:solidFill>
                <a:latin typeface="Aptos" pitchFamily="34" charset="0"/>
                <a:ea typeface="Aptos" pitchFamily="34" charset="-122"/>
                <a:cs typeface="Aptos" pitchFamily="34" charset="-120"/>
              </a:rPr>
              <a:t>A guardrail is to define pilot duration, scale limits, success criteria, and continuation requirements.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One risk is pilot dependency.</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Generative AI sustainability requires prompt and source updates, user training, output review, and.</a:t>
            </a:r>
            <a:endParaRPr lang="en-US" sz="2100" dirty="0"/>
          </a:p>
          <a:p>
            <a:r>
              <a:rPr lang="en-US" sz="2100" dirty="0">
                <a:solidFill>
                  <a:srgbClr val="17364A"/>
                </a:solidFill>
                <a:latin typeface="Aptos" pitchFamily="34" charset="0"/>
                <a:ea typeface="Aptos" pitchFamily="34" charset="-122"/>
                <a:cs typeface="Aptos" pitchFamily="34" charset="-120"/>
              </a:rPr>
              <a:t>Predictive analytics sustainability requires drift monitoring, recalibration, subgroup review, and.</a:t>
            </a:r>
            <a:endParaRPr lang="en-US" sz="2100" dirty="0"/>
          </a:p>
          <a:p>
            <a:r>
              <a:rPr lang="en-US" sz="2100" dirty="0">
                <a:solidFill>
                  <a:srgbClr val="17364A"/>
                </a:solidFill>
                <a:latin typeface="Aptos" pitchFamily="34" charset="0"/>
                <a:ea typeface="Aptos" pitchFamily="34" charset="-122"/>
                <a:cs typeface="Aptos" pitchFamily="34" charset="-120"/>
              </a:rPr>
              <a:t>Agentic AI sustainability requires continued security review, permission management, incident drills,.</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Generative AI sustainability requires prompt and source updates, user training, output review, and.</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lifecycle funding and sustainability plan for one AI use case.</a:t>
            </a:r>
            <a:endParaRPr lang="en-US" sz="2100" dirty="0"/>
          </a:p>
          <a:p>
            <a:r>
              <a:rPr lang="en-US" sz="2100" dirty="0">
                <a:solidFill>
                  <a:srgbClr val="17364A"/>
                </a:solidFill>
                <a:latin typeface="Aptos" pitchFamily="34" charset="0"/>
                <a:ea typeface="Aptos" pitchFamily="34" charset="-122"/>
                <a:cs typeface="Aptos" pitchFamily="34" charset="-120"/>
              </a:rPr>
              <a:t>Include costs, owners, funding sources, monitoring, update cadence, vendor management, training,.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lifecycle funding and sustainability plan for one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Sustainability plan; lifecycle cost list; ownership map; continuation and sunset criteria; rollback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Sustainability plan; lifecycle cost list; ownership map; continuation and sunset criteria; rollback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Sustainability plan; lifecycle cost list; ownership map; continuation and sunset criteria; rollback 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Sustainability plan; lifecycle cost list; ownership map; continuation and sunset criteria; rollback or.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Sustainability and Lifecycle Funding</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Sustainability and Lifecycle Funding</dc:title>
  <dc:subject>AI Sustainability and Lifecycle Funding learning module</dc:subject>
  <dc:creator>Paula Soper</dc:creator>
  <cp:lastModifiedBy>Paula Soper</cp:lastModifiedBy>
  <cp:revision>1</cp:revision>
  <dcterms:created xsi:type="dcterms:W3CDTF">2026-07-12T19:55:21Z</dcterms:created>
  <dcterms:modified xsi:type="dcterms:W3CDTF">2026-07-12T19:55:21Z</dcterms:modified>
</cp:coreProperties>
</file>