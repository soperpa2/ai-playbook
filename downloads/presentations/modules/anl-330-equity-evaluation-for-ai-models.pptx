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 330 Equity Evaluation for AI Models
Equity evaluation examines whether an AI model performs differently across populations, places, languages, programs, or service contexts in ways that could create or worsen public health inequities. Public health agencies have a responsibility to evaluate not only average model performance but also who benefits, who may be missed, and who may be harmed. This is especially important when AI is used to prioritize cases, allocate services, detect risk, summarize records, or guide outreach. This module teaches learners how to evaluate AI models and AI-supported outputs through an equity lens. It emphasizes subgroup performance, missingness, representativeness, access, language, disability, rurality, socioeconomic context, and public health impact. The goal is to help agencies identify equity risks before deployment and monitor them after launch. Equity evaluation is not a separate ethical add-on. It is a technical and operational requirement for responsible public health AI. A model that performs well overall may still fail for groups that are underrepresented, incorrectly coded, less connected to healthcare systems, or affected by structural barriers.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Analytics and Modeling Track
Appears in tracks: analytics-and-modeling, governance-and-security, epidemiology, policy, communications
Equity evaluation examines whether an AI model performs differently across populations, places, languages, programs, or service contexts in ways that could create or worsen public health inequities. Public health agencies have a responsibility to evaluate not only average model performance but also who benefits, who may be missed, and who may be harmed. This is especially important when AI is used to prioritize cases, allocate services, detect risk, summarize records, or guide outreach. This module teaches learners how to evaluate AI models and AI-supported outputs through an equity lens. It emphasizes subgroup performance, missingness, representativeness, access, language, disability, rurality, socioeconomic context, and public health impact. The goal is to help agencies identify equity risks before deployment and monitor them after launch. Equity evaluation is not a separate ethical add-on. It is a technical and operational requirement for responsible public health AI. A model that performs well overall may still fail for groups that are underrepresented, incorrectly coded, less connected to healthcare systems, or affected by structural barriers.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13: Monitor and Evaluate AI Systems - This lesson informs Play 13 by helping learners connect the lesson topic to monitor and evaluate ai systems work in the AI Playbook.
Play 11: Build and Deploy AI Solutions - This lesson informs Play 11 by helping learners connect the lesson topic to build and deploy ai solutions work in the AI Playbook.
Play 8: Develop a Funding Strategy - This lesson informs Play 8 by helping learners connect the lesson topic to develop a funding strategy work in the AI Playbook sequence.
Play 3: Establish AI Governance - This lesson informs Play 3 by helping learners connect the lesson topic to establish ai governance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44: Performance Monitoring Dashboard (Dashboard) - Use this tool to complete or strengthen the practical exercise for the module using fictional, de-identified, or generalized.
Tool 45: Continuous Improvement Log (Log) - Use Continuous Improvement Log to translate this lesson into a documented public health AI planning, governance, implementation,.
Tool 48: AI Evaluation &amp; Outcomes Reporting (Template) - Use this tool to complete or strengthen the practical exercise for the module using fictional, de-identified, or generalized.
Tool 3: Equity Impact Assessment Checklist (Checklist) - Use this tool to complete or strengthen the practical exercise for the module using fictional, de-identified, or generalized.
Tool 32: Vendor Evaluation Checklist (Checklist) - Use this tool to complete or strengthen the practical exercise for the module using fictional, de-identified, or generalized.
Tool 34: STLT AI Procurement and Vendor Addendum (Checklist)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why overall model performance can mask inequitable performance.
Identify relevant subgroups and contextual factors for equity evaluation in public health.
Assess data representativeness, missingness, and measurement bias before model use.
Define subgroup performance measures and review thresholds for AI-supported workflows.
Produce an equity evaluation plan for a model or AI-supported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Equity evaluation examines whether an AI model performs differently across populations, places, languages, programs, or service contexts in ways that could create or worsen public health inequities. Public health agencies have a responsibility to evaluate not only average model performance but also who benefits, who may be missed, and who may be harmed. This is especially important when AI is used to prioritize cases, allocate services, detect risk, summarize records, or guide outreach.
This module teaches learners how to evaluate AI models and AI-supported outputs through an equity lens. It emphasizes subgroup performance, missingness, representativeness, access, language, disability, rurality, socioeconomic context, and public health impact. The goal is to help agencies identify equity risks before deployment and monitor them after launch.
Equity evaluation is not a separate ethical add-on. It is a technical and operational requirement for responsible public health AI. A model that performs well overall may still fail for groups that are underrepresented, incorrectly coded, less connected to healthcare systems, or affected by structural barriers.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model predicts which clients are most likely to miss follow-up care after a public health referral. Overall performance appears acceptable, but subgroup review shows lower sensitivity for rural clients and people with missing phone numbers. The model may under-prioritize people who face transportation, broadband, housing, or communication barriers. Equity evaluation would require additional analysis, workflow changes, and monitoring before the tool is used for outreach prioritization.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Operational Deep Dive
Equity evaluation begins with the intended use. A model used for internal workload planning has different equity implications than a model used to prioritize field response or determine which communities receive outreach. Evaluators should identify who is affected by the model output, what action follows, and what harms may occur from false positives, false negatives, or delayed review.
Data assessment is the next step. Public health datasets often reflect uneven healthcare access, reporting patterns, documentation practices, language access, and program reach. Missing race, ethnicity, language, disability, address, housing, or contact information may not be random. It may reflect structural barriers or data collection practices that affect some communities more than others.
Subgroup performance should be measured when data allow. This may include sensitivity, specificity, false positive rates, false negative rates, calibration, timeliness, or user override rates by race, ethnicity, age, sex, gender, geography, language, disability, rurality, payer, facility type, or other relevant factors. Subgroups should be chosen based on public health relevance, not simply data convenience.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Operational Deep Dive
Equity evaluation should lead to action. Mitigations may include changing thresholds, improving data collection, adding human review, limiting the intended use, creating separate workflows, improving language access, consulting community partners, adding uncertainty warnings, or declining to deploy the model. Equity monitoring should continue after launch because data patterns and workflow use can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Risks and failure modes include the following:
Relying on average performance while ignoring subgroup harms.
Using datasets that underrepresent communities with limited healthcare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Treating missing data as neutral when missingness reflects structural inequities.
Using AI prioritization to allocate scarce resources without equity review.
Failing to monitor equity impacts after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Recommended guardrails include the following:
Require equity evaluation for AI uses that affect prioritization, eligibility, outreach, response, or public communication.
Assess representativeness and missingness before model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Measure subgroup performance where feasible and document limitations where not feasible.
Include community, equity, and program reviewers in governance decisions.
Monitor equity indicators and user overrides after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does this topic appear in your agency, program, or workflow?
Which staff roles would need to understand or apply this concept before AI use is approved?
What could go wrong if this topic is not addressed before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evidence would governance, leadership, or operations staff need before moving forward?
Which policy, data, equity, privacy, security, or workflow questions remain unresolved?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an equity evaluation plan for one AI model or AI-supported workflow. Include intended use, affected populations, relevant subgroups, data representativeness concerns, missingness concerns, subgroup performance measures, potential harms, mitigation options, monitoring indicators, and decision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Equity evaluation plan
Subgroup and data representativeness review
Potential harm and mitigation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Equity monitoring indicators
Governance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Equity evaluation plan
Subgroup and data representativeness review
Potential harm and mitigation table
Equity monitoring indicators
Governance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Why is overall model performance insufficient for public health equity review?
2. What is measurement bias?
3. Which use most clearly requires equity evaluation?
4. What should happen if subgroup performance is poor for a population affected by the workflow?
5. What is strong completion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https://www.nist.gov/itl/ai-risk-management-framework
NIST Generative AI Profile: https://www.nist.gov/publications/artificial-intelligence-risk-management-framework-generative-artificial-intelligence
CDC Public Health Data Strategy and Data Modernization resources: https://www.cdc.gov/public-health-data-strategy/php/about/index.html
OWASP guidance for LLM application security
Agency policies for privacy, cybersecurity, records, procurement, accessibility, and public communications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Relevant public health program SOPs, data governance documentation, and implementation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ANL 330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Equity Evaluation for AI Models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Equity Evaluation for AI Models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Equity evaluation examines whether an AI model performs differently across populations, places, languages,.</a:t>
            </a:r>
            <a:endParaRPr lang="en-US" sz="2100" dirty="0"/>
          </a:p>
          <a:p>
            <a:r>
              <a:rPr lang="en-US" sz="2100" dirty="0">
                <a:solidFill>
                  <a:srgbClr val="17364A"/>
                </a:solidFill>
                <a:latin typeface="Aptos" pitchFamily="34" charset="0"/>
                <a:ea typeface="Aptos" pitchFamily="34" charset="-122"/>
                <a:cs typeface="Aptos" pitchFamily="34" charset="-120"/>
              </a:rPr>
              <a:t>Public health agencies have a responsibility to evaluate not only average model performance but also who.</a:t>
            </a:r>
            <a:endParaRPr lang="en-US" sz="2100" dirty="0"/>
          </a:p>
          <a:p>
            <a:r>
              <a:rPr lang="en-US" sz="2100" dirty="0">
                <a:solidFill>
                  <a:srgbClr val="17364A"/>
                </a:solidFill>
                <a:latin typeface="Aptos" pitchFamily="34" charset="0"/>
                <a:ea typeface="Aptos" pitchFamily="34" charset="-122"/>
                <a:cs typeface="Aptos" pitchFamily="34" charset="-120"/>
              </a:rPr>
              <a:t>This is especially important when AI is used to prioritize cases, allocate services, detect risk, summarize.</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intermediate/practitioner</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Analytics and Modeling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analytics-and-modeling, governance-and-security, epidemiology, policy, communications</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Equity Evaluation for AI Models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13: Monitor and Evaluate AI Systems - This lesson informs Play 13 by helping learners connect the.</a:t>
            </a:r>
            <a:endParaRPr lang="en-US" sz="1900" dirty="0"/>
          </a:p>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8: Develop a Funding Strategy - This lesson informs Play 8 by helping learners connect the lesson topic.</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Equity Evaluation for AI Models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44: Performance Monitoring Dashboard (Dashboard)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45: Continuous Improvement Log (Log) - Use Continuous Improvement Log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48: AI Evaluation &amp; Outcomes Reporting (Template)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3: Equity Impact Assessment Checklist (Checklist) - Use this tool to complete or strengthen the.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Equity Evaluation for AI Models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why overall model performance can mask inequitable performance.</a:t>
            </a:r>
            <a:endParaRPr lang="en-US" sz="2100" dirty="0"/>
          </a:p>
          <a:p>
            <a:r>
              <a:rPr lang="en-US" sz="2100" dirty="0">
                <a:solidFill>
                  <a:srgbClr val="17364A"/>
                </a:solidFill>
                <a:latin typeface="Aptos" pitchFamily="34" charset="0"/>
                <a:ea typeface="Aptos" pitchFamily="34" charset="-122"/>
                <a:cs typeface="Aptos" pitchFamily="34" charset="-120"/>
              </a:rPr>
              <a:t>Identify relevant subgroups and contextual factors for equity evaluation in public health.</a:t>
            </a:r>
            <a:endParaRPr lang="en-US" sz="2100" dirty="0"/>
          </a:p>
          <a:p>
            <a:r>
              <a:rPr lang="en-US" sz="2100" dirty="0">
                <a:solidFill>
                  <a:srgbClr val="17364A"/>
                </a:solidFill>
                <a:latin typeface="Aptos" pitchFamily="34" charset="0"/>
                <a:ea typeface="Aptos" pitchFamily="34" charset="-122"/>
                <a:cs typeface="Aptos" pitchFamily="34" charset="-120"/>
              </a:rPr>
              <a:t>Assess data representativeness, missingness, and measurement bias before model use.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why overall model performance can mask inequitable performance.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Equity Evaluation for AI Models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Equity evaluation examines whether an AI model performs differently across populations, places,.</a:t>
            </a:r>
            <a:endParaRPr lang="en-US" sz="2100" dirty="0"/>
          </a:p>
          <a:p>
            <a:r>
              <a:rPr lang="en-US" sz="2100" dirty="0">
                <a:solidFill>
                  <a:srgbClr val="17364A"/>
                </a:solidFill>
                <a:latin typeface="Aptos" pitchFamily="34" charset="0"/>
                <a:ea typeface="Aptos" pitchFamily="34" charset="-122"/>
                <a:cs typeface="Aptos" pitchFamily="34" charset="-120"/>
              </a:rPr>
              <a:t>Public health agencies have a responsibility to evaluate not only average model performance but also.</a:t>
            </a:r>
            <a:endParaRPr lang="en-US" sz="2100" dirty="0"/>
          </a:p>
          <a:p>
            <a:r>
              <a:rPr lang="en-US" sz="2100" dirty="0">
                <a:solidFill>
                  <a:srgbClr val="17364A"/>
                </a:solidFill>
                <a:latin typeface="Aptos" pitchFamily="34" charset="0"/>
                <a:ea typeface="Aptos" pitchFamily="34" charset="-122"/>
                <a:cs typeface="Aptos" pitchFamily="34" charset="-120"/>
              </a:rPr>
              <a:t>This is especially important when AI is used to prioritize cases, allocate services, detect risk,.</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Equity evaluation examines whether an AI model performs differently across populations, places,.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Equity Evaluation for AI Models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2100" dirty="0"/>
          </a:p>
          <a:p>
            <a:r>
              <a:rPr lang="en-US" sz="2100" dirty="0">
                <a:solidFill>
                  <a:srgbClr val="17364A"/>
                </a:solidFill>
                <a:latin typeface="Aptos" pitchFamily="34" charset="0"/>
                <a:ea typeface="Aptos" pitchFamily="34" charset="-122"/>
                <a:cs typeface="Aptos" pitchFamily="34" charset="-120"/>
              </a:rPr>
              <a:t>It is not legal advice and does not replace review by agency legal counsel, privacy officers,.</a:t>
            </a:r>
            <a:endParaRPr lang="en-US" sz="2100" dirty="0"/>
          </a:p>
          <a:p>
            <a:r>
              <a:rPr lang="en-US" sz="2100" dirty="0">
                <a:solidFill>
                  <a:srgbClr val="17364A"/>
                </a:solidFill>
                <a:latin typeface="Aptos" pitchFamily="34" charset="0"/>
                <a:ea typeface="Aptos" pitchFamily="34" charset="-122"/>
                <a:cs typeface="Aptos" pitchFamily="34" charset="-120"/>
              </a:rPr>
              <a:t>Requirements may vary by state, locality, territory, Tribe, agency, funding source, data-sharing.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Equity Evaluation for AI Models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model predicts which clients are most likely to miss follow-up care after a public health referral.</a:t>
            </a:r>
            <a:endParaRPr lang="en-US" sz="2100" dirty="0"/>
          </a:p>
          <a:p>
            <a:r>
              <a:rPr lang="en-US" sz="2100" dirty="0">
                <a:solidFill>
                  <a:srgbClr val="17364A"/>
                </a:solidFill>
                <a:latin typeface="Aptos" pitchFamily="34" charset="0"/>
                <a:ea typeface="Aptos" pitchFamily="34" charset="-122"/>
                <a:cs typeface="Aptos" pitchFamily="34" charset="-120"/>
              </a:rPr>
              <a:t>Overall performance appears acceptable, but subgroup review shows lower sensitivity for rural clients.</a:t>
            </a:r>
            <a:endParaRPr lang="en-US" sz="2100" dirty="0"/>
          </a:p>
          <a:p>
            <a:r>
              <a:rPr lang="en-US" sz="2100" dirty="0">
                <a:solidFill>
                  <a:srgbClr val="17364A"/>
                </a:solidFill>
                <a:latin typeface="Aptos" pitchFamily="34" charset="0"/>
                <a:ea typeface="Aptos" pitchFamily="34" charset="-122"/>
                <a:cs typeface="Aptos" pitchFamily="34" charset="-120"/>
              </a:rPr>
              <a:t>The model may under-prioritize people who face transportation, broadband, housing, or communication.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model predicts which clients are most likely to miss follow-up care after a public health referral.</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Equity Evaluation for AI Models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and Operational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Equity evaluation begins with the intended use.</a:t>
            </a:r>
            <a:endParaRPr lang="en-US" sz="2100" dirty="0"/>
          </a:p>
          <a:p>
            <a:r>
              <a:rPr lang="en-US" sz="2100" dirty="0">
                <a:solidFill>
                  <a:srgbClr val="17364A"/>
                </a:solidFill>
                <a:latin typeface="Aptos" pitchFamily="34" charset="0"/>
                <a:ea typeface="Aptos" pitchFamily="34" charset="-122"/>
                <a:cs typeface="Aptos" pitchFamily="34" charset="-120"/>
              </a:rPr>
              <a:t>A model used for internal workload planning has different equity implications than a model used to.</a:t>
            </a:r>
            <a:endParaRPr lang="en-US" sz="2100" dirty="0"/>
          </a:p>
          <a:p>
            <a:r>
              <a:rPr lang="en-US" sz="2100" dirty="0">
                <a:solidFill>
                  <a:srgbClr val="17364A"/>
                </a:solidFill>
                <a:latin typeface="Aptos" pitchFamily="34" charset="0"/>
                <a:ea typeface="Aptos" pitchFamily="34" charset="-122"/>
                <a:cs typeface="Aptos" pitchFamily="34" charset="-120"/>
              </a:rPr>
              <a:t>Evaluators should identify who is affected by the model output, what action follows, and what harms may.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Equity evaluation begins with the intended use.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Equity Evaluation for AI Models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and Operational Deep Dive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Equity evaluation should lead to action.</a:t>
            </a:r>
            <a:endParaRPr lang="en-US" sz="2100" dirty="0"/>
          </a:p>
          <a:p>
            <a:r>
              <a:rPr lang="en-US" sz="2100" dirty="0">
                <a:solidFill>
                  <a:srgbClr val="17364A"/>
                </a:solidFill>
                <a:latin typeface="Aptos" pitchFamily="34" charset="0"/>
                <a:ea typeface="Aptos" pitchFamily="34" charset="-122"/>
                <a:cs typeface="Aptos" pitchFamily="34" charset="-120"/>
              </a:rPr>
              <a:t>Mitigations may include changing thresholds, improving data collection, adding human review, limiting.</a:t>
            </a:r>
            <a:endParaRPr lang="en-US" sz="2100" dirty="0"/>
          </a:p>
          <a:p>
            <a:r>
              <a:rPr lang="en-US" sz="2100" dirty="0">
                <a:solidFill>
                  <a:srgbClr val="17364A"/>
                </a:solidFill>
                <a:latin typeface="Aptos" pitchFamily="34" charset="0"/>
                <a:ea typeface="Aptos" pitchFamily="34" charset="-122"/>
                <a:cs typeface="Aptos" pitchFamily="34" charset="-120"/>
              </a:rPr>
              <a:t>Equity monitoring should continue after launch because data patterns and workflow use can change.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Equity evaluation should lead to action.</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Equity Evaluation for AI Models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Risks and failure modes include the following:</a:t>
            </a:r>
            <a:endParaRPr lang="en-US" sz="2100" dirty="0"/>
          </a:p>
          <a:p>
            <a:r>
              <a:rPr lang="en-US" sz="2100" dirty="0">
                <a:solidFill>
                  <a:srgbClr val="17364A"/>
                </a:solidFill>
                <a:latin typeface="Aptos" pitchFamily="34" charset="0"/>
                <a:ea typeface="Aptos" pitchFamily="34" charset="-122"/>
                <a:cs typeface="Aptos" pitchFamily="34" charset="-120"/>
              </a:rPr>
              <a:t>Relying on average performance while ignoring subgroup harms.</a:t>
            </a:r>
            <a:endParaRPr lang="en-US" sz="2100" dirty="0"/>
          </a:p>
          <a:p>
            <a:r>
              <a:rPr lang="en-US" sz="2100" dirty="0">
                <a:solidFill>
                  <a:srgbClr val="17364A"/>
                </a:solidFill>
                <a:latin typeface="Aptos" pitchFamily="34" charset="0"/>
                <a:ea typeface="Aptos" pitchFamily="34" charset="-122"/>
                <a:cs typeface="Aptos" pitchFamily="34" charset="-120"/>
              </a:rPr>
              <a:t>Using datasets that underrepresent communities with limited healthcare access.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Risks and failure modes include the following:</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Equity Evaluation for AI Models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Treating missing data as neutral when missingness reflects structural inequities.</a:t>
            </a:r>
            <a:endParaRPr lang="en-US" sz="2100" dirty="0"/>
          </a:p>
          <a:p>
            <a:r>
              <a:rPr lang="en-US" sz="2100" dirty="0">
                <a:solidFill>
                  <a:srgbClr val="17364A"/>
                </a:solidFill>
                <a:latin typeface="Aptos" pitchFamily="34" charset="0"/>
                <a:ea typeface="Aptos" pitchFamily="34" charset="-122"/>
                <a:cs typeface="Aptos" pitchFamily="34" charset="-120"/>
              </a:rPr>
              <a:t>Using AI prioritization to allocate scarce resources without equity review.</a:t>
            </a:r>
            <a:endParaRPr lang="en-US" sz="2100" dirty="0"/>
          </a:p>
          <a:p>
            <a:r>
              <a:rPr lang="en-US" sz="2100" dirty="0">
                <a:solidFill>
                  <a:srgbClr val="17364A"/>
                </a:solidFill>
                <a:latin typeface="Aptos" pitchFamily="34" charset="0"/>
                <a:ea typeface="Aptos" pitchFamily="34" charset="-122"/>
                <a:cs typeface="Aptos" pitchFamily="34" charset="-120"/>
              </a:rPr>
              <a:t>Failing to monitor equity impacts after deployment.</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Treating missing data as neutral when missingness reflects structural inequities.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Equity Evaluation for AI Models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Recommended guardrails include the following:</a:t>
            </a:r>
            <a:endParaRPr lang="en-US" sz="2100" dirty="0"/>
          </a:p>
          <a:p>
            <a:r>
              <a:rPr lang="en-US" sz="2100" dirty="0">
                <a:solidFill>
                  <a:srgbClr val="17364A"/>
                </a:solidFill>
                <a:latin typeface="Aptos" pitchFamily="34" charset="0"/>
                <a:ea typeface="Aptos" pitchFamily="34" charset="-122"/>
                <a:cs typeface="Aptos" pitchFamily="34" charset="-120"/>
              </a:rPr>
              <a:t>Require equity evaluation for AI uses that affect prioritization, eligibility, outreach, response, or.</a:t>
            </a:r>
            <a:endParaRPr lang="en-US" sz="2100" dirty="0"/>
          </a:p>
          <a:p>
            <a:r>
              <a:rPr lang="en-US" sz="2100" dirty="0">
                <a:solidFill>
                  <a:srgbClr val="17364A"/>
                </a:solidFill>
                <a:latin typeface="Aptos" pitchFamily="34" charset="0"/>
                <a:ea typeface="Aptos" pitchFamily="34" charset="-122"/>
                <a:cs typeface="Aptos" pitchFamily="34" charset="-120"/>
              </a:rPr>
              <a:t>Assess representativeness and missingness before model use.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Recommended guardrails include the following:</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Equity Evaluation for AI Models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Measure subgroup performance where feasible and document limitations where not feasible.</a:t>
            </a:r>
            <a:endParaRPr lang="en-US" sz="2100" dirty="0"/>
          </a:p>
          <a:p>
            <a:r>
              <a:rPr lang="en-US" sz="2100" dirty="0">
                <a:solidFill>
                  <a:srgbClr val="17364A"/>
                </a:solidFill>
                <a:latin typeface="Aptos" pitchFamily="34" charset="0"/>
                <a:ea typeface="Aptos" pitchFamily="34" charset="-122"/>
                <a:cs typeface="Aptos" pitchFamily="34" charset="-120"/>
              </a:rPr>
              <a:t>Include community, equity, and program reviewers in governance decisions.</a:t>
            </a:r>
            <a:endParaRPr lang="en-US" sz="2100" dirty="0"/>
          </a:p>
          <a:p>
            <a:r>
              <a:rPr lang="en-US" sz="2100" dirty="0">
                <a:solidFill>
                  <a:srgbClr val="17364A"/>
                </a:solidFill>
                <a:latin typeface="Aptos" pitchFamily="34" charset="0"/>
                <a:ea typeface="Aptos" pitchFamily="34" charset="-122"/>
                <a:cs typeface="Aptos" pitchFamily="34" charset="-120"/>
              </a:rPr>
              <a:t>Monitor equity indicators and user overrides after deployment.</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Measure subgroup performance where feasible and document limitations where not feasible.</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Equity Evaluation for AI Models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Where does this topic appear in your agency, program, or workflow?</a:t>
            </a:r>
            <a:endParaRPr lang="en-US" sz="2100" dirty="0"/>
          </a:p>
          <a:p>
            <a:r>
              <a:rPr lang="en-US" sz="2100" dirty="0">
                <a:solidFill>
                  <a:srgbClr val="17364A"/>
                </a:solidFill>
                <a:latin typeface="Aptos" pitchFamily="34" charset="0"/>
                <a:ea typeface="Aptos" pitchFamily="34" charset="-122"/>
                <a:cs typeface="Aptos" pitchFamily="34" charset="-120"/>
              </a:rPr>
              <a:t>Which staff roles would need to understand or apply this concept before AI use is approved?</a:t>
            </a:r>
            <a:endParaRPr lang="en-US" sz="2100" dirty="0"/>
          </a:p>
          <a:p>
            <a:r>
              <a:rPr lang="en-US" sz="2100" dirty="0">
                <a:solidFill>
                  <a:srgbClr val="17364A"/>
                </a:solidFill>
                <a:latin typeface="Aptos" pitchFamily="34" charset="0"/>
                <a:ea typeface="Aptos" pitchFamily="34" charset="-122"/>
                <a:cs typeface="Aptos" pitchFamily="34" charset="-120"/>
              </a:rPr>
              <a:t>What could go wrong if this topic is not addressed before implementation?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Where does this topic appear in your agency, program, or workflow?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Equity Evaluation for AI Models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evidence would governance, leadership, or operations staff need before moving forward?</a:t>
            </a:r>
            <a:endParaRPr lang="en-US" sz="2100" dirty="0"/>
          </a:p>
          <a:p>
            <a:r>
              <a:rPr lang="en-US" sz="2100" dirty="0">
                <a:solidFill>
                  <a:srgbClr val="17364A"/>
                </a:solidFill>
                <a:latin typeface="Aptos" pitchFamily="34" charset="0"/>
                <a:ea typeface="Aptos" pitchFamily="34" charset="-122"/>
                <a:cs typeface="Aptos" pitchFamily="34" charset="-120"/>
              </a:rPr>
              <a:t>Which policy, data, equity, privacy, security, or workflow questions remain unresolved?</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evidence would governance, leadership, or operations staff need before moving forward?</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Equity Evaluation for AI Models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an equity evaluation plan for one AI model or AI-supported workflow.</a:t>
            </a:r>
            <a:endParaRPr lang="en-US" sz="2100" dirty="0"/>
          </a:p>
          <a:p>
            <a:r>
              <a:rPr lang="en-US" sz="2100" dirty="0">
                <a:solidFill>
                  <a:srgbClr val="17364A"/>
                </a:solidFill>
                <a:latin typeface="Aptos" pitchFamily="34" charset="0"/>
                <a:ea typeface="Aptos" pitchFamily="34" charset="-122"/>
                <a:cs typeface="Aptos" pitchFamily="34" charset="-120"/>
              </a:rPr>
              <a:t>Include intended use, affected populations, relevant subgroups, data representativeness concerns,.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an equity evaluation plan for one AI model or AI-supported workflow.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Equity Evaluation for AI Models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Equity evaluation plan</a:t>
            </a:r>
            <a:endParaRPr lang="en-US" sz="2100" dirty="0"/>
          </a:p>
          <a:p>
            <a:r>
              <a:rPr lang="en-US" sz="2100" dirty="0">
                <a:solidFill>
                  <a:srgbClr val="17364A"/>
                </a:solidFill>
                <a:latin typeface="Aptos" pitchFamily="34" charset="0"/>
                <a:ea typeface="Aptos" pitchFamily="34" charset="-122"/>
                <a:cs typeface="Aptos" pitchFamily="34" charset="-120"/>
              </a:rPr>
              <a:t>Subgroup and data representativeness review</a:t>
            </a:r>
            <a:endParaRPr lang="en-US" sz="2100" dirty="0"/>
          </a:p>
          <a:p>
            <a:r>
              <a:rPr lang="en-US" sz="2100" dirty="0">
                <a:solidFill>
                  <a:srgbClr val="17364A"/>
                </a:solidFill>
                <a:latin typeface="Aptos" pitchFamily="34" charset="0"/>
                <a:ea typeface="Aptos" pitchFamily="34" charset="-122"/>
                <a:cs typeface="Aptos" pitchFamily="34" charset="-120"/>
              </a:rPr>
              <a:t>Potential harm and mitigation table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Equity evaluation plan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Equity Evaluation for AI Models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Equity monitoring indicators</a:t>
            </a:r>
            <a:endParaRPr lang="en-US" sz="2100" dirty="0"/>
          </a:p>
          <a:p>
            <a:r>
              <a:rPr lang="en-US" sz="2100" dirty="0">
                <a:solidFill>
                  <a:srgbClr val="17364A"/>
                </a:solidFill>
                <a:latin typeface="Aptos" pitchFamily="34" charset="0"/>
                <a:ea typeface="Aptos" pitchFamily="34" charset="-122"/>
                <a:cs typeface="Aptos" pitchFamily="34" charset="-120"/>
              </a:rPr>
              <a:t>Governance recommendation</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Equity monitoring indicators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Equity Evaluation for AI Models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Equity evaluation plan</a:t>
            </a:r>
            <a:endParaRPr lang="en-US" sz="2100" dirty="0"/>
          </a:p>
          <a:p>
            <a:r>
              <a:rPr lang="en-US" sz="2100" dirty="0">
                <a:solidFill>
                  <a:srgbClr val="17364A"/>
                </a:solidFill>
                <a:latin typeface="Aptos" pitchFamily="34" charset="0"/>
                <a:ea typeface="Aptos" pitchFamily="34" charset="-122"/>
                <a:cs typeface="Aptos" pitchFamily="34" charset="-120"/>
              </a:rPr>
              <a:t>Subgroup and data representativeness review</a:t>
            </a:r>
            <a:endParaRPr lang="en-US" sz="2100" dirty="0"/>
          </a:p>
          <a:p>
            <a:r>
              <a:rPr lang="en-US" sz="2100" dirty="0">
                <a:solidFill>
                  <a:srgbClr val="17364A"/>
                </a:solidFill>
                <a:latin typeface="Aptos" pitchFamily="34" charset="0"/>
                <a:ea typeface="Aptos" pitchFamily="34" charset="-122"/>
                <a:cs typeface="Aptos" pitchFamily="34" charset="-120"/>
              </a:rPr>
              <a:t>Potential harm and mitigation table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Equity evaluation plan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Equity Evaluation for AI Models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Why is overall model performance insufficient for public health equity review?</a:t>
            </a:r>
            <a:endParaRPr lang="en-US" sz="2100" dirty="0"/>
          </a:p>
          <a:p>
            <a:r>
              <a:rPr lang="en-US" sz="2100" dirty="0">
                <a:solidFill>
                  <a:srgbClr val="17364A"/>
                </a:solidFill>
                <a:latin typeface="Aptos" pitchFamily="34" charset="0"/>
                <a:ea typeface="Aptos" pitchFamily="34" charset="-122"/>
                <a:cs typeface="Aptos" pitchFamily="34" charset="-120"/>
              </a:rPr>
              <a:t>2. What is measurement bias?</a:t>
            </a:r>
            <a:endParaRPr lang="en-US" sz="2100" dirty="0"/>
          </a:p>
          <a:p>
            <a:r>
              <a:rPr lang="en-US" sz="2100" dirty="0">
                <a:solidFill>
                  <a:srgbClr val="17364A"/>
                </a:solidFill>
                <a:latin typeface="Aptos" pitchFamily="34" charset="0"/>
                <a:ea typeface="Aptos" pitchFamily="34" charset="-122"/>
                <a:cs typeface="Aptos" pitchFamily="34" charset="-120"/>
              </a:rPr>
              <a:t>3. Which use most clearly requires equity evaluation?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Why is overall model performance insufficient for public health equity review?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Equity Evaluation for AI Models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NIST Artificial Intelligence Risk Management Framework:.</a:t>
            </a:r>
            <a:endParaRPr lang="en-US" sz="2100" dirty="0"/>
          </a:p>
          <a:p>
            <a:r>
              <a:rPr lang="en-US" sz="2100" dirty="0">
                <a:solidFill>
                  <a:srgbClr val="17364A"/>
                </a:solidFill>
                <a:latin typeface="Aptos" pitchFamily="34" charset="0"/>
                <a:ea typeface="Aptos" pitchFamily="34" charset="-122"/>
                <a:cs typeface="Aptos" pitchFamily="34" charset="-120"/>
              </a:rPr>
              <a:t>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NIST Artificial Intelligence Risk Management Framework:.</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Equity Evaluation for AI Models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Relevant public health program SOPs, data governance documentation, and implementation plans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Relevant public health program SOPs, data governance documentation, and implementation plans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Equity Evaluation for AI Models</dc:title>
  <dc:subject>Equity Evaluation for AI Models learning module</dc:subject>
  <dc:creator>Paula Soper</dc:creator>
  <cp:lastModifiedBy>Paula Soper</cp:lastModifiedBy>
  <cp:revision>1</cp:revision>
  <dcterms:created xsi:type="dcterms:W3CDTF">2026-07-12T19:55:20Z</dcterms:created>
  <dcterms:modified xsi:type="dcterms:W3CDTF">2026-07-12T19:55:20Z</dcterms:modified>
</cp:coreProperties>
</file>