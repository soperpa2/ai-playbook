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Accessibility and Language Access is designed for an individual learner using the AI Playbook and Toolkit for Public Health Departments.
AI-supported public health materials, tools, dashboards, chatbots, translations, and workflows should be reviewed for disability access, language access, readability, cultural context, and usability.
Use the notes in this deck as additional reading and context. They are not written as presenter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Accessibility and language access review notes.
Produce or contribute to: Revised public message.
Produce or contribute to: Monitoring indicators for access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can support translation, plain-language rewriting, alternative formats, and communication drafts, but those outputs still need human review. Accessibility and language access should be part of planning, testing, communications approval, and monitoring.
AI can make communication faster, but speed is not the same as access. Public health your department needs to know whether messages can be understood, whether tools can be used by people with disabilities, and whether translations are accurate enough for the purpose.
Language access and accessibility are also trust issues. Communities may lose confidence if AI-generated messages are confusing, culturally inappropriate, inaccessible, or inconsistent with staff communication.
This module helps you build access review into AI planning rather than treating it as a final proofreading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Accessibility: Designing information, tools, services, and workflows so people with disabilities can access and use them. In AI-supported public health work, accessibility includes readable content, screen-reader compatibility, captioning, plain language, alternate formats, and human assistance pathways.
Language access: Meaningful access to information and services for people with limited English proficiency, including qualified translation, interpretation, review, and culturally appropriate communication.
Plain language: Communication written so the intended audience can find, understand, and use the information they need.
Public accountability: The obligation to explain, document, justify, monitor, and correct AI use because public health agencies act under public authority and serve communities that may be affected by their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language is a core concept for this lesson because it turns accessibility and language access from an abstract AI topic into something you can recognize in daily public health work. Clear communication written so the intended audience can understand and act on it.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Language access is a core concept for this lesson because it turns accessibility and language access from an abstract AI topic into something you can recognize in daily public health work. Providing meaningful access for people with limited English proficiency, including qualified translation or interpretation when needed.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Human assistance pathway is a core concept for this lesson because it turns accessibility and language access from an abstract AI topic into something you can recognize in daily public health work. A way for people to get help from a person rather than relying only on an AI or digital tool.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AI translations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Test chatbot accessibility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Check plain-language outputs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this module, begin with a real or realistic public health workflow and describe the task in plain language before naming an AI tool. Use the related plays (Play 1, Play 4, Play 7, Play 10, Play 11, Play 13) to identify the decisions, approvals, people, and timing needed for responsible implementation. Use the related tools (Tool 3, Tool 19, Tool 20, Tool 22, Tool 29, Tool 41, Tool 47) to create documentation that can be reviewed, saved, revised, and used as evidence of readiness. The practical exercise asks you to produce evidence that can feed into that work: Review an AI-generated public health message and identify changes needed for plain language, accessibility, language access, cultural context, and human assistance pathways.
The main guardrail for this lesson is that AI can create or worsen access barriers if outputs are not tested with people who rely on accessible formats, language support, or non-digital pathways.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Accessible and language-appropriate AI-supported communication is essential for equitable public health service delivery and public trust.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an AI-generated public health message and identify changes needed for plain language, accessibility, language access, cultural context, and human assistance pathways.
Accessibility and language access review notes
Revised public message
Monitoring indicators for access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AI-supported outputs will be public-facing or client-facing?
Who reviews translations, accessibility, readability, and cultural context?
What non-AI or human pathway remains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HHS Section 1557: Nondiscrimination and language access context in health programs and activities. https://www.hhs.gov/civil-rights/for-individuals/section-1557/index.html
ADA.gov: Federal accessibility requirements and guidance. https://www.ada.gov/
CDC Clear Communication Index: Plain-language review support for health communication materials. https://www.cdc.gov/ccindex/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13232" y="2542032"/>
            <a:ext cx="10607040" cy="777240"/>
          </a:xfrm>
          <a:prstGeom prst="rect">
            <a:avLst/>
          </a:prstGeom>
          <a:noFill/>
          <a:ln/>
        </p:spPr>
        <p:txBody>
          <a:bodyPr wrap="square" lIns="0" tIns="0" rIns="0" bIns="0" rtlCol="0" anchor="ct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Accessibility and Language Access</a:t>
            </a:r>
            <a:endParaRPr lang="en-US" sz="3400" dirty="0"/>
          </a:p>
        </p:txBody>
      </p:sp>
      <p:sp>
        <p:nvSpPr>
          <p:cNvPr id="6" name="Text 3"/>
          <p:cNvSpPr/>
          <p:nvPr/>
        </p:nvSpPr>
        <p:spPr>
          <a:xfrm>
            <a:off x="749808" y="3456432"/>
            <a:ext cx="365760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Learning Module</a:t>
            </a:r>
            <a:endParaRPr lang="en-US" sz="1400" dirty="0"/>
          </a:p>
        </p:txBody>
      </p:sp>
      <p:sp>
        <p:nvSpPr>
          <p:cNvPr id="7" name="Text 4"/>
          <p:cNvSpPr/>
          <p:nvPr/>
        </p:nvSpPr>
        <p:spPr>
          <a:xfrm>
            <a:off x="749808" y="3886200"/>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Accessibility and Language Access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Learning Objectives</a:t>
            </a:r>
            <a:endParaRPr lang="en-US" sz="2800" dirty="0"/>
          </a:p>
        </p:txBody>
      </p:sp>
      <p:sp>
        <p:nvSpPr>
          <p:cNvPr id="7" name="Text 5"/>
          <p:cNvSpPr/>
          <p:nvPr/>
        </p:nvSpPr>
        <p:spPr>
          <a:xfrm>
            <a:off x="822960" y="1417320"/>
            <a:ext cx="10332720" cy="448056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600" dirty="0"/>
          </a:p>
          <a:p>
            <a:r>
              <a:rPr lang="en-US" sz="160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 public trust, or public health decision-making.</a:t>
            </a:r>
            <a:endParaRPr lang="en-US" sz="1600" dirty="0"/>
          </a:p>
          <a:p>
            <a:r>
              <a:rPr lang="en-US" sz="160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 documentation expectations.</a:t>
            </a:r>
            <a:endParaRPr lang="en-US" sz="1600" dirty="0"/>
          </a:p>
          <a:p>
            <a:r>
              <a:rPr lang="en-US" sz="1600" dirty="0">
                <a:solidFill>
                  <a:srgbClr val="17364A"/>
                </a:solidFill>
                <a:latin typeface="Aptos" pitchFamily="34" charset="0"/>
                <a:ea typeface="Aptos" pitchFamily="34" charset="-122"/>
                <a:cs typeface="Aptos" pitchFamily="34" charset="-120"/>
              </a:rPr>
              <a:t>Complete a practical activity that produces an artifact you can use in readiness assessment, governance review, implementation planning, or monitoring.</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Accessibility and language access review notes.</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Revised public message.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Accessibility and Language Access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Module Overview</a:t>
            </a:r>
            <a:endParaRPr lang="en-US" sz="2800" dirty="0"/>
          </a:p>
        </p:txBody>
      </p:sp>
      <p:sp>
        <p:nvSpPr>
          <p:cNvPr id="7" name="Text 5"/>
          <p:cNvSpPr/>
          <p:nvPr/>
        </p:nvSpPr>
        <p:spPr>
          <a:xfrm>
            <a:off x="822960" y="1325880"/>
            <a:ext cx="10424160" cy="4434840"/>
          </a:xfrm>
          <a:prstGeom prst="rect">
            <a:avLst/>
          </a:prstGeom>
          <a:noFill/>
          <a:ln/>
        </p:spPr>
        <p:txBody>
          <a:bodyPr wrap="square" lIns="1016" tIns="1016" rIns="1016" bIns="1016" rtlCol="0" anchor="t">
            <a:normAutofit/>
          </a:bodyPr>
          <a:lstStyle/>
          <a:p>
            <a:pPr indent="0" marL="0">
              <a:buNone/>
            </a:pPr>
            <a:r>
              <a:rPr lang="en-US" sz="1600" dirty="0">
                <a:solidFill>
                  <a:srgbClr val="17364A"/>
                </a:solidFill>
                <a:latin typeface="Aptos" pitchFamily="34" charset="0"/>
                <a:ea typeface="Aptos" pitchFamily="34" charset="-122"/>
                <a:cs typeface="Aptos" pitchFamily="34" charset="-120"/>
              </a:rPr>
              <a:t>AI can support translation, plain-language rewriting, alternative formats, and communication drafts, but those outputs still need human review. Accessibility and language access should be part of planning, testing, communications approval, and monitoring.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Accessibility and Language Access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Accessibility: Designing information, tools, services, and workflows so people with disabilities can access and use them. In AI-supported public health work, accessibility includes readable content, screen-reader.</a:t>
            </a:r>
            <a:endParaRPr lang="en-US" sz="1320" dirty="0"/>
          </a:p>
          <a:p>
            <a:r>
              <a:rPr lang="en-US" sz="1320" dirty="0">
                <a:solidFill>
                  <a:srgbClr val="17364A"/>
                </a:solidFill>
                <a:latin typeface="Aptos" pitchFamily="34" charset="0"/>
                <a:ea typeface="Aptos" pitchFamily="34" charset="-122"/>
                <a:cs typeface="Aptos" pitchFamily="34" charset="-120"/>
              </a:rPr>
              <a:t>Language access: Meaningful access to information and services for people with limited English proficiency, including qualified translation, interpretation, review, and culturally appropriate communication.</a:t>
            </a:r>
            <a:endParaRPr lang="en-US" sz="1320" dirty="0"/>
          </a:p>
          <a:p>
            <a:r>
              <a:rPr lang="en-US" sz="1320" dirty="0">
                <a:solidFill>
                  <a:srgbClr val="17364A"/>
                </a:solidFill>
                <a:latin typeface="Aptos" pitchFamily="34" charset="0"/>
                <a:ea typeface="Aptos" pitchFamily="34" charset="-122"/>
                <a:cs typeface="Aptos" pitchFamily="34" charset="-120"/>
              </a:rPr>
              <a:t>Plain language: Communication written so the intended audience can find, understand, and use the information they need.</a:t>
            </a:r>
            <a:endParaRPr lang="en-US" sz="1320" dirty="0"/>
          </a:p>
          <a:p>
            <a:r>
              <a:rPr lang="en-US" sz="1320" dirty="0">
                <a:solidFill>
                  <a:srgbClr val="17364A"/>
                </a:solidFill>
                <a:latin typeface="Aptos" pitchFamily="34" charset="0"/>
                <a:ea typeface="Aptos" pitchFamily="34" charset="-122"/>
                <a:cs typeface="Aptos" pitchFamily="34" charset="-120"/>
              </a:rPr>
              <a:t>Public accountability: The obligation to explain, document, justify, monitor, and correct AI use because public health agencies act under public authority and serve communities that may be affected by their decisions.</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Accessibility and Language Access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Plain language is a core concept for this lesson because it turns accessibility and language access from an abstract AI topic into something you can recognize in daily public health work. Clear communication written so the intended audience can understand and act on it.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Language access is a core concept for this lesson because it turns accessibility and language access from an abstract AI topic into something you can recognize in daily public health work. Providing meaningful access for people with limited English proficiency, including qualified translation or interpretation when needed.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Human assistance pathway is a core concept for this lesson because it turns accessibility and language access from an abstract AI topic into something you can recognize in daily public health work. A way for people to get help from a person rather than relying only on an AI or digital tool.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sz="13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Accessibility and Language Access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Review AI translations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Test chatbot accessibility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Check plain-language outputs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Accessibility and Language Access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Implementation Guidance</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To apply this module, begin with a real or realistic public health workflow and describe the task in plain language before naming an AI tool. Use the related plays (Play 1, Play 4, Play 7, Play 10, Play 11, Play 13) to identify the decisions, approvals, people, and timing needed for responsible implementation. Use the related tools (Tool 3, Tool 19, Tool 20, Tool 22, Tool 29, Tool 41, Tool 47) to create documentation that can be reviewed, saved, revised, and used as evidence of readiness. The practical exercise asks you to produce evidence that can feed into that work: Review an AI-generated public health message and identify changes needed for plain language, accessibility, language access, cultural context, and human assistance pathways. The main guardrail for this lesson is that AI can create or worsen access barriers if outputs are not tested with people who rely on accessible formats, language support, or non-digital pathways.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Accessibility and Language Access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Using Plays and Tools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Accessible and language-appropriate AI-supported communication is essential for equitable public health service delivery and public trust.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Accessibility and Language Access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Practical Exercise</a:t>
            </a:r>
            <a:endParaRPr lang="en-US" sz="2800" dirty="0"/>
          </a:p>
        </p:txBody>
      </p:sp>
      <p:sp>
        <p:nvSpPr>
          <p:cNvPr id="7" name="Text 5"/>
          <p:cNvSpPr/>
          <p:nvPr/>
        </p:nvSpPr>
        <p:spPr>
          <a:xfrm>
            <a:off x="822960" y="1234440"/>
            <a:ext cx="10378440" cy="2011680"/>
          </a:xfrm>
          <a:prstGeom prst="rect">
            <a:avLst/>
          </a:prstGeom>
          <a:noFill/>
          <a:ln/>
        </p:spPr>
        <p:txBody>
          <a:bodyPr wrap="square" lIns="1016" tIns="1016" rIns="1016" bIns="1016" rtlCol="0" anchor="t">
            <a:normAutofit/>
          </a:bodyPr>
          <a:lstStyle/>
          <a:p>
            <a:pPr indent="0" marL="0">
              <a:buNone/>
            </a:pPr>
            <a:r>
              <a:rPr lang="en-US" sz="1520" dirty="0">
                <a:solidFill>
                  <a:srgbClr val="17364A"/>
                </a:solidFill>
                <a:latin typeface="Aptos" pitchFamily="34" charset="0"/>
                <a:ea typeface="Aptos" pitchFamily="34" charset="-122"/>
                <a:cs typeface="Aptos" pitchFamily="34" charset="-120"/>
              </a:rPr>
              <a:t>Review an AI-generated public health message and identify changes needed for plain language, accessibility, language access, cultural context, and human assistance pathways.</a:t>
            </a:r>
            <a:endParaRPr lang="en-US" sz="1520" dirty="0"/>
          </a:p>
        </p:txBody>
      </p:sp>
      <p:sp>
        <p:nvSpPr>
          <p:cNvPr id="8" name="Text 6"/>
          <p:cNvSpPr/>
          <p:nvPr/>
        </p:nvSpPr>
        <p:spPr>
          <a:xfrm>
            <a:off x="822960" y="3520440"/>
            <a:ext cx="10378440" cy="1828800"/>
          </a:xfrm>
          <a:prstGeom prst="rect">
            <a:avLst/>
          </a:prstGeom>
          <a:noFill/>
          <a:ln/>
        </p:spPr>
        <p:txBody>
          <a:bodyPr wrap="square" lIns="635" tIns="635" rIns="635" bIns="635" rtlCol="0" anchor="t">
            <a:normAutofit/>
          </a:bodyPr>
          <a:lstStyle/>
          <a:p>
            <a:r>
              <a:rPr lang="en-US" sz="1400" dirty="0">
                <a:solidFill>
                  <a:srgbClr val="17364A"/>
                </a:solidFill>
                <a:latin typeface="Aptos" pitchFamily="34" charset="0"/>
                <a:ea typeface="Aptos" pitchFamily="34" charset="-122"/>
                <a:cs typeface="Aptos" pitchFamily="34" charset="-120"/>
              </a:rPr>
              <a:t>Expected artifact: Accessibility and language access review notes</a:t>
            </a:r>
            <a:endParaRPr lang="en-US" sz="1400" dirty="0"/>
          </a:p>
          <a:p>
            <a:r>
              <a:rPr lang="en-US" sz="1400" dirty="0">
                <a:solidFill>
                  <a:srgbClr val="17364A"/>
                </a:solidFill>
                <a:latin typeface="Aptos" pitchFamily="34" charset="0"/>
                <a:ea typeface="Aptos" pitchFamily="34" charset="-122"/>
                <a:cs typeface="Aptos" pitchFamily="34" charset="-120"/>
              </a:rPr>
              <a:t>Expected artifact: Revised public message</a:t>
            </a:r>
            <a:endParaRPr lang="en-US" sz="1400" dirty="0"/>
          </a:p>
          <a:p>
            <a:r>
              <a:rPr lang="en-US" sz="1400" dirty="0">
                <a:solidFill>
                  <a:srgbClr val="17364A"/>
                </a:solidFill>
                <a:latin typeface="Aptos" pitchFamily="34" charset="0"/>
                <a:ea typeface="Aptos" pitchFamily="34" charset="-122"/>
                <a:cs typeface="Aptos" pitchFamily="34" charset="-120"/>
              </a:rPr>
              <a:t>Expected artifact: Monitoring indicators for access barriers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Accessibility and Language Access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Reflection Questions</a:t>
            </a:r>
            <a:endParaRPr lang="en-US" sz="2800" dirty="0"/>
          </a:p>
        </p:txBody>
      </p:sp>
      <p:sp>
        <p:nvSpPr>
          <p:cNvPr id="7" name="Text 5"/>
          <p:cNvSpPr/>
          <p:nvPr/>
        </p:nvSpPr>
        <p:spPr>
          <a:xfrm>
            <a:off x="822960" y="1325880"/>
            <a:ext cx="10378440" cy="4572000"/>
          </a:xfrm>
          <a:prstGeom prst="rect">
            <a:avLst/>
          </a:prstGeom>
          <a:noFill/>
          <a:ln/>
        </p:spPr>
        <p:txBody>
          <a:bodyPr wrap="square" lIns="635" tIns="635" rIns="635" bIns="635" rtlCol="0" anchor="t">
            <a:normAutofit/>
          </a:bodyPr>
          <a:lstStyle/>
          <a:p>
            <a:r>
              <a:rPr lang="en-US" sz="1500" dirty="0">
                <a:solidFill>
                  <a:srgbClr val="17364A"/>
                </a:solidFill>
                <a:latin typeface="Aptos" pitchFamily="34" charset="0"/>
                <a:ea typeface="Aptos" pitchFamily="34" charset="-122"/>
                <a:cs typeface="Aptos" pitchFamily="34" charset="-120"/>
              </a:rPr>
              <a:t>Which AI-supported outputs will be public-facing or client-facing?</a:t>
            </a:r>
            <a:endParaRPr lang="en-US" sz="1500" dirty="0"/>
          </a:p>
          <a:p>
            <a:r>
              <a:rPr lang="en-US" sz="1500" dirty="0">
                <a:solidFill>
                  <a:srgbClr val="17364A"/>
                </a:solidFill>
                <a:latin typeface="Aptos" pitchFamily="34" charset="0"/>
                <a:ea typeface="Aptos" pitchFamily="34" charset="-122"/>
                <a:cs typeface="Aptos" pitchFamily="34" charset="-120"/>
              </a:rPr>
              <a:t>Who reviews translations, accessibility, readability, and cultural context?</a:t>
            </a:r>
            <a:endParaRPr lang="en-US" sz="1500" dirty="0"/>
          </a:p>
          <a:p>
            <a:r>
              <a:rPr lang="en-US" sz="1500" dirty="0">
                <a:solidFill>
                  <a:srgbClr val="17364A"/>
                </a:solidFill>
                <a:latin typeface="Aptos" pitchFamily="34" charset="0"/>
                <a:ea typeface="Aptos" pitchFamily="34" charset="-122"/>
                <a:cs typeface="Aptos" pitchFamily="34" charset="-120"/>
              </a:rPr>
              <a:t>What non-AI or human pathway remains available?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Accessibility and Language Access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References and Resources</a:t>
            </a:r>
            <a:endParaRPr lang="en-US" sz="2800" dirty="0"/>
          </a:p>
        </p:txBody>
      </p:sp>
      <p:sp>
        <p:nvSpPr>
          <p:cNvPr id="7" name="Text 5"/>
          <p:cNvSpPr/>
          <p:nvPr/>
        </p:nvSpPr>
        <p:spPr>
          <a:xfrm>
            <a:off x="822960" y="1280160"/>
            <a:ext cx="10378440" cy="4800600"/>
          </a:xfrm>
          <a:prstGeom prst="rect">
            <a:avLst/>
          </a:prstGeom>
          <a:noFill/>
          <a:ln/>
        </p:spPr>
        <p:txBody>
          <a:bodyPr wrap="square" lIns="635" tIns="635" rIns="635" bIns="635" rtlCol="0" anchor="t">
            <a:normAutofit/>
          </a:bodyPr>
          <a:lstStyle/>
          <a:p>
            <a:r>
              <a:rPr lang="en-US" sz="1280" dirty="0">
                <a:solidFill>
                  <a:srgbClr val="17364A"/>
                </a:solidFill>
                <a:latin typeface="Aptos" pitchFamily="34" charset="0"/>
                <a:ea typeface="Aptos" pitchFamily="34" charset="-122"/>
                <a:cs typeface="Aptos" pitchFamily="34" charset="-120"/>
              </a:rPr>
              <a:t>HHS Section 1557: Nondiscrimination and language access context in health programs and activities.</a:t>
            </a:r>
            <a:endParaRPr lang="en-US" sz="1280" dirty="0"/>
          </a:p>
          <a:p>
            <a:r>
              <a:rPr lang="en-US" sz="1280" dirty="0">
                <a:solidFill>
                  <a:srgbClr val="17364A"/>
                </a:solidFill>
                <a:latin typeface="Aptos" pitchFamily="34" charset="0"/>
                <a:ea typeface="Aptos" pitchFamily="34" charset="-122"/>
                <a:cs typeface="Aptos" pitchFamily="34" charset="-120"/>
              </a:rPr>
              <a:t>ADA.gov: Federal accessibility requirements and guidance.</a:t>
            </a:r>
            <a:endParaRPr lang="en-US" sz="1280" dirty="0"/>
          </a:p>
          <a:p>
            <a:r>
              <a:rPr lang="en-US" sz="1280" dirty="0">
                <a:solidFill>
                  <a:srgbClr val="17364A"/>
                </a:solidFill>
                <a:latin typeface="Aptos" pitchFamily="34" charset="0"/>
                <a:ea typeface="Aptos" pitchFamily="34" charset="-122"/>
                <a:cs typeface="Aptos" pitchFamily="34" charset="-120"/>
              </a:rPr>
              <a:t>CDC Clear Communication Index: Plain-language review support for health communication materials.</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Accessibility and Language Access</dc:title>
  <dc:subject>Accessibility and Language Access learning module</dc:subject>
  <dc:creator>Paula Soper</dc:creator>
  <cp:lastModifiedBy>Paula Soper</cp:lastModifiedBy>
  <cp:revision>1</cp:revision>
  <dcterms:created xsi:type="dcterms:W3CDTF">2026-07-09T20:18:53Z</dcterms:created>
  <dcterms:modified xsi:type="dcterms:W3CDTF">2026-07-09T20:18:53Z</dcterms:modified>
</cp:coreProperties>
</file>