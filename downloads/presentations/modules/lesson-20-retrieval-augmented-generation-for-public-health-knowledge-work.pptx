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 300 Retrieval-Augmented Generation for Public Health Knowledge Work
Retrieval-augmented generation, often called RAG, combines generative AI with retrieval from a defined set of documents or data sources. Instead of relying only on a model’s general training, a RAG system searches approved content and uses retrieved material to generate an answer or summary. In public health, RAG may support policy lookup, protocol interpretation, internal help desks, training support, grant review, emergency response, or program knowledge management. RAG can make generative AI more useful and safer when it is designed well. It can ground responses in agency documents, cite sources, and reduce the risk of unsupported answers. However, RAG does not automatically solve hallucination, privacy, access control, outdated guidance, conflicting documents, or poor retrieval. The system is only as reliable as the content collection, search process, permissions, and review workflow. This module teaches learners the core components of RAG and how to evaluate whether a RAG tool is ready for public health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intermediate/practitioner
Primary track: Technical Architecture Track
Appears in tracks: analytics-modeling
Retrieval-augmented generation, often called RAG, combines generative AI with retrieval from a defined set of documents or data sources. Instead of relying only on a model’s general training, a RAG system searches approved content and uses retrieved material to generate an answer or summary. In public health, RAG may support policy lookup, protocol interpretation, internal help desks, training support, grant review, emergency response, or program knowledge management. RAG can make generative AI more useful and safer when it is designed well. It can ground responses in agency documents, cite sources, and reduce the risk of unsupported answers. However, RAG does not automatically solve hallucination, privacy, access control, outdated guidance, conflicting documents, or poor retrieval. The system is only as reliable as the content collection, search process, permissions, and review workflow. This module teaches learners the core components of RAG and how to evaluate whether a RAG tool is ready for public health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Playbook Plays
Play 3: Establish AI Governance - This lesson informs Play 3 by helping learners connect the lesson topic to establish ai governance work in the AI Playbook sequence.
Play 12: Execute Governance and Oversight - This lesson informs Play 12 by helping learners connect the lesson topic to execute governance and oversight work in the AI Playbook.
Play 11: Build and Deploy AI Solutions - This lesson informs Play 11 by helping learners connect the lesson topic to build and deploy ai solutions work in the AI Playbook.
Play 1: Vision &amp; Guardrails - This lesson informs Play 1 by helping learners connect the lesson topic to vision &amp; guardrails work in the AI Playbook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Toolkit Resources
Tool 16: Incident Response Checklist (Checklist) - Use Incident Response Checklist to translate this lesson into a documented public health AI planning, governance,.
Tool 17: Compliance Audit Checklist (Checklist) - Use Compliance Audit Checklist to translate this lesson into a documented public health AI planning, governance, implementation,.
Tool 18: Policy Update &amp; Version Control Log (Log) - Use this tool to complete or strengthen the practical exercise for the module using fictional, de-identified, or generalized.
Tool 19: Plain-Language AI Public Notice Template (Template) - Use Plain-Language AI Public Notice Template to translate this lesson into a documented public health AI planning, governance,.
Tool 4: AI Policy Landscape Scan (Worksheet) - Use AI Policy Landscape Scan to translate this lesson into a documented public health AI planning, governance, implementation,.
Tool 5: AI Environmental and Resource Impact Review (Checklist) - Use AI Environmental and Resource Impact Review to translate this lesson into a documented public health AI planning,.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Define retrieval-augmented generation in plain language.
Describe the major components of a RAG system, including document ingestion, chunking, embeddings, vector search, retrieval, generation, and citation.
Identify public health use cases where RAG may improve knowledge work.
Assess risks related to stale content, access control, retrieval quality, hallucination, and source misuse.
Design governance and monitoring requirements for agency RAG systems.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Produce a RAG readiness checklist for a public health knowledge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Retrieval-augmented generation, often called RAG, combines generative AI with retrieval from a defined set of documents or data sources. Instead of relying only on a model’s general training, a RAG system searches approved content and uses retrieved material to generate an answer or summary. In public health, RAG may support policy lookup, protocol interpretation, internal help desks, training support, grant review, emergency response, or program knowledge management.
RAG can make generative AI more useful and safer when it is designed well. It can ground responses in agency documents, cite sources, and reduce the risk of unsupported answers. However, RAG does not automatically solve hallucination, privacy, access control, outdated guidance, conflicting documents, or poor retrieval. The system is only as reliable as the content collection, search process, permissions, and review workflow.
This module teaches learners the core components of RAG and how to evaluate whether a RAG tool is ready for public health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Topic Matters for Public Health AI
RAG matters because public health agencies manage large collections of guidance, protocols, policies, contracts, plans, reports, forms, FAQs, and training materials. Staff may spend substantial time searching for answers across shared drives, websites, portals, and outdated files. A well-designed RAG system can help users find relevant guidance and produce concise, source-linked answers.
The public health value of RAG depends on governance. If a RAG tool includes outdated guidance, draft policies, documents outside a user’s permission level, or conflicting versions, it may generate misleading answers. If it fails to retrieve the most relevant source, the generated answer may be incomplete or wrong. RAG improves the grounding problem only when the content collection and retrieval process are managed carefully.
RAG is especially important for responsible AI because it offers a middle path between generic public AI tools and fully custom systems. Agencies can build assistants around approved content, but they must define content ownership, update schedules, access rules, citation requirements, testing, monitoring, and user responsibilities.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A state health department may create an internal RAG assistant to help staff find current infectious disease investigation protocols. The assistant could search approved protocols, case definitions, reporting rules, and escalation procedures. When a user asks what steps to take for a suspected condition, the system could summarize relevant guidance and cite the source documents.
This workflow requires strong controls. The assistant must include only current approved guidance, respect role-based access, cite sources, and warn users when content is outdated or missing. Staff should verify the cited protocol before acting, especially when the situation is unusual or high risk.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Deep Dive
A RAG system begins with content selection. Agencies should decide which documents are authoritative, current, approved for the use case, and appropriate for the intended users. Content inventories should include owner, version, effective date, review date, sensitivity level, and access rules. Without this foundation, retrieval can surface obsolete or unauthorized material.
Document processing affects retrieval quality. Files may need to be converted, cleaned, segmented, and indexed. Chunking decisions matter because overly small chunks may omit context while overly large chunks may retrieve irrelevant material. Tables, figures, scanned PDFs, forms, and appendices may require special handling. Public health documents often contain complex context, such as exceptions, legal caveats, and jurisdiction-specific rules.
Embeddings and vector search help identify semantically similar content, but retrieval should be tested. Staff should use realistic questions and evaluate whether the system retrieves the best sources. Testing should include synonyms, acronyms, misspellings, role-specific questions, edge cases, and questions that should produce “not found” or escalation responses.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Deep Dive
Generation should be constrained by retrieved material. The system should be instructed to answer from sources, cite them, identify uncertainty, and avoid unsupported claims. It should also explain when guidance conflicts or when source material is insufficient. Users should be able to open the cited source and verify key statements.
Monitoring should include retrieval failures, unsupported answers, stale content, user feedback, access-control incidents, and frequently asked questions. Content governance should define how documents are added, removed, updated, archived, and re-indexed.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Stale or conflicting content. Outdated or inconsistent documents can produce wrong answers. Guardrails include content ownership, version control, review dates, and archival rules.
Permission leakage. RAG may retrieve content a user should not see. Guardrails include role-based access, document-level permissions, and audit logs.
Poor retrieval. The system may retrieve irrelevant or incomplete chunks. Guardrails include test question sets, retrieval evaluation, chunking review, and user feedback.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Unsupported generation. The model may add claims beyond retrieved sources. Guardrails include source-only instructions, citation requirements, and reviewer verification.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 to AI-Supported Workflows
RAG supports generative AI by grounding outputs in defined sources. It may be used in chat assistants, training tools, policy support, emergency operations, procurement review, and program knowledge bases. It can also support agentic workflows by giving agents access to approved guidance, but actions based on retrieved content require additional guardrails.
Public health RAG systems should be built around trust. Users should know what content is included, what is excluded, how current it is, whether they have permission to use it, and when they must verify or escalate.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What content collection would the RAG system use?
Who owns and updates each source document?
How will access permissions be enforced?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How will retrieval quality and citation accuracy be tested?
What should the system do when sources are missing, outdated, or conflicting?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Create a RAG readiness checklist for one public health knowledge workflow. Include content inventory, source authority, document owners, update schedule, sensitivity level, access controls, chunking concerns, retrieval test questions, citation requirements, user review expectations, and monitoring indicators.
The checklist should identify at least three “do not answer” or escalation situations, such as missing guidance, conflicting sources, or questions outside approved scope.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RAG readiness checklist
Content inventory and ownership table
Retrieval test question 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Citation and source verification protocol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Assignment
RAG readiness checklist
Content inventory and ownership table
Retrieval test question set
Citation and source verification protocol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What is RAG?
2. Why does chunking matter?
3. What is a major RAG governance risk?
4. What should a RAG system do when sources are insufficient?
5. What is strong completion evidence for this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NIST AI RMF Generative AI Profile: https://www.nist.gov/publications/artificial-intelligence-risk-management-framework-generative-artificial-intelligence
OWASP Top 10 for Large Language Model Applications: https://owasp.org/www-project-top-10-for-large-language-model-applications/
NIST Artificial Intelligence Risk Management Framework: https://www.nist.gov/itl/ai-risk-management-framework
ONC USCDI: https://isp.healthit.gov/united-states-core-data-interoperability-uscdi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ARC 300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Retrieval-Augmented Generation for Public Health Knowledge Work</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Retrieval-Augmented Generation for Public Health Knowledge Work</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Text 5"/>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What this module helps you do</a:t>
            </a:r>
            <a:endParaRPr lang="en-US" sz="2700" dirty="0"/>
          </a:p>
        </p:txBody>
      </p:sp>
      <p:sp>
        <p:nvSpPr>
          <p:cNvPr id="8" name="Text 6"/>
          <p:cNvSpPr/>
          <p:nvPr/>
        </p:nvSpPr>
        <p:spPr>
          <a:xfrm>
            <a:off x="868680" y="1417320"/>
            <a:ext cx="6675120" cy="3291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Retrieval-augmented generation, often called RAG, combines generative AI with retrieval from a defined set of documents or data sources.</a:t>
            </a:r>
            <a:endParaRPr lang="en-US" sz="1700" dirty="0"/>
          </a:p>
          <a:p>
            <a:r>
              <a:rPr lang="en-US" sz="1700" dirty="0">
                <a:solidFill>
                  <a:srgbClr val="17364A"/>
                </a:solidFill>
                <a:latin typeface="Aptos" pitchFamily="34" charset="0"/>
                <a:ea typeface="Aptos" pitchFamily="34" charset="-122"/>
                <a:cs typeface="Aptos" pitchFamily="34" charset="-120"/>
              </a:rPr>
              <a:t>Instead of relying only on a model’s general training, a RAG system searches approved content and uses retrieved material to generate an answer or.</a:t>
            </a:r>
            <a:endParaRPr lang="en-US" sz="1700" dirty="0"/>
          </a:p>
          <a:p>
            <a:r>
              <a:rPr lang="en-US" sz="1700" dirty="0">
                <a:solidFill>
                  <a:srgbClr val="17364A"/>
                </a:solidFill>
                <a:latin typeface="Aptos" pitchFamily="34" charset="0"/>
                <a:ea typeface="Aptos" pitchFamily="34" charset="-122"/>
                <a:cs typeface="Aptos" pitchFamily="34" charset="-120"/>
              </a:rPr>
              <a:t>In public health, RAG may support policy lookup, protocol interpretation, internal help desks, training support, grant review, emergency response,.</a:t>
            </a:r>
            <a:endParaRPr lang="en-US" sz="1700" dirty="0"/>
          </a:p>
          <a:p>
            <a:r>
              <a:rPr lang="en-US" sz="1700" dirty="0">
                <a:solidFill>
                  <a:srgbClr val="17364A"/>
                </a:solidFill>
                <a:latin typeface="Aptos" pitchFamily="34" charset="0"/>
                <a:ea typeface="Aptos" pitchFamily="34" charset="-122"/>
                <a:cs typeface="Aptos" pitchFamily="34" charset="-120"/>
              </a:rPr>
              <a:t>RAG can make generative AI more useful and safer when it is designed well.</a:t>
            </a:r>
            <a:endParaRPr lang="en-US" sz="1700" dirty="0"/>
          </a:p>
        </p:txBody>
      </p:sp>
      <p:sp>
        <p:nvSpPr>
          <p:cNvPr id="9" name="Shape 7"/>
          <p:cNvSpPr/>
          <p:nvPr/>
        </p:nvSpPr>
        <p:spPr>
          <a:xfrm>
            <a:off x="7909560" y="1417320"/>
            <a:ext cx="3154680" cy="1920240"/>
          </a:xfrm>
          <a:prstGeom prst="roundRect">
            <a:avLst>
              <a:gd name="adj" fmla="val 5714"/>
            </a:avLst>
          </a:prstGeom>
          <a:solidFill>
            <a:srgbClr val="EAF6F8"/>
          </a:solidFill>
          <a:ln w="12700">
            <a:solidFill>
              <a:srgbClr val="B9D7E6"/>
            </a:solidFill>
            <a:prstDash val="solid"/>
          </a:ln>
        </p:spPr>
      </p:sp>
      <p:sp>
        <p:nvSpPr>
          <p:cNvPr id="10" name="Text 8"/>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Module details</a:t>
            </a:r>
            <a:endParaRPr lang="en-US" sz="950" dirty="0"/>
          </a:p>
        </p:txBody>
      </p:sp>
      <p:sp>
        <p:nvSpPr>
          <p:cNvPr id="11" name="Text 9"/>
          <p:cNvSpPr/>
          <p:nvPr/>
        </p:nvSpPr>
        <p:spPr>
          <a:xfrm>
            <a:off x="8074152" y="1856232"/>
            <a:ext cx="2825496" cy="135331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Level: intermediate/practitioner</a:t>
            </a:r>
            <a:endParaRPr lang="en-US" sz="1250" dirty="0"/>
          </a:p>
          <a:p>
            <a:pPr indent="0" marL="0">
              <a:buNone/>
            </a:pPr>
            <a:r>
              <a:rPr lang="en-US" sz="1250" dirty="0">
                <a:solidFill>
                  <a:srgbClr val="17364A"/>
                </a:solidFill>
                <a:latin typeface="Aptos" pitchFamily="34" charset="0"/>
                <a:ea typeface="Aptos" pitchFamily="34" charset="-122"/>
                <a:cs typeface="Aptos" pitchFamily="34" charset="-120"/>
              </a:rPr>
              <a:t>Primary track: Technical Architecture Track</a:t>
            </a:r>
            <a:endParaRPr lang="en-US" sz="1250" dirty="0"/>
          </a:p>
          <a:p>
            <a:pPr indent="0" marL="0">
              <a:buNone/>
            </a:pPr>
            <a:r>
              <a:rPr lang="en-US" sz="1250" dirty="0">
                <a:solidFill>
                  <a:srgbClr val="17364A"/>
                </a:solidFill>
                <a:latin typeface="Aptos" pitchFamily="34" charset="0"/>
                <a:ea typeface="Aptos" pitchFamily="34" charset="-122"/>
                <a:cs typeface="Aptos" pitchFamily="34" charset="-120"/>
              </a:rPr>
              <a:t>Appears in tracks: analytics-modeling</a:t>
            </a:r>
            <a:endParaRPr lang="en-US" sz="1250" dirty="0"/>
          </a:p>
        </p:txBody>
      </p:sp>
      <p:sp>
        <p:nvSpPr>
          <p:cNvPr id="12" name="Shape 10"/>
          <p:cNvSpPr/>
          <p:nvPr/>
        </p:nvSpPr>
        <p:spPr>
          <a:xfrm>
            <a:off x="7909560" y="3611880"/>
            <a:ext cx="3154680" cy="1783080"/>
          </a:xfrm>
          <a:prstGeom prst="roundRect">
            <a:avLst>
              <a:gd name="adj" fmla="val 6154"/>
            </a:avLst>
          </a:prstGeom>
          <a:solidFill>
            <a:srgbClr val="EEF8ED"/>
          </a:solidFill>
          <a:ln w="12700">
            <a:solidFill>
              <a:srgbClr val="B9D7E6"/>
            </a:solidFill>
            <a:prstDash val="solid"/>
          </a:ln>
        </p:spPr>
      </p:sp>
      <p:sp>
        <p:nvSpPr>
          <p:cNvPr id="13" name="Text 11"/>
          <p:cNvSpPr/>
          <p:nvPr/>
        </p:nvSpPr>
        <p:spPr>
          <a:xfrm>
            <a:off x="8074152" y="375818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Learning approach</a:t>
            </a:r>
            <a:endParaRPr lang="en-US" sz="950" dirty="0"/>
          </a:p>
        </p:txBody>
      </p:sp>
      <p:sp>
        <p:nvSpPr>
          <p:cNvPr id="14" name="Text 12"/>
          <p:cNvSpPr/>
          <p:nvPr/>
        </p:nvSpPr>
        <p:spPr>
          <a:xfrm>
            <a:off x="8074152" y="4050792"/>
            <a:ext cx="2825496" cy="121615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Review the core ideas, complete the practical exercise, check your understanding, and use the related plays and tools to apply the lesson.</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Retrieval-Augmented Generation for Public Health Knowledge Work</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Text 5"/>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How this module connects to the playbook</a:t>
            </a:r>
            <a:endParaRPr lang="en-US" sz="2700" dirty="0"/>
          </a:p>
        </p:txBody>
      </p:sp>
      <p:sp>
        <p:nvSpPr>
          <p:cNvPr id="8" name="Text 6"/>
          <p:cNvSpPr/>
          <p:nvPr/>
        </p:nvSpPr>
        <p:spPr>
          <a:xfrm>
            <a:off x="868680" y="1417320"/>
            <a:ext cx="6903720" cy="4480560"/>
          </a:xfrm>
          <a:prstGeom prst="rect">
            <a:avLst/>
          </a:prstGeom>
          <a:noFill/>
          <a:ln/>
        </p:spPr>
        <p:txBody>
          <a:bodyPr wrap="square" lIns="635" tIns="635" rIns="635" bIns="635" rtlCol="0" anchor="t">
            <a:normAutofit/>
          </a:bodyPr>
          <a:lstStyle/>
          <a:p>
            <a:r>
              <a:rPr lang="en-US" sz="1540" dirty="0">
                <a:solidFill>
                  <a:srgbClr val="17364A"/>
                </a:solidFill>
                <a:latin typeface="Aptos" pitchFamily="34" charset="0"/>
                <a:ea typeface="Aptos" pitchFamily="34" charset="-122"/>
                <a:cs typeface="Aptos" pitchFamily="34" charset="-120"/>
              </a:rPr>
              <a:t>Play 3: Establish AI Governance - This lesson informs Play 3 by helping learners connect the lesson topic to establish ai governance.</a:t>
            </a:r>
            <a:endParaRPr lang="en-US" sz="1540" dirty="0"/>
          </a:p>
          <a:p>
            <a:r>
              <a:rPr lang="en-US" sz="1540" dirty="0">
                <a:solidFill>
                  <a:srgbClr val="17364A"/>
                </a:solidFill>
                <a:latin typeface="Aptos" pitchFamily="34" charset="0"/>
                <a:ea typeface="Aptos" pitchFamily="34" charset="-122"/>
                <a:cs typeface="Aptos" pitchFamily="34" charset="-120"/>
              </a:rPr>
              <a:t>Play 12: Execute Governance and Oversight - This lesson informs Play 12 by helping learners connect the lesson topic to execute.</a:t>
            </a:r>
            <a:endParaRPr lang="en-US" sz="1540" dirty="0"/>
          </a:p>
          <a:p>
            <a:r>
              <a:rPr lang="en-US" sz="1540" dirty="0">
                <a:solidFill>
                  <a:srgbClr val="17364A"/>
                </a:solidFill>
                <a:latin typeface="Aptos" pitchFamily="34" charset="0"/>
                <a:ea typeface="Aptos" pitchFamily="34" charset="-122"/>
                <a:cs typeface="Aptos" pitchFamily="34" charset="-120"/>
              </a:rPr>
              <a:t>Play 11: Build and Deploy AI Solutions - This lesson informs Play 11 by helping learners connect the lesson topic to build and deploy.</a:t>
            </a:r>
            <a:endParaRPr lang="en-US" sz="1540" dirty="0"/>
          </a:p>
          <a:p>
            <a:r>
              <a:rPr lang="en-US" sz="1540" dirty="0">
                <a:solidFill>
                  <a:srgbClr val="17364A"/>
                </a:solidFill>
                <a:latin typeface="Aptos" pitchFamily="34" charset="0"/>
                <a:ea typeface="Aptos" pitchFamily="34" charset="-122"/>
                <a:cs typeface="Aptos" pitchFamily="34" charset="-120"/>
              </a:rPr>
              <a:t>Play 1: Vision &amp; Guardrails - This lesson informs Play 1 by helping learners connect the lesson topic to vision &amp; guardrails work in.</a:t>
            </a:r>
            <a:endParaRPr lang="en-US" sz="1540" dirty="0"/>
          </a:p>
        </p:txBody>
      </p:sp>
      <p:sp>
        <p:nvSpPr>
          <p:cNvPr id="9" name="Shape 7"/>
          <p:cNvSpPr/>
          <p:nvPr/>
        </p:nvSpPr>
        <p:spPr>
          <a:xfrm>
            <a:off x="8046720" y="1417320"/>
            <a:ext cx="3063240" cy="2103120"/>
          </a:xfrm>
          <a:prstGeom prst="roundRect">
            <a:avLst>
              <a:gd name="adj" fmla="val 5217"/>
            </a:avLst>
          </a:prstGeom>
          <a:solidFill>
            <a:srgbClr val="EEF8ED"/>
          </a:solidFill>
          <a:ln w="12700">
            <a:solidFill>
              <a:srgbClr val="B9D7E6"/>
            </a:solidFill>
            <a:prstDash val="solid"/>
          </a:ln>
        </p:spPr>
      </p:sp>
      <p:sp>
        <p:nvSpPr>
          <p:cNvPr id="10" name="Text 8"/>
          <p:cNvSpPr/>
          <p:nvPr/>
        </p:nvSpPr>
        <p:spPr>
          <a:xfrm>
            <a:off x="8211312" y="1563624"/>
            <a:ext cx="273405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Apply the lesson</a:t>
            </a:r>
            <a:endParaRPr lang="en-US" sz="950" dirty="0"/>
          </a:p>
        </p:txBody>
      </p:sp>
      <p:sp>
        <p:nvSpPr>
          <p:cNvPr id="11" name="Text 9"/>
          <p:cNvSpPr/>
          <p:nvPr/>
        </p:nvSpPr>
        <p:spPr>
          <a:xfrm>
            <a:off x="8211312" y="1856232"/>
            <a:ext cx="2734056" cy="153619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Use the related plays to identify decisions, participants, timing, approvals, and documentation needed for responsible implementation.</a:t>
            </a:r>
            <a:endParaRPr lang="en-US" sz="1250" dirty="0"/>
          </a:p>
        </p:txBody>
      </p:sp>
      <p:sp>
        <p:nvSpPr>
          <p:cNvPr id="12" name="Shape 10"/>
          <p:cNvSpPr/>
          <p:nvPr/>
        </p:nvSpPr>
        <p:spPr>
          <a:xfrm>
            <a:off x="8046720" y="3794760"/>
            <a:ext cx="3063240" cy="1508760"/>
          </a:xfrm>
          <a:prstGeom prst="roundRect">
            <a:avLst>
              <a:gd name="adj" fmla="val 7273"/>
            </a:avLst>
          </a:prstGeom>
          <a:solidFill>
            <a:srgbClr val="FFF4D9"/>
          </a:solidFill>
          <a:ln w="12700">
            <a:solidFill>
              <a:srgbClr val="B9D7E6"/>
            </a:solidFill>
            <a:prstDash val="solid"/>
          </a:ln>
        </p:spPr>
      </p:sp>
      <p:sp>
        <p:nvSpPr>
          <p:cNvPr id="13" name="Text 11"/>
          <p:cNvSpPr/>
          <p:nvPr/>
        </p:nvSpPr>
        <p:spPr>
          <a:xfrm>
            <a:off x="8211312" y="3941064"/>
            <a:ext cx="273405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Keep in mind</a:t>
            </a:r>
            <a:endParaRPr lang="en-US" sz="950" dirty="0"/>
          </a:p>
        </p:txBody>
      </p:sp>
      <p:sp>
        <p:nvSpPr>
          <p:cNvPr id="14" name="Text 12"/>
          <p:cNvSpPr/>
          <p:nvPr/>
        </p:nvSpPr>
        <p:spPr>
          <a:xfrm>
            <a:off x="8211312" y="4233672"/>
            <a:ext cx="2734056" cy="9418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The playbook connection helps turn training into agency work, not just individual knowledge.</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Retrieval-Augmented Generation for Public Health Knowledge Work</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Text 5"/>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Related toolkit resources</a:t>
            </a:r>
            <a:endParaRPr lang="en-US" sz="2700" dirty="0"/>
          </a:p>
        </p:txBody>
      </p:sp>
      <p:sp>
        <p:nvSpPr>
          <p:cNvPr id="8" name="Text 6"/>
          <p:cNvSpPr/>
          <p:nvPr/>
        </p:nvSpPr>
        <p:spPr>
          <a:xfrm>
            <a:off x="868680" y="1417320"/>
            <a:ext cx="6903720" cy="4480560"/>
          </a:xfrm>
          <a:prstGeom prst="rect">
            <a:avLst/>
          </a:prstGeom>
          <a:noFill/>
          <a:ln/>
        </p:spPr>
        <p:txBody>
          <a:bodyPr wrap="square" lIns="635" tIns="635" rIns="635" bIns="635" rtlCol="0" anchor="t">
            <a:normAutofit/>
          </a:bodyPr>
          <a:lstStyle/>
          <a:p>
            <a:r>
              <a:rPr lang="en-US" sz="1460" dirty="0">
                <a:solidFill>
                  <a:srgbClr val="17364A"/>
                </a:solidFill>
                <a:latin typeface="Aptos" pitchFamily="34" charset="0"/>
                <a:ea typeface="Aptos" pitchFamily="34" charset="-122"/>
                <a:cs typeface="Aptos" pitchFamily="34" charset="-120"/>
              </a:rPr>
              <a:t>Tool 16: Incident Response Checklist (Checklist) - Use Incident Response Checklist to translate this lesson into a documented public.</a:t>
            </a:r>
            <a:endParaRPr lang="en-US" sz="1460" dirty="0"/>
          </a:p>
          <a:p>
            <a:r>
              <a:rPr lang="en-US" sz="1460" dirty="0">
                <a:solidFill>
                  <a:srgbClr val="17364A"/>
                </a:solidFill>
                <a:latin typeface="Aptos" pitchFamily="34" charset="0"/>
                <a:ea typeface="Aptos" pitchFamily="34" charset="-122"/>
                <a:cs typeface="Aptos" pitchFamily="34" charset="-120"/>
              </a:rPr>
              <a:t>Tool 17: Compliance Audit Checklist (Checklist) - Use Compliance Audit Checklist to translate this lesson into a documented public.</a:t>
            </a:r>
            <a:endParaRPr lang="en-US" sz="1460" dirty="0"/>
          </a:p>
          <a:p>
            <a:r>
              <a:rPr lang="en-US" sz="1460" dirty="0">
                <a:solidFill>
                  <a:srgbClr val="17364A"/>
                </a:solidFill>
                <a:latin typeface="Aptos" pitchFamily="34" charset="0"/>
                <a:ea typeface="Aptos" pitchFamily="34" charset="-122"/>
                <a:cs typeface="Aptos" pitchFamily="34" charset="-120"/>
              </a:rPr>
              <a:t>Tool 18: Policy Update &amp; Version Control Log (Log) - Use this tool to complete or strengthen the practical exercise for the module.</a:t>
            </a:r>
            <a:endParaRPr lang="en-US" sz="1460" dirty="0"/>
          </a:p>
          <a:p>
            <a:r>
              <a:rPr lang="en-US" sz="1460" dirty="0">
                <a:solidFill>
                  <a:srgbClr val="17364A"/>
                </a:solidFill>
                <a:latin typeface="Aptos" pitchFamily="34" charset="0"/>
                <a:ea typeface="Aptos" pitchFamily="34" charset="-122"/>
                <a:cs typeface="Aptos" pitchFamily="34" charset="-120"/>
              </a:rPr>
              <a:t>Tool 19: Plain-Language AI Public Notice Template (Template) - Use Plain-Language AI Public Notice Template to translate this lesson.</a:t>
            </a:r>
            <a:endParaRPr lang="en-US" sz="1460" dirty="0"/>
          </a:p>
          <a:p>
            <a:r>
              <a:rPr lang="en-US" sz="1460" dirty="0">
                <a:solidFill>
                  <a:srgbClr val="17364A"/>
                </a:solidFill>
                <a:latin typeface="Aptos" pitchFamily="34" charset="0"/>
                <a:ea typeface="Aptos" pitchFamily="34" charset="-122"/>
                <a:cs typeface="Aptos" pitchFamily="34" charset="-120"/>
              </a:rPr>
              <a:t>Tool 4: AI Policy Landscape Scan (Worksheet) - Use AI Policy Landscape Scan to translate this lesson into a documented public health.</a:t>
            </a:r>
            <a:endParaRPr lang="en-US" sz="1460" dirty="0"/>
          </a:p>
        </p:txBody>
      </p:sp>
      <p:sp>
        <p:nvSpPr>
          <p:cNvPr id="9" name="Shape 7"/>
          <p:cNvSpPr/>
          <p:nvPr/>
        </p:nvSpPr>
        <p:spPr>
          <a:xfrm>
            <a:off x="8046720" y="1417320"/>
            <a:ext cx="3063240" cy="2103120"/>
          </a:xfrm>
          <a:prstGeom prst="roundRect">
            <a:avLst>
              <a:gd name="adj" fmla="val 5217"/>
            </a:avLst>
          </a:prstGeom>
          <a:solidFill>
            <a:srgbClr val="EAF6F8"/>
          </a:solidFill>
          <a:ln w="12700">
            <a:solidFill>
              <a:srgbClr val="B9D7E6"/>
            </a:solidFill>
            <a:prstDash val="solid"/>
          </a:ln>
        </p:spPr>
      </p:sp>
      <p:sp>
        <p:nvSpPr>
          <p:cNvPr id="10" name="Text 8"/>
          <p:cNvSpPr/>
          <p:nvPr/>
        </p:nvSpPr>
        <p:spPr>
          <a:xfrm>
            <a:off x="8211312" y="1563624"/>
            <a:ext cx="273405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the tools</a:t>
            </a:r>
            <a:endParaRPr lang="en-US" sz="950" dirty="0"/>
          </a:p>
        </p:txBody>
      </p:sp>
      <p:sp>
        <p:nvSpPr>
          <p:cNvPr id="11" name="Text 9"/>
          <p:cNvSpPr/>
          <p:nvPr/>
        </p:nvSpPr>
        <p:spPr>
          <a:xfrm>
            <a:off x="8211312" y="1856232"/>
            <a:ext cx="2734056" cy="153619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Use linked tools when your department needs a structured worksheet, template, checklist, review process, or documentation artifact.</a:t>
            </a:r>
            <a:endParaRPr lang="en-US" sz="1250" dirty="0"/>
          </a:p>
        </p:txBody>
      </p:sp>
      <p:sp>
        <p:nvSpPr>
          <p:cNvPr id="12" name="Shape 10"/>
          <p:cNvSpPr/>
          <p:nvPr/>
        </p:nvSpPr>
        <p:spPr>
          <a:xfrm>
            <a:off x="8046720" y="3794760"/>
            <a:ext cx="3063240" cy="1508760"/>
          </a:xfrm>
          <a:prstGeom prst="roundRect">
            <a:avLst>
              <a:gd name="adj" fmla="val 7273"/>
            </a:avLst>
          </a:prstGeom>
          <a:solidFill>
            <a:srgbClr val="EEF8ED"/>
          </a:solidFill>
          <a:ln w="12700">
            <a:solidFill>
              <a:srgbClr val="B9D7E6"/>
            </a:solidFill>
            <a:prstDash val="solid"/>
          </a:ln>
        </p:spPr>
      </p:sp>
      <p:sp>
        <p:nvSpPr>
          <p:cNvPr id="13" name="Text 11"/>
          <p:cNvSpPr/>
          <p:nvPr/>
        </p:nvSpPr>
        <p:spPr>
          <a:xfrm>
            <a:off x="8211312" y="3941064"/>
            <a:ext cx="273405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Avoid duplication</a:t>
            </a:r>
            <a:endParaRPr lang="en-US" sz="950" dirty="0"/>
          </a:p>
        </p:txBody>
      </p:sp>
      <p:sp>
        <p:nvSpPr>
          <p:cNvPr id="14" name="Text 12"/>
          <p:cNvSpPr/>
          <p:nvPr/>
        </p:nvSpPr>
        <p:spPr>
          <a:xfrm>
            <a:off x="8211312" y="4233672"/>
            <a:ext cx="2734056" cy="9418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If your department already has a strong equivalent tool, adapt or use the existing process instead of recreating it.</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Retrieval-Augmented Generation for Public Health Knowledge Work</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Learning Objectives</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Define retrieval-augmented generation in plain language.</a:t>
            </a:r>
            <a:endParaRPr lang="en-US" sz="1700" dirty="0"/>
          </a:p>
          <a:p>
            <a:r>
              <a:rPr lang="en-US" sz="1700" dirty="0">
                <a:solidFill>
                  <a:srgbClr val="17364A"/>
                </a:solidFill>
                <a:latin typeface="Aptos" pitchFamily="34" charset="0"/>
                <a:ea typeface="Aptos" pitchFamily="34" charset="-122"/>
                <a:cs typeface="Aptos" pitchFamily="34" charset="-120"/>
              </a:rPr>
              <a:t>Describe the major components of a RAG system, including document ingestion, chunking, embeddings, vector search, retrieval,.</a:t>
            </a:r>
            <a:endParaRPr lang="en-US" sz="1700" dirty="0"/>
          </a:p>
          <a:p>
            <a:r>
              <a:rPr lang="en-US" sz="1700" dirty="0">
                <a:solidFill>
                  <a:srgbClr val="17364A"/>
                </a:solidFill>
                <a:latin typeface="Aptos" pitchFamily="34" charset="0"/>
                <a:ea typeface="Aptos" pitchFamily="34" charset="-122"/>
                <a:cs typeface="Aptos" pitchFamily="34" charset="-120"/>
              </a:rPr>
              <a:t>Identify public health use cases where RAG may improve knowledge work.</a:t>
            </a:r>
            <a:endParaRPr lang="en-US" sz="1700" dirty="0"/>
          </a:p>
          <a:p>
            <a:r>
              <a:rPr lang="en-US" sz="1700" dirty="0">
                <a:solidFill>
                  <a:srgbClr val="17364A"/>
                </a:solidFill>
                <a:latin typeface="Aptos" pitchFamily="34" charset="0"/>
                <a:ea typeface="Aptos" pitchFamily="34" charset="-122"/>
                <a:cs typeface="Aptos" pitchFamily="34" charset="-120"/>
              </a:rPr>
              <a:t>Assess risks related to stale content, access control, retrieval quality, hallucination, and source misuse.</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Define retrieval-augmented generation in plain language.</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Retrieval-Augmented Generation for Public Health Knowledge Work</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Text 5"/>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Learning Objectives Continued</a:t>
            </a:r>
            <a:endParaRPr lang="en-US" sz="2700" dirty="0"/>
          </a:p>
        </p:txBody>
      </p:sp>
      <p:sp>
        <p:nvSpPr>
          <p:cNvPr id="8" name="Text 6"/>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Produce a RAG readiness checklist for a public health knowledge workflow.</a:t>
            </a:r>
            <a:endParaRPr lang="en-US" sz="1700" dirty="0"/>
          </a:p>
        </p:txBody>
      </p:sp>
      <p:sp>
        <p:nvSpPr>
          <p:cNvPr id="9" name="Shape 7"/>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0" name="Text 8"/>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1" name="Text 9"/>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Produce a RAG readiness checklist for a public health knowledge workflow.</a:t>
            </a:r>
            <a:endParaRPr lang="en-US" sz="1250" dirty="0"/>
          </a:p>
        </p:txBody>
      </p:sp>
      <p:sp>
        <p:nvSpPr>
          <p:cNvPr id="12" name="Shape 10"/>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3" name="Text 11"/>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4" name="Text 12"/>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Retrieval-Augmented Generation for Public Health Knowledge Work</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2</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Module Overview</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Retrieval-augmented generation, often called RAG, combines generative AI with retrieval from a defined set of documents or.</a:t>
            </a:r>
            <a:endParaRPr lang="en-US" sz="1700" dirty="0"/>
          </a:p>
          <a:p>
            <a:r>
              <a:rPr lang="en-US" sz="1700" dirty="0">
                <a:solidFill>
                  <a:srgbClr val="17364A"/>
                </a:solidFill>
                <a:latin typeface="Aptos" pitchFamily="34" charset="0"/>
                <a:ea typeface="Aptos" pitchFamily="34" charset="-122"/>
                <a:cs typeface="Aptos" pitchFamily="34" charset="-120"/>
              </a:rPr>
              <a:t>Instead of relying only on a model’s general training, a RAG system searches approved content and uses retrieved material.</a:t>
            </a:r>
            <a:endParaRPr lang="en-US" sz="1700" dirty="0"/>
          </a:p>
          <a:p>
            <a:r>
              <a:rPr lang="en-US" sz="1700" dirty="0">
                <a:solidFill>
                  <a:srgbClr val="17364A"/>
                </a:solidFill>
                <a:latin typeface="Aptos" pitchFamily="34" charset="0"/>
                <a:ea typeface="Aptos" pitchFamily="34" charset="-122"/>
                <a:cs typeface="Aptos" pitchFamily="34" charset="-120"/>
              </a:rPr>
              <a:t>In public health, RAG may support policy lookup, protocol interpretation, internal help desks, training support, grant.</a:t>
            </a:r>
            <a:endParaRPr lang="en-US" sz="1700" dirty="0"/>
          </a:p>
          <a:p>
            <a:r>
              <a:rPr lang="en-US" sz="1700" dirty="0">
                <a:solidFill>
                  <a:srgbClr val="17364A"/>
                </a:solidFill>
                <a:latin typeface="Aptos" pitchFamily="34" charset="0"/>
                <a:ea typeface="Aptos" pitchFamily="34" charset="-122"/>
                <a:cs typeface="Aptos" pitchFamily="34" charset="-120"/>
              </a:rPr>
              <a:t>RAG can make generative AI more useful and safer when it is designed well.</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Retrieval-augmented generation, often called RAG, combines generative AI with retrieval from a defined set of documents or.</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Retrieval-Augmented Generation for Public Health Knowledge Work</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3</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Why This Topic Matters for Public Health AI</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RAG matters because public health agencies manage large collections of guidance, protocols, policies, contracts, plans,.</a:t>
            </a:r>
            <a:endParaRPr lang="en-US" sz="1700" dirty="0"/>
          </a:p>
          <a:p>
            <a:r>
              <a:rPr lang="en-US" sz="1700" dirty="0">
                <a:solidFill>
                  <a:srgbClr val="17364A"/>
                </a:solidFill>
                <a:latin typeface="Aptos" pitchFamily="34" charset="0"/>
                <a:ea typeface="Aptos" pitchFamily="34" charset="-122"/>
                <a:cs typeface="Aptos" pitchFamily="34" charset="-120"/>
              </a:rPr>
              <a:t>Staff may spend substantial time searching for answers across shared drives, websites, portals, and outdated files.</a:t>
            </a:r>
            <a:endParaRPr lang="en-US" sz="1700" dirty="0"/>
          </a:p>
          <a:p>
            <a:r>
              <a:rPr lang="en-US" sz="1700" dirty="0">
                <a:solidFill>
                  <a:srgbClr val="17364A"/>
                </a:solidFill>
                <a:latin typeface="Aptos" pitchFamily="34" charset="0"/>
                <a:ea typeface="Aptos" pitchFamily="34" charset="-122"/>
                <a:cs typeface="Aptos" pitchFamily="34" charset="-120"/>
              </a:rPr>
              <a:t>A well-designed RAG system can help users find relevant guidance and produce concise, source-linked answers.</a:t>
            </a:r>
            <a:endParaRPr lang="en-US" sz="1700" dirty="0"/>
          </a:p>
          <a:p>
            <a:r>
              <a:rPr lang="en-US" sz="1700" dirty="0">
                <a:solidFill>
                  <a:srgbClr val="17364A"/>
                </a:solidFill>
                <a:latin typeface="Aptos" pitchFamily="34" charset="0"/>
                <a:ea typeface="Aptos" pitchFamily="34" charset="-122"/>
                <a:cs typeface="Aptos" pitchFamily="34" charset="-120"/>
              </a:rPr>
              <a:t>The public health value of RAG depends on governance.</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RAG matters because public health agencies manage large collections of guidance, protocols, policies, contracts, plans,.</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Retrieval-Augmented Generation for Public Health Knowledge Work</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4</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Public Health Example</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A state health department may create an internal RAG assistant to help staff find current infectious disease investigation.</a:t>
            </a:r>
            <a:endParaRPr lang="en-US" sz="1700" dirty="0"/>
          </a:p>
          <a:p>
            <a:r>
              <a:rPr lang="en-US" sz="1700" dirty="0">
                <a:solidFill>
                  <a:srgbClr val="17364A"/>
                </a:solidFill>
                <a:latin typeface="Aptos" pitchFamily="34" charset="0"/>
                <a:ea typeface="Aptos" pitchFamily="34" charset="-122"/>
                <a:cs typeface="Aptos" pitchFamily="34" charset="-120"/>
              </a:rPr>
              <a:t>The assistant could search approved protocols, case definitions, reporting rules, and escalation procedures.</a:t>
            </a:r>
            <a:endParaRPr lang="en-US" sz="1700" dirty="0"/>
          </a:p>
          <a:p>
            <a:r>
              <a:rPr lang="en-US" sz="1700" dirty="0">
                <a:solidFill>
                  <a:srgbClr val="17364A"/>
                </a:solidFill>
                <a:latin typeface="Aptos" pitchFamily="34" charset="0"/>
                <a:ea typeface="Aptos" pitchFamily="34" charset="-122"/>
                <a:cs typeface="Aptos" pitchFamily="34" charset="-120"/>
              </a:rPr>
              <a:t>When a user asks what steps to take for a suspected condition, the system could summarize relevant guidance and cite the.</a:t>
            </a:r>
            <a:endParaRPr lang="en-US" sz="1700" dirty="0"/>
          </a:p>
          <a:p>
            <a:r>
              <a:rPr lang="en-US" sz="1700" dirty="0">
                <a:solidFill>
                  <a:srgbClr val="17364A"/>
                </a:solidFill>
                <a:latin typeface="Aptos" pitchFamily="34" charset="0"/>
                <a:ea typeface="Aptos" pitchFamily="34" charset="-122"/>
                <a:cs typeface="Aptos" pitchFamily="34" charset="-120"/>
              </a:rPr>
              <a:t>This workflow requires strong controls.</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A state health department may create an internal RAG assistant to help staff find current infectious disease investigation.</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Retrieval-Augmented Generation for Public Health Knowledge Work</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5</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Technical Deep Dive</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A RAG system begins with content selection.</a:t>
            </a:r>
            <a:endParaRPr lang="en-US" sz="1700" dirty="0"/>
          </a:p>
          <a:p>
            <a:r>
              <a:rPr lang="en-US" sz="1700" dirty="0">
                <a:solidFill>
                  <a:srgbClr val="17364A"/>
                </a:solidFill>
                <a:latin typeface="Aptos" pitchFamily="34" charset="0"/>
                <a:ea typeface="Aptos" pitchFamily="34" charset="-122"/>
                <a:cs typeface="Aptos" pitchFamily="34" charset="-120"/>
              </a:rPr>
              <a:t>Agencies should decide which documents are authoritative, current, approved for the use case, and appropriate for the.</a:t>
            </a:r>
            <a:endParaRPr lang="en-US" sz="1700" dirty="0"/>
          </a:p>
          <a:p>
            <a:r>
              <a:rPr lang="en-US" sz="1700" dirty="0">
                <a:solidFill>
                  <a:srgbClr val="17364A"/>
                </a:solidFill>
                <a:latin typeface="Aptos" pitchFamily="34" charset="0"/>
                <a:ea typeface="Aptos" pitchFamily="34" charset="-122"/>
                <a:cs typeface="Aptos" pitchFamily="34" charset="-120"/>
              </a:rPr>
              <a:t>Content inventories should include owner, version, effective date, review date, sensitivity level, and access rules.</a:t>
            </a:r>
            <a:endParaRPr lang="en-US" sz="1700" dirty="0"/>
          </a:p>
          <a:p>
            <a:r>
              <a:rPr lang="en-US" sz="1700" dirty="0">
                <a:solidFill>
                  <a:srgbClr val="17364A"/>
                </a:solidFill>
                <a:latin typeface="Aptos" pitchFamily="34" charset="0"/>
                <a:ea typeface="Aptos" pitchFamily="34" charset="-122"/>
                <a:cs typeface="Aptos" pitchFamily="34" charset="-120"/>
              </a:rPr>
              <a:t>Without this foundation, retrieval can surface obsolete or unauthorized material.</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A RAG system begins with content selection.</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Retrieval-Augmented Generation for Public Health Knowledge Work</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Text 5"/>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Technical Deep Dive Continued</a:t>
            </a:r>
            <a:endParaRPr lang="en-US" sz="2700" dirty="0"/>
          </a:p>
        </p:txBody>
      </p:sp>
      <p:sp>
        <p:nvSpPr>
          <p:cNvPr id="8" name="Text 6"/>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Generation should be constrained by retrieved material.</a:t>
            </a:r>
            <a:endParaRPr lang="en-US" sz="1700" dirty="0"/>
          </a:p>
          <a:p>
            <a:r>
              <a:rPr lang="en-US" sz="1700" dirty="0">
                <a:solidFill>
                  <a:srgbClr val="17364A"/>
                </a:solidFill>
                <a:latin typeface="Aptos" pitchFamily="34" charset="0"/>
                <a:ea typeface="Aptos" pitchFamily="34" charset="-122"/>
                <a:cs typeface="Aptos" pitchFamily="34" charset="-120"/>
              </a:rPr>
              <a:t>The system should be instructed to answer from sources, cite them, identify uncertainty, and avoid unsupported claims.</a:t>
            </a:r>
            <a:endParaRPr lang="en-US" sz="1700" dirty="0"/>
          </a:p>
          <a:p>
            <a:r>
              <a:rPr lang="en-US" sz="1700" dirty="0">
                <a:solidFill>
                  <a:srgbClr val="17364A"/>
                </a:solidFill>
                <a:latin typeface="Aptos" pitchFamily="34" charset="0"/>
                <a:ea typeface="Aptos" pitchFamily="34" charset="-122"/>
                <a:cs typeface="Aptos" pitchFamily="34" charset="-120"/>
              </a:rPr>
              <a:t>It should also explain when guidance conflicts or when source material is insufficient.</a:t>
            </a:r>
            <a:endParaRPr lang="en-US" sz="1700" dirty="0"/>
          </a:p>
          <a:p>
            <a:r>
              <a:rPr lang="en-US" sz="1700" dirty="0">
                <a:solidFill>
                  <a:srgbClr val="17364A"/>
                </a:solidFill>
                <a:latin typeface="Aptos" pitchFamily="34" charset="0"/>
                <a:ea typeface="Aptos" pitchFamily="34" charset="-122"/>
                <a:cs typeface="Aptos" pitchFamily="34" charset="-120"/>
              </a:rPr>
              <a:t>Users should be able to open the cited source and verify key statements.</a:t>
            </a:r>
            <a:endParaRPr lang="en-US" sz="1700" dirty="0"/>
          </a:p>
        </p:txBody>
      </p:sp>
      <p:sp>
        <p:nvSpPr>
          <p:cNvPr id="9" name="Shape 7"/>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0" name="Text 8"/>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1" name="Text 9"/>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Generation should be constrained by retrieved material.</a:t>
            </a:r>
            <a:endParaRPr lang="en-US" sz="1250" dirty="0"/>
          </a:p>
        </p:txBody>
      </p:sp>
      <p:sp>
        <p:nvSpPr>
          <p:cNvPr id="12" name="Shape 10"/>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3" name="Text 11"/>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4" name="Text 12"/>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Retrieval-Augmented Generation for Public Health Knowledge Work</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6</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Risks, Failure Modes, and Guardrails</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Stale or conflicting content.</a:t>
            </a:r>
            <a:endParaRPr lang="en-US" sz="1700" dirty="0"/>
          </a:p>
          <a:p>
            <a:r>
              <a:rPr lang="en-US" sz="1700" dirty="0">
                <a:solidFill>
                  <a:srgbClr val="17364A"/>
                </a:solidFill>
                <a:latin typeface="Aptos" pitchFamily="34" charset="0"/>
                <a:ea typeface="Aptos" pitchFamily="34" charset="-122"/>
                <a:cs typeface="Aptos" pitchFamily="34" charset="-120"/>
              </a:rPr>
              <a:t>Outdated or inconsistent documents can produce wrong answers.</a:t>
            </a:r>
            <a:endParaRPr lang="en-US" sz="1700" dirty="0"/>
          </a:p>
          <a:p>
            <a:r>
              <a:rPr lang="en-US" sz="1700" dirty="0">
                <a:solidFill>
                  <a:srgbClr val="17364A"/>
                </a:solidFill>
                <a:latin typeface="Aptos" pitchFamily="34" charset="0"/>
                <a:ea typeface="Aptos" pitchFamily="34" charset="-122"/>
                <a:cs typeface="Aptos" pitchFamily="34" charset="-120"/>
              </a:rPr>
              <a:t>Guardrails include content ownership, version control, review dates, and archival rules.</a:t>
            </a:r>
            <a:endParaRPr lang="en-US" sz="1700" dirty="0"/>
          </a:p>
          <a:p>
            <a:r>
              <a:rPr lang="en-US" sz="1700" dirty="0">
                <a:solidFill>
                  <a:srgbClr val="17364A"/>
                </a:solidFill>
                <a:latin typeface="Aptos" pitchFamily="34" charset="0"/>
                <a:ea typeface="Aptos" pitchFamily="34" charset="-122"/>
                <a:cs typeface="Aptos" pitchFamily="34" charset="-120"/>
              </a:rPr>
              <a:t>Permission leakage.</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Stale or conflicting content.</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Retrieval-Augmented Generation for Public Health Knowledge Work</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Text 5"/>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Risks, Failure Modes, and Guardrails Continued</a:t>
            </a:r>
            <a:endParaRPr lang="en-US" sz="2700" dirty="0"/>
          </a:p>
        </p:txBody>
      </p:sp>
      <p:sp>
        <p:nvSpPr>
          <p:cNvPr id="8" name="Text 6"/>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Unsupported generation.</a:t>
            </a:r>
            <a:endParaRPr lang="en-US" sz="1700" dirty="0"/>
          </a:p>
          <a:p>
            <a:r>
              <a:rPr lang="en-US" sz="1700" dirty="0">
                <a:solidFill>
                  <a:srgbClr val="17364A"/>
                </a:solidFill>
                <a:latin typeface="Aptos" pitchFamily="34" charset="0"/>
                <a:ea typeface="Aptos" pitchFamily="34" charset="-122"/>
                <a:cs typeface="Aptos" pitchFamily="34" charset="-120"/>
              </a:rPr>
              <a:t>The model may add claims beyond retrieved sources.</a:t>
            </a:r>
            <a:endParaRPr lang="en-US" sz="1700" dirty="0"/>
          </a:p>
          <a:p>
            <a:r>
              <a:rPr lang="en-US" sz="1700" dirty="0">
                <a:solidFill>
                  <a:srgbClr val="17364A"/>
                </a:solidFill>
                <a:latin typeface="Aptos" pitchFamily="34" charset="0"/>
                <a:ea typeface="Aptos" pitchFamily="34" charset="-122"/>
                <a:cs typeface="Aptos" pitchFamily="34" charset="-120"/>
              </a:rPr>
              <a:t>Guardrails include source-only instructions, citation requirements, and reviewer verification.</a:t>
            </a:r>
            <a:endParaRPr lang="en-US" sz="1700" dirty="0"/>
          </a:p>
        </p:txBody>
      </p:sp>
      <p:sp>
        <p:nvSpPr>
          <p:cNvPr id="9" name="Shape 7"/>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0" name="Text 8"/>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1" name="Text 9"/>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Unsupported generation.</a:t>
            </a:r>
            <a:endParaRPr lang="en-US" sz="1250" dirty="0"/>
          </a:p>
        </p:txBody>
      </p:sp>
      <p:sp>
        <p:nvSpPr>
          <p:cNvPr id="12" name="Shape 10"/>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3" name="Text 11"/>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4" name="Text 12"/>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Retrieval-Augmented Generation for Public Health Knowledge Work</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7</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Application to AI-Supported Workflows</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RAG supports generative AI by grounding outputs in defined sources.</a:t>
            </a:r>
            <a:endParaRPr lang="en-US" sz="1700" dirty="0"/>
          </a:p>
          <a:p>
            <a:r>
              <a:rPr lang="en-US" sz="1700" dirty="0">
                <a:solidFill>
                  <a:srgbClr val="17364A"/>
                </a:solidFill>
                <a:latin typeface="Aptos" pitchFamily="34" charset="0"/>
                <a:ea typeface="Aptos" pitchFamily="34" charset="-122"/>
                <a:cs typeface="Aptos" pitchFamily="34" charset="-120"/>
              </a:rPr>
              <a:t>It may be used in chat assistants, training tools, policy support, emergency operations, procurement review, and program.</a:t>
            </a:r>
            <a:endParaRPr lang="en-US" sz="1700" dirty="0"/>
          </a:p>
          <a:p>
            <a:r>
              <a:rPr lang="en-US" sz="1700" dirty="0">
                <a:solidFill>
                  <a:srgbClr val="17364A"/>
                </a:solidFill>
                <a:latin typeface="Aptos" pitchFamily="34" charset="0"/>
                <a:ea typeface="Aptos" pitchFamily="34" charset="-122"/>
                <a:cs typeface="Aptos" pitchFamily="34" charset="-120"/>
              </a:rPr>
              <a:t>It can also support agentic workflows by giving agents access to approved guidance, but actions based on retrieved content.</a:t>
            </a:r>
            <a:endParaRPr lang="en-US" sz="1700" dirty="0"/>
          </a:p>
          <a:p>
            <a:r>
              <a:rPr lang="en-US" sz="1700" dirty="0">
                <a:solidFill>
                  <a:srgbClr val="17364A"/>
                </a:solidFill>
                <a:latin typeface="Aptos" pitchFamily="34" charset="0"/>
                <a:ea typeface="Aptos" pitchFamily="34" charset="-122"/>
                <a:cs typeface="Aptos" pitchFamily="34" charset="-120"/>
              </a:rPr>
              <a:t>Public health RAG systems should be built around trust.</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RAG supports generative AI by grounding outputs in defined sources.</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Retrieval-Augmented Generation for Public Health Knowledge Work</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8</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Reflection Questions</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What content collection would the RAG system use?</a:t>
            </a:r>
            <a:endParaRPr lang="en-US" sz="1700" dirty="0"/>
          </a:p>
          <a:p>
            <a:r>
              <a:rPr lang="en-US" sz="1700" dirty="0">
                <a:solidFill>
                  <a:srgbClr val="17364A"/>
                </a:solidFill>
                <a:latin typeface="Aptos" pitchFamily="34" charset="0"/>
                <a:ea typeface="Aptos" pitchFamily="34" charset="-122"/>
                <a:cs typeface="Aptos" pitchFamily="34" charset="-120"/>
              </a:rPr>
              <a:t>Who owns and updates each source document?</a:t>
            </a:r>
            <a:endParaRPr lang="en-US" sz="1700" dirty="0"/>
          </a:p>
          <a:p>
            <a:r>
              <a:rPr lang="en-US" sz="1700" dirty="0">
                <a:solidFill>
                  <a:srgbClr val="17364A"/>
                </a:solidFill>
                <a:latin typeface="Aptos" pitchFamily="34" charset="0"/>
                <a:ea typeface="Aptos" pitchFamily="34" charset="-122"/>
                <a:cs typeface="Aptos" pitchFamily="34" charset="-120"/>
              </a:rPr>
              <a:t>How will access permissions be enforced?</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What content collection would the RAG system use?</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Retrieval-Augmented Generation for Public Health Knowledge Work</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Text 5"/>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Reflection Questions Continued</a:t>
            </a:r>
            <a:endParaRPr lang="en-US" sz="2700" dirty="0"/>
          </a:p>
        </p:txBody>
      </p:sp>
      <p:sp>
        <p:nvSpPr>
          <p:cNvPr id="8" name="Text 6"/>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How will retrieval quality and citation accuracy be tested?</a:t>
            </a:r>
            <a:endParaRPr lang="en-US" sz="1700" dirty="0"/>
          </a:p>
          <a:p>
            <a:r>
              <a:rPr lang="en-US" sz="1700" dirty="0">
                <a:solidFill>
                  <a:srgbClr val="17364A"/>
                </a:solidFill>
                <a:latin typeface="Aptos" pitchFamily="34" charset="0"/>
                <a:ea typeface="Aptos" pitchFamily="34" charset="-122"/>
                <a:cs typeface="Aptos" pitchFamily="34" charset="-120"/>
              </a:rPr>
              <a:t>What should the system do when sources are missing, outdated, or conflicting?</a:t>
            </a:r>
            <a:endParaRPr lang="en-US" sz="1700" dirty="0"/>
          </a:p>
        </p:txBody>
      </p:sp>
      <p:sp>
        <p:nvSpPr>
          <p:cNvPr id="9" name="Shape 7"/>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0" name="Text 8"/>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1" name="Text 9"/>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How will retrieval quality and citation accuracy be tested?</a:t>
            </a:r>
            <a:endParaRPr lang="en-US" sz="1250" dirty="0"/>
          </a:p>
        </p:txBody>
      </p:sp>
      <p:sp>
        <p:nvSpPr>
          <p:cNvPr id="12" name="Shape 10"/>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3" name="Text 11"/>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4" name="Text 12"/>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Retrieval-Augmented Generation for Public Health Knowledge Work</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9</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Practical Exercise</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Create a RAG readiness checklist for one public health knowledge workflow.</a:t>
            </a:r>
            <a:endParaRPr lang="en-US" sz="1700" dirty="0"/>
          </a:p>
          <a:p>
            <a:r>
              <a:rPr lang="en-US" sz="1700" dirty="0">
                <a:solidFill>
                  <a:srgbClr val="17364A"/>
                </a:solidFill>
                <a:latin typeface="Aptos" pitchFamily="34" charset="0"/>
                <a:ea typeface="Aptos" pitchFamily="34" charset="-122"/>
                <a:cs typeface="Aptos" pitchFamily="34" charset="-120"/>
              </a:rPr>
              <a:t>Include content inventory, source authority, document owners, update schedule, sensitivity level, access controls, chunking.</a:t>
            </a:r>
            <a:endParaRPr lang="en-US" sz="1700" dirty="0"/>
          </a:p>
          <a:p>
            <a:r>
              <a:rPr lang="en-US" sz="1700" dirty="0">
                <a:solidFill>
                  <a:srgbClr val="17364A"/>
                </a:solidFill>
                <a:latin typeface="Aptos" pitchFamily="34" charset="0"/>
                <a:ea typeface="Aptos" pitchFamily="34" charset="-122"/>
                <a:cs typeface="Aptos" pitchFamily="34" charset="-120"/>
              </a:rPr>
              <a:t>The checklist should identify at least three “do not answer” or escalation situations, such as missing guidance,.</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Create a RAG readiness checklist for one public health knowledge workflow.</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Retrieval-Augmented Generation for Public Health Knowledge Work</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10</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Expected Artifact or Evidence</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RAG readiness checklist</a:t>
            </a:r>
            <a:endParaRPr lang="en-US" sz="1700" dirty="0"/>
          </a:p>
          <a:p>
            <a:r>
              <a:rPr lang="en-US" sz="1700" dirty="0">
                <a:solidFill>
                  <a:srgbClr val="17364A"/>
                </a:solidFill>
                <a:latin typeface="Aptos" pitchFamily="34" charset="0"/>
                <a:ea typeface="Aptos" pitchFamily="34" charset="-122"/>
                <a:cs typeface="Aptos" pitchFamily="34" charset="-120"/>
              </a:rPr>
              <a:t>Content inventory and ownership table</a:t>
            </a:r>
            <a:endParaRPr lang="en-US" sz="1700" dirty="0"/>
          </a:p>
          <a:p>
            <a:r>
              <a:rPr lang="en-US" sz="1700" dirty="0">
                <a:solidFill>
                  <a:srgbClr val="17364A"/>
                </a:solidFill>
                <a:latin typeface="Aptos" pitchFamily="34" charset="0"/>
                <a:ea typeface="Aptos" pitchFamily="34" charset="-122"/>
                <a:cs typeface="Aptos" pitchFamily="34" charset="-120"/>
              </a:rPr>
              <a:t>Retrieval test question set</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RAG readiness checklist</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Retrieval-Augmented Generation for Public Health Knowledge Work</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Text 5"/>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Expected Artifact or Evidence Continued</a:t>
            </a:r>
            <a:endParaRPr lang="en-US" sz="2700" dirty="0"/>
          </a:p>
        </p:txBody>
      </p:sp>
      <p:sp>
        <p:nvSpPr>
          <p:cNvPr id="8" name="Text 6"/>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Citation and source verification protocol</a:t>
            </a:r>
            <a:endParaRPr lang="en-US" sz="1700" dirty="0"/>
          </a:p>
        </p:txBody>
      </p:sp>
      <p:sp>
        <p:nvSpPr>
          <p:cNvPr id="9" name="Shape 7"/>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0" name="Text 8"/>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1" name="Text 9"/>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Citation and source verification protocol</a:t>
            </a:r>
            <a:endParaRPr lang="en-US" sz="1250" dirty="0"/>
          </a:p>
        </p:txBody>
      </p:sp>
      <p:sp>
        <p:nvSpPr>
          <p:cNvPr id="12" name="Shape 10"/>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3" name="Text 11"/>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4" name="Text 12"/>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Retrieval-Augmented Generation for Public Health Knowledge Work</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11</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Expected Assignment</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RAG readiness checklist</a:t>
            </a:r>
            <a:endParaRPr lang="en-US" sz="1700" dirty="0"/>
          </a:p>
          <a:p>
            <a:r>
              <a:rPr lang="en-US" sz="1700" dirty="0">
                <a:solidFill>
                  <a:srgbClr val="17364A"/>
                </a:solidFill>
                <a:latin typeface="Aptos" pitchFamily="34" charset="0"/>
                <a:ea typeface="Aptos" pitchFamily="34" charset="-122"/>
                <a:cs typeface="Aptos" pitchFamily="34" charset="-120"/>
              </a:rPr>
              <a:t>Content inventory and ownership table</a:t>
            </a:r>
            <a:endParaRPr lang="en-US" sz="1700" dirty="0"/>
          </a:p>
          <a:p>
            <a:r>
              <a:rPr lang="en-US" sz="1700" dirty="0">
                <a:solidFill>
                  <a:srgbClr val="17364A"/>
                </a:solidFill>
                <a:latin typeface="Aptos" pitchFamily="34" charset="0"/>
                <a:ea typeface="Aptos" pitchFamily="34" charset="-122"/>
                <a:cs typeface="Aptos" pitchFamily="34" charset="-120"/>
              </a:rPr>
              <a:t>Retrieval test question set</a:t>
            </a:r>
            <a:endParaRPr lang="en-US" sz="1700" dirty="0"/>
          </a:p>
          <a:p>
            <a:r>
              <a:rPr lang="en-US" sz="1700" dirty="0">
                <a:solidFill>
                  <a:srgbClr val="17364A"/>
                </a:solidFill>
                <a:latin typeface="Aptos" pitchFamily="34" charset="0"/>
                <a:ea typeface="Aptos" pitchFamily="34" charset="-122"/>
                <a:cs typeface="Aptos" pitchFamily="34" charset="-120"/>
              </a:rPr>
              <a:t>Citation and source verification protocol</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RAG readiness checklist</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Retrieval-Augmented Generation for Public Health Knowledge Work</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12</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Knowledge Check</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1. What is RAG?</a:t>
            </a:r>
            <a:endParaRPr lang="en-US" sz="1700" dirty="0"/>
          </a:p>
          <a:p>
            <a:r>
              <a:rPr lang="en-US" sz="1700" dirty="0">
                <a:solidFill>
                  <a:srgbClr val="17364A"/>
                </a:solidFill>
                <a:latin typeface="Aptos" pitchFamily="34" charset="0"/>
                <a:ea typeface="Aptos" pitchFamily="34" charset="-122"/>
                <a:cs typeface="Aptos" pitchFamily="34" charset="-120"/>
              </a:rPr>
              <a:t>2. Why does chunking matter?</a:t>
            </a:r>
            <a:endParaRPr lang="en-US" sz="1700" dirty="0"/>
          </a:p>
          <a:p>
            <a:r>
              <a:rPr lang="en-US" sz="1700" dirty="0">
                <a:solidFill>
                  <a:srgbClr val="17364A"/>
                </a:solidFill>
                <a:latin typeface="Aptos" pitchFamily="34" charset="0"/>
                <a:ea typeface="Aptos" pitchFamily="34" charset="-122"/>
                <a:cs typeface="Aptos" pitchFamily="34" charset="-120"/>
              </a:rPr>
              <a:t>3. What is a major RAG governance risk?</a:t>
            </a:r>
            <a:endParaRPr lang="en-US" sz="1700" dirty="0"/>
          </a:p>
          <a:p>
            <a:r>
              <a:rPr lang="en-US" sz="1700" dirty="0">
                <a:solidFill>
                  <a:srgbClr val="17364A"/>
                </a:solidFill>
                <a:latin typeface="Aptos" pitchFamily="34" charset="0"/>
                <a:ea typeface="Aptos" pitchFamily="34" charset="-122"/>
                <a:cs typeface="Aptos" pitchFamily="34" charset="-120"/>
              </a:rPr>
              <a:t>4. What should a RAG system do when sources are insufficient?</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1. What is RAG?</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Retrieval-Augmented Generation for Public Health Knowledge Work</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13</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References and Resources</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NIST AI RMF Generative AI Profile:.</a:t>
            </a:r>
            <a:endParaRPr lang="en-US" sz="1700" dirty="0"/>
          </a:p>
          <a:p>
            <a:r>
              <a:rPr lang="en-US" sz="1700" dirty="0">
                <a:solidFill>
                  <a:srgbClr val="17364A"/>
                </a:solidFill>
                <a:latin typeface="Aptos" pitchFamily="34" charset="0"/>
                <a:ea typeface="Aptos" pitchFamily="34" charset="-122"/>
                <a:cs typeface="Aptos" pitchFamily="34" charset="-120"/>
              </a:rPr>
              <a:t>OWASP Top 10 for Large Language Model Applications: https://owasp.org/www-project-top-10-for-large-language-model-applications/</a:t>
            </a:r>
            <a:endParaRPr lang="en-US" sz="1700" dirty="0"/>
          </a:p>
          <a:p>
            <a:r>
              <a:rPr lang="en-US" sz="1700" dirty="0">
                <a:solidFill>
                  <a:srgbClr val="17364A"/>
                </a:solidFill>
                <a:latin typeface="Aptos" pitchFamily="34" charset="0"/>
                <a:ea typeface="Aptos" pitchFamily="34" charset="-122"/>
                <a:cs typeface="Aptos" pitchFamily="34" charset="-120"/>
              </a:rPr>
              <a:t>NIST Artificial Intelligence Risk Management Framework: https://www.nist.gov/itl/ai-risk-management-framework</a:t>
            </a:r>
            <a:endParaRPr lang="en-US" sz="1700" dirty="0"/>
          </a:p>
          <a:p>
            <a:r>
              <a:rPr lang="en-US" sz="1700" dirty="0">
                <a:solidFill>
                  <a:srgbClr val="17364A"/>
                </a:solidFill>
                <a:latin typeface="Aptos" pitchFamily="34" charset="0"/>
                <a:ea typeface="Aptos" pitchFamily="34" charset="-122"/>
                <a:cs typeface="Aptos" pitchFamily="34" charset="-120"/>
              </a:rPr>
              <a:t>ONC USCDI: https://isp.healthit.gov/united-states-core-data-interoperability-uscdi</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NIST AI RMF Generative AI Profile:.</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Retrieval-Augmented Generation for Public Health Knowledge Work</dc:title>
  <dc:subject>Retrieval-Augmented Generation for Public Health Knowledge Work learning module</dc:subject>
  <dc:creator>Paula Soper</dc:creator>
  <cp:lastModifiedBy>Paula Soper</cp:lastModifiedBy>
  <cp:revision>1</cp:revision>
  <dcterms:created xsi:type="dcterms:W3CDTF">2026-07-12T18:54:57Z</dcterms:created>
  <dcterms:modified xsi:type="dcterms:W3CDTF">2026-07-12T18:54:57Z</dcterms:modified>
</cp:coreProperties>
</file>