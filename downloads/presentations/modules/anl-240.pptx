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 wastewater.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 may.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baselines, seasonality, trends, reporting delays, and thresholds.</a:t>
            </a:r>
            <a:endParaRPr lang="en-US" sz="2100" dirty="0"/>
          </a:p>
          <a:p>
            <a:r>
              <a:rPr lang="en-US" sz="2100" dirty="0">
                <a:solidFill>
                  <a:srgbClr val="17364A"/>
                </a:solidFill>
                <a:latin typeface="Aptos" pitchFamily="34" charset="0"/>
                <a:ea typeface="Aptos" pitchFamily="34" charset="-122"/>
                <a:cs typeface="Aptos" pitchFamily="34" charset="-120"/>
              </a:rPr>
              <a:t>Distinguish statistical signals from confirmed outbreaks or public health events.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analysis examines data collected over time.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2100" dirty="0"/>
          </a:p>
          <a:p>
            <a:r>
              <a:rPr lang="en-US" sz="2100" dirty="0">
                <a:solidFill>
                  <a:srgbClr val="17364A"/>
                </a:solidFill>
                <a:latin typeface="Aptos" pitchFamily="34" charset="0"/>
                <a:ea typeface="Aptos" pitchFamily="34" charset="-122"/>
                <a:cs typeface="Aptos" pitchFamily="34" charset="-120"/>
              </a:rPr>
              <a:t>A single count may be difficult to interpret without knowing whether it is higher than expected for.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staff review large volumes of data and prioritize signals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2100" dirty="0"/>
          </a:p>
          <a:p>
            <a:r>
              <a:rPr lang="en-US" sz="2100" dirty="0">
                <a:solidFill>
                  <a:srgbClr val="17364A"/>
                </a:solidFill>
                <a:latin typeface="Aptos" pitchFamily="34" charset="0"/>
                <a:ea typeface="Aptos" pitchFamily="34" charset="-122"/>
                <a:cs typeface="Aptos" pitchFamily="34" charset="-120"/>
              </a:rPr>
              <a:t>The system may flag a county when visits exceed the expected range for that day and season.</a:t>
            </a:r>
            <a:endParaRPr lang="en-US" sz="2100" dirty="0"/>
          </a:p>
          <a:p>
            <a:r>
              <a:rPr lang="en-US" sz="2100" dirty="0">
                <a:solidFill>
                  <a:srgbClr val="17364A"/>
                </a:solidFill>
                <a:latin typeface="Aptos" pitchFamily="34" charset="0"/>
                <a:ea typeface="Aptos" pitchFamily="34" charset="-122"/>
                <a:cs typeface="Aptos" pitchFamily="34" charset="-120"/>
              </a:rPr>
              <a:t>The alert could prompt review of age groups, facilities, diagnosis text, lab data, school absenteeism,.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2100" dirty="0"/>
          </a:p>
          <a:p>
            <a:r>
              <a:rPr lang="en-US" sz="2100" dirty="0">
                <a:solidFill>
                  <a:srgbClr val="17364A"/>
                </a:solidFill>
                <a:latin typeface="Aptos" pitchFamily="34" charset="0"/>
                <a:ea typeface="Aptos" pitchFamily="34" charset="-122"/>
                <a:cs typeface="Aptos" pitchFamily="34" charset="-120"/>
              </a:rPr>
              <a:t>A baseline may use several prior weeks, several prior years, a regression model, seasonal.</a:t>
            </a:r>
            <a:endParaRPr lang="en-US" sz="2100" dirty="0"/>
          </a:p>
          <a:p>
            <a:r>
              <a:rPr lang="en-US" sz="2100" dirty="0">
                <a:solidFill>
                  <a:srgbClr val="17364A"/>
                </a:solidFill>
                <a:latin typeface="Aptos" pitchFamily="34" charset="0"/>
                <a:ea typeface="Aptos" pitchFamily="34" charset="-122"/>
                <a:cs typeface="Aptos" pitchFamily="34" charset="-120"/>
              </a:rPr>
              <a:t>The baseline should match the public health question.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methods vary in complexity.</a:t>
            </a:r>
            <a:endParaRPr lang="en-US" sz="2100" dirty="0"/>
          </a:p>
          <a:p>
            <a:r>
              <a:rPr lang="en-US" sz="2100" dirty="0">
                <a:solidFill>
                  <a:srgbClr val="17364A"/>
                </a:solidFill>
                <a:latin typeface="Aptos" pitchFamily="34" charset="0"/>
                <a:ea typeface="Aptos" pitchFamily="34" charset="-122"/>
                <a:cs typeface="Aptos" pitchFamily="34" charset="-120"/>
              </a:rPr>
              <a:t>Simple methods may compare counts to moving averages or standard deviations.</a:t>
            </a:r>
            <a:endParaRPr lang="en-US" sz="2100" dirty="0"/>
          </a:p>
          <a:p>
            <a:r>
              <a:rPr lang="en-US" sz="2100" dirty="0">
                <a:solidFill>
                  <a:srgbClr val="17364A"/>
                </a:solidFill>
                <a:latin typeface="Aptos" pitchFamily="34" charset="0"/>
                <a:ea typeface="Aptos" pitchFamily="34" charset="-122"/>
                <a:cs typeface="Aptos" pitchFamily="34" charset="-120"/>
              </a:rPr>
              <a:t>More advanced methods may use regression, Bayesian approaches, control charts, machine learning,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methods vary in complexity.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artifacts.</a:t>
            </a:r>
            <a:endParaRPr lang="en-US" sz="2100" dirty="0"/>
          </a:p>
          <a:p>
            <a:r>
              <a:rPr lang="en-US" sz="2100" dirty="0">
                <a:solidFill>
                  <a:srgbClr val="17364A"/>
                </a:solidFill>
                <a:latin typeface="Aptos" pitchFamily="34" charset="0"/>
                <a:ea typeface="Aptos" pitchFamily="34" charset="-122"/>
                <a:cs typeface="Aptos" pitchFamily="34" charset="-120"/>
              </a:rPr>
              <a:t>Feed failures, delayed batches, or coding changes can trigger false alerts.</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quality checks, feed monitoring, and partner change logs.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artifacts.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emerging events.</a:t>
            </a:r>
            <a:endParaRPr lang="en-US" sz="2100" dirty="0"/>
          </a:p>
          <a:p>
            <a:r>
              <a:rPr lang="en-US" sz="2100" dirty="0">
                <a:solidFill>
                  <a:srgbClr val="17364A"/>
                </a:solidFill>
                <a:latin typeface="Aptos" pitchFamily="34" charset="0"/>
                <a:ea typeface="Aptos" pitchFamily="34" charset="-122"/>
                <a:cs typeface="Aptos" pitchFamily="34" charset="-120"/>
              </a:rPr>
              <a:t>Overly conservative thresholds may miss early signals.</a:t>
            </a:r>
            <a:endParaRPr lang="en-US" sz="2100" dirty="0"/>
          </a:p>
          <a:p>
            <a:r>
              <a:rPr lang="en-US" sz="2100" dirty="0">
                <a:solidFill>
                  <a:srgbClr val="17364A"/>
                </a:solidFill>
                <a:latin typeface="Aptos" pitchFamily="34" charset="0"/>
                <a:ea typeface="Aptos" pitchFamily="34" charset="-122"/>
                <a:cs typeface="Aptos" pitchFamily="34" charset="-120"/>
              </a:rPr>
              <a:t>Guardrails include multiple indicators, sensitivity review, and escalation pathways for staff concerns.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emerging events.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signal review, but it should include uncertainty and source indicators.</a:t>
            </a:r>
            <a:endParaRPr lang="en-US" sz="2100" dirty="0"/>
          </a:p>
          <a:p>
            <a:r>
              <a:rPr lang="en-US" sz="2100" dirty="0">
                <a:solidFill>
                  <a:srgbClr val="17364A"/>
                </a:solidFill>
                <a:latin typeface="Aptos" pitchFamily="34" charset="0"/>
                <a:ea typeface="Aptos" pitchFamily="34" charset="-122"/>
                <a:cs typeface="Aptos" pitchFamily="34" charset="-120"/>
              </a:rPr>
              <a:t>Agentic workflows may route alerts or create tasks, but those actions should be limited to defined.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2100" dirty="0"/>
          </a:p>
          <a:p>
            <a:r>
              <a:rPr lang="en-US" sz="2100" dirty="0">
                <a:solidFill>
                  <a:srgbClr val="17364A"/>
                </a:solidFill>
                <a:latin typeface="Aptos" pitchFamily="34" charset="0"/>
                <a:ea typeface="Aptos" pitchFamily="34" charset="-122"/>
                <a:cs typeface="Aptos" pitchFamily="34" charset="-120"/>
              </a:rPr>
              <a:t>What baseline is appropriate for the condition, data source, and decision?</a:t>
            </a:r>
            <a:endParaRPr lang="en-US" sz="2100" dirty="0"/>
          </a:p>
          <a:p>
            <a:r>
              <a:rPr lang="en-US" sz="2100" dirty="0">
                <a:solidFill>
                  <a:srgbClr val="17364A"/>
                </a:solidFill>
                <a:latin typeface="Aptos" pitchFamily="34" charset="0"/>
                <a:ea typeface="Aptos" pitchFamily="34" charset="-122"/>
                <a:cs typeface="Aptos" pitchFamily="34" charset="-120"/>
              </a:rPr>
              <a:t>Which reporting artifacts could create false signals?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threshold balances early detection and alert fatigue?</a:t>
            </a:r>
            <a:endParaRPr lang="en-US" sz="2100" dirty="0"/>
          </a:p>
          <a:p>
            <a:r>
              <a:rPr lang="en-US" sz="2100" dirty="0">
                <a:solidFill>
                  <a:srgbClr val="17364A"/>
                </a:solidFill>
                <a:latin typeface="Aptos" pitchFamily="34" charset="0"/>
                <a:ea typeface="Aptos" pitchFamily="34" charset="-122"/>
                <a:cs typeface="Aptos" pitchFamily="34" charset="-120"/>
              </a:rPr>
              <a:t>How will staff document review, decisions, and lessons learned?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threshold balances early detection and alert fatigue?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2100" dirty="0"/>
          </a:p>
          <a:p>
            <a:r>
              <a:rPr lang="en-US" sz="2100" dirty="0">
                <a:solidFill>
                  <a:srgbClr val="17364A"/>
                </a:solidFill>
                <a:latin typeface="Aptos" pitchFamily="34" charset="0"/>
                <a:ea typeface="Aptos" pitchFamily="34" charset="-122"/>
                <a:cs typeface="Aptos" pitchFamily="34" charset="-120"/>
              </a:rPr>
              <a:t>Include the monitored indicator, data source, update frequency, baseline approach, known reporting.</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how staff will distinguish statistical anomalies from data quality issues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Signal documentation template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Signal documentation template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anomaly in a public health time series?</a:t>
            </a:r>
            <a:endParaRPr lang="en-US" sz="2100" dirty="0"/>
          </a:p>
          <a:p>
            <a:r>
              <a:rPr lang="en-US" sz="2100" dirty="0">
                <a:solidFill>
                  <a:srgbClr val="17364A"/>
                </a:solidFill>
                <a:latin typeface="Aptos" pitchFamily="34" charset="0"/>
                <a:ea typeface="Aptos" pitchFamily="34" charset="-122"/>
                <a:cs typeface="Aptos" pitchFamily="34" charset="-120"/>
              </a:rPr>
              <a:t>2. Why does seasonality matter?</a:t>
            </a:r>
            <a:endParaRPr lang="en-US" sz="2100" dirty="0"/>
          </a:p>
          <a:p>
            <a:r>
              <a:rPr lang="en-US" sz="2100" dirty="0">
                <a:solidFill>
                  <a:srgbClr val="17364A"/>
                </a:solidFill>
                <a:latin typeface="Aptos" pitchFamily="34" charset="0"/>
                <a:ea typeface="Aptos" pitchFamily="34" charset="-122"/>
                <a:cs typeface="Aptos" pitchFamily="34" charset="-120"/>
              </a:rPr>
              <a:t>3. What is a common risk of too many low-value alerts?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anomaly in a public health time series?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National Syndromic Surveillance Program: https://www.cdc.gov/nssp/</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National Syndromic Surveillance Program: https://www.cdc.gov/nssp/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2026-07-12T20:15:59Z</dcterms:created>
  <dcterms:modified xsi:type="dcterms:W3CDTF">2026-07-12T20:15:59Z</dcterms:modified>
</cp:coreProperties>
</file>