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slideMasters/slideMaster15.xml" ContentType="application/vnd.openxmlformats-officedocument.presentationml.slideMaster+xml"/>
  <Override PartName="/ppt/slides/slide15.xml" ContentType="application/vnd.openxmlformats-officedocument.presentationml.slide+xml"/>
  <Override PartName="/ppt/slideMasters/slideMaster16.xml" ContentType="application/vnd.openxmlformats-officedocument.presentationml.slideMaster+xml"/>
  <Override PartName="/ppt/slides/slide16.xml" ContentType="application/vnd.openxmlformats-officedocument.presentationml.slide+xml"/>
  <Override PartName="/ppt/slideMasters/slideMaster17.xml" ContentType="application/vnd.openxmlformats-officedocument.presentationml.slideMaster+xml"/>
  <Override PartName="/ppt/slides/slide17.xml" ContentType="application/vnd.openxmlformats-officedocument.presentationml.slide+xml"/>
  <Override PartName="/ppt/slideMasters/slideMaster18.xml" ContentType="application/vnd.openxmlformats-officedocument.presentationml.slideMaster+xml"/>
  <Override PartName="/ppt/slides/slide18.xml" ContentType="application/vnd.openxmlformats-officedocument.presentationml.slide+xml"/>
  <Override PartName="/ppt/slideMasters/slideMaster19.xml" ContentType="application/vnd.openxmlformats-officedocument.presentationml.slideMaster+xml"/>
  <Override PartName="/ppt/slides/slide19.xml" ContentType="application/vnd.openxmlformats-officedocument.presentationml.slide+xml"/>
  <Override PartName="/ppt/slideMasters/slideMaster20.xml" ContentType="application/vnd.openxmlformats-officedocument.presentationml.slideMaster+xml"/>
  <Override PartName="/ppt/slides/slide20.xml" ContentType="application/vnd.openxmlformats-officedocument.presentationml.slide+xml"/>
  <Override PartName="/ppt/slideMasters/slideMaster21.xml" ContentType="application/vnd.openxmlformats-officedocument.presentationml.slideMaster+xml"/>
  <Override PartName="/ppt/slides/slide21.xml" ContentType="application/vnd.openxmlformats-officedocument.presentationml.slide+xml"/>
  <Override PartName="/ppt/slideMasters/slideMaster22.xml" ContentType="application/vnd.openxmlformats-officedocument.presentationml.slideMaster+xml"/>
  <Override PartName="/ppt/slides/slide22.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 id="277" r:id="rId23"/>
  </p:sldIdLst>
  <p:notesMasterIdLst>
    <p:notesMasterId r:id="rId24"/>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slide" Target="slides/slide19.xml"/><Relationship Id="rId21" Type="http://schemas.openxmlformats.org/officeDocument/2006/relationships/slide" Target="slides/slide20.xml"/><Relationship Id="rId22" Type="http://schemas.openxmlformats.org/officeDocument/2006/relationships/slide" Target="slides/slide21.xml"/><Relationship Id="rId23" Type="http://schemas.openxmlformats.org/officeDocument/2006/relationships/slide" Target="slides/slide22.xml"/><Relationship Id="rId24" Type="http://schemas.openxmlformats.org/officeDocument/2006/relationships/notesMaster" Target="notesMasters/notesMaster1.xml"/><Relationship Id="rId25" Type="http://schemas.openxmlformats.org/officeDocument/2006/relationships/presProps" Target="presProps.xml"/><Relationship Id="rId26" Type="http://schemas.openxmlformats.org/officeDocument/2006/relationships/viewProps" Target="viewProps.xml"/><Relationship Id="rId27" Type="http://schemas.openxmlformats.org/officeDocument/2006/relationships/theme" Target="theme/theme1.xml"/><Relationship Id="rId28"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_rels/notesSlide1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xml"/>
		</Relationships>
</file>

<file path=ppt/notesSlides/_rels/notesSlide1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7.xml"/>
		</Relationships>
</file>

<file path=ppt/notesSlides/_rels/notesSlide1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8.xml"/>
		</Relationships>
</file>

<file path=ppt/notesSlides/_rels/notesSlide1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9.xml"/>
		</Relationships>
</file>

<file path=ppt/notesSlides/_rels/notesSlide2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0.xml"/>
		</Relationships>
</file>

<file path=ppt/notesSlides/_rels/notesSlide2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1.xml"/>
		</Relationships>
</file>

<file path=ppt/notesSlides/_rels/notesSlide2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2.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EXE 460 AI Governance Board Chair Training
This module focuses on running governance meetings, documenting decisions, and managing risk escalation. It is designed for public health staff who must translate responsible AI principles into repeatable decisions, documents, workflows, and oversight practices. The module helps learners move beyond general awareness by producing a practical artifact that can be used in governance review, implementation planning, operations, communication, or accountability. It emphasizes paragraph-based reasoning, defined responsibilities, and documentation that can withstand public health, legal, privacy, equity, and leadership review.</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Module Context
Level: advanced/leadership
Primary track: Public Health Executive Leadership Track
Appears in tracks: public-health-executive-leadership, governance-security, program-management
This module focuses on running governance meetings, documenting decisions, and managing risk escalation. It is designed for public health staff who must translate responsible AI principles into repeatable decisions, documents, workflows, and oversight practices. The module helps learners move beyond general awareness by producing a practical artifact that can be used in governance review, implementation planning, operations, communication, or accountability. It emphasizes paragraph-based reasoning, defined responsibilities, and documentation that can withstand public health, legal, privacy, equity, and leadership review.</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Related Playbook Plays
Play 11: Build and Deploy AI Solutions - This lesson informs Play 11 by helping learners connect the lesson topic to build and deploy ai solutions work in the AI Playbook.
Play 1: Vision &amp; Guardrails - This lesson informs Play 1 by helping learners connect the lesson topic to vision &amp; guardrails work in the AI Playbook sequence.
Play 2: Readiness Assessment - This lesson informs Play 2 by helping learners connect the lesson topic to readiness assessment work in the AI Playbook sequence.
Play 3: Establish AI Governance - This lesson informs Play 3 by helping learners connect the lesson topic to establish ai governance work in the AI Playbook sequence.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Related Toolkit Resources
Tool 1: AI Vision &amp; Principles Workshop (Workshop) - Use AI Vision &amp; Principles Workshop to translate this lesson into a documented public health AI planning, governance,.
Tool 4: AI Policy Landscape Scan (Worksheet) - Use AI Policy Landscape Scan to translate this lesson into a documented public health AI planning, governance, implementation,.
Tool 5: AI Environmental and Resource Impact Review (Checklist) - Use AI Environmental and Resource Impact Review to translate this lesson into a documented public health AI planning,.
Tool 6: Human-Centered AI Decision Rule Checklist (Checklist) - Use Human-Centered AI Decision Rule Checklist to translate this lesson into a documented public health AI planning, governance,.
Tool 8: AI Project Charter (Planning) - Use AI Project Charter to translate this lesson into a documented public health AI planning, governance, implementation, or.
Tool 9: Data Quality Assessment Checklist (Checklist) - Use this tool to complete or strengthen the practical exercise for the module using fictional, de-identified, or generalized.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Learning Objectives
Explain the purpose of ai governance board chair training in public health AI.
Identify the roles, decisions, risks, and documentation needed for the topic.
Apply the topic to a real or realistic public health workflow or decision.
Recognize equity, privacy, security, legal, operational, and public trust implications.
Produce a practical artifact that supports readiness, governance, implementation, monitoring, or accountability.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Module Overview
This module focuses on running governance meetings, documenting decisions, and managing risk escalation. It is designed for public health staff who must translate responsible AI principles into repeatable decisions, documents, workflows, and oversight practices.
The module helps learners move beyond general awareness by producing a practical artifact that can be used in governance review, implementation planning, operations, communication, or accountability. It emphasizes paragraph-based reasoning, defined responsibilities, and documentation that can withstand public health, legal, privacy, equity, and leadership review.</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Definitions
Decision right: The authority to approve, deny, modify, pause, or escalate an AI use case or operational decision.
Evidence artifact: A document, log, checklist, test result, approval record, or review note that demonstrates responsible AI practice.
Escalation pathway: A defined route for raising concerns to the appropriate reviewer or decision-maker.
Accountability owner: The person or role responsible for ensuring that an AI use case is governed, monitored, and corrected when needed.
Operational safeguard: A procedure, control, or review step that reduces risk during day-to-day use.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Jurisdiction and Agency Policy Note
This module provides national-level training guidance for public health agencies and partners. It is not legal advice and does not replace review by agency legal counsel, privacy officers, procurement officials, civil rights staff, records officers, or other authorized decision-makers. Requirements may vary by state, locality, territory, Tribe, agency, funding source, data-sharing agreement, emergency authority, and organizational policy. Learners should use this module to identify the issues that require review and should confirm applicable requirements before approving, procuring, deploying, or publicly communicating about AI-supported work.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Why This Topic Matters for Public Health AI
AI Governance Board Chair Training matters because AI adoption changes how public health agencies make, document, communicate, and review decisions. Without a structured approach, staff may rely on informal practices, vendor assurances, or one-time approvals that do not match the operational consequences of AI-supported work.
Public health agencies operate under legal authorities, public accountability, resource constraints, and community trust obligations. A module on this topic helps agencies define repeatable expectations before urgent situations arise. It also helps staff distinguish low-risk administrative support from uses that affect surveillance, public communications, field response, resource allocation, civil rights, privacy, or official records.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Public Health Example
A public health agency is preparing to use AI in a workflow related to running governance meetings, documenting decisions, and managing risk escalation. The project team initially treats the tool as a helpful efficiency aid, but governance reviewers recognize that the workflow may affect public trust, equity, official records, or public health action.
The agency responds by creating a clear artifact that defines intended use, prohibited use, responsible roles, review points, documentation expectations, escalation triggers, and monitoring measures. This converts a broad AI idea into a manageable public health practice.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Topic Deep Dive
The first step in this topic is to define the decision or workflow clearly. Staff should identify who is affected, what data are used, what AI output is produced, who reviews the output, and what action may follow. This prevents the module from becoming abstract and anchors the work in public health practice.
The second step is to assign responsibilities. AI-supported workflows often cross program, IT, legal, privacy, communications, procurement, and leadership boundaries. Responsibilities should be named by role rather than assumed. The artifact should specify who prepares materials, who reviews risks, who approves use, who monitors performance, and who can pause or revise the workflow.
The third step is to define evidence. Responsible AI depends on more than policy statements. Agencies need records that show what was reviewed, what decisions were made, what safeguards were applied, what incidents occurred, and how the workflow changed over time. Evidence also supports audits, public records review, quality improvement, and leadership accountability.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Risks, Failure Modes, and Guardrails
A common failure mode is treating the topic as a one-time checklist. AI risks can change when data sources, models, vendors, policies, users, or public expectations change. A guardrail is to define review intervals and change triggers.
Another failure mode is unclear ownership. When everyone is responsible in general, no one may be responsible in practice. A guardrail is to assign an accountability owner and name escalation pathways.
A third failure mode is relying on vendor claims or informal staff confidence without documentation. A guardrail is to require evidence artifacts that can be reviewed by governance, leadership, privacy, legal, equity, security, or program teams.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Application to AI-Supported Workflows
This topic applies across generative AI, predictive analytics, NLP, RAG, automation, and agentic workflows. The more sensitive the data, the more consequential the output, or the more automated the action, the stronger the documentation, review, and monitoring expectations should be.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Reflection Questions
What public health decision or workflow does this topic affect?
Who has authority to approve or pause the work?
What evidence would show that the workflow is responsible and effective?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Reflection Questions
What equity, privacy, legal, security, or public trust risks require review?
How will the agency know when the workflow needs to be revised?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Practical Exercise
Create a practical ai governance board chair training artifact for one AI-supported public health use case. The artifact should define the use case, affected roles, review criteria, safeguards, documentation expectations, escalation triggers, monitoring indicators, and next review date.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Expected Artifact or Evidence
AI Governance Board Chair Training artifact
Role and responsibility table
Risk and safeguard summary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Expected Artifact or Evidence
Escalation and monitoring plan
Approval or review note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Expected Assignment
AI Governance Board Chair Training artifact
Role and responsibility table
Risk and safeguard summary
Escalation and monitoring plan
Approval or review note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Knowledge Check
1. What is the strongest evidence that ai governance board chair training has been applied responsibly?
2. What is the best reason to assign an accountability owner?
3. When should an AI-supported workflow be escalated for review?
4. Which practice best supports public accountability?
5. What should happen when data sources, policy, vendor configuration, or workflow use changes?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References and Resources
CDC Public Health Data Strategy and Data Modernization resources: https://www.cdc.gov/public-health-data-strategy/php/about/index.html
NIST Artificial Intelligence Risk Management Framework and NIST Generative AI Profile: https://www.nist.gov/publications/artificial-intelligence-risk-management-framework-generative-artificial-intelligence
WHO Ethics and Governance of Artificial Intelligence for Health guidance: https://www.who.int/publications/i/item/9789240029200
OWASP Top 10 for Large Language Model Applications: https://owasp.org/www-project-top-10-for-large-language-model-applications/
ONC health IT, interoperability, and information blocking resources: https://www.healthit.gov/</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References and Resources
Agency policies for privacy, public records, cybersecurity, procurement, civil rights, accessibility, language access, and emergency communications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22</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image" Target="../media/image-1-1.png"/><Relationship Id="rId2" Type="http://schemas.openxmlformats.org/officeDocument/2006/relationships/slideLayout" Target="../slideLayouts/slideLayout1.xml"/><Relationship Id="rId3"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1.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2.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0" y="0"/>
            <a:ext cx="12191695" cy="6858000"/>
          </a:xfrm>
          <a:prstGeom prst="rect">
            <a:avLst/>
          </a:prstGeom>
          <a:solidFill>
            <a:srgbClr val="F7FBFD"/>
          </a:solidFill>
          <a:ln w="12700">
            <a:solidFill>
              <a:srgbClr val="F7FBFD"/>
            </a:solidFill>
            <a:prstDash val="solid"/>
          </a:ln>
        </p:spPr>
      </p:sp>
      <p:pic>
        <p:nvPicPr>
          <p:cNvPr id="3" name="Image 0" descr="C:\Users\paula\Documents\Codex\2026-06-30\files-mentioned-by-the-user-ai\outputs\ai-playbook-site\assets\ai-playbook-logo-public-health.png">    </p:cNvPr>
          <p:cNvPicPr>
            <a:picLocks noChangeAspect="1"/>
          </p:cNvPicPr>
          <p:nvPr/>
        </p:nvPicPr>
        <p:blipFill>
          <a:blip r:embed="rId1"/>
          <a:stretch>
            <a:fillRect/>
          </a:stretch>
        </p:blipFill>
        <p:spPr>
          <a:xfrm>
            <a:off x="713232" y="566928"/>
            <a:ext cx="1353312" cy="1353312"/>
          </a:xfrm>
          <a:prstGeom prst="rect">
            <a:avLst/>
          </a:prstGeom>
        </p:spPr>
      </p:pic>
      <p:sp>
        <p:nvSpPr>
          <p:cNvPr id="4" name="Shape 1"/>
          <p:cNvSpPr/>
          <p:nvPr/>
        </p:nvSpPr>
        <p:spPr>
          <a:xfrm>
            <a:off x="713232" y="2240280"/>
            <a:ext cx="10698480" cy="0"/>
          </a:xfrm>
          <a:prstGeom prst="line">
            <a:avLst/>
          </a:prstGeom>
          <a:noFill/>
          <a:ln w="25400">
            <a:solidFill>
              <a:srgbClr val="2F8A28"/>
            </a:solidFill>
            <a:prstDash val="solid"/>
          </a:ln>
        </p:spPr>
      </p:sp>
      <p:sp>
        <p:nvSpPr>
          <p:cNvPr id="5" name="Text 2"/>
          <p:cNvSpPr/>
          <p:nvPr/>
        </p:nvSpPr>
        <p:spPr>
          <a:xfrm>
            <a:off x="749808" y="2487168"/>
            <a:ext cx="2926080" cy="274320"/>
          </a:xfrm>
          <a:prstGeom prst="rect">
            <a:avLst/>
          </a:prstGeom>
          <a:noFill/>
          <a:ln/>
        </p:spPr>
        <p:txBody>
          <a:bodyPr wrap="square" lIns="0" tIns="0" rIns="0" bIns="0" rtlCol="0" anchor="ctr"/>
          <a:lstStyle/>
          <a:p>
            <a:pPr indent="0" marL="0">
              <a:buNone/>
            </a:pPr>
            <a:r>
              <a:rPr lang="en-US" sz="1400" b="1" dirty="0">
                <a:solidFill>
                  <a:srgbClr val="2F8A28"/>
                </a:solidFill>
                <a:latin typeface="Aptos" pitchFamily="34" charset="0"/>
                <a:ea typeface="Aptos" pitchFamily="34" charset="-122"/>
                <a:cs typeface="Aptos" pitchFamily="34" charset="-120"/>
              </a:rPr>
              <a:t>EXE 460</a:t>
            </a:r>
            <a:endParaRPr lang="en-US" sz="1400" dirty="0"/>
          </a:p>
        </p:txBody>
      </p:sp>
      <p:sp>
        <p:nvSpPr>
          <p:cNvPr id="6" name="Text 3"/>
          <p:cNvSpPr/>
          <p:nvPr/>
        </p:nvSpPr>
        <p:spPr>
          <a:xfrm>
            <a:off x="713232" y="2816352"/>
            <a:ext cx="10607040" cy="868680"/>
          </a:xfrm>
          <a:prstGeom prst="rect">
            <a:avLst/>
          </a:prstGeom>
          <a:noFill/>
          <a:ln/>
        </p:spPr>
        <p:txBody>
          <a:bodyPr wrap="square" lIns="0" tIns="0" rIns="0" bIns="0" rtlCol="0" anchor="ctr">
            <a:normAutofit/>
          </a:bodyPr>
          <a:lstStyle/>
          <a:p>
            <a:pPr indent="0" marL="0">
              <a:buNone/>
            </a:pPr>
            <a:r>
              <a:rPr lang="en-US" sz="3200" b="1" dirty="0">
                <a:solidFill>
                  <a:srgbClr val="003A63"/>
                </a:solidFill>
                <a:latin typeface="Aptos Display" pitchFamily="34" charset="0"/>
                <a:ea typeface="Aptos Display" pitchFamily="34" charset="-122"/>
                <a:cs typeface="Aptos Display" pitchFamily="34" charset="-120"/>
              </a:rPr>
              <a:t>AI Governance Board Chair Training</a:t>
            </a:r>
            <a:endParaRPr lang="en-US" sz="3200" dirty="0"/>
          </a:p>
        </p:txBody>
      </p:sp>
      <p:sp>
        <p:nvSpPr>
          <p:cNvPr id="7" name="Text 4"/>
          <p:cNvSpPr/>
          <p:nvPr/>
        </p:nvSpPr>
        <p:spPr>
          <a:xfrm>
            <a:off x="749808" y="3968496"/>
            <a:ext cx="8686800" cy="320040"/>
          </a:xfrm>
          <a:prstGeom prst="rect">
            <a:avLst/>
          </a:prstGeom>
          <a:noFill/>
          <a:ln/>
        </p:spPr>
        <p:txBody>
          <a:bodyPr wrap="square" lIns="0" tIns="0" rIns="0" bIns="0" rtlCol="0" anchor="ctr"/>
          <a:lstStyle/>
          <a:p>
            <a:pPr indent="0" marL="0">
              <a:buNone/>
            </a:pPr>
            <a:r>
              <a:rPr lang="en-US" sz="1800" dirty="0">
                <a:solidFill>
                  <a:srgbClr val="17364A"/>
                </a:solidFill>
                <a:latin typeface="Aptos" pitchFamily="34" charset="0"/>
                <a:ea typeface="Aptos" pitchFamily="34" charset="-122"/>
                <a:cs typeface="Aptos" pitchFamily="34" charset="-120"/>
              </a:rPr>
              <a:t>AI Playbook and Toolkit for Public Health Departments</a:t>
            </a:r>
            <a:endParaRPr lang="en-US" sz="1800" dirty="0"/>
          </a:p>
        </p:txBody>
      </p:sp>
      <p:sp>
        <p:nvSpPr>
          <p:cNvPr id="8" name="Text 5"/>
          <p:cNvSpPr/>
          <p:nvPr/>
        </p:nvSpPr>
        <p:spPr>
          <a:xfrm>
            <a:off x="11137392" y="6510528"/>
            <a:ext cx="411480" cy="201168"/>
          </a:xfrm>
          <a:prstGeom prst="rect">
            <a:avLst/>
          </a:prstGeom>
          <a:noFill/>
          <a:ln/>
        </p:spPr>
        <p:txBody>
          <a:bodyPr wrap="square" lIns="0" tIns="0" rIns="0" bIns="0" rtlCol="0" anchor="ctr"/>
          <a:lstStyle/>
          <a:p>
            <a:pPr algn="r" indent="0" marL="0">
              <a:buNone/>
            </a:pPr>
            <a:r>
              <a:rPr lang="en-US" sz="900" dirty="0">
                <a:solidFill>
                  <a:srgbClr val="5F7181"/>
                </a:solidFill>
                <a:latin typeface="Aptos" pitchFamily="34" charset="0"/>
                <a:ea typeface="Aptos" pitchFamily="34" charset="-122"/>
                <a:cs typeface="Aptos" pitchFamily="34" charset="-120"/>
              </a:rPr>
              <a:t>1</a:t>
            </a:r>
            <a:endParaRPr lang="en-US" sz="9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bg>
      <p:bgPr>
        <a:solidFill>
          <a:srgbClr val="F7FBFD"/>
        </a:solidFill>
      </p:bgPr>
    </p:bg>
    <p:spTree>
      <p:nvGrpSpPr>
        <p:cNvPr id="1" name=""/>
        <p:cNvGrpSpPr/>
        <p:nvPr/>
      </p:nvGrpSpPr>
      <p:grpSpPr>
        <a:xfrm>
          <a:off x="0" y="0"/>
          <a:ext cx="0" cy="0"/>
          <a:chOff x="0" y="0"/>
          <a:chExt cx="0" cy="0"/>
        </a:xfrm>
      </p:grpSpPr>
      <p:sp>
        <p:nvSpPr>
          <p:cNvPr id="2" name="Shape 0"/>
          <p:cNvSpPr/>
          <p:nvPr/>
        </p:nvSpPr>
        <p:spPr>
          <a:xfrm>
            <a:off x="0" y="0"/>
            <a:ext cx="12191695" cy="164592"/>
          </a:xfrm>
          <a:prstGeom prst="rect">
            <a:avLst/>
          </a:prstGeom>
          <a:solidFill>
            <a:srgbClr val="0068B7"/>
          </a:solidFill>
          <a:ln w="12700">
            <a:solidFill>
              <a:srgbClr val="0068B7"/>
            </a:solidFill>
            <a:prstDash val="solid"/>
          </a:ln>
        </p:spPr>
      </p:sp>
      <p:sp>
        <p:nvSpPr>
          <p:cNvPr id="3" name="Shape 1"/>
          <p:cNvSpPr/>
          <p:nvPr/>
        </p:nvSpPr>
        <p:spPr>
          <a:xfrm>
            <a:off x="0" y="164592"/>
            <a:ext cx="146304" cy="6693408"/>
          </a:xfrm>
          <a:prstGeom prst="rect">
            <a:avLst/>
          </a:prstGeom>
          <a:solidFill>
            <a:srgbClr val="2F8A28"/>
          </a:solidFill>
          <a:ln w="12700">
            <a:solidFill>
              <a:srgbClr val="2F8A28"/>
            </a:solidFill>
            <a:prstDash val="solid"/>
          </a:ln>
        </p:spPr>
      </p:sp>
      <p:sp>
        <p:nvSpPr>
          <p:cNvPr id="4" name="Text 2"/>
          <p:cNvSpPr/>
          <p:nvPr/>
        </p:nvSpPr>
        <p:spPr>
          <a:xfrm>
            <a:off x="502920" y="292608"/>
            <a:ext cx="10149840" cy="256032"/>
          </a:xfrm>
          <a:prstGeom prst="rect">
            <a:avLst/>
          </a:prstGeom>
          <a:noFill/>
          <a:ln/>
        </p:spPr>
        <p:txBody>
          <a:bodyPr wrap="square" lIns="0" tIns="0" rIns="0" bIns="0" rtlCol="0" anchor="ctr"/>
          <a:lstStyle/>
          <a:p>
            <a:pPr indent="0" marL="0">
              <a:buNone/>
            </a:pPr>
            <a:r>
              <a:rPr lang="en-US" sz="900" b="1" dirty="0">
                <a:solidFill>
                  <a:srgbClr val="5F7181"/>
                </a:solidFill>
                <a:latin typeface="Aptos" pitchFamily="34" charset="0"/>
                <a:ea typeface="Aptos" pitchFamily="34" charset="-122"/>
                <a:cs typeface="Aptos" pitchFamily="34" charset="-120"/>
              </a:rPr>
              <a:t>AI Governance Board Chair Training</a:t>
            </a:r>
            <a:endParaRPr lang="en-US" sz="900" dirty="0"/>
          </a:p>
        </p:txBody>
      </p:sp>
      <p:sp>
        <p:nvSpPr>
          <p:cNvPr id="5" name="Text 3"/>
          <p:cNvSpPr/>
          <p:nvPr/>
        </p:nvSpPr>
        <p:spPr>
          <a:xfrm>
            <a:off x="502920" y="6537960"/>
            <a:ext cx="7772400" cy="201168"/>
          </a:xfrm>
          <a:prstGeom prst="rect">
            <a:avLst/>
          </a:prstGeom>
          <a:noFill/>
          <a:ln/>
        </p:spPr>
        <p:txBody>
          <a:bodyPr wrap="square" lIns="0" tIns="0" rIns="0" bIns="0" rtlCol="0" anchor="ctr"/>
          <a:lstStyle/>
          <a:p>
            <a:pPr indent="0" marL="0">
              <a:buNone/>
            </a:pPr>
            <a:r>
              <a:rPr lang="en-US" sz="800" dirty="0">
                <a:solidFill>
                  <a:srgbClr val="5F7181"/>
                </a:solidFill>
                <a:latin typeface="Aptos" pitchFamily="34" charset="0"/>
                <a:ea typeface="Aptos" pitchFamily="34" charset="-122"/>
                <a:cs typeface="Aptos" pitchFamily="34" charset="-120"/>
              </a:rPr>
              <a:t>AI Playbook and Toolkit for Public Health Departments</a:t>
            </a:r>
            <a:endParaRPr lang="en-US" sz="800" dirty="0"/>
          </a:p>
        </p:txBody>
      </p:sp>
      <p:sp>
        <p:nvSpPr>
          <p:cNvPr id="6" name="Text 4"/>
          <p:cNvSpPr/>
          <p:nvPr/>
        </p:nvSpPr>
        <p:spPr>
          <a:xfrm>
            <a:off x="9966960" y="6537960"/>
            <a:ext cx="1645920" cy="201168"/>
          </a:xfrm>
          <a:prstGeom prst="rect">
            <a:avLst/>
          </a:prstGeom>
          <a:noFill/>
          <a:ln/>
        </p:spPr>
        <p:txBody>
          <a:bodyPr wrap="square" lIns="0" tIns="0" rIns="0" bIns="0" rtlCol="0" anchor="ctr"/>
          <a:lstStyle/>
          <a:p>
            <a:pPr algn="r" indent="0" marL="0">
              <a:buNone/>
            </a:pPr>
            <a:r>
              <a:rPr lang="en-US" sz="800" dirty="0">
                <a:solidFill>
                  <a:srgbClr val="5F7181"/>
                </a:solidFill>
                <a:latin typeface="Aptos" pitchFamily="34" charset="0"/>
                <a:ea typeface="Aptos" pitchFamily="34" charset="-122"/>
                <a:cs typeface="Aptos" pitchFamily="34" charset="-120"/>
              </a:rPr>
              <a:t>Â© Paula Soper</a:t>
            </a:r>
            <a:endParaRPr lang="en-US" sz="800" dirty="0"/>
          </a:p>
        </p:txBody>
      </p:sp>
      <p:sp>
        <p:nvSpPr>
          <p:cNvPr id="7" name="Text 5"/>
          <p:cNvSpPr/>
          <p:nvPr/>
        </p:nvSpPr>
        <p:spPr>
          <a:xfrm>
            <a:off x="11137392" y="6510528"/>
            <a:ext cx="411480" cy="201168"/>
          </a:xfrm>
          <a:prstGeom prst="rect">
            <a:avLst/>
          </a:prstGeom>
          <a:noFill/>
          <a:ln/>
        </p:spPr>
        <p:txBody>
          <a:bodyPr wrap="square" lIns="0" tIns="0" rIns="0" bIns="0" rtlCol="0" anchor="ctr"/>
          <a:lstStyle/>
          <a:p>
            <a:pPr algn="r" indent="0" marL="0">
              <a:buNone/>
            </a:pPr>
            <a:r>
              <a:rPr lang="en-US" sz="900" dirty="0">
                <a:solidFill>
                  <a:srgbClr val="5F7181"/>
                </a:solidFill>
                <a:latin typeface="Aptos" pitchFamily="34" charset="0"/>
                <a:ea typeface="Aptos" pitchFamily="34" charset="-122"/>
                <a:cs typeface="Aptos" pitchFamily="34" charset="-120"/>
              </a:rPr>
              <a:t>2</a:t>
            </a:r>
            <a:endParaRPr lang="en-US" sz="900" dirty="0"/>
          </a:p>
        </p:txBody>
      </p:sp>
      <p:sp>
        <p:nvSpPr>
          <p:cNvPr id="8" name="Text 6"/>
          <p:cNvSpPr/>
          <p:nvPr/>
        </p:nvSpPr>
        <p:spPr>
          <a:xfrm>
            <a:off x="640080" y="658368"/>
            <a:ext cx="10881360" cy="713232"/>
          </a:xfrm>
          <a:prstGeom prst="rect">
            <a:avLst/>
          </a:prstGeom>
          <a:noFill/>
          <a:ln/>
        </p:spPr>
        <p:txBody>
          <a:bodyPr wrap="square" lIns="0" tIns="0" rIns="0" bIns="0" rtlCol="0" anchor="ctr">
            <a:normAutofit/>
          </a:bodyPr>
          <a:lstStyle/>
          <a:p>
            <a:pPr indent="0" marL="0">
              <a:buNone/>
            </a:pPr>
            <a:r>
              <a:rPr lang="en-US" sz="3400" b="1" dirty="0">
                <a:solidFill>
                  <a:srgbClr val="003A63"/>
                </a:solidFill>
                <a:latin typeface="Aptos Display" pitchFamily="34" charset="0"/>
                <a:ea typeface="Aptos Display" pitchFamily="34" charset="-122"/>
                <a:cs typeface="Aptos Display" pitchFamily="34" charset="-120"/>
              </a:rPr>
              <a:t>What this module helps you do</a:t>
            </a:r>
            <a:endParaRPr lang="en-US" sz="3400" dirty="0"/>
          </a:p>
        </p:txBody>
      </p:sp>
      <p:sp>
        <p:nvSpPr>
          <p:cNvPr id="9" name="Text 7"/>
          <p:cNvSpPr/>
          <p:nvPr/>
        </p:nvSpPr>
        <p:spPr>
          <a:xfrm>
            <a:off x="868680" y="1508760"/>
            <a:ext cx="6446520" cy="2926080"/>
          </a:xfrm>
          <a:prstGeom prst="rect">
            <a:avLst/>
          </a:prstGeom>
          <a:noFill/>
          <a:ln/>
        </p:spPr>
        <p:txBody>
          <a:bodyPr wrap="square" lIns="635" tIns="635" rIns="635" bIns="635" rtlCol="0" anchor="t">
            <a:normAutofit/>
          </a:bodyPr>
          <a:lstStyle/>
          <a:p>
            <a:r>
              <a:rPr lang="en-US" sz="2100" dirty="0">
                <a:solidFill>
                  <a:srgbClr val="17364A"/>
                </a:solidFill>
                <a:latin typeface="Aptos" pitchFamily="34" charset="0"/>
                <a:ea typeface="Aptos" pitchFamily="34" charset="-122"/>
                <a:cs typeface="Aptos" pitchFamily="34" charset="-120"/>
              </a:rPr>
              <a:t>This module focuses on running governance meetings, documenting decisions, and managing risk escalation.</a:t>
            </a:r>
            <a:endParaRPr lang="en-US" sz="2100" dirty="0"/>
          </a:p>
          <a:p>
            <a:r>
              <a:rPr lang="en-US" sz="2100" dirty="0">
                <a:solidFill>
                  <a:srgbClr val="17364A"/>
                </a:solidFill>
                <a:latin typeface="Aptos" pitchFamily="34" charset="0"/>
                <a:ea typeface="Aptos" pitchFamily="34" charset="-122"/>
                <a:cs typeface="Aptos" pitchFamily="34" charset="-120"/>
              </a:rPr>
              <a:t>It is designed for public health staff who must translate responsible AI principles into repeatable decisions,.</a:t>
            </a:r>
            <a:endParaRPr lang="en-US" sz="2100" dirty="0"/>
          </a:p>
          <a:p>
            <a:r>
              <a:rPr lang="en-US" sz="2100" dirty="0">
                <a:solidFill>
                  <a:srgbClr val="17364A"/>
                </a:solidFill>
                <a:latin typeface="Aptos" pitchFamily="34" charset="0"/>
                <a:ea typeface="Aptos" pitchFamily="34" charset="-122"/>
                <a:cs typeface="Aptos" pitchFamily="34" charset="-120"/>
              </a:rPr>
              <a:t>The module helps learners move beyond general awareness by producing a practical artifact that can be used in.</a:t>
            </a:r>
            <a:endParaRPr lang="en-US" sz="2100" dirty="0"/>
          </a:p>
        </p:txBody>
      </p:sp>
      <p:sp>
        <p:nvSpPr>
          <p:cNvPr id="10" name="Shape 8"/>
          <p:cNvSpPr/>
          <p:nvPr/>
        </p:nvSpPr>
        <p:spPr>
          <a:xfrm>
            <a:off x="7909560" y="1417320"/>
            <a:ext cx="3154680" cy="1920240"/>
          </a:xfrm>
          <a:prstGeom prst="roundRect">
            <a:avLst>
              <a:gd name="adj" fmla="val 5714"/>
            </a:avLst>
          </a:prstGeom>
          <a:solidFill>
            <a:srgbClr val="EAF6F8"/>
          </a:solidFill>
          <a:ln w="12700">
            <a:solidFill>
              <a:srgbClr val="B9D7E6"/>
            </a:solidFill>
            <a:prstDash val="solid"/>
          </a:ln>
        </p:spPr>
      </p:sp>
      <p:sp>
        <p:nvSpPr>
          <p:cNvPr id="11" name="Text 9"/>
          <p:cNvSpPr/>
          <p:nvPr/>
        </p:nvSpPr>
        <p:spPr>
          <a:xfrm>
            <a:off x="8074152" y="1563624"/>
            <a:ext cx="282549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Module details</a:t>
            </a:r>
            <a:endParaRPr lang="en-US" sz="1300" dirty="0"/>
          </a:p>
        </p:txBody>
      </p:sp>
      <p:sp>
        <p:nvSpPr>
          <p:cNvPr id="12" name="Text 10"/>
          <p:cNvSpPr/>
          <p:nvPr/>
        </p:nvSpPr>
        <p:spPr>
          <a:xfrm>
            <a:off x="8074152" y="1920240"/>
            <a:ext cx="2825496" cy="1280160"/>
          </a:xfrm>
          <a:prstGeom prst="rect">
            <a:avLst/>
          </a:prstGeom>
          <a:noFill/>
          <a:ln/>
        </p:spPr>
        <p:txBody>
          <a:bodyPr wrap="square" lIns="0" tIns="0" rIns="0" bIns="0" rtlCol="0" anchor="t">
            <a:normAutofit/>
          </a:bodyPr>
          <a:lstStyle/>
          <a:p>
            <a:pPr indent="0" marL="0">
              <a:buNone/>
            </a:pPr>
            <a:r>
              <a:rPr lang="en-US" sz="1550" dirty="0">
                <a:solidFill>
                  <a:srgbClr val="17364A"/>
                </a:solidFill>
                <a:latin typeface="Aptos" pitchFamily="34" charset="0"/>
                <a:ea typeface="Aptos" pitchFamily="34" charset="-122"/>
                <a:cs typeface="Aptos" pitchFamily="34" charset="-120"/>
              </a:rPr>
              <a:t>Level: advanced/leadership</a:t>
            </a:r>
            <a:endParaRPr lang="en-US" sz="1550" dirty="0"/>
          </a:p>
          <a:p>
            <a:pPr indent="0" marL="0">
              <a:buNone/>
            </a:pPr>
            <a:r>
              <a:rPr lang="en-US" sz="1550" dirty="0">
                <a:solidFill>
                  <a:srgbClr val="17364A"/>
                </a:solidFill>
                <a:latin typeface="Aptos" pitchFamily="34" charset="0"/>
                <a:ea typeface="Aptos" pitchFamily="34" charset="-122"/>
                <a:cs typeface="Aptos" pitchFamily="34" charset="-120"/>
              </a:rPr>
              <a:t>Primary track: Public Health Executive Leadership Track</a:t>
            </a:r>
            <a:endParaRPr lang="en-US" sz="1550" dirty="0"/>
          </a:p>
          <a:p>
            <a:pPr indent="0" marL="0">
              <a:buNone/>
            </a:pPr>
            <a:r>
              <a:rPr lang="en-US" sz="1550" dirty="0">
                <a:solidFill>
                  <a:srgbClr val="17364A"/>
                </a:solidFill>
                <a:latin typeface="Aptos" pitchFamily="34" charset="0"/>
                <a:ea typeface="Aptos" pitchFamily="34" charset="-122"/>
                <a:cs typeface="Aptos" pitchFamily="34" charset="-120"/>
              </a:rPr>
              <a:t>Appears in tracks: public-health-executive-leadership, governance-security, program-management</a:t>
            </a:r>
            <a:endParaRPr lang="en-US" sz="1550" dirty="0"/>
          </a:p>
        </p:txBody>
      </p:sp>
      <p:sp>
        <p:nvSpPr>
          <p:cNvPr id="13" name="Shape 11"/>
          <p:cNvSpPr/>
          <p:nvPr/>
        </p:nvSpPr>
        <p:spPr>
          <a:xfrm>
            <a:off x="7635240" y="3730752"/>
            <a:ext cx="1033272" cy="749808"/>
          </a:xfrm>
          <a:prstGeom prst="roundRect">
            <a:avLst>
              <a:gd name="adj" fmla="val 14634"/>
            </a:avLst>
          </a:prstGeom>
          <a:solidFill>
            <a:srgbClr val="0068B7"/>
          </a:solidFill>
          <a:ln w="12700">
            <a:solidFill>
              <a:srgbClr val="0068B7"/>
            </a:solidFill>
            <a:prstDash val="solid"/>
          </a:ln>
        </p:spPr>
      </p:sp>
      <p:sp>
        <p:nvSpPr>
          <p:cNvPr id="14" name="Text 12"/>
          <p:cNvSpPr/>
          <p:nvPr/>
        </p:nvSpPr>
        <p:spPr>
          <a:xfrm>
            <a:off x="7708392" y="3922776"/>
            <a:ext cx="886968" cy="310896"/>
          </a:xfrm>
          <a:prstGeom prst="rect">
            <a:avLst/>
          </a:prstGeom>
          <a:noFill/>
          <a:ln/>
        </p:spPr>
        <p:txBody>
          <a:bodyPr wrap="square" lIns="0" tIns="0" rIns="0" bIns="0" rtlCol="0" anchor="ctr">
            <a:normAutofit/>
          </a:bodyPr>
          <a:lstStyle/>
          <a:p>
            <a:pPr algn="ctr" indent="0" marL="0">
              <a:buNone/>
            </a:pPr>
            <a:r>
              <a:rPr lang="en-US" sz="1500" b="1" dirty="0">
                <a:solidFill>
                  <a:srgbClr val="FFFFFF"/>
                </a:solidFill>
                <a:latin typeface="Aptos" pitchFamily="34" charset="0"/>
                <a:ea typeface="Aptos" pitchFamily="34" charset="-122"/>
                <a:cs typeface="Aptos" pitchFamily="34" charset="-120"/>
              </a:rPr>
              <a:t>Learn</a:t>
            </a:r>
            <a:endParaRPr lang="en-US" sz="1500" dirty="0"/>
          </a:p>
        </p:txBody>
      </p:sp>
      <p:sp>
        <p:nvSpPr>
          <p:cNvPr id="15" name="Text 13"/>
          <p:cNvSpPr/>
          <p:nvPr/>
        </p:nvSpPr>
        <p:spPr>
          <a:xfrm>
            <a:off x="8695944" y="3941064"/>
            <a:ext cx="201168" cy="256032"/>
          </a:xfrm>
          <a:prstGeom prst="rect">
            <a:avLst/>
          </a:prstGeom>
          <a:noFill/>
          <a:ln/>
        </p:spPr>
        <p:txBody>
          <a:bodyPr wrap="square" lIns="0" tIns="0" rIns="0" bIns="0" rtlCol="0" anchor="ctr"/>
          <a:lstStyle/>
          <a:p>
            <a:pPr algn="ctr" indent="0" marL="0">
              <a:buNone/>
            </a:pPr>
            <a:r>
              <a:rPr lang="en-US" sz="1800" b="1" dirty="0">
                <a:solidFill>
                  <a:srgbClr val="0068B7"/>
                </a:solidFill>
                <a:latin typeface="Aptos" pitchFamily="34" charset="0"/>
                <a:ea typeface="Aptos" pitchFamily="34" charset="-122"/>
                <a:cs typeface="Aptos" pitchFamily="34" charset="-120"/>
              </a:rPr>
              <a:t>â†’</a:t>
            </a:r>
            <a:endParaRPr lang="en-US" sz="1800" dirty="0"/>
          </a:p>
        </p:txBody>
      </p:sp>
      <p:sp>
        <p:nvSpPr>
          <p:cNvPr id="16" name="Shape 14"/>
          <p:cNvSpPr/>
          <p:nvPr/>
        </p:nvSpPr>
        <p:spPr>
          <a:xfrm>
            <a:off x="8924544" y="3730752"/>
            <a:ext cx="1033272" cy="749808"/>
          </a:xfrm>
          <a:prstGeom prst="roundRect">
            <a:avLst>
              <a:gd name="adj" fmla="val 14634"/>
            </a:avLst>
          </a:prstGeom>
          <a:solidFill>
            <a:srgbClr val="2F8A28"/>
          </a:solidFill>
          <a:ln w="12700">
            <a:solidFill>
              <a:srgbClr val="2F8A28"/>
            </a:solidFill>
            <a:prstDash val="solid"/>
          </a:ln>
        </p:spPr>
      </p:sp>
      <p:sp>
        <p:nvSpPr>
          <p:cNvPr id="17" name="Text 15"/>
          <p:cNvSpPr/>
          <p:nvPr/>
        </p:nvSpPr>
        <p:spPr>
          <a:xfrm>
            <a:off x="8997696" y="3922776"/>
            <a:ext cx="886968" cy="310896"/>
          </a:xfrm>
          <a:prstGeom prst="rect">
            <a:avLst/>
          </a:prstGeom>
          <a:noFill/>
          <a:ln/>
        </p:spPr>
        <p:txBody>
          <a:bodyPr wrap="square" lIns="0" tIns="0" rIns="0" bIns="0" rtlCol="0" anchor="ctr">
            <a:normAutofit/>
          </a:bodyPr>
          <a:lstStyle/>
          <a:p>
            <a:pPr algn="ctr" indent="0" marL="0">
              <a:buNone/>
            </a:pPr>
            <a:r>
              <a:rPr lang="en-US" sz="1500" b="1" dirty="0">
                <a:solidFill>
                  <a:srgbClr val="FFFFFF"/>
                </a:solidFill>
                <a:latin typeface="Aptos" pitchFamily="34" charset="0"/>
                <a:ea typeface="Aptos" pitchFamily="34" charset="-122"/>
                <a:cs typeface="Aptos" pitchFamily="34" charset="-120"/>
              </a:rPr>
              <a:t>Apply</a:t>
            </a:r>
            <a:endParaRPr lang="en-US" sz="1500" dirty="0"/>
          </a:p>
        </p:txBody>
      </p:sp>
      <p:sp>
        <p:nvSpPr>
          <p:cNvPr id="18" name="Text 16"/>
          <p:cNvSpPr/>
          <p:nvPr/>
        </p:nvSpPr>
        <p:spPr>
          <a:xfrm>
            <a:off x="9985248" y="3941064"/>
            <a:ext cx="201168" cy="256032"/>
          </a:xfrm>
          <a:prstGeom prst="rect">
            <a:avLst/>
          </a:prstGeom>
          <a:noFill/>
          <a:ln/>
        </p:spPr>
        <p:txBody>
          <a:bodyPr wrap="square" lIns="0" tIns="0" rIns="0" bIns="0" rtlCol="0" anchor="ctr"/>
          <a:lstStyle/>
          <a:p>
            <a:pPr algn="ctr" indent="0" marL="0">
              <a:buNone/>
            </a:pPr>
            <a:r>
              <a:rPr lang="en-US" sz="1800" b="1" dirty="0">
                <a:solidFill>
                  <a:srgbClr val="0068B7"/>
                </a:solidFill>
                <a:latin typeface="Aptos" pitchFamily="34" charset="0"/>
                <a:ea typeface="Aptos" pitchFamily="34" charset="-122"/>
                <a:cs typeface="Aptos" pitchFamily="34" charset="-120"/>
              </a:rPr>
              <a:t>â†’</a:t>
            </a:r>
            <a:endParaRPr lang="en-US" sz="1800" dirty="0"/>
          </a:p>
        </p:txBody>
      </p:sp>
      <p:sp>
        <p:nvSpPr>
          <p:cNvPr id="19" name="Shape 17"/>
          <p:cNvSpPr/>
          <p:nvPr/>
        </p:nvSpPr>
        <p:spPr>
          <a:xfrm>
            <a:off x="10213848" y="3730752"/>
            <a:ext cx="1033272" cy="749808"/>
          </a:xfrm>
          <a:prstGeom prst="roundRect">
            <a:avLst>
              <a:gd name="adj" fmla="val 14634"/>
            </a:avLst>
          </a:prstGeom>
          <a:solidFill>
            <a:srgbClr val="6A4CA3"/>
          </a:solidFill>
          <a:ln w="12700">
            <a:solidFill>
              <a:srgbClr val="6A4CA3"/>
            </a:solidFill>
            <a:prstDash val="solid"/>
          </a:ln>
        </p:spPr>
      </p:sp>
      <p:sp>
        <p:nvSpPr>
          <p:cNvPr id="20" name="Text 18"/>
          <p:cNvSpPr/>
          <p:nvPr/>
        </p:nvSpPr>
        <p:spPr>
          <a:xfrm>
            <a:off x="10287000" y="3922776"/>
            <a:ext cx="886968" cy="310896"/>
          </a:xfrm>
          <a:prstGeom prst="rect">
            <a:avLst/>
          </a:prstGeom>
          <a:noFill/>
          <a:ln/>
        </p:spPr>
        <p:txBody>
          <a:bodyPr wrap="square" lIns="0" tIns="0" rIns="0" bIns="0" rtlCol="0" anchor="ctr">
            <a:normAutofit/>
          </a:bodyPr>
          <a:lstStyle/>
          <a:p>
            <a:pPr algn="ctr" indent="0" marL="0">
              <a:buNone/>
            </a:pPr>
            <a:r>
              <a:rPr lang="en-US" sz="1500" b="1" dirty="0">
                <a:solidFill>
                  <a:srgbClr val="FFFFFF"/>
                </a:solidFill>
                <a:latin typeface="Aptos" pitchFamily="34" charset="0"/>
                <a:ea typeface="Aptos" pitchFamily="34" charset="-122"/>
                <a:cs typeface="Aptos" pitchFamily="34" charset="-120"/>
              </a:rPr>
              <a:t>Document</a:t>
            </a:r>
            <a:endParaRPr lang="en-US" sz="1500"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bg>
      <p:bgPr>
        <a:solidFill>
          <a:srgbClr val="F7FBFD"/>
        </a:solidFill>
      </p:bgPr>
    </p:bg>
    <p:spTree>
      <p:nvGrpSpPr>
        <p:cNvPr id="1" name=""/>
        <p:cNvGrpSpPr/>
        <p:nvPr/>
      </p:nvGrpSpPr>
      <p:grpSpPr>
        <a:xfrm>
          <a:off x="0" y="0"/>
          <a:ext cx="0" cy="0"/>
          <a:chOff x="0" y="0"/>
          <a:chExt cx="0" cy="0"/>
        </a:xfrm>
      </p:grpSpPr>
      <p:sp>
        <p:nvSpPr>
          <p:cNvPr id="2" name="Shape 0"/>
          <p:cNvSpPr/>
          <p:nvPr/>
        </p:nvSpPr>
        <p:spPr>
          <a:xfrm>
            <a:off x="0" y="0"/>
            <a:ext cx="12191695" cy="164592"/>
          </a:xfrm>
          <a:prstGeom prst="rect">
            <a:avLst/>
          </a:prstGeom>
          <a:solidFill>
            <a:srgbClr val="0068B7"/>
          </a:solidFill>
          <a:ln w="12700">
            <a:solidFill>
              <a:srgbClr val="0068B7"/>
            </a:solidFill>
            <a:prstDash val="solid"/>
          </a:ln>
        </p:spPr>
      </p:sp>
      <p:sp>
        <p:nvSpPr>
          <p:cNvPr id="3" name="Shape 1"/>
          <p:cNvSpPr/>
          <p:nvPr/>
        </p:nvSpPr>
        <p:spPr>
          <a:xfrm>
            <a:off x="0" y="164592"/>
            <a:ext cx="146304" cy="6693408"/>
          </a:xfrm>
          <a:prstGeom prst="rect">
            <a:avLst/>
          </a:prstGeom>
          <a:solidFill>
            <a:srgbClr val="2F8A28"/>
          </a:solidFill>
          <a:ln w="12700">
            <a:solidFill>
              <a:srgbClr val="2F8A28"/>
            </a:solidFill>
            <a:prstDash val="solid"/>
          </a:ln>
        </p:spPr>
      </p:sp>
      <p:sp>
        <p:nvSpPr>
          <p:cNvPr id="4" name="Text 2"/>
          <p:cNvSpPr/>
          <p:nvPr/>
        </p:nvSpPr>
        <p:spPr>
          <a:xfrm>
            <a:off x="502920" y="292608"/>
            <a:ext cx="10149840" cy="256032"/>
          </a:xfrm>
          <a:prstGeom prst="rect">
            <a:avLst/>
          </a:prstGeom>
          <a:noFill/>
          <a:ln/>
        </p:spPr>
        <p:txBody>
          <a:bodyPr wrap="square" lIns="0" tIns="0" rIns="0" bIns="0" rtlCol="0" anchor="ctr"/>
          <a:lstStyle/>
          <a:p>
            <a:pPr indent="0" marL="0">
              <a:buNone/>
            </a:pPr>
            <a:r>
              <a:rPr lang="en-US" sz="900" b="1" dirty="0">
                <a:solidFill>
                  <a:srgbClr val="5F7181"/>
                </a:solidFill>
                <a:latin typeface="Aptos" pitchFamily="34" charset="0"/>
                <a:ea typeface="Aptos" pitchFamily="34" charset="-122"/>
                <a:cs typeface="Aptos" pitchFamily="34" charset="-120"/>
              </a:rPr>
              <a:t>AI Governance Board Chair Training</a:t>
            </a:r>
            <a:endParaRPr lang="en-US" sz="900" dirty="0"/>
          </a:p>
        </p:txBody>
      </p:sp>
      <p:sp>
        <p:nvSpPr>
          <p:cNvPr id="5" name="Text 3"/>
          <p:cNvSpPr/>
          <p:nvPr/>
        </p:nvSpPr>
        <p:spPr>
          <a:xfrm>
            <a:off x="502920" y="6537960"/>
            <a:ext cx="7772400" cy="201168"/>
          </a:xfrm>
          <a:prstGeom prst="rect">
            <a:avLst/>
          </a:prstGeom>
          <a:noFill/>
          <a:ln/>
        </p:spPr>
        <p:txBody>
          <a:bodyPr wrap="square" lIns="0" tIns="0" rIns="0" bIns="0" rtlCol="0" anchor="ctr"/>
          <a:lstStyle/>
          <a:p>
            <a:pPr indent="0" marL="0">
              <a:buNone/>
            </a:pPr>
            <a:r>
              <a:rPr lang="en-US" sz="800" dirty="0">
                <a:solidFill>
                  <a:srgbClr val="5F7181"/>
                </a:solidFill>
                <a:latin typeface="Aptos" pitchFamily="34" charset="0"/>
                <a:ea typeface="Aptos" pitchFamily="34" charset="-122"/>
                <a:cs typeface="Aptos" pitchFamily="34" charset="-120"/>
              </a:rPr>
              <a:t>AI Playbook and Toolkit for Public Health Departments</a:t>
            </a:r>
            <a:endParaRPr lang="en-US" sz="800" dirty="0"/>
          </a:p>
        </p:txBody>
      </p:sp>
      <p:sp>
        <p:nvSpPr>
          <p:cNvPr id="6" name="Text 4"/>
          <p:cNvSpPr/>
          <p:nvPr/>
        </p:nvSpPr>
        <p:spPr>
          <a:xfrm>
            <a:off x="9966960" y="6537960"/>
            <a:ext cx="1645920" cy="201168"/>
          </a:xfrm>
          <a:prstGeom prst="rect">
            <a:avLst/>
          </a:prstGeom>
          <a:noFill/>
          <a:ln/>
        </p:spPr>
        <p:txBody>
          <a:bodyPr wrap="square" lIns="0" tIns="0" rIns="0" bIns="0" rtlCol="0" anchor="ctr"/>
          <a:lstStyle/>
          <a:p>
            <a:pPr algn="r" indent="0" marL="0">
              <a:buNone/>
            </a:pPr>
            <a:r>
              <a:rPr lang="en-US" sz="800" dirty="0">
                <a:solidFill>
                  <a:srgbClr val="5F7181"/>
                </a:solidFill>
                <a:latin typeface="Aptos" pitchFamily="34" charset="0"/>
                <a:ea typeface="Aptos" pitchFamily="34" charset="-122"/>
                <a:cs typeface="Aptos" pitchFamily="34" charset="-120"/>
              </a:rPr>
              <a:t>Â© Paula Soper</a:t>
            </a:r>
            <a:endParaRPr lang="en-US" sz="800" dirty="0"/>
          </a:p>
        </p:txBody>
      </p:sp>
      <p:sp>
        <p:nvSpPr>
          <p:cNvPr id="7" name="Text 5"/>
          <p:cNvSpPr/>
          <p:nvPr/>
        </p:nvSpPr>
        <p:spPr>
          <a:xfrm>
            <a:off x="11137392" y="6510528"/>
            <a:ext cx="411480" cy="201168"/>
          </a:xfrm>
          <a:prstGeom prst="rect">
            <a:avLst/>
          </a:prstGeom>
          <a:noFill/>
          <a:ln/>
        </p:spPr>
        <p:txBody>
          <a:bodyPr wrap="square" lIns="0" tIns="0" rIns="0" bIns="0" rtlCol="0" anchor="ctr"/>
          <a:lstStyle/>
          <a:p>
            <a:pPr algn="r" indent="0" marL="0">
              <a:buNone/>
            </a:pPr>
            <a:r>
              <a:rPr lang="en-US" sz="900" dirty="0">
                <a:solidFill>
                  <a:srgbClr val="5F7181"/>
                </a:solidFill>
                <a:latin typeface="Aptos" pitchFamily="34" charset="0"/>
                <a:ea typeface="Aptos" pitchFamily="34" charset="-122"/>
                <a:cs typeface="Aptos" pitchFamily="34" charset="-120"/>
              </a:rPr>
              <a:t>3</a:t>
            </a:r>
            <a:endParaRPr lang="en-US" sz="900" dirty="0"/>
          </a:p>
        </p:txBody>
      </p:sp>
      <p:sp>
        <p:nvSpPr>
          <p:cNvPr id="8" name="Text 6"/>
          <p:cNvSpPr/>
          <p:nvPr/>
        </p:nvSpPr>
        <p:spPr>
          <a:xfrm>
            <a:off x="640080" y="658368"/>
            <a:ext cx="10881360" cy="713232"/>
          </a:xfrm>
          <a:prstGeom prst="rect">
            <a:avLst/>
          </a:prstGeom>
          <a:noFill/>
          <a:ln/>
        </p:spPr>
        <p:txBody>
          <a:bodyPr wrap="square" lIns="0" tIns="0" rIns="0" bIns="0" rtlCol="0" anchor="ctr">
            <a:normAutofit/>
          </a:bodyPr>
          <a:lstStyle/>
          <a:p>
            <a:pPr indent="0" marL="0">
              <a:buNone/>
            </a:pPr>
            <a:r>
              <a:rPr lang="en-US" sz="3400" b="1" dirty="0">
                <a:solidFill>
                  <a:srgbClr val="003A63"/>
                </a:solidFill>
                <a:latin typeface="Aptos Display" pitchFamily="34" charset="0"/>
                <a:ea typeface="Aptos Display" pitchFamily="34" charset="-122"/>
                <a:cs typeface="Aptos Display" pitchFamily="34" charset="-120"/>
              </a:rPr>
              <a:t>How this module connects to the playbook</a:t>
            </a:r>
            <a:endParaRPr lang="en-US" sz="3400" dirty="0"/>
          </a:p>
        </p:txBody>
      </p:sp>
      <p:sp>
        <p:nvSpPr>
          <p:cNvPr id="9" name="Text 7"/>
          <p:cNvSpPr/>
          <p:nvPr/>
        </p:nvSpPr>
        <p:spPr>
          <a:xfrm>
            <a:off x="868680" y="1508760"/>
            <a:ext cx="6812280" cy="3977640"/>
          </a:xfrm>
          <a:prstGeom prst="rect">
            <a:avLst/>
          </a:prstGeom>
          <a:noFill/>
          <a:ln/>
        </p:spPr>
        <p:txBody>
          <a:bodyPr wrap="square" lIns="635" tIns="635" rIns="635" bIns="635" rtlCol="0" anchor="t">
            <a:normAutofit/>
          </a:bodyPr>
          <a:lstStyle/>
          <a:p>
            <a:r>
              <a:rPr lang="en-US" sz="1900" dirty="0">
                <a:solidFill>
                  <a:srgbClr val="17364A"/>
                </a:solidFill>
                <a:latin typeface="Aptos" pitchFamily="34" charset="0"/>
                <a:ea typeface="Aptos" pitchFamily="34" charset="-122"/>
                <a:cs typeface="Aptos" pitchFamily="34" charset="-120"/>
              </a:rPr>
              <a:t>Play 11: Build and Deploy AI Solutions - This lesson informs Play 11 by helping learners connect the lesson.</a:t>
            </a:r>
            <a:endParaRPr lang="en-US" sz="1900" dirty="0"/>
          </a:p>
          <a:p>
            <a:r>
              <a:rPr lang="en-US" sz="1900" dirty="0">
                <a:solidFill>
                  <a:srgbClr val="17364A"/>
                </a:solidFill>
                <a:latin typeface="Aptos" pitchFamily="34" charset="0"/>
                <a:ea typeface="Aptos" pitchFamily="34" charset="-122"/>
                <a:cs typeface="Aptos" pitchFamily="34" charset="-120"/>
              </a:rPr>
              <a:t>Play 1: Vision &amp; Guardrails - This lesson informs Play 1 by helping learners connect the lesson topic to.</a:t>
            </a:r>
            <a:endParaRPr lang="en-US" sz="1900" dirty="0"/>
          </a:p>
          <a:p>
            <a:r>
              <a:rPr lang="en-US" sz="1900" dirty="0">
                <a:solidFill>
                  <a:srgbClr val="17364A"/>
                </a:solidFill>
                <a:latin typeface="Aptos" pitchFamily="34" charset="0"/>
                <a:ea typeface="Aptos" pitchFamily="34" charset="-122"/>
                <a:cs typeface="Aptos" pitchFamily="34" charset="-120"/>
              </a:rPr>
              <a:t>Play 2: Readiness Assessment - This lesson informs Play 2 by helping learners connect the lesson topic to.</a:t>
            </a:r>
            <a:endParaRPr lang="en-US" sz="1900" dirty="0"/>
          </a:p>
          <a:p>
            <a:r>
              <a:rPr lang="en-US" sz="1900" dirty="0">
                <a:solidFill>
                  <a:srgbClr val="17364A"/>
                </a:solidFill>
                <a:latin typeface="Aptos" pitchFamily="34" charset="0"/>
                <a:ea typeface="Aptos" pitchFamily="34" charset="-122"/>
                <a:cs typeface="Aptos" pitchFamily="34" charset="-120"/>
              </a:rPr>
              <a:t>Play 3: Establish AI Governance - This lesson informs Play 3 by helping learners connect the lesson topic to.</a:t>
            </a:r>
            <a:endParaRPr lang="en-US" sz="1900" dirty="0"/>
          </a:p>
        </p:txBody>
      </p:sp>
      <p:sp>
        <p:nvSpPr>
          <p:cNvPr id="10" name="Shape 8"/>
          <p:cNvSpPr/>
          <p:nvPr/>
        </p:nvSpPr>
        <p:spPr>
          <a:xfrm>
            <a:off x="8046720" y="1417320"/>
            <a:ext cx="3063240" cy="2103120"/>
          </a:xfrm>
          <a:prstGeom prst="roundRect">
            <a:avLst>
              <a:gd name="adj" fmla="val 5217"/>
            </a:avLst>
          </a:prstGeom>
          <a:solidFill>
            <a:srgbClr val="EEF8ED"/>
          </a:solidFill>
          <a:ln w="12700">
            <a:solidFill>
              <a:srgbClr val="B9D7E6"/>
            </a:solidFill>
            <a:prstDash val="solid"/>
          </a:ln>
        </p:spPr>
      </p:sp>
      <p:sp>
        <p:nvSpPr>
          <p:cNvPr id="11" name="Text 9"/>
          <p:cNvSpPr/>
          <p:nvPr/>
        </p:nvSpPr>
        <p:spPr>
          <a:xfrm>
            <a:off x="8211312" y="1563624"/>
            <a:ext cx="273405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Apply the lesson</a:t>
            </a:r>
            <a:endParaRPr lang="en-US" sz="1300" dirty="0"/>
          </a:p>
        </p:txBody>
      </p:sp>
      <p:sp>
        <p:nvSpPr>
          <p:cNvPr id="12" name="Text 10"/>
          <p:cNvSpPr/>
          <p:nvPr/>
        </p:nvSpPr>
        <p:spPr>
          <a:xfrm>
            <a:off x="8211312" y="1920240"/>
            <a:ext cx="2734056" cy="1463040"/>
          </a:xfrm>
          <a:prstGeom prst="rect">
            <a:avLst/>
          </a:prstGeom>
          <a:noFill/>
          <a:ln/>
        </p:spPr>
        <p:txBody>
          <a:bodyPr wrap="square" lIns="0" tIns="0" rIns="0" bIns="0" rtlCol="0" anchor="t">
            <a:normAutofit/>
          </a:bodyPr>
          <a:lstStyle/>
          <a:p>
            <a:pPr indent="0" marL="0">
              <a:buNone/>
            </a:pPr>
            <a:r>
              <a:rPr lang="en-US" sz="1550" dirty="0">
                <a:solidFill>
                  <a:srgbClr val="17364A"/>
                </a:solidFill>
                <a:latin typeface="Aptos" pitchFamily="34" charset="0"/>
                <a:ea typeface="Aptos" pitchFamily="34" charset="-122"/>
                <a:cs typeface="Aptos" pitchFamily="34" charset="-120"/>
              </a:rPr>
              <a:t>Use the related plays to identify decisions, participants, timing, approvals, and documentation needed for responsible implementation.</a:t>
            </a:r>
            <a:endParaRPr lang="en-US" sz="1550" dirty="0"/>
          </a:p>
        </p:txBody>
      </p:sp>
      <p:sp>
        <p:nvSpPr>
          <p:cNvPr id="13" name="Shape 11"/>
          <p:cNvSpPr/>
          <p:nvPr/>
        </p:nvSpPr>
        <p:spPr>
          <a:xfrm>
            <a:off x="7818120" y="3977640"/>
            <a:ext cx="972312" cy="749808"/>
          </a:xfrm>
          <a:prstGeom prst="roundRect">
            <a:avLst>
              <a:gd name="adj" fmla="val 14634"/>
            </a:avLst>
          </a:prstGeom>
          <a:solidFill>
            <a:srgbClr val="0068B7"/>
          </a:solidFill>
          <a:ln w="12700">
            <a:solidFill>
              <a:srgbClr val="0068B7"/>
            </a:solidFill>
            <a:prstDash val="solid"/>
          </a:ln>
        </p:spPr>
      </p:sp>
      <p:sp>
        <p:nvSpPr>
          <p:cNvPr id="14" name="Text 12"/>
          <p:cNvSpPr/>
          <p:nvPr/>
        </p:nvSpPr>
        <p:spPr>
          <a:xfrm>
            <a:off x="7891272" y="4169664"/>
            <a:ext cx="826008" cy="310896"/>
          </a:xfrm>
          <a:prstGeom prst="rect">
            <a:avLst/>
          </a:prstGeom>
          <a:noFill/>
          <a:ln/>
        </p:spPr>
        <p:txBody>
          <a:bodyPr wrap="square" lIns="0" tIns="0" rIns="0" bIns="0" rtlCol="0" anchor="ctr">
            <a:normAutofit/>
          </a:bodyPr>
          <a:lstStyle/>
          <a:p>
            <a:pPr algn="ctr" indent="0" marL="0">
              <a:buNone/>
            </a:pPr>
            <a:r>
              <a:rPr lang="en-US" sz="1500" b="1" dirty="0">
                <a:solidFill>
                  <a:srgbClr val="FFFFFF"/>
                </a:solidFill>
                <a:latin typeface="Aptos" pitchFamily="34" charset="0"/>
                <a:ea typeface="Aptos" pitchFamily="34" charset="-122"/>
                <a:cs typeface="Aptos" pitchFamily="34" charset="-120"/>
              </a:rPr>
              <a:t>Lesson</a:t>
            </a:r>
            <a:endParaRPr lang="en-US" sz="1500" dirty="0"/>
          </a:p>
        </p:txBody>
      </p:sp>
      <p:sp>
        <p:nvSpPr>
          <p:cNvPr id="15" name="Text 13"/>
          <p:cNvSpPr/>
          <p:nvPr/>
        </p:nvSpPr>
        <p:spPr>
          <a:xfrm>
            <a:off x="8817864" y="4187952"/>
            <a:ext cx="201168" cy="256032"/>
          </a:xfrm>
          <a:prstGeom prst="rect">
            <a:avLst/>
          </a:prstGeom>
          <a:noFill/>
          <a:ln/>
        </p:spPr>
        <p:txBody>
          <a:bodyPr wrap="square" lIns="0" tIns="0" rIns="0" bIns="0" rtlCol="0" anchor="ctr"/>
          <a:lstStyle/>
          <a:p>
            <a:pPr algn="ctr" indent="0" marL="0">
              <a:buNone/>
            </a:pPr>
            <a:r>
              <a:rPr lang="en-US" sz="1800" b="1" dirty="0">
                <a:solidFill>
                  <a:srgbClr val="0068B7"/>
                </a:solidFill>
                <a:latin typeface="Aptos" pitchFamily="34" charset="0"/>
                <a:ea typeface="Aptos" pitchFamily="34" charset="-122"/>
                <a:cs typeface="Aptos" pitchFamily="34" charset="-120"/>
              </a:rPr>
              <a:t>â†’</a:t>
            </a:r>
            <a:endParaRPr lang="en-US" sz="1800" dirty="0"/>
          </a:p>
        </p:txBody>
      </p:sp>
      <p:sp>
        <p:nvSpPr>
          <p:cNvPr id="16" name="Shape 14"/>
          <p:cNvSpPr/>
          <p:nvPr/>
        </p:nvSpPr>
        <p:spPr>
          <a:xfrm>
            <a:off x="9046464" y="3977640"/>
            <a:ext cx="972312" cy="749808"/>
          </a:xfrm>
          <a:prstGeom prst="roundRect">
            <a:avLst>
              <a:gd name="adj" fmla="val 14634"/>
            </a:avLst>
          </a:prstGeom>
          <a:solidFill>
            <a:srgbClr val="2F8A28"/>
          </a:solidFill>
          <a:ln w="12700">
            <a:solidFill>
              <a:srgbClr val="2F8A28"/>
            </a:solidFill>
            <a:prstDash val="solid"/>
          </a:ln>
        </p:spPr>
      </p:sp>
      <p:sp>
        <p:nvSpPr>
          <p:cNvPr id="17" name="Text 15"/>
          <p:cNvSpPr/>
          <p:nvPr/>
        </p:nvSpPr>
        <p:spPr>
          <a:xfrm>
            <a:off x="9119616" y="4169664"/>
            <a:ext cx="826008" cy="310896"/>
          </a:xfrm>
          <a:prstGeom prst="rect">
            <a:avLst/>
          </a:prstGeom>
          <a:noFill/>
          <a:ln/>
        </p:spPr>
        <p:txBody>
          <a:bodyPr wrap="square" lIns="0" tIns="0" rIns="0" bIns="0" rtlCol="0" anchor="ctr">
            <a:normAutofit/>
          </a:bodyPr>
          <a:lstStyle/>
          <a:p>
            <a:pPr algn="ctr" indent="0" marL="0">
              <a:buNone/>
            </a:pPr>
            <a:r>
              <a:rPr lang="en-US" sz="1500" b="1" dirty="0">
                <a:solidFill>
                  <a:srgbClr val="FFFFFF"/>
                </a:solidFill>
                <a:latin typeface="Aptos" pitchFamily="34" charset="0"/>
                <a:ea typeface="Aptos" pitchFamily="34" charset="-122"/>
                <a:cs typeface="Aptos" pitchFamily="34" charset="-120"/>
              </a:rPr>
              <a:t>Plays</a:t>
            </a:r>
            <a:endParaRPr lang="en-US" sz="1500" dirty="0"/>
          </a:p>
        </p:txBody>
      </p:sp>
      <p:sp>
        <p:nvSpPr>
          <p:cNvPr id="18" name="Text 16"/>
          <p:cNvSpPr/>
          <p:nvPr/>
        </p:nvSpPr>
        <p:spPr>
          <a:xfrm>
            <a:off x="10046208" y="4187952"/>
            <a:ext cx="201168" cy="256032"/>
          </a:xfrm>
          <a:prstGeom prst="rect">
            <a:avLst/>
          </a:prstGeom>
          <a:noFill/>
          <a:ln/>
        </p:spPr>
        <p:txBody>
          <a:bodyPr wrap="square" lIns="0" tIns="0" rIns="0" bIns="0" rtlCol="0" anchor="ctr"/>
          <a:lstStyle/>
          <a:p>
            <a:pPr algn="ctr" indent="0" marL="0">
              <a:buNone/>
            </a:pPr>
            <a:r>
              <a:rPr lang="en-US" sz="1800" b="1" dirty="0">
                <a:solidFill>
                  <a:srgbClr val="0068B7"/>
                </a:solidFill>
                <a:latin typeface="Aptos" pitchFamily="34" charset="0"/>
                <a:ea typeface="Aptos" pitchFamily="34" charset="-122"/>
                <a:cs typeface="Aptos" pitchFamily="34" charset="-120"/>
              </a:rPr>
              <a:t>â†’</a:t>
            </a:r>
            <a:endParaRPr lang="en-US" sz="1800" dirty="0"/>
          </a:p>
        </p:txBody>
      </p:sp>
      <p:sp>
        <p:nvSpPr>
          <p:cNvPr id="19" name="Shape 17"/>
          <p:cNvSpPr/>
          <p:nvPr/>
        </p:nvSpPr>
        <p:spPr>
          <a:xfrm>
            <a:off x="10274808" y="3977640"/>
            <a:ext cx="972312" cy="749808"/>
          </a:xfrm>
          <a:prstGeom prst="roundRect">
            <a:avLst>
              <a:gd name="adj" fmla="val 14634"/>
            </a:avLst>
          </a:prstGeom>
          <a:solidFill>
            <a:srgbClr val="6A4CA3"/>
          </a:solidFill>
          <a:ln w="12700">
            <a:solidFill>
              <a:srgbClr val="6A4CA3"/>
            </a:solidFill>
            <a:prstDash val="solid"/>
          </a:ln>
        </p:spPr>
      </p:sp>
      <p:sp>
        <p:nvSpPr>
          <p:cNvPr id="20" name="Text 18"/>
          <p:cNvSpPr/>
          <p:nvPr/>
        </p:nvSpPr>
        <p:spPr>
          <a:xfrm>
            <a:off x="10347960" y="4169664"/>
            <a:ext cx="826008" cy="310896"/>
          </a:xfrm>
          <a:prstGeom prst="rect">
            <a:avLst/>
          </a:prstGeom>
          <a:noFill/>
          <a:ln/>
        </p:spPr>
        <p:txBody>
          <a:bodyPr wrap="square" lIns="0" tIns="0" rIns="0" bIns="0" rtlCol="0" anchor="ctr">
            <a:normAutofit/>
          </a:bodyPr>
          <a:lstStyle/>
          <a:p>
            <a:pPr algn="ctr" indent="0" marL="0">
              <a:buNone/>
            </a:pPr>
            <a:r>
              <a:rPr lang="en-US" sz="1500" b="1" dirty="0">
                <a:solidFill>
                  <a:srgbClr val="FFFFFF"/>
                </a:solidFill>
                <a:latin typeface="Aptos" pitchFamily="34" charset="0"/>
                <a:ea typeface="Aptos" pitchFamily="34" charset="-122"/>
                <a:cs typeface="Aptos" pitchFamily="34" charset="-120"/>
              </a:rPr>
              <a:t>Action</a:t>
            </a:r>
            <a:endParaRPr lang="en-US" sz="1500"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bg>
      <p:bgPr>
        <a:solidFill>
          <a:srgbClr val="F7FBFD"/>
        </a:solidFill>
      </p:bgPr>
    </p:bg>
    <p:spTree>
      <p:nvGrpSpPr>
        <p:cNvPr id="1" name=""/>
        <p:cNvGrpSpPr/>
        <p:nvPr/>
      </p:nvGrpSpPr>
      <p:grpSpPr>
        <a:xfrm>
          <a:off x="0" y="0"/>
          <a:ext cx="0" cy="0"/>
          <a:chOff x="0" y="0"/>
          <a:chExt cx="0" cy="0"/>
        </a:xfrm>
      </p:grpSpPr>
      <p:sp>
        <p:nvSpPr>
          <p:cNvPr id="2" name="Shape 0"/>
          <p:cNvSpPr/>
          <p:nvPr/>
        </p:nvSpPr>
        <p:spPr>
          <a:xfrm>
            <a:off x="0" y="0"/>
            <a:ext cx="12191695" cy="164592"/>
          </a:xfrm>
          <a:prstGeom prst="rect">
            <a:avLst/>
          </a:prstGeom>
          <a:solidFill>
            <a:srgbClr val="0068B7"/>
          </a:solidFill>
          <a:ln w="12700">
            <a:solidFill>
              <a:srgbClr val="0068B7"/>
            </a:solidFill>
            <a:prstDash val="solid"/>
          </a:ln>
        </p:spPr>
      </p:sp>
      <p:sp>
        <p:nvSpPr>
          <p:cNvPr id="3" name="Shape 1"/>
          <p:cNvSpPr/>
          <p:nvPr/>
        </p:nvSpPr>
        <p:spPr>
          <a:xfrm>
            <a:off x="0" y="164592"/>
            <a:ext cx="146304" cy="6693408"/>
          </a:xfrm>
          <a:prstGeom prst="rect">
            <a:avLst/>
          </a:prstGeom>
          <a:solidFill>
            <a:srgbClr val="2F8A28"/>
          </a:solidFill>
          <a:ln w="12700">
            <a:solidFill>
              <a:srgbClr val="2F8A28"/>
            </a:solidFill>
            <a:prstDash val="solid"/>
          </a:ln>
        </p:spPr>
      </p:sp>
      <p:sp>
        <p:nvSpPr>
          <p:cNvPr id="4" name="Text 2"/>
          <p:cNvSpPr/>
          <p:nvPr/>
        </p:nvSpPr>
        <p:spPr>
          <a:xfrm>
            <a:off x="502920" y="292608"/>
            <a:ext cx="10149840" cy="256032"/>
          </a:xfrm>
          <a:prstGeom prst="rect">
            <a:avLst/>
          </a:prstGeom>
          <a:noFill/>
          <a:ln/>
        </p:spPr>
        <p:txBody>
          <a:bodyPr wrap="square" lIns="0" tIns="0" rIns="0" bIns="0" rtlCol="0" anchor="ctr"/>
          <a:lstStyle/>
          <a:p>
            <a:pPr indent="0" marL="0">
              <a:buNone/>
            </a:pPr>
            <a:r>
              <a:rPr lang="en-US" sz="900" b="1" dirty="0">
                <a:solidFill>
                  <a:srgbClr val="5F7181"/>
                </a:solidFill>
                <a:latin typeface="Aptos" pitchFamily="34" charset="0"/>
                <a:ea typeface="Aptos" pitchFamily="34" charset="-122"/>
                <a:cs typeface="Aptos" pitchFamily="34" charset="-120"/>
              </a:rPr>
              <a:t>AI Governance Board Chair Training</a:t>
            </a:r>
            <a:endParaRPr lang="en-US" sz="900" dirty="0"/>
          </a:p>
        </p:txBody>
      </p:sp>
      <p:sp>
        <p:nvSpPr>
          <p:cNvPr id="5" name="Text 3"/>
          <p:cNvSpPr/>
          <p:nvPr/>
        </p:nvSpPr>
        <p:spPr>
          <a:xfrm>
            <a:off x="502920" y="6537960"/>
            <a:ext cx="7772400" cy="201168"/>
          </a:xfrm>
          <a:prstGeom prst="rect">
            <a:avLst/>
          </a:prstGeom>
          <a:noFill/>
          <a:ln/>
        </p:spPr>
        <p:txBody>
          <a:bodyPr wrap="square" lIns="0" tIns="0" rIns="0" bIns="0" rtlCol="0" anchor="ctr"/>
          <a:lstStyle/>
          <a:p>
            <a:pPr indent="0" marL="0">
              <a:buNone/>
            </a:pPr>
            <a:r>
              <a:rPr lang="en-US" sz="800" dirty="0">
                <a:solidFill>
                  <a:srgbClr val="5F7181"/>
                </a:solidFill>
                <a:latin typeface="Aptos" pitchFamily="34" charset="0"/>
                <a:ea typeface="Aptos" pitchFamily="34" charset="-122"/>
                <a:cs typeface="Aptos" pitchFamily="34" charset="-120"/>
              </a:rPr>
              <a:t>AI Playbook and Toolkit for Public Health Departments</a:t>
            </a:r>
            <a:endParaRPr lang="en-US" sz="800" dirty="0"/>
          </a:p>
        </p:txBody>
      </p:sp>
      <p:sp>
        <p:nvSpPr>
          <p:cNvPr id="6" name="Text 4"/>
          <p:cNvSpPr/>
          <p:nvPr/>
        </p:nvSpPr>
        <p:spPr>
          <a:xfrm>
            <a:off x="9966960" y="6537960"/>
            <a:ext cx="1645920" cy="201168"/>
          </a:xfrm>
          <a:prstGeom prst="rect">
            <a:avLst/>
          </a:prstGeom>
          <a:noFill/>
          <a:ln/>
        </p:spPr>
        <p:txBody>
          <a:bodyPr wrap="square" lIns="0" tIns="0" rIns="0" bIns="0" rtlCol="0" anchor="ctr"/>
          <a:lstStyle/>
          <a:p>
            <a:pPr algn="r" indent="0" marL="0">
              <a:buNone/>
            </a:pPr>
            <a:r>
              <a:rPr lang="en-US" sz="800" dirty="0">
                <a:solidFill>
                  <a:srgbClr val="5F7181"/>
                </a:solidFill>
                <a:latin typeface="Aptos" pitchFamily="34" charset="0"/>
                <a:ea typeface="Aptos" pitchFamily="34" charset="-122"/>
                <a:cs typeface="Aptos" pitchFamily="34" charset="-120"/>
              </a:rPr>
              <a:t>Â© Paula Soper</a:t>
            </a:r>
            <a:endParaRPr lang="en-US" sz="800" dirty="0"/>
          </a:p>
        </p:txBody>
      </p:sp>
      <p:sp>
        <p:nvSpPr>
          <p:cNvPr id="7" name="Text 5"/>
          <p:cNvSpPr/>
          <p:nvPr/>
        </p:nvSpPr>
        <p:spPr>
          <a:xfrm>
            <a:off x="11137392" y="6510528"/>
            <a:ext cx="411480" cy="201168"/>
          </a:xfrm>
          <a:prstGeom prst="rect">
            <a:avLst/>
          </a:prstGeom>
          <a:noFill/>
          <a:ln/>
        </p:spPr>
        <p:txBody>
          <a:bodyPr wrap="square" lIns="0" tIns="0" rIns="0" bIns="0" rtlCol="0" anchor="ctr"/>
          <a:lstStyle/>
          <a:p>
            <a:pPr algn="r" indent="0" marL="0">
              <a:buNone/>
            </a:pPr>
            <a:r>
              <a:rPr lang="en-US" sz="900" dirty="0">
                <a:solidFill>
                  <a:srgbClr val="5F7181"/>
                </a:solidFill>
                <a:latin typeface="Aptos" pitchFamily="34" charset="0"/>
                <a:ea typeface="Aptos" pitchFamily="34" charset="-122"/>
                <a:cs typeface="Aptos" pitchFamily="34" charset="-120"/>
              </a:rPr>
              <a:t>4</a:t>
            </a:r>
            <a:endParaRPr lang="en-US" sz="900" dirty="0"/>
          </a:p>
        </p:txBody>
      </p:sp>
      <p:sp>
        <p:nvSpPr>
          <p:cNvPr id="8" name="Text 6"/>
          <p:cNvSpPr/>
          <p:nvPr/>
        </p:nvSpPr>
        <p:spPr>
          <a:xfrm>
            <a:off x="640080" y="658368"/>
            <a:ext cx="10881360" cy="713232"/>
          </a:xfrm>
          <a:prstGeom prst="rect">
            <a:avLst/>
          </a:prstGeom>
          <a:noFill/>
          <a:ln/>
        </p:spPr>
        <p:txBody>
          <a:bodyPr wrap="square" lIns="0" tIns="0" rIns="0" bIns="0" rtlCol="0" anchor="ctr">
            <a:normAutofit/>
          </a:bodyPr>
          <a:lstStyle/>
          <a:p>
            <a:pPr indent="0" marL="0">
              <a:buNone/>
            </a:pPr>
            <a:r>
              <a:rPr lang="en-US" sz="3400" b="1" dirty="0">
                <a:solidFill>
                  <a:srgbClr val="003A63"/>
                </a:solidFill>
                <a:latin typeface="Aptos Display" pitchFamily="34" charset="0"/>
                <a:ea typeface="Aptos Display" pitchFamily="34" charset="-122"/>
                <a:cs typeface="Aptos Display" pitchFamily="34" charset="-120"/>
              </a:rPr>
              <a:t>Related toolkit resources</a:t>
            </a:r>
            <a:endParaRPr lang="en-US" sz="3400" dirty="0"/>
          </a:p>
        </p:txBody>
      </p:sp>
      <p:sp>
        <p:nvSpPr>
          <p:cNvPr id="9" name="Text 7"/>
          <p:cNvSpPr/>
          <p:nvPr/>
        </p:nvSpPr>
        <p:spPr>
          <a:xfrm>
            <a:off x="868680" y="1508760"/>
            <a:ext cx="6812280" cy="3977640"/>
          </a:xfrm>
          <a:prstGeom prst="rect">
            <a:avLst/>
          </a:prstGeom>
          <a:noFill/>
          <a:ln/>
        </p:spPr>
        <p:txBody>
          <a:bodyPr wrap="square" lIns="635" tIns="635" rIns="635" bIns="635" rtlCol="0" anchor="t">
            <a:normAutofit/>
          </a:bodyPr>
          <a:lstStyle/>
          <a:p>
            <a:r>
              <a:rPr lang="en-US" sz="1850" dirty="0">
                <a:solidFill>
                  <a:srgbClr val="17364A"/>
                </a:solidFill>
                <a:latin typeface="Aptos" pitchFamily="34" charset="0"/>
                <a:ea typeface="Aptos" pitchFamily="34" charset="-122"/>
                <a:cs typeface="Aptos" pitchFamily="34" charset="-120"/>
              </a:rPr>
              <a:t>Tool 1: AI Vision &amp; Principles Workshop (Workshop) - Use AI Vision &amp; Principles Workshop to translate this.</a:t>
            </a:r>
            <a:endParaRPr lang="en-US" sz="1850" dirty="0"/>
          </a:p>
          <a:p>
            <a:r>
              <a:rPr lang="en-US" sz="1850" dirty="0">
                <a:solidFill>
                  <a:srgbClr val="17364A"/>
                </a:solidFill>
                <a:latin typeface="Aptos" pitchFamily="34" charset="0"/>
                <a:ea typeface="Aptos" pitchFamily="34" charset="-122"/>
                <a:cs typeface="Aptos" pitchFamily="34" charset="-120"/>
              </a:rPr>
              <a:t>Tool 4: AI Policy Landscape Scan (Worksheet) - Use AI Policy Landscape Scan to translate this lesson into a.</a:t>
            </a:r>
            <a:endParaRPr lang="en-US" sz="1850" dirty="0"/>
          </a:p>
          <a:p>
            <a:r>
              <a:rPr lang="en-US" sz="1850" dirty="0">
                <a:solidFill>
                  <a:srgbClr val="17364A"/>
                </a:solidFill>
                <a:latin typeface="Aptos" pitchFamily="34" charset="0"/>
                <a:ea typeface="Aptos" pitchFamily="34" charset="-122"/>
                <a:cs typeface="Aptos" pitchFamily="34" charset="-120"/>
              </a:rPr>
              <a:t>Tool 5: AI Environmental and Resource Impact Review (Checklist) - Use AI Environmental and Resource Impact.</a:t>
            </a:r>
            <a:endParaRPr lang="en-US" sz="1850" dirty="0"/>
          </a:p>
          <a:p>
            <a:r>
              <a:rPr lang="en-US" sz="1850" dirty="0">
                <a:solidFill>
                  <a:srgbClr val="17364A"/>
                </a:solidFill>
                <a:latin typeface="Aptos" pitchFamily="34" charset="0"/>
                <a:ea typeface="Aptos" pitchFamily="34" charset="-122"/>
                <a:cs typeface="Aptos" pitchFamily="34" charset="-120"/>
              </a:rPr>
              <a:t>Tool 6: Human-Centered AI Decision Rule Checklist (Checklist) - Use Human-Centered AI Decision Rule.</a:t>
            </a:r>
            <a:endParaRPr lang="en-US" sz="1850" dirty="0"/>
          </a:p>
        </p:txBody>
      </p:sp>
      <p:sp>
        <p:nvSpPr>
          <p:cNvPr id="10" name="Shape 8"/>
          <p:cNvSpPr/>
          <p:nvPr/>
        </p:nvSpPr>
        <p:spPr>
          <a:xfrm>
            <a:off x="8046720" y="1417320"/>
            <a:ext cx="3063240" cy="2103120"/>
          </a:xfrm>
          <a:prstGeom prst="roundRect">
            <a:avLst>
              <a:gd name="adj" fmla="val 5217"/>
            </a:avLst>
          </a:prstGeom>
          <a:solidFill>
            <a:srgbClr val="EAF6F8"/>
          </a:solidFill>
          <a:ln w="12700">
            <a:solidFill>
              <a:srgbClr val="B9D7E6"/>
            </a:solidFill>
            <a:prstDash val="solid"/>
          </a:ln>
        </p:spPr>
      </p:sp>
      <p:sp>
        <p:nvSpPr>
          <p:cNvPr id="11" name="Text 9"/>
          <p:cNvSpPr/>
          <p:nvPr/>
        </p:nvSpPr>
        <p:spPr>
          <a:xfrm>
            <a:off x="8211312" y="1563624"/>
            <a:ext cx="273405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Use the tools</a:t>
            </a:r>
            <a:endParaRPr lang="en-US" sz="1300" dirty="0"/>
          </a:p>
        </p:txBody>
      </p:sp>
      <p:sp>
        <p:nvSpPr>
          <p:cNvPr id="12" name="Text 10"/>
          <p:cNvSpPr/>
          <p:nvPr/>
        </p:nvSpPr>
        <p:spPr>
          <a:xfrm>
            <a:off x="8211312" y="1920240"/>
            <a:ext cx="2734056" cy="1463040"/>
          </a:xfrm>
          <a:prstGeom prst="rect">
            <a:avLst/>
          </a:prstGeom>
          <a:noFill/>
          <a:ln/>
        </p:spPr>
        <p:txBody>
          <a:bodyPr wrap="square" lIns="0" tIns="0" rIns="0" bIns="0" rtlCol="0" anchor="t">
            <a:normAutofit/>
          </a:bodyPr>
          <a:lstStyle/>
          <a:p>
            <a:pPr indent="0" marL="0">
              <a:buNone/>
            </a:pPr>
            <a:r>
              <a:rPr lang="en-US" sz="1550" dirty="0">
                <a:solidFill>
                  <a:srgbClr val="17364A"/>
                </a:solidFill>
                <a:latin typeface="Aptos" pitchFamily="34" charset="0"/>
                <a:ea typeface="Aptos" pitchFamily="34" charset="-122"/>
                <a:cs typeface="Aptos" pitchFamily="34" charset="-120"/>
              </a:rPr>
              <a:t>Use linked tools when your department needs a structured worksheet, template, checklist, review process, or documentation artifact.</a:t>
            </a:r>
            <a:endParaRPr lang="en-US" sz="1550" dirty="0"/>
          </a:p>
        </p:txBody>
      </p:sp>
      <p:sp>
        <p:nvSpPr>
          <p:cNvPr id="13" name="Shape 11"/>
          <p:cNvSpPr/>
          <p:nvPr/>
        </p:nvSpPr>
        <p:spPr>
          <a:xfrm>
            <a:off x="7818120" y="3977640"/>
            <a:ext cx="972312" cy="749808"/>
          </a:xfrm>
          <a:prstGeom prst="roundRect">
            <a:avLst>
              <a:gd name="adj" fmla="val 14634"/>
            </a:avLst>
          </a:prstGeom>
          <a:solidFill>
            <a:srgbClr val="0068B7"/>
          </a:solidFill>
          <a:ln w="12700">
            <a:solidFill>
              <a:srgbClr val="0068B7"/>
            </a:solidFill>
            <a:prstDash val="solid"/>
          </a:ln>
        </p:spPr>
      </p:sp>
      <p:sp>
        <p:nvSpPr>
          <p:cNvPr id="14" name="Text 12"/>
          <p:cNvSpPr/>
          <p:nvPr/>
        </p:nvSpPr>
        <p:spPr>
          <a:xfrm>
            <a:off x="7891272" y="4169664"/>
            <a:ext cx="826008" cy="310896"/>
          </a:xfrm>
          <a:prstGeom prst="rect">
            <a:avLst/>
          </a:prstGeom>
          <a:noFill/>
          <a:ln/>
        </p:spPr>
        <p:txBody>
          <a:bodyPr wrap="square" lIns="0" tIns="0" rIns="0" bIns="0" rtlCol="0" anchor="ctr">
            <a:normAutofit/>
          </a:bodyPr>
          <a:lstStyle/>
          <a:p>
            <a:pPr algn="ctr" indent="0" marL="0">
              <a:buNone/>
            </a:pPr>
            <a:r>
              <a:rPr lang="en-US" sz="1500" b="1" dirty="0">
                <a:solidFill>
                  <a:srgbClr val="FFFFFF"/>
                </a:solidFill>
                <a:latin typeface="Aptos" pitchFamily="34" charset="0"/>
                <a:ea typeface="Aptos" pitchFamily="34" charset="-122"/>
                <a:cs typeface="Aptos" pitchFamily="34" charset="-120"/>
              </a:rPr>
              <a:t>Concept</a:t>
            </a:r>
            <a:endParaRPr lang="en-US" sz="1500" dirty="0"/>
          </a:p>
        </p:txBody>
      </p:sp>
      <p:sp>
        <p:nvSpPr>
          <p:cNvPr id="15" name="Text 13"/>
          <p:cNvSpPr/>
          <p:nvPr/>
        </p:nvSpPr>
        <p:spPr>
          <a:xfrm>
            <a:off x="8817864" y="4187952"/>
            <a:ext cx="201168" cy="256032"/>
          </a:xfrm>
          <a:prstGeom prst="rect">
            <a:avLst/>
          </a:prstGeom>
          <a:noFill/>
          <a:ln/>
        </p:spPr>
        <p:txBody>
          <a:bodyPr wrap="square" lIns="0" tIns="0" rIns="0" bIns="0" rtlCol="0" anchor="ctr"/>
          <a:lstStyle/>
          <a:p>
            <a:pPr algn="ctr" indent="0" marL="0">
              <a:buNone/>
            </a:pPr>
            <a:r>
              <a:rPr lang="en-US" sz="1800" b="1" dirty="0">
                <a:solidFill>
                  <a:srgbClr val="0068B7"/>
                </a:solidFill>
                <a:latin typeface="Aptos" pitchFamily="34" charset="0"/>
                <a:ea typeface="Aptos" pitchFamily="34" charset="-122"/>
                <a:cs typeface="Aptos" pitchFamily="34" charset="-120"/>
              </a:rPr>
              <a:t>â†’</a:t>
            </a:r>
            <a:endParaRPr lang="en-US" sz="1800" dirty="0"/>
          </a:p>
        </p:txBody>
      </p:sp>
      <p:sp>
        <p:nvSpPr>
          <p:cNvPr id="16" name="Shape 14"/>
          <p:cNvSpPr/>
          <p:nvPr/>
        </p:nvSpPr>
        <p:spPr>
          <a:xfrm>
            <a:off x="9046464" y="3977640"/>
            <a:ext cx="972312" cy="749808"/>
          </a:xfrm>
          <a:prstGeom prst="roundRect">
            <a:avLst>
              <a:gd name="adj" fmla="val 14634"/>
            </a:avLst>
          </a:prstGeom>
          <a:solidFill>
            <a:srgbClr val="2F8A28"/>
          </a:solidFill>
          <a:ln w="12700">
            <a:solidFill>
              <a:srgbClr val="2F8A28"/>
            </a:solidFill>
            <a:prstDash val="solid"/>
          </a:ln>
        </p:spPr>
      </p:sp>
      <p:sp>
        <p:nvSpPr>
          <p:cNvPr id="17" name="Text 15"/>
          <p:cNvSpPr/>
          <p:nvPr/>
        </p:nvSpPr>
        <p:spPr>
          <a:xfrm>
            <a:off x="9119616" y="4169664"/>
            <a:ext cx="826008" cy="310896"/>
          </a:xfrm>
          <a:prstGeom prst="rect">
            <a:avLst/>
          </a:prstGeom>
          <a:noFill/>
          <a:ln/>
        </p:spPr>
        <p:txBody>
          <a:bodyPr wrap="square" lIns="0" tIns="0" rIns="0" bIns="0" rtlCol="0" anchor="ctr">
            <a:normAutofit/>
          </a:bodyPr>
          <a:lstStyle/>
          <a:p>
            <a:pPr algn="ctr" indent="0" marL="0">
              <a:buNone/>
            </a:pPr>
            <a:r>
              <a:rPr lang="en-US" sz="1500" b="1" dirty="0">
                <a:solidFill>
                  <a:srgbClr val="FFFFFF"/>
                </a:solidFill>
                <a:latin typeface="Aptos" pitchFamily="34" charset="0"/>
                <a:ea typeface="Aptos" pitchFamily="34" charset="-122"/>
                <a:cs typeface="Aptos" pitchFamily="34" charset="-120"/>
              </a:rPr>
              <a:t>Tool</a:t>
            </a:r>
            <a:endParaRPr lang="en-US" sz="1500" dirty="0"/>
          </a:p>
        </p:txBody>
      </p:sp>
      <p:sp>
        <p:nvSpPr>
          <p:cNvPr id="18" name="Text 16"/>
          <p:cNvSpPr/>
          <p:nvPr/>
        </p:nvSpPr>
        <p:spPr>
          <a:xfrm>
            <a:off x="10046208" y="4187952"/>
            <a:ext cx="201168" cy="256032"/>
          </a:xfrm>
          <a:prstGeom prst="rect">
            <a:avLst/>
          </a:prstGeom>
          <a:noFill/>
          <a:ln/>
        </p:spPr>
        <p:txBody>
          <a:bodyPr wrap="square" lIns="0" tIns="0" rIns="0" bIns="0" rtlCol="0" anchor="ctr"/>
          <a:lstStyle/>
          <a:p>
            <a:pPr algn="ctr" indent="0" marL="0">
              <a:buNone/>
            </a:pPr>
            <a:r>
              <a:rPr lang="en-US" sz="1800" b="1" dirty="0">
                <a:solidFill>
                  <a:srgbClr val="0068B7"/>
                </a:solidFill>
                <a:latin typeface="Aptos" pitchFamily="34" charset="0"/>
                <a:ea typeface="Aptos" pitchFamily="34" charset="-122"/>
                <a:cs typeface="Aptos" pitchFamily="34" charset="-120"/>
              </a:rPr>
              <a:t>â†’</a:t>
            </a:r>
            <a:endParaRPr lang="en-US" sz="1800" dirty="0"/>
          </a:p>
        </p:txBody>
      </p:sp>
      <p:sp>
        <p:nvSpPr>
          <p:cNvPr id="19" name="Shape 17"/>
          <p:cNvSpPr/>
          <p:nvPr/>
        </p:nvSpPr>
        <p:spPr>
          <a:xfrm>
            <a:off x="10274808" y="3977640"/>
            <a:ext cx="972312" cy="749808"/>
          </a:xfrm>
          <a:prstGeom prst="roundRect">
            <a:avLst>
              <a:gd name="adj" fmla="val 14634"/>
            </a:avLst>
          </a:prstGeom>
          <a:solidFill>
            <a:srgbClr val="D69A2D"/>
          </a:solidFill>
          <a:ln w="12700">
            <a:solidFill>
              <a:srgbClr val="D69A2D"/>
            </a:solidFill>
            <a:prstDash val="solid"/>
          </a:ln>
        </p:spPr>
      </p:sp>
      <p:sp>
        <p:nvSpPr>
          <p:cNvPr id="20" name="Text 18"/>
          <p:cNvSpPr/>
          <p:nvPr/>
        </p:nvSpPr>
        <p:spPr>
          <a:xfrm>
            <a:off x="10347960" y="4169664"/>
            <a:ext cx="826008" cy="310896"/>
          </a:xfrm>
          <a:prstGeom prst="rect">
            <a:avLst/>
          </a:prstGeom>
          <a:noFill/>
          <a:ln/>
        </p:spPr>
        <p:txBody>
          <a:bodyPr wrap="square" lIns="0" tIns="0" rIns="0" bIns="0" rtlCol="0" anchor="ctr">
            <a:normAutofit/>
          </a:bodyPr>
          <a:lstStyle/>
          <a:p>
            <a:pPr algn="ctr" indent="0" marL="0">
              <a:buNone/>
            </a:pPr>
            <a:r>
              <a:rPr lang="en-US" sz="1500" b="1" dirty="0">
                <a:solidFill>
                  <a:srgbClr val="FFFFFF"/>
                </a:solidFill>
                <a:latin typeface="Aptos" pitchFamily="34" charset="0"/>
                <a:ea typeface="Aptos" pitchFamily="34" charset="-122"/>
                <a:cs typeface="Aptos" pitchFamily="34" charset="-120"/>
              </a:rPr>
              <a:t>Artifact</a:t>
            </a:r>
            <a:endParaRPr lang="en-US" sz="1500"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bg>
      <p:bgPr>
        <a:solidFill>
          <a:srgbClr val="F7FBFD"/>
        </a:solidFill>
      </p:bgPr>
    </p:bg>
    <p:spTree>
      <p:nvGrpSpPr>
        <p:cNvPr id="1" name=""/>
        <p:cNvGrpSpPr/>
        <p:nvPr/>
      </p:nvGrpSpPr>
      <p:grpSpPr>
        <a:xfrm>
          <a:off x="0" y="0"/>
          <a:ext cx="0" cy="0"/>
          <a:chOff x="0" y="0"/>
          <a:chExt cx="0" cy="0"/>
        </a:xfrm>
      </p:grpSpPr>
      <p:sp>
        <p:nvSpPr>
          <p:cNvPr id="2" name="Shape 0"/>
          <p:cNvSpPr/>
          <p:nvPr/>
        </p:nvSpPr>
        <p:spPr>
          <a:xfrm>
            <a:off x="0" y="0"/>
            <a:ext cx="12191695" cy="164592"/>
          </a:xfrm>
          <a:prstGeom prst="rect">
            <a:avLst/>
          </a:prstGeom>
          <a:solidFill>
            <a:srgbClr val="0068B7"/>
          </a:solidFill>
          <a:ln w="12700">
            <a:solidFill>
              <a:srgbClr val="0068B7"/>
            </a:solidFill>
            <a:prstDash val="solid"/>
          </a:ln>
        </p:spPr>
      </p:sp>
      <p:sp>
        <p:nvSpPr>
          <p:cNvPr id="3" name="Shape 1"/>
          <p:cNvSpPr/>
          <p:nvPr/>
        </p:nvSpPr>
        <p:spPr>
          <a:xfrm>
            <a:off x="0" y="164592"/>
            <a:ext cx="146304" cy="6693408"/>
          </a:xfrm>
          <a:prstGeom prst="rect">
            <a:avLst/>
          </a:prstGeom>
          <a:solidFill>
            <a:srgbClr val="2F8A28"/>
          </a:solidFill>
          <a:ln w="12700">
            <a:solidFill>
              <a:srgbClr val="2F8A28"/>
            </a:solidFill>
            <a:prstDash val="solid"/>
          </a:ln>
        </p:spPr>
      </p:sp>
      <p:sp>
        <p:nvSpPr>
          <p:cNvPr id="4" name="Text 2"/>
          <p:cNvSpPr/>
          <p:nvPr/>
        </p:nvSpPr>
        <p:spPr>
          <a:xfrm>
            <a:off x="502920" y="292608"/>
            <a:ext cx="10149840" cy="256032"/>
          </a:xfrm>
          <a:prstGeom prst="rect">
            <a:avLst/>
          </a:prstGeom>
          <a:noFill/>
          <a:ln/>
        </p:spPr>
        <p:txBody>
          <a:bodyPr wrap="square" lIns="0" tIns="0" rIns="0" bIns="0" rtlCol="0" anchor="ctr"/>
          <a:lstStyle/>
          <a:p>
            <a:pPr indent="0" marL="0">
              <a:buNone/>
            </a:pPr>
            <a:r>
              <a:rPr lang="en-US" sz="900" b="1" dirty="0">
                <a:solidFill>
                  <a:srgbClr val="5F7181"/>
                </a:solidFill>
                <a:latin typeface="Aptos" pitchFamily="34" charset="0"/>
                <a:ea typeface="Aptos" pitchFamily="34" charset="-122"/>
                <a:cs typeface="Aptos" pitchFamily="34" charset="-120"/>
              </a:rPr>
              <a:t>AI Governance Board Chair Training</a:t>
            </a:r>
            <a:endParaRPr lang="en-US" sz="900" dirty="0"/>
          </a:p>
        </p:txBody>
      </p:sp>
      <p:sp>
        <p:nvSpPr>
          <p:cNvPr id="5" name="Text 3"/>
          <p:cNvSpPr/>
          <p:nvPr/>
        </p:nvSpPr>
        <p:spPr>
          <a:xfrm>
            <a:off x="502920" y="6537960"/>
            <a:ext cx="7772400" cy="201168"/>
          </a:xfrm>
          <a:prstGeom prst="rect">
            <a:avLst/>
          </a:prstGeom>
          <a:noFill/>
          <a:ln/>
        </p:spPr>
        <p:txBody>
          <a:bodyPr wrap="square" lIns="0" tIns="0" rIns="0" bIns="0" rtlCol="0" anchor="ctr"/>
          <a:lstStyle/>
          <a:p>
            <a:pPr indent="0" marL="0">
              <a:buNone/>
            </a:pPr>
            <a:r>
              <a:rPr lang="en-US" sz="800" dirty="0">
                <a:solidFill>
                  <a:srgbClr val="5F7181"/>
                </a:solidFill>
                <a:latin typeface="Aptos" pitchFamily="34" charset="0"/>
                <a:ea typeface="Aptos" pitchFamily="34" charset="-122"/>
                <a:cs typeface="Aptos" pitchFamily="34" charset="-120"/>
              </a:rPr>
              <a:t>AI Playbook and Toolkit for Public Health Departments</a:t>
            </a:r>
            <a:endParaRPr lang="en-US" sz="800" dirty="0"/>
          </a:p>
        </p:txBody>
      </p:sp>
      <p:sp>
        <p:nvSpPr>
          <p:cNvPr id="6" name="Text 4"/>
          <p:cNvSpPr/>
          <p:nvPr/>
        </p:nvSpPr>
        <p:spPr>
          <a:xfrm>
            <a:off x="9966960" y="6537960"/>
            <a:ext cx="1645920" cy="201168"/>
          </a:xfrm>
          <a:prstGeom prst="rect">
            <a:avLst/>
          </a:prstGeom>
          <a:noFill/>
          <a:ln/>
        </p:spPr>
        <p:txBody>
          <a:bodyPr wrap="square" lIns="0" tIns="0" rIns="0" bIns="0" rtlCol="0" anchor="ctr"/>
          <a:lstStyle/>
          <a:p>
            <a:pPr algn="r" indent="0" marL="0">
              <a:buNone/>
            </a:pPr>
            <a:r>
              <a:rPr lang="en-US" sz="800" dirty="0">
                <a:solidFill>
                  <a:srgbClr val="5F7181"/>
                </a:solidFill>
                <a:latin typeface="Aptos" pitchFamily="34" charset="0"/>
                <a:ea typeface="Aptos" pitchFamily="34" charset="-122"/>
                <a:cs typeface="Aptos" pitchFamily="34" charset="-120"/>
              </a:rPr>
              <a:t>Â© Paula Soper</a:t>
            </a:r>
            <a:endParaRPr lang="en-US" sz="800" dirty="0"/>
          </a:p>
        </p:txBody>
      </p:sp>
      <p:sp>
        <p:nvSpPr>
          <p:cNvPr id="7" name="Text 5"/>
          <p:cNvSpPr/>
          <p:nvPr/>
        </p:nvSpPr>
        <p:spPr>
          <a:xfrm>
            <a:off x="11137392" y="6510528"/>
            <a:ext cx="411480" cy="201168"/>
          </a:xfrm>
          <a:prstGeom prst="rect">
            <a:avLst/>
          </a:prstGeom>
          <a:noFill/>
          <a:ln/>
        </p:spPr>
        <p:txBody>
          <a:bodyPr wrap="square" lIns="0" tIns="0" rIns="0" bIns="0" rtlCol="0" anchor="ctr"/>
          <a:lstStyle/>
          <a:p>
            <a:pPr algn="r" indent="0" marL="0">
              <a:buNone/>
            </a:pPr>
            <a:r>
              <a:rPr lang="en-US" sz="900" dirty="0">
                <a:solidFill>
                  <a:srgbClr val="5F7181"/>
                </a:solidFill>
                <a:latin typeface="Aptos" pitchFamily="34" charset="0"/>
                <a:ea typeface="Aptos" pitchFamily="34" charset="-122"/>
                <a:cs typeface="Aptos" pitchFamily="34" charset="-120"/>
              </a:rPr>
              <a:t>5</a:t>
            </a:r>
            <a:endParaRPr lang="en-US" sz="900" dirty="0"/>
          </a:p>
        </p:txBody>
      </p:sp>
      <p:sp>
        <p:nvSpPr>
          <p:cNvPr id="8" name="Shape 6"/>
          <p:cNvSpPr/>
          <p:nvPr/>
        </p:nvSpPr>
        <p:spPr>
          <a:xfrm>
            <a:off x="640080" y="658368"/>
            <a:ext cx="420624" cy="420624"/>
          </a:xfrm>
          <a:prstGeom prst="ellipse">
            <a:avLst/>
          </a:prstGeom>
          <a:solidFill>
            <a:srgbClr val="0068B7"/>
          </a:solidFill>
          <a:ln w="12700">
            <a:solidFill>
              <a:srgbClr val="0068B7"/>
            </a:solidFill>
            <a:prstDash val="solid"/>
          </a:ln>
        </p:spPr>
      </p:sp>
      <p:sp>
        <p:nvSpPr>
          <p:cNvPr id="9" name="Text 7"/>
          <p:cNvSpPr/>
          <p:nvPr/>
        </p:nvSpPr>
        <p:spPr>
          <a:xfrm>
            <a:off x="640080" y="731520"/>
            <a:ext cx="420624" cy="164592"/>
          </a:xfrm>
          <a:prstGeom prst="rect">
            <a:avLst/>
          </a:prstGeom>
          <a:noFill/>
          <a:ln/>
        </p:spPr>
        <p:txBody>
          <a:bodyPr wrap="square" lIns="0" tIns="0" rIns="0" bIns="0" rtlCol="0" anchor="ctr"/>
          <a:lstStyle/>
          <a:p>
            <a:pPr algn="ctr" indent="0" marL="0">
              <a:buNone/>
            </a:pPr>
            <a:r>
              <a:rPr lang="en-US" sz="1100" b="1" dirty="0">
                <a:solidFill>
                  <a:srgbClr val="FFFFFF"/>
                </a:solidFill>
                <a:latin typeface="Aptos" pitchFamily="34" charset="0"/>
                <a:ea typeface="Aptos" pitchFamily="34" charset="-122"/>
                <a:cs typeface="Aptos" pitchFamily="34" charset="-120"/>
              </a:rPr>
              <a:t>1</a:t>
            </a:r>
            <a:endParaRPr lang="en-US" sz="1100" dirty="0"/>
          </a:p>
        </p:txBody>
      </p:sp>
      <p:sp>
        <p:nvSpPr>
          <p:cNvPr id="10" name="Text 8"/>
          <p:cNvSpPr/>
          <p:nvPr/>
        </p:nvSpPr>
        <p:spPr>
          <a:xfrm>
            <a:off x="640080" y="621792"/>
            <a:ext cx="10881360" cy="713232"/>
          </a:xfrm>
          <a:prstGeom prst="rect">
            <a:avLst/>
          </a:prstGeom>
          <a:noFill/>
          <a:ln/>
        </p:spPr>
        <p:txBody>
          <a:bodyPr wrap="square" lIns="0" tIns="0" rIns="0" bIns="0" rtlCol="0" anchor="ctr">
            <a:normAutofit/>
          </a:bodyPr>
          <a:lstStyle/>
          <a:p>
            <a:pPr indent="0" marL="0">
              <a:buNone/>
            </a:pPr>
            <a:r>
              <a:rPr lang="en-US" sz="3400" b="1" dirty="0">
                <a:solidFill>
                  <a:srgbClr val="003A63"/>
                </a:solidFill>
                <a:latin typeface="Aptos Display" pitchFamily="34" charset="0"/>
                <a:ea typeface="Aptos Display" pitchFamily="34" charset="-122"/>
                <a:cs typeface="Aptos Display" pitchFamily="34" charset="-120"/>
              </a:rPr>
              <a:t>Learning Objectives</a:t>
            </a:r>
            <a:endParaRPr lang="en-US" sz="3400" dirty="0"/>
          </a:p>
        </p:txBody>
      </p:sp>
      <p:sp>
        <p:nvSpPr>
          <p:cNvPr id="11" name="Text 9"/>
          <p:cNvSpPr/>
          <p:nvPr/>
        </p:nvSpPr>
        <p:spPr>
          <a:xfrm>
            <a:off x="868680" y="1508760"/>
            <a:ext cx="6537960" cy="4160520"/>
          </a:xfrm>
          <a:prstGeom prst="rect">
            <a:avLst/>
          </a:prstGeom>
          <a:noFill/>
          <a:ln/>
        </p:spPr>
        <p:txBody>
          <a:bodyPr wrap="square" lIns="635" tIns="635" rIns="635" bIns="635" rtlCol="0" anchor="t">
            <a:normAutofit/>
          </a:bodyPr>
          <a:lstStyle/>
          <a:p>
            <a:r>
              <a:rPr lang="en-US" sz="2100" dirty="0">
                <a:solidFill>
                  <a:srgbClr val="17364A"/>
                </a:solidFill>
                <a:latin typeface="Aptos" pitchFamily="34" charset="0"/>
                <a:ea typeface="Aptos" pitchFamily="34" charset="-122"/>
                <a:cs typeface="Aptos" pitchFamily="34" charset="-120"/>
              </a:rPr>
              <a:t>Explain the purpose of ai governance board chair training in public health AI.</a:t>
            </a:r>
            <a:endParaRPr lang="en-US" sz="2100" dirty="0"/>
          </a:p>
          <a:p>
            <a:r>
              <a:rPr lang="en-US" sz="2100" dirty="0">
                <a:solidFill>
                  <a:srgbClr val="17364A"/>
                </a:solidFill>
                <a:latin typeface="Aptos" pitchFamily="34" charset="0"/>
                <a:ea typeface="Aptos" pitchFamily="34" charset="-122"/>
                <a:cs typeface="Aptos" pitchFamily="34" charset="-120"/>
              </a:rPr>
              <a:t>Identify the roles, decisions, risks, and documentation needed for the topic.</a:t>
            </a:r>
            <a:endParaRPr lang="en-US" sz="2100" dirty="0"/>
          </a:p>
          <a:p>
            <a:r>
              <a:rPr lang="en-US" sz="2100" dirty="0">
                <a:solidFill>
                  <a:srgbClr val="17364A"/>
                </a:solidFill>
                <a:latin typeface="Aptos" pitchFamily="34" charset="0"/>
                <a:ea typeface="Aptos" pitchFamily="34" charset="-122"/>
                <a:cs typeface="Aptos" pitchFamily="34" charset="-120"/>
              </a:rPr>
              <a:t>Apply the topic to a real or realistic public health workflow or decision.</a:t>
            </a:r>
            <a:endParaRPr lang="en-US" sz="2100" dirty="0"/>
          </a:p>
        </p:txBody>
      </p:sp>
      <p:sp>
        <p:nvSpPr>
          <p:cNvPr id="12" name="Shape 10"/>
          <p:cNvSpPr/>
          <p:nvPr/>
        </p:nvSpPr>
        <p:spPr>
          <a:xfrm>
            <a:off x="7909560" y="1417320"/>
            <a:ext cx="3154680" cy="1828800"/>
          </a:xfrm>
          <a:prstGeom prst="roundRect">
            <a:avLst>
              <a:gd name="adj" fmla="val 6000"/>
            </a:avLst>
          </a:prstGeom>
          <a:solidFill>
            <a:srgbClr val="EEF8ED"/>
          </a:solidFill>
          <a:ln w="12700">
            <a:solidFill>
              <a:srgbClr val="B9D7E6"/>
            </a:solidFill>
            <a:prstDash val="solid"/>
          </a:ln>
        </p:spPr>
      </p:sp>
      <p:sp>
        <p:nvSpPr>
          <p:cNvPr id="13" name="Text 11"/>
          <p:cNvSpPr/>
          <p:nvPr/>
        </p:nvSpPr>
        <p:spPr>
          <a:xfrm>
            <a:off x="8074152" y="1563624"/>
            <a:ext cx="282549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Key idea</a:t>
            </a:r>
            <a:endParaRPr lang="en-US" sz="1300" dirty="0"/>
          </a:p>
        </p:txBody>
      </p:sp>
      <p:sp>
        <p:nvSpPr>
          <p:cNvPr id="14" name="Text 12"/>
          <p:cNvSpPr/>
          <p:nvPr/>
        </p:nvSpPr>
        <p:spPr>
          <a:xfrm>
            <a:off x="8074152" y="1920240"/>
            <a:ext cx="2825496" cy="1188720"/>
          </a:xfrm>
          <a:prstGeom prst="rect">
            <a:avLst/>
          </a:prstGeom>
          <a:noFill/>
          <a:ln/>
        </p:spPr>
        <p:txBody>
          <a:bodyPr wrap="square" lIns="0" tIns="0" rIns="0" bIns="0" rtlCol="0" anchor="t">
            <a:normAutofit/>
          </a:bodyPr>
          <a:lstStyle/>
          <a:p>
            <a:pPr indent="0" marL="0">
              <a:buNone/>
            </a:pPr>
            <a:r>
              <a:rPr lang="en-US" sz="1550" dirty="0">
                <a:solidFill>
                  <a:srgbClr val="17364A"/>
                </a:solidFill>
                <a:latin typeface="Aptos" pitchFamily="34" charset="0"/>
                <a:ea typeface="Aptos" pitchFamily="34" charset="-122"/>
                <a:cs typeface="Aptos" pitchFamily="34" charset="-120"/>
              </a:rPr>
              <a:t>Explain the purpose of ai governance board chair training in public health AI.</a:t>
            </a:r>
            <a:endParaRPr lang="en-US" sz="1550" dirty="0"/>
          </a:p>
        </p:txBody>
      </p:sp>
      <p:sp>
        <p:nvSpPr>
          <p:cNvPr id="15" name="Shape 13"/>
          <p:cNvSpPr/>
          <p:nvPr/>
        </p:nvSpPr>
        <p:spPr>
          <a:xfrm>
            <a:off x="7909560" y="3520440"/>
            <a:ext cx="3154680" cy="1737360"/>
          </a:xfrm>
          <a:prstGeom prst="roundRect">
            <a:avLst>
              <a:gd name="adj" fmla="val 6316"/>
            </a:avLst>
          </a:prstGeom>
          <a:solidFill>
            <a:srgbClr val="EAF6F8"/>
          </a:solidFill>
          <a:ln w="12700">
            <a:solidFill>
              <a:srgbClr val="B9D7E6"/>
            </a:solidFill>
            <a:prstDash val="solid"/>
          </a:ln>
        </p:spPr>
      </p:sp>
      <p:sp>
        <p:nvSpPr>
          <p:cNvPr id="16" name="Text 14"/>
          <p:cNvSpPr/>
          <p:nvPr/>
        </p:nvSpPr>
        <p:spPr>
          <a:xfrm>
            <a:off x="8074152" y="3666744"/>
            <a:ext cx="282549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Use this for</a:t>
            </a:r>
            <a:endParaRPr lang="en-US" sz="1300" dirty="0"/>
          </a:p>
        </p:txBody>
      </p:sp>
      <p:sp>
        <p:nvSpPr>
          <p:cNvPr id="17" name="Text 15"/>
          <p:cNvSpPr/>
          <p:nvPr/>
        </p:nvSpPr>
        <p:spPr>
          <a:xfrm>
            <a:off x="8074152" y="4023360"/>
            <a:ext cx="2825496" cy="1097280"/>
          </a:xfrm>
          <a:prstGeom prst="rect">
            <a:avLst/>
          </a:prstGeom>
          <a:noFill/>
          <a:ln/>
        </p:spPr>
        <p:txBody>
          <a:bodyPr wrap="square" lIns="0" tIns="0" rIns="0" bIns="0" rtlCol="0" anchor="t">
            <a:normAutofit/>
          </a:bodyPr>
          <a:lstStyle/>
          <a:p>
            <a:pPr indent="0" marL="0">
              <a:buNone/>
            </a:pPr>
            <a:r>
              <a:rPr lang="en-US" sz="1550" dirty="0">
                <a:solidFill>
                  <a:srgbClr val="17364A"/>
                </a:solidFill>
                <a:latin typeface="Aptos" pitchFamily="34" charset="0"/>
                <a:ea typeface="Aptos" pitchFamily="34" charset="-122"/>
                <a:cs typeface="Aptos" pitchFamily="34" charset="-120"/>
              </a:rPr>
              <a:t>Connect the concept to public health decisions, safeguards, documentation, or implementation work.</a:t>
            </a:r>
            <a:endParaRPr lang="en-US" sz="1550"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bg>
      <p:bgPr>
        <a:solidFill>
          <a:srgbClr val="F7FBFD"/>
        </a:solidFill>
      </p:bgPr>
    </p:bg>
    <p:spTree>
      <p:nvGrpSpPr>
        <p:cNvPr id="1" name=""/>
        <p:cNvGrpSpPr/>
        <p:nvPr/>
      </p:nvGrpSpPr>
      <p:grpSpPr>
        <a:xfrm>
          <a:off x="0" y="0"/>
          <a:ext cx="0" cy="0"/>
          <a:chOff x="0" y="0"/>
          <a:chExt cx="0" cy="0"/>
        </a:xfrm>
      </p:grpSpPr>
      <p:sp>
        <p:nvSpPr>
          <p:cNvPr id="2" name="Shape 0"/>
          <p:cNvSpPr/>
          <p:nvPr/>
        </p:nvSpPr>
        <p:spPr>
          <a:xfrm>
            <a:off x="0" y="0"/>
            <a:ext cx="12191695" cy="164592"/>
          </a:xfrm>
          <a:prstGeom prst="rect">
            <a:avLst/>
          </a:prstGeom>
          <a:solidFill>
            <a:srgbClr val="0068B7"/>
          </a:solidFill>
          <a:ln w="12700">
            <a:solidFill>
              <a:srgbClr val="0068B7"/>
            </a:solidFill>
            <a:prstDash val="solid"/>
          </a:ln>
        </p:spPr>
      </p:sp>
      <p:sp>
        <p:nvSpPr>
          <p:cNvPr id="3" name="Shape 1"/>
          <p:cNvSpPr/>
          <p:nvPr/>
        </p:nvSpPr>
        <p:spPr>
          <a:xfrm>
            <a:off x="0" y="164592"/>
            <a:ext cx="146304" cy="6693408"/>
          </a:xfrm>
          <a:prstGeom prst="rect">
            <a:avLst/>
          </a:prstGeom>
          <a:solidFill>
            <a:srgbClr val="2F8A28"/>
          </a:solidFill>
          <a:ln w="12700">
            <a:solidFill>
              <a:srgbClr val="2F8A28"/>
            </a:solidFill>
            <a:prstDash val="solid"/>
          </a:ln>
        </p:spPr>
      </p:sp>
      <p:sp>
        <p:nvSpPr>
          <p:cNvPr id="4" name="Text 2"/>
          <p:cNvSpPr/>
          <p:nvPr/>
        </p:nvSpPr>
        <p:spPr>
          <a:xfrm>
            <a:off x="502920" y="292608"/>
            <a:ext cx="10149840" cy="256032"/>
          </a:xfrm>
          <a:prstGeom prst="rect">
            <a:avLst/>
          </a:prstGeom>
          <a:noFill/>
          <a:ln/>
        </p:spPr>
        <p:txBody>
          <a:bodyPr wrap="square" lIns="0" tIns="0" rIns="0" bIns="0" rtlCol="0" anchor="ctr"/>
          <a:lstStyle/>
          <a:p>
            <a:pPr indent="0" marL="0">
              <a:buNone/>
            </a:pPr>
            <a:r>
              <a:rPr lang="en-US" sz="900" b="1" dirty="0">
                <a:solidFill>
                  <a:srgbClr val="5F7181"/>
                </a:solidFill>
                <a:latin typeface="Aptos" pitchFamily="34" charset="0"/>
                <a:ea typeface="Aptos" pitchFamily="34" charset="-122"/>
                <a:cs typeface="Aptos" pitchFamily="34" charset="-120"/>
              </a:rPr>
              <a:t>AI Governance Board Chair Training</a:t>
            </a:r>
            <a:endParaRPr lang="en-US" sz="900" dirty="0"/>
          </a:p>
        </p:txBody>
      </p:sp>
      <p:sp>
        <p:nvSpPr>
          <p:cNvPr id="5" name="Text 3"/>
          <p:cNvSpPr/>
          <p:nvPr/>
        </p:nvSpPr>
        <p:spPr>
          <a:xfrm>
            <a:off x="502920" y="6537960"/>
            <a:ext cx="7772400" cy="201168"/>
          </a:xfrm>
          <a:prstGeom prst="rect">
            <a:avLst/>
          </a:prstGeom>
          <a:noFill/>
          <a:ln/>
        </p:spPr>
        <p:txBody>
          <a:bodyPr wrap="square" lIns="0" tIns="0" rIns="0" bIns="0" rtlCol="0" anchor="ctr"/>
          <a:lstStyle/>
          <a:p>
            <a:pPr indent="0" marL="0">
              <a:buNone/>
            </a:pPr>
            <a:r>
              <a:rPr lang="en-US" sz="800" dirty="0">
                <a:solidFill>
                  <a:srgbClr val="5F7181"/>
                </a:solidFill>
                <a:latin typeface="Aptos" pitchFamily="34" charset="0"/>
                <a:ea typeface="Aptos" pitchFamily="34" charset="-122"/>
                <a:cs typeface="Aptos" pitchFamily="34" charset="-120"/>
              </a:rPr>
              <a:t>AI Playbook and Toolkit for Public Health Departments</a:t>
            </a:r>
            <a:endParaRPr lang="en-US" sz="800" dirty="0"/>
          </a:p>
        </p:txBody>
      </p:sp>
      <p:sp>
        <p:nvSpPr>
          <p:cNvPr id="6" name="Text 4"/>
          <p:cNvSpPr/>
          <p:nvPr/>
        </p:nvSpPr>
        <p:spPr>
          <a:xfrm>
            <a:off x="9966960" y="6537960"/>
            <a:ext cx="1645920" cy="201168"/>
          </a:xfrm>
          <a:prstGeom prst="rect">
            <a:avLst/>
          </a:prstGeom>
          <a:noFill/>
          <a:ln/>
        </p:spPr>
        <p:txBody>
          <a:bodyPr wrap="square" lIns="0" tIns="0" rIns="0" bIns="0" rtlCol="0" anchor="ctr"/>
          <a:lstStyle/>
          <a:p>
            <a:pPr algn="r" indent="0" marL="0">
              <a:buNone/>
            </a:pPr>
            <a:r>
              <a:rPr lang="en-US" sz="800" dirty="0">
                <a:solidFill>
                  <a:srgbClr val="5F7181"/>
                </a:solidFill>
                <a:latin typeface="Aptos" pitchFamily="34" charset="0"/>
                <a:ea typeface="Aptos" pitchFamily="34" charset="-122"/>
                <a:cs typeface="Aptos" pitchFamily="34" charset="-120"/>
              </a:rPr>
              <a:t>Â© Paula Soper</a:t>
            </a:r>
            <a:endParaRPr lang="en-US" sz="800" dirty="0"/>
          </a:p>
        </p:txBody>
      </p:sp>
      <p:sp>
        <p:nvSpPr>
          <p:cNvPr id="7" name="Text 5"/>
          <p:cNvSpPr/>
          <p:nvPr/>
        </p:nvSpPr>
        <p:spPr>
          <a:xfrm>
            <a:off x="11137392" y="6510528"/>
            <a:ext cx="411480" cy="201168"/>
          </a:xfrm>
          <a:prstGeom prst="rect">
            <a:avLst/>
          </a:prstGeom>
          <a:noFill/>
          <a:ln/>
        </p:spPr>
        <p:txBody>
          <a:bodyPr wrap="square" lIns="0" tIns="0" rIns="0" bIns="0" rtlCol="0" anchor="ctr"/>
          <a:lstStyle/>
          <a:p>
            <a:pPr algn="r" indent="0" marL="0">
              <a:buNone/>
            </a:pPr>
            <a:r>
              <a:rPr lang="en-US" sz="900" dirty="0">
                <a:solidFill>
                  <a:srgbClr val="5F7181"/>
                </a:solidFill>
                <a:latin typeface="Aptos" pitchFamily="34" charset="0"/>
                <a:ea typeface="Aptos" pitchFamily="34" charset="-122"/>
                <a:cs typeface="Aptos" pitchFamily="34" charset="-120"/>
              </a:rPr>
              <a:t>6</a:t>
            </a:r>
            <a:endParaRPr lang="en-US" sz="900" dirty="0"/>
          </a:p>
        </p:txBody>
      </p:sp>
      <p:sp>
        <p:nvSpPr>
          <p:cNvPr id="8" name="Shape 6"/>
          <p:cNvSpPr/>
          <p:nvPr/>
        </p:nvSpPr>
        <p:spPr>
          <a:xfrm>
            <a:off x="640080" y="658368"/>
            <a:ext cx="420624" cy="420624"/>
          </a:xfrm>
          <a:prstGeom prst="ellipse">
            <a:avLst/>
          </a:prstGeom>
          <a:solidFill>
            <a:srgbClr val="0068B7"/>
          </a:solidFill>
          <a:ln w="12700">
            <a:solidFill>
              <a:srgbClr val="0068B7"/>
            </a:solidFill>
            <a:prstDash val="solid"/>
          </a:ln>
        </p:spPr>
      </p:sp>
      <p:sp>
        <p:nvSpPr>
          <p:cNvPr id="9" name="Text 7"/>
          <p:cNvSpPr/>
          <p:nvPr/>
        </p:nvSpPr>
        <p:spPr>
          <a:xfrm>
            <a:off x="640080" y="731520"/>
            <a:ext cx="420624" cy="164592"/>
          </a:xfrm>
          <a:prstGeom prst="rect">
            <a:avLst/>
          </a:prstGeom>
          <a:noFill/>
          <a:ln/>
        </p:spPr>
        <p:txBody>
          <a:bodyPr wrap="square" lIns="0" tIns="0" rIns="0" bIns="0" rtlCol="0" anchor="ctr"/>
          <a:lstStyle/>
          <a:p>
            <a:pPr algn="ctr" indent="0" marL="0">
              <a:buNone/>
            </a:pPr>
            <a:r>
              <a:rPr lang="en-US" sz="1100" b="1" dirty="0">
                <a:solidFill>
                  <a:srgbClr val="FFFFFF"/>
                </a:solidFill>
                <a:latin typeface="Aptos" pitchFamily="34" charset="0"/>
                <a:ea typeface="Aptos" pitchFamily="34" charset="-122"/>
                <a:cs typeface="Aptos" pitchFamily="34" charset="-120"/>
              </a:rPr>
              <a:t>2</a:t>
            </a:r>
            <a:endParaRPr lang="en-US" sz="1100" dirty="0"/>
          </a:p>
        </p:txBody>
      </p:sp>
      <p:sp>
        <p:nvSpPr>
          <p:cNvPr id="10" name="Text 8"/>
          <p:cNvSpPr/>
          <p:nvPr/>
        </p:nvSpPr>
        <p:spPr>
          <a:xfrm>
            <a:off x="640080" y="621792"/>
            <a:ext cx="10881360" cy="713232"/>
          </a:xfrm>
          <a:prstGeom prst="rect">
            <a:avLst/>
          </a:prstGeom>
          <a:noFill/>
          <a:ln/>
        </p:spPr>
        <p:txBody>
          <a:bodyPr wrap="square" lIns="0" tIns="0" rIns="0" bIns="0" rtlCol="0" anchor="ctr">
            <a:normAutofit/>
          </a:bodyPr>
          <a:lstStyle/>
          <a:p>
            <a:pPr indent="0" marL="0">
              <a:buNone/>
            </a:pPr>
            <a:r>
              <a:rPr lang="en-US" sz="3400" b="1" dirty="0">
                <a:solidFill>
                  <a:srgbClr val="003A63"/>
                </a:solidFill>
                <a:latin typeface="Aptos Display" pitchFamily="34" charset="0"/>
                <a:ea typeface="Aptos Display" pitchFamily="34" charset="-122"/>
                <a:cs typeface="Aptos Display" pitchFamily="34" charset="-120"/>
              </a:rPr>
              <a:t>Module Overview</a:t>
            </a:r>
            <a:endParaRPr lang="en-US" sz="3400" dirty="0"/>
          </a:p>
        </p:txBody>
      </p:sp>
      <p:sp>
        <p:nvSpPr>
          <p:cNvPr id="11" name="Text 9"/>
          <p:cNvSpPr/>
          <p:nvPr/>
        </p:nvSpPr>
        <p:spPr>
          <a:xfrm>
            <a:off x="868680" y="1508760"/>
            <a:ext cx="6537960" cy="4160520"/>
          </a:xfrm>
          <a:prstGeom prst="rect">
            <a:avLst/>
          </a:prstGeom>
          <a:noFill/>
          <a:ln/>
        </p:spPr>
        <p:txBody>
          <a:bodyPr wrap="square" lIns="635" tIns="635" rIns="635" bIns="635" rtlCol="0" anchor="t">
            <a:normAutofit/>
          </a:bodyPr>
          <a:lstStyle/>
          <a:p>
            <a:r>
              <a:rPr lang="en-US" sz="2100" dirty="0">
                <a:solidFill>
                  <a:srgbClr val="17364A"/>
                </a:solidFill>
                <a:latin typeface="Aptos" pitchFamily="34" charset="0"/>
                <a:ea typeface="Aptos" pitchFamily="34" charset="-122"/>
                <a:cs typeface="Aptos" pitchFamily="34" charset="-120"/>
              </a:rPr>
              <a:t>This module focuses on running governance meetings, documenting decisions, and managing risk escalation.</a:t>
            </a:r>
            <a:endParaRPr lang="en-US" sz="2100" dirty="0"/>
          </a:p>
          <a:p>
            <a:r>
              <a:rPr lang="en-US" sz="2100" dirty="0">
                <a:solidFill>
                  <a:srgbClr val="17364A"/>
                </a:solidFill>
                <a:latin typeface="Aptos" pitchFamily="34" charset="0"/>
                <a:ea typeface="Aptos" pitchFamily="34" charset="-122"/>
                <a:cs typeface="Aptos" pitchFamily="34" charset="-120"/>
              </a:rPr>
              <a:t>It is designed for public health staff who must translate responsible AI principles into repeatable.</a:t>
            </a:r>
            <a:endParaRPr lang="en-US" sz="2100" dirty="0"/>
          </a:p>
          <a:p>
            <a:r>
              <a:rPr lang="en-US" sz="2100" dirty="0">
                <a:solidFill>
                  <a:srgbClr val="17364A"/>
                </a:solidFill>
                <a:latin typeface="Aptos" pitchFamily="34" charset="0"/>
                <a:ea typeface="Aptos" pitchFamily="34" charset="-122"/>
                <a:cs typeface="Aptos" pitchFamily="34" charset="-120"/>
              </a:rPr>
              <a:t>The module helps learners move beyond general awareness by producing a practical artifact that can be.</a:t>
            </a:r>
            <a:endParaRPr lang="en-US" sz="2100" dirty="0"/>
          </a:p>
        </p:txBody>
      </p:sp>
      <p:sp>
        <p:nvSpPr>
          <p:cNvPr id="12" name="Shape 10"/>
          <p:cNvSpPr/>
          <p:nvPr/>
        </p:nvSpPr>
        <p:spPr>
          <a:xfrm>
            <a:off x="7909560" y="1417320"/>
            <a:ext cx="3154680" cy="1828800"/>
          </a:xfrm>
          <a:prstGeom prst="roundRect">
            <a:avLst>
              <a:gd name="adj" fmla="val 6000"/>
            </a:avLst>
          </a:prstGeom>
          <a:solidFill>
            <a:srgbClr val="EEF8ED"/>
          </a:solidFill>
          <a:ln w="12700">
            <a:solidFill>
              <a:srgbClr val="B9D7E6"/>
            </a:solidFill>
            <a:prstDash val="solid"/>
          </a:ln>
        </p:spPr>
      </p:sp>
      <p:sp>
        <p:nvSpPr>
          <p:cNvPr id="13" name="Text 11"/>
          <p:cNvSpPr/>
          <p:nvPr/>
        </p:nvSpPr>
        <p:spPr>
          <a:xfrm>
            <a:off x="8074152" y="1563624"/>
            <a:ext cx="282549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Key idea</a:t>
            </a:r>
            <a:endParaRPr lang="en-US" sz="1300" dirty="0"/>
          </a:p>
        </p:txBody>
      </p:sp>
      <p:sp>
        <p:nvSpPr>
          <p:cNvPr id="14" name="Text 12"/>
          <p:cNvSpPr/>
          <p:nvPr/>
        </p:nvSpPr>
        <p:spPr>
          <a:xfrm>
            <a:off x="8074152" y="1920240"/>
            <a:ext cx="2825496" cy="1188720"/>
          </a:xfrm>
          <a:prstGeom prst="rect">
            <a:avLst/>
          </a:prstGeom>
          <a:noFill/>
          <a:ln/>
        </p:spPr>
        <p:txBody>
          <a:bodyPr wrap="square" lIns="0" tIns="0" rIns="0" bIns="0" rtlCol="0" anchor="t">
            <a:normAutofit/>
          </a:bodyPr>
          <a:lstStyle/>
          <a:p>
            <a:pPr indent="0" marL="0">
              <a:buNone/>
            </a:pPr>
            <a:r>
              <a:rPr lang="en-US" sz="1550" dirty="0">
                <a:solidFill>
                  <a:srgbClr val="17364A"/>
                </a:solidFill>
                <a:latin typeface="Aptos" pitchFamily="34" charset="0"/>
                <a:ea typeface="Aptos" pitchFamily="34" charset="-122"/>
                <a:cs typeface="Aptos" pitchFamily="34" charset="-120"/>
              </a:rPr>
              <a:t>This module focuses on running governance meetings, documenting decisions, and managing risk escalation.</a:t>
            </a:r>
            <a:endParaRPr lang="en-US" sz="1550" dirty="0"/>
          </a:p>
        </p:txBody>
      </p:sp>
      <p:sp>
        <p:nvSpPr>
          <p:cNvPr id="15" name="Shape 13"/>
          <p:cNvSpPr/>
          <p:nvPr/>
        </p:nvSpPr>
        <p:spPr>
          <a:xfrm>
            <a:off x="7909560" y="3520440"/>
            <a:ext cx="3154680" cy="1737360"/>
          </a:xfrm>
          <a:prstGeom prst="roundRect">
            <a:avLst>
              <a:gd name="adj" fmla="val 6316"/>
            </a:avLst>
          </a:prstGeom>
          <a:solidFill>
            <a:srgbClr val="EAF6F8"/>
          </a:solidFill>
          <a:ln w="12700">
            <a:solidFill>
              <a:srgbClr val="B9D7E6"/>
            </a:solidFill>
            <a:prstDash val="solid"/>
          </a:ln>
        </p:spPr>
      </p:sp>
      <p:sp>
        <p:nvSpPr>
          <p:cNvPr id="16" name="Text 14"/>
          <p:cNvSpPr/>
          <p:nvPr/>
        </p:nvSpPr>
        <p:spPr>
          <a:xfrm>
            <a:off x="8074152" y="3666744"/>
            <a:ext cx="282549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Use this for</a:t>
            </a:r>
            <a:endParaRPr lang="en-US" sz="1300" dirty="0"/>
          </a:p>
        </p:txBody>
      </p:sp>
      <p:sp>
        <p:nvSpPr>
          <p:cNvPr id="17" name="Text 15"/>
          <p:cNvSpPr/>
          <p:nvPr/>
        </p:nvSpPr>
        <p:spPr>
          <a:xfrm>
            <a:off x="8074152" y="4023360"/>
            <a:ext cx="2825496" cy="1097280"/>
          </a:xfrm>
          <a:prstGeom prst="rect">
            <a:avLst/>
          </a:prstGeom>
          <a:noFill/>
          <a:ln/>
        </p:spPr>
        <p:txBody>
          <a:bodyPr wrap="square" lIns="0" tIns="0" rIns="0" bIns="0" rtlCol="0" anchor="t">
            <a:normAutofit/>
          </a:bodyPr>
          <a:lstStyle/>
          <a:p>
            <a:pPr indent="0" marL="0">
              <a:buNone/>
            </a:pPr>
            <a:r>
              <a:rPr lang="en-US" sz="1550" dirty="0">
                <a:solidFill>
                  <a:srgbClr val="17364A"/>
                </a:solidFill>
                <a:latin typeface="Aptos" pitchFamily="34" charset="0"/>
                <a:ea typeface="Aptos" pitchFamily="34" charset="-122"/>
                <a:cs typeface="Aptos" pitchFamily="34" charset="-120"/>
              </a:rPr>
              <a:t>Connect the concept to public health decisions, safeguards, documentation, or implementation work.</a:t>
            </a:r>
            <a:endParaRPr lang="en-US" sz="1550" dirty="0"/>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bg>
      <p:bgPr>
        <a:solidFill>
          <a:srgbClr val="F7FBFD"/>
        </a:solidFill>
      </p:bgPr>
    </p:bg>
    <p:spTree>
      <p:nvGrpSpPr>
        <p:cNvPr id="1" name=""/>
        <p:cNvGrpSpPr/>
        <p:nvPr/>
      </p:nvGrpSpPr>
      <p:grpSpPr>
        <a:xfrm>
          <a:off x="0" y="0"/>
          <a:ext cx="0" cy="0"/>
          <a:chOff x="0" y="0"/>
          <a:chExt cx="0" cy="0"/>
        </a:xfrm>
      </p:grpSpPr>
      <p:sp>
        <p:nvSpPr>
          <p:cNvPr id="2" name="Shape 0"/>
          <p:cNvSpPr/>
          <p:nvPr/>
        </p:nvSpPr>
        <p:spPr>
          <a:xfrm>
            <a:off x="0" y="0"/>
            <a:ext cx="12191695" cy="164592"/>
          </a:xfrm>
          <a:prstGeom prst="rect">
            <a:avLst/>
          </a:prstGeom>
          <a:solidFill>
            <a:srgbClr val="0068B7"/>
          </a:solidFill>
          <a:ln w="12700">
            <a:solidFill>
              <a:srgbClr val="0068B7"/>
            </a:solidFill>
            <a:prstDash val="solid"/>
          </a:ln>
        </p:spPr>
      </p:sp>
      <p:sp>
        <p:nvSpPr>
          <p:cNvPr id="3" name="Shape 1"/>
          <p:cNvSpPr/>
          <p:nvPr/>
        </p:nvSpPr>
        <p:spPr>
          <a:xfrm>
            <a:off x="0" y="164592"/>
            <a:ext cx="146304" cy="6693408"/>
          </a:xfrm>
          <a:prstGeom prst="rect">
            <a:avLst/>
          </a:prstGeom>
          <a:solidFill>
            <a:srgbClr val="2F8A28"/>
          </a:solidFill>
          <a:ln w="12700">
            <a:solidFill>
              <a:srgbClr val="2F8A28"/>
            </a:solidFill>
            <a:prstDash val="solid"/>
          </a:ln>
        </p:spPr>
      </p:sp>
      <p:sp>
        <p:nvSpPr>
          <p:cNvPr id="4" name="Text 2"/>
          <p:cNvSpPr/>
          <p:nvPr/>
        </p:nvSpPr>
        <p:spPr>
          <a:xfrm>
            <a:off x="502920" y="292608"/>
            <a:ext cx="10149840" cy="256032"/>
          </a:xfrm>
          <a:prstGeom prst="rect">
            <a:avLst/>
          </a:prstGeom>
          <a:noFill/>
          <a:ln/>
        </p:spPr>
        <p:txBody>
          <a:bodyPr wrap="square" lIns="0" tIns="0" rIns="0" bIns="0" rtlCol="0" anchor="ctr"/>
          <a:lstStyle/>
          <a:p>
            <a:pPr indent="0" marL="0">
              <a:buNone/>
            </a:pPr>
            <a:r>
              <a:rPr lang="en-US" sz="900" b="1" dirty="0">
                <a:solidFill>
                  <a:srgbClr val="5F7181"/>
                </a:solidFill>
                <a:latin typeface="Aptos" pitchFamily="34" charset="0"/>
                <a:ea typeface="Aptos" pitchFamily="34" charset="-122"/>
                <a:cs typeface="Aptos" pitchFamily="34" charset="-120"/>
              </a:rPr>
              <a:t>AI Governance Board Chair Training</a:t>
            </a:r>
            <a:endParaRPr lang="en-US" sz="900" dirty="0"/>
          </a:p>
        </p:txBody>
      </p:sp>
      <p:sp>
        <p:nvSpPr>
          <p:cNvPr id="5" name="Text 3"/>
          <p:cNvSpPr/>
          <p:nvPr/>
        </p:nvSpPr>
        <p:spPr>
          <a:xfrm>
            <a:off x="502920" y="6537960"/>
            <a:ext cx="7772400" cy="201168"/>
          </a:xfrm>
          <a:prstGeom prst="rect">
            <a:avLst/>
          </a:prstGeom>
          <a:noFill/>
          <a:ln/>
        </p:spPr>
        <p:txBody>
          <a:bodyPr wrap="square" lIns="0" tIns="0" rIns="0" bIns="0" rtlCol="0" anchor="ctr"/>
          <a:lstStyle/>
          <a:p>
            <a:pPr indent="0" marL="0">
              <a:buNone/>
            </a:pPr>
            <a:r>
              <a:rPr lang="en-US" sz="800" dirty="0">
                <a:solidFill>
                  <a:srgbClr val="5F7181"/>
                </a:solidFill>
                <a:latin typeface="Aptos" pitchFamily="34" charset="0"/>
                <a:ea typeface="Aptos" pitchFamily="34" charset="-122"/>
                <a:cs typeface="Aptos" pitchFamily="34" charset="-120"/>
              </a:rPr>
              <a:t>AI Playbook and Toolkit for Public Health Departments</a:t>
            </a:r>
            <a:endParaRPr lang="en-US" sz="800" dirty="0"/>
          </a:p>
        </p:txBody>
      </p:sp>
      <p:sp>
        <p:nvSpPr>
          <p:cNvPr id="6" name="Text 4"/>
          <p:cNvSpPr/>
          <p:nvPr/>
        </p:nvSpPr>
        <p:spPr>
          <a:xfrm>
            <a:off x="9966960" y="6537960"/>
            <a:ext cx="1645920" cy="201168"/>
          </a:xfrm>
          <a:prstGeom prst="rect">
            <a:avLst/>
          </a:prstGeom>
          <a:noFill/>
          <a:ln/>
        </p:spPr>
        <p:txBody>
          <a:bodyPr wrap="square" lIns="0" tIns="0" rIns="0" bIns="0" rtlCol="0" anchor="ctr"/>
          <a:lstStyle/>
          <a:p>
            <a:pPr algn="r" indent="0" marL="0">
              <a:buNone/>
            </a:pPr>
            <a:r>
              <a:rPr lang="en-US" sz="800" dirty="0">
                <a:solidFill>
                  <a:srgbClr val="5F7181"/>
                </a:solidFill>
                <a:latin typeface="Aptos" pitchFamily="34" charset="0"/>
                <a:ea typeface="Aptos" pitchFamily="34" charset="-122"/>
                <a:cs typeface="Aptos" pitchFamily="34" charset="-120"/>
              </a:rPr>
              <a:t>Â© Paula Soper</a:t>
            </a:r>
            <a:endParaRPr lang="en-US" sz="800" dirty="0"/>
          </a:p>
        </p:txBody>
      </p:sp>
      <p:sp>
        <p:nvSpPr>
          <p:cNvPr id="7" name="Text 5"/>
          <p:cNvSpPr/>
          <p:nvPr/>
        </p:nvSpPr>
        <p:spPr>
          <a:xfrm>
            <a:off x="11137392" y="6510528"/>
            <a:ext cx="411480" cy="201168"/>
          </a:xfrm>
          <a:prstGeom prst="rect">
            <a:avLst/>
          </a:prstGeom>
          <a:noFill/>
          <a:ln/>
        </p:spPr>
        <p:txBody>
          <a:bodyPr wrap="square" lIns="0" tIns="0" rIns="0" bIns="0" rtlCol="0" anchor="ctr"/>
          <a:lstStyle/>
          <a:p>
            <a:pPr algn="r" indent="0" marL="0">
              <a:buNone/>
            </a:pPr>
            <a:r>
              <a:rPr lang="en-US" sz="900" dirty="0">
                <a:solidFill>
                  <a:srgbClr val="5F7181"/>
                </a:solidFill>
                <a:latin typeface="Aptos" pitchFamily="34" charset="0"/>
                <a:ea typeface="Aptos" pitchFamily="34" charset="-122"/>
                <a:cs typeface="Aptos" pitchFamily="34" charset="-120"/>
              </a:rPr>
              <a:t>7</a:t>
            </a:r>
            <a:endParaRPr lang="en-US" sz="900" dirty="0"/>
          </a:p>
        </p:txBody>
      </p:sp>
      <p:sp>
        <p:nvSpPr>
          <p:cNvPr id="8" name="Shape 6"/>
          <p:cNvSpPr/>
          <p:nvPr/>
        </p:nvSpPr>
        <p:spPr>
          <a:xfrm>
            <a:off x="640080" y="658368"/>
            <a:ext cx="420624" cy="420624"/>
          </a:xfrm>
          <a:prstGeom prst="ellipse">
            <a:avLst/>
          </a:prstGeom>
          <a:solidFill>
            <a:srgbClr val="0068B7"/>
          </a:solidFill>
          <a:ln w="12700">
            <a:solidFill>
              <a:srgbClr val="0068B7"/>
            </a:solidFill>
            <a:prstDash val="solid"/>
          </a:ln>
        </p:spPr>
      </p:sp>
      <p:sp>
        <p:nvSpPr>
          <p:cNvPr id="9" name="Text 7"/>
          <p:cNvSpPr/>
          <p:nvPr/>
        </p:nvSpPr>
        <p:spPr>
          <a:xfrm>
            <a:off x="640080" y="731520"/>
            <a:ext cx="420624" cy="164592"/>
          </a:xfrm>
          <a:prstGeom prst="rect">
            <a:avLst/>
          </a:prstGeom>
          <a:noFill/>
          <a:ln/>
        </p:spPr>
        <p:txBody>
          <a:bodyPr wrap="square" lIns="0" tIns="0" rIns="0" bIns="0" rtlCol="0" anchor="ctr"/>
          <a:lstStyle/>
          <a:p>
            <a:pPr algn="ctr" indent="0" marL="0">
              <a:buNone/>
            </a:pPr>
            <a:r>
              <a:rPr lang="en-US" sz="1100" b="1" dirty="0">
                <a:solidFill>
                  <a:srgbClr val="FFFFFF"/>
                </a:solidFill>
                <a:latin typeface="Aptos" pitchFamily="34" charset="0"/>
                <a:ea typeface="Aptos" pitchFamily="34" charset="-122"/>
                <a:cs typeface="Aptos" pitchFamily="34" charset="-120"/>
              </a:rPr>
              <a:t>3</a:t>
            </a:r>
            <a:endParaRPr lang="en-US" sz="1100" dirty="0"/>
          </a:p>
        </p:txBody>
      </p:sp>
      <p:sp>
        <p:nvSpPr>
          <p:cNvPr id="10" name="Text 8"/>
          <p:cNvSpPr/>
          <p:nvPr/>
        </p:nvSpPr>
        <p:spPr>
          <a:xfrm>
            <a:off x="640080" y="621792"/>
            <a:ext cx="10881360" cy="713232"/>
          </a:xfrm>
          <a:prstGeom prst="rect">
            <a:avLst/>
          </a:prstGeom>
          <a:noFill/>
          <a:ln/>
        </p:spPr>
        <p:txBody>
          <a:bodyPr wrap="square" lIns="0" tIns="0" rIns="0" bIns="0" rtlCol="0" anchor="ctr">
            <a:normAutofit/>
          </a:bodyPr>
          <a:lstStyle/>
          <a:p>
            <a:pPr indent="0" marL="0">
              <a:buNone/>
            </a:pPr>
            <a:r>
              <a:rPr lang="en-US" sz="3400" b="1" dirty="0">
                <a:solidFill>
                  <a:srgbClr val="003A63"/>
                </a:solidFill>
                <a:latin typeface="Aptos Display" pitchFamily="34" charset="0"/>
                <a:ea typeface="Aptos Display" pitchFamily="34" charset="-122"/>
                <a:cs typeface="Aptos Display" pitchFamily="34" charset="-120"/>
              </a:rPr>
              <a:t>Definitions</a:t>
            </a:r>
            <a:endParaRPr lang="en-US" sz="3400" dirty="0"/>
          </a:p>
        </p:txBody>
      </p:sp>
      <p:sp>
        <p:nvSpPr>
          <p:cNvPr id="11" name="Text 9"/>
          <p:cNvSpPr/>
          <p:nvPr/>
        </p:nvSpPr>
        <p:spPr>
          <a:xfrm>
            <a:off x="868680" y="1508760"/>
            <a:ext cx="6537960" cy="4160520"/>
          </a:xfrm>
          <a:prstGeom prst="rect">
            <a:avLst/>
          </a:prstGeom>
          <a:noFill/>
          <a:ln/>
        </p:spPr>
        <p:txBody>
          <a:bodyPr wrap="square" lIns="635" tIns="635" rIns="635" bIns="635" rtlCol="0" anchor="t">
            <a:normAutofit/>
          </a:bodyPr>
          <a:lstStyle/>
          <a:p>
            <a:r>
              <a:rPr lang="en-US" sz="2100" dirty="0">
                <a:solidFill>
                  <a:srgbClr val="17364A"/>
                </a:solidFill>
                <a:latin typeface="Aptos" pitchFamily="34" charset="0"/>
                <a:ea typeface="Aptos" pitchFamily="34" charset="-122"/>
                <a:cs typeface="Aptos" pitchFamily="34" charset="-120"/>
              </a:rPr>
              <a:t>Decision right: The authority to approve, deny, modify, pause, or escalate an AI use case or.</a:t>
            </a:r>
            <a:endParaRPr lang="en-US" sz="2100" dirty="0"/>
          </a:p>
          <a:p>
            <a:r>
              <a:rPr lang="en-US" sz="2100" dirty="0">
                <a:solidFill>
                  <a:srgbClr val="17364A"/>
                </a:solidFill>
                <a:latin typeface="Aptos" pitchFamily="34" charset="0"/>
                <a:ea typeface="Aptos" pitchFamily="34" charset="-122"/>
                <a:cs typeface="Aptos" pitchFamily="34" charset="-120"/>
              </a:rPr>
              <a:t>Evidence artifact: A document, log, checklist, test result, approval record, or review note that.</a:t>
            </a:r>
            <a:endParaRPr lang="en-US" sz="2100" dirty="0"/>
          </a:p>
          <a:p>
            <a:r>
              <a:rPr lang="en-US" sz="2100" dirty="0">
                <a:solidFill>
                  <a:srgbClr val="17364A"/>
                </a:solidFill>
                <a:latin typeface="Aptos" pitchFamily="34" charset="0"/>
                <a:ea typeface="Aptos" pitchFamily="34" charset="-122"/>
                <a:cs typeface="Aptos" pitchFamily="34" charset="-120"/>
              </a:rPr>
              <a:t>Escalation pathway: A defined route for raising concerns to the appropriate reviewer or decision-maker.</a:t>
            </a:r>
            <a:endParaRPr lang="en-US" sz="2100" dirty="0"/>
          </a:p>
        </p:txBody>
      </p:sp>
      <p:sp>
        <p:nvSpPr>
          <p:cNvPr id="12" name="Shape 10"/>
          <p:cNvSpPr/>
          <p:nvPr/>
        </p:nvSpPr>
        <p:spPr>
          <a:xfrm>
            <a:off x="7909560" y="1417320"/>
            <a:ext cx="3154680" cy="1828800"/>
          </a:xfrm>
          <a:prstGeom prst="roundRect">
            <a:avLst>
              <a:gd name="adj" fmla="val 6000"/>
            </a:avLst>
          </a:prstGeom>
          <a:solidFill>
            <a:srgbClr val="EEF8ED"/>
          </a:solidFill>
          <a:ln w="12700">
            <a:solidFill>
              <a:srgbClr val="B9D7E6"/>
            </a:solidFill>
            <a:prstDash val="solid"/>
          </a:ln>
        </p:spPr>
      </p:sp>
      <p:sp>
        <p:nvSpPr>
          <p:cNvPr id="13" name="Text 11"/>
          <p:cNvSpPr/>
          <p:nvPr/>
        </p:nvSpPr>
        <p:spPr>
          <a:xfrm>
            <a:off x="8074152" y="1563624"/>
            <a:ext cx="282549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Key idea</a:t>
            </a:r>
            <a:endParaRPr lang="en-US" sz="1300" dirty="0"/>
          </a:p>
        </p:txBody>
      </p:sp>
      <p:sp>
        <p:nvSpPr>
          <p:cNvPr id="14" name="Text 12"/>
          <p:cNvSpPr/>
          <p:nvPr/>
        </p:nvSpPr>
        <p:spPr>
          <a:xfrm>
            <a:off x="8074152" y="1920240"/>
            <a:ext cx="2825496" cy="1188720"/>
          </a:xfrm>
          <a:prstGeom prst="rect">
            <a:avLst/>
          </a:prstGeom>
          <a:noFill/>
          <a:ln/>
        </p:spPr>
        <p:txBody>
          <a:bodyPr wrap="square" lIns="0" tIns="0" rIns="0" bIns="0" rtlCol="0" anchor="t">
            <a:normAutofit/>
          </a:bodyPr>
          <a:lstStyle/>
          <a:p>
            <a:pPr indent="0" marL="0">
              <a:buNone/>
            </a:pPr>
            <a:r>
              <a:rPr lang="en-US" sz="1550" dirty="0">
                <a:solidFill>
                  <a:srgbClr val="17364A"/>
                </a:solidFill>
                <a:latin typeface="Aptos" pitchFamily="34" charset="0"/>
                <a:ea typeface="Aptos" pitchFamily="34" charset="-122"/>
                <a:cs typeface="Aptos" pitchFamily="34" charset="-120"/>
              </a:rPr>
              <a:t>Decision right: The authority to approve, deny, modify, pause, or escalate an AI use case or.</a:t>
            </a:r>
            <a:endParaRPr lang="en-US" sz="1550" dirty="0"/>
          </a:p>
        </p:txBody>
      </p:sp>
      <p:sp>
        <p:nvSpPr>
          <p:cNvPr id="15" name="Shape 13"/>
          <p:cNvSpPr/>
          <p:nvPr/>
        </p:nvSpPr>
        <p:spPr>
          <a:xfrm>
            <a:off x="7909560" y="3520440"/>
            <a:ext cx="3154680" cy="1737360"/>
          </a:xfrm>
          <a:prstGeom prst="roundRect">
            <a:avLst>
              <a:gd name="adj" fmla="val 6316"/>
            </a:avLst>
          </a:prstGeom>
          <a:solidFill>
            <a:srgbClr val="EAF6F8"/>
          </a:solidFill>
          <a:ln w="12700">
            <a:solidFill>
              <a:srgbClr val="B9D7E6"/>
            </a:solidFill>
            <a:prstDash val="solid"/>
          </a:ln>
        </p:spPr>
      </p:sp>
      <p:sp>
        <p:nvSpPr>
          <p:cNvPr id="16" name="Text 14"/>
          <p:cNvSpPr/>
          <p:nvPr/>
        </p:nvSpPr>
        <p:spPr>
          <a:xfrm>
            <a:off x="8074152" y="3666744"/>
            <a:ext cx="282549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Use this for</a:t>
            </a:r>
            <a:endParaRPr lang="en-US" sz="1300" dirty="0"/>
          </a:p>
        </p:txBody>
      </p:sp>
      <p:sp>
        <p:nvSpPr>
          <p:cNvPr id="17" name="Text 15"/>
          <p:cNvSpPr/>
          <p:nvPr/>
        </p:nvSpPr>
        <p:spPr>
          <a:xfrm>
            <a:off x="8074152" y="4023360"/>
            <a:ext cx="2825496" cy="1097280"/>
          </a:xfrm>
          <a:prstGeom prst="rect">
            <a:avLst/>
          </a:prstGeom>
          <a:noFill/>
          <a:ln/>
        </p:spPr>
        <p:txBody>
          <a:bodyPr wrap="square" lIns="0" tIns="0" rIns="0" bIns="0" rtlCol="0" anchor="t">
            <a:normAutofit/>
          </a:bodyPr>
          <a:lstStyle/>
          <a:p>
            <a:pPr indent="0" marL="0">
              <a:buNone/>
            </a:pPr>
            <a:r>
              <a:rPr lang="en-US" sz="1550" dirty="0">
                <a:solidFill>
                  <a:srgbClr val="17364A"/>
                </a:solidFill>
                <a:latin typeface="Aptos" pitchFamily="34" charset="0"/>
                <a:ea typeface="Aptos" pitchFamily="34" charset="-122"/>
                <a:cs typeface="Aptos" pitchFamily="34" charset="-120"/>
              </a:rPr>
              <a:t>Connect the concept to public health decisions, safeguards, documentation, or implementation work.</a:t>
            </a:r>
            <a:endParaRPr lang="en-US" sz="1550" dirty="0"/>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bg>
      <p:bgPr>
        <a:solidFill>
          <a:srgbClr val="F7FBFD"/>
        </a:solidFill>
      </p:bgPr>
    </p:bg>
    <p:spTree>
      <p:nvGrpSpPr>
        <p:cNvPr id="1" name=""/>
        <p:cNvGrpSpPr/>
        <p:nvPr/>
      </p:nvGrpSpPr>
      <p:grpSpPr>
        <a:xfrm>
          <a:off x="0" y="0"/>
          <a:ext cx="0" cy="0"/>
          <a:chOff x="0" y="0"/>
          <a:chExt cx="0" cy="0"/>
        </a:xfrm>
      </p:grpSpPr>
      <p:sp>
        <p:nvSpPr>
          <p:cNvPr id="2" name="Shape 0"/>
          <p:cNvSpPr/>
          <p:nvPr/>
        </p:nvSpPr>
        <p:spPr>
          <a:xfrm>
            <a:off x="0" y="0"/>
            <a:ext cx="12191695" cy="164592"/>
          </a:xfrm>
          <a:prstGeom prst="rect">
            <a:avLst/>
          </a:prstGeom>
          <a:solidFill>
            <a:srgbClr val="0068B7"/>
          </a:solidFill>
          <a:ln w="12700">
            <a:solidFill>
              <a:srgbClr val="0068B7"/>
            </a:solidFill>
            <a:prstDash val="solid"/>
          </a:ln>
        </p:spPr>
      </p:sp>
      <p:sp>
        <p:nvSpPr>
          <p:cNvPr id="3" name="Shape 1"/>
          <p:cNvSpPr/>
          <p:nvPr/>
        </p:nvSpPr>
        <p:spPr>
          <a:xfrm>
            <a:off x="0" y="164592"/>
            <a:ext cx="146304" cy="6693408"/>
          </a:xfrm>
          <a:prstGeom prst="rect">
            <a:avLst/>
          </a:prstGeom>
          <a:solidFill>
            <a:srgbClr val="2F8A28"/>
          </a:solidFill>
          <a:ln w="12700">
            <a:solidFill>
              <a:srgbClr val="2F8A28"/>
            </a:solidFill>
            <a:prstDash val="solid"/>
          </a:ln>
        </p:spPr>
      </p:sp>
      <p:sp>
        <p:nvSpPr>
          <p:cNvPr id="4" name="Text 2"/>
          <p:cNvSpPr/>
          <p:nvPr/>
        </p:nvSpPr>
        <p:spPr>
          <a:xfrm>
            <a:off x="502920" y="292608"/>
            <a:ext cx="10149840" cy="256032"/>
          </a:xfrm>
          <a:prstGeom prst="rect">
            <a:avLst/>
          </a:prstGeom>
          <a:noFill/>
          <a:ln/>
        </p:spPr>
        <p:txBody>
          <a:bodyPr wrap="square" lIns="0" tIns="0" rIns="0" bIns="0" rtlCol="0" anchor="ctr"/>
          <a:lstStyle/>
          <a:p>
            <a:pPr indent="0" marL="0">
              <a:buNone/>
            </a:pPr>
            <a:r>
              <a:rPr lang="en-US" sz="900" b="1" dirty="0">
                <a:solidFill>
                  <a:srgbClr val="5F7181"/>
                </a:solidFill>
                <a:latin typeface="Aptos" pitchFamily="34" charset="0"/>
                <a:ea typeface="Aptos" pitchFamily="34" charset="-122"/>
                <a:cs typeface="Aptos" pitchFamily="34" charset="-120"/>
              </a:rPr>
              <a:t>AI Governance Board Chair Training</a:t>
            </a:r>
            <a:endParaRPr lang="en-US" sz="900" dirty="0"/>
          </a:p>
        </p:txBody>
      </p:sp>
      <p:sp>
        <p:nvSpPr>
          <p:cNvPr id="5" name="Text 3"/>
          <p:cNvSpPr/>
          <p:nvPr/>
        </p:nvSpPr>
        <p:spPr>
          <a:xfrm>
            <a:off x="502920" y="6537960"/>
            <a:ext cx="7772400" cy="201168"/>
          </a:xfrm>
          <a:prstGeom prst="rect">
            <a:avLst/>
          </a:prstGeom>
          <a:noFill/>
          <a:ln/>
        </p:spPr>
        <p:txBody>
          <a:bodyPr wrap="square" lIns="0" tIns="0" rIns="0" bIns="0" rtlCol="0" anchor="ctr"/>
          <a:lstStyle/>
          <a:p>
            <a:pPr indent="0" marL="0">
              <a:buNone/>
            </a:pPr>
            <a:r>
              <a:rPr lang="en-US" sz="800" dirty="0">
                <a:solidFill>
                  <a:srgbClr val="5F7181"/>
                </a:solidFill>
                <a:latin typeface="Aptos" pitchFamily="34" charset="0"/>
                <a:ea typeface="Aptos" pitchFamily="34" charset="-122"/>
                <a:cs typeface="Aptos" pitchFamily="34" charset="-120"/>
              </a:rPr>
              <a:t>AI Playbook and Toolkit for Public Health Departments</a:t>
            </a:r>
            <a:endParaRPr lang="en-US" sz="800" dirty="0"/>
          </a:p>
        </p:txBody>
      </p:sp>
      <p:sp>
        <p:nvSpPr>
          <p:cNvPr id="6" name="Text 4"/>
          <p:cNvSpPr/>
          <p:nvPr/>
        </p:nvSpPr>
        <p:spPr>
          <a:xfrm>
            <a:off x="9966960" y="6537960"/>
            <a:ext cx="1645920" cy="201168"/>
          </a:xfrm>
          <a:prstGeom prst="rect">
            <a:avLst/>
          </a:prstGeom>
          <a:noFill/>
          <a:ln/>
        </p:spPr>
        <p:txBody>
          <a:bodyPr wrap="square" lIns="0" tIns="0" rIns="0" bIns="0" rtlCol="0" anchor="ctr"/>
          <a:lstStyle/>
          <a:p>
            <a:pPr algn="r" indent="0" marL="0">
              <a:buNone/>
            </a:pPr>
            <a:r>
              <a:rPr lang="en-US" sz="800" dirty="0">
                <a:solidFill>
                  <a:srgbClr val="5F7181"/>
                </a:solidFill>
                <a:latin typeface="Aptos" pitchFamily="34" charset="0"/>
                <a:ea typeface="Aptos" pitchFamily="34" charset="-122"/>
                <a:cs typeface="Aptos" pitchFamily="34" charset="-120"/>
              </a:rPr>
              <a:t>Â© Paula Soper</a:t>
            </a:r>
            <a:endParaRPr lang="en-US" sz="800" dirty="0"/>
          </a:p>
        </p:txBody>
      </p:sp>
      <p:sp>
        <p:nvSpPr>
          <p:cNvPr id="7" name="Text 5"/>
          <p:cNvSpPr/>
          <p:nvPr/>
        </p:nvSpPr>
        <p:spPr>
          <a:xfrm>
            <a:off x="11137392" y="6510528"/>
            <a:ext cx="411480" cy="201168"/>
          </a:xfrm>
          <a:prstGeom prst="rect">
            <a:avLst/>
          </a:prstGeom>
          <a:noFill/>
          <a:ln/>
        </p:spPr>
        <p:txBody>
          <a:bodyPr wrap="square" lIns="0" tIns="0" rIns="0" bIns="0" rtlCol="0" anchor="ctr"/>
          <a:lstStyle/>
          <a:p>
            <a:pPr algn="r" indent="0" marL="0">
              <a:buNone/>
            </a:pPr>
            <a:r>
              <a:rPr lang="en-US" sz="900" dirty="0">
                <a:solidFill>
                  <a:srgbClr val="5F7181"/>
                </a:solidFill>
                <a:latin typeface="Aptos" pitchFamily="34" charset="0"/>
                <a:ea typeface="Aptos" pitchFamily="34" charset="-122"/>
                <a:cs typeface="Aptos" pitchFamily="34" charset="-120"/>
              </a:rPr>
              <a:t>8</a:t>
            </a:r>
            <a:endParaRPr lang="en-US" sz="900" dirty="0"/>
          </a:p>
        </p:txBody>
      </p:sp>
      <p:sp>
        <p:nvSpPr>
          <p:cNvPr id="8" name="Shape 6"/>
          <p:cNvSpPr/>
          <p:nvPr/>
        </p:nvSpPr>
        <p:spPr>
          <a:xfrm>
            <a:off x="640080" y="658368"/>
            <a:ext cx="420624" cy="420624"/>
          </a:xfrm>
          <a:prstGeom prst="ellipse">
            <a:avLst/>
          </a:prstGeom>
          <a:solidFill>
            <a:srgbClr val="0068B7"/>
          </a:solidFill>
          <a:ln w="12700">
            <a:solidFill>
              <a:srgbClr val="0068B7"/>
            </a:solidFill>
            <a:prstDash val="solid"/>
          </a:ln>
        </p:spPr>
      </p:sp>
      <p:sp>
        <p:nvSpPr>
          <p:cNvPr id="9" name="Text 7"/>
          <p:cNvSpPr/>
          <p:nvPr/>
        </p:nvSpPr>
        <p:spPr>
          <a:xfrm>
            <a:off x="640080" y="731520"/>
            <a:ext cx="420624" cy="164592"/>
          </a:xfrm>
          <a:prstGeom prst="rect">
            <a:avLst/>
          </a:prstGeom>
          <a:noFill/>
          <a:ln/>
        </p:spPr>
        <p:txBody>
          <a:bodyPr wrap="square" lIns="0" tIns="0" rIns="0" bIns="0" rtlCol="0" anchor="ctr"/>
          <a:lstStyle/>
          <a:p>
            <a:pPr algn="ctr" indent="0" marL="0">
              <a:buNone/>
            </a:pPr>
            <a:r>
              <a:rPr lang="en-US" sz="1100" b="1" dirty="0">
                <a:solidFill>
                  <a:srgbClr val="FFFFFF"/>
                </a:solidFill>
                <a:latin typeface="Aptos" pitchFamily="34" charset="0"/>
                <a:ea typeface="Aptos" pitchFamily="34" charset="-122"/>
                <a:cs typeface="Aptos" pitchFamily="34" charset="-120"/>
              </a:rPr>
              <a:t>4</a:t>
            </a:r>
            <a:endParaRPr lang="en-US" sz="1100" dirty="0"/>
          </a:p>
        </p:txBody>
      </p:sp>
      <p:sp>
        <p:nvSpPr>
          <p:cNvPr id="10" name="Text 8"/>
          <p:cNvSpPr/>
          <p:nvPr/>
        </p:nvSpPr>
        <p:spPr>
          <a:xfrm>
            <a:off x="640080" y="621792"/>
            <a:ext cx="10881360" cy="713232"/>
          </a:xfrm>
          <a:prstGeom prst="rect">
            <a:avLst/>
          </a:prstGeom>
          <a:noFill/>
          <a:ln/>
        </p:spPr>
        <p:txBody>
          <a:bodyPr wrap="square" lIns="0" tIns="0" rIns="0" bIns="0" rtlCol="0" anchor="ctr">
            <a:normAutofit/>
          </a:bodyPr>
          <a:lstStyle/>
          <a:p>
            <a:pPr indent="0" marL="0">
              <a:buNone/>
            </a:pPr>
            <a:r>
              <a:rPr lang="en-US" sz="3400" b="1" dirty="0">
                <a:solidFill>
                  <a:srgbClr val="003A63"/>
                </a:solidFill>
                <a:latin typeface="Aptos Display" pitchFamily="34" charset="0"/>
                <a:ea typeface="Aptos Display" pitchFamily="34" charset="-122"/>
                <a:cs typeface="Aptos Display" pitchFamily="34" charset="-120"/>
              </a:rPr>
              <a:t>Jurisdiction and Agency Policy Note</a:t>
            </a:r>
            <a:endParaRPr lang="en-US" sz="3400" dirty="0"/>
          </a:p>
        </p:txBody>
      </p:sp>
      <p:sp>
        <p:nvSpPr>
          <p:cNvPr id="11" name="Text 9"/>
          <p:cNvSpPr/>
          <p:nvPr/>
        </p:nvSpPr>
        <p:spPr>
          <a:xfrm>
            <a:off x="868680" y="1508760"/>
            <a:ext cx="6537960" cy="4160520"/>
          </a:xfrm>
          <a:prstGeom prst="rect">
            <a:avLst/>
          </a:prstGeom>
          <a:noFill/>
          <a:ln/>
        </p:spPr>
        <p:txBody>
          <a:bodyPr wrap="square" lIns="635" tIns="635" rIns="635" bIns="635" rtlCol="0" anchor="t">
            <a:normAutofit/>
          </a:bodyPr>
          <a:lstStyle/>
          <a:p>
            <a:r>
              <a:rPr lang="en-US" sz="2100" dirty="0">
                <a:solidFill>
                  <a:srgbClr val="17364A"/>
                </a:solidFill>
                <a:latin typeface="Aptos" pitchFamily="34" charset="0"/>
                <a:ea typeface="Aptos" pitchFamily="34" charset="-122"/>
                <a:cs typeface="Aptos" pitchFamily="34" charset="-120"/>
              </a:rPr>
              <a:t>This module provides national-level training guidance for public health agencies and partners.</a:t>
            </a:r>
            <a:endParaRPr lang="en-US" sz="2100" dirty="0"/>
          </a:p>
          <a:p>
            <a:r>
              <a:rPr lang="en-US" sz="2100" dirty="0">
                <a:solidFill>
                  <a:srgbClr val="17364A"/>
                </a:solidFill>
                <a:latin typeface="Aptos" pitchFamily="34" charset="0"/>
                <a:ea typeface="Aptos" pitchFamily="34" charset="-122"/>
                <a:cs typeface="Aptos" pitchFamily="34" charset="-120"/>
              </a:rPr>
              <a:t>It is not legal advice and does not replace review by agency legal counsel, privacy officers,.</a:t>
            </a:r>
            <a:endParaRPr lang="en-US" sz="2100" dirty="0"/>
          </a:p>
          <a:p>
            <a:r>
              <a:rPr lang="en-US" sz="2100" dirty="0">
                <a:solidFill>
                  <a:srgbClr val="17364A"/>
                </a:solidFill>
                <a:latin typeface="Aptos" pitchFamily="34" charset="0"/>
                <a:ea typeface="Aptos" pitchFamily="34" charset="-122"/>
                <a:cs typeface="Aptos" pitchFamily="34" charset="-120"/>
              </a:rPr>
              <a:t>Requirements may vary by state, locality, territory, Tribe, agency, funding source, data-sharing.</a:t>
            </a:r>
            <a:endParaRPr lang="en-US" sz="2100" dirty="0"/>
          </a:p>
        </p:txBody>
      </p:sp>
      <p:sp>
        <p:nvSpPr>
          <p:cNvPr id="12" name="Shape 10"/>
          <p:cNvSpPr/>
          <p:nvPr/>
        </p:nvSpPr>
        <p:spPr>
          <a:xfrm>
            <a:off x="7909560" y="1417320"/>
            <a:ext cx="3154680" cy="1828800"/>
          </a:xfrm>
          <a:prstGeom prst="roundRect">
            <a:avLst>
              <a:gd name="adj" fmla="val 6000"/>
            </a:avLst>
          </a:prstGeom>
          <a:solidFill>
            <a:srgbClr val="EEF8ED"/>
          </a:solidFill>
          <a:ln w="12700">
            <a:solidFill>
              <a:srgbClr val="B9D7E6"/>
            </a:solidFill>
            <a:prstDash val="solid"/>
          </a:ln>
        </p:spPr>
      </p:sp>
      <p:sp>
        <p:nvSpPr>
          <p:cNvPr id="13" name="Text 11"/>
          <p:cNvSpPr/>
          <p:nvPr/>
        </p:nvSpPr>
        <p:spPr>
          <a:xfrm>
            <a:off x="8074152" y="1563624"/>
            <a:ext cx="282549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Key idea</a:t>
            </a:r>
            <a:endParaRPr lang="en-US" sz="1300" dirty="0"/>
          </a:p>
        </p:txBody>
      </p:sp>
      <p:sp>
        <p:nvSpPr>
          <p:cNvPr id="14" name="Text 12"/>
          <p:cNvSpPr/>
          <p:nvPr/>
        </p:nvSpPr>
        <p:spPr>
          <a:xfrm>
            <a:off x="8074152" y="1920240"/>
            <a:ext cx="2825496" cy="1188720"/>
          </a:xfrm>
          <a:prstGeom prst="rect">
            <a:avLst/>
          </a:prstGeom>
          <a:noFill/>
          <a:ln/>
        </p:spPr>
        <p:txBody>
          <a:bodyPr wrap="square" lIns="0" tIns="0" rIns="0" bIns="0" rtlCol="0" anchor="t">
            <a:normAutofit/>
          </a:bodyPr>
          <a:lstStyle/>
          <a:p>
            <a:pPr indent="0" marL="0">
              <a:buNone/>
            </a:pPr>
            <a:r>
              <a:rPr lang="en-US" sz="1550" dirty="0">
                <a:solidFill>
                  <a:srgbClr val="17364A"/>
                </a:solidFill>
                <a:latin typeface="Aptos" pitchFamily="34" charset="0"/>
                <a:ea typeface="Aptos" pitchFamily="34" charset="-122"/>
                <a:cs typeface="Aptos" pitchFamily="34" charset="-120"/>
              </a:rPr>
              <a:t>This module provides national-level training guidance for public health agencies and partners.</a:t>
            </a:r>
            <a:endParaRPr lang="en-US" sz="1550" dirty="0"/>
          </a:p>
        </p:txBody>
      </p:sp>
      <p:sp>
        <p:nvSpPr>
          <p:cNvPr id="15" name="Shape 13"/>
          <p:cNvSpPr/>
          <p:nvPr/>
        </p:nvSpPr>
        <p:spPr>
          <a:xfrm>
            <a:off x="7909560" y="3520440"/>
            <a:ext cx="3154680" cy="1737360"/>
          </a:xfrm>
          <a:prstGeom prst="roundRect">
            <a:avLst>
              <a:gd name="adj" fmla="val 6316"/>
            </a:avLst>
          </a:prstGeom>
          <a:solidFill>
            <a:srgbClr val="EAF6F8"/>
          </a:solidFill>
          <a:ln w="12700">
            <a:solidFill>
              <a:srgbClr val="B9D7E6"/>
            </a:solidFill>
            <a:prstDash val="solid"/>
          </a:ln>
        </p:spPr>
      </p:sp>
      <p:sp>
        <p:nvSpPr>
          <p:cNvPr id="16" name="Text 14"/>
          <p:cNvSpPr/>
          <p:nvPr/>
        </p:nvSpPr>
        <p:spPr>
          <a:xfrm>
            <a:off x="8074152" y="3666744"/>
            <a:ext cx="282549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Use this for</a:t>
            </a:r>
            <a:endParaRPr lang="en-US" sz="1300" dirty="0"/>
          </a:p>
        </p:txBody>
      </p:sp>
      <p:sp>
        <p:nvSpPr>
          <p:cNvPr id="17" name="Text 15"/>
          <p:cNvSpPr/>
          <p:nvPr/>
        </p:nvSpPr>
        <p:spPr>
          <a:xfrm>
            <a:off x="8074152" y="4023360"/>
            <a:ext cx="2825496" cy="1097280"/>
          </a:xfrm>
          <a:prstGeom prst="rect">
            <a:avLst/>
          </a:prstGeom>
          <a:noFill/>
          <a:ln/>
        </p:spPr>
        <p:txBody>
          <a:bodyPr wrap="square" lIns="0" tIns="0" rIns="0" bIns="0" rtlCol="0" anchor="t">
            <a:normAutofit/>
          </a:bodyPr>
          <a:lstStyle/>
          <a:p>
            <a:pPr indent="0" marL="0">
              <a:buNone/>
            </a:pPr>
            <a:r>
              <a:rPr lang="en-US" sz="1550" dirty="0">
                <a:solidFill>
                  <a:srgbClr val="17364A"/>
                </a:solidFill>
                <a:latin typeface="Aptos" pitchFamily="34" charset="0"/>
                <a:ea typeface="Aptos" pitchFamily="34" charset="-122"/>
                <a:cs typeface="Aptos" pitchFamily="34" charset="-120"/>
              </a:rPr>
              <a:t>Connect the concept to public health decisions, safeguards, documentation, or implementation work.</a:t>
            </a:r>
            <a:endParaRPr lang="en-US" sz="1550" dirty="0"/>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bg>
      <p:bgPr>
        <a:solidFill>
          <a:srgbClr val="F7FBFD"/>
        </a:solidFill>
      </p:bgPr>
    </p:bg>
    <p:spTree>
      <p:nvGrpSpPr>
        <p:cNvPr id="1" name=""/>
        <p:cNvGrpSpPr/>
        <p:nvPr/>
      </p:nvGrpSpPr>
      <p:grpSpPr>
        <a:xfrm>
          <a:off x="0" y="0"/>
          <a:ext cx="0" cy="0"/>
          <a:chOff x="0" y="0"/>
          <a:chExt cx="0" cy="0"/>
        </a:xfrm>
      </p:grpSpPr>
      <p:sp>
        <p:nvSpPr>
          <p:cNvPr id="2" name="Shape 0"/>
          <p:cNvSpPr/>
          <p:nvPr/>
        </p:nvSpPr>
        <p:spPr>
          <a:xfrm>
            <a:off x="0" y="0"/>
            <a:ext cx="12191695" cy="164592"/>
          </a:xfrm>
          <a:prstGeom prst="rect">
            <a:avLst/>
          </a:prstGeom>
          <a:solidFill>
            <a:srgbClr val="0068B7"/>
          </a:solidFill>
          <a:ln w="12700">
            <a:solidFill>
              <a:srgbClr val="0068B7"/>
            </a:solidFill>
            <a:prstDash val="solid"/>
          </a:ln>
        </p:spPr>
      </p:sp>
      <p:sp>
        <p:nvSpPr>
          <p:cNvPr id="3" name="Shape 1"/>
          <p:cNvSpPr/>
          <p:nvPr/>
        </p:nvSpPr>
        <p:spPr>
          <a:xfrm>
            <a:off x="0" y="164592"/>
            <a:ext cx="146304" cy="6693408"/>
          </a:xfrm>
          <a:prstGeom prst="rect">
            <a:avLst/>
          </a:prstGeom>
          <a:solidFill>
            <a:srgbClr val="2F8A28"/>
          </a:solidFill>
          <a:ln w="12700">
            <a:solidFill>
              <a:srgbClr val="2F8A28"/>
            </a:solidFill>
            <a:prstDash val="solid"/>
          </a:ln>
        </p:spPr>
      </p:sp>
      <p:sp>
        <p:nvSpPr>
          <p:cNvPr id="4" name="Text 2"/>
          <p:cNvSpPr/>
          <p:nvPr/>
        </p:nvSpPr>
        <p:spPr>
          <a:xfrm>
            <a:off x="502920" y="292608"/>
            <a:ext cx="10149840" cy="256032"/>
          </a:xfrm>
          <a:prstGeom prst="rect">
            <a:avLst/>
          </a:prstGeom>
          <a:noFill/>
          <a:ln/>
        </p:spPr>
        <p:txBody>
          <a:bodyPr wrap="square" lIns="0" tIns="0" rIns="0" bIns="0" rtlCol="0" anchor="ctr"/>
          <a:lstStyle/>
          <a:p>
            <a:pPr indent="0" marL="0">
              <a:buNone/>
            </a:pPr>
            <a:r>
              <a:rPr lang="en-US" sz="900" b="1" dirty="0">
                <a:solidFill>
                  <a:srgbClr val="5F7181"/>
                </a:solidFill>
                <a:latin typeface="Aptos" pitchFamily="34" charset="0"/>
                <a:ea typeface="Aptos" pitchFamily="34" charset="-122"/>
                <a:cs typeface="Aptos" pitchFamily="34" charset="-120"/>
              </a:rPr>
              <a:t>AI Governance Board Chair Training</a:t>
            </a:r>
            <a:endParaRPr lang="en-US" sz="900" dirty="0"/>
          </a:p>
        </p:txBody>
      </p:sp>
      <p:sp>
        <p:nvSpPr>
          <p:cNvPr id="5" name="Text 3"/>
          <p:cNvSpPr/>
          <p:nvPr/>
        </p:nvSpPr>
        <p:spPr>
          <a:xfrm>
            <a:off x="502920" y="6537960"/>
            <a:ext cx="7772400" cy="201168"/>
          </a:xfrm>
          <a:prstGeom prst="rect">
            <a:avLst/>
          </a:prstGeom>
          <a:noFill/>
          <a:ln/>
        </p:spPr>
        <p:txBody>
          <a:bodyPr wrap="square" lIns="0" tIns="0" rIns="0" bIns="0" rtlCol="0" anchor="ctr"/>
          <a:lstStyle/>
          <a:p>
            <a:pPr indent="0" marL="0">
              <a:buNone/>
            </a:pPr>
            <a:r>
              <a:rPr lang="en-US" sz="800" dirty="0">
                <a:solidFill>
                  <a:srgbClr val="5F7181"/>
                </a:solidFill>
                <a:latin typeface="Aptos" pitchFamily="34" charset="0"/>
                <a:ea typeface="Aptos" pitchFamily="34" charset="-122"/>
                <a:cs typeface="Aptos" pitchFamily="34" charset="-120"/>
              </a:rPr>
              <a:t>AI Playbook and Toolkit for Public Health Departments</a:t>
            </a:r>
            <a:endParaRPr lang="en-US" sz="800" dirty="0"/>
          </a:p>
        </p:txBody>
      </p:sp>
      <p:sp>
        <p:nvSpPr>
          <p:cNvPr id="6" name="Text 4"/>
          <p:cNvSpPr/>
          <p:nvPr/>
        </p:nvSpPr>
        <p:spPr>
          <a:xfrm>
            <a:off x="9966960" y="6537960"/>
            <a:ext cx="1645920" cy="201168"/>
          </a:xfrm>
          <a:prstGeom prst="rect">
            <a:avLst/>
          </a:prstGeom>
          <a:noFill/>
          <a:ln/>
        </p:spPr>
        <p:txBody>
          <a:bodyPr wrap="square" lIns="0" tIns="0" rIns="0" bIns="0" rtlCol="0" anchor="ctr"/>
          <a:lstStyle/>
          <a:p>
            <a:pPr algn="r" indent="0" marL="0">
              <a:buNone/>
            </a:pPr>
            <a:r>
              <a:rPr lang="en-US" sz="800" dirty="0">
                <a:solidFill>
                  <a:srgbClr val="5F7181"/>
                </a:solidFill>
                <a:latin typeface="Aptos" pitchFamily="34" charset="0"/>
                <a:ea typeface="Aptos" pitchFamily="34" charset="-122"/>
                <a:cs typeface="Aptos" pitchFamily="34" charset="-120"/>
              </a:rPr>
              <a:t>Â© Paula Soper</a:t>
            </a:r>
            <a:endParaRPr lang="en-US" sz="800" dirty="0"/>
          </a:p>
        </p:txBody>
      </p:sp>
      <p:sp>
        <p:nvSpPr>
          <p:cNvPr id="7" name="Text 5"/>
          <p:cNvSpPr/>
          <p:nvPr/>
        </p:nvSpPr>
        <p:spPr>
          <a:xfrm>
            <a:off x="11137392" y="6510528"/>
            <a:ext cx="411480" cy="201168"/>
          </a:xfrm>
          <a:prstGeom prst="rect">
            <a:avLst/>
          </a:prstGeom>
          <a:noFill/>
          <a:ln/>
        </p:spPr>
        <p:txBody>
          <a:bodyPr wrap="square" lIns="0" tIns="0" rIns="0" bIns="0" rtlCol="0" anchor="ctr"/>
          <a:lstStyle/>
          <a:p>
            <a:pPr algn="r" indent="0" marL="0">
              <a:buNone/>
            </a:pPr>
            <a:r>
              <a:rPr lang="en-US" sz="900" dirty="0">
                <a:solidFill>
                  <a:srgbClr val="5F7181"/>
                </a:solidFill>
                <a:latin typeface="Aptos" pitchFamily="34" charset="0"/>
                <a:ea typeface="Aptos" pitchFamily="34" charset="-122"/>
                <a:cs typeface="Aptos" pitchFamily="34" charset="-120"/>
              </a:rPr>
              <a:t>9</a:t>
            </a:r>
            <a:endParaRPr lang="en-US" sz="900" dirty="0"/>
          </a:p>
        </p:txBody>
      </p:sp>
      <p:sp>
        <p:nvSpPr>
          <p:cNvPr id="8" name="Shape 6"/>
          <p:cNvSpPr/>
          <p:nvPr/>
        </p:nvSpPr>
        <p:spPr>
          <a:xfrm>
            <a:off x="640080" y="658368"/>
            <a:ext cx="420624" cy="420624"/>
          </a:xfrm>
          <a:prstGeom prst="ellipse">
            <a:avLst/>
          </a:prstGeom>
          <a:solidFill>
            <a:srgbClr val="0068B7"/>
          </a:solidFill>
          <a:ln w="12700">
            <a:solidFill>
              <a:srgbClr val="0068B7"/>
            </a:solidFill>
            <a:prstDash val="solid"/>
          </a:ln>
        </p:spPr>
      </p:sp>
      <p:sp>
        <p:nvSpPr>
          <p:cNvPr id="9" name="Text 7"/>
          <p:cNvSpPr/>
          <p:nvPr/>
        </p:nvSpPr>
        <p:spPr>
          <a:xfrm>
            <a:off x="640080" y="731520"/>
            <a:ext cx="420624" cy="164592"/>
          </a:xfrm>
          <a:prstGeom prst="rect">
            <a:avLst/>
          </a:prstGeom>
          <a:noFill/>
          <a:ln/>
        </p:spPr>
        <p:txBody>
          <a:bodyPr wrap="square" lIns="0" tIns="0" rIns="0" bIns="0" rtlCol="0" anchor="ctr"/>
          <a:lstStyle/>
          <a:p>
            <a:pPr algn="ctr" indent="0" marL="0">
              <a:buNone/>
            </a:pPr>
            <a:r>
              <a:rPr lang="en-US" sz="1100" b="1" dirty="0">
                <a:solidFill>
                  <a:srgbClr val="FFFFFF"/>
                </a:solidFill>
                <a:latin typeface="Aptos" pitchFamily="34" charset="0"/>
                <a:ea typeface="Aptos" pitchFamily="34" charset="-122"/>
                <a:cs typeface="Aptos" pitchFamily="34" charset="-120"/>
              </a:rPr>
              <a:t>5</a:t>
            </a:r>
            <a:endParaRPr lang="en-US" sz="1100" dirty="0"/>
          </a:p>
        </p:txBody>
      </p:sp>
      <p:sp>
        <p:nvSpPr>
          <p:cNvPr id="10" name="Text 8"/>
          <p:cNvSpPr/>
          <p:nvPr/>
        </p:nvSpPr>
        <p:spPr>
          <a:xfrm>
            <a:off x="640080" y="621792"/>
            <a:ext cx="10881360" cy="713232"/>
          </a:xfrm>
          <a:prstGeom prst="rect">
            <a:avLst/>
          </a:prstGeom>
          <a:noFill/>
          <a:ln/>
        </p:spPr>
        <p:txBody>
          <a:bodyPr wrap="square" lIns="0" tIns="0" rIns="0" bIns="0" rtlCol="0" anchor="ctr">
            <a:normAutofit/>
          </a:bodyPr>
          <a:lstStyle/>
          <a:p>
            <a:pPr indent="0" marL="0">
              <a:buNone/>
            </a:pPr>
            <a:r>
              <a:rPr lang="en-US" sz="3400" b="1" dirty="0">
                <a:solidFill>
                  <a:srgbClr val="003A63"/>
                </a:solidFill>
                <a:latin typeface="Aptos Display" pitchFamily="34" charset="0"/>
                <a:ea typeface="Aptos Display" pitchFamily="34" charset="-122"/>
                <a:cs typeface="Aptos Display" pitchFamily="34" charset="-120"/>
              </a:rPr>
              <a:t>Why This Topic Matters for Public Health AI</a:t>
            </a:r>
            <a:endParaRPr lang="en-US" sz="3400" dirty="0"/>
          </a:p>
        </p:txBody>
      </p:sp>
      <p:sp>
        <p:nvSpPr>
          <p:cNvPr id="11" name="Text 9"/>
          <p:cNvSpPr/>
          <p:nvPr/>
        </p:nvSpPr>
        <p:spPr>
          <a:xfrm>
            <a:off x="868680" y="1508760"/>
            <a:ext cx="6537960" cy="4160520"/>
          </a:xfrm>
          <a:prstGeom prst="rect">
            <a:avLst/>
          </a:prstGeom>
          <a:noFill/>
          <a:ln/>
        </p:spPr>
        <p:txBody>
          <a:bodyPr wrap="square" lIns="635" tIns="635" rIns="635" bIns="635" rtlCol="0" anchor="t">
            <a:normAutofit/>
          </a:bodyPr>
          <a:lstStyle/>
          <a:p>
            <a:r>
              <a:rPr lang="en-US" sz="2100" dirty="0">
                <a:solidFill>
                  <a:srgbClr val="17364A"/>
                </a:solidFill>
                <a:latin typeface="Aptos" pitchFamily="34" charset="0"/>
                <a:ea typeface="Aptos" pitchFamily="34" charset="-122"/>
                <a:cs typeface="Aptos" pitchFamily="34" charset="-120"/>
              </a:rPr>
              <a:t>AI Governance Board Chair Training matters because AI adoption changes how public health agencies make,.</a:t>
            </a:r>
            <a:endParaRPr lang="en-US" sz="2100" dirty="0"/>
          </a:p>
          <a:p>
            <a:r>
              <a:rPr lang="en-US" sz="2100" dirty="0">
                <a:solidFill>
                  <a:srgbClr val="17364A"/>
                </a:solidFill>
                <a:latin typeface="Aptos" pitchFamily="34" charset="0"/>
                <a:ea typeface="Aptos" pitchFamily="34" charset="-122"/>
                <a:cs typeface="Aptos" pitchFamily="34" charset="-120"/>
              </a:rPr>
              <a:t>Without a structured approach, staff may rely on informal practices, vendor assurances, or one-time.</a:t>
            </a:r>
            <a:endParaRPr lang="en-US" sz="2100" dirty="0"/>
          </a:p>
          <a:p>
            <a:r>
              <a:rPr lang="en-US" sz="2100" dirty="0">
                <a:solidFill>
                  <a:srgbClr val="17364A"/>
                </a:solidFill>
                <a:latin typeface="Aptos" pitchFamily="34" charset="0"/>
                <a:ea typeface="Aptos" pitchFamily="34" charset="-122"/>
                <a:cs typeface="Aptos" pitchFamily="34" charset="-120"/>
              </a:rPr>
              <a:t>Public health agencies operate under legal authorities, public accountability, resource constraints,.</a:t>
            </a:r>
            <a:endParaRPr lang="en-US" sz="2100" dirty="0"/>
          </a:p>
        </p:txBody>
      </p:sp>
      <p:sp>
        <p:nvSpPr>
          <p:cNvPr id="12" name="Shape 10"/>
          <p:cNvSpPr/>
          <p:nvPr/>
        </p:nvSpPr>
        <p:spPr>
          <a:xfrm>
            <a:off x="7909560" y="1417320"/>
            <a:ext cx="3154680" cy="1828800"/>
          </a:xfrm>
          <a:prstGeom prst="roundRect">
            <a:avLst>
              <a:gd name="adj" fmla="val 6000"/>
            </a:avLst>
          </a:prstGeom>
          <a:solidFill>
            <a:srgbClr val="EEF8ED"/>
          </a:solidFill>
          <a:ln w="12700">
            <a:solidFill>
              <a:srgbClr val="B9D7E6"/>
            </a:solidFill>
            <a:prstDash val="solid"/>
          </a:ln>
        </p:spPr>
      </p:sp>
      <p:sp>
        <p:nvSpPr>
          <p:cNvPr id="13" name="Text 11"/>
          <p:cNvSpPr/>
          <p:nvPr/>
        </p:nvSpPr>
        <p:spPr>
          <a:xfrm>
            <a:off x="8074152" y="1563624"/>
            <a:ext cx="282549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Key idea</a:t>
            </a:r>
            <a:endParaRPr lang="en-US" sz="1300" dirty="0"/>
          </a:p>
        </p:txBody>
      </p:sp>
      <p:sp>
        <p:nvSpPr>
          <p:cNvPr id="14" name="Text 12"/>
          <p:cNvSpPr/>
          <p:nvPr/>
        </p:nvSpPr>
        <p:spPr>
          <a:xfrm>
            <a:off x="8074152" y="1920240"/>
            <a:ext cx="2825496" cy="1188720"/>
          </a:xfrm>
          <a:prstGeom prst="rect">
            <a:avLst/>
          </a:prstGeom>
          <a:noFill/>
          <a:ln/>
        </p:spPr>
        <p:txBody>
          <a:bodyPr wrap="square" lIns="0" tIns="0" rIns="0" bIns="0" rtlCol="0" anchor="t">
            <a:normAutofit/>
          </a:bodyPr>
          <a:lstStyle/>
          <a:p>
            <a:pPr indent="0" marL="0">
              <a:buNone/>
            </a:pPr>
            <a:r>
              <a:rPr lang="en-US" sz="1550" dirty="0">
                <a:solidFill>
                  <a:srgbClr val="17364A"/>
                </a:solidFill>
                <a:latin typeface="Aptos" pitchFamily="34" charset="0"/>
                <a:ea typeface="Aptos" pitchFamily="34" charset="-122"/>
                <a:cs typeface="Aptos" pitchFamily="34" charset="-120"/>
              </a:rPr>
              <a:t>AI Governance Board Chair Training matters because AI adoption changes how public health agencies make,.</a:t>
            </a:r>
            <a:endParaRPr lang="en-US" sz="1550" dirty="0"/>
          </a:p>
        </p:txBody>
      </p:sp>
      <p:sp>
        <p:nvSpPr>
          <p:cNvPr id="15" name="Shape 13"/>
          <p:cNvSpPr/>
          <p:nvPr/>
        </p:nvSpPr>
        <p:spPr>
          <a:xfrm>
            <a:off x="7909560" y="3520440"/>
            <a:ext cx="3154680" cy="1737360"/>
          </a:xfrm>
          <a:prstGeom prst="roundRect">
            <a:avLst>
              <a:gd name="adj" fmla="val 6316"/>
            </a:avLst>
          </a:prstGeom>
          <a:solidFill>
            <a:srgbClr val="EAF6F8"/>
          </a:solidFill>
          <a:ln w="12700">
            <a:solidFill>
              <a:srgbClr val="B9D7E6"/>
            </a:solidFill>
            <a:prstDash val="solid"/>
          </a:ln>
        </p:spPr>
      </p:sp>
      <p:sp>
        <p:nvSpPr>
          <p:cNvPr id="16" name="Text 14"/>
          <p:cNvSpPr/>
          <p:nvPr/>
        </p:nvSpPr>
        <p:spPr>
          <a:xfrm>
            <a:off x="8074152" y="3666744"/>
            <a:ext cx="282549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Use this for</a:t>
            </a:r>
            <a:endParaRPr lang="en-US" sz="1300" dirty="0"/>
          </a:p>
        </p:txBody>
      </p:sp>
      <p:sp>
        <p:nvSpPr>
          <p:cNvPr id="17" name="Text 15"/>
          <p:cNvSpPr/>
          <p:nvPr/>
        </p:nvSpPr>
        <p:spPr>
          <a:xfrm>
            <a:off x="8074152" y="4023360"/>
            <a:ext cx="2825496" cy="1097280"/>
          </a:xfrm>
          <a:prstGeom prst="rect">
            <a:avLst/>
          </a:prstGeom>
          <a:noFill/>
          <a:ln/>
        </p:spPr>
        <p:txBody>
          <a:bodyPr wrap="square" lIns="0" tIns="0" rIns="0" bIns="0" rtlCol="0" anchor="t">
            <a:normAutofit/>
          </a:bodyPr>
          <a:lstStyle/>
          <a:p>
            <a:pPr indent="0" marL="0">
              <a:buNone/>
            </a:pPr>
            <a:r>
              <a:rPr lang="en-US" sz="1550" dirty="0">
                <a:solidFill>
                  <a:srgbClr val="17364A"/>
                </a:solidFill>
                <a:latin typeface="Aptos" pitchFamily="34" charset="0"/>
                <a:ea typeface="Aptos" pitchFamily="34" charset="-122"/>
                <a:cs typeface="Aptos" pitchFamily="34" charset="-120"/>
              </a:rPr>
              <a:t>Connect the concept to public health decisions, safeguards, documentation, or implementation work.</a:t>
            </a:r>
            <a:endParaRPr lang="en-US" sz="1550" dirty="0"/>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bg>
      <p:bgPr>
        <a:solidFill>
          <a:srgbClr val="F7FBFD"/>
        </a:solidFill>
      </p:bgPr>
    </p:bg>
    <p:spTree>
      <p:nvGrpSpPr>
        <p:cNvPr id="1" name=""/>
        <p:cNvGrpSpPr/>
        <p:nvPr/>
      </p:nvGrpSpPr>
      <p:grpSpPr>
        <a:xfrm>
          <a:off x="0" y="0"/>
          <a:ext cx="0" cy="0"/>
          <a:chOff x="0" y="0"/>
          <a:chExt cx="0" cy="0"/>
        </a:xfrm>
      </p:grpSpPr>
      <p:sp>
        <p:nvSpPr>
          <p:cNvPr id="2" name="Shape 0"/>
          <p:cNvSpPr/>
          <p:nvPr/>
        </p:nvSpPr>
        <p:spPr>
          <a:xfrm>
            <a:off x="0" y="0"/>
            <a:ext cx="12191695" cy="164592"/>
          </a:xfrm>
          <a:prstGeom prst="rect">
            <a:avLst/>
          </a:prstGeom>
          <a:solidFill>
            <a:srgbClr val="0068B7"/>
          </a:solidFill>
          <a:ln w="12700">
            <a:solidFill>
              <a:srgbClr val="0068B7"/>
            </a:solidFill>
            <a:prstDash val="solid"/>
          </a:ln>
        </p:spPr>
      </p:sp>
      <p:sp>
        <p:nvSpPr>
          <p:cNvPr id="3" name="Shape 1"/>
          <p:cNvSpPr/>
          <p:nvPr/>
        </p:nvSpPr>
        <p:spPr>
          <a:xfrm>
            <a:off x="0" y="164592"/>
            <a:ext cx="146304" cy="6693408"/>
          </a:xfrm>
          <a:prstGeom prst="rect">
            <a:avLst/>
          </a:prstGeom>
          <a:solidFill>
            <a:srgbClr val="2F8A28"/>
          </a:solidFill>
          <a:ln w="12700">
            <a:solidFill>
              <a:srgbClr val="2F8A28"/>
            </a:solidFill>
            <a:prstDash val="solid"/>
          </a:ln>
        </p:spPr>
      </p:sp>
      <p:sp>
        <p:nvSpPr>
          <p:cNvPr id="4" name="Text 2"/>
          <p:cNvSpPr/>
          <p:nvPr/>
        </p:nvSpPr>
        <p:spPr>
          <a:xfrm>
            <a:off x="502920" y="292608"/>
            <a:ext cx="10149840" cy="256032"/>
          </a:xfrm>
          <a:prstGeom prst="rect">
            <a:avLst/>
          </a:prstGeom>
          <a:noFill/>
          <a:ln/>
        </p:spPr>
        <p:txBody>
          <a:bodyPr wrap="square" lIns="0" tIns="0" rIns="0" bIns="0" rtlCol="0" anchor="ctr"/>
          <a:lstStyle/>
          <a:p>
            <a:pPr indent="0" marL="0">
              <a:buNone/>
            </a:pPr>
            <a:r>
              <a:rPr lang="en-US" sz="900" b="1" dirty="0">
                <a:solidFill>
                  <a:srgbClr val="5F7181"/>
                </a:solidFill>
                <a:latin typeface="Aptos" pitchFamily="34" charset="0"/>
                <a:ea typeface="Aptos" pitchFamily="34" charset="-122"/>
                <a:cs typeface="Aptos" pitchFamily="34" charset="-120"/>
              </a:rPr>
              <a:t>AI Governance Board Chair Training</a:t>
            </a:r>
            <a:endParaRPr lang="en-US" sz="900" dirty="0"/>
          </a:p>
        </p:txBody>
      </p:sp>
      <p:sp>
        <p:nvSpPr>
          <p:cNvPr id="5" name="Text 3"/>
          <p:cNvSpPr/>
          <p:nvPr/>
        </p:nvSpPr>
        <p:spPr>
          <a:xfrm>
            <a:off x="502920" y="6537960"/>
            <a:ext cx="7772400" cy="201168"/>
          </a:xfrm>
          <a:prstGeom prst="rect">
            <a:avLst/>
          </a:prstGeom>
          <a:noFill/>
          <a:ln/>
        </p:spPr>
        <p:txBody>
          <a:bodyPr wrap="square" lIns="0" tIns="0" rIns="0" bIns="0" rtlCol="0" anchor="ctr"/>
          <a:lstStyle/>
          <a:p>
            <a:pPr indent="0" marL="0">
              <a:buNone/>
            </a:pPr>
            <a:r>
              <a:rPr lang="en-US" sz="800" dirty="0">
                <a:solidFill>
                  <a:srgbClr val="5F7181"/>
                </a:solidFill>
                <a:latin typeface="Aptos" pitchFamily="34" charset="0"/>
                <a:ea typeface="Aptos" pitchFamily="34" charset="-122"/>
                <a:cs typeface="Aptos" pitchFamily="34" charset="-120"/>
              </a:rPr>
              <a:t>AI Playbook and Toolkit for Public Health Departments</a:t>
            </a:r>
            <a:endParaRPr lang="en-US" sz="800" dirty="0"/>
          </a:p>
        </p:txBody>
      </p:sp>
      <p:sp>
        <p:nvSpPr>
          <p:cNvPr id="6" name="Text 4"/>
          <p:cNvSpPr/>
          <p:nvPr/>
        </p:nvSpPr>
        <p:spPr>
          <a:xfrm>
            <a:off x="9966960" y="6537960"/>
            <a:ext cx="1645920" cy="201168"/>
          </a:xfrm>
          <a:prstGeom prst="rect">
            <a:avLst/>
          </a:prstGeom>
          <a:noFill/>
          <a:ln/>
        </p:spPr>
        <p:txBody>
          <a:bodyPr wrap="square" lIns="0" tIns="0" rIns="0" bIns="0" rtlCol="0" anchor="ctr"/>
          <a:lstStyle/>
          <a:p>
            <a:pPr algn="r" indent="0" marL="0">
              <a:buNone/>
            </a:pPr>
            <a:r>
              <a:rPr lang="en-US" sz="800" dirty="0">
                <a:solidFill>
                  <a:srgbClr val="5F7181"/>
                </a:solidFill>
                <a:latin typeface="Aptos" pitchFamily="34" charset="0"/>
                <a:ea typeface="Aptos" pitchFamily="34" charset="-122"/>
                <a:cs typeface="Aptos" pitchFamily="34" charset="-120"/>
              </a:rPr>
              <a:t>Â© Paula Soper</a:t>
            </a:r>
            <a:endParaRPr lang="en-US" sz="800" dirty="0"/>
          </a:p>
        </p:txBody>
      </p:sp>
      <p:sp>
        <p:nvSpPr>
          <p:cNvPr id="7" name="Text 5"/>
          <p:cNvSpPr/>
          <p:nvPr/>
        </p:nvSpPr>
        <p:spPr>
          <a:xfrm>
            <a:off x="11137392" y="6510528"/>
            <a:ext cx="411480" cy="201168"/>
          </a:xfrm>
          <a:prstGeom prst="rect">
            <a:avLst/>
          </a:prstGeom>
          <a:noFill/>
          <a:ln/>
        </p:spPr>
        <p:txBody>
          <a:bodyPr wrap="square" lIns="0" tIns="0" rIns="0" bIns="0" rtlCol="0" anchor="ctr"/>
          <a:lstStyle/>
          <a:p>
            <a:pPr algn="r" indent="0" marL="0">
              <a:buNone/>
            </a:pPr>
            <a:r>
              <a:rPr lang="en-US" sz="900" dirty="0">
                <a:solidFill>
                  <a:srgbClr val="5F7181"/>
                </a:solidFill>
                <a:latin typeface="Aptos" pitchFamily="34" charset="0"/>
                <a:ea typeface="Aptos" pitchFamily="34" charset="-122"/>
                <a:cs typeface="Aptos" pitchFamily="34" charset="-120"/>
              </a:rPr>
              <a:t>10</a:t>
            </a:r>
            <a:endParaRPr lang="en-US" sz="900" dirty="0"/>
          </a:p>
        </p:txBody>
      </p:sp>
      <p:sp>
        <p:nvSpPr>
          <p:cNvPr id="8" name="Shape 6"/>
          <p:cNvSpPr/>
          <p:nvPr/>
        </p:nvSpPr>
        <p:spPr>
          <a:xfrm>
            <a:off x="640080" y="658368"/>
            <a:ext cx="420624" cy="420624"/>
          </a:xfrm>
          <a:prstGeom prst="ellipse">
            <a:avLst/>
          </a:prstGeom>
          <a:solidFill>
            <a:srgbClr val="0068B7"/>
          </a:solidFill>
          <a:ln w="12700">
            <a:solidFill>
              <a:srgbClr val="0068B7"/>
            </a:solidFill>
            <a:prstDash val="solid"/>
          </a:ln>
        </p:spPr>
      </p:sp>
      <p:sp>
        <p:nvSpPr>
          <p:cNvPr id="9" name="Text 7"/>
          <p:cNvSpPr/>
          <p:nvPr/>
        </p:nvSpPr>
        <p:spPr>
          <a:xfrm>
            <a:off x="640080" y="731520"/>
            <a:ext cx="420624" cy="164592"/>
          </a:xfrm>
          <a:prstGeom prst="rect">
            <a:avLst/>
          </a:prstGeom>
          <a:noFill/>
          <a:ln/>
        </p:spPr>
        <p:txBody>
          <a:bodyPr wrap="square" lIns="0" tIns="0" rIns="0" bIns="0" rtlCol="0" anchor="ctr"/>
          <a:lstStyle/>
          <a:p>
            <a:pPr algn="ctr" indent="0" marL="0">
              <a:buNone/>
            </a:pPr>
            <a:r>
              <a:rPr lang="en-US" sz="1100" b="1" dirty="0">
                <a:solidFill>
                  <a:srgbClr val="FFFFFF"/>
                </a:solidFill>
                <a:latin typeface="Aptos" pitchFamily="34" charset="0"/>
                <a:ea typeface="Aptos" pitchFamily="34" charset="-122"/>
                <a:cs typeface="Aptos" pitchFamily="34" charset="-120"/>
              </a:rPr>
              <a:t>6</a:t>
            </a:r>
            <a:endParaRPr lang="en-US" sz="1100" dirty="0"/>
          </a:p>
        </p:txBody>
      </p:sp>
      <p:sp>
        <p:nvSpPr>
          <p:cNvPr id="10" name="Text 8"/>
          <p:cNvSpPr/>
          <p:nvPr/>
        </p:nvSpPr>
        <p:spPr>
          <a:xfrm>
            <a:off x="640080" y="621792"/>
            <a:ext cx="10881360" cy="713232"/>
          </a:xfrm>
          <a:prstGeom prst="rect">
            <a:avLst/>
          </a:prstGeom>
          <a:noFill/>
          <a:ln/>
        </p:spPr>
        <p:txBody>
          <a:bodyPr wrap="square" lIns="0" tIns="0" rIns="0" bIns="0" rtlCol="0" anchor="ctr">
            <a:normAutofit/>
          </a:bodyPr>
          <a:lstStyle/>
          <a:p>
            <a:pPr indent="0" marL="0">
              <a:buNone/>
            </a:pPr>
            <a:r>
              <a:rPr lang="en-US" sz="3400" b="1" dirty="0">
                <a:solidFill>
                  <a:srgbClr val="003A63"/>
                </a:solidFill>
                <a:latin typeface="Aptos Display" pitchFamily="34" charset="0"/>
                <a:ea typeface="Aptos Display" pitchFamily="34" charset="-122"/>
                <a:cs typeface="Aptos Display" pitchFamily="34" charset="-120"/>
              </a:rPr>
              <a:t>Public Health Example</a:t>
            </a:r>
            <a:endParaRPr lang="en-US" sz="3400" dirty="0"/>
          </a:p>
        </p:txBody>
      </p:sp>
      <p:sp>
        <p:nvSpPr>
          <p:cNvPr id="11" name="Text 9"/>
          <p:cNvSpPr/>
          <p:nvPr/>
        </p:nvSpPr>
        <p:spPr>
          <a:xfrm>
            <a:off x="868680" y="1508760"/>
            <a:ext cx="6537960" cy="4160520"/>
          </a:xfrm>
          <a:prstGeom prst="rect">
            <a:avLst/>
          </a:prstGeom>
          <a:noFill/>
          <a:ln/>
        </p:spPr>
        <p:txBody>
          <a:bodyPr wrap="square" lIns="635" tIns="635" rIns="635" bIns="635" rtlCol="0" anchor="t">
            <a:normAutofit/>
          </a:bodyPr>
          <a:lstStyle/>
          <a:p>
            <a:r>
              <a:rPr lang="en-US" sz="2100" dirty="0">
                <a:solidFill>
                  <a:srgbClr val="17364A"/>
                </a:solidFill>
                <a:latin typeface="Aptos" pitchFamily="34" charset="0"/>
                <a:ea typeface="Aptos" pitchFamily="34" charset="-122"/>
                <a:cs typeface="Aptos" pitchFamily="34" charset="-120"/>
              </a:rPr>
              <a:t>A public health agency is preparing to use AI in a workflow related to running governance meetings,.</a:t>
            </a:r>
            <a:endParaRPr lang="en-US" sz="2100" dirty="0"/>
          </a:p>
          <a:p>
            <a:r>
              <a:rPr lang="en-US" sz="2100" dirty="0">
                <a:solidFill>
                  <a:srgbClr val="17364A"/>
                </a:solidFill>
                <a:latin typeface="Aptos" pitchFamily="34" charset="0"/>
                <a:ea typeface="Aptos" pitchFamily="34" charset="-122"/>
                <a:cs typeface="Aptos" pitchFamily="34" charset="-120"/>
              </a:rPr>
              <a:t>The project team initially treats the tool as a helpful efficiency aid, but governance reviewers.</a:t>
            </a:r>
            <a:endParaRPr lang="en-US" sz="2100" dirty="0"/>
          </a:p>
          <a:p>
            <a:r>
              <a:rPr lang="en-US" sz="2100" dirty="0">
                <a:solidFill>
                  <a:srgbClr val="17364A"/>
                </a:solidFill>
                <a:latin typeface="Aptos" pitchFamily="34" charset="0"/>
                <a:ea typeface="Aptos" pitchFamily="34" charset="-122"/>
                <a:cs typeface="Aptos" pitchFamily="34" charset="-120"/>
              </a:rPr>
              <a:t>The agency responds by creating a clear artifact that defines intended use, prohibited use, responsible.</a:t>
            </a:r>
            <a:endParaRPr lang="en-US" sz="2100" dirty="0"/>
          </a:p>
        </p:txBody>
      </p:sp>
      <p:sp>
        <p:nvSpPr>
          <p:cNvPr id="12" name="Shape 10"/>
          <p:cNvSpPr/>
          <p:nvPr/>
        </p:nvSpPr>
        <p:spPr>
          <a:xfrm>
            <a:off x="7909560" y="1417320"/>
            <a:ext cx="3154680" cy="1828800"/>
          </a:xfrm>
          <a:prstGeom prst="roundRect">
            <a:avLst>
              <a:gd name="adj" fmla="val 6000"/>
            </a:avLst>
          </a:prstGeom>
          <a:solidFill>
            <a:srgbClr val="EEF8ED"/>
          </a:solidFill>
          <a:ln w="12700">
            <a:solidFill>
              <a:srgbClr val="B9D7E6"/>
            </a:solidFill>
            <a:prstDash val="solid"/>
          </a:ln>
        </p:spPr>
      </p:sp>
      <p:sp>
        <p:nvSpPr>
          <p:cNvPr id="13" name="Text 11"/>
          <p:cNvSpPr/>
          <p:nvPr/>
        </p:nvSpPr>
        <p:spPr>
          <a:xfrm>
            <a:off x="8074152" y="1563624"/>
            <a:ext cx="282549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Key idea</a:t>
            </a:r>
            <a:endParaRPr lang="en-US" sz="1300" dirty="0"/>
          </a:p>
        </p:txBody>
      </p:sp>
      <p:sp>
        <p:nvSpPr>
          <p:cNvPr id="14" name="Text 12"/>
          <p:cNvSpPr/>
          <p:nvPr/>
        </p:nvSpPr>
        <p:spPr>
          <a:xfrm>
            <a:off x="8074152" y="1920240"/>
            <a:ext cx="2825496" cy="1188720"/>
          </a:xfrm>
          <a:prstGeom prst="rect">
            <a:avLst/>
          </a:prstGeom>
          <a:noFill/>
          <a:ln/>
        </p:spPr>
        <p:txBody>
          <a:bodyPr wrap="square" lIns="0" tIns="0" rIns="0" bIns="0" rtlCol="0" anchor="t">
            <a:normAutofit/>
          </a:bodyPr>
          <a:lstStyle/>
          <a:p>
            <a:pPr indent="0" marL="0">
              <a:buNone/>
            </a:pPr>
            <a:r>
              <a:rPr lang="en-US" sz="1550" dirty="0">
                <a:solidFill>
                  <a:srgbClr val="17364A"/>
                </a:solidFill>
                <a:latin typeface="Aptos" pitchFamily="34" charset="0"/>
                <a:ea typeface="Aptos" pitchFamily="34" charset="-122"/>
                <a:cs typeface="Aptos" pitchFamily="34" charset="-120"/>
              </a:rPr>
              <a:t>A public health agency is preparing to use AI in a workflow related to running governance meetings,.</a:t>
            </a:r>
            <a:endParaRPr lang="en-US" sz="1550" dirty="0"/>
          </a:p>
        </p:txBody>
      </p:sp>
      <p:sp>
        <p:nvSpPr>
          <p:cNvPr id="15" name="Shape 13"/>
          <p:cNvSpPr/>
          <p:nvPr/>
        </p:nvSpPr>
        <p:spPr>
          <a:xfrm>
            <a:off x="7909560" y="3520440"/>
            <a:ext cx="3154680" cy="1737360"/>
          </a:xfrm>
          <a:prstGeom prst="roundRect">
            <a:avLst>
              <a:gd name="adj" fmla="val 6316"/>
            </a:avLst>
          </a:prstGeom>
          <a:solidFill>
            <a:srgbClr val="EAF6F8"/>
          </a:solidFill>
          <a:ln w="12700">
            <a:solidFill>
              <a:srgbClr val="B9D7E6"/>
            </a:solidFill>
            <a:prstDash val="solid"/>
          </a:ln>
        </p:spPr>
      </p:sp>
      <p:sp>
        <p:nvSpPr>
          <p:cNvPr id="16" name="Text 14"/>
          <p:cNvSpPr/>
          <p:nvPr/>
        </p:nvSpPr>
        <p:spPr>
          <a:xfrm>
            <a:off x="8074152" y="3666744"/>
            <a:ext cx="282549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Use this for</a:t>
            </a:r>
            <a:endParaRPr lang="en-US" sz="1300" dirty="0"/>
          </a:p>
        </p:txBody>
      </p:sp>
      <p:sp>
        <p:nvSpPr>
          <p:cNvPr id="17" name="Text 15"/>
          <p:cNvSpPr/>
          <p:nvPr/>
        </p:nvSpPr>
        <p:spPr>
          <a:xfrm>
            <a:off x="8074152" y="4023360"/>
            <a:ext cx="2825496" cy="1097280"/>
          </a:xfrm>
          <a:prstGeom prst="rect">
            <a:avLst/>
          </a:prstGeom>
          <a:noFill/>
          <a:ln/>
        </p:spPr>
        <p:txBody>
          <a:bodyPr wrap="square" lIns="0" tIns="0" rIns="0" bIns="0" rtlCol="0" anchor="t">
            <a:normAutofit/>
          </a:bodyPr>
          <a:lstStyle/>
          <a:p>
            <a:pPr indent="0" marL="0">
              <a:buNone/>
            </a:pPr>
            <a:r>
              <a:rPr lang="en-US" sz="1550" dirty="0">
                <a:solidFill>
                  <a:srgbClr val="17364A"/>
                </a:solidFill>
                <a:latin typeface="Aptos" pitchFamily="34" charset="0"/>
                <a:ea typeface="Aptos" pitchFamily="34" charset="-122"/>
                <a:cs typeface="Aptos" pitchFamily="34" charset="-120"/>
              </a:rPr>
              <a:t>Connect the concept to public health decisions, safeguards, documentation, or implementation work.</a:t>
            </a:r>
            <a:endParaRPr lang="en-US" sz="1550" dirty="0"/>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bg>
      <p:bgPr>
        <a:solidFill>
          <a:srgbClr val="F7FBFD"/>
        </a:solidFill>
      </p:bgPr>
    </p:bg>
    <p:spTree>
      <p:nvGrpSpPr>
        <p:cNvPr id="1" name=""/>
        <p:cNvGrpSpPr/>
        <p:nvPr/>
      </p:nvGrpSpPr>
      <p:grpSpPr>
        <a:xfrm>
          <a:off x="0" y="0"/>
          <a:ext cx="0" cy="0"/>
          <a:chOff x="0" y="0"/>
          <a:chExt cx="0" cy="0"/>
        </a:xfrm>
      </p:grpSpPr>
      <p:sp>
        <p:nvSpPr>
          <p:cNvPr id="2" name="Shape 0"/>
          <p:cNvSpPr/>
          <p:nvPr/>
        </p:nvSpPr>
        <p:spPr>
          <a:xfrm>
            <a:off x="0" y="0"/>
            <a:ext cx="12191695" cy="164592"/>
          </a:xfrm>
          <a:prstGeom prst="rect">
            <a:avLst/>
          </a:prstGeom>
          <a:solidFill>
            <a:srgbClr val="0068B7"/>
          </a:solidFill>
          <a:ln w="12700">
            <a:solidFill>
              <a:srgbClr val="0068B7"/>
            </a:solidFill>
            <a:prstDash val="solid"/>
          </a:ln>
        </p:spPr>
      </p:sp>
      <p:sp>
        <p:nvSpPr>
          <p:cNvPr id="3" name="Shape 1"/>
          <p:cNvSpPr/>
          <p:nvPr/>
        </p:nvSpPr>
        <p:spPr>
          <a:xfrm>
            <a:off x="0" y="164592"/>
            <a:ext cx="146304" cy="6693408"/>
          </a:xfrm>
          <a:prstGeom prst="rect">
            <a:avLst/>
          </a:prstGeom>
          <a:solidFill>
            <a:srgbClr val="2F8A28"/>
          </a:solidFill>
          <a:ln w="12700">
            <a:solidFill>
              <a:srgbClr val="2F8A28"/>
            </a:solidFill>
            <a:prstDash val="solid"/>
          </a:ln>
        </p:spPr>
      </p:sp>
      <p:sp>
        <p:nvSpPr>
          <p:cNvPr id="4" name="Text 2"/>
          <p:cNvSpPr/>
          <p:nvPr/>
        </p:nvSpPr>
        <p:spPr>
          <a:xfrm>
            <a:off x="502920" y="292608"/>
            <a:ext cx="10149840" cy="256032"/>
          </a:xfrm>
          <a:prstGeom prst="rect">
            <a:avLst/>
          </a:prstGeom>
          <a:noFill/>
          <a:ln/>
        </p:spPr>
        <p:txBody>
          <a:bodyPr wrap="square" lIns="0" tIns="0" rIns="0" bIns="0" rtlCol="0" anchor="ctr"/>
          <a:lstStyle/>
          <a:p>
            <a:pPr indent="0" marL="0">
              <a:buNone/>
            </a:pPr>
            <a:r>
              <a:rPr lang="en-US" sz="900" b="1" dirty="0">
                <a:solidFill>
                  <a:srgbClr val="5F7181"/>
                </a:solidFill>
                <a:latin typeface="Aptos" pitchFamily="34" charset="0"/>
                <a:ea typeface="Aptos" pitchFamily="34" charset="-122"/>
                <a:cs typeface="Aptos" pitchFamily="34" charset="-120"/>
              </a:rPr>
              <a:t>AI Governance Board Chair Training</a:t>
            </a:r>
            <a:endParaRPr lang="en-US" sz="900" dirty="0"/>
          </a:p>
        </p:txBody>
      </p:sp>
      <p:sp>
        <p:nvSpPr>
          <p:cNvPr id="5" name="Text 3"/>
          <p:cNvSpPr/>
          <p:nvPr/>
        </p:nvSpPr>
        <p:spPr>
          <a:xfrm>
            <a:off x="502920" y="6537960"/>
            <a:ext cx="7772400" cy="201168"/>
          </a:xfrm>
          <a:prstGeom prst="rect">
            <a:avLst/>
          </a:prstGeom>
          <a:noFill/>
          <a:ln/>
        </p:spPr>
        <p:txBody>
          <a:bodyPr wrap="square" lIns="0" tIns="0" rIns="0" bIns="0" rtlCol="0" anchor="ctr"/>
          <a:lstStyle/>
          <a:p>
            <a:pPr indent="0" marL="0">
              <a:buNone/>
            </a:pPr>
            <a:r>
              <a:rPr lang="en-US" sz="800" dirty="0">
                <a:solidFill>
                  <a:srgbClr val="5F7181"/>
                </a:solidFill>
                <a:latin typeface="Aptos" pitchFamily="34" charset="0"/>
                <a:ea typeface="Aptos" pitchFamily="34" charset="-122"/>
                <a:cs typeface="Aptos" pitchFamily="34" charset="-120"/>
              </a:rPr>
              <a:t>AI Playbook and Toolkit for Public Health Departments</a:t>
            </a:r>
            <a:endParaRPr lang="en-US" sz="800" dirty="0"/>
          </a:p>
        </p:txBody>
      </p:sp>
      <p:sp>
        <p:nvSpPr>
          <p:cNvPr id="6" name="Text 4"/>
          <p:cNvSpPr/>
          <p:nvPr/>
        </p:nvSpPr>
        <p:spPr>
          <a:xfrm>
            <a:off x="9966960" y="6537960"/>
            <a:ext cx="1645920" cy="201168"/>
          </a:xfrm>
          <a:prstGeom prst="rect">
            <a:avLst/>
          </a:prstGeom>
          <a:noFill/>
          <a:ln/>
        </p:spPr>
        <p:txBody>
          <a:bodyPr wrap="square" lIns="0" tIns="0" rIns="0" bIns="0" rtlCol="0" anchor="ctr"/>
          <a:lstStyle/>
          <a:p>
            <a:pPr algn="r" indent="0" marL="0">
              <a:buNone/>
            </a:pPr>
            <a:r>
              <a:rPr lang="en-US" sz="800" dirty="0">
                <a:solidFill>
                  <a:srgbClr val="5F7181"/>
                </a:solidFill>
                <a:latin typeface="Aptos" pitchFamily="34" charset="0"/>
                <a:ea typeface="Aptos" pitchFamily="34" charset="-122"/>
                <a:cs typeface="Aptos" pitchFamily="34" charset="-120"/>
              </a:rPr>
              <a:t>Â© Paula Soper</a:t>
            </a:r>
            <a:endParaRPr lang="en-US" sz="800" dirty="0"/>
          </a:p>
        </p:txBody>
      </p:sp>
      <p:sp>
        <p:nvSpPr>
          <p:cNvPr id="7" name="Text 5"/>
          <p:cNvSpPr/>
          <p:nvPr/>
        </p:nvSpPr>
        <p:spPr>
          <a:xfrm>
            <a:off x="11137392" y="6510528"/>
            <a:ext cx="411480" cy="201168"/>
          </a:xfrm>
          <a:prstGeom prst="rect">
            <a:avLst/>
          </a:prstGeom>
          <a:noFill/>
          <a:ln/>
        </p:spPr>
        <p:txBody>
          <a:bodyPr wrap="square" lIns="0" tIns="0" rIns="0" bIns="0" rtlCol="0" anchor="ctr"/>
          <a:lstStyle/>
          <a:p>
            <a:pPr algn="r" indent="0" marL="0">
              <a:buNone/>
            </a:pPr>
            <a:r>
              <a:rPr lang="en-US" sz="900" dirty="0">
                <a:solidFill>
                  <a:srgbClr val="5F7181"/>
                </a:solidFill>
                <a:latin typeface="Aptos" pitchFamily="34" charset="0"/>
                <a:ea typeface="Aptos" pitchFamily="34" charset="-122"/>
                <a:cs typeface="Aptos" pitchFamily="34" charset="-120"/>
              </a:rPr>
              <a:t>11</a:t>
            </a:r>
            <a:endParaRPr lang="en-US" sz="900" dirty="0"/>
          </a:p>
        </p:txBody>
      </p:sp>
      <p:sp>
        <p:nvSpPr>
          <p:cNvPr id="8" name="Shape 6"/>
          <p:cNvSpPr/>
          <p:nvPr/>
        </p:nvSpPr>
        <p:spPr>
          <a:xfrm>
            <a:off x="640080" y="658368"/>
            <a:ext cx="420624" cy="420624"/>
          </a:xfrm>
          <a:prstGeom prst="ellipse">
            <a:avLst/>
          </a:prstGeom>
          <a:solidFill>
            <a:srgbClr val="0068B7"/>
          </a:solidFill>
          <a:ln w="12700">
            <a:solidFill>
              <a:srgbClr val="0068B7"/>
            </a:solidFill>
            <a:prstDash val="solid"/>
          </a:ln>
        </p:spPr>
      </p:sp>
      <p:sp>
        <p:nvSpPr>
          <p:cNvPr id="9" name="Text 7"/>
          <p:cNvSpPr/>
          <p:nvPr/>
        </p:nvSpPr>
        <p:spPr>
          <a:xfrm>
            <a:off x="640080" y="731520"/>
            <a:ext cx="420624" cy="164592"/>
          </a:xfrm>
          <a:prstGeom prst="rect">
            <a:avLst/>
          </a:prstGeom>
          <a:noFill/>
          <a:ln/>
        </p:spPr>
        <p:txBody>
          <a:bodyPr wrap="square" lIns="0" tIns="0" rIns="0" bIns="0" rtlCol="0" anchor="ctr"/>
          <a:lstStyle/>
          <a:p>
            <a:pPr algn="ctr" indent="0" marL="0">
              <a:buNone/>
            </a:pPr>
            <a:r>
              <a:rPr lang="en-US" sz="1100" b="1" dirty="0">
                <a:solidFill>
                  <a:srgbClr val="FFFFFF"/>
                </a:solidFill>
                <a:latin typeface="Aptos" pitchFamily="34" charset="0"/>
                <a:ea typeface="Aptos" pitchFamily="34" charset="-122"/>
                <a:cs typeface="Aptos" pitchFamily="34" charset="-120"/>
              </a:rPr>
              <a:t>7</a:t>
            </a:r>
            <a:endParaRPr lang="en-US" sz="1100" dirty="0"/>
          </a:p>
        </p:txBody>
      </p:sp>
      <p:sp>
        <p:nvSpPr>
          <p:cNvPr id="10" name="Text 8"/>
          <p:cNvSpPr/>
          <p:nvPr/>
        </p:nvSpPr>
        <p:spPr>
          <a:xfrm>
            <a:off x="640080" y="621792"/>
            <a:ext cx="10881360" cy="713232"/>
          </a:xfrm>
          <a:prstGeom prst="rect">
            <a:avLst/>
          </a:prstGeom>
          <a:noFill/>
          <a:ln/>
        </p:spPr>
        <p:txBody>
          <a:bodyPr wrap="square" lIns="0" tIns="0" rIns="0" bIns="0" rtlCol="0" anchor="ctr">
            <a:normAutofit/>
          </a:bodyPr>
          <a:lstStyle/>
          <a:p>
            <a:pPr indent="0" marL="0">
              <a:buNone/>
            </a:pPr>
            <a:r>
              <a:rPr lang="en-US" sz="3400" b="1" dirty="0">
                <a:solidFill>
                  <a:srgbClr val="003A63"/>
                </a:solidFill>
                <a:latin typeface="Aptos Display" pitchFamily="34" charset="0"/>
                <a:ea typeface="Aptos Display" pitchFamily="34" charset="-122"/>
                <a:cs typeface="Aptos Display" pitchFamily="34" charset="-120"/>
              </a:rPr>
              <a:t>Topic Deep Dive</a:t>
            </a:r>
            <a:endParaRPr lang="en-US" sz="3400" dirty="0"/>
          </a:p>
        </p:txBody>
      </p:sp>
      <p:sp>
        <p:nvSpPr>
          <p:cNvPr id="11" name="Text 9"/>
          <p:cNvSpPr/>
          <p:nvPr/>
        </p:nvSpPr>
        <p:spPr>
          <a:xfrm>
            <a:off x="868680" y="1508760"/>
            <a:ext cx="6537960" cy="4160520"/>
          </a:xfrm>
          <a:prstGeom prst="rect">
            <a:avLst/>
          </a:prstGeom>
          <a:noFill/>
          <a:ln/>
        </p:spPr>
        <p:txBody>
          <a:bodyPr wrap="square" lIns="635" tIns="635" rIns="635" bIns="635" rtlCol="0" anchor="t">
            <a:normAutofit/>
          </a:bodyPr>
          <a:lstStyle/>
          <a:p>
            <a:r>
              <a:rPr lang="en-US" sz="2100" dirty="0">
                <a:solidFill>
                  <a:srgbClr val="17364A"/>
                </a:solidFill>
                <a:latin typeface="Aptos" pitchFamily="34" charset="0"/>
                <a:ea typeface="Aptos" pitchFamily="34" charset="-122"/>
                <a:cs typeface="Aptos" pitchFamily="34" charset="-120"/>
              </a:rPr>
              <a:t>The first step in this topic is to define the decision or workflow clearly.</a:t>
            </a:r>
            <a:endParaRPr lang="en-US" sz="2100" dirty="0"/>
          </a:p>
          <a:p>
            <a:r>
              <a:rPr lang="en-US" sz="2100" dirty="0">
                <a:solidFill>
                  <a:srgbClr val="17364A"/>
                </a:solidFill>
                <a:latin typeface="Aptos" pitchFamily="34" charset="0"/>
                <a:ea typeface="Aptos" pitchFamily="34" charset="-122"/>
                <a:cs typeface="Aptos" pitchFamily="34" charset="-120"/>
              </a:rPr>
              <a:t>Staff should identify who is affected, what data are used, what AI output is produced, who reviews the.</a:t>
            </a:r>
            <a:endParaRPr lang="en-US" sz="2100" dirty="0"/>
          </a:p>
          <a:p>
            <a:r>
              <a:rPr lang="en-US" sz="2100" dirty="0">
                <a:solidFill>
                  <a:srgbClr val="17364A"/>
                </a:solidFill>
                <a:latin typeface="Aptos" pitchFamily="34" charset="0"/>
                <a:ea typeface="Aptos" pitchFamily="34" charset="-122"/>
                <a:cs typeface="Aptos" pitchFamily="34" charset="-120"/>
              </a:rPr>
              <a:t>This prevents the module from becoming abstract and anchors the work in public health practice.</a:t>
            </a:r>
            <a:endParaRPr lang="en-US" sz="2100" dirty="0"/>
          </a:p>
        </p:txBody>
      </p:sp>
      <p:sp>
        <p:nvSpPr>
          <p:cNvPr id="12" name="Shape 10"/>
          <p:cNvSpPr/>
          <p:nvPr/>
        </p:nvSpPr>
        <p:spPr>
          <a:xfrm>
            <a:off x="7909560" y="1417320"/>
            <a:ext cx="3154680" cy="1828800"/>
          </a:xfrm>
          <a:prstGeom prst="roundRect">
            <a:avLst>
              <a:gd name="adj" fmla="val 6000"/>
            </a:avLst>
          </a:prstGeom>
          <a:solidFill>
            <a:srgbClr val="EEF8ED"/>
          </a:solidFill>
          <a:ln w="12700">
            <a:solidFill>
              <a:srgbClr val="B9D7E6"/>
            </a:solidFill>
            <a:prstDash val="solid"/>
          </a:ln>
        </p:spPr>
      </p:sp>
      <p:sp>
        <p:nvSpPr>
          <p:cNvPr id="13" name="Text 11"/>
          <p:cNvSpPr/>
          <p:nvPr/>
        </p:nvSpPr>
        <p:spPr>
          <a:xfrm>
            <a:off x="8074152" y="1563624"/>
            <a:ext cx="282549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Key idea</a:t>
            </a:r>
            <a:endParaRPr lang="en-US" sz="1300" dirty="0"/>
          </a:p>
        </p:txBody>
      </p:sp>
      <p:sp>
        <p:nvSpPr>
          <p:cNvPr id="14" name="Text 12"/>
          <p:cNvSpPr/>
          <p:nvPr/>
        </p:nvSpPr>
        <p:spPr>
          <a:xfrm>
            <a:off x="8074152" y="1920240"/>
            <a:ext cx="2825496" cy="1188720"/>
          </a:xfrm>
          <a:prstGeom prst="rect">
            <a:avLst/>
          </a:prstGeom>
          <a:noFill/>
          <a:ln/>
        </p:spPr>
        <p:txBody>
          <a:bodyPr wrap="square" lIns="0" tIns="0" rIns="0" bIns="0" rtlCol="0" anchor="t">
            <a:normAutofit/>
          </a:bodyPr>
          <a:lstStyle/>
          <a:p>
            <a:pPr indent="0" marL="0">
              <a:buNone/>
            </a:pPr>
            <a:r>
              <a:rPr lang="en-US" sz="1550" dirty="0">
                <a:solidFill>
                  <a:srgbClr val="17364A"/>
                </a:solidFill>
                <a:latin typeface="Aptos" pitchFamily="34" charset="0"/>
                <a:ea typeface="Aptos" pitchFamily="34" charset="-122"/>
                <a:cs typeface="Aptos" pitchFamily="34" charset="-120"/>
              </a:rPr>
              <a:t>The first step in this topic is to define the decision or workflow clearly.</a:t>
            </a:r>
            <a:endParaRPr lang="en-US" sz="1550" dirty="0"/>
          </a:p>
        </p:txBody>
      </p:sp>
      <p:sp>
        <p:nvSpPr>
          <p:cNvPr id="15" name="Shape 13"/>
          <p:cNvSpPr/>
          <p:nvPr/>
        </p:nvSpPr>
        <p:spPr>
          <a:xfrm>
            <a:off x="7909560" y="3520440"/>
            <a:ext cx="3154680" cy="1737360"/>
          </a:xfrm>
          <a:prstGeom prst="roundRect">
            <a:avLst>
              <a:gd name="adj" fmla="val 6316"/>
            </a:avLst>
          </a:prstGeom>
          <a:solidFill>
            <a:srgbClr val="EAF6F8"/>
          </a:solidFill>
          <a:ln w="12700">
            <a:solidFill>
              <a:srgbClr val="B9D7E6"/>
            </a:solidFill>
            <a:prstDash val="solid"/>
          </a:ln>
        </p:spPr>
      </p:sp>
      <p:sp>
        <p:nvSpPr>
          <p:cNvPr id="16" name="Text 14"/>
          <p:cNvSpPr/>
          <p:nvPr/>
        </p:nvSpPr>
        <p:spPr>
          <a:xfrm>
            <a:off x="8074152" y="3666744"/>
            <a:ext cx="282549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Use this for</a:t>
            </a:r>
            <a:endParaRPr lang="en-US" sz="1300" dirty="0"/>
          </a:p>
        </p:txBody>
      </p:sp>
      <p:sp>
        <p:nvSpPr>
          <p:cNvPr id="17" name="Text 15"/>
          <p:cNvSpPr/>
          <p:nvPr/>
        </p:nvSpPr>
        <p:spPr>
          <a:xfrm>
            <a:off x="8074152" y="4023360"/>
            <a:ext cx="2825496" cy="1097280"/>
          </a:xfrm>
          <a:prstGeom prst="rect">
            <a:avLst/>
          </a:prstGeom>
          <a:noFill/>
          <a:ln/>
        </p:spPr>
        <p:txBody>
          <a:bodyPr wrap="square" lIns="0" tIns="0" rIns="0" bIns="0" rtlCol="0" anchor="t">
            <a:normAutofit/>
          </a:bodyPr>
          <a:lstStyle/>
          <a:p>
            <a:pPr indent="0" marL="0">
              <a:buNone/>
            </a:pPr>
            <a:r>
              <a:rPr lang="en-US" sz="1550" dirty="0">
                <a:solidFill>
                  <a:srgbClr val="17364A"/>
                </a:solidFill>
                <a:latin typeface="Aptos" pitchFamily="34" charset="0"/>
                <a:ea typeface="Aptos" pitchFamily="34" charset="-122"/>
                <a:cs typeface="Aptos" pitchFamily="34" charset="-120"/>
              </a:rPr>
              <a:t>Connect the concept to public health decisions, safeguards, documentation, or implementation work.</a:t>
            </a:r>
            <a:endParaRPr lang="en-US" sz="1550" dirty="0"/>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bg>
      <p:bgPr>
        <a:solidFill>
          <a:srgbClr val="F7FBFD"/>
        </a:solidFill>
      </p:bgPr>
    </p:bg>
    <p:spTree>
      <p:nvGrpSpPr>
        <p:cNvPr id="1" name=""/>
        <p:cNvGrpSpPr/>
        <p:nvPr/>
      </p:nvGrpSpPr>
      <p:grpSpPr>
        <a:xfrm>
          <a:off x="0" y="0"/>
          <a:ext cx="0" cy="0"/>
          <a:chOff x="0" y="0"/>
          <a:chExt cx="0" cy="0"/>
        </a:xfrm>
      </p:grpSpPr>
      <p:sp>
        <p:nvSpPr>
          <p:cNvPr id="2" name="Shape 0"/>
          <p:cNvSpPr/>
          <p:nvPr/>
        </p:nvSpPr>
        <p:spPr>
          <a:xfrm>
            <a:off x="0" y="0"/>
            <a:ext cx="12191695" cy="164592"/>
          </a:xfrm>
          <a:prstGeom prst="rect">
            <a:avLst/>
          </a:prstGeom>
          <a:solidFill>
            <a:srgbClr val="0068B7"/>
          </a:solidFill>
          <a:ln w="12700">
            <a:solidFill>
              <a:srgbClr val="0068B7"/>
            </a:solidFill>
            <a:prstDash val="solid"/>
          </a:ln>
        </p:spPr>
      </p:sp>
      <p:sp>
        <p:nvSpPr>
          <p:cNvPr id="3" name="Shape 1"/>
          <p:cNvSpPr/>
          <p:nvPr/>
        </p:nvSpPr>
        <p:spPr>
          <a:xfrm>
            <a:off x="0" y="164592"/>
            <a:ext cx="146304" cy="6693408"/>
          </a:xfrm>
          <a:prstGeom prst="rect">
            <a:avLst/>
          </a:prstGeom>
          <a:solidFill>
            <a:srgbClr val="2F8A28"/>
          </a:solidFill>
          <a:ln w="12700">
            <a:solidFill>
              <a:srgbClr val="2F8A28"/>
            </a:solidFill>
            <a:prstDash val="solid"/>
          </a:ln>
        </p:spPr>
      </p:sp>
      <p:sp>
        <p:nvSpPr>
          <p:cNvPr id="4" name="Text 2"/>
          <p:cNvSpPr/>
          <p:nvPr/>
        </p:nvSpPr>
        <p:spPr>
          <a:xfrm>
            <a:off x="502920" y="292608"/>
            <a:ext cx="10149840" cy="256032"/>
          </a:xfrm>
          <a:prstGeom prst="rect">
            <a:avLst/>
          </a:prstGeom>
          <a:noFill/>
          <a:ln/>
        </p:spPr>
        <p:txBody>
          <a:bodyPr wrap="square" lIns="0" tIns="0" rIns="0" bIns="0" rtlCol="0" anchor="ctr"/>
          <a:lstStyle/>
          <a:p>
            <a:pPr indent="0" marL="0">
              <a:buNone/>
            </a:pPr>
            <a:r>
              <a:rPr lang="en-US" sz="900" b="1" dirty="0">
                <a:solidFill>
                  <a:srgbClr val="5F7181"/>
                </a:solidFill>
                <a:latin typeface="Aptos" pitchFamily="34" charset="0"/>
                <a:ea typeface="Aptos" pitchFamily="34" charset="-122"/>
                <a:cs typeface="Aptos" pitchFamily="34" charset="-120"/>
              </a:rPr>
              <a:t>AI Governance Board Chair Training</a:t>
            </a:r>
            <a:endParaRPr lang="en-US" sz="900" dirty="0"/>
          </a:p>
        </p:txBody>
      </p:sp>
      <p:sp>
        <p:nvSpPr>
          <p:cNvPr id="5" name="Text 3"/>
          <p:cNvSpPr/>
          <p:nvPr/>
        </p:nvSpPr>
        <p:spPr>
          <a:xfrm>
            <a:off x="502920" y="6537960"/>
            <a:ext cx="7772400" cy="201168"/>
          </a:xfrm>
          <a:prstGeom prst="rect">
            <a:avLst/>
          </a:prstGeom>
          <a:noFill/>
          <a:ln/>
        </p:spPr>
        <p:txBody>
          <a:bodyPr wrap="square" lIns="0" tIns="0" rIns="0" bIns="0" rtlCol="0" anchor="ctr"/>
          <a:lstStyle/>
          <a:p>
            <a:pPr indent="0" marL="0">
              <a:buNone/>
            </a:pPr>
            <a:r>
              <a:rPr lang="en-US" sz="800" dirty="0">
                <a:solidFill>
                  <a:srgbClr val="5F7181"/>
                </a:solidFill>
                <a:latin typeface="Aptos" pitchFamily="34" charset="0"/>
                <a:ea typeface="Aptos" pitchFamily="34" charset="-122"/>
                <a:cs typeface="Aptos" pitchFamily="34" charset="-120"/>
              </a:rPr>
              <a:t>AI Playbook and Toolkit for Public Health Departments</a:t>
            </a:r>
            <a:endParaRPr lang="en-US" sz="800" dirty="0"/>
          </a:p>
        </p:txBody>
      </p:sp>
      <p:sp>
        <p:nvSpPr>
          <p:cNvPr id="6" name="Text 4"/>
          <p:cNvSpPr/>
          <p:nvPr/>
        </p:nvSpPr>
        <p:spPr>
          <a:xfrm>
            <a:off x="9966960" y="6537960"/>
            <a:ext cx="1645920" cy="201168"/>
          </a:xfrm>
          <a:prstGeom prst="rect">
            <a:avLst/>
          </a:prstGeom>
          <a:noFill/>
          <a:ln/>
        </p:spPr>
        <p:txBody>
          <a:bodyPr wrap="square" lIns="0" tIns="0" rIns="0" bIns="0" rtlCol="0" anchor="ctr"/>
          <a:lstStyle/>
          <a:p>
            <a:pPr algn="r" indent="0" marL="0">
              <a:buNone/>
            </a:pPr>
            <a:r>
              <a:rPr lang="en-US" sz="800" dirty="0">
                <a:solidFill>
                  <a:srgbClr val="5F7181"/>
                </a:solidFill>
                <a:latin typeface="Aptos" pitchFamily="34" charset="0"/>
                <a:ea typeface="Aptos" pitchFamily="34" charset="-122"/>
                <a:cs typeface="Aptos" pitchFamily="34" charset="-120"/>
              </a:rPr>
              <a:t>Â© Paula Soper</a:t>
            </a:r>
            <a:endParaRPr lang="en-US" sz="800" dirty="0"/>
          </a:p>
        </p:txBody>
      </p:sp>
      <p:sp>
        <p:nvSpPr>
          <p:cNvPr id="7" name="Text 5"/>
          <p:cNvSpPr/>
          <p:nvPr/>
        </p:nvSpPr>
        <p:spPr>
          <a:xfrm>
            <a:off x="11137392" y="6510528"/>
            <a:ext cx="411480" cy="201168"/>
          </a:xfrm>
          <a:prstGeom prst="rect">
            <a:avLst/>
          </a:prstGeom>
          <a:noFill/>
          <a:ln/>
        </p:spPr>
        <p:txBody>
          <a:bodyPr wrap="square" lIns="0" tIns="0" rIns="0" bIns="0" rtlCol="0" anchor="ctr"/>
          <a:lstStyle/>
          <a:p>
            <a:pPr algn="r" indent="0" marL="0">
              <a:buNone/>
            </a:pPr>
            <a:r>
              <a:rPr lang="en-US" sz="900" dirty="0">
                <a:solidFill>
                  <a:srgbClr val="5F7181"/>
                </a:solidFill>
                <a:latin typeface="Aptos" pitchFamily="34" charset="0"/>
                <a:ea typeface="Aptos" pitchFamily="34" charset="-122"/>
                <a:cs typeface="Aptos" pitchFamily="34" charset="-120"/>
              </a:rPr>
              <a:t>12</a:t>
            </a:r>
            <a:endParaRPr lang="en-US" sz="900" dirty="0"/>
          </a:p>
        </p:txBody>
      </p:sp>
      <p:sp>
        <p:nvSpPr>
          <p:cNvPr id="8" name="Shape 6"/>
          <p:cNvSpPr/>
          <p:nvPr/>
        </p:nvSpPr>
        <p:spPr>
          <a:xfrm>
            <a:off x="640080" y="658368"/>
            <a:ext cx="420624" cy="420624"/>
          </a:xfrm>
          <a:prstGeom prst="ellipse">
            <a:avLst/>
          </a:prstGeom>
          <a:solidFill>
            <a:srgbClr val="0068B7"/>
          </a:solidFill>
          <a:ln w="12700">
            <a:solidFill>
              <a:srgbClr val="0068B7"/>
            </a:solidFill>
            <a:prstDash val="solid"/>
          </a:ln>
        </p:spPr>
      </p:sp>
      <p:sp>
        <p:nvSpPr>
          <p:cNvPr id="9" name="Text 7"/>
          <p:cNvSpPr/>
          <p:nvPr/>
        </p:nvSpPr>
        <p:spPr>
          <a:xfrm>
            <a:off x="640080" y="731520"/>
            <a:ext cx="420624" cy="164592"/>
          </a:xfrm>
          <a:prstGeom prst="rect">
            <a:avLst/>
          </a:prstGeom>
          <a:noFill/>
          <a:ln/>
        </p:spPr>
        <p:txBody>
          <a:bodyPr wrap="square" lIns="0" tIns="0" rIns="0" bIns="0" rtlCol="0" anchor="ctr"/>
          <a:lstStyle/>
          <a:p>
            <a:pPr algn="ctr" indent="0" marL="0">
              <a:buNone/>
            </a:pPr>
            <a:r>
              <a:rPr lang="en-US" sz="1100" b="1" dirty="0">
                <a:solidFill>
                  <a:srgbClr val="FFFFFF"/>
                </a:solidFill>
                <a:latin typeface="Aptos" pitchFamily="34" charset="0"/>
                <a:ea typeface="Aptos" pitchFamily="34" charset="-122"/>
                <a:cs typeface="Aptos" pitchFamily="34" charset="-120"/>
              </a:rPr>
              <a:t>8</a:t>
            </a:r>
            <a:endParaRPr lang="en-US" sz="1100" dirty="0"/>
          </a:p>
        </p:txBody>
      </p:sp>
      <p:sp>
        <p:nvSpPr>
          <p:cNvPr id="10" name="Text 8"/>
          <p:cNvSpPr/>
          <p:nvPr/>
        </p:nvSpPr>
        <p:spPr>
          <a:xfrm>
            <a:off x="640080" y="621792"/>
            <a:ext cx="10881360" cy="713232"/>
          </a:xfrm>
          <a:prstGeom prst="rect">
            <a:avLst/>
          </a:prstGeom>
          <a:noFill/>
          <a:ln/>
        </p:spPr>
        <p:txBody>
          <a:bodyPr wrap="square" lIns="0" tIns="0" rIns="0" bIns="0" rtlCol="0" anchor="ctr">
            <a:normAutofit/>
          </a:bodyPr>
          <a:lstStyle/>
          <a:p>
            <a:pPr indent="0" marL="0">
              <a:buNone/>
            </a:pPr>
            <a:r>
              <a:rPr lang="en-US" sz="3400" b="1" dirty="0">
                <a:solidFill>
                  <a:srgbClr val="003A63"/>
                </a:solidFill>
                <a:latin typeface="Aptos Display" pitchFamily="34" charset="0"/>
                <a:ea typeface="Aptos Display" pitchFamily="34" charset="-122"/>
                <a:cs typeface="Aptos Display" pitchFamily="34" charset="-120"/>
              </a:rPr>
              <a:t>Risks, Failure Modes, and Guardrails</a:t>
            </a:r>
            <a:endParaRPr lang="en-US" sz="3400" dirty="0"/>
          </a:p>
        </p:txBody>
      </p:sp>
      <p:sp>
        <p:nvSpPr>
          <p:cNvPr id="11" name="Text 9"/>
          <p:cNvSpPr/>
          <p:nvPr/>
        </p:nvSpPr>
        <p:spPr>
          <a:xfrm>
            <a:off x="868680" y="1508760"/>
            <a:ext cx="6537960" cy="4160520"/>
          </a:xfrm>
          <a:prstGeom prst="rect">
            <a:avLst/>
          </a:prstGeom>
          <a:noFill/>
          <a:ln/>
        </p:spPr>
        <p:txBody>
          <a:bodyPr wrap="square" lIns="635" tIns="635" rIns="635" bIns="635" rtlCol="0" anchor="t">
            <a:normAutofit/>
          </a:bodyPr>
          <a:lstStyle/>
          <a:p>
            <a:r>
              <a:rPr lang="en-US" sz="2100" dirty="0">
                <a:solidFill>
                  <a:srgbClr val="17364A"/>
                </a:solidFill>
                <a:latin typeface="Aptos" pitchFamily="34" charset="0"/>
                <a:ea typeface="Aptos" pitchFamily="34" charset="-122"/>
                <a:cs typeface="Aptos" pitchFamily="34" charset="-120"/>
              </a:rPr>
              <a:t>A common failure mode is treating the topic as a one-time checklist.</a:t>
            </a:r>
            <a:endParaRPr lang="en-US" sz="2100" dirty="0"/>
          </a:p>
          <a:p>
            <a:r>
              <a:rPr lang="en-US" sz="2100" dirty="0">
                <a:solidFill>
                  <a:srgbClr val="17364A"/>
                </a:solidFill>
                <a:latin typeface="Aptos" pitchFamily="34" charset="0"/>
                <a:ea typeface="Aptos" pitchFamily="34" charset="-122"/>
                <a:cs typeface="Aptos" pitchFamily="34" charset="-120"/>
              </a:rPr>
              <a:t>AI risks can change when data sources, models, vendors, policies, users, or public expectations change.</a:t>
            </a:r>
            <a:endParaRPr lang="en-US" sz="2100" dirty="0"/>
          </a:p>
          <a:p>
            <a:r>
              <a:rPr lang="en-US" sz="2100" dirty="0">
                <a:solidFill>
                  <a:srgbClr val="17364A"/>
                </a:solidFill>
                <a:latin typeface="Aptos" pitchFamily="34" charset="0"/>
                <a:ea typeface="Aptos" pitchFamily="34" charset="-122"/>
                <a:cs typeface="Aptos" pitchFamily="34" charset="-120"/>
              </a:rPr>
              <a:t>A guardrail is to define review intervals and change triggers.</a:t>
            </a:r>
            <a:endParaRPr lang="en-US" sz="2100" dirty="0"/>
          </a:p>
        </p:txBody>
      </p:sp>
      <p:sp>
        <p:nvSpPr>
          <p:cNvPr id="12" name="Shape 10"/>
          <p:cNvSpPr/>
          <p:nvPr/>
        </p:nvSpPr>
        <p:spPr>
          <a:xfrm>
            <a:off x="7909560" y="1417320"/>
            <a:ext cx="3154680" cy="1828800"/>
          </a:xfrm>
          <a:prstGeom prst="roundRect">
            <a:avLst>
              <a:gd name="adj" fmla="val 6000"/>
            </a:avLst>
          </a:prstGeom>
          <a:solidFill>
            <a:srgbClr val="EEF8ED"/>
          </a:solidFill>
          <a:ln w="12700">
            <a:solidFill>
              <a:srgbClr val="B9D7E6"/>
            </a:solidFill>
            <a:prstDash val="solid"/>
          </a:ln>
        </p:spPr>
      </p:sp>
      <p:sp>
        <p:nvSpPr>
          <p:cNvPr id="13" name="Text 11"/>
          <p:cNvSpPr/>
          <p:nvPr/>
        </p:nvSpPr>
        <p:spPr>
          <a:xfrm>
            <a:off x="8074152" y="1563624"/>
            <a:ext cx="282549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Key idea</a:t>
            </a:r>
            <a:endParaRPr lang="en-US" sz="1300" dirty="0"/>
          </a:p>
        </p:txBody>
      </p:sp>
      <p:sp>
        <p:nvSpPr>
          <p:cNvPr id="14" name="Text 12"/>
          <p:cNvSpPr/>
          <p:nvPr/>
        </p:nvSpPr>
        <p:spPr>
          <a:xfrm>
            <a:off x="8074152" y="1920240"/>
            <a:ext cx="2825496" cy="1188720"/>
          </a:xfrm>
          <a:prstGeom prst="rect">
            <a:avLst/>
          </a:prstGeom>
          <a:noFill/>
          <a:ln/>
        </p:spPr>
        <p:txBody>
          <a:bodyPr wrap="square" lIns="0" tIns="0" rIns="0" bIns="0" rtlCol="0" anchor="t">
            <a:normAutofit/>
          </a:bodyPr>
          <a:lstStyle/>
          <a:p>
            <a:pPr indent="0" marL="0">
              <a:buNone/>
            </a:pPr>
            <a:r>
              <a:rPr lang="en-US" sz="1550" dirty="0">
                <a:solidFill>
                  <a:srgbClr val="17364A"/>
                </a:solidFill>
                <a:latin typeface="Aptos" pitchFamily="34" charset="0"/>
                <a:ea typeface="Aptos" pitchFamily="34" charset="-122"/>
                <a:cs typeface="Aptos" pitchFamily="34" charset="-120"/>
              </a:rPr>
              <a:t>A common failure mode is treating the topic as a one-time checklist.</a:t>
            </a:r>
            <a:endParaRPr lang="en-US" sz="1550" dirty="0"/>
          </a:p>
        </p:txBody>
      </p:sp>
      <p:sp>
        <p:nvSpPr>
          <p:cNvPr id="15" name="Shape 13"/>
          <p:cNvSpPr/>
          <p:nvPr/>
        </p:nvSpPr>
        <p:spPr>
          <a:xfrm>
            <a:off x="7909560" y="3520440"/>
            <a:ext cx="3154680" cy="1737360"/>
          </a:xfrm>
          <a:prstGeom prst="roundRect">
            <a:avLst>
              <a:gd name="adj" fmla="val 6316"/>
            </a:avLst>
          </a:prstGeom>
          <a:solidFill>
            <a:srgbClr val="EAF6F8"/>
          </a:solidFill>
          <a:ln w="12700">
            <a:solidFill>
              <a:srgbClr val="B9D7E6"/>
            </a:solidFill>
            <a:prstDash val="solid"/>
          </a:ln>
        </p:spPr>
      </p:sp>
      <p:sp>
        <p:nvSpPr>
          <p:cNvPr id="16" name="Text 14"/>
          <p:cNvSpPr/>
          <p:nvPr/>
        </p:nvSpPr>
        <p:spPr>
          <a:xfrm>
            <a:off x="8074152" y="3666744"/>
            <a:ext cx="282549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Use this for</a:t>
            </a:r>
            <a:endParaRPr lang="en-US" sz="1300" dirty="0"/>
          </a:p>
        </p:txBody>
      </p:sp>
      <p:sp>
        <p:nvSpPr>
          <p:cNvPr id="17" name="Text 15"/>
          <p:cNvSpPr/>
          <p:nvPr/>
        </p:nvSpPr>
        <p:spPr>
          <a:xfrm>
            <a:off x="8074152" y="4023360"/>
            <a:ext cx="2825496" cy="1097280"/>
          </a:xfrm>
          <a:prstGeom prst="rect">
            <a:avLst/>
          </a:prstGeom>
          <a:noFill/>
          <a:ln/>
        </p:spPr>
        <p:txBody>
          <a:bodyPr wrap="square" lIns="0" tIns="0" rIns="0" bIns="0" rtlCol="0" anchor="t">
            <a:normAutofit/>
          </a:bodyPr>
          <a:lstStyle/>
          <a:p>
            <a:pPr indent="0" marL="0">
              <a:buNone/>
            </a:pPr>
            <a:r>
              <a:rPr lang="en-US" sz="1550" dirty="0">
                <a:solidFill>
                  <a:srgbClr val="17364A"/>
                </a:solidFill>
                <a:latin typeface="Aptos" pitchFamily="34" charset="0"/>
                <a:ea typeface="Aptos" pitchFamily="34" charset="-122"/>
                <a:cs typeface="Aptos" pitchFamily="34" charset="-120"/>
              </a:rPr>
              <a:t>Connect the concept to public health decisions, safeguards, documentation, or implementation work.</a:t>
            </a:r>
            <a:endParaRPr lang="en-US" sz="1550" dirty="0"/>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bg>
      <p:bgPr>
        <a:solidFill>
          <a:srgbClr val="F7FBFD"/>
        </a:solidFill>
      </p:bgPr>
    </p:bg>
    <p:spTree>
      <p:nvGrpSpPr>
        <p:cNvPr id="1" name=""/>
        <p:cNvGrpSpPr/>
        <p:nvPr/>
      </p:nvGrpSpPr>
      <p:grpSpPr>
        <a:xfrm>
          <a:off x="0" y="0"/>
          <a:ext cx="0" cy="0"/>
          <a:chOff x="0" y="0"/>
          <a:chExt cx="0" cy="0"/>
        </a:xfrm>
      </p:grpSpPr>
      <p:sp>
        <p:nvSpPr>
          <p:cNvPr id="2" name="Shape 0"/>
          <p:cNvSpPr/>
          <p:nvPr/>
        </p:nvSpPr>
        <p:spPr>
          <a:xfrm>
            <a:off x="0" y="0"/>
            <a:ext cx="12191695" cy="164592"/>
          </a:xfrm>
          <a:prstGeom prst="rect">
            <a:avLst/>
          </a:prstGeom>
          <a:solidFill>
            <a:srgbClr val="0068B7"/>
          </a:solidFill>
          <a:ln w="12700">
            <a:solidFill>
              <a:srgbClr val="0068B7"/>
            </a:solidFill>
            <a:prstDash val="solid"/>
          </a:ln>
        </p:spPr>
      </p:sp>
      <p:sp>
        <p:nvSpPr>
          <p:cNvPr id="3" name="Shape 1"/>
          <p:cNvSpPr/>
          <p:nvPr/>
        </p:nvSpPr>
        <p:spPr>
          <a:xfrm>
            <a:off x="0" y="164592"/>
            <a:ext cx="146304" cy="6693408"/>
          </a:xfrm>
          <a:prstGeom prst="rect">
            <a:avLst/>
          </a:prstGeom>
          <a:solidFill>
            <a:srgbClr val="2F8A28"/>
          </a:solidFill>
          <a:ln w="12700">
            <a:solidFill>
              <a:srgbClr val="2F8A28"/>
            </a:solidFill>
            <a:prstDash val="solid"/>
          </a:ln>
        </p:spPr>
      </p:sp>
      <p:sp>
        <p:nvSpPr>
          <p:cNvPr id="4" name="Text 2"/>
          <p:cNvSpPr/>
          <p:nvPr/>
        </p:nvSpPr>
        <p:spPr>
          <a:xfrm>
            <a:off x="502920" y="292608"/>
            <a:ext cx="10149840" cy="256032"/>
          </a:xfrm>
          <a:prstGeom prst="rect">
            <a:avLst/>
          </a:prstGeom>
          <a:noFill/>
          <a:ln/>
        </p:spPr>
        <p:txBody>
          <a:bodyPr wrap="square" lIns="0" tIns="0" rIns="0" bIns="0" rtlCol="0" anchor="ctr"/>
          <a:lstStyle/>
          <a:p>
            <a:pPr indent="0" marL="0">
              <a:buNone/>
            </a:pPr>
            <a:r>
              <a:rPr lang="en-US" sz="900" b="1" dirty="0">
                <a:solidFill>
                  <a:srgbClr val="5F7181"/>
                </a:solidFill>
                <a:latin typeface="Aptos" pitchFamily="34" charset="0"/>
                <a:ea typeface="Aptos" pitchFamily="34" charset="-122"/>
                <a:cs typeface="Aptos" pitchFamily="34" charset="-120"/>
              </a:rPr>
              <a:t>AI Governance Board Chair Training</a:t>
            </a:r>
            <a:endParaRPr lang="en-US" sz="900" dirty="0"/>
          </a:p>
        </p:txBody>
      </p:sp>
      <p:sp>
        <p:nvSpPr>
          <p:cNvPr id="5" name="Text 3"/>
          <p:cNvSpPr/>
          <p:nvPr/>
        </p:nvSpPr>
        <p:spPr>
          <a:xfrm>
            <a:off x="502920" y="6537960"/>
            <a:ext cx="7772400" cy="201168"/>
          </a:xfrm>
          <a:prstGeom prst="rect">
            <a:avLst/>
          </a:prstGeom>
          <a:noFill/>
          <a:ln/>
        </p:spPr>
        <p:txBody>
          <a:bodyPr wrap="square" lIns="0" tIns="0" rIns="0" bIns="0" rtlCol="0" anchor="ctr"/>
          <a:lstStyle/>
          <a:p>
            <a:pPr indent="0" marL="0">
              <a:buNone/>
            </a:pPr>
            <a:r>
              <a:rPr lang="en-US" sz="800" dirty="0">
                <a:solidFill>
                  <a:srgbClr val="5F7181"/>
                </a:solidFill>
                <a:latin typeface="Aptos" pitchFamily="34" charset="0"/>
                <a:ea typeface="Aptos" pitchFamily="34" charset="-122"/>
                <a:cs typeface="Aptos" pitchFamily="34" charset="-120"/>
              </a:rPr>
              <a:t>AI Playbook and Toolkit for Public Health Departments</a:t>
            </a:r>
            <a:endParaRPr lang="en-US" sz="800" dirty="0"/>
          </a:p>
        </p:txBody>
      </p:sp>
      <p:sp>
        <p:nvSpPr>
          <p:cNvPr id="6" name="Text 4"/>
          <p:cNvSpPr/>
          <p:nvPr/>
        </p:nvSpPr>
        <p:spPr>
          <a:xfrm>
            <a:off x="9966960" y="6537960"/>
            <a:ext cx="1645920" cy="201168"/>
          </a:xfrm>
          <a:prstGeom prst="rect">
            <a:avLst/>
          </a:prstGeom>
          <a:noFill/>
          <a:ln/>
        </p:spPr>
        <p:txBody>
          <a:bodyPr wrap="square" lIns="0" tIns="0" rIns="0" bIns="0" rtlCol="0" anchor="ctr"/>
          <a:lstStyle/>
          <a:p>
            <a:pPr algn="r" indent="0" marL="0">
              <a:buNone/>
            </a:pPr>
            <a:r>
              <a:rPr lang="en-US" sz="800" dirty="0">
                <a:solidFill>
                  <a:srgbClr val="5F7181"/>
                </a:solidFill>
                <a:latin typeface="Aptos" pitchFamily="34" charset="0"/>
                <a:ea typeface="Aptos" pitchFamily="34" charset="-122"/>
                <a:cs typeface="Aptos" pitchFamily="34" charset="-120"/>
              </a:rPr>
              <a:t>Â© Paula Soper</a:t>
            </a:r>
            <a:endParaRPr lang="en-US" sz="800" dirty="0"/>
          </a:p>
        </p:txBody>
      </p:sp>
      <p:sp>
        <p:nvSpPr>
          <p:cNvPr id="7" name="Text 5"/>
          <p:cNvSpPr/>
          <p:nvPr/>
        </p:nvSpPr>
        <p:spPr>
          <a:xfrm>
            <a:off x="11137392" y="6510528"/>
            <a:ext cx="411480" cy="201168"/>
          </a:xfrm>
          <a:prstGeom prst="rect">
            <a:avLst/>
          </a:prstGeom>
          <a:noFill/>
          <a:ln/>
        </p:spPr>
        <p:txBody>
          <a:bodyPr wrap="square" lIns="0" tIns="0" rIns="0" bIns="0" rtlCol="0" anchor="ctr"/>
          <a:lstStyle/>
          <a:p>
            <a:pPr algn="r" indent="0" marL="0">
              <a:buNone/>
            </a:pPr>
            <a:r>
              <a:rPr lang="en-US" sz="900" dirty="0">
                <a:solidFill>
                  <a:srgbClr val="5F7181"/>
                </a:solidFill>
                <a:latin typeface="Aptos" pitchFamily="34" charset="0"/>
                <a:ea typeface="Aptos" pitchFamily="34" charset="-122"/>
                <a:cs typeface="Aptos" pitchFamily="34" charset="-120"/>
              </a:rPr>
              <a:t>13</a:t>
            </a:r>
            <a:endParaRPr lang="en-US" sz="900" dirty="0"/>
          </a:p>
        </p:txBody>
      </p:sp>
      <p:sp>
        <p:nvSpPr>
          <p:cNvPr id="8" name="Shape 6"/>
          <p:cNvSpPr/>
          <p:nvPr/>
        </p:nvSpPr>
        <p:spPr>
          <a:xfrm>
            <a:off x="640080" y="658368"/>
            <a:ext cx="420624" cy="420624"/>
          </a:xfrm>
          <a:prstGeom prst="ellipse">
            <a:avLst/>
          </a:prstGeom>
          <a:solidFill>
            <a:srgbClr val="0068B7"/>
          </a:solidFill>
          <a:ln w="12700">
            <a:solidFill>
              <a:srgbClr val="0068B7"/>
            </a:solidFill>
            <a:prstDash val="solid"/>
          </a:ln>
        </p:spPr>
      </p:sp>
      <p:sp>
        <p:nvSpPr>
          <p:cNvPr id="9" name="Text 7"/>
          <p:cNvSpPr/>
          <p:nvPr/>
        </p:nvSpPr>
        <p:spPr>
          <a:xfrm>
            <a:off x="640080" y="731520"/>
            <a:ext cx="420624" cy="164592"/>
          </a:xfrm>
          <a:prstGeom prst="rect">
            <a:avLst/>
          </a:prstGeom>
          <a:noFill/>
          <a:ln/>
        </p:spPr>
        <p:txBody>
          <a:bodyPr wrap="square" lIns="0" tIns="0" rIns="0" bIns="0" rtlCol="0" anchor="ctr"/>
          <a:lstStyle/>
          <a:p>
            <a:pPr algn="ctr" indent="0" marL="0">
              <a:buNone/>
            </a:pPr>
            <a:r>
              <a:rPr lang="en-US" sz="1100" b="1" dirty="0">
                <a:solidFill>
                  <a:srgbClr val="FFFFFF"/>
                </a:solidFill>
                <a:latin typeface="Aptos" pitchFamily="34" charset="0"/>
                <a:ea typeface="Aptos" pitchFamily="34" charset="-122"/>
                <a:cs typeface="Aptos" pitchFamily="34" charset="-120"/>
              </a:rPr>
              <a:t>9</a:t>
            </a:r>
            <a:endParaRPr lang="en-US" sz="1100" dirty="0"/>
          </a:p>
        </p:txBody>
      </p:sp>
      <p:sp>
        <p:nvSpPr>
          <p:cNvPr id="10" name="Text 8"/>
          <p:cNvSpPr/>
          <p:nvPr/>
        </p:nvSpPr>
        <p:spPr>
          <a:xfrm>
            <a:off x="640080" y="621792"/>
            <a:ext cx="10881360" cy="713232"/>
          </a:xfrm>
          <a:prstGeom prst="rect">
            <a:avLst/>
          </a:prstGeom>
          <a:noFill/>
          <a:ln/>
        </p:spPr>
        <p:txBody>
          <a:bodyPr wrap="square" lIns="0" tIns="0" rIns="0" bIns="0" rtlCol="0" anchor="ctr">
            <a:normAutofit/>
          </a:bodyPr>
          <a:lstStyle/>
          <a:p>
            <a:pPr indent="0" marL="0">
              <a:buNone/>
            </a:pPr>
            <a:r>
              <a:rPr lang="en-US" sz="3400" b="1" dirty="0">
                <a:solidFill>
                  <a:srgbClr val="003A63"/>
                </a:solidFill>
                <a:latin typeface="Aptos Display" pitchFamily="34" charset="0"/>
                <a:ea typeface="Aptos Display" pitchFamily="34" charset="-122"/>
                <a:cs typeface="Aptos Display" pitchFamily="34" charset="-120"/>
              </a:rPr>
              <a:t>Application to AI-Supported Workflows</a:t>
            </a:r>
            <a:endParaRPr lang="en-US" sz="3400" dirty="0"/>
          </a:p>
        </p:txBody>
      </p:sp>
      <p:sp>
        <p:nvSpPr>
          <p:cNvPr id="11" name="Text 9"/>
          <p:cNvSpPr/>
          <p:nvPr/>
        </p:nvSpPr>
        <p:spPr>
          <a:xfrm>
            <a:off x="868680" y="1508760"/>
            <a:ext cx="6537960" cy="4160520"/>
          </a:xfrm>
          <a:prstGeom prst="rect">
            <a:avLst/>
          </a:prstGeom>
          <a:noFill/>
          <a:ln/>
        </p:spPr>
        <p:txBody>
          <a:bodyPr wrap="square" lIns="635" tIns="635" rIns="635" bIns="635" rtlCol="0" anchor="t">
            <a:normAutofit/>
          </a:bodyPr>
          <a:lstStyle/>
          <a:p>
            <a:r>
              <a:rPr lang="en-US" sz="2100" dirty="0">
                <a:solidFill>
                  <a:srgbClr val="17364A"/>
                </a:solidFill>
                <a:latin typeface="Aptos" pitchFamily="34" charset="0"/>
                <a:ea typeface="Aptos" pitchFamily="34" charset="-122"/>
                <a:cs typeface="Aptos" pitchFamily="34" charset="-120"/>
              </a:rPr>
              <a:t>This topic applies across generative AI, predictive analytics, NLP, RAG, automation, and agentic.</a:t>
            </a:r>
            <a:endParaRPr lang="en-US" sz="2100" dirty="0"/>
          </a:p>
          <a:p>
            <a:r>
              <a:rPr lang="en-US" sz="2100" dirty="0">
                <a:solidFill>
                  <a:srgbClr val="17364A"/>
                </a:solidFill>
                <a:latin typeface="Aptos" pitchFamily="34" charset="0"/>
                <a:ea typeface="Aptos" pitchFamily="34" charset="-122"/>
                <a:cs typeface="Aptos" pitchFamily="34" charset="-120"/>
              </a:rPr>
              <a:t>The more sensitive the data, the more consequential the output, or the more automated the action, the.</a:t>
            </a:r>
            <a:endParaRPr lang="en-US" sz="2100" dirty="0"/>
          </a:p>
        </p:txBody>
      </p:sp>
      <p:sp>
        <p:nvSpPr>
          <p:cNvPr id="12" name="Shape 10"/>
          <p:cNvSpPr/>
          <p:nvPr/>
        </p:nvSpPr>
        <p:spPr>
          <a:xfrm>
            <a:off x="7909560" y="1417320"/>
            <a:ext cx="3154680" cy="1828800"/>
          </a:xfrm>
          <a:prstGeom prst="roundRect">
            <a:avLst>
              <a:gd name="adj" fmla="val 6000"/>
            </a:avLst>
          </a:prstGeom>
          <a:solidFill>
            <a:srgbClr val="EEF8ED"/>
          </a:solidFill>
          <a:ln w="12700">
            <a:solidFill>
              <a:srgbClr val="B9D7E6"/>
            </a:solidFill>
            <a:prstDash val="solid"/>
          </a:ln>
        </p:spPr>
      </p:sp>
      <p:sp>
        <p:nvSpPr>
          <p:cNvPr id="13" name="Text 11"/>
          <p:cNvSpPr/>
          <p:nvPr/>
        </p:nvSpPr>
        <p:spPr>
          <a:xfrm>
            <a:off x="8074152" y="1563624"/>
            <a:ext cx="282549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Key idea</a:t>
            </a:r>
            <a:endParaRPr lang="en-US" sz="1300" dirty="0"/>
          </a:p>
        </p:txBody>
      </p:sp>
      <p:sp>
        <p:nvSpPr>
          <p:cNvPr id="14" name="Text 12"/>
          <p:cNvSpPr/>
          <p:nvPr/>
        </p:nvSpPr>
        <p:spPr>
          <a:xfrm>
            <a:off x="8074152" y="1920240"/>
            <a:ext cx="2825496" cy="1188720"/>
          </a:xfrm>
          <a:prstGeom prst="rect">
            <a:avLst/>
          </a:prstGeom>
          <a:noFill/>
          <a:ln/>
        </p:spPr>
        <p:txBody>
          <a:bodyPr wrap="square" lIns="0" tIns="0" rIns="0" bIns="0" rtlCol="0" anchor="t">
            <a:normAutofit/>
          </a:bodyPr>
          <a:lstStyle/>
          <a:p>
            <a:pPr indent="0" marL="0">
              <a:buNone/>
            </a:pPr>
            <a:r>
              <a:rPr lang="en-US" sz="1550" dirty="0">
                <a:solidFill>
                  <a:srgbClr val="17364A"/>
                </a:solidFill>
                <a:latin typeface="Aptos" pitchFamily="34" charset="0"/>
                <a:ea typeface="Aptos" pitchFamily="34" charset="-122"/>
                <a:cs typeface="Aptos" pitchFamily="34" charset="-120"/>
              </a:rPr>
              <a:t>This topic applies across generative AI, predictive analytics, NLP, RAG, automation, and agentic.</a:t>
            </a:r>
            <a:endParaRPr lang="en-US" sz="1550" dirty="0"/>
          </a:p>
        </p:txBody>
      </p:sp>
      <p:sp>
        <p:nvSpPr>
          <p:cNvPr id="15" name="Shape 13"/>
          <p:cNvSpPr/>
          <p:nvPr/>
        </p:nvSpPr>
        <p:spPr>
          <a:xfrm>
            <a:off x="7909560" y="3520440"/>
            <a:ext cx="3154680" cy="1737360"/>
          </a:xfrm>
          <a:prstGeom prst="roundRect">
            <a:avLst>
              <a:gd name="adj" fmla="val 6316"/>
            </a:avLst>
          </a:prstGeom>
          <a:solidFill>
            <a:srgbClr val="EAF6F8"/>
          </a:solidFill>
          <a:ln w="12700">
            <a:solidFill>
              <a:srgbClr val="B9D7E6"/>
            </a:solidFill>
            <a:prstDash val="solid"/>
          </a:ln>
        </p:spPr>
      </p:sp>
      <p:sp>
        <p:nvSpPr>
          <p:cNvPr id="16" name="Text 14"/>
          <p:cNvSpPr/>
          <p:nvPr/>
        </p:nvSpPr>
        <p:spPr>
          <a:xfrm>
            <a:off x="8074152" y="3666744"/>
            <a:ext cx="282549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Use this for</a:t>
            </a:r>
            <a:endParaRPr lang="en-US" sz="1300" dirty="0"/>
          </a:p>
        </p:txBody>
      </p:sp>
      <p:sp>
        <p:nvSpPr>
          <p:cNvPr id="17" name="Text 15"/>
          <p:cNvSpPr/>
          <p:nvPr/>
        </p:nvSpPr>
        <p:spPr>
          <a:xfrm>
            <a:off x="8074152" y="4023360"/>
            <a:ext cx="2825496" cy="1097280"/>
          </a:xfrm>
          <a:prstGeom prst="rect">
            <a:avLst/>
          </a:prstGeom>
          <a:noFill/>
          <a:ln/>
        </p:spPr>
        <p:txBody>
          <a:bodyPr wrap="square" lIns="0" tIns="0" rIns="0" bIns="0" rtlCol="0" anchor="t">
            <a:normAutofit/>
          </a:bodyPr>
          <a:lstStyle/>
          <a:p>
            <a:pPr indent="0" marL="0">
              <a:buNone/>
            </a:pPr>
            <a:r>
              <a:rPr lang="en-US" sz="1550" dirty="0">
                <a:solidFill>
                  <a:srgbClr val="17364A"/>
                </a:solidFill>
                <a:latin typeface="Aptos" pitchFamily="34" charset="0"/>
                <a:ea typeface="Aptos" pitchFamily="34" charset="-122"/>
                <a:cs typeface="Aptos" pitchFamily="34" charset="-120"/>
              </a:rPr>
              <a:t>Connect the concept to public health decisions, safeguards, documentation, or implementation work.</a:t>
            </a:r>
            <a:endParaRPr lang="en-US" sz="1550" dirty="0"/>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bg>
      <p:bgPr>
        <a:solidFill>
          <a:srgbClr val="F7FBFD"/>
        </a:solidFill>
      </p:bgPr>
    </p:bg>
    <p:spTree>
      <p:nvGrpSpPr>
        <p:cNvPr id="1" name=""/>
        <p:cNvGrpSpPr/>
        <p:nvPr/>
      </p:nvGrpSpPr>
      <p:grpSpPr>
        <a:xfrm>
          <a:off x="0" y="0"/>
          <a:ext cx="0" cy="0"/>
          <a:chOff x="0" y="0"/>
          <a:chExt cx="0" cy="0"/>
        </a:xfrm>
      </p:grpSpPr>
      <p:sp>
        <p:nvSpPr>
          <p:cNvPr id="2" name="Shape 0"/>
          <p:cNvSpPr/>
          <p:nvPr/>
        </p:nvSpPr>
        <p:spPr>
          <a:xfrm>
            <a:off x="0" y="0"/>
            <a:ext cx="12191695" cy="164592"/>
          </a:xfrm>
          <a:prstGeom prst="rect">
            <a:avLst/>
          </a:prstGeom>
          <a:solidFill>
            <a:srgbClr val="0068B7"/>
          </a:solidFill>
          <a:ln w="12700">
            <a:solidFill>
              <a:srgbClr val="0068B7"/>
            </a:solidFill>
            <a:prstDash val="solid"/>
          </a:ln>
        </p:spPr>
      </p:sp>
      <p:sp>
        <p:nvSpPr>
          <p:cNvPr id="3" name="Shape 1"/>
          <p:cNvSpPr/>
          <p:nvPr/>
        </p:nvSpPr>
        <p:spPr>
          <a:xfrm>
            <a:off x="0" y="164592"/>
            <a:ext cx="146304" cy="6693408"/>
          </a:xfrm>
          <a:prstGeom prst="rect">
            <a:avLst/>
          </a:prstGeom>
          <a:solidFill>
            <a:srgbClr val="2F8A28"/>
          </a:solidFill>
          <a:ln w="12700">
            <a:solidFill>
              <a:srgbClr val="2F8A28"/>
            </a:solidFill>
            <a:prstDash val="solid"/>
          </a:ln>
        </p:spPr>
      </p:sp>
      <p:sp>
        <p:nvSpPr>
          <p:cNvPr id="4" name="Text 2"/>
          <p:cNvSpPr/>
          <p:nvPr/>
        </p:nvSpPr>
        <p:spPr>
          <a:xfrm>
            <a:off x="502920" y="292608"/>
            <a:ext cx="10149840" cy="256032"/>
          </a:xfrm>
          <a:prstGeom prst="rect">
            <a:avLst/>
          </a:prstGeom>
          <a:noFill/>
          <a:ln/>
        </p:spPr>
        <p:txBody>
          <a:bodyPr wrap="square" lIns="0" tIns="0" rIns="0" bIns="0" rtlCol="0" anchor="ctr"/>
          <a:lstStyle/>
          <a:p>
            <a:pPr indent="0" marL="0">
              <a:buNone/>
            </a:pPr>
            <a:r>
              <a:rPr lang="en-US" sz="900" b="1" dirty="0">
                <a:solidFill>
                  <a:srgbClr val="5F7181"/>
                </a:solidFill>
                <a:latin typeface="Aptos" pitchFamily="34" charset="0"/>
                <a:ea typeface="Aptos" pitchFamily="34" charset="-122"/>
                <a:cs typeface="Aptos" pitchFamily="34" charset="-120"/>
              </a:rPr>
              <a:t>AI Governance Board Chair Training</a:t>
            </a:r>
            <a:endParaRPr lang="en-US" sz="900" dirty="0"/>
          </a:p>
        </p:txBody>
      </p:sp>
      <p:sp>
        <p:nvSpPr>
          <p:cNvPr id="5" name="Text 3"/>
          <p:cNvSpPr/>
          <p:nvPr/>
        </p:nvSpPr>
        <p:spPr>
          <a:xfrm>
            <a:off x="502920" y="6537960"/>
            <a:ext cx="7772400" cy="201168"/>
          </a:xfrm>
          <a:prstGeom prst="rect">
            <a:avLst/>
          </a:prstGeom>
          <a:noFill/>
          <a:ln/>
        </p:spPr>
        <p:txBody>
          <a:bodyPr wrap="square" lIns="0" tIns="0" rIns="0" bIns="0" rtlCol="0" anchor="ctr"/>
          <a:lstStyle/>
          <a:p>
            <a:pPr indent="0" marL="0">
              <a:buNone/>
            </a:pPr>
            <a:r>
              <a:rPr lang="en-US" sz="800" dirty="0">
                <a:solidFill>
                  <a:srgbClr val="5F7181"/>
                </a:solidFill>
                <a:latin typeface="Aptos" pitchFamily="34" charset="0"/>
                <a:ea typeface="Aptos" pitchFamily="34" charset="-122"/>
                <a:cs typeface="Aptos" pitchFamily="34" charset="-120"/>
              </a:rPr>
              <a:t>AI Playbook and Toolkit for Public Health Departments</a:t>
            </a:r>
            <a:endParaRPr lang="en-US" sz="800" dirty="0"/>
          </a:p>
        </p:txBody>
      </p:sp>
      <p:sp>
        <p:nvSpPr>
          <p:cNvPr id="6" name="Text 4"/>
          <p:cNvSpPr/>
          <p:nvPr/>
        </p:nvSpPr>
        <p:spPr>
          <a:xfrm>
            <a:off x="9966960" y="6537960"/>
            <a:ext cx="1645920" cy="201168"/>
          </a:xfrm>
          <a:prstGeom prst="rect">
            <a:avLst/>
          </a:prstGeom>
          <a:noFill/>
          <a:ln/>
        </p:spPr>
        <p:txBody>
          <a:bodyPr wrap="square" lIns="0" tIns="0" rIns="0" bIns="0" rtlCol="0" anchor="ctr"/>
          <a:lstStyle/>
          <a:p>
            <a:pPr algn="r" indent="0" marL="0">
              <a:buNone/>
            </a:pPr>
            <a:r>
              <a:rPr lang="en-US" sz="800" dirty="0">
                <a:solidFill>
                  <a:srgbClr val="5F7181"/>
                </a:solidFill>
                <a:latin typeface="Aptos" pitchFamily="34" charset="0"/>
                <a:ea typeface="Aptos" pitchFamily="34" charset="-122"/>
                <a:cs typeface="Aptos" pitchFamily="34" charset="-120"/>
              </a:rPr>
              <a:t>Â© Paula Soper</a:t>
            </a:r>
            <a:endParaRPr lang="en-US" sz="800" dirty="0"/>
          </a:p>
        </p:txBody>
      </p:sp>
      <p:sp>
        <p:nvSpPr>
          <p:cNvPr id="7" name="Text 5"/>
          <p:cNvSpPr/>
          <p:nvPr/>
        </p:nvSpPr>
        <p:spPr>
          <a:xfrm>
            <a:off x="11137392" y="6510528"/>
            <a:ext cx="411480" cy="201168"/>
          </a:xfrm>
          <a:prstGeom prst="rect">
            <a:avLst/>
          </a:prstGeom>
          <a:noFill/>
          <a:ln/>
        </p:spPr>
        <p:txBody>
          <a:bodyPr wrap="square" lIns="0" tIns="0" rIns="0" bIns="0" rtlCol="0" anchor="ctr"/>
          <a:lstStyle/>
          <a:p>
            <a:pPr algn="r" indent="0" marL="0">
              <a:buNone/>
            </a:pPr>
            <a:r>
              <a:rPr lang="en-US" sz="900" dirty="0">
                <a:solidFill>
                  <a:srgbClr val="5F7181"/>
                </a:solidFill>
                <a:latin typeface="Aptos" pitchFamily="34" charset="0"/>
                <a:ea typeface="Aptos" pitchFamily="34" charset="-122"/>
                <a:cs typeface="Aptos" pitchFamily="34" charset="-120"/>
              </a:rPr>
              <a:t>14</a:t>
            </a:r>
            <a:endParaRPr lang="en-US" sz="900" dirty="0"/>
          </a:p>
        </p:txBody>
      </p:sp>
      <p:sp>
        <p:nvSpPr>
          <p:cNvPr id="8" name="Shape 6"/>
          <p:cNvSpPr/>
          <p:nvPr/>
        </p:nvSpPr>
        <p:spPr>
          <a:xfrm>
            <a:off x="640080" y="658368"/>
            <a:ext cx="420624" cy="420624"/>
          </a:xfrm>
          <a:prstGeom prst="ellipse">
            <a:avLst/>
          </a:prstGeom>
          <a:solidFill>
            <a:srgbClr val="0068B7"/>
          </a:solidFill>
          <a:ln w="12700">
            <a:solidFill>
              <a:srgbClr val="0068B7"/>
            </a:solidFill>
            <a:prstDash val="solid"/>
          </a:ln>
        </p:spPr>
      </p:sp>
      <p:sp>
        <p:nvSpPr>
          <p:cNvPr id="9" name="Text 7"/>
          <p:cNvSpPr/>
          <p:nvPr/>
        </p:nvSpPr>
        <p:spPr>
          <a:xfrm>
            <a:off x="640080" y="731520"/>
            <a:ext cx="420624" cy="164592"/>
          </a:xfrm>
          <a:prstGeom prst="rect">
            <a:avLst/>
          </a:prstGeom>
          <a:noFill/>
          <a:ln/>
        </p:spPr>
        <p:txBody>
          <a:bodyPr wrap="square" lIns="0" tIns="0" rIns="0" bIns="0" rtlCol="0" anchor="ctr"/>
          <a:lstStyle/>
          <a:p>
            <a:pPr algn="ctr" indent="0" marL="0">
              <a:buNone/>
            </a:pPr>
            <a:r>
              <a:rPr lang="en-US" sz="1100" b="1" dirty="0">
                <a:solidFill>
                  <a:srgbClr val="FFFFFF"/>
                </a:solidFill>
                <a:latin typeface="Aptos" pitchFamily="34" charset="0"/>
                <a:ea typeface="Aptos" pitchFamily="34" charset="-122"/>
                <a:cs typeface="Aptos" pitchFamily="34" charset="-120"/>
              </a:rPr>
              <a:t>10</a:t>
            </a:r>
            <a:endParaRPr lang="en-US" sz="1100" dirty="0"/>
          </a:p>
        </p:txBody>
      </p:sp>
      <p:sp>
        <p:nvSpPr>
          <p:cNvPr id="10" name="Text 8"/>
          <p:cNvSpPr/>
          <p:nvPr/>
        </p:nvSpPr>
        <p:spPr>
          <a:xfrm>
            <a:off x="640080" y="621792"/>
            <a:ext cx="10881360" cy="713232"/>
          </a:xfrm>
          <a:prstGeom prst="rect">
            <a:avLst/>
          </a:prstGeom>
          <a:noFill/>
          <a:ln/>
        </p:spPr>
        <p:txBody>
          <a:bodyPr wrap="square" lIns="0" tIns="0" rIns="0" bIns="0" rtlCol="0" anchor="ctr">
            <a:normAutofit/>
          </a:bodyPr>
          <a:lstStyle/>
          <a:p>
            <a:pPr indent="0" marL="0">
              <a:buNone/>
            </a:pPr>
            <a:r>
              <a:rPr lang="en-US" sz="3400" b="1" dirty="0">
                <a:solidFill>
                  <a:srgbClr val="003A63"/>
                </a:solidFill>
                <a:latin typeface="Aptos Display" pitchFamily="34" charset="0"/>
                <a:ea typeface="Aptos Display" pitchFamily="34" charset="-122"/>
                <a:cs typeface="Aptos Display" pitchFamily="34" charset="-120"/>
              </a:rPr>
              <a:t>Reflection Questions</a:t>
            </a:r>
            <a:endParaRPr lang="en-US" sz="3400" dirty="0"/>
          </a:p>
        </p:txBody>
      </p:sp>
      <p:sp>
        <p:nvSpPr>
          <p:cNvPr id="11" name="Text 9"/>
          <p:cNvSpPr/>
          <p:nvPr/>
        </p:nvSpPr>
        <p:spPr>
          <a:xfrm>
            <a:off x="868680" y="1508760"/>
            <a:ext cx="6537960" cy="4160520"/>
          </a:xfrm>
          <a:prstGeom prst="rect">
            <a:avLst/>
          </a:prstGeom>
          <a:noFill/>
          <a:ln/>
        </p:spPr>
        <p:txBody>
          <a:bodyPr wrap="square" lIns="635" tIns="635" rIns="635" bIns="635" rtlCol="0" anchor="t">
            <a:normAutofit/>
          </a:bodyPr>
          <a:lstStyle/>
          <a:p>
            <a:r>
              <a:rPr lang="en-US" sz="2100" dirty="0">
                <a:solidFill>
                  <a:srgbClr val="17364A"/>
                </a:solidFill>
                <a:latin typeface="Aptos" pitchFamily="34" charset="0"/>
                <a:ea typeface="Aptos" pitchFamily="34" charset="-122"/>
                <a:cs typeface="Aptos" pitchFamily="34" charset="-120"/>
              </a:rPr>
              <a:t>What public health decision or workflow does this topic affect?</a:t>
            </a:r>
            <a:endParaRPr lang="en-US" sz="2100" dirty="0"/>
          </a:p>
          <a:p>
            <a:r>
              <a:rPr lang="en-US" sz="2100" dirty="0">
                <a:solidFill>
                  <a:srgbClr val="17364A"/>
                </a:solidFill>
                <a:latin typeface="Aptos" pitchFamily="34" charset="0"/>
                <a:ea typeface="Aptos" pitchFamily="34" charset="-122"/>
                <a:cs typeface="Aptos" pitchFamily="34" charset="-120"/>
              </a:rPr>
              <a:t>Who has authority to approve or pause the work?</a:t>
            </a:r>
            <a:endParaRPr lang="en-US" sz="2100" dirty="0"/>
          </a:p>
          <a:p>
            <a:r>
              <a:rPr lang="en-US" sz="2100" dirty="0">
                <a:solidFill>
                  <a:srgbClr val="17364A"/>
                </a:solidFill>
                <a:latin typeface="Aptos" pitchFamily="34" charset="0"/>
                <a:ea typeface="Aptos" pitchFamily="34" charset="-122"/>
                <a:cs typeface="Aptos" pitchFamily="34" charset="-120"/>
              </a:rPr>
              <a:t>What evidence would show that the workflow is responsible and effective?</a:t>
            </a:r>
            <a:endParaRPr lang="en-US" sz="2100" dirty="0"/>
          </a:p>
        </p:txBody>
      </p:sp>
      <p:sp>
        <p:nvSpPr>
          <p:cNvPr id="12" name="Shape 10"/>
          <p:cNvSpPr/>
          <p:nvPr/>
        </p:nvSpPr>
        <p:spPr>
          <a:xfrm>
            <a:off x="7909560" y="1417320"/>
            <a:ext cx="3154680" cy="1828800"/>
          </a:xfrm>
          <a:prstGeom prst="roundRect">
            <a:avLst>
              <a:gd name="adj" fmla="val 6000"/>
            </a:avLst>
          </a:prstGeom>
          <a:solidFill>
            <a:srgbClr val="EEF8ED"/>
          </a:solidFill>
          <a:ln w="12700">
            <a:solidFill>
              <a:srgbClr val="B9D7E6"/>
            </a:solidFill>
            <a:prstDash val="solid"/>
          </a:ln>
        </p:spPr>
      </p:sp>
      <p:sp>
        <p:nvSpPr>
          <p:cNvPr id="13" name="Text 11"/>
          <p:cNvSpPr/>
          <p:nvPr/>
        </p:nvSpPr>
        <p:spPr>
          <a:xfrm>
            <a:off x="8074152" y="1563624"/>
            <a:ext cx="282549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Key idea</a:t>
            </a:r>
            <a:endParaRPr lang="en-US" sz="1300" dirty="0"/>
          </a:p>
        </p:txBody>
      </p:sp>
      <p:sp>
        <p:nvSpPr>
          <p:cNvPr id="14" name="Text 12"/>
          <p:cNvSpPr/>
          <p:nvPr/>
        </p:nvSpPr>
        <p:spPr>
          <a:xfrm>
            <a:off x="8074152" y="1920240"/>
            <a:ext cx="2825496" cy="1188720"/>
          </a:xfrm>
          <a:prstGeom prst="rect">
            <a:avLst/>
          </a:prstGeom>
          <a:noFill/>
          <a:ln/>
        </p:spPr>
        <p:txBody>
          <a:bodyPr wrap="square" lIns="0" tIns="0" rIns="0" bIns="0" rtlCol="0" anchor="t">
            <a:normAutofit/>
          </a:bodyPr>
          <a:lstStyle/>
          <a:p>
            <a:pPr indent="0" marL="0">
              <a:buNone/>
            </a:pPr>
            <a:r>
              <a:rPr lang="en-US" sz="1550" dirty="0">
                <a:solidFill>
                  <a:srgbClr val="17364A"/>
                </a:solidFill>
                <a:latin typeface="Aptos" pitchFamily="34" charset="0"/>
                <a:ea typeface="Aptos" pitchFamily="34" charset="-122"/>
                <a:cs typeface="Aptos" pitchFamily="34" charset="-120"/>
              </a:rPr>
              <a:t>What public health decision or workflow does this topic affect?</a:t>
            </a:r>
            <a:endParaRPr lang="en-US" sz="1550" dirty="0"/>
          </a:p>
        </p:txBody>
      </p:sp>
      <p:sp>
        <p:nvSpPr>
          <p:cNvPr id="15" name="Shape 13"/>
          <p:cNvSpPr/>
          <p:nvPr/>
        </p:nvSpPr>
        <p:spPr>
          <a:xfrm>
            <a:off x="7909560" y="3520440"/>
            <a:ext cx="3154680" cy="1737360"/>
          </a:xfrm>
          <a:prstGeom prst="roundRect">
            <a:avLst>
              <a:gd name="adj" fmla="val 6316"/>
            </a:avLst>
          </a:prstGeom>
          <a:solidFill>
            <a:srgbClr val="EAF6F8"/>
          </a:solidFill>
          <a:ln w="12700">
            <a:solidFill>
              <a:srgbClr val="B9D7E6"/>
            </a:solidFill>
            <a:prstDash val="solid"/>
          </a:ln>
        </p:spPr>
      </p:sp>
      <p:sp>
        <p:nvSpPr>
          <p:cNvPr id="16" name="Text 14"/>
          <p:cNvSpPr/>
          <p:nvPr/>
        </p:nvSpPr>
        <p:spPr>
          <a:xfrm>
            <a:off x="8074152" y="3666744"/>
            <a:ext cx="282549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Use this for</a:t>
            </a:r>
            <a:endParaRPr lang="en-US" sz="1300" dirty="0"/>
          </a:p>
        </p:txBody>
      </p:sp>
      <p:sp>
        <p:nvSpPr>
          <p:cNvPr id="17" name="Text 15"/>
          <p:cNvSpPr/>
          <p:nvPr/>
        </p:nvSpPr>
        <p:spPr>
          <a:xfrm>
            <a:off x="8074152" y="4023360"/>
            <a:ext cx="2825496" cy="1097280"/>
          </a:xfrm>
          <a:prstGeom prst="rect">
            <a:avLst/>
          </a:prstGeom>
          <a:noFill/>
          <a:ln/>
        </p:spPr>
        <p:txBody>
          <a:bodyPr wrap="square" lIns="0" tIns="0" rIns="0" bIns="0" rtlCol="0" anchor="t">
            <a:normAutofit/>
          </a:bodyPr>
          <a:lstStyle/>
          <a:p>
            <a:pPr indent="0" marL="0">
              <a:buNone/>
            </a:pPr>
            <a:r>
              <a:rPr lang="en-US" sz="1550" dirty="0">
                <a:solidFill>
                  <a:srgbClr val="17364A"/>
                </a:solidFill>
                <a:latin typeface="Aptos" pitchFamily="34" charset="0"/>
                <a:ea typeface="Aptos" pitchFamily="34" charset="-122"/>
                <a:cs typeface="Aptos" pitchFamily="34" charset="-120"/>
              </a:rPr>
              <a:t>Connect the concept to public health decisions, safeguards, documentation, or implementation work.</a:t>
            </a:r>
            <a:endParaRPr lang="en-US" sz="1550" dirty="0"/>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bg>
      <p:bgPr>
        <a:solidFill>
          <a:srgbClr val="F7FBFD"/>
        </a:solidFill>
      </p:bgPr>
    </p:bg>
    <p:spTree>
      <p:nvGrpSpPr>
        <p:cNvPr id="1" name=""/>
        <p:cNvGrpSpPr/>
        <p:nvPr/>
      </p:nvGrpSpPr>
      <p:grpSpPr>
        <a:xfrm>
          <a:off x="0" y="0"/>
          <a:ext cx="0" cy="0"/>
          <a:chOff x="0" y="0"/>
          <a:chExt cx="0" cy="0"/>
        </a:xfrm>
      </p:grpSpPr>
      <p:sp>
        <p:nvSpPr>
          <p:cNvPr id="2" name="Shape 0"/>
          <p:cNvSpPr/>
          <p:nvPr/>
        </p:nvSpPr>
        <p:spPr>
          <a:xfrm>
            <a:off x="0" y="0"/>
            <a:ext cx="12191695" cy="164592"/>
          </a:xfrm>
          <a:prstGeom prst="rect">
            <a:avLst/>
          </a:prstGeom>
          <a:solidFill>
            <a:srgbClr val="0068B7"/>
          </a:solidFill>
          <a:ln w="12700">
            <a:solidFill>
              <a:srgbClr val="0068B7"/>
            </a:solidFill>
            <a:prstDash val="solid"/>
          </a:ln>
        </p:spPr>
      </p:sp>
      <p:sp>
        <p:nvSpPr>
          <p:cNvPr id="3" name="Shape 1"/>
          <p:cNvSpPr/>
          <p:nvPr/>
        </p:nvSpPr>
        <p:spPr>
          <a:xfrm>
            <a:off x="0" y="164592"/>
            <a:ext cx="146304" cy="6693408"/>
          </a:xfrm>
          <a:prstGeom prst="rect">
            <a:avLst/>
          </a:prstGeom>
          <a:solidFill>
            <a:srgbClr val="2F8A28"/>
          </a:solidFill>
          <a:ln w="12700">
            <a:solidFill>
              <a:srgbClr val="2F8A28"/>
            </a:solidFill>
            <a:prstDash val="solid"/>
          </a:ln>
        </p:spPr>
      </p:sp>
      <p:sp>
        <p:nvSpPr>
          <p:cNvPr id="4" name="Text 2"/>
          <p:cNvSpPr/>
          <p:nvPr/>
        </p:nvSpPr>
        <p:spPr>
          <a:xfrm>
            <a:off x="502920" y="292608"/>
            <a:ext cx="10149840" cy="256032"/>
          </a:xfrm>
          <a:prstGeom prst="rect">
            <a:avLst/>
          </a:prstGeom>
          <a:noFill/>
          <a:ln/>
        </p:spPr>
        <p:txBody>
          <a:bodyPr wrap="square" lIns="0" tIns="0" rIns="0" bIns="0" rtlCol="0" anchor="ctr"/>
          <a:lstStyle/>
          <a:p>
            <a:pPr indent="0" marL="0">
              <a:buNone/>
            </a:pPr>
            <a:r>
              <a:rPr lang="en-US" sz="900" b="1" dirty="0">
                <a:solidFill>
                  <a:srgbClr val="5F7181"/>
                </a:solidFill>
                <a:latin typeface="Aptos" pitchFamily="34" charset="0"/>
                <a:ea typeface="Aptos" pitchFamily="34" charset="-122"/>
                <a:cs typeface="Aptos" pitchFamily="34" charset="-120"/>
              </a:rPr>
              <a:t>AI Governance Board Chair Training</a:t>
            </a:r>
            <a:endParaRPr lang="en-US" sz="900" dirty="0"/>
          </a:p>
        </p:txBody>
      </p:sp>
      <p:sp>
        <p:nvSpPr>
          <p:cNvPr id="5" name="Text 3"/>
          <p:cNvSpPr/>
          <p:nvPr/>
        </p:nvSpPr>
        <p:spPr>
          <a:xfrm>
            <a:off x="502920" y="6537960"/>
            <a:ext cx="7772400" cy="201168"/>
          </a:xfrm>
          <a:prstGeom prst="rect">
            <a:avLst/>
          </a:prstGeom>
          <a:noFill/>
          <a:ln/>
        </p:spPr>
        <p:txBody>
          <a:bodyPr wrap="square" lIns="0" tIns="0" rIns="0" bIns="0" rtlCol="0" anchor="ctr"/>
          <a:lstStyle/>
          <a:p>
            <a:pPr indent="0" marL="0">
              <a:buNone/>
            </a:pPr>
            <a:r>
              <a:rPr lang="en-US" sz="800" dirty="0">
                <a:solidFill>
                  <a:srgbClr val="5F7181"/>
                </a:solidFill>
                <a:latin typeface="Aptos" pitchFamily="34" charset="0"/>
                <a:ea typeface="Aptos" pitchFamily="34" charset="-122"/>
                <a:cs typeface="Aptos" pitchFamily="34" charset="-120"/>
              </a:rPr>
              <a:t>AI Playbook and Toolkit for Public Health Departments</a:t>
            </a:r>
            <a:endParaRPr lang="en-US" sz="800" dirty="0"/>
          </a:p>
        </p:txBody>
      </p:sp>
      <p:sp>
        <p:nvSpPr>
          <p:cNvPr id="6" name="Text 4"/>
          <p:cNvSpPr/>
          <p:nvPr/>
        </p:nvSpPr>
        <p:spPr>
          <a:xfrm>
            <a:off x="9966960" y="6537960"/>
            <a:ext cx="1645920" cy="201168"/>
          </a:xfrm>
          <a:prstGeom prst="rect">
            <a:avLst/>
          </a:prstGeom>
          <a:noFill/>
          <a:ln/>
        </p:spPr>
        <p:txBody>
          <a:bodyPr wrap="square" lIns="0" tIns="0" rIns="0" bIns="0" rtlCol="0" anchor="ctr"/>
          <a:lstStyle/>
          <a:p>
            <a:pPr algn="r" indent="0" marL="0">
              <a:buNone/>
            </a:pPr>
            <a:r>
              <a:rPr lang="en-US" sz="800" dirty="0">
                <a:solidFill>
                  <a:srgbClr val="5F7181"/>
                </a:solidFill>
                <a:latin typeface="Aptos" pitchFamily="34" charset="0"/>
                <a:ea typeface="Aptos" pitchFamily="34" charset="-122"/>
                <a:cs typeface="Aptos" pitchFamily="34" charset="-120"/>
              </a:rPr>
              <a:t>Â© Paula Soper</a:t>
            </a:r>
            <a:endParaRPr lang="en-US" sz="800" dirty="0"/>
          </a:p>
        </p:txBody>
      </p:sp>
      <p:sp>
        <p:nvSpPr>
          <p:cNvPr id="7" name="Text 5"/>
          <p:cNvSpPr/>
          <p:nvPr/>
        </p:nvSpPr>
        <p:spPr>
          <a:xfrm>
            <a:off x="11137392" y="6510528"/>
            <a:ext cx="411480" cy="201168"/>
          </a:xfrm>
          <a:prstGeom prst="rect">
            <a:avLst/>
          </a:prstGeom>
          <a:noFill/>
          <a:ln/>
        </p:spPr>
        <p:txBody>
          <a:bodyPr wrap="square" lIns="0" tIns="0" rIns="0" bIns="0" rtlCol="0" anchor="ctr"/>
          <a:lstStyle/>
          <a:p>
            <a:pPr algn="r" indent="0" marL="0">
              <a:buNone/>
            </a:pPr>
            <a:r>
              <a:rPr lang="en-US" sz="900" dirty="0">
                <a:solidFill>
                  <a:srgbClr val="5F7181"/>
                </a:solidFill>
                <a:latin typeface="Aptos" pitchFamily="34" charset="0"/>
                <a:ea typeface="Aptos" pitchFamily="34" charset="-122"/>
                <a:cs typeface="Aptos" pitchFamily="34" charset="-120"/>
              </a:rPr>
              <a:t>15</a:t>
            </a:r>
            <a:endParaRPr lang="en-US" sz="900" dirty="0"/>
          </a:p>
        </p:txBody>
      </p:sp>
      <p:sp>
        <p:nvSpPr>
          <p:cNvPr id="8" name="Text 6"/>
          <p:cNvSpPr/>
          <p:nvPr/>
        </p:nvSpPr>
        <p:spPr>
          <a:xfrm>
            <a:off x="640080" y="658368"/>
            <a:ext cx="10881360" cy="713232"/>
          </a:xfrm>
          <a:prstGeom prst="rect">
            <a:avLst/>
          </a:prstGeom>
          <a:noFill/>
          <a:ln/>
        </p:spPr>
        <p:txBody>
          <a:bodyPr wrap="square" lIns="0" tIns="0" rIns="0" bIns="0" rtlCol="0" anchor="ctr">
            <a:normAutofit/>
          </a:bodyPr>
          <a:lstStyle/>
          <a:p>
            <a:pPr indent="0" marL="0">
              <a:buNone/>
            </a:pPr>
            <a:r>
              <a:rPr lang="en-US" sz="3400" b="1" dirty="0">
                <a:solidFill>
                  <a:srgbClr val="003A63"/>
                </a:solidFill>
                <a:latin typeface="Aptos Display" pitchFamily="34" charset="0"/>
                <a:ea typeface="Aptos Display" pitchFamily="34" charset="-122"/>
                <a:cs typeface="Aptos Display" pitchFamily="34" charset="-120"/>
              </a:rPr>
              <a:t>Reflection Questions Continued</a:t>
            </a:r>
            <a:endParaRPr lang="en-US" sz="3400" dirty="0"/>
          </a:p>
        </p:txBody>
      </p:sp>
      <p:sp>
        <p:nvSpPr>
          <p:cNvPr id="9" name="Text 7"/>
          <p:cNvSpPr/>
          <p:nvPr/>
        </p:nvSpPr>
        <p:spPr>
          <a:xfrm>
            <a:off x="868680" y="1508760"/>
            <a:ext cx="6537960" cy="4160520"/>
          </a:xfrm>
          <a:prstGeom prst="rect">
            <a:avLst/>
          </a:prstGeom>
          <a:noFill/>
          <a:ln/>
        </p:spPr>
        <p:txBody>
          <a:bodyPr wrap="square" lIns="635" tIns="635" rIns="635" bIns="635" rtlCol="0" anchor="t">
            <a:normAutofit/>
          </a:bodyPr>
          <a:lstStyle/>
          <a:p>
            <a:r>
              <a:rPr lang="en-US" sz="2100" dirty="0">
                <a:solidFill>
                  <a:srgbClr val="17364A"/>
                </a:solidFill>
                <a:latin typeface="Aptos" pitchFamily="34" charset="0"/>
                <a:ea typeface="Aptos" pitchFamily="34" charset="-122"/>
                <a:cs typeface="Aptos" pitchFamily="34" charset="-120"/>
              </a:rPr>
              <a:t>What equity, privacy, legal, security, or public trust risks require review?</a:t>
            </a:r>
            <a:endParaRPr lang="en-US" sz="2100" dirty="0"/>
          </a:p>
          <a:p>
            <a:r>
              <a:rPr lang="en-US" sz="2100" dirty="0">
                <a:solidFill>
                  <a:srgbClr val="17364A"/>
                </a:solidFill>
                <a:latin typeface="Aptos" pitchFamily="34" charset="0"/>
                <a:ea typeface="Aptos" pitchFamily="34" charset="-122"/>
                <a:cs typeface="Aptos" pitchFamily="34" charset="-120"/>
              </a:rPr>
              <a:t>How will the agency know when the workflow needs to be revised?</a:t>
            </a:r>
            <a:endParaRPr lang="en-US" sz="2100" dirty="0"/>
          </a:p>
        </p:txBody>
      </p:sp>
      <p:sp>
        <p:nvSpPr>
          <p:cNvPr id="10" name="Shape 8"/>
          <p:cNvSpPr/>
          <p:nvPr/>
        </p:nvSpPr>
        <p:spPr>
          <a:xfrm>
            <a:off x="7909560" y="1417320"/>
            <a:ext cx="3154680" cy="1828800"/>
          </a:xfrm>
          <a:prstGeom prst="roundRect">
            <a:avLst>
              <a:gd name="adj" fmla="val 6000"/>
            </a:avLst>
          </a:prstGeom>
          <a:solidFill>
            <a:srgbClr val="EEF8ED"/>
          </a:solidFill>
          <a:ln w="12700">
            <a:solidFill>
              <a:srgbClr val="B9D7E6"/>
            </a:solidFill>
            <a:prstDash val="solid"/>
          </a:ln>
        </p:spPr>
      </p:sp>
      <p:sp>
        <p:nvSpPr>
          <p:cNvPr id="11" name="Text 9"/>
          <p:cNvSpPr/>
          <p:nvPr/>
        </p:nvSpPr>
        <p:spPr>
          <a:xfrm>
            <a:off x="8074152" y="1563624"/>
            <a:ext cx="282549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Key idea</a:t>
            </a:r>
            <a:endParaRPr lang="en-US" sz="1300" dirty="0"/>
          </a:p>
        </p:txBody>
      </p:sp>
      <p:sp>
        <p:nvSpPr>
          <p:cNvPr id="12" name="Text 10"/>
          <p:cNvSpPr/>
          <p:nvPr/>
        </p:nvSpPr>
        <p:spPr>
          <a:xfrm>
            <a:off x="8074152" y="1920240"/>
            <a:ext cx="2825496" cy="1188720"/>
          </a:xfrm>
          <a:prstGeom prst="rect">
            <a:avLst/>
          </a:prstGeom>
          <a:noFill/>
          <a:ln/>
        </p:spPr>
        <p:txBody>
          <a:bodyPr wrap="square" lIns="0" tIns="0" rIns="0" bIns="0" rtlCol="0" anchor="t">
            <a:normAutofit/>
          </a:bodyPr>
          <a:lstStyle/>
          <a:p>
            <a:pPr indent="0" marL="0">
              <a:buNone/>
            </a:pPr>
            <a:r>
              <a:rPr lang="en-US" sz="1550" dirty="0">
                <a:solidFill>
                  <a:srgbClr val="17364A"/>
                </a:solidFill>
                <a:latin typeface="Aptos" pitchFamily="34" charset="0"/>
                <a:ea typeface="Aptos" pitchFamily="34" charset="-122"/>
                <a:cs typeface="Aptos" pitchFamily="34" charset="-120"/>
              </a:rPr>
              <a:t>What equity, privacy, legal, security, or public trust risks require review?</a:t>
            </a:r>
            <a:endParaRPr lang="en-US" sz="1550" dirty="0"/>
          </a:p>
        </p:txBody>
      </p:sp>
      <p:sp>
        <p:nvSpPr>
          <p:cNvPr id="13" name="Shape 11"/>
          <p:cNvSpPr/>
          <p:nvPr/>
        </p:nvSpPr>
        <p:spPr>
          <a:xfrm>
            <a:off x="7909560" y="3520440"/>
            <a:ext cx="3154680" cy="1737360"/>
          </a:xfrm>
          <a:prstGeom prst="roundRect">
            <a:avLst>
              <a:gd name="adj" fmla="val 6316"/>
            </a:avLst>
          </a:prstGeom>
          <a:solidFill>
            <a:srgbClr val="EAF6F8"/>
          </a:solidFill>
          <a:ln w="12700">
            <a:solidFill>
              <a:srgbClr val="B9D7E6"/>
            </a:solidFill>
            <a:prstDash val="solid"/>
          </a:ln>
        </p:spPr>
      </p:sp>
      <p:sp>
        <p:nvSpPr>
          <p:cNvPr id="14" name="Text 12"/>
          <p:cNvSpPr/>
          <p:nvPr/>
        </p:nvSpPr>
        <p:spPr>
          <a:xfrm>
            <a:off x="8074152" y="3666744"/>
            <a:ext cx="282549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Use this for</a:t>
            </a:r>
            <a:endParaRPr lang="en-US" sz="1300" dirty="0"/>
          </a:p>
        </p:txBody>
      </p:sp>
      <p:sp>
        <p:nvSpPr>
          <p:cNvPr id="15" name="Text 13"/>
          <p:cNvSpPr/>
          <p:nvPr/>
        </p:nvSpPr>
        <p:spPr>
          <a:xfrm>
            <a:off x="8074152" y="4023360"/>
            <a:ext cx="2825496" cy="1097280"/>
          </a:xfrm>
          <a:prstGeom prst="rect">
            <a:avLst/>
          </a:prstGeom>
          <a:noFill/>
          <a:ln/>
        </p:spPr>
        <p:txBody>
          <a:bodyPr wrap="square" lIns="0" tIns="0" rIns="0" bIns="0" rtlCol="0" anchor="t">
            <a:normAutofit/>
          </a:bodyPr>
          <a:lstStyle/>
          <a:p>
            <a:pPr indent="0" marL="0">
              <a:buNone/>
            </a:pPr>
            <a:r>
              <a:rPr lang="en-US" sz="1550" dirty="0">
                <a:solidFill>
                  <a:srgbClr val="17364A"/>
                </a:solidFill>
                <a:latin typeface="Aptos" pitchFamily="34" charset="0"/>
                <a:ea typeface="Aptos" pitchFamily="34" charset="-122"/>
                <a:cs typeface="Aptos" pitchFamily="34" charset="-120"/>
              </a:rPr>
              <a:t>Connect the concept to public health decisions, safeguards, documentation, or implementation work.</a:t>
            </a:r>
            <a:endParaRPr lang="en-US" sz="1550" dirty="0"/>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bg>
      <p:bgPr>
        <a:solidFill>
          <a:srgbClr val="F7FBFD"/>
        </a:solidFill>
      </p:bgPr>
    </p:bg>
    <p:spTree>
      <p:nvGrpSpPr>
        <p:cNvPr id="1" name=""/>
        <p:cNvGrpSpPr/>
        <p:nvPr/>
      </p:nvGrpSpPr>
      <p:grpSpPr>
        <a:xfrm>
          <a:off x="0" y="0"/>
          <a:ext cx="0" cy="0"/>
          <a:chOff x="0" y="0"/>
          <a:chExt cx="0" cy="0"/>
        </a:xfrm>
      </p:grpSpPr>
      <p:sp>
        <p:nvSpPr>
          <p:cNvPr id="2" name="Shape 0"/>
          <p:cNvSpPr/>
          <p:nvPr/>
        </p:nvSpPr>
        <p:spPr>
          <a:xfrm>
            <a:off x="0" y="0"/>
            <a:ext cx="12191695" cy="164592"/>
          </a:xfrm>
          <a:prstGeom prst="rect">
            <a:avLst/>
          </a:prstGeom>
          <a:solidFill>
            <a:srgbClr val="0068B7"/>
          </a:solidFill>
          <a:ln w="12700">
            <a:solidFill>
              <a:srgbClr val="0068B7"/>
            </a:solidFill>
            <a:prstDash val="solid"/>
          </a:ln>
        </p:spPr>
      </p:sp>
      <p:sp>
        <p:nvSpPr>
          <p:cNvPr id="3" name="Shape 1"/>
          <p:cNvSpPr/>
          <p:nvPr/>
        </p:nvSpPr>
        <p:spPr>
          <a:xfrm>
            <a:off x="0" y="164592"/>
            <a:ext cx="146304" cy="6693408"/>
          </a:xfrm>
          <a:prstGeom prst="rect">
            <a:avLst/>
          </a:prstGeom>
          <a:solidFill>
            <a:srgbClr val="2F8A28"/>
          </a:solidFill>
          <a:ln w="12700">
            <a:solidFill>
              <a:srgbClr val="2F8A28"/>
            </a:solidFill>
            <a:prstDash val="solid"/>
          </a:ln>
        </p:spPr>
      </p:sp>
      <p:sp>
        <p:nvSpPr>
          <p:cNvPr id="4" name="Text 2"/>
          <p:cNvSpPr/>
          <p:nvPr/>
        </p:nvSpPr>
        <p:spPr>
          <a:xfrm>
            <a:off x="502920" y="292608"/>
            <a:ext cx="10149840" cy="256032"/>
          </a:xfrm>
          <a:prstGeom prst="rect">
            <a:avLst/>
          </a:prstGeom>
          <a:noFill/>
          <a:ln/>
        </p:spPr>
        <p:txBody>
          <a:bodyPr wrap="square" lIns="0" tIns="0" rIns="0" bIns="0" rtlCol="0" anchor="ctr"/>
          <a:lstStyle/>
          <a:p>
            <a:pPr indent="0" marL="0">
              <a:buNone/>
            </a:pPr>
            <a:r>
              <a:rPr lang="en-US" sz="900" b="1" dirty="0">
                <a:solidFill>
                  <a:srgbClr val="5F7181"/>
                </a:solidFill>
                <a:latin typeface="Aptos" pitchFamily="34" charset="0"/>
                <a:ea typeface="Aptos" pitchFamily="34" charset="-122"/>
                <a:cs typeface="Aptos" pitchFamily="34" charset="-120"/>
              </a:rPr>
              <a:t>AI Governance Board Chair Training</a:t>
            </a:r>
            <a:endParaRPr lang="en-US" sz="900" dirty="0"/>
          </a:p>
        </p:txBody>
      </p:sp>
      <p:sp>
        <p:nvSpPr>
          <p:cNvPr id="5" name="Text 3"/>
          <p:cNvSpPr/>
          <p:nvPr/>
        </p:nvSpPr>
        <p:spPr>
          <a:xfrm>
            <a:off x="502920" y="6537960"/>
            <a:ext cx="7772400" cy="201168"/>
          </a:xfrm>
          <a:prstGeom prst="rect">
            <a:avLst/>
          </a:prstGeom>
          <a:noFill/>
          <a:ln/>
        </p:spPr>
        <p:txBody>
          <a:bodyPr wrap="square" lIns="0" tIns="0" rIns="0" bIns="0" rtlCol="0" anchor="ctr"/>
          <a:lstStyle/>
          <a:p>
            <a:pPr indent="0" marL="0">
              <a:buNone/>
            </a:pPr>
            <a:r>
              <a:rPr lang="en-US" sz="800" dirty="0">
                <a:solidFill>
                  <a:srgbClr val="5F7181"/>
                </a:solidFill>
                <a:latin typeface="Aptos" pitchFamily="34" charset="0"/>
                <a:ea typeface="Aptos" pitchFamily="34" charset="-122"/>
                <a:cs typeface="Aptos" pitchFamily="34" charset="-120"/>
              </a:rPr>
              <a:t>AI Playbook and Toolkit for Public Health Departments</a:t>
            </a:r>
            <a:endParaRPr lang="en-US" sz="800" dirty="0"/>
          </a:p>
        </p:txBody>
      </p:sp>
      <p:sp>
        <p:nvSpPr>
          <p:cNvPr id="6" name="Text 4"/>
          <p:cNvSpPr/>
          <p:nvPr/>
        </p:nvSpPr>
        <p:spPr>
          <a:xfrm>
            <a:off x="9966960" y="6537960"/>
            <a:ext cx="1645920" cy="201168"/>
          </a:xfrm>
          <a:prstGeom prst="rect">
            <a:avLst/>
          </a:prstGeom>
          <a:noFill/>
          <a:ln/>
        </p:spPr>
        <p:txBody>
          <a:bodyPr wrap="square" lIns="0" tIns="0" rIns="0" bIns="0" rtlCol="0" anchor="ctr"/>
          <a:lstStyle/>
          <a:p>
            <a:pPr algn="r" indent="0" marL="0">
              <a:buNone/>
            </a:pPr>
            <a:r>
              <a:rPr lang="en-US" sz="800" dirty="0">
                <a:solidFill>
                  <a:srgbClr val="5F7181"/>
                </a:solidFill>
                <a:latin typeface="Aptos" pitchFamily="34" charset="0"/>
                <a:ea typeface="Aptos" pitchFamily="34" charset="-122"/>
                <a:cs typeface="Aptos" pitchFamily="34" charset="-120"/>
              </a:rPr>
              <a:t>Â© Paula Soper</a:t>
            </a:r>
            <a:endParaRPr lang="en-US" sz="800" dirty="0"/>
          </a:p>
        </p:txBody>
      </p:sp>
      <p:sp>
        <p:nvSpPr>
          <p:cNvPr id="7" name="Text 5"/>
          <p:cNvSpPr/>
          <p:nvPr/>
        </p:nvSpPr>
        <p:spPr>
          <a:xfrm>
            <a:off x="11137392" y="6510528"/>
            <a:ext cx="411480" cy="201168"/>
          </a:xfrm>
          <a:prstGeom prst="rect">
            <a:avLst/>
          </a:prstGeom>
          <a:noFill/>
          <a:ln/>
        </p:spPr>
        <p:txBody>
          <a:bodyPr wrap="square" lIns="0" tIns="0" rIns="0" bIns="0" rtlCol="0" anchor="ctr"/>
          <a:lstStyle/>
          <a:p>
            <a:pPr algn="r" indent="0" marL="0">
              <a:buNone/>
            </a:pPr>
            <a:r>
              <a:rPr lang="en-US" sz="900" dirty="0">
                <a:solidFill>
                  <a:srgbClr val="5F7181"/>
                </a:solidFill>
                <a:latin typeface="Aptos" pitchFamily="34" charset="0"/>
                <a:ea typeface="Aptos" pitchFamily="34" charset="-122"/>
                <a:cs typeface="Aptos" pitchFamily="34" charset="-120"/>
              </a:rPr>
              <a:t>16</a:t>
            </a:r>
            <a:endParaRPr lang="en-US" sz="900" dirty="0"/>
          </a:p>
        </p:txBody>
      </p:sp>
      <p:sp>
        <p:nvSpPr>
          <p:cNvPr id="8" name="Shape 6"/>
          <p:cNvSpPr/>
          <p:nvPr/>
        </p:nvSpPr>
        <p:spPr>
          <a:xfrm>
            <a:off x="640080" y="658368"/>
            <a:ext cx="420624" cy="420624"/>
          </a:xfrm>
          <a:prstGeom prst="ellipse">
            <a:avLst/>
          </a:prstGeom>
          <a:solidFill>
            <a:srgbClr val="0068B7"/>
          </a:solidFill>
          <a:ln w="12700">
            <a:solidFill>
              <a:srgbClr val="0068B7"/>
            </a:solidFill>
            <a:prstDash val="solid"/>
          </a:ln>
        </p:spPr>
      </p:sp>
      <p:sp>
        <p:nvSpPr>
          <p:cNvPr id="9" name="Text 7"/>
          <p:cNvSpPr/>
          <p:nvPr/>
        </p:nvSpPr>
        <p:spPr>
          <a:xfrm>
            <a:off x="640080" y="731520"/>
            <a:ext cx="420624" cy="164592"/>
          </a:xfrm>
          <a:prstGeom prst="rect">
            <a:avLst/>
          </a:prstGeom>
          <a:noFill/>
          <a:ln/>
        </p:spPr>
        <p:txBody>
          <a:bodyPr wrap="square" lIns="0" tIns="0" rIns="0" bIns="0" rtlCol="0" anchor="ctr"/>
          <a:lstStyle/>
          <a:p>
            <a:pPr algn="ctr" indent="0" marL="0">
              <a:buNone/>
            </a:pPr>
            <a:r>
              <a:rPr lang="en-US" sz="1100" b="1" dirty="0">
                <a:solidFill>
                  <a:srgbClr val="FFFFFF"/>
                </a:solidFill>
                <a:latin typeface="Aptos" pitchFamily="34" charset="0"/>
                <a:ea typeface="Aptos" pitchFamily="34" charset="-122"/>
                <a:cs typeface="Aptos" pitchFamily="34" charset="-120"/>
              </a:rPr>
              <a:t>11</a:t>
            </a:r>
            <a:endParaRPr lang="en-US" sz="1100" dirty="0"/>
          </a:p>
        </p:txBody>
      </p:sp>
      <p:sp>
        <p:nvSpPr>
          <p:cNvPr id="10" name="Text 8"/>
          <p:cNvSpPr/>
          <p:nvPr/>
        </p:nvSpPr>
        <p:spPr>
          <a:xfrm>
            <a:off x="640080" y="621792"/>
            <a:ext cx="10881360" cy="713232"/>
          </a:xfrm>
          <a:prstGeom prst="rect">
            <a:avLst/>
          </a:prstGeom>
          <a:noFill/>
          <a:ln/>
        </p:spPr>
        <p:txBody>
          <a:bodyPr wrap="square" lIns="0" tIns="0" rIns="0" bIns="0" rtlCol="0" anchor="ctr">
            <a:normAutofit/>
          </a:bodyPr>
          <a:lstStyle/>
          <a:p>
            <a:pPr indent="0" marL="0">
              <a:buNone/>
            </a:pPr>
            <a:r>
              <a:rPr lang="en-US" sz="3400" b="1" dirty="0">
                <a:solidFill>
                  <a:srgbClr val="003A63"/>
                </a:solidFill>
                <a:latin typeface="Aptos Display" pitchFamily="34" charset="0"/>
                <a:ea typeface="Aptos Display" pitchFamily="34" charset="-122"/>
                <a:cs typeface="Aptos Display" pitchFamily="34" charset="-120"/>
              </a:rPr>
              <a:t>Practical Exercise</a:t>
            </a:r>
            <a:endParaRPr lang="en-US" sz="3400" dirty="0"/>
          </a:p>
        </p:txBody>
      </p:sp>
      <p:sp>
        <p:nvSpPr>
          <p:cNvPr id="11" name="Text 9"/>
          <p:cNvSpPr/>
          <p:nvPr/>
        </p:nvSpPr>
        <p:spPr>
          <a:xfrm>
            <a:off x="868680" y="1508760"/>
            <a:ext cx="6537960" cy="4160520"/>
          </a:xfrm>
          <a:prstGeom prst="rect">
            <a:avLst/>
          </a:prstGeom>
          <a:noFill/>
          <a:ln/>
        </p:spPr>
        <p:txBody>
          <a:bodyPr wrap="square" lIns="635" tIns="635" rIns="635" bIns="635" rtlCol="0" anchor="t">
            <a:normAutofit/>
          </a:bodyPr>
          <a:lstStyle/>
          <a:p>
            <a:r>
              <a:rPr lang="en-US" sz="2100" dirty="0">
                <a:solidFill>
                  <a:srgbClr val="17364A"/>
                </a:solidFill>
                <a:latin typeface="Aptos" pitchFamily="34" charset="0"/>
                <a:ea typeface="Aptos" pitchFamily="34" charset="-122"/>
                <a:cs typeface="Aptos" pitchFamily="34" charset="-120"/>
              </a:rPr>
              <a:t>Create a practical ai governance board chair training artifact for one AI-supported public health use.</a:t>
            </a:r>
            <a:endParaRPr lang="en-US" sz="2100" dirty="0"/>
          </a:p>
          <a:p>
            <a:r>
              <a:rPr lang="en-US" sz="2100" dirty="0">
                <a:solidFill>
                  <a:srgbClr val="17364A"/>
                </a:solidFill>
                <a:latin typeface="Aptos" pitchFamily="34" charset="0"/>
                <a:ea typeface="Aptos" pitchFamily="34" charset="-122"/>
                <a:cs typeface="Aptos" pitchFamily="34" charset="-120"/>
              </a:rPr>
              <a:t>The artifact should define the use case, affected roles, review criteria, safeguards, documentation.</a:t>
            </a:r>
            <a:endParaRPr lang="en-US" sz="2100" dirty="0"/>
          </a:p>
        </p:txBody>
      </p:sp>
      <p:sp>
        <p:nvSpPr>
          <p:cNvPr id="12" name="Shape 10"/>
          <p:cNvSpPr/>
          <p:nvPr/>
        </p:nvSpPr>
        <p:spPr>
          <a:xfrm>
            <a:off x="7909560" y="1417320"/>
            <a:ext cx="3154680" cy="1828800"/>
          </a:xfrm>
          <a:prstGeom prst="roundRect">
            <a:avLst>
              <a:gd name="adj" fmla="val 6000"/>
            </a:avLst>
          </a:prstGeom>
          <a:solidFill>
            <a:srgbClr val="EEF8ED"/>
          </a:solidFill>
          <a:ln w="12700">
            <a:solidFill>
              <a:srgbClr val="B9D7E6"/>
            </a:solidFill>
            <a:prstDash val="solid"/>
          </a:ln>
        </p:spPr>
      </p:sp>
      <p:sp>
        <p:nvSpPr>
          <p:cNvPr id="13" name="Text 11"/>
          <p:cNvSpPr/>
          <p:nvPr/>
        </p:nvSpPr>
        <p:spPr>
          <a:xfrm>
            <a:off x="8074152" y="1563624"/>
            <a:ext cx="282549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Key idea</a:t>
            </a:r>
            <a:endParaRPr lang="en-US" sz="1300" dirty="0"/>
          </a:p>
        </p:txBody>
      </p:sp>
      <p:sp>
        <p:nvSpPr>
          <p:cNvPr id="14" name="Text 12"/>
          <p:cNvSpPr/>
          <p:nvPr/>
        </p:nvSpPr>
        <p:spPr>
          <a:xfrm>
            <a:off x="8074152" y="1920240"/>
            <a:ext cx="2825496" cy="1188720"/>
          </a:xfrm>
          <a:prstGeom prst="rect">
            <a:avLst/>
          </a:prstGeom>
          <a:noFill/>
          <a:ln/>
        </p:spPr>
        <p:txBody>
          <a:bodyPr wrap="square" lIns="0" tIns="0" rIns="0" bIns="0" rtlCol="0" anchor="t">
            <a:normAutofit/>
          </a:bodyPr>
          <a:lstStyle/>
          <a:p>
            <a:pPr indent="0" marL="0">
              <a:buNone/>
            </a:pPr>
            <a:r>
              <a:rPr lang="en-US" sz="1550" dirty="0">
                <a:solidFill>
                  <a:srgbClr val="17364A"/>
                </a:solidFill>
                <a:latin typeface="Aptos" pitchFamily="34" charset="0"/>
                <a:ea typeface="Aptos" pitchFamily="34" charset="-122"/>
                <a:cs typeface="Aptos" pitchFamily="34" charset="-120"/>
              </a:rPr>
              <a:t>Create a practical ai governance board chair training artifact for one AI-supported public health use.</a:t>
            </a:r>
            <a:endParaRPr lang="en-US" sz="1550" dirty="0"/>
          </a:p>
        </p:txBody>
      </p:sp>
      <p:sp>
        <p:nvSpPr>
          <p:cNvPr id="15" name="Shape 13"/>
          <p:cNvSpPr/>
          <p:nvPr/>
        </p:nvSpPr>
        <p:spPr>
          <a:xfrm>
            <a:off x="7909560" y="3520440"/>
            <a:ext cx="3154680" cy="1737360"/>
          </a:xfrm>
          <a:prstGeom prst="roundRect">
            <a:avLst>
              <a:gd name="adj" fmla="val 6316"/>
            </a:avLst>
          </a:prstGeom>
          <a:solidFill>
            <a:srgbClr val="EAF6F8"/>
          </a:solidFill>
          <a:ln w="12700">
            <a:solidFill>
              <a:srgbClr val="B9D7E6"/>
            </a:solidFill>
            <a:prstDash val="solid"/>
          </a:ln>
        </p:spPr>
      </p:sp>
      <p:sp>
        <p:nvSpPr>
          <p:cNvPr id="16" name="Text 14"/>
          <p:cNvSpPr/>
          <p:nvPr/>
        </p:nvSpPr>
        <p:spPr>
          <a:xfrm>
            <a:off x="8074152" y="3666744"/>
            <a:ext cx="282549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Use this for</a:t>
            </a:r>
            <a:endParaRPr lang="en-US" sz="1300" dirty="0"/>
          </a:p>
        </p:txBody>
      </p:sp>
      <p:sp>
        <p:nvSpPr>
          <p:cNvPr id="17" name="Text 15"/>
          <p:cNvSpPr/>
          <p:nvPr/>
        </p:nvSpPr>
        <p:spPr>
          <a:xfrm>
            <a:off x="8074152" y="4023360"/>
            <a:ext cx="2825496" cy="1097280"/>
          </a:xfrm>
          <a:prstGeom prst="rect">
            <a:avLst/>
          </a:prstGeom>
          <a:noFill/>
          <a:ln/>
        </p:spPr>
        <p:txBody>
          <a:bodyPr wrap="square" lIns="0" tIns="0" rIns="0" bIns="0" rtlCol="0" anchor="t">
            <a:normAutofit/>
          </a:bodyPr>
          <a:lstStyle/>
          <a:p>
            <a:pPr indent="0" marL="0">
              <a:buNone/>
            </a:pPr>
            <a:r>
              <a:rPr lang="en-US" sz="1550" dirty="0">
                <a:solidFill>
                  <a:srgbClr val="17364A"/>
                </a:solidFill>
                <a:latin typeface="Aptos" pitchFamily="34" charset="0"/>
                <a:ea typeface="Aptos" pitchFamily="34" charset="-122"/>
                <a:cs typeface="Aptos" pitchFamily="34" charset="-120"/>
              </a:rPr>
              <a:t>Connect the concept to public health decisions, safeguards, documentation, or implementation work.</a:t>
            </a:r>
            <a:endParaRPr lang="en-US" sz="1550" dirty="0"/>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7">
    <p:bg>
      <p:bgPr>
        <a:solidFill>
          <a:srgbClr val="F7FBFD"/>
        </a:solidFill>
      </p:bgPr>
    </p:bg>
    <p:spTree>
      <p:nvGrpSpPr>
        <p:cNvPr id="1" name=""/>
        <p:cNvGrpSpPr/>
        <p:nvPr/>
      </p:nvGrpSpPr>
      <p:grpSpPr>
        <a:xfrm>
          <a:off x="0" y="0"/>
          <a:ext cx="0" cy="0"/>
          <a:chOff x="0" y="0"/>
          <a:chExt cx="0" cy="0"/>
        </a:xfrm>
      </p:grpSpPr>
      <p:sp>
        <p:nvSpPr>
          <p:cNvPr id="2" name="Shape 0"/>
          <p:cNvSpPr/>
          <p:nvPr/>
        </p:nvSpPr>
        <p:spPr>
          <a:xfrm>
            <a:off x="0" y="0"/>
            <a:ext cx="12191695" cy="164592"/>
          </a:xfrm>
          <a:prstGeom prst="rect">
            <a:avLst/>
          </a:prstGeom>
          <a:solidFill>
            <a:srgbClr val="0068B7"/>
          </a:solidFill>
          <a:ln w="12700">
            <a:solidFill>
              <a:srgbClr val="0068B7"/>
            </a:solidFill>
            <a:prstDash val="solid"/>
          </a:ln>
        </p:spPr>
      </p:sp>
      <p:sp>
        <p:nvSpPr>
          <p:cNvPr id="3" name="Shape 1"/>
          <p:cNvSpPr/>
          <p:nvPr/>
        </p:nvSpPr>
        <p:spPr>
          <a:xfrm>
            <a:off x="0" y="164592"/>
            <a:ext cx="146304" cy="6693408"/>
          </a:xfrm>
          <a:prstGeom prst="rect">
            <a:avLst/>
          </a:prstGeom>
          <a:solidFill>
            <a:srgbClr val="2F8A28"/>
          </a:solidFill>
          <a:ln w="12700">
            <a:solidFill>
              <a:srgbClr val="2F8A28"/>
            </a:solidFill>
            <a:prstDash val="solid"/>
          </a:ln>
        </p:spPr>
      </p:sp>
      <p:sp>
        <p:nvSpPr>
          <p:cNvPr id="4" name="Text 2"/>
          <p:cNvSpPr/>
          <p:nvPr/>
        </p:nvSpPr>
        <p:spPr>
          <a:xfrm>
            <a:off x="502920" y="292608"/>
            <a:ext cx="10149840" cy="256032"/>
          </a:xfrm>
          <a:prstGeom prst="rect">
            <a:avLst/>
          </a:prstGeom>
          <a:noFill/>
          <a:ln/>
        </p:spPr>
        <p:txBody>
          <a:bodyPr wrap="square" lIns="0" tIns="0" rIns="0" bIns="0" rtlCol="0" anchor="ctr"/>
          <a:lstStyle/>
          <a:p>
            <a:pPr indent="0" marL="0">
              <a:buNone/>
            </a:pPr>
            <a:r>
              <a:rPr lang="en-US" sz="900" b="1" dirty="0">
                <a:solidFill>
                  <a:srgbClr val="5F7181"/>
                </a:solidFill>
                <a:latin typeface="Aptos" pitchFamily="34" charset="0"/>
                <a:ea typeface="Aptos" pitchFamily="34" charset="-122"/>
                <a:cs typeface="Aptos" pitchFamily="34" charset="-120"/>
              </a:rPr>
              <a:t>AI Governance Board Chair Training</a:t>
            </a:r>
            <a:endParaRPr lang="en-US" sz="900" dirty="0"/>
          </a:p>
        </p:txBody>
      </p:sp>
      <p:sp>
        <p:nvSpPr>
          <p:cNvPr id="5" name="Text 3"/>
          <p:cNvSpPr/>
          <p:nvPr/>
        </p:nvSpPr>
        <p:spPr>
          <a:xfrm>
            <a:off x="502920" y="6537960"/>
            <a:ext cx="7772400" cy="201168"/>
          </a:xfrm>
          <a:prstGeom prst="rect">
            <a:avLst/>
          </a:prstGeom>
          <a:noFill/>
          <a:ln/>
        </p:spPr>
        <p:txBody>
          <a:bodyPr wrap="square" lIns="0" tIns="0" rIns="0" bIns="0" rtlCol="0" anchor="ctr"/>
          <a:lstStyle/>
          <a:p>
            <a:pPr indent="0" marL="0">
              <a:buNone/>
            </a:pPr>
            <a:r>
              <a:rPr lang="en-US" sz="800" dirty="0">
                <a:solidFill>
                  <a:srgbClr val="5F7181"/>
                </a:solidFill>
                <a:latin typeface="Aptos" pitchFamily="34" charset="0"/>
                <a:ea typeface="Aptos" pitchFamily="34" charset="-122"/>
                <a:cs typeface="Aptos" pitchFamily="34" charset="-120"/>
              </a:rPr>
              <a:t>AI Playbook and Toolkit for Public Health Departments</a:t>
            </a:r>
            <a:endParaRPr lang="en-US" sz="800" dirty="0"/>
          </a:p>
        </p:txBody>
      </p:sp>
      <p:sp>
        <p:nvSpPr>
          <p:cNvPr id="6" name="Text 4"/>
          <p:cNvSpPr/>
          <p:nvPr/>
        </p:nvSpPr>
        <p:spPr>
          <a:xfrm>
            <a:off x="9966960" y="6537960"/>
            <a:ext cx="1645920" cy="201168"/>
          </a:xfrm>
          <a:prstGeom prst="rect">
            <a:avLst/>
          </a:prstGeom>
          <a:noFill/>
          <a:ln/>
        </p:spPr>
        <p:txBody>
          <a:bodyPr wrap="square" lIns="0" tIns="0" rIns="0" bIns="0" rtlCol="0" anchor="ctr"/>
          <a:lstStyle/>
          <a:p>
            <a:pPr algn="r" indent="0" marL="0">
              <a:buNone/>
            </a:pPr>
            <a:r>
              <a:rPr lang="en-US" sz="800" dirty="0">
                <a:solidFill>
                  <a:srgbClr val="5F7181"/>
                </a:solidFill>
                <a:latin typeface="Aptos" pitchFamily="34" charset="0"/>
                <a:ea typeface="Aptos" pitchFamily="34" charset="-122"/>
                <a:cs typeface="Aptos" pitchFamily="34" charset="-120"/>
              </a:rPr>
              <a:t>Â© Paula Soper</a:t>
            </a:r>
            <a:endParaRPr lang="en-US" sz="800" dirty="0"/>
          </a:p>
        </p:txBody>
      </p:sp>
      <p:sp>
        <p:nvSpPr>
          <p:cNvPr id="7" name="Text 5"/>
          <p:cNvSpPr/>
          <p:nvPr/>
        </p:nvSpPr>
        <p:spPr>
          <a:xfrm>
            <a:off x="11137392" y="6510528"/>
            <a:ext cx="411480" cy="201168"/>
          </a:xfrm>
          <a:prstGeom prst="rect">
            <a:avLst/>
          </a:prstGeom>
          <a:noFill/>
          <a:ln/>
        </p:spPr>
        <p:txBody>
          <a:bodyPr wrap="square" lIns="0" tIns="0" rIns="0" bIns="0" rtlCol="0" anchor="ctr"/>
          <a:lstStyle/>
          <a:p>
            <a:pPr algn="r" indent="0" marL="0">
              <a:buNone/>
            </a:pPr>
            <a:r>
              <a:rPr lang="en-US" sz="900" dirty="0">
                <a:solidFill>
                  <a:srgbClr val="5F7181"/>
                </a:solidFill>
                <a:latin typeface="Aptos" pitchFamily="34" charset="0"/>
                <a:ea typeface="Aptos" pitchFamily="34" charset="-122"/>
                <a:cs typeface="Aptos" pitchFamily="34" charset="-120"/>
              </a:rPr>
              <a:t>17</a:t>
            </a:r>
            <a:endParaRPr lang="en-US" sz="900" dirty="0"/>
          </a:p>
        </p:txBody>
      </p:sp>
      <p:sp>
        <p:nvSpPr>
          <p:cNvPr id="8" name="Shape 6"/>
          <p:cNvSpPr/>
          <p:nvPr/>
        </p:nvSpPr>
        <p:spPr>
          <a:xfrm>
            <a:off x="640080" y="658368"/>
            <a:ext cx="420624" cy="420624"/>
          </a:xfrm>
          <a:prstGeom prst="ellipse">
            <a:avLst/>
          </a:prstGeom>
          <a:solidFill>
            <a:srgbClr val="0068B7"/>
          </a:solidFill>
          <a:ln w="12700">
            <a:solidFill>
              <a:srgbClr val="0068B7"/>
            </a:solidFill>
            <a:prstDash val="solid"/>
          </a:ln>
        </p:spPr>
      </p:sp>
      <p:sp>
        <p:nvSpPr>
          <p:cNvPr id="9" name="Text 7"/>
          <p:cNvSpPr/>
          <p:nvPr/>
        </p:nvSpPr>
        <p:spPr>
          <a:xfrm>
            <a:off x="640080" y="731520"/>
            <a:ext cx="420624" cy="164592"/>
          </a:xfrm>
          <a:prstGeom prst="rect">
            <a:avLst/>
          </a:prstGeom>
          <a:noFill/>
          <a:ln/>
        </p:spPr>
        <p:txBody>
          <a:bodyPr wrap="square" lIns="0" tIns="0" rIns="0" bIns="0" rtlCol="0" anchor="ctr"/>
          <a:lstStyle/>
          <a:p>
            <a:pPr algn="ctr" indent="0" marL="0">
              <a:buNone/>
            </a:pPr>
            <a:r>
              <a:rPr lang="en-US" sz="1100" b="1" dirty="0">
                <a:solidFill>
                  <a:srgbClr val="FFFFFF"/>
                </a:solidFill>
                <a:latin typeface="Aptos" pitchFamily="34" charset="0"/>
                <a:ea typeface="Aptos" pitchFamily="34" charset="-122"/>
                <a:cs typeface="Aptos" pitchFamily="34" charset="-120"/>
              </a:rPr>
              <a:t>12</a:t>
            </a:r>
            <a:endParaRPr lang="en-US" sz="1100" dirty="0"/>
          </a:p>
        </p:txBody>
      </p:sp>
      <p:sp>
        <p:nvSpPr>
          <p:cNvPr id="10" name="Text 8"/>
          <p:cNvSpPr/>
          <p:nvPr/>
        </p:nvSpPr>
        <p:spPr>
          <a:xfrm>
            <a:off x="640080" y="621792"/>
            <a:ext cx="10881360" cy="713232"/>
          </a:xfrm>
          <a:prstGeom prst="rect">
            <a:avLst/>
          </a:prstGeom>
          <a:noFill/>
          <a:ln/>
        </p:spPr>
        <p:txBody>
          <a:bodyPr wrap="square" lIns="0" tIns="0" rIns="0" bIns="0" rtlCol="0" anchor="ctr">
            <a:normAutofit/>
          </a:bodyPr>
          <a:lstStyle/>
          <a:p>
            <a:pPr indent="0" marL="0">
              <a:buNone/>
            </a:pPr>
            <a:r>
              <a:rPr lang="en-US" sz="3400" b="1" dirty="0">
                <a:solidFill>
                  <a:srgbClr val="003A63"/>
                </a:solidFill>
                <a:latin typeface="Aptos Display" pitchFamily="34" charset="0"/>
                <a:ea typeface="Aptos Display" pitchFamily="34" charset="-122"/>
                <a:cs typeface="Aptos Display" pitchFamily="34" charset="-120"/>
              </a:rPr>
              <a:t>Expected Artifact or Evidence</a:t>
            </a:r>
            <a:endParaRPr lang="en-US" sz="3400" dirty="0"/>
          </a:p>
        </p:txBody>
      </p:sp>
      <p:sp>
        <p:nvSpPr>
          <p:cNvPr id="11" name="Text 9"/>
          <p:cNvSpPr/>
          <p:nvPr/>
        </p:nvSpPr>
        <p:spPr>
          <a:xfrm>
            <a:off x="868680" y="1508760"/>
            <a:ext cx="6537960" cy="4160520"/>
          </a:xfrm>
          <a:prstGeom prst="rect">
            <a:avLst/>
          </a:prstGeom>
          <a:noFill/>
          <a:ln/>
        </p:spPr>
        <p:txBody>
          <a:bodyPr wrap="square" lIns="635" tIns="635" rIns="635" bIns="635" rtlCol="0" anchor="t">
            <a:normAutofit/>
          </a:bodyPr>
          <a:lstStyle/>
          <a:p>
            <a:r>
              <a:rPr lang="en-US" sz="2100" dirty="0">
                <a:solidFill>
                  <a:srgbClr val="17364A"/>
                </a:solidFill>
                <a:latin typeface="Aptos" pitchFamily="34" charset="0"/>
                <a:ea typeface="Aptos" pitchFamily="34" charset="-122"/>
                <a:cs typeface="Aptos" pitchFamily="34" charset="-120"/>
              </a:rPr>
              <a:t>AI Governance Board Chair Training artifact</a:t>
            </a:r>
            <a:endParaRPr lang="en-US" sz="2100" dirty="0"/>
          </a:p>
          <a:p>
            <a:r>
              <a:rPr lang="en-US" sz="2100" dirty="0">
                <a:solidFill>
                  <a:srgbClr val="17364A"/>
                </a:solidFill>
                <a:latin typeface="Aptos" pitchFamily="34" charset="0"/>
                <a:ea typeface="Aptos" pitchFamily="34" charset="-122"/>
                <a:cs typeface="Aptos" pitchFamily="34" charset="-120"/>
              </a:rPr>
              <a:t>Role and responsibility table</a:t>
            </a:r>
            <a:endParaRPr lang="en-US" sz="2100" dirty="0"/>
          </a:p>
          <a:p>
            <a:r>
              <a:rPr lang="en-US" sz="2100" dirty="0">
                <a:solidFill>
                  <a:srgbClr val="17364A"/>
                </a:solidFill>
                <a:latin typeface="Aptos" pitchFamily="34" charset="0"/>
                <a:ea typeface="Aptos" pitchFamily="34" charset="-122"/>
                <a:cs typeface="Aptos" pitchFamily="34" charset="-120"/>
              </a:rPr>
              <a:t>Risk and safeguard summary</a:t>
            </a:r>
            <a:endParaRPr lang="en-US" sz="2100" dirty="0"/>
          </a:p>
        </p:txBody>
      </p:sp>
      <p:sp>
        <p:nvSpPr>
          <p:cNvPr id="12" name="Shape 10"/>
          <p:cNvSpPr/>
          <p:nvPr/>
        </p:nvSpPr>
        <p:spPr>
          <a:xfrm>
            <a:off x="7909560" y="1417320"/>
            <a:ext cx="3154680" cy="1828800"/>
          </a:xfrm>
          <a:prstGeom prst="roundRect">
            <a:avLst>
              <a:gd name="adj" fmla="val 6000"/>
            </a:avLst>
          </a:prstGeom>
          <a:solidFill>
            <a:srgbClr val="EEF8ED"/>
          </a:solidFill>
          <a:ln w="12700">
            <a:solidFill>
              <a:srgbClr val="B9D7E6"/>
            </a:solidFill>
            <a:prstDash val="solid"/>
          </a:ln>
        </p:spPr>
      </p:sp>
      <p:sp>
        <p:nvSpPr>
          <p:cNvPr id="13" name="Text 11"/>
          <p:cNvSpPr/>
          <p:nvPr/>
        </p:nvSpPr>
        <p:spPr>
          <a:xfrm>
            <a:off x="8074152" y="1563624"/>
            <a:ext cx="282549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Key idea</a:t>
            </a:r>
            <a:endParaRPr lang="en-US" sz="1300" dirty="0"/>
          </a:p>
        </p:txBody>
      </p:sp>
      <p:sp>
        <p:nvSpPr>
          <p:cNvPr id="14" name="Text 12"/>
          <p:cNvSpPr/>
          <p:nvPr/>
        </p:nvSpPr>
        <p:spPr>
          <a:xfrm>
            <a:off x="8074152" y="1920240"/>
            <a:ext cx="2825496" cy="1188720"/>
          </a:xfrm>
          <a:prstGeom prst="rect">
            <a:avLst/>
          </a:prstGeom>
          <a:noFill/>
          <a:ln/>
        </p:spPr>
        <p:txBody>
          <a:bodyPr wrap="square" lIns="0" tIns="0" rIns="0" bIns="0" rtlCol="0" anchor="t">
            <a:normAutofit/>
          </a:bodyPr>
          <a:lstStyle/>
          <a:p>
            <a:pPr indent="0" marL="0">
              <a:buNone/>
            </a:pPr>
            <a:r>
              <a:rPr lang="en-US" sz="1550" dirty="0">
                <a:solidFill>
                  <a:srgbClr val="17364A"/>
                </a:solidFill>
                <a:latin typeface="Aptos" pitchFamily="34" charset="0"/>
                <a:ea typeface="Aptos" pitchFamily="34" charset="-122"/>
                <a:cs typeface="Aptos" pitchFamily="34" charset="-120"/>
              </a:rPr>
              <a:t>AI Governance Board Chair Training artifact</a:t>
            </a:r>
            <a:endParaRPr lang="en-US" sz="1550" dirty="0"/>
          </a:p>
        </p:txBody>
      </p:sp>
      <p:sp>
        <p:nvSpPr>
          <p:cNvPr id="15" name="Shape 13"/>
          <p:cNvSpPr/>
          <p:nvPr/>
        </p:nvSpPr>
        <p:spPr>
          <a:xfrm>
            <a:off x="7909560" y="3520440"/>
            <a:ext cx="3154680" cy="1737360"/>
          </a:xfrm>
          <a:prstGeom prst="roundRect">
            <a:avLst>
              <a:gd name="adj" fmla="val 6316"/>
            </a:avLst>
          </a:prstGeom>
          <a:solidFill>
            <a:srgbClr val="EAF6F8"/>
          </a:solidFill>
          <a:ln w="12700">
            <a:solidFill>
              <a:srgbClr val="B9D7E6"/>
            </a:solidFill>
            <a:prstDash val="solid"/>
          </a:ln>
        </p:spPr>
      </p:sp>
      <p:sp>
        <p:nvSpPr>
          <p:cNvPr id="16" name="Text 14"/>
          <p:cNvSpPr/>
          <p:nvPr/>
        </p:nvSpPr>
        <p:spPr>
          <a:xfrm>
            <a:off x="8074152" y="3666744"/>
            <a:ext cx="282549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Use this for</a:t>
            </a:r>
            <a:endParaRPr lang="en-US" sz="1300" dirty="0"/>
          </a:p>
        </p:txBody>
      </p:sp>
      <p:sp>
        <p:nvSpPr>
          <p:cNvPr id="17" name="Text 15"/>
          <p:cNvSpPr/>
          <p:nvPr/>
        </p:nvSpPr>
        <p:spPr>
          <a:xfrm>
            <a:off x="8074152" y="4023360"/>
            <a:ext cx="2825496" cy="1097280"/>
          </a:xfrm>
          <a:prstGeom prst="rect">
            <a:avLst/>
          </a:prstGeom>
          <a:noFill/>
          <a:ln/>
        </p:spPr>
        <p:txBody>
          <a:bodyPr wrap="square" lIns="0" tIns="0" rIns="0" bIns="0" rtlCol="0" anchor="t">
            <a:normAutofit/>
          </a:bodyPr>
          <a:lstStyle/>
          <a:p>
            <a:pPr indent="0" marL="0">
              <a:buNone/>
            </a:pPr>
            <a:r>
              <a:rPr lang="en-US" sz="1550" dirty="0">
                <a:solidFill>
                  <a:srgbClr val="17364A"/>
                </a:solidFill>
                <a:latin typeface="Aptos" pitchFamily="34" charset="0"/>
                <a:ea typeface="Aptos" pitchFamily="34" charset="-122"/>
                <a:cs typeface="Aptos" pitchFamily="34" charset="-120"/>
              </a:rPr>
              <a:t>Connect the concept to public health decisions, safeguards, documentation, or implementation work.</a:t>
            </a:r>
            <a:endParaRPr lang="en-US" sz="1550" dirty="0"/>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18">
    <p:bg>
      <p:bgPr>
        <a:solidFill>
          <a:srgbClr val="F7FBFD"/>
        </a:solidFill>
      </p:bgPr>
    </p:bg>
    <p:spTree>
      <p:nvGrpSpPr>
        <p:cNvPr id="1" name=""/>
        <p:cNvGrpSpPr/>
        <p:nvPr/>
      </p:nvGrpSpPr>
      <p:grpSpPr>
        <a:xfrm>
          <a:off x="0" y="0"/>
          <a:ext cx="0" cy="0"/>
          <a:chOff x="0" y="0"/>
          <a:chExt cx="0" cy="0"/>
        </a:xfrm>
      </p:grpSpPr>
      <p:sp>
        <p:nvSpPr>
          <p:cNvPr id="2" name="Shape 0"/>
          <p:cNvSpPr/>
          <p:nvPr/>
        </p:nvSpPr>
        <p:spPr>
          <a:xfrm>
            <a:off x="0" y="0"/>
            <a:ext cx="12191695" cy="164592"/>
          </a:xfrm>
          <a:prstGeom prst="rect">
            <a:avLst/>
          </a:prstGeom>
          <a:solidFill>
            <a:srgbClr val="0068B7"/>
          </a:solidFill>
          <a:ln w="12700">
            <a:solidFill>
              <a:srgbClr val="0068B7"/>
            </a:solidFill>
            <a:prstDash val="solid"/>
          </a:ln>
        </p:spPr>
      </p:sp>
      <p:sp>
        <p:nvSpPr>
          <p:cNvPr id="3" name="Shape 1"/>
          <p:cNvSpPr/>
          <p:nvPr/>
        </p:nvSpPr>
        <p:spPr>
          <a:xfrm>
            <a:off x="0" y="164592"/>
            <a:ext cx="146304" cy="6693408"/>
          </a:xfrm>
          <a:prstGeom prst="rect">
            <a:avLst/>
          </a:prstGeom>
          <a:solidFill>
            <a:srgbClr val="2F8A28"/>
          </a:solidFill>
          <a:ln w="12700">
            <a:solidFill>
              <a:srgbClr val="2F8A28"/>
            </a:solidFill>
            <a:prstDash val="solid"/>
          </a:ln>
        </p:spPr>
      </p:sp>
      <p:sp>
        <p:nvSpPr>
          <p:cNvPr id="4" name="Text 2"/>
          <p:cNvSpPr/>
          <p:nvPr/>
        </p:nvSpPr>
        <p:spPr>
          <a:xfrm>
            <a:off x="502920" y="292608"/>
            <a:ext cx="10149840" cy="256032"/>
          </a:xfrm>
          <a:prstGeom prst="rect">
            <a:avLst/>
          </a:prstGeom>
          <a:noFill/>
          <a:ln/>
        </p:spPr>
        <p:txBody>
          <a:bodyPr wrap="square" lIns="0" tIns="0" rIns="0" bIns="0" rtlCol="0" anchor="ctr"/>
          <a:lstStyle/>
          <a:p>
            <a:pPr indent="0" marL="0">
              <a:buNone/>
            </a:pPr>
            <a:r>
              <a:rPr lang="en-US" sz="900" b="1" dirty="0">
                <a:solidFill>
                  <a:srgbClr val="5F7181"/>
                </a:solidFill>
                <a:latin typeface="Aptos" pitchFamily="34" charset="0"/>
                <a:ea typeface="Aptos" pitchFamily="34" charset="-122"/>
                <a:cs typeface="Aptos" pitchFamily="34" charset="-120"/>
              </a:rPr>
              <a:t>AI Governance Board Chair Training</a:t>
            </a:r>
            <a:endParaRPr lang="en-US" sz="900" dirty="0"/>
          </a:p>
        </p:txBody>
      </p:sp>
      <p:sp>
        <p:nvSpPr>
          <p:cNvPr id="5" name="Text 3"/>
          <p:cNvSpPr/>
          <p:nvPr/>
        </p:nvSpPr>
        <p:spPr>
          <a:xfrm>
            <a:off x="502920" y="6537960"/>
            <a:ext cx="7772400" cy="201168"/>
          </a:xfrm>
          <a:prstGeom prst="rect">
            <a:avLst/>
          </a:prstGeom>
          <a:noFill/>
          <a:ln/>
        </p:spPr>
        <p:txBody>
          <a:bodyPr wrap="square" lIns="0" tIns="0" rIns="0" bIns="0" rtlCol="0" anchor="ctr"/>
          <a:lstStyle/>
          <a:p>
            <a:pPr indent="0" marL="0">
              <a:buNone/>
            </a:pPr>
            <a:r>
              <a:rPr lang="en-US" sz="800" dirty="0">
                <a:solidFill>
                  <a:srgbClr val="5F7181"/>
                </a:solidFill>
                <a:latin typeface="Aptos" pitchFamily="34" charset="0"/>
                <a:ea typeface="Aptos" pitchFamily="34" charset="-122"/>
                <a:cs typeface="Aptos" pitchFamily="34" charset="-120"/>
              </a:rPr>
              <a:t>AI Playbook and Toolkit for Public Health Departments</a:t>
            </a:r>
            <a:endParaRPr lang="en-US" sz="800" dirty="0"/>
          </a:p>
        </p:txBody>
      </p:sp>
      <p:sp>
        <p:nvSpPr>
          <p:cNvPr id="6" name="Text 4"/>
          <p:cNvSpPr/>
          <p:nvPr/>
        </p:nvSpPr>
        <p:spPr>
          <a:xfrm>
            <a:off x="9966960" y="6537960"/>
            <a:ext cx="1645920" cy="201168"/>
          </a:xfrm>
          <a:prstGeom prst="rect">
            <a:avLst/>
          </a:prstGeom>
          <a:noFill/>
          <a:ln/>
        </p:spPr>
        <p:txBody>
          <a:bodyPr wrap="square" lIns="0" tIns="0" rIns="0" bIns="0" rtlCol="0" anchor="ctr"/>
          <a:lstStyle/>
          <a:p>
            <a:pPr algn="r" indent="0" marL="0">
              <a:buNone/>
            </a:pPr>
            <a:r>
              <a:rPr lang="en-US" sz="800" dirty="0">
                <a:solidFill>
                  <a:srgbClr val="5F7181"/>
                </a:solidFill>
                <a:latin typeface="Aptos" pitchFamily="34" charset="0"/>
                <a:ea typeface="Aptos" pitchFamily="34" charset="-122"/>
                <a:cs typeface="Aptos" pitchFamily="34" charset="-120"/>
              </a:rPr>
              <a:t>Â© Paula Soper</a:t>
            </a:r>
            <a:endParaRPr lang="en-US" sz="800" dirty="0"/>
          </a:p>
        </p:txBody>
      </p:sp>
      <p:sp>
        <p:nvSpPr>
          <p:cNvPr id="7" name="Text 5"/>
          <p:cNvSpPr/>
          <p:nvPr/>
        </p:nvSpPr>
        <p:spPr>
          <a:xfrm>
            <a:off x="11137392" y="6510528"/>
            <a:ext cx="411480" cy="201168"/>
          </a:xfrm>
          <a:prstGeom prst="rect">
            <a:avLst/>
          </a:prstGeom>
          <a:noFill/>
          <a:ln/>
        </p:spPr>
        <p:txBody>
          <a:bodyPr wrap="square" lIns="0" tIns="0" rIns="0" bIns="0" rtlCol="0" anchor="ctr"/>
          <a:lstStyle/>
          <a:p>
            <a:pPr algn="r" indent="0" marL="0">
              <a:buNone/>
            </a:pPr>
            <a:r>
              <a:rPr lang="en-US" sz="900" dirty="0">
                <a:solidFill>
                  <a:srgbClr val="5F7181"/>
                </a:solidFill>
                <a:latin typeface="Aptos" pitchFamily="34" charset="0"/>
                <a:ea typeface="Aptos" pitchFamily="34" charset="-122"/>
                <a:cs typeface="Aptos" pitchFamily="34" charset="-120"/>
              </a:rPr>
              <a:t>18</a:t>
            </a:r>
            <a:endParaRPr lang="en-US" sz="900" dirty="0"/>
          </a:p>
        </p:txBody>
      </p:sp>
      <p:sp>
        <p:nvSpPr>
          <p:cNvPr id="8" name="Text 6"/>
          <p:cNvSpPr/>
          <p:nvPr/>
        </p:nvSpPr>
        <p:spPr>
          <a:xfrm>
            <a:off x="640080" y="658368"/>
            <a:ext cx="10881360" cy="713232"/>
          </a:xfrm>
          <a:prstGeom prst="rect">
            <a:avLst/>
          </a:prstGeom>
          <a:noFill/>
          <a:ln/>
        </p:spPr>
        <p:txBody>
          <a:bodyPr wrap="square" lIns="0" tIns="0" rIns="0" bIns="0" rtlCol="0" anchor="ctr">
            <a:normAutofit/>
          </a:bodyPr>
          <a:lstStyle/>
          <a:p>
            <a:pPr indent="0" marL="0">
              <a:buNone/>
            </a:pPr>
            <a:r>
              <a:rPr lang="en-US" sz="3400" b="1" dirty="0">
                <a:solidFill>
                  <a:srgbClr val="003A63"/>
                </a:solidFill>
                <a:latin typeface="Aptos Display" pitchFamily="34" charset="0"/>
                <a:ea typeface="Aptos Display" pitchFamily="34" charset="-122"/>
                <a:cs typeface="Aptos Display" pitchFamily="34" charset="-120"/>
              </a:rPr>
              <a:t>Expected Artifact or Evidence Continued</a:t>
            </a:r>
            <a:endParaRPr lang="en-US" sz="3400" dirty="0"/>
          </a:p>
        </p:txBody>
      </p:sp>
      <p:sp>
        <p:nvSpPr>
          <p:cNvPr id="9" name="Text 7"/>
          <p:cNvSpPr/>
          <p:nvPr/>
        </p:nvSpPr>
        <p:spPr>
          <a:xfrm>
            <a:off x="868680" y="1508760"/>
            <a:ext cx="6537960" cy="4160520"/>
          </a:xfrm>
          <a:prstGeom prst="rect">
            <a:avLst/>
          </a:prstGeom>
          <a:noFill/>
          <a:ln/>
        </p:spPr>
        <p:txBody>
          <a:bodyPr wrap="square" lIns="635" tIns="635" rIns="635" bIns="635" rtlCol="0" anchor="t">
            <a:normAutofit/>
          </a:bodyPr>
          <a:lstStyle/>
          <a:p>
            <a:r>
              <a:rPr lang="en-US" sz="2100" dirty="0">
                <a:solidFill>
                  <a:srgbClr val="17364A"/>
                </a:solidFill>
                <a:latin typeface="Aptos" pitchFamily="34" charset="0"/>
                <a:ea typeface="Aptos" pitchFamily="34" charset="-122"/>
                <a:cs typeface="Aptos" pitchFamily="34" charset="-120"/>
              </a:rPr>
              <a:t>Escalation and monitoring plan</a:t>
            </a:r>
            <a:endParaRPr lang="en-US" sz="2100" dirty="0"/>
          </a:p>
          <a:p>
            <a:r>
              <a:rPr lang="en-US" sz="2100" dirty="0">
                <a:solidFill>
                  <a:srgbClr val="17364A"/>
                </a:solidFill>
                <a:latin typeface="Aptos" pitchFamily="34" charset="0"/>
                <a:ea typeface="Aptos" pitchFamily="34" charset="-122"/>
                <a:cs typeface="Aptos" pitchFamily="34" charset="-120"/>
              </a:rPr>
              <a:t>Approval or review note</a:t>
            </a:r>
            <a:endParaRPr lang="en-US" sz="2100" dirty="0"/>
          </a:p>
        </p:txBody>
      </p:sp>
      <p:sp>
        <p:nvSpPr>
          <p:cNvPr id="10" name="Shape 8"/>
          <p:cNvSpPr/>
          <p:nvPr/>
        </p:nvSpPr>
        <p:spPr>
          <a:xfrm>
            <a:off x="7909560" y="1417320"/>
            <a:ext cx="3154680" cy="1828800"/>
          </a:xfrm>
          <a:prstGeom prst="roundRect">
            <a:avLst>
              <a:gd name="adj" fmla="val 6000"/>
            </a:avLst>
          </a:prstGeom>
          <a:solidFill>
            <a:srgbClr val="EEF8ED"/>
          </a:solidFill>
          <a:ln w="12700">
            <a:solidFill>
              <a:srgbClr val="B9D7E6"/>
            </a:solidFill>
            <a:prstDash val="solid"/>
          </a:ln>
        </p:spPr>
      </p:sp>
      <p:sp>
        <p:nvSpPr>
          <p:cNvPr id="11" name="Text 9"/>
          <p:cNvSpPr/>
          <p:nvPr/>
        </p:nvSpPr>
        <p:spPr>
          <a:xfrm>
            <a:off x="8074152" y="1563624"/>
            <a:ext cx="282549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Key idea</a:t>
            </a:r>
            <a:endParaRPr lang="en-US" sz="1300" dirty="0"/>
          </a:p>
        </p:txBody>
      </p:sp>
      <p:sp>
        <p:nvSpPr>
          <p:cNvPr id="12" name="Text 10"/>
          <p:cNvSpPr/>
          <p:nvPr/>
        </p:nvSpPr>
        <p:spPr>
          <a:xfrm>
            <a:off x="8074152" y="1920240"/>
            <a:ext cx="2825496" cy="1188720"/>
          </a:xfrm>
          <a:prstGeom prst="rect">
            <a:avLst/>
          </a:prstGeom>
          <a:noFill/>
          <a:ln/>
        </p:spPr>
        <p:txBody>
          <a:bodyPr wrap="square" lIns="0" tIns="0" rIns="0" bIns="0" rtlCol="0" anchor="t">
            <a:normAutofit/>
          </a:bodyPr>
          <a:lstStyle/>
          <a:p>
            <a:pPr indent="0" marL="0">
              <a:buNone/>
            </a:pPr>
            <a:r>
              <a:rPr lang="en-US" sz="1550" dirty="0">
                <a:solidFill>
                  <a:srgbClr val="17364A"/>
                </a:solidFill>
                <a:latin typeface="Aptos" pitchFamily="34" charset="0"/>
                <a:ea typeface="Aptos" pitchFamily="34" charset="-122"/>
                <a:cs typeface="Aptos" pitchFamily="34" charset="-120"/>
              </a:rPr>
              <a:t>Escalation and monitoring plan</a:t>
            </a:r>
            <a:endParaRPr lang="en-US" sz="1550" dirty="0"/>
          </a:p>
        </p:txBody>
      </p:sp>
      <p:sp>
        <p:nvSpPr>
          <p:cNvPr id="13" name="Shape 11"/>
          <p:cNvSpPr/>
          <p:nvPr/>
        </p:nvSpPr>
        <p:spPr>
          <a:xfrm>
            <a:off x="7909560" y="3520440"/>
            <a:ext cx="3154680" cy="1737360"/>
          </a:xfrm>
          <a:prstGeom prst="roundRect">
            <a:avLst>
              <a:gd name="adj" fmla="val 6316"/>
            </a:avLst>
          </a:prstGeom>
          <a:solidFill>
            <a:srgbClr val="EAF6F8"/>
          </a:solidFill>
          <a:ln w="12700">
            <a:solidFill>
              <a:srgbClr val="B9D7E6"/>
            </a:solidFill>
            <a:prstDash val="solid"/>
          </a:ln>
        </p:spPr>
      </p:sp>
      <p:sp>
        <p:nvSpPr>
          <p:cNvPr id="14" name="Text 12"/>
          <p:cNvSpPr/>
          <p:nvPr/>
        </p:nvSpPr>
        <p:spPr>
          <a:xfrm>
            <a:off x="8074152" y="3666744"/>
            <a:ext cx="282549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Use this for</a:t>
            </a:r>
            <a:endParaRPr lang="en-US" sz="1300" dirty="0"/>
          </a:p>
        </p:txBody>
      </p:sp>
      <p:sp>
        <p:nvSpPr>
          <p:cNvPr id="15" name="Text 13"/>
          <p:cNvSpPr/>
          <p:nvPr/>
        </p:nvSpPr>
        <p:spPr>
          <a:xfrm>
            <a:off x="8074152" y="4023360"/>
            <a:ext cx="2825496" cy="1097280"/>
          </a:xfrm>
          <a:prstGeom prst="rect">
            <a:avLst/>
          </a:prstGeom>
          <a:noFill/>
          <a:ln/>
        </p:spPr>
        <p:txBody>
          <a:bodyPr wrap="square" lIns="0" tIns="0" rIns="0" bIns="0" rtlCol="0" anchor="t">
            <a:normAutofit/>
          </a:bodyPr>
          <a:lstStyle/>
          <a:p>
            <a:pPr indent="0" marL="0">
              <a:buNone/>
            </a:pPr>
            <a:r>
              <a:rPr lang="en-US" sz="1550" dirty="0">
                <a:solidFill>
                  <a:srgbClr val="17364A"/>
                </a:solidFill>
                <a:latin typeface="Aptos" pitchFamily="34" charset="0"/>
                <a:ea typeface="Aptos" pitchFamily="34" charset="-122"/>
                <a:cs typeface="Aptos" pitchFamily="34" charset="-120"/>
              </a:rPr>
              <a:t>Connect the concept to public health decisions, safeguards, documentation, or implementation work.</a:t>
            </a:r>
            <a:endParaRPr lang="en-US" sz="1550" dirty="0"/>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name="Slide 19">
    <p:bg>
      <p:bgPr>
        <a:solidFill>
          <a:srgbClr val="F7FBFD"/>
        </a:solidFill>
      </p:bgPr>
    </p:bg>
    <p:spTree>
      <p:nvGrpSpPr>
        <p:cNvPr id="1" name=""/>
        <p:cNvGrpSpPr/>
        <p:nvPr/>
      </p:nvGrpSpPr>
      <p:grpSpPr>
        <a:xfrm>
          <a:off x="0" y="0"/>
          <a:ext cx="0" cy="0"/>
          <a:chOff x="0" y="0"/>
          <a:chExt cx="0" cy="0"/>
        </a:xfrm>
      </p:grpSpPr>
      <p:sp>
        <p:nvSpPr>
          <p:cNvPr id="2" name="Shape 0"/>
          <p:cNvSpPr/>
          <p:nvPr/>
        </p:nvSpPr>
        <p:spPr>
          <a:xfrm>
            <a:off x="0" y="0"/>
            <a:ext cx="12191695" cy="164592"/>
          </a:xfrm>
          <a:prstGeom prst="rect">
            <a:avLst/>
          </a:prstGeom>
          <a:solidFill>
            <a:srgbClr val="0068B7"/>
          </a:solidFill>
          <a:ln w="12700">
            <a:solidFill>
              <a:srgbClr val="0068B7"/>
            </a:solidFill>
            <a:prstDash val="solid"/>
          </a:ln>
        </p:spPr>
      </p:sp>
      <p:sp>
        <p:nvSpPr>
          <p:cNvPr id="3" name="Shape 1"/>
          <p:cNvSpPr/>
          <p:nvPr/>
        </p:nvSpPr>
        <p:spPr>
          <a:xfrm>
            <a:off x="0" y="164592"/>
            <a:ext cx="146304" cy="6693408"/>
          </a:xfrm>
          <a:prstGeom prst="rect">
            <a:avLst/>
          </a:prstGeom>
          <a:solidFill>
            <a:srgbClr val="2F8A28"/>
          </a:solidFill>
          <a:ln w="12700">
            <a:solidFill>
              <a:srgbClr val="2F8A28"/>
            </a:solidFill>
            <a:prstDash val="solid"/>
          </a:ln>
        </p:spPr>
      </p:sp>
      <p:sp>
        <p:nvSpPr>
          <p:cNvPr id="4" name="Text 2"/>
          <p:cNvSpPr/>
          <p:nvPr/>
        </p:nvSpPr>
        <p:spPr>
          <a:xfrm>
            <a:off x="502920" y="292608"/>
            <a:ext cx="10149840" cy="256032"/>
          </a:xfrm>
          <a:prstGeom prst="rect">
            <a:avLst/>
          </a:prstGeom>
          <a:noFill/>
          <a:ln/>
        </p:spPr>
        <p:txBody>
          <a:bodyPr wrap="square" lIns="0" tIns="0" rIns="0" bIns="0" rtlCol="0" anchor="ctr"/>
          <a:lstStyle/>
          <a:p>
            <a:pPr indent="0" marL="0">
              <a:buNone/>
            </a:pPr>
            <a:r>
              <a:rPr lang="en-US" sz="900" b="1" dirty="0">
                <a:solidFill>
                  <a:srgbClr val="5F7181"/>
                </a:solidFill>
                <a:latin typeface="Aptos" pitchFamily="34" charset="0"/>
                <a:ea typeface="Aptos" pitchFamily="34" charset="-122"/>
                <a:cs typeface="Aptos" pitchFamily="34" charset="-120"/>
              </a:rPr>
              <a:t>AI Governance Board Chair Training</a:t>
            </a:r>
            <a:endParaRPr lang="en-US" sz="900" dirty="0"/>
          </a:p>
        </p:txBody>
      </p:sp>
      <p:sp>
        <p:nvSpPr>
          <p:cNvPr id="5" name="Text 3"/>
          <p:cNvSpPr/>
          <p:nvPr/>
        </p:nvSpPr>
        <p:spPr>
          <a:xfrm>
            <a:off x="502920" y="6537960"/>
            <a:ext cx="7772400" cy="201168"/>
          </a:xfrm>
          <a:prstGeom prst="rect">
            <a:avLst/>
          </a:prstGeom>
          <a:noFill/>
          <a:ln/>
        </p:spPr>
        <p:txBody>
          <a:bodyPr wrap="square" lIns="0" tIns="0" rIns="0" bIns="0" rtlCol="0" anchor="ctr"/>
          <a:lstStyle/>
          <a:p>
            <a:pPr indent="0" marL="0">
              <a:buNone/>
            </a:pPr>
            <a:r>
              <a:rPr lang="en-US" sz="800" dirty="0">
                <a:solidFill>
                  <a:srgbClr val="5F7181"/>
                </a:solidFill>
                <a:latin typeface="Aptos" pitchFamily="34" charset="0"/>
                <a:ea typeface="Aptos" pitchFamily="34" charset="-122"/>
                <a:cs typeface="Aptos" pitchFamily="34" charset="-120"/>
              </a:rPr>
              <a:t>AI Playbook and Toolkit for Public Health Departments</a:t>
            </a:r>
            <a:endParaRPr lang="en-US" sz="800" dirty="0"/>
          </a:p>
        </p:txBody>
      </p:sp>
      <p:sp>
        <p:nvSpPr>
          <p:cNvPr id="6" name="Text 4"/>
          <p:cNvSpPr/>
          <p:nvPr/>
        </p:nvSpPr>
        <p:spPr>
          <a:xfrm>
            <a:off x="9966960" y="6537960"/>
            <a:ext cx="1645920" cy="201168"/>
          </a:xfrm>
          <a:prstGeom prst="rect">
            <a:avLst/>
          </a:prstGeom>
          <a:noFill/>
          <a:ln/>
        </p:spPr>
        <p:txBody>
          <a:bodyPr wrap="square" lIns="0" tIns="0" rIns="0" bIns="0" rtlCol="0" anchor="ctr"/>
          <a:lstStyle/>
          <a:p>
            <a:pPr algn="r" indent="0" marL="0">
              <a:buNone/>
            </a:pPr>
            <a:r>
              <a:rPr lang="en-US" sz="800" dirty="0">
                <a:solidFill>
                  <a:srgbClr val="5F7181"/>
                </a:solidFill>
                <a:latin typeface="Aptos" pitchFamily="34" charset="0"/>
                <a:ea typeface="Aptos" pitchFamily="34" charset="-122"/>
                <a:cs typeface="Aptos" pitchFamily="34" charset="-120"/>
              </a:rPr>
              <a:t>Â© Paula Soper</a:t>
            </a:r>
            <a:endParaRPr lang="en-US" sz="800" dirty="0"/>
          </a:p>
        </p:txBody>
      </p:sp>
      <p:sp>
        <p:nvSpPr>
          <p:cNvPr id="7" name="Text 5"/>
          <p:cNvSpPr/>
          <p:nvPr/>
        </p:nvSpPr>
        <p:spPr>
          <a:xfrm>
            <a:off x="11137392" y="6510528"/>
            <a:ext cx="411480" cy="201168"/>
          </a:xfrm>
          <a:prstGeom prst="rect">
            <a:avLst/>
          </a:prstGeom>
          <a:noFill/>
          <a:ln/>
        </p:spPr>
        <p:txBody>
          <a:bodyPr wrap="square" lIns="0" tIns="0" rIns="0" bIns="0" rtlCol="0" anchor="ctr"/>
          <a:lstStyle/>
          <a:p>
            <a:pPr algn="r" indent="0" marL="0">
              <a:buNone/>
            </a:pPr>
            <a:r>
              <a:rPr lang="en-US" sz="900" dirty="0">
                <a:solidFill>
                  <a:srgbClr val="5F7181"/>
                </a:solidFill>
                <a:latin typeface="Aptos" pitchFamily="34" charset="0"/>
                <a:ea typeface="Aptos" pitchFamily="34" charset="-122"/>
                <a:cs typeface="Aptos" pitchFamily="34" charset="-120"/>
              </a:rPr>
              <a:t>19</a:t>
            </a:r>
            <a:endParaRPr lang="en-US" sz="900" dirty="0"/>
          </a:p>
        </p:txBody>
      </p:sp>
      <p:sp>
        <p:nvSpPr>
          <p:cNvPr id="8" name="Shape 6"/>
          <p:cNvSpPr/>
          <p:nvPr/>
        </p:nvSpPr>
        <p:spPr>
          <a:xfrm>
            <a:off x="640080" y="658368"/>
            <a:ext cx="420624" cy="420624"/>
          </a:xfrm>
          <a:prstGeom prst="ellipse">
            <a:avLst/>
          </a:prstGeom>
          <a:solidFill>
            <a:srgbClr val="0068B7"/>
          </a:solidFill>
          <a:ln w="12700">
            <a:solidFill>
              <a:srgbClr val="0068B7"/>
            </a:solidFill>
            <a:prstDash val="solid"/>
          </a:ln>
        </p:spPr>
      </p:sp>
      <p:sp>
        <p:nvSpPr>
          <p:cNvPr id="9" name="Text 7"/>
          <p:cNvSpPr/>
          <p:nvPr/>
        </p:nvSpPr>
        <p:spPr>
          <a:xfrm>
            <a:off x="640080" y="731520"/>
            <a:ext cx="420624" cy="164592"/>
          </a:xfrm>
          <a:prstGeom prst="rect">
            <a:avLst/>
          </a:prstGeom>
          <a:noFill/>
          <a:ln/>
        </p:spPr>
        <p:txBody>
          <a:bodyPr wrap="square" lIns="0" tIns="0" rIns="0" bIns="0" rtlCol="0" anchor="ctr"/>
          <a:lstStyle/>
          <a:p>
            <a:pPr algn="ctr" indent="0" marL="0">
              <a:buNone/>
            </a:pPr>
            <a:r>
              <a:rPr lang="en-US" sz="1100" b="1" dirty="0">
                <a:solidFill>
                  <a:srgbClr val="FFFFFF"/>
                </a:solidFill>
                <a:latin typeface="Aptos" pitchFamily="34" charset="0"/>
                <a:ea typeface="Aptos" pitchFamily="34" charset="-122"/>
                <a:cs typeface="Aptos" pitchFamily="34" charset="-120"/>
              </a:rPr>
              <a:t>13</a:t>
            </a:r>
            <a:endParaRPr lang="en-US" sz="1100" dirty="0"/>
          </a:p>
        </p:txBody>
      </p:sp>
      <p:sp>
        <p:nvSpPr>
          <p:cNvPr id="10" name="Text 8"/>
          <p:cNvSpPr/>
          <p:nvPr/>
        </p:nvSpPr>
        <p:spPr>
          <a:xfrm>
            <a:off x="640080" y="621792"/>
            <a:ext cx="10881360" cy="713232"/>
          </a:xfrm>
          <a:prstGeom prst="rect">
            <a:avLst/>
          </a:prstGeom>
          <a:noFill/>
          <a:ln/>
        </p:spPr>
        <p:txBody>
          <a:bodyPr wrap="square" lIns="0" tIns="0" rIns="0" bIns="0" rtlCol="0" anchor="ctr">
            <a:normAutofit/>
          </a:bodyPr>
          <a:lstStyle/>
          <a:p>
            <a:pPr indent="0" marL="0">
              <a:buNone/>
            </a:pPr>
            <a:r>
              <a:rPr lang="en-US" sz="3400" b="1" dirty="0">
                <a:solidFill>
                  <a:srgbClr val="003A63"/>
                </a:solidFill>
                <a:latin typeface="Aptos Display" pitchFamily="34" charset="0"/>
                <a:ea typeface="Aptos Display" pitchFamily="34" charset="-122"/>
                <a:cs typeface="Aptos Display" pitchFamily="34" charset="-120"/>
              </a:rPr>
              <a:t>Expected Assignment</a:t>
            </a:r>
            <a:endParaRPr lang="en-US" sz="3400" dirty="0"/>
          </a:p>
        </p:txBody>
      </p:sp>
      <p:sp>
        <p:nvSpPr>
          <p:cNvPr id="11" name="Text 9"/>
          <p:cNvSpPr/>
          <p:nvPr/>
        </p:nvSpPr>
        <p:spPr>
          <a:xfrm>
            <a:off x="868680" y="1508760"/>
            <a:ext cx="6537960" cy="4160520"/>
          </a:xfrm>
          <a:prstGeom prst="rect">
            <a:avLst/>
          </a:prstGeom>
          <a:noFill/>
          <a:ln/>
        </p:spPr>
        <p:txBody>
          <a:bodyPr wrap="square" lIns="635" tIns="635" rIns="635" bIns="635" rtlCol="0" anchor="t">
            <a:normAutofit/>
          </a:bodyPr>
          <a:lstStyle/>
          <a:p>
            <a:r>
              <a:rPr lang="en-US" sz="2100" dirty="0">
                <a:solidFill>
                  <a:srgbClr val="17364A"/>
                </a:solidFill>
                <a:latin typeface="Aptos" pitchFamily="34" charset="0"/>
                <a:ea typeface="Aptos" pitchFamily="34" charset="-122"/>
                <a:cs typeface="Aptos" pitchFamily="34" charset="-120"/>
              </a:rPr>
              <a:t>AI Governance Board Chair Training artifact</a:t>
            </a:r>
            <a:endParaRPr lang="en-US" sz="2100" dirty="0"/>
          </a:p>
          <a:p>
            <a:r>
              <a:rPr lang="en-US" sz="2100" dirty="0">
                <a:solidFill>
                  <a:srgbClr val="17364A"/>
                </a:solidFill>
                <a:latin typeface="Aptos" pitchFamily="34" charset="0"/>
                <a:ea typeface="Aptos" pitchFamily="34" charset="-122"/>
                <a:cs typeface="Aptos" pitchFamily="34" charset="-120"/>
              </a:rPr>
              <a:t>Role and responsibility table</a:t>
            </a:r>
            <a:endParaRPr lang="en-US" sz="2100" dirty="0"/>
          </a:p>
          <a:p>
            <a:r>
              <a:rPr lang="en-US" sz="2100" dirty="0">
                <a:solidFill>
                  <a:srgbClr val="17364A"/>
                </a:solidFill>
                <a:latin typeface="Aptos" pitchFamily="34" charset="0"/>
                <a:ea typeface="Aptos" pitchFamily="34" charset="-122"/>
                <a:cs typeface="Aptos" pitchFamily="34" charset="-120"/>
              </a:rPr>
              <a:t>Risk and safeguard summary</a:t>
            </a:r>
            <a:endParaRPr lang="en-US" sz="2100" dirty="0"/>
          </a:p>
        </p:txBody>
      </p:sp>
      <p:sp>
        <p:nvSpPr>
          <p:cNvPr id="12" name="Shape 10"/>
          <p:cNvSpPr/>
          <p:nvPr/>
        </p:nvSpPr>
        <p:spPr>
          <a:xfrm>
            <a:off x="7909560" y="1417320"/>
            <a:ext cx="3154680" cy="1828800"/>
          </a:xfrm>
          <a:prstGeom prst="roundRect">
            <a:avLst>
              <a:gd name="adj" fmla="val 6000"/>
            </a:avLst>
          </a:prstGeom>
          <a:solidFill>
            <a:srgbClr val="EEF8ED"/>
          </a:solidFill>
          <a:ln w="12700">
            <a:solidFill>
              <a:srgbClr val="B9D7E6"/>
            </a:solidFill>
            <a:prstDash val="solid"/>
          </a:ln>
        </p:spPr>
      </p:sp>
      <p:sp>
        <p:nvSpPr>
          <p:cNvPr id="13" name="Text 11"/>
          <p:cNvSpPr/>
          <p:nvPr/>
        </p:nvSpPr>
        <p:spPr>
          <a:xfrm>
            <a:off x="8074152" y="1563624"/>
            <a:ext cx="282549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Key idea</a:t>
            </a:r>
            <a:endParaRPr lang="en-US" sz="1300" dirty="0"/>
          </a:p>
        </p:txBody>
      </p:sp>
      <p:sp>
        <p:nvSpPr>
          <p:cNvPr id="14" name="Text 12"/>
          <p:cNvSpPr/>
          <p:nvPr/>
        </p:nvSpPr>
        <p:spPr>
          <a:xfrm>
            <a:off x="8074152" y="1920240"/>
            <a:ext cx="2825496" cy="1188720"/>
          </a:xfrm>
          <a:prstGeom prst="rect">
            <a:avLst/>
          </a:prstGeom>
          <a:noFill/>
          <a:ln/>
        </p:spPr>
        <p:txBody>
          <a:bodyPr wrap="square" lIns="0" tIns="0" rIns="0" bIns="0" rtlCol="0" anchor="t">
            <a:normAutofit/>
          </a:bodyPr>
          <a:lstStyle/>
          <a:p>
            <a:pPr indent="0" marL="0">
              <a:buNone/>
            </a:pPr>
            <a:r>
              <a:rPr lang="en-US" sz="1550" dirty="0">
                <a:solidFill>
                  <a:srgbClr val="17364A"/>
                </a:solidFill>
                <a:latin typeface="Aptos" pitchFamily="34" charset="0"/>
                <a:ea typeface="Aptos" pitchFamily="34" charset="-122"/>
                <a:cs typeface="Aptos" pitchFamily="34" charset="-120"/>
              </a:rPr>
              <a:t>AI Governance Board Chair Training artifact</a:t>
            </a:r>
            <a:endParaRPr lang="en-US" sz="1550" dirty="0"/>
          </a:p>
        </p:txBody>
      </p:sp>
      <p:sp>
        <p:nvSpPr>
          <p:cNvPr id="15" name="Shape 13"/>
          <p:cNvSpPr/>
          <p:nvPr/>
        </p:nvSpPr>
        <p:spPr>
          <a:xfrm>
            <a:off x="7909560" y="3520440"/>
            <a:ext cx="3154680" cy="1737360"/>
          </a:xfrm>
          <a:prstGeom prst="roundRect">
            <a:avLst>
              <a:gd name="adj" fmla="val 6316"/>
            </a:avLst>
          </a:prstGeom>
          <a:solidFill>
            <a:srgbClr val="EAF6F8"/>
          </a:solidFill>
          <a:ln w="12700">
            <a:solidFill>
              <a:srgbClr val="B9D7E6"/>
            </a:solidFill>
            <a:prstDash val="solid"/>
          </a:ln>
        </p:spPr>
      </p:sp>
      <p:sp>
        <p:nvSpPr>
          <p:cNvPr id="16" name="Text 14"/>
          <p:cNvSpPr/>
          <p:nvPr/>
        </p:nvSpPr>
        <p:spPr>
          <a:xfrm>
            <a:off x="8074152" y="3666744"/>
            <a:ext cx="282549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Use this for</a:t>
            </a:r>
            <a:endParaRPr lang="en-US" sz="1300" dirty="0"/>
          </a:p>
        </p:txBody>
      </p:sp>
      <p:sp>
        <p:nvSpPr>
          <p:cNvPr id="17" name="Text 15"/>
          <p:cNvSpPr/>
          <p:nvPr/>
        </p:nvSpPr>
        <p:spPr>
          <a:xfrm>
            <a:off x="8074152" y="4023360"/>
            <a:ext cx="2825496" cy="1097280"/>
          </a:xfrm>
          <a:prstGeom prst="rect">
            <a:avLst/>
          </a:prstGeom>
          <a:noFill/>
          <a:ln/>
        </p:spPr>
        <p:txBody>
          <a:bodyPr wrap="square" lIns="0" tIns="0" rIns="0" bIns="0" rtlCol="0" anchor="t">
            <a:normAutofit/>
          </a:bodyPr>
          <a:lstStyle/>
          <a:p>
            <a:pPr indent="0" marL="0">
              <a:buNone/>
            </a:pPr>
            <a:r>
              <a:rPr lang="en-US" sz="1550" dirty="0">
                <a:solidFill>
                  <a:srgbClr val="17364A"/>
                </a:solidFill>
                <a:latin typeface="Aptos" pitchFamily="34" charset="0"/>
                <a:ea typeface="Aptos" pitchFamily="34" charset="-122"/>
                <a:cs typeface="Aptos" pitchFamily="34" charset="-120"/>
              </a:rPr>
              <a:t>Connect the concept to public health decisions, safeguards, documentation, or implementation work.</a:t>
            </a:r>
            <a:endParaRPr lang="en-US" sz="1550" dirty="0"/>
          </a:p>
        </p:txBody>
      </p:sp>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name="Slide 20">
    <p:bg>
      <p:bgPr>
        <a:solidFill>
          <a:srgbClr val="F7FBFD"/>
        </a:solidFill>
      </p:bgPr>
    </p:bg>
    <p:spTree>
      <p:nvGrpSpPr>
        <p:cNvPr id="1" name=""/>
        <p:cNvGrpSpPr/>
        <p:nvPr/>
      </p:nvGrpSpPr>
      <p:grpSpPr>
        <a:xfrm>
          <a:off x="0" y="0"/>
          <a:ext cx="0" cy="0"/>
          <a:chOff x="0" y="0"/>
          <a:chExt cx="0" cy="0"/>
        </a:xfrm>
      </p:grpSpPr>
      <p:sp>
        <p:nvSpPr>
          <p:cNvPr id="2" name="Shape 0"/>
          <p:cNvSpPr/>
          <p:nvPr/>
        </p:nvSpPr>
        <p:spPr>
          <a:xfrm>
            <a:off x="0" y="0"/>
            <a:ext cx="12191695" cy="164592"/>
          </a:xfrm>
          <a:prstGeom prst="rect">
            <a:avLst/>
          </a:prstGeom>
          <a:solidFill>
            <a:srgbClr val="0068B7"/>
          </a:solidFill>
          <a:ln w="12700">
            <a:solidFill>
              <a:srgbClr val="0068B7"/>
            </a:solidFill>
            <a:prstDash val="solid"/>
          </a:ln>
        </p:spPr>
      </p:sp>
      <p:sp>
        <p:nvSpPr>
          <p:cNvPr id="3" name="Shape 1"/>
          <p:cNvSpPr/>
          <p:nvPr/>
        </p:nvSpPr>
        <p:spPr>
          <a:xfrm>
            <a:off x="0" y="164592"/>
            <a:ext cx="146304" cy="6693408"/>
          </a:xfrm>
          <a:prstGeom prst="rect">
            <a:avLst/>
          </a:prstGeom>
          <a:solidFill>
            <a:srgbClr val="2F8A28"/>
          </a:solidFill>
          <a:ln w="12700">
            <a:solidFill>
              <a:srgbClr val="2F8A28"/>
            </a:solidFill>
            <a:prstDash val="solid"/>
          </a:ln>
        </p:spPr>
      </p:sp>
      <p:sp>
        <p:nvSpPr>
          <p:cNvPr id="4" name="Text 2"/>
          <p:cNvSpPr/>
          <p:nvPr/>
        </p:nvSpPr>
        <p:spPr>
          <a:xfrm>
            <a:off x="502920" y="292608"/>
            <a:ext cx="10149840" cy="256032"/>
          </a:xfrm>
          <a:prstGeom prst="rect">
            <a:avLst/>
          </a:prstGeom>
          <a:noFill/>
          <a:ln/>
        </p:spPr>
        <p:txBody>
          <a:bodyPr wrap="square" lIns="0" tIns="0" rIns="0" bIns="0" rtlCol="0" anchor="ctr"/>
          <a:lstStyle/>
          <a:p>
            <a:pPr indent="0" marL="0">
              <a:buNone/>
            </a:pPr>
            <a:r>
              <a:rPr lang="en-US" sz="900" b="1" dirty="0">
                <a:solidFill>
                  <a:srgbClr val="5F7181"/>
                </a:solidFill>
                <a:latin typeface="Aptos" pitchFamily="34" charset="0"/>
                <a:ea typeface="Aptos" pitchFamily="34" charset="-122"/>
                <a:cs typeface="Aptos" pitchFamily="34" charset="-120"/>
              </a:rPr>
              <a:t>AI Governance Board Chair Training</a:t>
            </a:r>
            <a:endParaRPr lang="en-US" sz="900" dirty="0"/>
          </a:p>
        </p:txBody>
      </p:sp>
      <p:sp>
        <p:nvSpPr>
          <p:cNvPr id="5" name="Text 3"/>
          <p:cNvSpPr/>
          <p:nvPr/>
        </p:nvSpPr>
        <p:spPr>
          <a:xfrm>
            <a:off x="502920" y="6537960"/>
            <a:ext cx="7772400" cy="201168"/>
          </a:xfrm>
          <a:prstGeom prst="rect">
            <a:avLst/>
          </a:prstGeom>
          <a:noFill/>
          <a:ln/>
        </p:spPr>
        <p:txBody>
          <a:bodyPr wrap="square" lIns="0" tIns="0" rIns="0" bIns="0" rtlCol="0" anchor="ctr"/>
          <a:lstStyle/>
          <a:p>
            <a:pPr indent="0" marL="0">
              <a:buNone/>
            </a:pPr>
            <a:r>
              <a:rPr lang="en-US" sz="800" dirty="0">
                <a:solidFill>
                  <a:srgbClr val="5F7181"/>
                </a:solidFill>
                <a:latin typeface="Aptos" pitchFamily="34" charset="0"/>
                <a:ea typeface="Aptos" pitchFamily="34" charset="-122"/>
                <a:cs typeface="Aptos" pitchFamily="34" charset="-120"/>
              </a:rPr>
              <a:t>AI Playbook and Toolkit for Public Health Departments</a:t>
            </a:r>
            <a:endParaRPr lang="en-US" sz="800" dirty="0"/>
          </a:p>
        </p:txBody>
      </p:sp>
      <p:sp>
        <p:nvSpPr>
          <p:cNvPr id="6" name="Text 4"/>
          <p:cNvSpPr/>
          <p:nvPr/>
        </p:nvSpPr>
        <p:spPr>
          <a:xfrm>
            <a:off x="9966960" y="6537960"/>
            <a:ext cx="1645920" cy="201168"/>
          </a:xfrm>
          <a:prstGeom prst="rect">
            <a:avLst/>
          </a:prstGeom>
          <a:noFill/>
          <a:ln/>
        </p:spPr>
        <p:txBody>
          <a:bodyPr wrap="square" lIns="0" tIns="0" rIns="0" bIns="0" rtlCol="0" anchor="ctr"/>
          <a:lstStyle/>
          <a:p>
            <a:pPr algn="r" indent="0" marL="0">
              <a:buNone/>
            </a:pPr>
            <a:r>
              <a:rPr lang="en-US" sz="800" dirty="0">
                <a:solidFill>
                  <a:srgbClr val="5F7181"/>
                </a:solidFill>
                <a:latin typeface="Aptos" pitchFamily="34" charset="0"/>
                <a:ea typeface="Aptos" pitchFamily="34" charset="-122"/>
                <a:cs typeface="Aptos" pitchFamily="34" charset="-120"/>
              </a:rPr>
              <a:t>Â© Paula Soper</a:t>
            </a:r>
            <a:endParaRPr lang="en-US" sz="800" dirty="0"/>
          </a:p>
        </p:txBody>
      </p:sp>
      <p:sp>
        <p:nvSpPr>
          <p:cNvPr id="7" name="Text 5"/>
          <p:cNvSpPr/>
          <p:nvPr/>
        </p:nvSpPr>
        <p:spPr>
          <a:xfrm>
            <a:off x="11137392" y="6510528"/>
            <a:ext cx="411480" cy="201168"/>
          </a:xfrm>
          <a:prstGeom prst="rect">
            <a:avLst/>
          </a:prstGeom>
          <a:noFill/>
          <a:ln/>
        </p:spPr>
        <p:txBody>
          <a:bodyPr wrap="square" lIns="0" tIns="0" rIns="0" bIns="0" rtlCol="0" anchor="ctr"/>
          <a:lstStyle/>
          <a:p>
            <a:pPr algn="r" indent="0" marL="0">
              <a:buNone/>
            </a:pPr>
            <a:r>
              <a:rPr lang="en-US" sz="900" dirty="0">
                <a:solidFill>
                  <a:srgbClr val="5F7181"/>
                </a:solidFill>
                <a:latin typeface="Aptos" pitchFamily="34" charset="0"/>
                <a:ea typeface="Aptos" pitchFamily="34" charset="-122"/>
                <a:cs typeface="Aptos" pitchFamily="34" charset="-120"/>
              </a:rPr>
              <a:t>20</a:t>
            </a:r>
            <a:endParaRPr lang="en-US" sz="900" dirty="0"/>
          </a:p>
        </p:txBody>
      </p:sp>
      <p:sp>
        <p:nvSpPr>
          <p:cNvPr id="8" name="Shape 6"/>
          <p:cNvSpPr/>
          <p:nvPr/>
        </p:nvSpPr>
        <p:spPr>
          <a:xfrm>
            <a:off x="640080" y="658368"/>
            <a:ext cx="420624" cy="420624"/>
          </a:xfrm>
          <a:prstGeom prst="ellipse">
            <a:avLst/>
          </a:prstGeom>
          <a:solidFill>
            <a:srgbClr val="0068B7"/>
          </a:solidFill>
          <a:ln w="12700">
            <a:solidFill>
              <a:srgbClr val="0068B7"/>
            </a:solidFill>
            <a:prstDash val="solid"/>
          </a:ln>
        </p:spPr>
      </p:sp>
      <p:sp>
        <p:nvSpPr>
          <p:cNvPr id="9" name="Text 7"/>
          <p:cNvSpPr/>
          <p:nvPr/>
        </p:nvSpPr>
        <p:spPr>
          <a:xfrm>
            <a:off x="640080" y="731520"/>
            <a:ext cx="420624" cy="164592"/>
          </a:xfrm>
          <a:prstGeom prst="rect">
            <a:avLst/>
          </a:prstGeom>
          <a:noFill/>
          <a:ln/>
        </p:spPr>
        <p:txBody>
          <a:bodyPr wrap="square" lIns="0" tIns="0" rIns="0" bIns="0" rtlCol="0" anchor="ctr"/>
          <a:lstStyle/>
          <a:p>
            <a:pPr algn="ctr" indent="0" marL="0">
              <a:buNone/>
            </a:pPr>
            <a:r>
              <a:rPr lang="en-US" sz="1100" b="1" dirty="0">
                <a:solidFill>
                  <a:srgbClr val="FFFFFF"/>
                </a:solidFill>
                <a:latin typeface="Aptos" pitchFamily="34" charset="0"/>
                <a:ea typeface="Aptos" pitchFamily="34" charset="-122"/>
                <a:cs typeface="Aptos" pitchFamily="34" charset="-120"/>
              </a:rPr>
              <a:t>14</a:t>
            </a:r>
            <a:endParaRPr lang="en-US" sz="1100" dirty="0"/>
          </a:p>
        </p:txBody>
      </p:sp>
      <p:sp>
        <p:nvSpPr>
          <p:cNvPr id="10" name="Text 8"/>
          <p:cNvSpPr/>
          <p:nvPr/>
        </p:nvSpPr>
        <p:spPr>
          <a:xfrm>
            <a:off x="640080" y="621792"/>
            <a:ext cx="10881360" cy="713232"/>
          </a:xfrm>
          <a:prstGeom prst="rect">
            <a:avLst/>
          </a:prstGeom>
          <a:noFill/>
          <a:ln/>
        </p:spPr>
        <p:txBody>
          <a:bodyPr wrap="square" lIns="0" tIns="0" rIns="0" bIns="0" rtlCol="0" anchor="ctr">
            <a:normAutofit/>
          </a:bodyPr>
          <a:lstStyle/>
          <a:p>
            <a:pPr indent="0" marL="0">
              <a:buNone/>
            </a:pPr>
            <a:r>
              <a:rPr lang="en-US" sz="3400" b="1" dirty="0">
                <a:solidFill>
                  <a:srgbClr val="003A63"/>
                </a:solidFill>
                <a:latin typeface="Aptos Display" pitchFamily="34" charset="0"/>
                <a:ea typeface="Aptos Display" pitchFamily="34" charset="-122"/>
                <a:cs typeface="Aptos Display" pitchFamily="34" charset="-120"/>
              </a:rPr>
              <a:t>Knowledge Check</a:t>
            </a:r>
            <a:endParaRPr lang="en-US" sz="3400" dirty="0"/>
          </a:p>
        </p:txBody>
      </p:sp>
      <p:sp>
        <p:nvSpPr>
          <p:cNvPr id="11" name="Text 9"/>
          <p:cNvSpPr/>
          <p:nvPr/>
        </p:nvSpPr>
        <p:spPr>
          <a:xfrm>
            <a:off x="868680" y="1508760"/>
            <a:ext cx="6537960" cy="4160520"/>
          </a:xfrm>
          <a:prstGeom prst="rect">
            <a:avLst/>
          </a:prstGeom>
          <a:noFill/>
          <a:ln/>
        </p:spPr>
        <p:txBody>
          <a:bodyPr wrap="square" lIns="635" tIns="635" rIns="635" bIns="635" rtlCol="0" anchor="t">
            <a:normAutofit/>
          </a:bodyPr>
          <a:lstStyle/>
          <a:p>
            <a:r>
              <a:rPr lang="en-US" sz="2100" dirty="0">
                <a:solidFill>
                  <a:srgbClr val="17364A"/>
                </a:solidFill>
                <a:latin typeface="Aptos" pitchFamily="34" charset="0"/>
                <a:ea typeface="Aptos" pitchFamily="34" charset="-122"/>
                <a:cs typeface="Aptos" pitchFamily="34" charset="-120"/>
              </a:rPr>
              <a:t>1. What is the strongest evidence that ai governance board chair training has been applied responsibly?</a:t>
            </a:r>
            <a:endParaRPr lang="en-US" sz="2100" dirty="0"/>
          </a:p>
          <a:p>
            <a:r>
              <a:rPr lang="en-US" sz="2100" dirty="0">
                <a:solidFill>
                  <a:srgbClr val="17364A"/>
                </a:solidFill>
                <a:latin typeface="Aptos" pitchFamily="34" charset="0"/>
                <a:ea typeface="Aptos" pitchFamily="34" charset="-122"/>
                <a:cs typeface="Aptos" pitchFamily="34" charset="-120"/>
              </a:rPr>
              <a:t>2. What is the best reason to assign an accountability owner?</a:t>
            </a:r>
            <a:endParaRPr lang="en-US" sz="2100" dirty="0"/>
          </a:p>
          <a:p>
            <a:r>
              <a:rPr lang="en-US" sz="2100" dirty="0">
                <a:solidFill>
                  <a:srgbClr val="17364A"/>
                </a:solidFill>
                <a:latin typeface="Aptos" pitchFamily="34" charset="0"/>
                <a:ea typeface="Aptos" pitchFamily="34" charset="-122"/>
                <a:cs typeface="Aptos" pitchFamily="34" charset="-120"/>
              </a:rPr>
              <a:t>3. When should an AI-supported workflow be escalated for review?</a:t>
            </a:r>
            <a:endParaRPr lang="en-US" sz="2100" dirty="0"/>
          </a:p>
        </p:txBody>
      </p:sp>
      <p:sp>
        <p:nvSpPr>
          <p:cNvPr id="12" name="Shape 10"/>
          <p:cNvSpPr/>
          <p:nvPr/>
        </p:nvSpPr>
        <p:spPr>
          <a:xfrm>
            <a:off x="7909560" y="1417320"/>
            <a:ext cx="3154680" cy="1828800"/>
          </a:xfrm>
          <a:prstGeom prst="roundRect">
            <a:avLst>
              <a:gd name="adj" fmla="val 6000"/>
            </a:avLst>
          </a:prstGeom>
          <a:solidFill>
            <a:srgbClr val="EEF8ED"/>
          </a:solidFill>
          <a:ln w="12700">
            <a:solidFill>
              <a:srgbClr val="B9D7E6"/>
            </a:solidFill>
            <a:prstDash val="solid"/>
          </a:ln>
        </p:spPr>
      </p:sp>
      <p:sp>
        <p:nvSpPr>
          <p:cNvPr id="13" name="Text 11"/>
          <p:cNvSpPr/>
          <p:nvPr/>
        </p:nvSpPr>
        <p:spPr>
          <a:xfrm>
            <a:off x="8074152" y="1563624"/>
            <a:ext cx="282549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Key idea</a:t>
            </a:r>
            <a:endParaRPr lang="en-US" sz="1300" dirty="0"/>
          </a:p>
        </p:txBody>
      </p:sp>
      <p:sp>
        <p:nvSpPr>
          <p:cNvPr id="14" name="Text 12"/>
          <p:cNvSpPr/>
          <p:nvPr/>
        </p:nvSpPr>
        <p:spPr>
          <a:xfrm>
            <a:off x="8074152" y="1920240"/>
            <a:ext cx="2825496" cy="1188720"/>
          </a:xfrm>
          <a:prstGeom prst="rect">
            <a:avLst/>
          </a:prstGeom>
          <a:noFill/>
          <a:ln/>
        </p:spPr>
        <p:txBody>
          <a:bodyPr wrap="square" lIns="0" tIns="0" rIns="0" bIns="0" rtlCol="0" anchor="t">
            <a:normAutofit/>
          </a:bodyPr>
          <a:lstStyle/>
          <a:p>
            <a:pPr indent="0" marL="0">
              <a:buNone/>
            </a:pPr>
            <a:r>
              <a:rPr lang="en-US" sz="1550" dirty="0">
                <a:solidFill>
                  <a:srgbClr val="17364A"/>
                </a:solidFill>
                <a:latin typeface="Aptos" pitchFamily="34" charset="0"/>
                <a:ea typeface="Aptos" pitchFamily="34" charset="-122"/>
                <a:cs typeface="Aptos" pitchFamily="34" charset="-120"/>
              </a:rPr>
              <a:t>1. What is the strongest evidence that ai governance board chair training has been applied responsibly?</a:t>
            </a:r>
            <a:endParaRPr lang="en-US" sz="1550" dirty="0"/>
          </a:p>
        </p:txBody>
      </p:sp>
      <p:sp>
        <p:nvSpPr>
          <p:cNvPr id="15" name="Shape 13"/>
          <p:cNvSpPr/>
          <p:nvPr/>
        </p:nvSpPr>
        <p:spPr>
          <a:xfrm>
            <a:off x="7909560" y="3520440"/>
            <a:ext cx="3154680" cy="1737360"/>
          </a:xfrm>
          <a:prstGeom prst="roundRect">
            <a:avLst>
              <a:gd name="adj" fmla="val 6316"/>
            </a:avLst>
          </a:prstGeom>
          <a:solidFill>
            <a:srgbClr val="EAF6F8"/>
          </a:solidFill>
          <a:ln w="12700">
            <a:solidFill>
              <a:srgbClr val="B9D7E6"/>
            </a:solidFill>
            <a:prstDash val="solid"/>
          </a:ln>
        </p:spPr>
      </p:sp>
      <p:sp>
        <p:nvSpPr>
          <p:cNvPr id="16" name="Text 14"/>
          <p:cNvSpPr/>
          <p:nvPr/>
        </p:nvSpPr>
        <p:spPr>
          <a:xfrm>
            <a:off x="8074152" y="3666744"/>
            <a:ext cx="282549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Use this for</a:t>
            </a:r>
            <a:endParaRPr lang="en-US" sz="1300" dirty="0"/>
          </a:p>
        </p:txBody>
      </p:sp>
      <p:sp>
        <p:nvSpPr>
          <p:cNvPr id="17" name="Text 15"/>
          <p:cNvSpPr/>
          <p:nvPr/>
        </p:nvSpPr>
        <p:spPr>
          <a:xfrm>
            <a:off x="8074152" y="4023360"/>
            <a:ext cx="2825496" cy="1097280"/>
          </a:xfrm>
          <a:prstGeom prst="rect">
            <a:avLst/>
          </a:prstGeom>
          <a:noFill/>
          <a:ln/>
        </p:spPr>
        <p:txBody>
          <a:bodyPr wrap="square" lIns="0" tIns="0" rIns="0" bIns="0" rtlCol="0" anchor="t">
            <a:normAutofit/>
          </a:bodyPr>
          <a:lstStyle/>
          <a:p>
            <a:pPr indent="0" marL="0">
              <a:buNone/>
            </a:pPr>
            <a:r>
              <a:rPr lang="en-US" sz="1550" dirty="0">
                <a:solidFill>
                  <a:srgbClr val="17364A"/>
                </a:solidFill>
                <a:latin typeface="Aptos" pitchFamily="34" charset="0"/>
                <a:ea typeface="Aptos" pitchFamily="34" charset="-122"/>
                <a:cs typeface="Aptos" pitchFamily="34" charset="-120"/>
              </a:rPr>
              <a:t>Connect the concept to public health decisions, safeguards, documentation, or implementation work.</a:t>
            </a:r>
            <a:endParaRPr lang="en-US" sz="1550" dirty="0"/>
          </a:p>
        </p:txBody>
      </p:sp>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name="Slide 21">
    <p:bg>
      <p:bgPr>
        <a:solidFill>
          <a:srgbClr val="F7FBFD"/>
        </a:solidFill>
      </p:bgPr>
    </p:bg>
    <p:spTree>
      <p:nvGrpSpPr>
        <p:cNvPr id="1" name=""/>
        <p:cNvGrpSpPr/>
        <p:nvPr/>
      </p:nvGrpSpPr>
      <p:grpSpPr>
        <a:xfrm>
          <a:off x="0" y="0"/>
          <a:ext cx="0" cy="0"/>
          <a:chOff x="0" y="0"/>
          <a:chExt cx="0" cy="0"/>
        </a:xfrm>
      </p:grpSpPr>
      <p:sp>
        <p:nvSpPr>
          <p:cNvPr id="2" name="Shape 0"/>
          <p:cNvSpPr/>
          <p:nvPr/>
        </p:nvSpPr>
        <p:spPr>
          <a:xfrm>
            <a:off x="0" y="0"/>
            <a:ext cx="12191695" cy="164592"/>
          </a:xfrm>
          <a:prstGeom prst="rect">
            <a:avLst/>
          </a:prstGeom>
          <a:solidFill>
            <a:srgbClr val="0068B7"/>
          </a:solidFill>
          <a:ln w="12700">
            <a:solidFill>
              <a:srgbClr val="0068B7"/>
            </a:solidFill>
            <a:prstDash val="solid"/>
          </a:ln>
        </p:spPr>
      </p:sp>
      <p:sp>
        <p:nvSpPr>
          <p:cNvPr id="3" name="Shape 1"/>
          <p:cNvSpPr/>
          <p:nvPr/>
        </p:nvSpPr>
        <p:spPr>
          <a:xfrm>
            <a:off x="0" y="164592"/>
            <a:ext cx="146304" cy="6693408"/>
          </a:xfrm>
          <a:prstGeom prst="rect">
            <a:avLst/>
          </a:prstGeom>
          <a:solidFill>
            <a:srgbClr val="2F8A28"/>
          </a:solidFill>
          <a:ln w="12700">
            <a:solidFill>
              <a:srgbClr val="2F8A28"/>
            </a:solidFill>
            <a:prstDash val="solid"/>
          </a:ln>
        </p:spPr>
      </p:sp>
      <p:sp>
        <p:nvSpPr>
          <p:cNvPr id="4" name="Text 2"/>
          <p:cNvSpPr/>
          <p:nvPr/>
        </p:nvSpPr>
        <p:spPr>
          <a:xfrm>
            <a:off x="502920" y="292608"/>
            <a:ext cx="10149840" cy="256032"/>
          </a:xfrm>
          <a:prstGeom prst="rect">
            <a:avLst/>
          </a:prstGeom>
          <a:noFill/>
          <a:ln/>
        </p:spPr>
        <p:txBody>
          <a:bodyPr wrap="square" lIns="0" tIns="0" rIns="0" bIns="0" rtlCol="0" anchor="ctr"/>
          <a:lstStyle/>
          <a:p>
            <a:pPr indent="0" marL="0">
              <a:buNone/>
            </a:pPr>
            <a:r>
              <a:rPr lang="en-US" sz="900" b="1" dirty="0">
                <a:solidFill>
                  <a:srgbClr val="5F7181"/>
                </a:solidFill>
                <a:latin typeface="Aptos" pitchFamily="34" charset="0"/>
                <a:ea typeface="Aptos" pitchFamily="34" charset="-122"/>
                <a:cs typeface="Aptos" pitchFamily="34" charset="-120"/>
              </a:rPr>
              <a:t>AI Governance Board Chair Training</a:t>
            </a:r>
            <a:endParaRPr lang="en-US" sz="900" dirty="0"/>
          </a:p>
        </p:txBody>
      </p:sp>
      <p:sp>
        <p:nvSpPr>
          <p:cNvPr id="5" name="Text 3"/>
          <p:cNvSpPr/>
          <p:nvPr/>
        </p:nvSpPr>
        <p:spPr>
          <a:xfrm>
            <a:off x="502920" y="6537960"/>
            <a:ext cx="7772400" cy="201168"/>
          </a:xfrm>
          <a:prstGeom prst="rect">
            <a:avLst/>
          </a:prstGeom>
          <a:noFill/>
          <a:ln/>
        </p:spPr>
        <p:txBody>
          <a:bodyPr wrap="square" lIns="0" tIns="0" rIns="0" bIns="0" rtlCol="0" anchor="ctr"/>
          <a:lstStyle/>
          <a:p>
            <a:pPr indent="0" marL="0">
              <a:buNone/>
            </a:pPr>
            <a:r>
              <a:rPr lang="en-US" sz="800" dirty="0">
                <a:solidFill>
                  <a:srgbClr val="5F7181"/>
                </a:solidFill>
                <a:latin typeface="Aptos" pitchFamily="34" charset="0"/>
                <a:ea typeface="Aptos" pitchFamily="34" charset="-122"/>
                <a:cs typeface="Aptos" pitchFamily="34" charset="-120"/>
              </a:rPr>
              <a:t>AI Playbook and Toolkit for Public Health Departments</a:t>
            </a:r>
            <a:endParaRPr lang="en-US" sz="800" dirty="0"/>
          </a:p>
        </p:txBody>
      </p:sp>
      <p:sp>
        <p:nvSpPr>
          <p:cNvPr id="6" name="Text 4"/>
          <p:cNvSpPr/>
          <p:nvPr/>
        </p:nvSpPr>
        <p:spPr>
          <a:xfrm>
            <a:off x="9966960" y="6537960"/>
            <a:ext cx="1645920" cy="201168"/>
          </a:xfrm>
          <a:prstGeom prst="rect">
            <a:avLst/>
          </a:prstGeom>
          <a:noFill/>
          <a:ln/>
        </p:spPr>
        <p:txBody>
          <a:bodyPr wrap="square" lIns="0" tIns="0" rIns="0" bIns="0" rtlCol="0" anchor="ctr"/>
          <a:lstStyle/>
          <a:p>
            <a:pPr algn="r" indent="0" marL="0">
              <a:buNone/>
            </a:pPr>
            <a:r>
              <a:rPr lang="en-US" sz="800" dirty="0">
                <a:solidFill>
                  <a:srgbClr val="5F7181"/>
                </a:solidFill>
                <a:latin typeface="Aptos" pitchFamily="34" charset="0"/>
                <a:ea typeface="Aptos" pitchFamily="34" charset="-122"/>
                <a:cs typeface="Aptos" pitchFamily="34" charset="-120"/>
              </a:rPr>
              <a:t>Â© Paula Soper</a:t>
            </a:r>
            <a:endParaRPr lang="en-US" sz="800" dirty="0"/>
          </a:p>
        </p:txBody>
      </p:sp>
      <p:sp>
        <p:nvSpPr>
          <p:cNvPr id="7" name="Text 5"/>
          <p:cNvSpPr/>
          <p:nvPr/>
        </p:nvSpPr>
        <p:spPr>
          <a:xfrm>
            <a:off x="11137392" y="6510528"/>
            <a:ext cx="411480" cy="201168"/>
          </a:xfrm>
          <a:prstGeom prst="rect">
            <a:avLst/>
          </a:prstGeom>
          <a:noFill/>
          <a:ln/>
        </p:spPr>
        <p:txBody>
          <a:bodyPr wrap="square" lIns="0" tIns="0" rIns="0" bIns="0" rtlCol="0" anchor="ctr"/>
          <a:lstStyle/>
          <a:p>
            <a:pPr algn="r" indent="0" marL="0">
              <a:buNone/>
            </a:pPr>
            <a:r>
              <a:rPr lang="en-US" sz="900" dirty="0">
                <a:solidFill>
                  <a:srgbClr val="5F7181"/>
                </a:solidFill>
                <a:latin typeface="Aptos" pitchFamily="34" charset="0"/>
                <a:ea typeface="Aptos" pitchFamily="34" charset="-122"/>
                <a:cs typeface="Aptos" pitchFamily="34" charset="-120"/>
              </a:rPr>
              <a:t>21</a:t>
            </a:r>
            <a:endParaRPr lang="en-US" sz="900" dirty="0"/>
          </a:p>
        </p:txBody>
      </p:sp>
      <p:sp>
        <p:nvSpPr>
          <p:cNvPr id="8" name="Shape 6"/>
          <p:cNvSpPr/>
          <p:nvPr/>
        </p:nvSpPr>
        <p:spPr>
          <a:xfrm>
            <a:off x="640080" y="658368"/>
            <a:ext cx="420624" cy="420624"/>
          </a:xfrm>
          <a:prstGeom prst="ellipse">
            <a:avLst/>
          </a:prstGeom>
          <a:solidFill>
            <a:srgbClr val="0068B7"/>
          </a:solidFill>
          <a:ln w="12700">
            <a:solidFill>
              <a:srgbClr val="0068B7"/>
            </a:solidFill>
            <a:prstDash val="solid"/>
          </a:ln>
        </p:spPr>
      </p:sp>
      <p:sp>
        <p:nvSpPr>
          <p:cNvPr id="9" name="Text 7"/>
          <p:cNvSpPr/>
          <p:nvPr/>
        </p:nvSpPr>
        <p:spPr>
          <a:xfrm>
            <a:off x="640080" y="731520"/>
            <a:ext cx="420624" cy="164592"/>
          </a:xfrm>
          <a:prstGeom prst="rect">
            <a:avLst/>
          </a:prstGeom>
          <a:noFill/>
          <a:ln/>
        </p:spPr>
        <p:txBody>
          <a:bodyPr wrap="square" lIns="0" tIns="0" rIns="0" bIns="0" rtlCol="0" anchor="ctr"/>
          <a:lstStyle/>
          <a:p>
            <a:pPr algn="ctr" indent="0" marL="0">
              <a:buNone/>
            </a:pPr>
            <a:r>
              <a:rPr lang="en-US" sz="1100" b="1" dirty="0">
                <a:solidFill>
                  <a:srgbClr val="FFFFFF"/>
                </a:solidFill>
                <a:latin typeface="Aptos" pitchFamily="34" charset="0"/>
                <a:ea typeface="Aptos" pitchFamily="34" charset="-122"/>
                <a:cs typeface="Aptos" pitchFamily="34" charset="-120"/>
              </a:rPr>
              <a:t>15</a:t>
            </a:r>
            <a:endParaRPr lang="en-US" sz="1100" dirty="0"/>
          </a:p>
        </p:txBody>
      </p:sp>
      <p:sp>
        <p:nvSpPr>
          <p:cNvPr id="10" name="Text 8"/>
          <p:cNvSpPr/>
          <p:nvPr/>
        </p:nvSpPr>
        <p:spPr>
          <a:xfrm>
            <a:off x="640080" y="621792"/>
            <a:ext cx="10881360" cy="713232"/>
          </a:xfrm>
          <a:prstGeom prst="rect">
            <a:avLst/>
          </a:prstGeom>
          <a:noFill/>
          <a:ln/>
        </p:spPr>
        <p:txBody>
          <a:bodyPr wrap="square" lIns="0" tIns="0" rIns="0" bIns="0" rtlCol="0" anchor="ctr">
            <a:normAutofit/>
          </a:bodyPr>
          <a:lstStyle/>
          <a:p>
            <a:pPr indent="0" marL="0">
              <a:buNone/>
            </a:pPr>
            <a:r>
              <a:rPr lang="en-US" sz="3400" b="1" dirty="0">
                <a:solidFill>
                  <a:srgbClr val="003A63"/>
                </a:solidFill>
                <a:latin typeface="Aptos Display" pitchFamily="34" charset="0"/>
                <a:ea typeface="Aptos Display" pitchFamily="34" charset="-122"/>
                <a:cs typeface="Aptos Display" pitchFamily="34" charset="-120"/>
              </a:rPr>
              <a:t>References and Resources</a:t>
            </a:r>
            <a:endParaRPr lang="en-US" sz="3400" dirty="0"/>
          </a:p>
        </p:txBody>
      </p:sp>
      <p:sp>
        <p:nvSpPr>
          <p:cNvPr id="11" name="Text 9"/>
          <p:cNvSpPr/>
          <p:nvPr/>
        </p:nvSpPr>
        <p:spPr>
          <a:xfrm>
            <a:off x="868680" y="1508760"/>
            <a:ext cx="6537960" cy="4160520"/>
          </a:xfrm>
          <a:prstGeom prst="rect">
            <a:avLst/>
          </a:prstGeom>
          <a:noFill/>
          <a:ln/>
        </p:spPr>
        <p:txBody>
          <a:bodyPr wrap="square" lIns="635" tIns="635" rIns="635" bIns="635" rtlCol="0" anchor="t">
            <a:normAutofit/>
          </a:bodyPr>
          <a:lstStyle/>
          <a:p>
            <a:r>
              <a:rPr lang="en-US" sz="2100" dirty="0">
                <a:solidFill>
                  <a:srgbClr val="17364A"/>
                </a:solidFill>
                <a:latin typeface="Aptos" pitchFamily="34" charset="0"/>
                <a:ea typeface="Aptos" pitchFamily="34" charset="-122"/>
                <a:cs typeface="Aptos" pitchFamily="34" charset="-120"/>
              </a:rPr>
              <a:t>CDC Public Health Data Strategy and Data Modernization resources:.</a:t>
            </a:r>
            <a:endParaRPr lang="en-US" sz="2100" dirty="0"/>
          </a:p>
          <a:p>
            <a:r>
              <a:rPr lang="en-US" sz="2100" dirty="0">
                <a:solidFill>
                  <a:srgbClr val="17364A"/>
                </a:solidFill>
                <a:latin typeface="Aptos" pitchFamily="34" charset="0"/>
                <a:ea typeface="Aptos" pitchFamily="34" charset="-122"/>
                <a:cs typeface="Aptos" pitchFamily="34" charset="-120"/>
              </a:rPr>
              <a:t>NIST Artificial Intelligence Risk Management Framework and NIST Generative AI Profile:.</a:t>
            </a:r>
            <a:endParaRPr lang="en-US" sz="2100" dirty="0"/>
          </a:p>
          <a:p>
            <a:r>
              <a:rPr lang="en-US" sz="2100" dirty="0">
                <a:solidFill>
                  <a:srgbClr val="17364A"/>
                </a:solidFill>
                <a:latin typeface="Aptos" pitchFamily="34" charset="0"/>
                <a:ea typeface="Aptos" pitchFamily="34" charset="-122"/>
                <a:cs typeface="Aptos" pitchFamily="34" charset="-120"/>
              </a:rPr>
              <a:t>WHO Ethics and Governance of Artificial Intelligence for Health guidance:.</a:t>
            </a:r>
            <a:endParaRPr lang="en-US" sz="2100" dirty="0"/>
          </a:p>
        </p:txBody>
      </p:sp>
      <p:sp>
        <p:nvSpPr>
          <p:cNvPr id="12" name="Shape 10"/>
          <p:cNvSpPr/>
          <p:nvPr/>
        </p:nvSpPr>
        <p:spPr>
          <a:xfrm>
            <a:off x="7909560" y="1417320"/>
            <a:ext cx="3154680" cy="1828800"/>
          </a:xfrm>
          <a:prstGeom prst="roundRect">
            <a:avLst>
              <a:gd name="adj" fmla="val 6000"/>
            </a:avLst>
          </a:prstGeom>
          <a:solidFill>
            <a:srgbClr val="EEF8ED"/>
          </a:solidFill>
          <a:ln w="12700">
            <a:solidFill>
              <a:srgbClr val="B9D7E6"/>
            </a:solidFill>
            <a:prstDash val="solid"/>
          </a:ln>
        </p:spPr>
      </p:sp>
      <p:sp>
        <p:nvSpPr>
          <p:cNvPr id="13" name="Text 11"/>
          <p:cNvSpPr/>
          <p:nvPr/>
        </p:nvSpPr>
        <p:spPr>
          <a:xfrm>
            <a:off x="8074152" y="1563624"/>
            <a:ext cx="282549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Key idea</a:t>
            </a:r>
            <a:endParaRPr lang="en-US" sz="1300" dirty="0"/>
          </a:p>
        </p:txBody>
      </p:sp>
      <p:sp>
        <p:nvSpPr>
          <p:cNvPr id="14" name="Text 12"/>
          <p:cNvSpPr/>
          <p:nvPr/>
        </p:nvSpPr>
        <p:spPr>
          <a:xfrm>
            <a:off x="8074152" y="1920240"/>
            <a:ext cx="2825496" cy="1188720"/>
          </a:xfrm>
          <a:prstGeom prst="rect">
            <a:avLst/>
          </a:prstGeom>
          <a:noFill/>
          <a:ln/>
        </p:spPr>
        <p:txBody>
          <a:bodyPr wrap="square" lIns="0" tIns="0" rIns="0" bIns="0" rtlCol="0" anchor="t">
            <a:normAutofit/>
          </a:bodyPr>
          <a:lstStyle/>
          <a:p>
            <a:pPr indent="0" marL="0">
              <a:buNone/>
            </a:pPr>
            <a:r>
              <a:rPr lang="en-US" sz="1550" dirty="0">
                <a:solidFill>
                  <a:srgbClr val="17364A"/>
                </a:solidFill>
                <a:latin typeface="Aptos" pitchFamily="34" charset="0"/>
                <a:ea typeface="Aptos" pitchFamily="34" charset="-122"/>
                <a:cs typeface="Aptos" pitchFamily="34" charset="-120"/>
              </a:rPr>
              <a:t>CDC Public Health Data Strategy and Data Modernization resources:.</a:t>
            </a:r>
            <a:endParaRPr lang="en-US" sz="1550" dirty="0"/>
          </a:p>
        </p:txBody>
      </p:sp>
      <p:sp>
        <p:nvSpPr>
          <p:cNvPr id="15" name="Shape 13"/>
          <p:cNvSpPr/>
          <p:nvPr/>
        </p:nvSpPr>
        <p:spPr>
          <a:xfrm>
            <a:off x="7909560" y="3520440"/>
            <a:ext cx="3154680" cy="1737360"/>
          </a:xfrm>
          <a:prstGeom prst="roundRect">
            <a:avLst>
              <a:gd name="adj" fmla="val 6316"/>
            </a:avLst>
          </a:prstGeom>
          <a:solidFill>
            <a:srgbClr val="EAF6F8"/>
          </a:solidFill>
          <a:ln w="12700">
            <a:solidFill>
              <a:srgbClr val="B9D7E6"/>
            </a:solidFill>
            <a:prstDash val="solid"/>
          </a:ln>
        </p:spPr>
      </p:sp>
      <p:sp>
        <p:nvSpPr>
          <p:cNvPr id="16" name="Text 14"/>
          <p:cNvSpPr/>
          <p:nvPr/>
        </p:nvSpPr>
        <p:spPr>
          <a:xfrm>
            <a:off x="8074152" y="3666744"/>
            <a:ext cx="282549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Use this for</a:t>
            </a:r>
            <a:endParaRPr lang="en-US" sz="1300" dirty="0"/>
          </a:p>
        </p:txBody>
      </p:sp>
      <p:sp>
        <p:nvSpPr>
          <p:cNvPr id="17" name="Text 15"/>
          <p:cNvSpPr/>
          <p:nvPr/>
        </p:nvSpPr>
        <p:spPr>
          <a:xfrm>
            <a:off x="8074152" y="4023360"/>
            <a:ext cx="2825496" cy="1097280"/>
          </a:xfrm>
          <a:prstGeom prst="rect">
            <a:avLst/>
          </a:prstGeom>
          <a:noFill/>
          <a:ln/>
        </p:spPr>
        <p:txBody>
          <a:bodyPr wrap="square" lIns="0" tIns="0" rIns="0" bIns="0" rtlCol="0" anchor="t">
            <a:normAutofit/>
          </a:bodyPr>
          <a:lstStyle/>
          <a:p>
            <a:pPr indent="0" marL="0">
              <a:buNone/>
            </a:pPr>
            <a:r>
              <a:rPr lang="en-US" sz="1550" dirty="0">
                <a:solidFill>
                  <a:srgbClr val="17364A"/>
                </a:solidFill>
                <a:latin typeface="Aptos" pitchFamily="34" charset="0"/>
                <a:ea typeface="Aptos" pitchFamily="34" charset="-122"/>
                <a:cs typeface="Aptos" pitchFamily="34" charset="-120"/>
              </a:rPr>
              <a:t>Connect the concept to public health decisions, safeguards, documentation, or implementation work.</a:t>
            </a:r>
            <a:endParaRPr lang="en-US" sz="1550" dirty="0"/>
          </a:p>
        </p:txBody>
      </p:sp>
    </p:spTree>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name="Slide 22">
    <p:bg>
      <p:bgPr>
        <a:solidFill>
          <a:srgbClr val="F7FBFD"/>
        </a:solidFill>
      </p:bgPr>
    </p:bg>
    <p:spTree>
      <p:nvGrpSpPr>
        <p:cNvPr id="1" name=""/>
        <p:cNvGrpSpPr/>
        <p:nvPr/>
      </p:nvGrpSpPr>
      <p:grpSpPr>
        <a:xfrm>
          <a:off x="0" y="0"/>
          <a:ext cx="0" cy="0"/>
          <a:chOff x="0" y="0"/>
          <a:chExt cx="0" cy="0"/>
        </a:xfrm>
      </p:grpSpPr>
      <p:sp>
        <p:nvSpPr>
          <p:cNvPr id="2" name="Shape 0"/>
          <p:cNvSpPr/>
          <p:nvPr/>
        </p:nvSpPr>
        <p:spPr>
          <a:xfrm>
            <a:off x="0" y="0"/>
            <a:ext cx="12191695" cy="164592"/>
          </a:xfrm>
          <a:prstGeom prst="rect">
            <a:avLst/>
          </a:prstGeom>
          <a:solidFill>
            <a:srgbClr val="0068B7"/>
          </a:solidFill>
          <a:ln w="12700">
            <a:solidFill>
              <a:srgbClr val="0068B7"/>
            </a:solidFill>
            <a:prstDash val="solid"/>
          </a:ln>
        </p:spPr>
      </p:sp>
      <p:sp>
        <p:nvSpPr>
          <p:cNvPr id="3" name="Shape 1"/>
          <p:cNvSpPr/>
          <p:nvPr/>
        </p:nvSpPr>
        <p:spPr>
          <a:xfrm>
            <a:off x="0" y="164592"/>
            <a:ext cx="146304" cy="6693408"/>
          </a:xfrm>
          <a:prstGeom prst="rect">
            <a:avLst/>
          </a:prstGeom>
          <a:solidFill>
            <a:srgbClr val="2F8A28"/>
          </a:solidFill>
          <a:ln w="12700">
            <a:solidFill>
              <a:srgbClr val="2F8A28"/>
            </a:solidFill>
            <a:prstDash val="solid"/>
          </a:ln>
        </p:spPr>
      </p:sp>
      <p:sp>
        <p:nvSpPr>
          <p:cNvPr id="4" name="Text 2"/>
          <p:cNvSpPr/>
          <p:nvPr/>
        </p:nvSpPr>
        <p:spPr>
          <a:xfrm>
            <a:off x="502920" y="292608"/>
            <a:ext cx="10149840" cy="256032"/>
          </a:xfrm>
          <a:prstGeom prst="rect">
            <a:avLst/>
          </a:prstGeom>
          <a:noFill/>
          <a:ln/>
        </p:spPr>
        <p:txBody>
          <a:bodyPr wrap="square" lIns="0" tIns="0" rIns="0" bIns="0" rtlCol="0" anchor="ctr"/>
          <a:lstStyle/>
          <a:p>
            <a:pPr indent="0" marL="0">
              <a:buNone/>
            </a:pPr>
            <a:r>
              <a:rPr lang="en-US" sz="900" b="1" dirty="0">
                <a:solidFill>
                  <a:srgbClr val="5F7181"/>
                </a:solidFill>
                <a:latin typeface="Aptos" pitchFamily="34" charset="0"/>
                <a:ea typeface="Aptos" pitchFamily="34" charset="-122"/>
                <a:cs typeface="Aptos" pitchFamily="34" charset="-120"/>
              </a:rPr>
              <a:t>AI Governance Board Chair Training</a:t>
            </a:r>
            <a:endParaRPr lang="en-US" sz="900" dirty="0"/>
          </a:p>
        </p:txBody>
      </p:sp>
      <p:sp>
        <p:nvSpPr>
          <p:cNvPr id="5" name="Text 3"/>
          <p:cNvSpPr/>
          <p:nvPr/>
        </p:nvSpPr>
        <p:spPr>
          <a:xfrm>
            <a:off x="502920" y="6537960"/>
            <a:ext cx="7772400" cy="201168"/>
          </a:xfrm>
          <a:prstGeom prst="rect">
            <a:avLst/>
          </a:prstGeom>
          <a:noFill/>
          <a:ln/>
        </p:spPr>
        <p:txBody>
          <a:bodyPr wrap="square" lIns="0" tIns="0" rIns="0" bIns="0" rtlCol="0" anchor="ctr"/>
          <a:lstStyle/>
          <a:p>
            <a:pPr indent="0" marL="0">
              <a:buNone/>
            </a:pPr>
            <a:r>
              <a:rPr lang="en-US" sz="800" dirty="0">
                <a:solidFill>
                  <a:srgbClr val="5F7181"/>
                </a:solidFill>
                <a:latin typeface="Aptos" pitchFamily="34" charset="0"/>
                <a:ea typeface="Aptos" pitchFamily="34" charset="-122"/>
                <a:cs typeface="Aptos" pitchFamily="34" charset="-120"/>
              </a:rPr>
              <a:t>AI Playbook and Toolkit for Public Health Departments</a:t>
            </a:r>
            <a:endParaRPr lang="en-US" sz="800" dirty="0"/>
          </a:p>
        </p:txBody>
      </p:sp>
      <p:sp>
        <p:nvSpPr>
          <p:cNvPr id="6" name="Text 4"/>
          <p:cNvSpPr/>
          <p:nvPr/>
        </p:nvSpPr>
        <p:spPr>
          <a:xfrm>
            <a:off x="9966960" y="6537960"/>
            <a:ext cx="1645920" cy="201168"/>
          </a:xfrm>
          <a:prstGeom prst="rect">
            <a:avLst/>
          </a:prstGeom>
          <a:noFill/>
          <a:ln/>
        </p:spPr>
        <p:txBody>
          <a:bodyPr wrap="square" lIns="0" tIns="0" rIns="0" bIns="0" rtlCol="0" anchor="ctr"/>
          <a:lstStyle/>
          <a:p>
            <a:pPr algn="r" indent="0" marL="0">
              <a:buNone/>
            </a:pPr>
            <a:r>
              <a:rPr lang="en-US" sz="800" dirty="0">
                <a:solidFill>
                  <a:srgbClr val="5F7181"/>
                </a:solidFill>
                <a:latin typeface="Aptos" pitchFamily="34" charset="0"/>
                <a:ea typeface="Aptos" pitchFamily="34" charset="-122"/>
                <a:cs typeface="Aptos" pitchFamily="34" charset="-120"/>
              </a:rPr>
              <a:t>Â© Paula Soper</a:t>
            </a:r>
            <a:endParaRPr lang="en-US" sz="800" dirty="0"/>
          </a:p>
        </p:txBody>
      </p:sp>
      <p:sp>
        <p:nvSpPr>
          <p:cNvPr id="7" name="Text 5"/>
          <p:cNvSpPr/>
          <p:nvPr/>
        </p:nvSpPr>
        <p:spPr>
          <a:xfrm>
            <a:off x="11137392" y="6510528"/>
            <a:ext cx="411480" cy="201168"/>
          </a:xfrm>
          <a:prstGeom prst="rect">
            <a:avLst/>
          </a:prstGeom>
          <a:noFill/>
          <a:ln/>
        </p:spPr>
        <p:txBody>
          <a:bodyPr wrap="square" lIns="0" tIns="0" rIns="0" bIns="0" rtlCol="0" anchor="ctr"/>
          <a:lstStyle/>
          <a:p>
            <a:pPr algn="r" indent="0" marL="0">
              <a:buNone/>
            </a:pPr>
            <a:r>
              <a:rPr lang="en-US" sz="900" dirty="0">
                <a:solidFill>
                  <a:srgbClr val="5F7181"/>
                </a:solidFill>
                <a:latin typeface="Aptos" pitchFamily="34" charset="0"/>
                <a:ea typeface="Aptos" pitchFamily="34" charset="-122"/>
                <a:cs typeface="Aptos" pitchFamily="34" charset="-120"/>
              </a:rPr>
              <a:t>22</a:t>
            </a:r>
            <a:endParaRPr lang="en-US" sz="900" dirty="0"/>
          </a:p>
        </p:txBody>
      </p:sp>
      <p:sp>
        <p:nvSpPr>
          <p:cNvPr id="8" name="Text 6"/>
          <p:cNvSpPr/>
          <p:nvPr/>
        </p:nvSpPr>
        <p:spPr>
          <a:xfrm>
            <a:off x="640080" y="658368"/>
            <a:ext cx="10881360" cy="713232"/>
          </a:xfrm>
          <a:prstGeom prst="rect">
            <a:avLst/>
          </a:prstGeom>
          <a:noFill/>
          <a:ln/>
        </p:spPr>
        <p:txBody>
          <a:bodyPr wrap="square" lIns="0" tIns="0" rIns="0" bIns="0" rtlCol="0" anchor="ctr">
            <a:normAutofit/>
          </a:bodyPr>
          <a:lstStyle/>
          <a:p>
            <a:pPr indent="0" marL="0">
              <a:buNone/>
            </a:pPr>
            <a:r>
              <a:rPr lang="en-US" sz="3400" b="1" dirty="0">
                <a:solidFill>
                  <a:srgbClr val="003A63"/>
                </a:solidFill>
                <a:latin typeface="Aptos Display" pitchFamily="34" charset="0"/>
                <a:ea typeface="Aptos Display" pitchFamily="34" charset="-122"/>
                <a:cs typeface="Aptos Display" pitchFamily="34" charset="-120"/>
              </a:rPr>
              <a:t>References and Resources Continued</a:t>
            </a:r>
            <a:endParaRPr lang="en-US" sz="3400" dirty="0"/>
          </a:p>
        </p:txBody>
      </p:sp>
      <p:sp>
        <p:nvSpPr>
          <p:cNvPr id="9" name="Text 7"/>
          <p:cNvSpPr/>
          <p:nvPr/>
        </p:nvSpPr>
        <p:spPr>
          <a:xfrm>
            <a:off x="868680" y="1508760"/>
            <a:ext cx="6537960" cy="4160520"/>
          </a:xfrm>
          <a:prstGeom prst="rect">
            <a:avLst/>
          </a:prstGeom>
          <a:noFill/>
          <a:ln/>
        </p:spPr>
        <p:txBody>
          <a:bodyPr wrap="square" lIns="635" tIns="635" rIns="635" bIns="635" rtlCol="0" anchor="t">
            <a:normAutofit/>
          </a:bodyPr>
          <a:lstStyle/>
          <a:p>
            <a:r>
              <a:rPr lang="en-US" sz="2100" dirty="0">
                <a:solidFill>
                  <a:srgbClr val="17364A"/>
                </a:solidFill>
                <a:latin typeface="Aptos" pitchFamily="34" charset="0"/>
                <a:ea typeface="Aptos" pitchFamily="34" charset="-122"/>
                <a:cs typeface="Aptos" pitchFamily="34" charset="-120"/>
              </a:rPr>
              <a:t>Agency policies for privacy, public records, cybersecurity, procurement, civil rights, accessibility,.</a:t>
            </a:r>
            <a:endParaRPr lang="en-US" sz="2100" dirty="0"/>
          </a:p>
        </p:txBody>
      </p:sp>
      <p:sp>
        <p:nvSpPr>
          <p:cNvPr id="10" name="Shape 8"/>
          <p:cNvSpPr/>
          <p:nvPr/>
        </p:nvSpPr>
        <p:spPr>
          <a:xfrm>
            <a:off x="7909560" y="1417320"/>
            <a:ext cx="3154680" cy="1828800"/>
          </a:xfrm>
          <a:prstGeom prst="roundRect">
            <a:avLst>
              <a:gd name="adj" fmla="val 6000"/>
            </a:avLst>
          </a:prstGeom>
          <a:solidFill>
            <a:srgbClr val="EEF8ED"/>
          </a:solidFill>
          <a:ln w="12700">
            <a:solidFill>
              <a:srgbClr val="B9D7E6"/>
            </a:solidFill>
            <a:prstDash val="solid"/>
          </a:ln>
        </p:spPr>
      </p:sp>
      <p:sp>
        <p:nvSpPr>
          <p:cNvPr id="11" name="Text 9"/>
          <p:cNvSpPr/>
          <p:nvPr/>
        </p:nvSpPr>
        <p:spPr>
          <a:xfrm>
            <a:off x="8074152" y="1563624"/>
            <a:ext cx="282549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Key idea</a:t>
            </a:r>
            <a:endParaRPr lang="en-US" sz="1300" dirty="0"/>
          </a:p>
        </p:txBody>
      </p:sp>
      <p:sp>
        <p:nvSpPr>
          <p:cNvPr id="12" name="Text 10"/>
          <p:cNvSpPr/>
          <p:nvPr/>
        </p:nvSpPr>
        <p:spPr>
          <a:xfrm>
            <a:off x="8074152" y="1920240"/>
            <a:ext cx="2825496" cy="1188720"/>
          </a:xfrm>
          <a:prstGeom prst="rect">
            <a:avLst/>
          </a:prstGeom>
          <a:noFill/>
          <a:ln/>
        </p:spPr>
        <p:txBody>
          <a:bodyPr wrap="square" lIns="0" tIns="0" rIns="0" bIns="0" rtlCol="0" anchor="t">
            <a:normAutofit/>
          </a:bodyPr>
          <a:lstStyle/>
          <a:p>
            <a:pPr indent="0" marL="0">
              <a:buNone/>
            </a:pPr>
            <a:r>
              <a:rPr lang="en-US" sz="1550" dirty="0">
                <a:solidFill>
                  <a:srgbClr val="17364A"/>
                </a:solidFill>
                <a:latin typeface="Aptos" pitchFamily="34" charset="0"/>
                <a:ea typeface="Aptos" pitchFamily="34" charset="-122"/>
                <a:cs typeface="Aptos" pitchFamily="34" charset="-120"/>
              </a:rPr>
              <a:t>Agency policies for privacy, public records, cybersecurity, procurement, civil rights, accessibility,.</a:t>
            </a:r>
            <a:endParaRPr lang="en-US" sz="1550" dirty="0"/>
          </a:p>
        </p:txBody>
      </p:sp>
      <p:sp>
        <p:nvSpPr>
          <p:cNvPr id="13" name="Shape 11"/>
          <p:cNvSpPr/>
          <p:nvPr/>
        </p:nvSpPr>
        <p:spPr>
          <a:xfrm>
            <a:off x="7909560" y="3520440"/>
            <a:ext cx="3154680" cy="1737360"/>
          </a:xfrm>
          <a:prstGeom prst="roundRect">
            <a:avLst>
              <a:gd name="adj" fmla="val 6316"/>
            </a:avLst>
          </a:prstGeom>
          <a:solidFill>
            <a:srgbClr val="EAF6F8"/>
          </a:solidFill>
          <a:ln w="12700">
            <a:solidFill>
              <a:srgbClr val="B9D7E6"/>
            </a:solidFill>
            <a:prstDash val="solid"/>
          </a:ln>
        </p:spPr>
      </p:sp>
      <p:sp>
        <p:nvSpPr>
          <p:cNvPr id="14" name="Text 12"/>
          <p:cNvSpPr/>
          <p:nvPr/>
        </p:nvSpPr>
        <p:spPr>
          <a:xfrm>
            <a:off x="8074152" y="3666744"/>
            <a:ext cx="282549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Use this for</a:t>
            </a:r>
            <a:endParaRPr lang="en-US" sz="1300" dirty="0"/>
          </a:p>
        </p:txBody>
      </p:sp>
      <p:sp>
        <p:nvSpPr>
          <p:cNvPr id="15" name="Text 13"/>
          <p:cNvSpPr/>
          <p:nvPr/>
        </p:nvSpPr>
        <p:spPr>
          <a:xfrm>
            <a:off x="8074152" y="4023360"/>
            <a:ext cx="2825496" cy="1097280"/>
          </a:xfrm>
          <a:prstGeom prst="rect">
            <a:avLst/>
          </a:prstGeom>
          <a:noFill/>
          <a:ln/>
        </p:spPr>
        <p:txBody>
          <a:bodyPr wrap="square" lIns="0" tIns="0" rIns="0" bIns="0" rtlCol="0" anchor="t">
            <a:normAutofit/>
          </a:bodyPr>
          <a:lstStyle/>
          <a:p>
            <a:pPr indent="0" marL="0">
              <a:buNone/>
            </a:pPr>
            <a:r>
              <a:rPr lang="en-US" sz="1550" dirty="0">
                <a:solidFill>
                  <a:srgbClr val="17364A"/>
                </a:solidFill>
                <a:latin typeface="Aptos" pitchFamily="34" charset="0"/>
                <a:ea typeface="Aptos" pitchFamily="34" charset="-122"/>
                <a:cs typeface="Aptos" pitchFamily="34" charset="-120"/>
              </a:rPr>
              <a:t>Connect the concept to public health decisions, safeguards, documentation, or implementation work.</a:t>
            </a:r>
            <a:endParaRPr lang="en-US" sz="1550" dirty="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Aptos Display"/>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Aptos"/>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22</Slides>
  <Notes>22</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22</vt:i4>
      </vt:variant>
    </vt:vector>
  </HeadingPairs>
  <TitlesOfParts>
    <vt:vector size="25"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lpstr>Slide 18</vt:lpstr>
      <vt:lpstr>Slide 19</vt:lpstr>
      <vt:lpstr>Slide 20</vt:lpstr>
      <vt:lpstr>Slide 21</vt:lpstr>
      <vt:lpstr>Slide 22</vt:lpstr>
    </vt:vector>
  </TitlesOfParts>
  <Company>AI Playbook for Public Health</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AI Governance Board Chair Training</dc:title>
  <dc:subject>AI Governance Board Chair Training learning module</dc:subject>
  <dc:creator>Paula Soper</dc:creator>
  <cp:lastModifiedBy>Paula Soper</cp:lastModifiedBy>
  <cp:revision>1</cp:revision>
  <dcterms:created xsi:type="dcterms:W3CDTF">2026-07-12T19:24:27Z</dcterms:created>
  <dcterms:modified xsi:type="dcterms:W3CDTF">2026-07-12T19:24:27Z</dcterms:modified>
</cp:coreProperties>
</file>