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e75ea63a8c474b" /><Relationship Type="http://schemas.openxmlformats.org/officeDocument/2006/relationships/extended-properties" Target="/docProps/app.xml" Id="R94c98da188534cbb" /><Relationship Type="http://schemas.openxmlformats.org/officeDocument/2006/relationships/officeDocument" Target="/ppt/presentation.xml" Id="Rec90824433314db8" /></Relationships>
</file>

<file path=ppt/presentation.xml><?xml version="1.0" encoding="utf-8"?>
<p:presentation xmlns:p="http://schemas.openxmlformats.org/presentationml/2006/main">
  <p:sldMasterIdLst>
    <p:sldMasterId xmlns:r="http://schemas.openxmlformats.org/officeDocument/2006/relationships" id="2147483648" r:id="R20449e4181f24699"/>
  </p:sldMasterIdLst>
  <p:notesMasterIdLst>
    <p:notesMasterId xmlns:r="http://schemas.openxmlformats.org/officeDocument/2006/relationships" r:id="R0b2d58c373f04ad8"/>
  </p:notesMasterIdLst>
  <p:sldIdLst>
    <p:sldId xmlns:r="http://schemas.openxmlformats.org/officeDocument/2006/relationships" id="256" r:id="Rab95592db63e491e"/>
    <p:sldId xmlns:r="http://schemas.openxmlformats.org/officeDocument/2006/relationships" id="257" r:id="Re6f3b43ed4484443"/>
    <p:sldId xmlns:r="http://schemas.openxmlformats.org/officeDocument/2006/relationships" id="258" r:id="R876ed27d945f45f9"/>
    <p:sldId xmlns:r="http://schemas.openxmlformats.org/officeDocument/2006/relationships" id="259" r:id="Raba5cd55c4794c25"/>
    <p:sldId xmlns:r="http://schemas.openxmlformats.org/officeDocument/2006/relationships" id="260" r:id="R8eb4e1d17aee4fe6"/>
    <p:sldId xmlns:r="http://schemas.openxmlformats.org/officeDocument/2006/relationships" id="261" r:id="R081aaaa9353342bf"/>
    <p:sldId xmlns:r="http://schemas.openxmlformats.org/officeDocument/2006/relationships" id="262" r:id="R2e682aca8e2d4e8b"/>
    <p:sldId xmlns:r="http://schemas.openxmlformats.org/officeDocument/2006/relationships" id="263" r:id="Rb24b038067f942f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3598f834444c88" /><Relationship Type="http://schemas.openxmlformats.org/officeDocument/2006/relationships/slideMaster" Target="/ppt/slideMasters/slideMaster1.xml" Id="R20449e4181f24699" /><Relationship Type="http://schemas.openxmlformats.org/officeDocument/2006/relationships/notesMaster" Target="/ppt/notesMasters/notesMaster1.xml" Id="R0b2d58c373f04ad8" /><Relationship Type="http://schemas.openxmlformats.org/officeDocument/2006/relationships/presProps" Target="/ppt/presProps.xml" Id="R8d04713f7e404972" /><Relationship Type="http://schemas.openxmlformats.org/officeDocument/2006/relationships/tableStyles" Target="/ppt/tableStyles.xml" Id="R7f6fdaf94cc34fcd" /><Relationship Type="http://schemas.openxmlformats.org/officeDocument/2006/relationships/slide" Target="/ppt/slides/slide1.xml" Id="Rab95592db63e491e" /><Relationship Type="http://schemas.openxmlformats.org/officeDocument/2006/relationships/slide" Target="/ppt/slides/slide2.xml" Id="Re6f3b43ed4484443" /><Relationship Type="http://schemas.openxmlformats.org/officeDocument/2006/relationships/slide" Target="/ppt/slides/slide3.xml" Id="R876ed27d945f45f9" /><Relationship Type="http://schemas.openxmlformats.org/officeDocument/2006/relationships/slide" Target="/ppt/slides/slide4.xml" Id="Raba5cd55c4794c25" /><Relationship Type="http://schemas.openxmlformats.org/officeDocument/2006/relationships/slide" Target="/ppt/slides/slide5.xml" Id="R8eb4e1d17aee4fe6" /><Relationship Type="http://schemas.openxmlformats.org/officeDocument/2006/relationships/slide" Target="/ppt/slides/slide6.xml" Id="R081aaaa9353342bf" /><Relationship Type="http://schemas.openxmlformats.org/officeDocument/2006/relationships/slide" Target="/ppt/slides/slide7.xml" Id="R2e682aca8e2d4e8b" /><Relationship Type="http://schemas.openxmlformats.org/officeDocument/2006/relationships/slide" Target="/ppt/slides/slide8.xml" Id="Rb24b038067f942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475623168942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964947c394498c" /><Relationship Type="http://schemas.openxmlformats.org/officeDocument/2006/relationships/notesMaster" Target="/ppt/notesMasters/notesMaster1.xml" Id="Ra309435cf7184c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ad2aa06ea741d8" /><Relationship Type="http://schemas.openxmlformats.org/officeDocument/2006/relationships/notesMaster" Target="/ppt/notesMasters/notesMaster1.xml" Id="Rcd2a597c4cdb48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a76fe7de7243e3" /><Relationship Type="http://schemas.openxmlformats.org/officeDocument/2006/relationships/notesMaster" Target="/ppt/notesMasters/notesMaster1.xml" Id="R7211588b92d64e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f1f7370a204fc8" /><Relationship Type="http://schemas.openxmlformats.org/officeDocument/2006/relationships/notesMaster" Target="/ppt/notesMasters/notesMaster1.xml" Id="Rfd5bac6626234e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392880d3e5448f" /><Relationship Type="http://schemas.openxmlformats.org/officeDocument/2006/relationships/notesMaster" Target="/ppt/notesMasters/notesMaster1.xml" Id="Rfd05068487ef4f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ad82046f094898" /><Relationship Type="http://schemas.openxmlformats.org/officeDocument/2006/relationships/notesMaster" Target="/ppt/notesMasters/notesMaster1.xml" Id="R19aae1c0940e46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340e765e344fc6" /><Relationship Type="http://schemas.openxmlformats.org/officeDocument/2006/relationships/notesMaster" Target="/ppt/notesMasters/notesMaster1.xml" Id="R4faa5f557e574e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3be241ab644fff" /><Relationship Type="http://schemas.openxmlformats.org/officeDocument/2006/relationships/notesMaster" Target="/ppt/notesMasters/notesMaster1.xml" Id="R85212ec9349149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Community Engagement for AI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Community engagement helps departments understand how AI-supported workflows may affect trust, access, surveillance concerns, language needs, disability access, and public accountability.</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Community Engagement for AI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4, 7, 10, 12, 13 and Tools 1, 3, 19, 20, 21, 22, 46.</a:t>
            </a:r>
          </a:p>
          <a:p xmlns:a="http://schemas.openxmlformats.org/drawingml/2006/main">
            <a:r>
              <a:t>Emphasize the core guardrail: Public-facing or community-impacting AI can erode trust if affected groups are not engaged before decisions are made.</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Community Engagement for AI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4, 7, 10, 12, 13 and Tools 1, 3, 19, 20, 21, 22, 46.</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Community Engagement for AI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4, 7, 10, 12, 13 and Tools 1, 3, 19, 20, 21, 22, 46.</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Community Engagement for AI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4, 7, 10, 12, 13 and Tools 1, 3, 19, 20, 21, 22, 46.</a:t>
            </a:r>
          </a:p>
          <a:p xmlns:a="http://schemas.openxmlformats.org/drawingml/2006/main">
            <a:r>
              <a:t>Invite participants to identify where these practices would need to be documented in their own department.</a:t>
            </a:r>
          </a:p>
          <a:p xmlns:a="http://schemas.openxmlformats.org/drawingml/2006/main">
            <a:r>
              <a:t>Start with Engagement Focus Areas,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Community Engagement for AI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4, 7, 10, 12, 13 and Tools 1, 3, 19, 20, 21, 22, 46.</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Community Engagement for AI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4, 7, 10, 12, 13 and Tools 1, 3, 19, 20, 21, 22, 46.</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 community engagement plan, Plain-language AI explanation, Feedback-to-decision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Community Engagement for AI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4, 7, 10, 12, 13 and Tools 1, 3, 19, 20, 21, 22, 46.</a:t>
            </a:r>
          </a:p>
          <a:p xmlns:a="http://schemas.openxmlformats.org/drawingml/2006/main">
            <a:r>
              <a:t>Point participants to the first resource: CDC Health Equity.</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d0494493c545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98b701ceb14cc8" /><Relationship Type="http://schemas.openxmlformats.org/officeDocument/2006/relationships/slideLayout" Target="/ppt/slideLayouts/slideLayout1.xml" Id="Rd62aed2ddb4843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2aed2ddb4843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eb03753964401a" /><Relationship Type="http://schemas.openxmlformats.org/officeDocument/2006/relationships/image" Target="/ppt/media/image.png" Id="R38250133aa5d454f" /><Relationship Type="http://schemas.openxmlformats.org/officeDocument/2006/relationships/notesSlide" Target="/ppt/notesSlides/notesSlide1.xml" Id="Rde5ec6ac9d4b47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e84c6aac824810" /><Relationship Type="http://schemas.openxmlformats.org/officeDocument/2006/relationships/notesSlide" Target="/ppt/notesSlides/notesSlide2.xml" Id="R64d21bf36c0744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b5125afd9a44f1" /><Relationship Type="http://schemas.openxmlformats.org/officeDocument/2006/relationships/notesSlide" Target="/ppt/notesSlides/notesSlide3.xml" Id="R62ae01eae9214a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e3590fc0d7e452b" /><Relationship Type="http://schemas.openxmlformats.org/officeDocument/2006/relationships/notesSlide" Target="/ppt/notesSlides/notesSlide4.xml" Id="R41e9214de6e24b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0899b472e842b3" /><Relationship Type="http://schemas.openxmlformats.org/officeDocument/2006/relationships/notesSlide" Target="/ppt/notesSlides/notesSlide5.xml" Id="Rc322301368e343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0c51a8484244fe" /><Relationship Type="http://schemas.openxmlformats.org/officeDocument/2006/relationships/notesSlide" Target="/ppt/notesSlides/notesSlide6.xml" Id="Rd1bbe2caa76649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166494cdbb492a" /><Relationship Type="http://schemas.openxmlformats.org/officeDocument/2006/relationships/notesSlide" Target="/ppt/notesSlides/notesSlide7.xml" Id="Red8cb146cb9849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049ee9a0ae42e3" /><Relationship Type="http://schemas.openxmlformats.org/officeDocument/2006/relationships/notesSlide" Target="/ppt/notesSlides/notesSlide8.xml" Id="R4db8723435c049a9"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8250133aa5d454f"/>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331633-9636-4BC7-B563-BAB410C6E8CE}"/>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24</a:t>
            </a:r>
          </a:p>
        </p:txBody>
      </p:sp>
      <p:sp>
        <p:nvSpPr>
          <p:cNvPr id="3" name="">
            <a:extLst xmlns:a="http://schemas.openxmlformats.org/drawingml/2006/main">
              <a:ext uri="{FF2B5EF4-FFF2-40B4-BE49-F238E27FC236}">
                <a16:creationId xmlns:a16="http://schemas.microsoft.com/office/drawing/2014/main" id="{CB12021E-84FD-440E-8BDE-6DF302F3A044}"/>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Community Engagement for AI</a:t>
            </a:r>
          </a:p>
        </p:txBody>
      </p:sp>
      <p:sp>
        <p:nvSpPr>
          <p:cNvPr id="4" name="">
            <a:extLst xmlns:a="http://schemas.openxmlformats.org/drawingml/2006/main">
              <a:ext uri="{FF2B5EF4-FFF2-40B4-BE49-F238E27FC236}">
                <a16:creationId xmlns:a16="http://schemas.microsoft.com/office/drawing/2014/main" id="{6A4252AE-F4C8-4F79-BEC6-13A8769CEA4F}"/>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AD61D33B-CA3F-42E9-92BF-8FB21270821F}"/>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E0D15479-9DC8-426C-96B0-A02CBE08DDCE}"/>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7775060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B98100-9F82-44AE-A0B1-12CC35C6102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FB8C0A0-B01D-4C25-AAEE-ACF6459D17D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4AE94198-C652-4ADE-B95D-BE40BFC129C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A7909A6-10C0-42C7-B762-69D3EF186727}"/>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Community engagement helps departments understand how AI-supported workflows may affect trust, access, surveillance concerns, language needs, disability access, and public accountability.</a:t>
            </a:r>
          </a:p>
        </p:txBody>
      </p:sp>
      <p:sp>
        <p:nvSpPr>
          <p:cNvPr id="5" name="">
            <a:extLst xmlns:a="http://schemas.openxmlformats.org/drawingml/2006/main">
              <a:ext uri="{FF2B5EF4-FFF2-40B4-BE49-F238E27FC236}">
                <a16:creationId xmlns:a16="http://schemas.microsoft.com/office/drawing/2014/main" id="{DE889DF5-660D-4674-9018-79F86E9C95E4}"/>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6ED7A09-71BF-4099-94B6-E65434886CD9}"/>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3147952-BA87-46D4-B3F0-8AD85395665A}"/>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5506BF72-E794-4528-BCFF-EBE179E5E7F9}"/>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Engagement helps departments avoid AI uses that appear efficient internally but create confusion, mistrust, stigma, surveillance concerns, or access barriers externally.</a:t>
            </a:r>
          </a:p>
        </p:txBody>
      </p:sp>
      <p:sp>
        <p:nvSpPr>
          <p:cNvPr id="9" name="">
            <a:extLst xmlns:a="http://schemas.openxmlformats.org/drawingml/2006/main">
              <a:ext uri="{FF2B5EF4-FFF2-40B4-BE49-F238E27FC236}">
                <a16:creationId xmlns:a16="http://schemas.microsoft.com/office/drawing/2014/main" id="{87CDE18D-9251-462F-896E-59C1640C5065}"/>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D1B79B0E-2007-48C7-86E0-629E7244E796}"/>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CC54E1A4-AE17-4BEF-AE9D-4A08D19AD2B2}"/>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E5617A65-BC45-49DD-9963-D622302DAAD6}"/>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Public-facing or community-impacting AI can erode trust if affected groups are not engaged before decisions are made.</a:t>
            </a:r>
          </a:p>
        </p:txBody>
      </p:sp>
      <p:sp>
        <p:nvSpPr>
          <p:cNvPr id="13" name="">
            <a:extLst xmlns:a="http://schemas.openxmlformats.org/drawingml/2006/main">
              <a:ext uri="{FF2B5EF4-FFF2-40B4-BE49-F238E27FC236}">
                <a16:creationId xmlns:a16="http://schemas.microsoft.com/office/drawing/2014/main" id="{4C29DE5D-434F-4D26-A66F-1478A01371B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Community Engagement for AI</a:t>
            </a:r>
          </a:p>
        </p:txBody>
      </p:sp>
      <p:sp>
        <p:nvSpPr>
          <p:cNvPr id="14" name="">
            <a:extLst xmlns:a="http://schemas.openxmlformats.org/drawingml/2006/main">
              <a:ext uri="{FF2B5EF4-FFF2-40B4-BE49-F238E27FC236}">
                <a16:creationId xmlns:a16="http://schemas.microsoft.com/office/drawing/2014/main" id="{83E4B763-BEC3-4D89-BDFA-C7F4353BD63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463689779"/>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096E2A-FCC5-4FFE-892F-F8019299694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23B324A-2867-413B-992F-612B6FAB5B4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64CFAA80-AB7D-449B-A690-1B945FCAE41E}"/>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32DECFC-599C-46EA-BDF2-CBCD9704374A}"/>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61F75B50-D1F6-4A67-BCFA-EED988BF829D}"/>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Community Engagement for AI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5C5B84B5-AD05-4267-9BA8-7CA58BB91E2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Community Engagement for AI</a:t>
            </a:r>
          </a:p>
        </p:txBody>
      </p:sp>
      <p:sp>
        <p:nvSpPr>
          <p:cNvPr id="7" name="">
            <a:extLst xmlns:a="http://schemas.openxmlformats.org/drawingml/2006/main">
              <a:ext uri="{FF2B5EF4-FFF2-40B4-BE49-F238E27FC236}">
                <a16:creationId xmlns:a16="http://schemas.microsoft.com/office/drawing/2014/main" id="{9F1BBF01-A889-4676-B9ED-56A19AA43FC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0790681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F62D62-C78E-46CE-8B9F-FC66328DAEE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24AF4E1-B65A-4C8D-A18A-EFFB550E378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7BA1BF7A-B265-4FDC-9EB3-2AF5B4297BEE}"/>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ED9B013-D373-45EC-95FC-BC3A6255FA56}"/>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Community engagement for AI should happen before use cases are finalized, especially when a system affects public communication, surveillance, outreach, service access, prioritization, or resource allocation. Engagement helps departments surface concerns that technical testing may miss.</a:t>
            </a:r>
          </a:p>
        </p:txBody>
      </p:sp>
      <p:sp>
        <p:nvSpPr>
          <p:cNvPr id="5" name="">
            <a:extLst xmlns:a="http://schemas.openxmlformats.org/drawingml/2006/main">
              <a:ext uri="{FF2B5EF4-FFF2-40B4-BE49-F238E27FC236}">
                <a16:creationId xmlns:a16="http://schemas.microsoft.com/office/drawing/2014/main" id="{7C738570-9D7B-4FE5-979C-BD93AB3CB8B8}"/>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17B1A21-6682-4053-BD93-4B7C7AF4EA98}"/>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0B8E151D-E71A-4C6B-9739-F6CBC9B6F30F}"/>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770FB4B1-4373-4EC5-829B-DA6ED408AE30}"/>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Community engagement helps departments understand how AI-supported workflows may affect trust, access, surveillance concerns, language needs, disability access, and public accountability.</a:t>
            </a:r>
          </a:p>
        </p:txBody>
      </p:sp>
      <p:sp>
        <p:nvSpPr>
          <p:cNvPr id="9" name="">
            <a:extLst xmlns:a="http://schemas.openxmlformats.org/drawingml/2006/main">
              <a:ext uri="{FF2B5EF4-FFF2-40B4-BE49-F238E27FC236}">
                <a16:creationId xmlns:a16="http://schemas.microsoft.com/office/drawing/2014/main" id="{72AC9E1B-59C8-44F1-9B7B-70A80ADAE07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Community Engagement for AI</a:t>
            </a:r>
          </a:p>
        </p:txBody>
      </p:sp>
      <p:sp>
        <p:nvSpPr>
          <p:cNvPr id="10" name="">
            <a:extLst xmlns:a="http://schemas.openxmlformats.org/drawingml/2006/main">
              <a:ext uri="{FF2B5EF4-FFF2-40B4-BE49-F238E27FC236}">
                <a16:creationId xmlns:a16="http://schemas.microsoft.com/office/drawing/2014/main" id="{16B95D21-03FB-4126-A30C-AC3FA61CBA0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96171065"/>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B0A6C7-B8AC-4286-A474-54D46EB162F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4B7E763-347F-40A0-AEFA-355C80428EF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0B761F4A-394E-42A9-B43B-22D089BF678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E2241EE-E216-427A-9A19-A464B5E6DDAF}"/>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5839060-5732-4442-B625-C7B3BCA9A625}"/>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00C4A440-7DEF-491B-B616-0A4FA8D116EE}"/>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Engagement Focus Areas</a:t>
            </a:r>
          </a:p>
        </p:txBody>
      </p:sp>
      <p:sp>
        <p:nvSpPr>
          <p:cNvPr id="7" name="">
            <a:extLst xmlns:a="http://schemas.openxmlformats.org/drawingml/2006/main">
              <a:ext uri="{FF2B5EF4-FFF2-40B4-BE49-F238E27FC236}">
                <a16:creationId xmlns:a16="http://schemas.microsoft.com/office/drawing/2014/main" id="{90A3DB1E-D667-4F88-8856-BBF2A890B748}"/>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the AI-supported workflow will and will not do. What data are involved and how privacy is protected. What decisions remain human and how concerns can be raised. How language, disability, digital access, rural context, Tribal context,.</a:t>
            </a:r>
          </a:p>
        </p:txBody>
      </p:sp>
      <p:sp>
        <p:nvSpPr>
          <p:cNvPr id="8" name="">
            <a:extLst xmlns:a="http://schemas.openxmlformats.org/drawingml/2006/main">
              <a:ext uri="{FF2B5EF4-FFF2-40B4-BE49-F238E27FC236}">
                <a16:creationId xmlns:a16="http://schemas.microsoft.com/office/drawing/2014/main" id="{45974861-90A1-42B4-9396-207F76184B99}"/>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0BC8C90-A44F-4EDD-9AF7-9C8598E06701}"/>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2F64F737-4510-452C-A86D-63A78387F897}"/>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Engagement Methods</a:t>
            </a:r>
          </a:p>
        </p:txBody>
      </p:sp>
      <p:sp>
        <p:nvSpPr>
          <p:cNvPr id="11" name="">
            <a:extLst xmlns:a="http://schemas.openxmlformats.org/drawingml/2006/main">
              <a:ext uri="{FF2B5EF4-FFF2-40B4-BE49-F238E27FC236}">
                <a16:creationId xmlns:a16="http://schemas.microsoft.com/office/drawing/2014/main" id="{0B92BBFA-5A51-47AA-A0AB-B233053F590F}"/>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Listening sessions, advisory groups, community partner consultation, usability testing, plain-language review, and feedback forms. Internal engagement with frontline staff who understand how communities experience department services. Ongoing.</a:t>
            </a:r>
          </a:p>
        </p:txBody>
      </p:sp>
      <p:sp>
        <p:nvSpPr>
          <p:cNvPr id="12" name="">
            <a:extLst xmlns:a="http://schemas.openxmlformats.org/drawingml/2006/main">
              <a:ext uri="{FF2B5EF4-FFF2-40B4-BE49-F238E27FC236}">
                <a16:creationId xmlns:a16="http://schemas.microsoft.com/office/drawing/2014/main" id="{27CF5E97-D7B6-407D-BF5D-B7EA3EDD5E34}"/>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955EB4B4-2478-4623-A46D-44FF19186BC8}"/>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7E4CEEA5-8145-4652-8B49-525C7009FB17}"/>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Implementation Check</a:t>
            </a:r>
          </a:p>
        </p:txBody>
      </p:sp>
      <p:sp>
        <p:nvSpPr>
          <p:cNvPr id="15" name="">
            <a:extLst xmlns:a="http://schemas.openxmlformats.org/drawingml/2006/main">
              <a:ext uri="{FF2B5EF4-FFF2-40B4-BE49-F238E27FC236}">
                <a16:creationId xmlns:a16="http://schemas.microsoft.com/office/drawing/2014/main" id="{4A832DEA-FDD2-4F55-B146-8DA8F28D57BE}"/>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Document who was engaged, what concerns were raised, what changed, and what remains unresolved. Route unresolved community concerns to governance. Close the feedback loop with plain-language summaries.</a:t>
            </a:r>
          </a:p>
        </p:txBody>
      </p:sp>
      <p:sp>
        <p:nvSpPr>
          <p:cNvPr id="16" name="">
            <a:extLst xmlns:a="http://schemas.openxmlformats.org/drawingml/2006/main">
              <a:ext uri="{FF2B5EF4-FFF2-40B4-BE49-F238E27FC236}">
                <a16:creationId xmlns:a16="http://schemas.microsoft.com/office/drawing/2014/main" id="{1635E37C-E7D0-4E8E-94AE-4C84FEF0662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Community Engagement for AI</a:t>
            </a:r>
          </a:p>
        </p:txBody>
      </p:sp>
      <p:sp>
        <p:nvSpPr>
          <p:cNvPr id="17" name="">
            <a:extLst xmlns:a="http://schemas.openxmlformats.org/drawingml/2006/main">
              <a:ext uri="{FF2B5EF4-FFF2-40B4-BE49-F238E27FC236}">
                <a16:creationId xmlns:a16="http://schemas.microsoft.com/office/drawing/2014/main" id="{F832CF44-9422-4027-9410-52CAF76B0DF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6839349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BAA598-9A48-455B-935C-26985ABAE70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F40C1A9-C7A3-48EA-96CD-B03051858C4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766892A1-2F0E-4AE0-8B41-490A6748274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553D999-5085-434A-9E75-D488D69022E6}"/>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BEEF6F0B-0886-4B76-B04B-DBC5F927ADD3}"/>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0CFC841-C6A1-473D-80DC-E1255E94B160}"/>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5B2CC739-A7AB-4D24-BB13-B5755B1B62CD}"/>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Engage affected communities before launch</a:t>
            </a:r>
          </a:p>
        </p:txBody>
      </p:sp>
      <p:sp>
        <p:nvSpPr>
          <p:cNvPr id="8" name="">
            <a:extLst xmlns:a="http://schemas.openxmlformats.org/drawingml/2006/main">
              <a:ext uri="{FF2B5EF4-FFF2-40B4-BE49-F238E27FC236}">
                <a16:creationId xmlns:a16="http://schemas.microsoft.com/office/drawing/2014/main" id="{A298C90D-AF86-4431-AF30-0C92CCD1ED0C}"/>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F63DAA23-EBD3-44B7-85F0-97093FC2F381}"/>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5588DFC-BC73-4A95-9CB7-813EC7E792D2}"/>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E5C9DABB-0496-47D1-99B3-A785FCF940A5}"/>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Create plain-language AI notices</a:t>
            </a:r>
          </a:p>
        </p:txBody>
      </p:sp>
      <p:sp>
        <p:nvSpPr>
          <p:cNvPr id="12" name="">
            <a:extLst xmlns:a="http://schemas.openxmlformats.org/drawingml/2006/main">
              <a:ext uri="{FF2B5EF4-FFF2-40B4-BE49-F238E27FC236}">
                <a16:creationId xmlns:a16="http://schemas.microsoft.com/office/drawing/2014/main" id="{67F3091B-8A3D-4C69-9FE6-F43CAA9E2147}"/>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1A882EF8-BD68-47A7-AB5B-3FD619F21EA0}"/>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761481AC-831B-4F5F-B28A-B0062AD486AA}"/>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157072CD-98D7-426E-B91D-488D3B624BA3}"/>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Close the feedback loop</a:t>
            </a:r>
          </a:p>
        </p:txBody>
      </p:sp>
      <p:sp>
        <p:nvSpPr>
          <p:cNvPr id="16" name="">
            <a:extLst xmlns:a="http://schemas.openxmlformats.org/drawingml/2006/main">
              <a:ext uri="{FF2B5EF4-FFF2-40B4-BE49-F238E27FC236}">
                <a16:creationId xmlns:a16="http://schemas.microsoft.com/office/drawing/2014/main" id="{473D3059-099F-4C86-B171-825667DDEB37}"/>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FD3FE2BF-F763-4E6F-B69B-F521DF51308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Community Engagement for AI</a:t>
            </a:r>
          </a:p>
        </p:txBody>
      </p:sp>
      <p:sp>
        <p:nvSpPr>
          <p:cNvPr id="18" name="">
            <a:extLst xmlns:a="http://schemas.openxmlformats.org/drawingml/2006/main">
              <a:ext uri="{FF2B5EF4-FFF2-40B4-BE49-F238E27FC236}">
                <a16:creationId xmlns:a16="http://schemas.microsoft.com/office/drawing/2014/main" id="{BB6515D9-4596-470D-81D5-BE28CC42C34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954159533"/>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404C71-DBE7-42BF-B711-E2E79F3B58B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7E886DE-085A-44F8-ACF2-DE5C908DF0C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B66EBA32-A4B1-45A0-9078-F713CF135B3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6139332-3D19-40CD-B714-0F4A462DEB69}"/>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3F68217-CA3F-4B04-9F0B-9EDE091B6C16}"/>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1715EBC3-FD19-4C24-A496-FD7E95382695}"/>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94C6587E-5892-468A-883F-96D92487B7A7}"/>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communities or partners may be affected by the proposed AI use? What should be explained in plain language before implementation? How will community feedback change governance, design, monitoring, or communication?</a:t>
            </a:r>
          </a:p>
        </p:txBody>
      </p:sp>
      <p:sp>
        <p:nvSpPr>
          <p:cNvPr id="8" name="">
            <a:extLst xmlns:a="http://schemas.openxmlformats.org/drawingml/2006/main">
              <a:ext uri="{FF2B5EF4-FFF2-40B4-BE49-F238E27FC236}">
                <a16:creationId xmlns:a16="http://schemas.microsoft.com/office/drawing/2014/main" id="{70FBB94A-9C01-46DE-98F1-FD3549CE011B}"/>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24ABED5-2816-46CA-A790-5F13F3AA9C53}"/>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66EE6F62-BA3F-4DE8-A537-7BF53756AA2E}"/>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714084C1-8C78-4D66-94FB-F2BCB381ABC2}"/>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Create a community engagement plan for one AI-supported workflow, including audiences, engagement methods, plain-language explanation, feedback documentation, and governance escalation.</a:t>
            </a:r>
          </a:p>
        </p:txBody>
      </p:sp>
      <p:sp>
        <p:nvSpPr>
          <p:cNvPr id="12" name="">
            <a:extLst xmlns:a="http://schemas.openxmlformats.org/drawingml/2006/main">
              <a:ext uri="{FF2B5EF4-FFF2-40B4-BE49-F238E27FC236}">
                <a16:creationId xmlns:a16="http://schemas.microsoft.com/office/drawing/2014/main" id="{34DDF885-9ACD-4116-99A1-95DB947C949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Community Engagement for AI</a:t>
            </a:r>
          </a:p>
        </p:txBody>
      </p:sp>
      <p:sp>
        <p:nvSpPr>
          <p:cNvPr id="13" name="">
            <a:extLst xmlns:a="http://schemas.openxmlformats.org/drawingml/2006/main">
              <a:ext uri="{FF2B5EF4-FFF2-40B4-BE49-F238E27FC236}">
                <a16:creationId xmlns:a16="http://schemas.microsoft.com/office/drawing/2014/main" id="{46E7E3A4-0942-4DCD-A474-57C05BD120E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8355888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C9A38B-2F51-4DE0-B0FD-D4CAB348E75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E7E1043-C41B-4F13-8234-AD525DEA4E6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B7AF0608-38CC-4DF7-A94D-2637240C667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DC7A373-E123-4ECA-A935-A0C42BE44FFE}"/>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30649C68-CCE5-4AA0-AFE0-32AB7CA63587}"/>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CCD0B401-B14C-43D0-93ED-92366D3D4742}"/>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6A50DF6F-B7BB-4AEC-A326-D140F60E8889}"/>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4, 7, 10, 12, 13 and Tools 1, 3, 19, 20, 21, 22, 46.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83239DF9-1312-4470-9EFD-6CB641550036}"/>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D3B0017-E101-480B-8B49-A04A6DA0D567}"/>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87180213-0B9E-4163-AF3F-AA4C96C438F5}"/>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9B6C015D-CCFE-492E-BA3C-F9F8297FD5DF}"/>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CDC Health Equity: Public health equity context for community engagement and accountability. ASPPH AI Framework Report: Human-centered AI, missing voices, and public accountability framing. Blueprint for an AI Bill of Rights: Notice,.</a:t>
            </a:r>
          </a:p>
        </p:txBody>
      </p:sp>
      <p:sp>
        <p:nvSpPr>
          <p:cNvPr id="12" name="">
            <a:extLst xmlns:a="http://schemas.openxmlformats.org/drawingml/2006/main">
              <a:ext uri="{FF2B5EF4-FFF2-40B4-BE49-F238E27FC236}">
                <a16:creationId xmlns:a16="http://schemas.microsoft.com/office/drawing/2014/main" id="{0A17DF61-C610-4F95-8C7E-7BE893412A3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Community Engagement for AI</a:t>
            </a:r>
          </a:p>
        </p:txBody>
      </p:sp>
      <p:sp>
        <p:nvSpPr>
          <p:cNvPr id="13" name="">
            <a:extLst xmlns:a="http://schemas.openxmlformats.org/drawingml/2006/main">
              <a:ext uri="{FF2B5EF4-FFF2-40B4-BE49-F238E27FC236}">
                <a16:creationId xmlns:a16="http://schemas.microsoft.com/office/drawing/2014/main" id="{410359A3-D076-4A84-8551-E6B9159F665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6551345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2026-07-02T17:47:05.1410000Z</dcterms:created>
  <dcterms:modified xsi:type="dcterms:W3CDTF">2026-07-02T17:47:05.1410000Z</dcterms:modified>
</coreProperties>
</file>