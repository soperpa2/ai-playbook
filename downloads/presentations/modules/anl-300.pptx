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300 Advanced Model Validation and Evaluation for Public Health AI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13: Monitor and Evaluate AI Systems - This lesson informs Play 13 by helping learners connect the lesson topic to monitor and evaluate ai systems work in the AI Playbook.
Play 12: Execute Governance and Oversight - This lesson informs Play 12 by helping learners connect the lesson topic to execute governance and oversight work in the AI Playbook.
Play 11: Build and Deploy AI Solutions - This lesson informs Play 11 by helping learners connect the lesson topic to build and deploy ai solutions work in the AI Playbook.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44: Performance Monitoring Dashboard (Dashboard) - Use this tool to complete or strengthen the practical exercise for the module using fictional, de-identified, or generalized.
Tool 45: Continuous Improvement Log (Log) - Use Continuous Improvement Log to translate this lesson into a documented public health AI planning, governance, implementation,.
Tool 48: AI Evaluation &amp; Outcomes Reporting (Template) - Use this tool to complete or strengthen the practical exercise for the module using fictional, de-identified, or generalized.
Tool 13: AI Use Case Intake, Risk Review, and System Inventory Template (Template) - Use AI Use Case Intake, Risk Review, and System Inventory Template to translate this lesson into a documented public health AI.
Tool 16: Incident Response Checklist (Checklist) - Use Incident Response Checklist to translate this lesson into a documented public health AI planning, governance,.
Tool 17: Compliance Audit Checklist (Checklist) - Use Compliance Audit Checklist to translate this lesson into a documented public health AI planning, governance, implementation,.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Describe the purpose of advanced model validation in public health AI.
Interpret sensitivity, specificity, positive predictive value, negative predictive value, precision, recall, F1 score, calibration, and subgroup performance.
Distinguish internal validation, external validation, and workflow validation.
Identify when model performance is insufficient for the intended use.
Design monitoring for drift, degradation, error patterns, and unintended consequences.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an advanced validation plan for an AI-supported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Model validation is the process of determining whether an AI tool performs adequately for its intended use, population, setting, data sources, and workflow. Basic validation asks whether the tool works at all. Advanced validation asks whether it works well enough, for whom, under what conditions, with what limitations, and with what monitoring requirements.
This module extends foundational validation content by focusing on metrics, subgroup performance, calibration, external validation, workflow validation, error review, drift monitoring, and documentation. Public health agencies need this deeper level of validation when AI outputs may influence investigation, outreach, resource allocation, public communication, or operational prioritization.
Learners will develop a validation plan that connects technical performance to public health consequences. The goal is to evaluate not only the model, but the full AI-supported workflow.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Validation matters because public health AI tools can appear credible even when they are not fit for operational use. A polished dashboard, confident generated text, or high overall accuracy score does not prove that the tool is safe, equitable, or useful. Public health staff need to evaluate performance in relation to the specific task and the consequences of error.
Model performance is context-dependent. A tool that performs well in one health system or state may fail in another because of different data sources, coding practices, populations, workflows, or reporting laws. A tool that performs well during development may degrade when disease patterns change or new providers begin reporting. Validation must therefore include local or context-specific testing whenever possible.
Advanced validation also requires attention to equity. Overall performance can hide poor performance for small populations, language groups, rural communities, people with unstable housing, or communities with limited healthcare access. Public health validation should examine subgroup performance and data representativeness before AI outputs influence priority setting or resource allocation.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public health agency may test a model that identifies incoming case reports likely to require expedited review. Overall accuracy may be high, but that number alone is not enough. Staff need to know whether the model misses rare but severe conditions, whether it performs differently across facilities, whether it over-flags reports from certain communities, and whether users understand how to act on the output.
The agency should validate the model on recent local data, review errors with epidemiologists, test the workflow with actual users, and monitor override patterns after pilot deployment. If the model performs well technically but creates too many alerts for available staff, the workflow may still fail. Validation must include operational fit.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Metric selection should start with the public health consequence. Sensitivity may be prioritized when missing a true event is dangerous. Specificity may be prioritized when false positives create substantial burden or unnecessary intervention. Precision and positive predictive value matter when staff act on positive flags. Calibration matters when scores are interpreted as probabilities.
Confusion matrices are useful because they show true positives, false positives, true negatives, and false negatives. Public health teams should translate each cell into operational meaning. A false negative may mean a delayed investigation. A false positive may mean staff time diverted from other work. A true positive may mean earlier action. A true negative may mean confidence to continue routine processing.
External validation is essential when a model will be used outside its development context. Testing on a new jurisdiction, time period, data source, or population can reveal performance problems that internal validation missed. When external validation is not possible before pilot testing, agencies should begin with limited deployment, close monitoring, and conservative use.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Workflow validation examines whether the AI output is understandable, accessible, timely, actionable, and used as intended. A model can be statistically strong but operationally weak if staff do not trust it, cannot see supporting data, cannot override it, or receive alerts too late. Workflow validation should include usability testing, training, documentation, and feedback loops.
Post-deployment validation should be planned before launch. Agencies should define monitoring indicators, review frequency, escalation triggers, and authority to pause use. Monitoring should include performance drift, subgroup changes, user override rates, incident reports, data feed changes, and public health outcomes where appropriate.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Misleading aggregate performance. Overall metrics may hide poor subgroup performance. Guardrails include subgroup testing and equity review.
Metric mismatch. The selected metric may not match the public health consequence. Guardrails include metric selection tied to intended use and error consequences.
Lack of external validation. Models may fail in new settings. Guardrails include local testing, limited pilots, and monitoring.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Workflow failure. A technically accurate model may be unusable or misused. Guardrails include usability testing, training, source visibility, and override documentation.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Advanced validation applies to predictive models, NLP tools, generative summaries, RAG outputs, and agentic workflows. For generative AI, validation may include factuality, completeness, source grounding, omissions, and harmful output review. For RAG, validation should test retrieval quality and citation accuracy. For agentic workflows, validation should include action safety, permission boundaries, and rollback procedures.
The evaluation unit should be the AI-supported workflow, not the model alone. Public health agencies should ask whether the full process improves timeliness, quality, equity, safety, and staff experience without creating unacceptable risk.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decision or action will the AI output support?
Which performance metrics match the consequences of error?
Which subgroups, data sources, or settings require separate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would make performance unacceptable for this use case?
How will the agency monitor performance after deployment?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advanced validation plan for one AI-supported workflow. Include intended use, validation dataset, comparison standard, performance metrics, subgroup analysis, error review, workflow testing, user feedback, monitoring indicators, escalation triggers, and documentation requirements.
The plan should clearly explain how validation results will be interpreted and who has authority to approve, limit, pause, or reject the AI use.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Advanced validation plan
Metric and error-consequence table
Subgroup performance review plan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Post-deployment monitoring schedule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Advanced validation plan
Metric and error-consequence table
Subgroup performance review plan
Post-deployment monitoring schedule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can overall accuracy be misleading?
2. What is workflow validation?
3. Which metric is especially important when missed true events could cause harm?
4. What does external validation test?
5. What should an advanced validation plan include?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AI RMF Generative AI Profile: https://www.nist.gov/publications/artificial-intelligence-risk-management-framework-generative-artificial-intelligence
CDC Evaluation Framework: https://www.cdc.gov/evaluation/
WHO Guidance on Large Multi-Modal Models: https://www.who.int/publications/i/item/9789240084759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300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Advanced Model Validation and Evaluation for Public Health AI</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Model validation is the process of determining whether an AI tool performs.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Basic validation asks whether the tool works at all.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Advanced validation asks whether it works well enough, for whom, under what.</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45336"/>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Module details</a:t>
            </a:r>
            <a:endParaRPr lang="en-US" sz="1220" dirty="0"/>
          </a:p>
        </p:txBody>
      </p:sp>
      <p:sp>
        <p:nvSpPr>
          <p:cNvPr id="12" name="Text 10"/>
          <p:cNvSpPr/>
          <p:nvPr/>
        </p:nvSpPr>
        <p:spPr>
          <a:xfrm>
            <a:off x="8074152" y="1856232"/>
            <a:ext cx="2825496" cy="140817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Level: intermediate/practitioner Primary track: Analytics and Modeling Track.</a:t>
            </a:r>
            <a:endParaRPr lang="en-US" sz="12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03904"/>
            <a:ext cx="28254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Learning sequence</a:t>
            </a:r>
            <a:endParaRPr lang="en-US" sz="1220" dirty="0"/>
          </a:p>
        </p:txBody>
      </p:sp>
      <p:sp>
        <p:nvSpPr>
          <p:cNvPr id="15" name="Text 13"/>
          <p:cNvSpPr/>
          <p:nvPr/>
        </p:nvSpPr>
        <p:spPr>
          <a:xfrm>
            <a:off x="8092440" y="4133088"/>
            <a:ext cx="2770632" cy="112471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Read the module for shared vocabulary and context.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Complete the practical exercise to apply the.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Use the notes and references for deeper review.</a:t>
            </a:r>
            <a:endParaRPr lang="en-US" sz="114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13: Monitor and Evaluate AI Systems - This lesson informs Play 13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12: Execute Governance and Oversight - This lesson informs Play 12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Apply the lesson</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related plays to identify decisions, participants, timing, approvals,.</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play links to</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Locate the decision point in the playbook sequence.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who should participate in the work.</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Document the review, approval, or implementation.</a:t>
            </a:r>
            <a:endParaRPr lang="en-US" sz="114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44: Performance Monitoring Dashboard (Dashboard)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45: Continuous Improvement Log (Log) - Use Continuous Improvement Log.</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48: AI Evaluation &amp; Outcomes Reporting (Template) - Use this tool to.</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13: AI Use Case Intake, Risk Review, and System Inventory Template.</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4533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Use the tools</a:t>
            </a:r>
            <a:endParaRPr lang="en-US" sz="1220" dirty="0"/>
          </a:p>
        </p:txBody>
      </p:sp>
      <p:sp>
        <p:nvSpPr>
          <p:cNvPr id="12" name="Text 10"/>
          <p:cNvSpPr/>
          <p:nvPr/>
        </p:nvSpPr>
        <p:spPr>
          <a:xfrm>
            <a:off x="8211312" y="1856232"/>
            <a:ext cx="2734056" cy="1591056"/>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linked tools when your department needs a structured worksheet, template,.</a:t>
            </a:r>
            <a:endParaRPr lang="en-US" sz="12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22776"/>
            <a:ext cx="273405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Tool selection cues</a:t>
            </a:r>
            <a:endParaRPr lang="en-US" sz="1220" dirty="0"/>
          </a:p>
        </p:txBody>
      </p:sp>
      <p:sp>
        <p:nvSpPr>
          <p:cNvPr id="15" name="Text 13"/>
          <p:cNvSpPr/>
          <p:nvPr/>
        </p:nvSpPr>
        <p:spPr>
          <a:xfrm>
            <a:off x="8229600" y="4251960"/>
            <a:ext cx="2679192" cy="1033272"/>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Use a tool when no comparable local process exists.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Adapt existing department templates when they.</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Save the completed artifact as evidence of the.</a:t>
            </a:r>
            <a:endParaRPr lang="en-US" sz="114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Describe the purpose of advanced model validation in public health AI.</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Interpret sensitivity, specificity, positive predictive value, negative.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Distinguish internal validation, external validation, and workflow validation.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Describe the purpose of advanced model validation in public health AI.</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Interpret sensitivity, specificity, positive.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Identify when model performance is insufficient.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Design monitoring for drift, degradation, error.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Produce an advanced validation plan for an AI-supported workflow.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Produce an advanced validation plan for an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Produce an advanced validation plan for 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Model validation is the process of determining whether an AI tool performs.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Basic validation asks whether the tool works at all.</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Advanced validation asks whether it works well enough, for whom, under what.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Model validation is the process of determining whether an AI tool performs.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Validation matters because public health AI tools can appear credible even.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polished dashboard, confident generated text, or high overall accuracy.</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Public health staff need to evaluate performance in relation to the specific.</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Validation matters because public health AI tools can appear credible even when.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 public health agency may test a model that identifies incoming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accuracy may be high, but that number alone is not enough.</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Staff need to know whether the model misses rare but severe conditions,.</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 public health agency may test a model that identifies incoming case reports.</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 public health agency may test a model that.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Staff need to know whether the model misses rare.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agency should validate the model on recent.</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Metric selection should start with the public health consequence.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Sensitivity may be prioritized when missing a true event is dangerous.</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Specificity may be prioritized when false positives create substantial.</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Metric selection should start with the public health consequence.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19456"/>
          </a:xfrm>
          <a:prstGeom prst="rect">
            <a:avLst/>
          </a:prstGeom>
          <a:noFill/>
          <a:ln/>
        </p:spPr>
        <p:txBody>
          <a:bodyPr wrap="square" lIns="0" tIns="0" rIns="0" bIns="0" rtlCol="0" anchor="ctr">
            <a:normAutofit/>
          </a:bodyPr>
          <a:lstStyle/>
          <a:p>
            <a:pPr indent="0" marL="0">
              <a:buNone/>
            </a:pPr>
            <a:r>
              <a:rPr lang="en-US" sz="1160" b="1" dirty="0">
                <a:solidFill>
                  <a:srgbClr val="0068B7"/>
                </a:solidFill>
                <a:latin typeface="Aptos" pitchFamily="34" charset="0"/>
                <a:ea typeface="Aptos" pitchFamily="34" charset="-122"/>
                <a:cs typeface="Aptos" pitchFamily="34" charset="-120"/>
              </a:rPr>
              <a:t>Risk control loop</a:t>
            </a:r>
            <a:endParaRPr lang="en-US" sz="1160" dirty="0"/>
          </a:p>
        </p:txBody>
      </p:sp>
      <p:sp>
        <p:nvSpPr>
          <p:cNvPr id="15" name="Shape 13"/>
          <p:cNvSpPr/>
          <p:nvPr/>
        </p:nvSpPr>
        <p:spPr>
          <a:xfrm>
            <a:off x="8717280" y="3406140"/>
            <a:ext cx="164592" cy="0"/>
          </a:xfrm>
          <a:prstGeom prst="line">
            <a:avLst/>
          </a:prstGeom>
          <a:noFill/>
          <a:ln w="15240">
            <a:solidFill>
              <a:srgbClr val="8ABBD8"/>
            </a:solidFill>
            <a:prstDash val="solid"/>
          </a:ln>
        </p:spPr>
      </p:sp>
      <p:sp>
        <p:nvSpPr>
          <p:cNvPr id="16" name="Shape 14"/>
          <p:cNvSpPr/>
          <p:nvPr/>
        </p:nvSpPr>
        <p:spPr>
          <a:xfrm>
            <a:off x="7781544" y="3255264"/>
            <a:ext cx="93573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818120"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Identify</a:t>
            </a:r>
            <a:endParaRPr lang="en-US" sz="880" dirty="0"/>
          </a:p>
        </p:txBody>
      </p:sp>
      <p:sp>
        <p:nvSpPr>
          <p:cNvPr id="18" name="Shape 16"/>
          <p:cNvSpPr/>
          <p:nvPr/>
        </p:nvSpPr>
        <p:spPr>
          <a:xfrm>
            <a:off x="9817608" y="3406140"/>
            <a:ext cx="164592" cy="0"/>
          </a:xfrm>
          <a:prstGeom prst="line">
            <a:avLst/>
          </a:prstGeom>
          <a:noFill/>
          <a:ln w="15240">
            <a:solidFill>
              <a:srgbClr val="8ABBD8"/>
            </a:solidFill>
            <a:prstDash val="solid"/>
          </a:ln>
        </p:spPr>
      </p:sp>
      <p:sp>
        <p:nvSpPr>
          <p:cNvPr id="19" name="Shape 17"/>
          <p:cNvSpPr/>
          <p:nvPr/>
        </p:nvSpPr>
        <p:spPr>
          <a:xfrm>
            <a:off x="8881872" y="3255264"/>
            <a:ext cx="93573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18448"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Control</a:t>
            </a:r>
            <a:endParaRPr lang="en-US" sz="880" dirty="0"/>
          </a:p>
        </p:txBody>
      </p:sp>
      <p:sp>
        <p:nvSpPr>
          <p:cNvPr id="21" name="Shape 19"/>
          <p:cNvSpPr/>
          <p:nvPr/>
        </p:nvSpPr>
        <p:spPr>
          <a:xfrm>
            <a:off x="9982200" y="3255264"/>
            <a:ext cx="93573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8416"/>
            <a:ext cx="86258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Monitor</a:t>
            </a:r>
            <a:endParaRPr lang="en-US" sz="880" dirty="0"/>
          </a:p>
        </p:txBody>
      </p:sp>
      <p:sp>
        <p:nvSpPr>
          <p:cNvPr id="23" name="Text 21"/>
          <p:cNvSpPr/>
          <p:nvPr/>
        </p:nvSpPr>
        <p:spPr>
          <a:xfrm>
            <a:off x="7763256" y="3749040"/>
            <a:ext cx="3172968" cy="356616"/>
          </a:xfrm>
          <a:prstGeom prst="rect">
            <a:avLst/>
          </a:prstGeom>
          <a:noFill/>
          <a:ln/>
        </p:spPr>
        <p:txBody>
          <a:bodyPr wrap="square" lIns="254" tIns="254" rIns="254" bIns="254" rtlCol="0" anchor="t">
            <a:normAutofit/>
          </a:bodyPr>
          <a:lstStyle/>
          <a:p>
            <a:pPr indent="0" marL="0">
              <a:buNone/>
            </a:pPr>
            <a:r>
              <a:rPr lang="en-US" sz="1040" dirty="0">
                <a:solidFill>
                  <a:srgbClr val="17364A"/>
                </a:solidFill>
                <a:latin typeface="Aptos" pitchFamily="34" charset="0"/>
                <a:ea typeface="Aptos" pitchFamily="34" charset="-122"/>
                <a:cs typeface="Aptos" pitchFamily="34" charset="-120"/>
              </a:rPr>
              <a:t>Responsible use depends on finding risks early, applying safeguards,.</a:t>
            </a:r>
            <a:endParaRPr lang="en-US" sz="1040" dirty="0"/>
          </a:p>
        </p:txBody>
      </p:sp>
      <p:sp>
        <p:nvSpPr>
          <p:cNvPr id="24" name="Shape 22"/>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25" name="Text 23"/>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26" name="Text 24"/>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validation examines whether the AI output is understandable,.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model can be statistically strong but operationally weak if staff do not.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Workflow validation should include usability testing, training,.</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validation examines whether the AI output is understandable,.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Workflow validation examines whether the AI output.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model can be statistically strong but.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Post-deployment validation should be planned.</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Misleading aggregate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Overall metrics may hide poor subgroup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subgroup testing and equity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Misleading aggregate performance.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Metric mismatch.</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selected metric may not match the public.</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metric selection tied to.</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Workflow failure.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A technically accurate model may be unusable or misused.</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Guardrails include usability testing, training, source visibility, and.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Workflow failure.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Workflow failure.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A technically accurate model may be unusable or.</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Guardrails include usability testing, training,.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applies to predictive models, NLP tools, generative.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generative AI, validation may include factuality, completeness, source.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For RAG, validation should test retrieval quality and citation accuracy.</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applies to predictive models, NLP tools, generative.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applies to predictive models,.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generative AI, validation may include.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For agentic workflows, validation should include.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decision or action will the AI output support?</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performance metrics match the consequences of error?</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Which subgroups, data sources, or settings require separate review?</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decision or action will the AI output support?</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decision or action will the AI output support?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performance metrics match the consequences.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Which subgroups, data sources, or settings require.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What would make performance unacceptable for this use case?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How will the agency monitor performance after deployment?</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would make performance unacceptable for this use case?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What would make performance unacceptable for this.</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How will the agency monitor performance after.</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Create an advanced validation plan for one AI-supported workflow.</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Include intended use, validation dataset, comparison standard, performance.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The plan should clearly explain how validation results will be interpreted.</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advanced validation plan for one AI-supported workflow.</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Include intended use, validation dataset,.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The plan should clearly explain how validation.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Metric and error-consequence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performance review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Metric and error-consequence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performance review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Post-deployment monitoring schedule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Post-deployment monitoring schedule</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Post-deployment monitoring schedule</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Advanced validation plan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Metric and error-consequence table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Subgroup performance review plan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Advanced validation plan</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Advanced validation plan</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Metric and error-consequence table</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Subgroup performance review plan</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1. Why can overall accuracy be misleading?</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2. What is workflow validation?</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3. Which metric is especially important when missed true events could cause.</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Why can overall accuracy be misleading?</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Why can overall accuracy be misleading?</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the assignment to test whether you can explain the concept, apply it to a.</a:t>
            </a:r>
            <a:endParaRPr lang="en-US" sz="12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Advanced Model Validation and Evaluation for Public Health AI</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22960" y="1463040"/>
            <a:ext cx="6565392" cy="4343400"/>
          </a:xfrm>
          <a:prstGeom prst="rect">
            <a:avLst/>
          </a:prstGeom>
          <a:noFill/>
          <a:ln/>
        </p:spPr>
        <p:txBody>
          <a:bodyPr wrap="square" lIns="1016" tIns="1016" rIns="1016" bIns="1016" rtlCol="0" anchor="t">
            <a:normAutofit/>
          </a:bodyPr>
          <a:lstStyle/>
          <a:p>
            <a:pPr indent="0" marL="0">
              <a:buNone/>
            </a:pPr>
            <a:r>
              <a:rPr lang="en-US" sz="1920" dirty="0">
                <a:solidFill>
                  <a:srgbClr val="003A63"/>
                </a:solidFill>
                <a:latin typeface="Aptos" pitchFamily="34" charset="0"/>
                <a:ea typeface="Aptos" pitchFamily="34" charset="-122"/>
                <a:cs typeface="Aptos" pitchFamily="34" charset="-120"/>
              </a:rPr>
              <a:t>• NIST Artificial Intelligence Risk Management Framework:.</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NIST AI RMF Generative AI Profile:.</a:t>
            </a:r>
            <a:endParaRPr lang="en-US" sz="1920" dirty="0"/>
          </a:p>
          <a:p>
            <a:pPr indent="0" marL="0">
              <a:buNone/>
            </a:pPr>
            <a:r>
              <a:rPr lang="en-US" sz="1920" dirty="0">
                <a:solidFill>
                  <a:srgbClr val="003A63"/>
                </a:solidFill>
                <a:latin typeface="Aptos" pitchFamily="34" charset="0"/>
                <a:ea typeface="Aptos" pitchFamily="34" charset="-122"/>
                <a:cs typeface="Aptos" pitchFamily="34" charset="-120"/>
              </a:rPr>
              <a:t>• CDC Evaluation Framework: https://www.cdc.gov/evaluation/</a:t>
            </a:r>
            <a:endParaRPr lang="en-US" sz="1920" dirty="0"/>
          </a:p>
        </p:txBody>
      </p:sp>
      <p:sp>
        <p:nvSpPr>
          <p:cNvPr id="10" name="Shape 8"/>
          <p:cNvSpPr/>
          <p:nvPr/>
        </p:nvSpPr>
        <p:spPr>
          <a:xfrm>
            <a:off x="7543800" y="1325880"/>
            <a:ext cx="3611880" cy="1261872"/>
          </a:xfrm>
          <a:prstGeom prst="roundRect">
            <a:avLst>
              <a:gd name="adj" fmla="val 8696"/>
            </a:avLst>
          </a:prstGeom>
          <a:solidFill>
            <a:srgbClr val="EEF8ED"/>
          </a:solidFill>
          <a:ln w="12700">
            <a:solidFill>
              <a:srgbClr val="B9D7E6"/>
            </a:solidFill>
            <a:prstDash val="solid"/>
          </a:ln>
        </p:spPr>
      </p:sp>
      <p:sp>
        <p:nvSpPr>
          <p:cNvPr id="11" name="Text 9"/>
          <p:cNvSpPr/>
          <p:nvPr/>
        </p:nvSpPr>
        <p:spPr>
          <a:xfrm>
            <a:off x="7708392" y="145389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Risk check</a:t>
            </a:r>
            <a:endParaRPr lang="en-US" sz="1220" dirty="0"/>
          </a:p>
        </p:txBody>
      </p:sp>
      <p:sp>
        <p:nvSpPr>
          <p:cNvPr id="12" name="Text 10"/>
          <p:cNvSpPr/>
          <p:nvPr/>
        </p:nvSpPr>
        <p:spPr>
          <a:xfrm>
            <a:off x="7708392" y="176479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p:txBody>
      </p:sp>
      <p:sp>
        <p:nvSpPr>
          <p:cNvPr id="13" name="Shape 11"/>
          <p:cNvSpPr/>
          <p:nvPr/>
        </p:nvSpPr>
        <p:spPr>
          <a:xfrm>
            <a:off x="7543800" y="2724912"/>
            <a:ext cx="3611880" cy="1527048"/>
          </a:xfrm>
          <a:prstGeom prst="roundRect">
            <a:avLst>
              <a:gd name="adj" fmla="val 7186"/>
            </a:avLst>
          </a:prstGeom>
          <a:solidFill>
            <a:srgbClr val="FFFFFF"/>
          </a:solidFill>
          <a:ln w="12700">
            <a:solidFill>
              <a:srgbClr val="B9D7E6"/>
            </a:solidFill>
            <a:prstDash val="solid"/>
          </a:ln>
        </p:spPr>
      </p:sp>
      <p:sp>
        <p:nvSpPr>
          <p:cNvPr id="14" name="Text 12"/>
          <p:cNvSpPr/>
          <p:nvPr/>
        </p:nvSpPr>
        <p:spPr>
          <a:xfrm>
            <a:off x="7708392" y="2852928"/>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Concept checkpoints</a:t>
            </a:r>
            <a:endParaRPr lang="en-US" sz="1220" dirty="0"/>
          </a:p>
        </p:txBody>
      </p:sp>
      <p:sp>
        <p:nvSpPr>
          <p:cNvPr id="15" name="Text 13"/>
          <p:cNvSpPr/>
          <p:nvPr/>
        </p:nvSpPr>
        <p:spPr>
          <a:xfrm>
            <a:off x="7726680" y="3182112"/>
            <a:ext cx="3227832" cy="960120"/>
          </a:xfrm>
          <a:prstGeom prst="rect">
            <a:avLst/>
          </a:prstGeom>
          <a:noFill/>
          <a:ln/>
        </p:spPr>
        <p:txBody>
          <a:bodyPr wrap="square" lIns="508" tIns="508" rIns="508" bIns="508" rtlCol="0" anchor="t">
            <a:normAutofit/>
          </a:bodyPr>
          <a:lstStyle/>
          <a:p>
            <a:pPr indent="0" marL="0">
              <a:buNone/>
            </a:pPr>
            <a:r>
              <a:rPr lang="en-US" sz="1140" dirty="0">
                <a:solidFill>
                  <a:srgbClr val="17364A"/>
                </a:solidFill>
                <a:latin typeface="Aptos" pitchFamily="34" charset="0"/>
                <a:ea typeface="Aptos" pitchFamily="34" charset="-122"/>
                <a:cs typeface="Aptos" pitchFamily="34" charset="-120"/>
              </a:rPr>
              <a:t>NIST Artificial Intelligence Risk Management.</a:t>
            </a:r>
            <a:endParaRPr lang="en-US" sz="1140" dirty="0"/>
          </a:p>
          <a:p>
            <a:pPr indent="0" marL="0">
              <a:buNone/>
            </a:pPr>
            <a:r>
              <a:rPr lang="en-US" sz="1140" dirty="0">
                <a:solidFill>
                  <a:srgbClr val="17364A"/>
                </a:solidFill>
                <a:latin typeface="Aptos" pitchFamily="34" charset="0"/>
                <a:ea typeface="Aptos" pitchFamily="34" charset="-122"/>
                <a:cs typeface="Aptos" pitchFamily="34" charset="-120"/>
              </a:rPr>
              <a:t>WHO Guidance on Large Multi-Modal Models:.</a:t>
            </a:r>
            <a:endParaRPr lang="en-US" sz="1140" dirty="0"/>
          </a:p>
        </p:txBody>
      </p:sp>
      <p:sp>
        <p:nvSpPr>
          <p:cNvPr id="16" name="Shape 14"/>
          <p:cNvSpPr/>
          <p:nvPr/>
        </p:nvSpPr>
        <p:spPr>
          <a:xfrm>
            <a:off x="7543800" y="4389120"/>
            <a:ext cx="3611880" cy="1261872"/>
          </a:xfrm>
          <a:prstGeom prst="roundRect">
            <a:avLst>
              <a:gd name="adj" fmla="val 8696"/>
            </a:avLst>
          </a:prstGeom>
          <a:solidFill>
            <a:srgbClr val="EAF6F8"/>
          </a:solidFill>
          <a:ln w="12700">
            <a:solidFill>
              <a:srgbClr val="B9D7E6"/>
            </a:solidFill>
            <a:prstDash val="solid"/>
          </a:ln>
        </p:spPr>
      </p:sp>
      <p:sp>
        <p:nvSpPr>
          <p:cNvPr id="17" name="Text 15"/>
          <p:cNvSpPr/>
          <p:nvPr/>
        </p:nvSpPr>
        <p:spPr>
          <a:xfrm>
            <a:off x="7708392" y="4517136"/>
            <a:ext cx="3282696" cy="228600"/>
          </a:xfrm>
          <a:prstGeom prst="rect">
            <a:avLst/>
          </a:prstGeom>
          <a:noFill/>
          <a:ln/>
        </p:spPr>
        <p:txBody>
          <a:bodyPr wrap="square" lIns="0" tIns="0" rIns="0" bIns="0" rtlCol="0" anchor="ctr"/>
          <a:lstStyle/>
          <a:p>
            <a:pPr indent="0" marL="0">
              <a:buNone/>
            </a:pPr>
            <a:r>
              <a:rPr lang="en-US" sz="1220" b="1" dirty="0">
                <a:solidFill>
                  <a:srgbClr val="0068B7"/>
                </a:solidFill>
                <a:latin typeface="Aptos" pitchFamily="34" charset="0"/>
                <a:ea typeface="Aptos" pitchFamily="34" charset="-122"/>
                <a:cs typeface="Aptos" pitchFamily="34" charset="-120"/>
              </a:rPr>
              <a:t>Safeguard to plan</a:t>
            </a:r>
            <a:endParaRPr lang="en-US" sz="1220" dirty="0"/>
          </a:p>
        </p:txBody>
      </p:sp>
      <p:sp>
        <p:nvSpPr>
          <p:cNvPr id="18" name="Text 16"/>
          <p:cNvSpPr/>
          <p:nvPr/>
        </p:nvSpPr>
        <p:spPr>
          <a:xfrm>
            <a:off x="7708392" y="4828032"/>
            <a:ext cx="3282696" cy="749808"/>
          </a:xfrm>
          <a:prstGeom prst="rect">
            <a:avLst/>
          </a:prstGeom>
          <a:noFill/>
          <a:ln/>
        </p:spPr>
        <p:txBody>
          <a:bodyPr wrap="square" lIns="254" tIns="254" rIns="254" bIns="254"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Identify what could go wrong, who could be affected, what safeguards are needed,.</a:t>
            </a:r>
            <a:endParaRPr lang="en-US" sz="12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Model Validation and Evaluation for Public Health AI</dc:title>
  <dc:subject>Advanced Model Validation and Evaluation for Public Health AI learning module</dc:subject>
  <dc:creator>Paula Soper</dc:creator>
  <cp:lastModifiedBy>Paula Soper</cp:lastModifiedBy>
  <cp:revision>1</cp:revision>
  <dcterms:created xsi:type="dcterms:W3CDTF">2026-07-14T04:35:30Z</dcterms:created>
  <dcterms:modified xsi:type="dcterms:W3CDTF">2026-07-14T04:35:30Z</dcterms:modified>
</cp:coreProperties>
</file>