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320 Agentic Workflow Design and Orchestration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4: Engage Stakeholders - This lesson informs Play 4 by helping learners connect the lesson topic to engage stakeholders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agentic AI and orchestration in public health terms.
Distinguish advisory outputs from tool-using or action-taking AI workflows.
Identify the components of an agentic workflow, including goals, tools, permissions, memory, planning, human approval, logs, and rollback.
Assess risks from excessive agency, unauthorized actions, error propagation, prompt injection, and unclear accountability.
Design human-in-the-loop and human-on-the-loop controls for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agentic workflow control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Agentic AI matters because it shifts AI from generating outputs to participating in workflows. A chatbot that drafts a message is one level of risk. An agent that sends the message, updates a case record, creates a task, or notifies a partner is a different level of risk. Action-taking systems require explicit governance because errors can propagate quickly.
Public health workflows often involve legal authority, sensitive data, vulnerable communities, and time-sensitive decisions. An agentic workflow could be valuable if it helps route records, gather relevant documents, prepare draft summaries, or create follow-up tasks. It could be harmful if it acts outside scope, updates records incorrectly, exposes information, or creates alerts without appropriate review.
Responsible agentic design begins with constraint. Agencies should define what the agent is allowed to know, allowed to do, required to ask, required to log, and prohibited from doing. The system should fail safely when it encounters uncertainty, missing data, conflicting guidance, or requests outside 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an agentic workflow for incoming public health inquiries. The agent could classify the inquiry, retrieve relevant approved guidance, draft a response, create a ticket, and route the item to the appropriate program. For low-risk general information, the agent might prepare a draft for staff review. For sensitive complaints, reportable disease concerns, media inquiries, or legal issues, the agent should escalate rather than respond.
This design requires orchestration rules. The agent needs classification criteria, approved guidance sources, limits on data access, prohibited response categories, human approval before sending messages, audit logs, and procedures for correcting misrouted items. The value comes from workflow support, not from removing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Agentic workflow design begins with the goal. The goal should be narrow and operationally defined. “Help with surveillance” is too broad. “Draft a summary of new records and create a review task for a supervisor when defined criteria are met” is more suitable. Narrow goals make it easier to define tools, permissions, validation, and monitoring.
Tool access is a central design decision. An agent may be allowed to search documents, query a database, create a task, send a draft message, or update a record. Each tool should be reviewed for sensitivity, consequence, and reversibility. Read-only access is generally lower risk than write access. External communication and system-of-record updates usually require human approval.
Memory should be handled carefully. Some agents retain context across interactions or workflows. Persistent memory may improve continuity but can create privacy, accuracy, and records risks. Agencies should define what may be stored, for how long, who can access it, and how it can be corrected or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Human oversight should match risk. Human-in-the-loop approval is appropriate for actions that affect records, services, public communication, legal obligations, or partners. Human-on-the-loop monitoring may be appropriate for lower-risk background tasks if users can intervene quickly. Fully automated action should be limited to low-risk, well-tested, reversible tasks.
Agentic workflows require incident response planning. Agencies should define what counts as an agentic incident, such as unauthorized action, data exposure, repeated error, misrouting, unsafe recommendation, or failure to escalate. Logs should support reconstruction of prompts, retrieved sources, tool calls, actions, approvals, and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Excessive agency. An agent may take actions beyond intended scope. Guardrails include narrow goals, allowed-action lists, prohibited actions, and approval gates.
Unauthorized system access. Tool access may expose sensitive data or functions. Guardrails include least privilege, scoped credentials, role-based access, and audit logs.
Error propagation. One wrong step may trigger downstream errors. Guardrails include checkpoints, validation, rollback, and staged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Unclear accountability. Staff may not know who is responsible for agent actions. Guardrails include role definitions, review records, and governance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Agentic workflows may combine RAG, APIs, prompts, classification models, workflow rules, and messaging systems. They are most appropriate when tasks are repetitive, bounded, reviewable, and supported by reliable data. They are least appropriate when the task requires complex judgment, legal interpretation, community sensitivity, or irreversible action without review.
Public health agencies should pilot agentic workflows in limited, low-risk settings before expanding. Monitoring should include tool calls, failed actions, overrides, user feedback, time saved, error types,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goal would the agent pursue, and how narrowly can it be defined?
Which tools or systems would the agent access?
Which actions are allowed, prohibited, or require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agent behavior?
What rollback or correction process is needed if the agent makes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agentic workflow control plan. Include the goal, trigger, data sources, tools, allowed actions, prohibited actions, approval points, memory rules, logs, monitoring indicators, rollback process, incident triggers, and responsible owner.
The plan should identify at least one low-risk pilot boundary and one condition that would require pausing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Agentic workflow control plan
Allowed/prohibited action list
Human approval and escalation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Tool-call logging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Agentic workflow control plan
Allowed/prohibited action list
Human approval and escalation map
Tool-call logging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makes agentic AI different from simple drafting support?
2. Which action usually requires stronger oversight?
3. What is orchestration?
4. What should happen when an agent encounters an out-of-scope request?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NIST Privacy Framework: https://www.nist.gov/privacy-framework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Agentic Workflow Design and Orchestration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 tools, calling.</a:t>
            </a:r>
            <a:endParaRPr lang="en-US" sz="2100" dirty="0"/>
          </a:p>
          <a:p>
            <a:r>
              <a:rPr lang="en-US" sz="2100" dirty="0">
                <a:solidFill>
                  <a:srgbClr val="17364A"/>
                </a:solidFill>
                <a:latin typeface="Aptos" pitchFamily="34" charset="0"/>
                <a:ea typeface="Aptos" pitchFamily="34" charset="-122"/>
                <a:cs typeface="Aptos" pitchFamily="34" charset="-120"/>
              </a:rPr>
              <a:t>In public health, agentic workflows may eventually support intake triage, document routing, surveillance review,.</a:t>
            </a:r>
            <a:endParaRPr lang="en-US" sz="2100" dirty="0"/>
          </a:p>
          <a:p>
            <a:r>
              <a:rPr lang="en-US" sz="2100" dirty="0">
                <a:solidFill>
                  <a:srgbClr val="17364A"/>
                </a:solidFill>
                <a:latin typeface="Aptos" pitchFamily="34" charset="0"/>
                <a:ea typeface="Aptos" pitchFamily="34" charset="-122"/>
                <a:cs typeface="Aptos" pitchFamily="34" charset="-120"/>
              </a:rPr>
              <a:t>These uses require stronger controls than simple drafting or summarization.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agentic AI and orchestration in public health terms.</a:t>
            </a:r>
            <a:endParaRPr lang="en-US" sz="2100" dirty="0"/>
          </a:p>
          <a:p>
            <a:r>
              <a:rPr lang="en-US" sz="2100" dirty="0">
                <a:solidFill>
                  <a:srgbClr val="17364A"/>
                </a:solidFill>
                <a:latin typeface="Aptos" pitchFamily="34" charset="0"/>
                <a:ea typeface="Aptos" pitchFamily="34" charset="-122"/>
                <a:cs typeface="Aptos" pitchFamily="34" charset="-120"/>
              </a:rPr>
              <a:t>Distinguish advisory outputs from tool-using or action-taking AI workflows.</a:t>
            </a:r>
            <a:endParaRPr lang="en-US" sz="2100" dirty="0"/>
          </a:p>
          <a:p>
            <a:r>
              <a:rPr lang="en-US" sz="2100" dirty="0">
                <a:solidFill>
                  <a:srgbClr val="17364A"/>
                </a:solidFill>
                <a:latin typeface="Aptos" pitchFamily="34" charset="0"/>
                <a:ea typeface="Aptos" pitchFamily="34" charset="-122"/>
                <a:cs typeface="Aptos" pitchFamily="34" charset="-120"/>
              </a:rPr>
              <a:t>Identify the components of an agentic workflow, including goals, tools, permissions, memory, planning,.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agentic AI and orchestration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agentic workflow control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agentic workflow control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a:t>
            </a:r>
            <a:endParaRPr lang="en-US" sz="2100" dirty="0"/>
          </a:p>
          <a:p>
            <a:r>
              <a:rPr lang="en-US" sz="2100" dirty="0">
                <a:solidFill>
                  <a:srgbClr val="17364A"/>
                </a:solidFill>
                <a:latin typeface="Aptos" pitchFamily="34" charset="0"/>
                <a:ea typeface="Aptos" pitchFamily="34" charset="-122"/>
                <a:cs typeface="Aptos" pitchFamily="34" charset="-120"/>
              </a:rPr>
              <a:t>In public health, agentic workflows may eventually support intake triage, document routing,.</a:t>
            </a:r>
            <a:endParaRPr lang="en-US" sz="2100" dirty="0"/>
          </a:p>
          <a:p>
            <a:r>
              <a:rPr lang="en-US" sz="2100" dirty="0">
                <a:solidFill>
                  <a:srgbClr val="17364A"/>
                </a:solidFill>
                <a:latin typeface="Aptos" pitchFamily="34" charset="0"/>
                <a:ea typeface="Aptos" pitchFamily="34" charset="-122"/>
                <a:cs typeface="Aptos" pitchFamily="34" charset="-120"/>
              </a:rPr>
              <a:t>These uses require stronger controls than simple drafting or summarization.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AI matters because it shifts AI from generating outputs to participating in workflows.</a:t>
            </a:r>
            <a:endParaRPr lang="en-US" sz="2100" dirty="0"/>
          </a:p>
          <a:p>
            <a:r>
              <a:rPr lang="en-US" sz="2100" dirty="0">
                <a:solidFill>
                  <a:srgbClr val="17364A"/>
                </a:solidFill>
                <a:latin typeface="Aptos" pitchFamily="34" charset="0"/>
                <a:ea typeface="Aptos" pitchFamily="34" charset="-122"/>
                <a:cs typeface="Aptos" pitchFamily="34" charset="-120"/>
              </a:rPr>
              <a:t>A chatbot that drafts a message is one level of risk.</a:t>
            </a:r>
            <a:endParaRPr lang="en-US" sz="2100" dirty="0"/>
          </a:p>
          <a:p>
            <a:r>
              <a:rPr lang="en-US" sz="2100" dirty="0">
                <a:solidFill>
                  <a:srgbClr val="17364A"/>
                </a:solidFill>
                <a:latin typeface="Aptos" pitchFamily="34" charset="0"/>
                <a:ea typeface="Aptos" pitchFamily="34" charset="-122"/>
                <a:cs typeface="Aptos" pitchFamily="34" charset="-120"/>
              </a:rPr>
              <a:t>An agent that sends the message, updates a case record, creates a task, or notifies a partner is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AI matters because it shifts AI from generating outputs to participating in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consider an agentic workflow for incoming public health inquiries.</a:t>
            </a:r>
            <a:endParaRPr lang="en-US" sz="2100" dirty="0"/>
          </a:p>
          <a:p>
            <a:r>
              <a:rPr lang="en-US" sz="2100" dirty="0">
                <a:solidFill>
                  <a:srgbClr val="17364A"/>
                </a:solidFill>
                <a:latin typeface="Aptos" pitchFamily="34" charset="0"/>
                <a:ea typeface="Aptos" pitchFamily="34" charset="-122"/>
                <a:cs typeface="Aptos" pitchFamily="34" charset="-120"/>
              </a:rPr>
              <a:t>The agent could classify the inquiry, retrieve relevant approved guidance, draft a response, create a.</a:t>
            </a:r>
            <a:endParaRPr lang="en-US" sz="2100" dirty="0"/>
          </a:p>
          <a:p>
            <a:r>
              <a:rPr lang="en-US" sz="2100" dirty="0">
                <a:solidFill>
                  <a:srgbClr val="17364A"/>
                </a:solidFill>
                <a:latin typeface="Aptos" pitchFamily="34" charset="0"/>
                <a:ea typeface="Aptos" pitchFamily="34" charset="-122"/>
                <a:cs typeface="Aptos" pitchFamily="34" charset="-120"/>
              </a:rPr>
              <a:t>For low-risk general information, the agent might prepare a draft for staff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consider an agentic workflow for incoming public health inquiries.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workflow design begins with the goal.</a:t>
            </a:r>
            <a:endParaRPr lang="en-US" sz="2100" dirty="0"/>
          </a:p>
          <a:p>
            <a:r>
              <a:rPr lang="en-US" sz="2100" dirty="0">
                <a:solidFill>
                  <a:srgbClr val="17364A"/>
                </a:solidFill>
                <a:latin typeface="Aptos" pitchFamily="34" charset="0"/>
                <a:ea typeface="Aptos" pitchFamily="34" charset="-122"/>
                <a:cs typeface="Aptos" pitchFamily="34" charset="-120"/>
              </a:rPr>
              <a:t>The goal should be narrow and operationally defined. “Help with surveillance” is too broad. “Draft a.</a:t>
            </a:r>
            <a:endParaRPr lang="en-US" sz="2100" dirty="0"/>
          </a:p>
          <a:p>
            <a:r>
              <a:rPr lang="en-US" sz="2100" dirty="0">
                <a:solidFill>
                  <a:srgbClr val="17364A"/>
                </a:solidFill>
                <a:latin typeface="Aptos" pitchFamily="34" charset="0"/>
                <a:ea typeface="Aptos" pitchFamily="34" charset="-122"/>
                <a:cs typeface="Aptos" pitchFamily="34" charset="-120"/>
              </a:rPr>
              <a:t>Narrow goals make it easier to define tools, permissions, validation, and monitoring.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workflow design begins with the goal.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oversight should match risk.</a:t>
            </a:r>
            <a:endParaRPr lang="en-US" sz="2100" dirty="0"/>
          </a:p>
          <a:p>
            <a:r>
              <a:rPr lang="en-US" sz="2100" dirty="0">
                <a:solidFill>
                  <a:srgbClr val="17364A"/>
                </a:solidFill>
                <a:latin typeface="Aptos" pitchFamily="34" charset="0"/>
                <a:ea typeface="Aptos" pitchFamily="34" charset="-122"/>
                <a:cs typeface="Aptos" pitchFamily="34" charset="-120"/>
              </a:rPr>
              <a:t>Human-in-the-loop approval is appropriate for actions that affect records, services, public.</a:t>
            </a:r>
            <a:endParaRPr lang="en-US" sz="2100" dirty="0"/>
          </a:p>
          <a:p>
            <a:r>
              <a:rPr lang="en-US" sz="2100" dirty="0">
                <a:solidFill>
                  <a:srgbClr val="17364A"/>
                </a:solidFill>
                <a:latin typeface="Aptos" pitchFamily="34" charset="0"/>
                <a:ea typeface="Aptos" pitchFamily="34" charset="-122"/>
                <a:cs typeface="Aptos" pitchFamily="34" charset="-120"/>
              </a:rPr>
              <a:t>Human-on-the-loop monitoring may be appropriate for lower-risk background tasks if users can intervene.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oversight should match risk.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Excessive agency.</a:t>
            </a:r>
            <a:endParaRPr lang="en-US" sz="2100" dirty="0"/>
          </a:p>
          <a:p>
            <a:r>
              <a:rPr lang="en-US" sz="2100" dirty="0">
                <a:solidFill>
                  <a:srgbClr val="17364A"/>
                </a:solidFill>
                <a:latin typeface="Aptos" pitchFamily="34" charset="0"/>
                <a:ea typeface="Aptos" pitchFamily="34" charset="-122"/>
                <a:cs typeface="Aptos" pitchFamily="34" charset="-120"/>
              </a:rPr>
              <a:t>An agent may take actions beyond intended scope.</a:t>
            </a:r>
            <a:endParaRPr lang="en-US" sz="2100" dirty="0"/>
          </a:p>
          <a:p>
            <a:r>
              <a:rPr lang="en-US" sz="2100" dirty="0">
                <a:solidFill>
                  <a:srgbClr val="17364A"/>
                </a:solidFill>
                <a:latin typeface="Aptos" pitchFamily="34" charset="0"/>
                <a:ea typeface="Aptos" pitchFamily="34" charset="-122"/>
                <a:cs typeface="Aptos" pitchFamily="34" charset="-120"/>
              </a:rPr>
              <a:t>Guardrails include narrow goals, allowed-action lists, prohibited actions, and approval gates.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Excessive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Unclear accountability.</a:t>
            </a:r>
            <a:endParaRPr lang="en-US" sz="2100" dirty="0"/>
          </a:p>
          <a:p>
            <a:r>
              <a:rPr lang="en-US" sz="2100" dirty="0">
                <a:solidFill>
                  <a:srgbClr val="17364A"/>
                </a:solidFill>
                <a:latin typeface="Aptos" pitchFamily="34" charset="0"/>
                <a:ea typeface="Aptos" pitchFamily="34" charset="-122"/>
                <a:cs typeface="Aptos" pitchFamily="34" charset="-120"/>
              </a:rPr>
              <a:t>Staff may not know who is responsible for agent actions.</a:t>
            </a:r>
            <a:endParaRPr lang="en-US" sz="2100" dirty="0"/>
          </a:p>
          <a:p>
            <a:r>
              <a:rPr lang="en-US" sz="2100" dirty="0">
                <a:solidFill>
                  <a:srgbClr val="17364A"/>
                </a:solidFill>
                <a:latin typeface="Aptos" pitchFamily="34" charset="0"/>
                <a:ea typeface="Aptos" pitchFamily="34" charset="-122"/>
                <a:cs typeface="Aptos" pitchFamily="34" charset="-120"/>
              </a:rPr>
              <a:t>Guardrails include role definitions, review records, and governance ownership.</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Unclear accountability.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workflows may combine RAG, APIs, prompts, classification models, workflow rules, and messaging.</a:t>
            </a:r>
            <a:endParaRPr lang="en-US" sz="2100" dirty="0"/>
          </a:p>
          <a:p>
            <a:r>
              <a:rPr lang="en-US" sz="2100" dirty="0">
                <a:solidFill>
                  <a:srgbClr val="17364A"/>
                </a:solidFill>
                <a:latin typeface="Aptos" pitchFamily="34" charset="0"/>
                <a:ea typeface="Aptos" pitchFamily="34" charset="-122"/>
                <a:cs typeface="Aptos" pitchFamily="34" charset="-120"/>
              </a:rPr>
              <a:t>They are most appropriate when tasks are repetitive, bounded, reviewable, and supported by reliable data.</a:t>
            </a:r>
            <a:endParaRPr lang="en-US" sz="2100" dirty="0"/>
          </a:p>
          <a:p>
            <a:r>
              <a:rPr lang="en-US" sz="2100" dirty="0">
                <a:solidFill>
                  <a:srgbClr val="17364A"/>
                </a:solidFill>
                <a:latin typeface="Aptos" pitchFamily="34" charset="0"/>
                <a:ea typeface="Aptos" pitchFamily="34" charset="-122"/>
                <a:cs typeface="Aptos" pitchFamily="34" charset="-120"/>
              </a:rPr>
              <a:t>They are least appropriate when the task requires complex judgment, legal interpretation, community.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workflows may combine RAG, APIs, prompts, classification models, workflow rules, and messaging.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goal would the agent pursue, and how narrowly can it be defined?</a:t>
            </a:r>
            <a:endParaRPr lang="en-US" sz="2100" dirty="0"/>
          </a:p>
          <a:p>
            <a:r>
              <a:rPr lang="en-US" sz="2100" dirty="0">
                <a:solidFill>
                  <a:srgbClr val="17364A"/>
                </a:solidFill>
                <a:latin typeface="Aptos" pitchFamily="34" charset="0"/>
                <a:ea typeface="Aptos" pitchFamily="34" charset="-122"/>
                <a:cs typeface="Aptos" pitchFamily="34" charset="-120"/>
              </a:rPr>
              <a:t>Which tools or systems would the agent access?</a:t>
            </a:r>
            <a:endParaRPr lang="en-US" sz="2100" dirty="0"/>
          </a:p>
          <a:p>
            <a:r>
              <a:rPr lang="en-US" sz="2100" dirty="0">
                <a:solidFill>
                  <a:srgbClr val="17364A"/>
                </a:solidFill>
                <a:latin typeface="Aptos" pitchFamily="34" charset="0"/>
                <a:ea typeface="Aptos" pitchFamily="34" charset="-122"/>
                <a:cs typeface="Aptos" pitchFamily="34" charset="-120"/>
              </a:rPr>
              <a:t>Which actions are allowed, prohibited, or require human approval?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goal would the agent pursue, and how narrowly can it be defined?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logs are needed to reconstruct agent behavior?</a:t>
            </a:r>
            <a:endParaRPr lang="en-US" sz="2100" dirty="0"/>
          </a:p>
          <a:p>
            <a:r>
              <a:rPr lang="en-US" sz="2100" dirty="0">
                <a:solidFill>
                  <a:srgbClr val="17364A"/>
                </a:solidFill>
                <a:latin typeface="Aptos" pitchFamily="34" charset="0"/>
                <a:ea typeface="Aptos" pitchFamily="34" charset="-122"/>
                <a:cs typeface="Aptos" pitchFamily="34" charset="-120"/>
              </a:rPr>
              <a:t>What rollback or correction process is needed if the agent makes an error?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logs are needed to reconstruct agent behavior?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agentic workflow control plan.</a:t>
            </a:r>
            <a:endParaRPr lang="en-US" sz="2100" dirty="0"/>
          </a:p>
          <a:p>
            <a:r>
              <a:rPr lang="en-US" sz="2100" dirty="0">
                <a:solidFill>
                  <a:srgbClr val="17364A"/>
                </a:solidFill>
                <a:latin typeface="Aptos" pitchFamily="34" charset="0"/>
                <a:ea typeface="Aptos" pitchFamily="34" charset="-122"/>
                <a:cs typeface="Aptos" pitchFamily="34" charset="-120"/>
              </a:rPr>
              <a:t>Include the goal, trigger, data sources, tools, allowed actions, prohibited actions, approval points,.</a:t>
            </a:r>
            <a:endParaRPr lang="en-US" sz="2100" dirty="0"/>
          </a:p>
          <a:p>
            <a:r>
              <a:rPr lang="en-US" sz="2100" dirty="0">
                <a:solidFill>
                  <a:srgbClr val="17364A"/>
                </a:solidFill>
                <a:latin typeface="Aptos" pitchFamily="34" charset="0"/>
                <a:ea typeface="Aptos" pitchFamily="34" charset="-122"/>
                <a:cs typeface="Aptos" pitchFamily="34" charset="-120"/>
              </a:rPr>
              <a:t>The plan should identify at least one low-risk pilot boundary and one condition that would require.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agentic workflow control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workflow control plan</a:t>
            </a:r>
            <a:endParaRPr lang="en-US" sz="2100" dirty="0"/>
          </a:p>
          <a:p>
            <a:r>
              <a:rPr lang="en-US" sz="2100" dirty="0">
                <a:solidFill>
                  <a:srgbClr val="17364A"/>
                </a:solidFill>
                <a:latin typeface="Aptos" pitchFamily="34" charset="0"/>
                <a:ea typeface="Aptos" pitchFamily="34" charset="-122"/>
                <a:cs typeface="Aptos" pitchFamily="34" charset="-120"/>
              </a:rPr>
              <a:t>Allowed/prohibited action list</a:t>
            </a:r>
            <a:endParaRPr lang="en-US" sz="2100" dirty="0"/>
          </a:p>
          <a:p>
            <a:r>
              <a:rPr lang="en-US" sz="2100" dirty="0">
                <a:solidFill>
                  <a:srgbClr val="17364A"/>
                </a:solidFill>
                <a:latin typeface="Aptos" pitchFamily="34" charset="0"/>
                <a:ea typeface="Aptos" pitchFamily="34" charset="-122"/>
                <a:cs typeface="Aptos" pitchFamily="34" charset="-120"/>
              </a:rPr>
              <a:t>Human approval and escalation map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workflow control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Tool-call logging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Tool-call logging requirements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workflow control plan</a:t>
            </a:r>
            <a:endParaRPr lang="en-US" sz="2100" dirty="0"/>
          </a:p>
          <a:p>
            <a:r>
              <a:rPr lang="en-US" sz="2100" dirty="0">
                <a:solidFill>
                  <a:srgbClr val="17364A"/>
                </a:solidFill>
                <a:latin typeface="Aptos" pitchFamily="34" charset="0"/>
                <a:ea typeface="Aptos" pitchFamily="34" charset="-122"/>
                <a:cs typeface="Aptos" pitchFamily="34" charset="-120"/>
              </a:rPr>
              <a:t>Allowed/prohibited action list</a:t>
            </a:r>
            <a:endParaRPr lang="en-US" sz="2100" dirty="0"/>
          </a:p>
          <a:p>
            <a:r>
              <a:rPr lang="en-US" sz="2100" dirty="0">
                <a:solidFill>
                  <a:srgbClr val="17364A"/>
                </a:solidFill>
                <a:latin typeface="Aptos" pitchFamily="34" charset="0"/>
                <a:ea typeface="Aptos" pitchFamily="34" charset="-122"/>
                <a:cs typeface="Aptos" pitchFamily="34" charset="-120"/>
              </a:rPr>
              <a:t>Human approval and escalation map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workflow control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makes agentic AI different from simple drafting support?</a:t>
            </a:r>
            <a:endParaRPr lang="en-US" sz="2100" dirty="0"/>
          </a:p>
          <a:p>
            <a:r>
              <a:rPr lang="en-US" sz="2100" dirty="0">
                <a:solidFill>
                  <a:srgbClr val="17364A"/>
                </a:solidFill>
                <a:latin typeface="Aptos" pitchFamily="34" charset="0"/>
                <a:ea typeface="Aptos" pitchFamily="34" charset="-122"/>
                <a:cs typeface="Aptos" pitchFamily="34" charset="-120"/>
              </a:rPr>
              <a:t>2. Which action usually requires stronger oversight?</a:t>
            </a:r>
            <a:endParaRPr lang="en-US" sz="2100" dirty="0"/>
          </a:p>
          <a:p>
            <a:r>
              <a:rPr lang="en-US" sz="2100" dirty="0">
                <a:solidFill>
                  <a:srgbClr val="17364A"/>
                </a:solidFill>
                <a:latin typeface="Aptos" pitchFamily="34" charset="0"/>
                <a:ea typeface="Aptos" pitchFamily="34" charset="-122"/>
                <a:cs typeface="Aptos" pitchFamily="34" charset="-120"/>
              </a:rPr>
              <a:t>3. What is orchestration?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makes agentic AI different from simple drafting support?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OWASP Top 10 for Large Language Model Applications:.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Workflow Design and Orchestration</dc:title>
  <dc:subject>Agentic Workflow Design and Orchestration learning module</dc:subject>
  <dc:creator>Paula Soper</dc:creator>
  <cp:lastModifiedBy>Paula Soper</cp:lastModifiedBy>
  <cp:revision>1</cp:revision>
  <dcterms:created xsi:type="dcterms:W3CDTF">2026-07-12T19:55:20Z</dcterms:created>
  <dcterms:modified xsi:type="dcterms:W3CDTF">2026-07-12T19:55:20Z</dcterms:modified>
</cp:coreProperties>
</file>