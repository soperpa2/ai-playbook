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 tools, calling.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 surveillance review,.</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agentic AI and orchestration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advisory outputs from tool-using or action-taking AI workflows.</a:t>
            </a:r>
            <a:endParaRPr lang="en-US" sz="2100" dirty="0"/>
          </a:p>
          <a:p>
            <a:r>
              <a:rPr lang="en-US" sz="2100" dirty="0">
                <a:solidFill>
                  <a:srgbClr val="17364A"/>
                </a:solidFill>
                <a:latin typeface="Aptos" pitchFamily="34" charset="0"/>
                <a:ea typeface="Aptos" pitchFamily="34" charset="-122"/>
                <a:cs typeface="Aptos" pitchFamily="34" charset="-120"/>
              </a:rPr>
              <a:t>Identify the components of an agentic workflow, including goals, tools, permissions, memory, planning,.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agentic AI and orchestration in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agentic workflow control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2100" dirty="0"/>
          </a:p>
          <a:p>
            <a:r>
              <a:rPr lang="en-US" sz="2100" dirty="0">
                <a:solidFill>
                  <a:srgbClr val="17364A"/>
                </a:solidFill>
                <a:latin typeface="Aptos" pitchFamily="34" charset="0"/>
                <a:ea typeface="Aptos" pitchFamily="34" charset="-122"/>
                <a:cs typeface="Aptos" pitchFamily="34" charset="-120"/>
              </a:rPr>
              <a:t>A chatbot that drafts a message is one level of risk.</a:t>
            </a:r>
            <a:endParaRPr lang="en-US" sz="2100" dirty="0"/>
          </a:p>
          <a:p>
            <a:r>
              <a:rPr lang="en-US" sz="2100" dirty="0">
                <a:solidFill>
                  <a:srgbClr val="17364A"/>
                </a:solidFill>
                <a:latin typeface="Aptos" pitchFamily="34" charset="0"/>
                <a:ea typeface="Aptos" pitchFamily="34" charset="-122"/>
                <a:cs typeface="Aptos" pitchFamily="34" charset="-120"/>
              </a:rPr>
              <a:t>An agent that sends the message, updates a case record, creates a task, or notifies a partner is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2100" dirty="0"/>
          </a:p>
          <a:p>
            <a:r>
              <a:rPr lang="en-US" sz="2100" dirty="0">
                <a:solidFill>
                  <a:srgbClr val="17364A"/>
                </a:solidFill>
                <a:latin typeface="Aptos" pitchFamily="34" charset="0"/>
                <a:ea typeface="Aptos" pitchFamily="34" charset="-122"/>
                <a:cs typeface="Aptos" pitchFamily="34" charset="-120"/>
              </a:rPr>
              <a:t>The agent could classify the inquiry, retrieve relevant approved guidance, draft a response, create a.</a:t>
            </a:r>
            <a:endParaRPr lang="en-US" sz="2100" dirty="0"/>
          </a:p>
          <a:p>
            <a:r>
              <a:rPr lang="en-US" sz="2100" dirty="0">
                <a:solidFill>
                  <a:srgbClr val="17364A"/>
                </a:solidFill>
                <a:latin typeface="Aptos" pitchFamily="34" charset="0"/>
                <a:ea typeface="Aptos" pitchFamily="34" charset="-122"/>
                <a:cs typeface="Aptos" pitchFamily="34" charset="-120"/>
              </a:rPr>
              <a:t>For low-risk general information, the agent might prepare a draft for staff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design begins with the goal.</a:t>
            </a:r>
            <a:endParaRPr lang="en-US" sz="2100" dirty="0"/>
          </a:p>
          <a:p>
            <a:r>
              <a:rPr lang="en-US" sz="2100" dirty="0">
                <a:solidFill>
                  <a:srgbClr val="17364A"/>
                </a:solidFill>
                <a:latin typeface="Aptos" pitchFamily="34" charset="0"/>
                <a:ea typeface="Aptos" pitchFamily="34" charset="-122"/>
                <a:cs typeface="Aptos" pitchFamily="34" charset="-120"/>
              </a:rPr>
              <a:t>The goal should be narrow and operationally defined. “Help with surveillance” is too broad. “Draft a.</a:t>
            </a:r>
            <a:endParaRPr lang="en-US" sz="2100" dirty="0"/>
          </a:p>
          <a:p>
            <a:r>
              <a:rPr lang="en-US" sz="2100" dirty="0">
                <a:solidFill>
                  <a:srgbClr val="17364A"/>
                </a:solidFill>
                <a:latin typeface="Aptos" pitchFamily="34" charset="0"/>
                <a:ea typeface="Aptos" pitchFamily="34" charset="-122"/>
                <a:cs typeface="Aptos" pitchFamily="34" charset="-120"/>
              </a:rPr>
              <a:t>Narrow goals make it easier to define tools, permissions, validation, and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design begins with the goal.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oversight should match risk.</a:t>
            </a:r>
            <a:endParaRPr lang="en-US" sz="2100" dirty="0"/>
          </a:p>
          <a:p>
            <a:r>
              <a:rPr lang="en-US" sz="2100" dirty="0">
                <a:solidFill>
                  <a:srgbClr val="17364A"/>
                </a:solidFill>
                <a:latin typeface="Aptos" pitchFamily="34" charset="0"/>
                <a:ea typeface="Aptos" pitchFamily="34" charset="-122"/>
                <a:cs typeface="Aptos" pitchFamily="34" charset="-120"/>
              </a:rPr>
              <a:t>Human-in-the-loop approval is appropriate for actions that affect records, services, public.</a:t>
            </a:r>
            <a:endParaRPr lang="en-US" sz="2100" dirty="0"/>
          </a:p>
          <a:p>
            <a:r>
              <a:rPr lang="en-US" sz="2100" dirty="0">
                <a:solidFill>
                  <a:srgbClr val="17364A"/>
                </a:solidFill>
                <a:latin typeface="Aptos" pitchFamily="34" charset="0"/>
                <a:ea typeface="Aptos" pitchFamily="34" charset="-122"/>
                <a:cs typeface="Aptos" pitchFamily="34" charset="-120"/>
              </a:rPr>
              <a:t>Human-on-the-loop monitoring may be appropriate for lower-risk background tasks if users can intervene.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oversight should match risk.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Excessive agency.</a:t>
            </a:r>
            <a:endParaRPr lang="en-US" sz="2100" dirty="0"/>
          </a:p>
          <a:p>
            <a:r>
              <a:rPr lang="en-US" sz="2100" dirty="0">
                <a:solidFill>
                  <a:srgbClr val="17364A"/>
                </a:solidFill>
                <a:latin typeface="Aptos" pitchFamily="34" charset="0"/>
                <a:ea typeface="Aptos" pitchFamily="34" charset="-122"/>
                <a:cs typeface="Aptos" pitchFamily="34" charset="-120"/>
              </a:rPr>
              <a:t>An agent may take actions beyond intended scope.</a:t>
            </a:r>
            <a:endParaRPr lang="en-US" sz="2100" dirty="0"/>
          </a:p>
          <a:p>
            <a:r>
              <a:rPr lang="en-US" sz="2100" dirty="0">
                <a:solidFill>
                  <a:srgbClr val="17364A"/>
                </a:solidFill>
                <a:latin typeface="Aptos" pitchFamily="34" charset="0"/>
                <a:ea typeface="Aptos" pitchFamily="34" charset="-122"/>
                <a:cs typeface="Aptos" pitchFamily="34" charset="-120"/>
              </a:rPr>
              <a:t>Guardrails include narrow goals, allowed-action lists, prohibited actions, and approval gates.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Excessive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Unclear accountability.</a:t>
            </a:r>
            <a:endParaRPr lang="en-US" sz="2100" dirty="0"/>
          </a:p>
          <a:p>
            <a:r>
              <a:rPr lang="en-US" sz="2100" dirty="0">
                <a:solidFill>
                  <a:srgbClr val="17364A"/>
                </a:solidFill>
                <a:latin typeface="Aptos" pitchFamily="34" charset="0"/>
                <a:ea typeface="Aptos" pitchFamily="34" charset="-122"/>
                <a:cs typeface="Aptos" pitchFamily="34" charset="-120"/>
              </a:rPr>
              <a:t>Staff may not know who is responsible for agent actions.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role definitions, review records, and governance ownership.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Unclear accountability.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2100" dirty="0"/>
          </a:p>
          <a:p>
            <a:r>
              <a:rPr lang="en-US" sz="2100" dirty="0">
                <a:solidFill>
                  <a:srgbClr val="17364A"/>
                </a:solidFill>
                <a:latin typeface="Aptos" pitchFamily="34" charset="0"/>
                <a:ea typeface="Aptos" pitchFamily="34" charset="-122"/>
                <a:cs typeface="Aptos" pitchFamily="34" charset="-120"/>
              </a:rPr>
              <a:t>They are most appropriate when tasks are repetitive, bounded, reviewable, and supported by reliable data.</a:t>
            </a:r>
            <a:endParaRPr lang="en-US" sz="2100" dirty="0"/>
          </a:p>
          <a:p>
            <a:r>
              <a:rPr lang="en-US" sz="2100" dirty="0">
                <a:solidFill>
                  <a:srgbClr val="17364A"/>
                </a:solidFill>
                <a:latin typeface="Aptos" pitchFamily="34" charset="0"/>
                <a:ea typeface="Aptos" pitchFamily="34" charset="-122"/>
                <a:cs typeface="Aptos" pitchFamily="34" charset="-120"/>
              </a:rPr>
              <a:t>They are least appropriate when the task requires complex judgment, legal interpretation, community.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2100" dirty="0"/>
          </a:p>
          <a:p>
            <a:r>
              <a:rPr lang="en-US" sz="2100" dirty="0">
                <a:solidFill>
                  <a:srgbClr val="17364A"/>
                </a:solidFill>
                <a:latin typeface="Aptos" pitchFamily="34" charset="0"/>
                <a:ea typeface="Aptos" pitchFamily="34" charset="-122"/>
                <a:cs typeface="Aptos" pitchFamily="34" charset="-120"/>
              </a:rPr>
              <a:t>Which tools or systems would the agent access?</a:t>
            </a:r>
            <a:endParaRPr lang="en-US" sz="2100" dirty="0"/>
          </a:p>
          <a:p>
            <a:r>
              <a:rPr lang="en-US" sz="2100" dirty="0">
                <a:solidFill>
                  <a:srgbClr val="17364A"/>
                </a:solidFill>
                <a:latin typeface="Aptos" pitchFamily="34" charset="0"/>
                <a:ea typeface="Aptos" pitchFamily="34" charset="-122"/>
                <a:cs typeface="Aptos" pitchFamily="34" charset="-120"/>
              </a:rPr>
              <a:t>Which actions are allowed, prohibited, or require human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logs are needed to reconstruct agent behavior?</a:t>
            </a:r>
            <a:endParaRPr lang="en-US" sz="2100" dirty="0"/>
          </a:p>
          <a:p>
            <a:r>
              <a:rPr lang="en-US" sz="2100" dirty="0">
                <a:solidFill>
                  <a:srgbClr val="17364A"/>
                </a:solidFill>
                <a:latin typeface="Aptos" pitchFamily="34" charset="0"/>
                <a:ea typeface="Aptos" pitchFamily="34" charset="-122"/>
                <a:cs typeface="Aptos" pitchFamily="34" charset="-120"/>
              </a:rPr>
              <a:t>What rollback or correction process is needed if the agent makes an error?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logs are needed to reconstruct agent behavior?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Include the goal, trigger, data sources, tools, allowed actions, prohibited actions, approval points,.</a:t>
            </a:r>
            <a:endParaRPr lang="en-US" sz="2100" dirty="0"/>
          </a:p>
          <a:p>
            <a:r>
              <a:rPr lang="en-US" sz="2100" dirty="0">
                <a:solidFill>
                  <a:srgbClr val="17364A"/>
                </a:solidFill>
                <a:latin typeface="Aptos" pitchFamily="34" charset="0"/>
                <a:ea typeface="Aptos" pitchFamily="34" charset="-122"/>
                <a:cs typeface="Aptos" pitchFamily="34" charset="-120"/>
              </a:rPr>
              <a:t>The plan should identify at least one low-risk pilot boundary and one condition that would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Tool-call logging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Tool-call logging requirements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makes agentic AI different from simple drafting support?</a:t>
            </a:r>
            <a:endParaRPr lang="en-US" sz="2100" dirty="0"/>
          </a:p>
          <a:p>
            <a:r>
              <a:rPr lang="en-US" sz="2100" dirty="0">
                <a:solidFill>
                  <a:srgbClr val="17364A"/>
                </a:solidFill>
                <a:latin typeface="Aptos" pitchFamily="34" charset="0"/>
                <a:ea typeface="Aptos" pitchFamily="34" charset="-122"/>
                <a:cs typeface="Aptos" pitchFamily="34" charset="-120"/>
              </a:rPr>
              <a:t>2. Which action usually requires stronger oversight?</a:t>
            </a:r>
            <a:endParaRPr lang="en-US" sz="2100" dirty="0"/>
          </a:p>
          <a:p>
            <a:r>
              <a:rPr lang="en-US" sz="2100" dirty="0">
                <a:solidFill>
                  <a:srgbClr val="17364A"/>
                </a:solidFill>
                <a:latin typeface="Aptos" pitchFamily="34" charset="0"/>
                <a:ea typeface="Aptos" pitchFamily="34" charset="-122"/>
                <a:cs typeface="Aptos" pitchFamily="34" charset="-120"/>
              </a:rPr>
              <a:t>3. What is orchestration?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makes agentic AI different from simple drafting support?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2026-07-13T01:54:44Z</dcterms:created>
  <dcterms:modified xsi:type="dcterms:W3CDTF">2026-07-13T01:54:44Z</dcterms:modified>
</cp:coreProperties>
</file>