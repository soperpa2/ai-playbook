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sustainability must be planned before launch.</a:t>
            </a:r>
            <a:endParaRPr lang="en-US" sz="2100" dirty="0"/>
          </a:p>
          <a:p>
            <a:r>
              <a:rPr lang="en-US" sz="2100" dirty="0">
                <a:solidFill>
                  <a:srgbClr val="17364A"/>
                </a:solidFill>
                <a:latin typeface="Aptos" pitchFamily="34" charset="0"/>
                <a:ea typeface="Aptos" pitchFamily="34" charset="-122"/>
                <a:cs typeface="Aptos" pitchFamily="34" charset="-120"/>
              </a:rPr>
              <a:t>Identify lifecycle costs and responsibilities for AI tools and workflows.</a:t>
            </a:r>
            <a:endParaRPr lang="en-US" sz="2100" dirty="0"/>
          </a:p>
          <a:p>
            <a:r>
              <a:rPr lang="en-US" sz="2100" dirty="0">
                <a:solidFill>
                  <a:srgbClr val="17364A"/>
                </a:solidFill>
                <a:latin typeface="Aptos" pitchFamily="34" charset="0"/>
                <a:ea typeface="Aptos" pitchFamily="34" charset="-122"/>
                <a:cs typeface="Aptos" pitchFamily="34" charset="-120"/>
              </a:rPr>
              <a:t>Develop sustainability criteria for moving from pilot to operational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sustainability must be planned before launch.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Define sunset, pause, and retirement criteria for AI use cases.</a:t>
            </a:r>
            <a:endParaRPr lang="en-US" sz="1380" dirty="0"/>
          </a:p>
          <a:p>
            <a:r>
              <a:rPr lang="en-US" sz="1380" dirty="0">
                <a:solidFill>
                  <a:srgbClr val="17364A"/>
                </a:solidFill>
                <a:latin typeface="Aptos" pitchFamily="34" charset="0"/>
                <a:ea typeface="Aptos" pitchFamily="34" charset="-122"/>
                <a:cs typeface="Aptos" pitchFamily="34" charset="-120"/>
              </a:rPr>
              <a:t>Produce an AI lifecycle funding and sustainability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Responsible AI does not end at launch.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tools require ongoing funding, staff time, monitoring, updates, vendor management,.</a:t>
            </a:r>
            <a:endParaRPr lang="en-US" sz="1380" dirty="0"/>
          </a:p>
          <a:p>
            <a:r>
              <a:rPr lang="en-US" sz="1380" dirty="0">
                <a:solidFill>
                  <a:srgbClr val="17364A"/>
                </a:solidFill>
                <a:latin typeface="Aptos" pitchFamily="34" charset="0"/>
                <a:ea typeface="Aptos" pitchFamily="34" charset="-122"/>
                <a:cs typeface="Aptos" pitchFamily="34" charset="-120"/>
              </a:rPr>
              <a:t>Sustainability planning ensures that AI-supported workflows do not become unfunded,.</a:t>
            </a:r>
            <a:endParaRPr lang="en-US" sz="1380" dirty="0"/>
          </a:p>
          <a:p>
            <a:r>
              <a:rPr lang="en-US" sz="1380" dirty="0">
                <a:solidFill>
                  <a:srgbClr val="17364A"/>
                </a:solidFill>
                <a:latin typeface="Aptos" pitchFamily="34" charset="0"/>
                <a:ea typeface="Aptos" pitchFamily="34" charset="-122"/>
                <a:cs typeface="Aptos" pitchFamily="34" charset="-120"/>
              </a:rPr>
              <a:t>This module helps leaders plan for the full AI lifecycle.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2100" dirty="0"/>
          </a:p>
          <a:p>
            <a:r>
              <a:rPr lang="en-US" sz="2100" dirty="0">
                <a:solidFill>
                  <a:srgbClr val="17364A"/>
                </a:solidFill>
                <a:latin typeface="Aptos" pitchFamily="34" charset="0"/>
                <a:ea typeface="Aptos" pitchFamily="34" charset="-122"/>
                <a:cs typeface="Aptos" pitchFamily="34" charset="-120"/>
              </a:rPr>
              <a:t>These projects may succeed technically but fail operationally if there is no plan for ongoing support.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be left with a tool that staff rely on but no budget for validation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may be left with a tool that staff rely on but no budget for.</a:t>
            </a:r>
            <a:endParaRPr lang="en-US" sz="1380" dirty="0"/>
          </a:p>
          <a:p>
            <a:r>
              <a:rPr lang="en-US" sz="1380" dirty="0">
                <a:solidFill>
                  <a:srgbClr val="17364A"/>
                </a:solidFill>
                <a:latin typeface="Aptos" pitchFamily="34" charset="0"/>
                <a:ea typeface="Aptos" pitchFamily="34" charset="-122"/>
                <a:cs typeface="Aptos" pitchFamily="34" charset="-120"/>
              </a:rPr>
              <a:t>Sustainability is also a risk-control issue.</a:t>
            </a:r>
            <a:endParaRPr lang="en-US" sz="1380" dirty="0"/>
          </a:p>
          <a:p>
            <a:r>
              <a:rPr lang="en-US" sz="1380" dirty="0">
                <a:solidFill>
                  <a:srgbClr val="17364A"/>
                </a:solidFill>
                <a:latin typeface="Aptos" pitchFamily="34" charset="0"/>
                <a:ea typeface="Aptos" pitchFamily="34" charset="-122"/>
                <a:cs typeface="Aptos" pitchFamily="34" charset="-120"/>
              </a:rPr>
              <a:t>AI tools can become unsafe when they are not maintained.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2100" dirty="0"/>
          </a:p>
          <a:p>
            <a:r>
              <a:rPr lang="en-US" sz="2100" dirty="0">
                <a:solidFill>
                  <a:srgbClr val="17364A"/>
                </a:solidFill>
                <a:latin typeface="Aptos" pitchFamily="34" charset="0"/>
                <a:ea typeface="Aptos" pitchFamily="34" charset="-122"/>
                <a:cs typeface="Aptos" pitchFamily="34" charset="-120"/>
              </a:rPr>
              <a:t>The pilot improves efficiency, but the grant does not cover long-term hosting, monitoring, system.</a:t>
            </a:r>
            <a:endParaRPr lang="en-US" sz="2100" dirty="0"/>
          </a:p>
          <a:p>
            <a:r>
              <a:rPr lang="en-US" sz="2100" dirty="0">
                <a:solidFill>
                  <a:srgbClr val="17364A"/>
                </a:solidFill>
                <a:latin typeface="Aptos" pitchFamily="34" charset="0"/>
                <a:ea typeface="Aptos" pitchFamily="34" charset="-122"/>
                <a:cs typeface="Aptos" pitchFamily="34" charset="-120"/>
              </a:rPr>
              <a:t>When funding ends, staff continue relying on the tool even though no one is assigned to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pilot improves efficiency, but the grant does not cover long-term hosting, monitoring,.</a:t>
            </a:r>
            <a:endParaRPr lang="en-US" sz="1380" dirty="0"/>
          </a:p>
          <a:p>
            <a:r>
              <a:rPr lang="en-US" sz="1380" dirty="0">
                <a:solidFill>
                  <a:srgbClr val="17364A"/>
                </a:solidFill>
                <a:latin typeface="Aptos" pitchFamily="34" charset="0"/>
                <a:ea typeface="Aptos" pitchFamily="34" charset="-122"/>
                <a:cs typeface="Aptos" pitchFamily="34" charset="-120"/>
              </a:rPr>
              <a:t>When funding ends, staff continue relying on the tool even though no one is assigned to.</a:t>
            </a:r>
            <a:endParaRPr lang="en-US" sz="1380" dirty="0"/>
          </a:p>
          <a:p>
            <a:r>
              <a:rPr lang="en-US" sz="1380" dirty="0">
                <a:solidFill>
                  <a:srgbClr val="17364A"/>
                </a:solidFill>
                <a:latin typeface="Aptos" pitchFamily="34" charset="0"/>
                <a:ea typeface="Aptos" pitchFamily="34" charset="-122"/>
                <a:cs typeface="Aptos" pitchFamily="34" charset="-120"/>
              </a:rPr>
              <a:t>A sustainability plan would have addressed this before launch.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2100" dirty="0"/>
          </a:p>
          <a:p>
            <a:r>
              <a:rPr lang="en-US" sz="2100" dirty="0">
                <a:solidFill>
                  <a:srgbClr val="17364A"/>
                </a:solidFill>
                <a:latin typeface="Aptos" pitchFamily="34" charset="0"/>
                <a:ea typeface="Aptos" pitchFamily="34" charset="-122"/>
                <a:cs typeface="Aptos" pitchFamily="34" charset="-120"/>
              </a:rPr>
              <a:t>Leaders should ask whether the use case is a short-term experiment, a time-limited emergency support.</a:t>
            </a:r>
            <a:endParaRPr lang="en-US" sz="2100" dirty="0"/>
          </a:p>
          <a:p>
            <a:r>
              <a:rPr lang="en-US" sz="2100" dirty="0">
                <a:solidFill>
                  <a:srgbClr val="17364A"/>
                </a:solidFill>
                <a:latin typeface="Aptos" pitchFamily="34" charset="0"/>
                <a:ea typeface="Aptos" pitchFamily="34" charset="-122"/>
                <a:cs typeface="Aptos" pitchFamily="34" charset="-120"/>
              </a:rPr>
              <a:t>Each category has different funding and governance needs.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should ask whether the use case is a short-term experiment, a time-limited.</a:t>
            </a:r>
            <a:endParaRPr lang="en-US" sz="1380" dirty="0"/>
          </a:p>
          <a:p>
            <a:r>
              <a:rPr lang="en-US" sz="1380" dirty="0">
                <a:solidFill>
                  <a:srgbClr val="17364A"/>
                </a:solidFill>
                <a:latin typeface="Aptos" pitchFamily="34" charset="0"/>
                <a:ea typeface="Aptos" pitchFamily="34" charset="-122"/>
                <a:cs typeface="Aptos" pitchFamily="34" charset="-120"/>
              </a:rPr>
              <a:t>A time-limited tool may need clear end dates and data deletion rules.</a:t>
            </a:r>
            <a:endParaRPr lang="en-US" sz="1380" dirty="0"/>
          </a:p>
          <a:p>
            <a:r>
              <a:rPr lang="en-US" sz="1380" dirty="0">
                <a:solidFill>
                  <a:srgbClr val="17364A"/>
                </a:solidFill>
                <a:latin typeface="Aptos" pitchFamily="34" charset="0"/>
                <a:ea typeface="Aptos" pitchFamily="34" charset="-122"/>
                <a:cs typeface="Aptos" pitchFamily="34" charset="-120"/>
              </a:rPr>
              <a:t>An operational tool needs sustained staffing, budget, contracts, monitoring, and training.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pilot dependency.</a:t>
            </a:r>
            <a:endParaRPr lang="en-US" sz="2100" dirty="0"/>
          </a:p>
          <a:p>
            <a:r>
              <a:rPr lang="en-US" sz="2100" dirty="0">
                <a:solidFill>
                  <a:srgbClr val="17364A"/>
                </a:solidFill>
                <a:latin typeface="Aptos" pitchFamily="34" charset="0"/>
                <a:ea typeface="Aptos" pitchFamily="34" charset="-122"/>
                <a:cs typeface="Aptos" pitchFamily="34" charset="-120"/>
              </a:rPr>
              <a:t>Staff may begin relying on a tool that was never funded or governed for long-term use.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pilot duration, scale limits, success criteria, and continuation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pilot dependency.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guardrail is to define pilot duration, scale limits, success criteria, and continuation.</a:t>
            </a:r>
            <a:endParaRPr lang="en-US" sz="1380" dirty="0"/>
          </a:p>
          <a:p>
            <a:r>
              <a:rPr lang="en-US" sz="1380" dirty="0">
                <a:solidFill>
                  <a:srgbClr val="17364A"/>
                </a:solidFill>
                <a:latin typeface="Aptos" pitchFamily="34" charset="0"/>
                <a:ea typeface="Aptos" pitchFamily="34" charset="-122"/>
                <a:cs typeface="Aptos" pitchFamily="34" charset="-120"/>
              </a:rPr>
              <a:t>Another risk is silent degradation.</a:t>
            </a:r>
            <a:endParaRPr lang="en-US" sz="1380" dirty="0"/>
          </a:p>
          <a:p>
            <a:r>
              <a:rPr lang="en-US" sz="1380" dirty="0">
                <a:solidFill>
                  <a:srgbClr val="17364A"/>
                </a:solidFill>
                <a:latin typeface="Aptos" pitchFamily="34" charset="0"/>
                <a:ea typeface="Aptos" pitchFamily="34" charset="-122"/>
                <a:cs typeface="Aptos" pitchFamily="34" charset="-120"/>
              </a:rPr>
              <a:t>A tool may continue operating after data, policies, user behavior, or vendor models change.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sustainability requires drift monitoring, recalibration, subgroup review, and.</a:t>
            </a:r>
            <a:endParaRPr lang="en-US" sz="2100" dirty="0"/>
          </a:p>
          <a:p>
            <a:r>
              <a:rPr lang="en-US" sz="2100" dirty="0">
                <a:solidFill>
                  <a:srgbClr val="17364A"/>
                </a:solidFill>
                <a:latin typeface="Aptos" pitchFamily="34" charset="0"/>
                <a:ea typeface="Aptos" pitchFamily="34" charset="-122"/>
                <a:cs typeface="Aptos" pitchFamily="34" charset="-120"/>
              </a:rPr>
              <a:t>Agentic AI sustainability requires continued security review, permission management, incident drills,.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sustainability requires prompt and source updates, user training, output.</a:t>
            </a:r>
            <a:endParaRPr lang="en-US" sz="1380" dirty="0"/>
          </a:p>
          <a:p>
            <a:r>
              <a:rPr lang="en-US" sz="1380" dirty="0">
                <a:solidFill>
                  <a:srgbClr val="17364A"/>
                </a:solidFill>
                <a:latin typeface="Aptos" pitchFamily="34" charset="0"/>
                <a:ea typeface="Aptos" pitchFamily="34" charset="-122"/>
                <a:cs typeface="Aptos" pitchFamily="34" charset="-120"/>
              </a:rPr>
              <a:t>Predictive analytics sustainability requires drift monitoring, recalibration, subgroup.</a:t>
            </a:r>
            <a:endParaRPr lang="en-US" sz="1380" dirty="0"/>
          </a:p>
          <a:p>
            <a:r>
              <a:rPr lang="en-US" sz="1380" dirty="0">
                <a:solidFill>
                  <a:srgbClr val="17364A"/>
                </a:solidFill>
                <a:latin typeface="Aptos" pitchFamily="34" charset="0"/>
                <a:ea typeface="Aptos" pitchFamily="34" charset="-122"/>
                <a:cs typeface="Aptos" pitchFamily="34" charset="-120"/>
              </a:rPr>
              <a:t>Agentic AI sustainability requires continued security review, permission management,.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costs, owners, funding sources, monitoring, update cadence, vendor management, 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380" dirty="0"/>
          </a:p>
          <a:p>
            <a:r>
              <a:rPr lang="en-US" sz="1380" dirty="0">
                <a:solidFill>
                  <a:srgbClr val="17364A"/>
                </a:solidFill>
                <a:latin typeface="Aptos" pitchFamily="34" charset="0"/>
                <a:ea typeface="Aptos" pitchFamily="34" charset="-122"/>
                <a:cs typeface="Aptos" pitchFamily="34" charset="-120"/>
              </a:rPr>
              <a:t>Include costs, owners, funding sources, monitoring, update cadence, vendor management,.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Sustainability plan; lifecycle cost list; ownership map; continuation and sunset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Sustainability plan; lifecycle cost list; ownership map; continuation and sunset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2026-07-13T02:11:43Z</dcterms:created>
  <dcterms:modified xsi:type="dcterms:W3CDTF">2026-07-13T02:11:43Z</dcterms:modified>
</cp:coreProperties>
</file>