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and Secure AI Use is designed for an individual learner using the AI Playbook and Toolkit for Public Health Departments.
Secure AI use requires approved environments, access controls, vendor security review, audit logs, prompt-injection awareness, data-loss prevention, and incident escalation.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AI security review notes.
Produce or contribute to: Approved-use rules.
Produce or contribute to: Security escalation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security is broader than protecting the model. It includes user accounts, data flows, integrations, APIs, vendor hosting, prompts, outputs, logs, plugins, browser extensions, and connections to existing systems. You need to know how secure AI use differs from general software use.
AI tools can blur the boundary between software, data processing, content generation, and workflow automation. That makes security review especially important before departments connect AI to email, document repositories, case systems, dashboards, or public-facing services.
Your training should make secure AI use concrete. Which tools are approved? What data are prohibited? What are signs of prompt injection or suspicious AI behavior? Who should be notified when something goes wrong?
This module helps you understand why security is a shared responsibility and why shortcuts can create agency-wide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 Rules and technical settings that determine who can use a system and what they are allowed to see, change, export, or approve.
Audit log: A record of system activity, such as who accessed data, what an AI tool generated, what actions were taken, and when changes occurred.
Data classification: Sorting data into sensitivity levels, such as public, internal, confidential, protected, restricted, or sovereign, so staff know which AI environments and safeguards are appropriate.
Incident response: The process for reporting, triaging, containing, investigating, correcting, documenting, and communicating about AI-related errors, harmful outputs, privacy issues, bias concerns, security events, or operational failures.
Prompt injection: A security risk where malicious or hidden instructions attempt to manipulate an AI system into ignoring rules, exposing data, or taking inappropriate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 is a core concept for this lesson because it turns cybersecurity and secure ai use from an abstract AI topic into something you can recognize in daily public health work. Rules that determine who can use a system and what they can see or do.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Prompt injection is a core concept for this lesson because it turns cybersecurity and secure ai use from an abstract AI topic into something you can recognize in daily public health work. Malicious or hidden instructions that try to manipulate an AI system into ignoring rules or exposing data.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Logging is a core concept for this lesson because it turns cybersecurity and secure ai use from an abstract AI topic into something you can recognize in daily public health work. Recording system activity so the department can review what happened during normal use or an incident.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approved AI environments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Review vendor integrations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Train staff on prompt injection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2, Play 3, Play 7, Play 11, Play 12) to identify the decisions, approvals, people, and timing needed for responsible implementation. Use the related tools (Tool 10, Tool 15, Tool 17, Tool 34, Tool 39, Tool 43) to create documentation that can be reviewed, saved, revised, and used as evidence of readiness. The practical exercise asks you to produce evidence that can feed into that work: Map the security controls needed for one AI use case, including data classification, access controls, vendor hosting, integrations, logging, incident response, and role-based learning.
The main guardrail for this lesson is that AI tools can create new attack surfaces, data leakage pathways, and social engineering risks if security is not built into implementation.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Cybersecurity protects public health operations, sensitive data, system integrity, and community trust.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security controls needed for one AI use case, including data classification, access controls, vendor hosting, integrations, logging, incident response, and role-based learning.
AI security review notes
Approved-use rules
Security escalation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AI tools are approved for official work?
Which integrations or data flows require security review?
How should staff report suspicious AI behavior, data leakage, or unauthorized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Cybersecurity Framework: Cybersecurity risk management structure for organizational systems. https://www.nist.gov/cyberframework
CISA AI and Cybersecurity: Cybersecurity context for AI systems and AI-enabled threats. https://www.cisa.gov/ai
FedRAMP: Cloud security authorization context for vendor-hosted government systems. https://www.fedramp.gov/
OWASP LLM01: Prompt Injection: Security guidance on prompt injection risks, including malicious instructions, indirect prompt injection, and mitigation considerations for LLM applications. https://genai.owasp.org/llmrisk/llm01-prompt-injection/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Cybersecurity and Secure AI Use</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AI security review notes.</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Approved-use rules.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security is broader than protecting the model. It includes user accounts, data flows, integrations, APIs, vendor hosting, prompts, outputs, logs, plugins, browser extensions, and connections to existing systems. You need to know how secure AI use differs from general software use.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Access control: Rules and technical settings that determine who can use a system and what they are allowed to see, change, export, or approve.</a:t>
            </a:r>
            <a:endParaRPr lang="en-US" sz="1320" dirty="0"/>
          </a:p>
          <a:p>
            <a:r>
              <a:rPr lang="en-US" sz="1320" dirty="0">
                <a:solidFill>
                  <a:srgbClr val="17364A"/>
                </a:solidFill>
                <a:latin typeface="Aptos" pitchFamily="34" charset="0"/>
                <a:ea typeface="Aptos" pitchFamily="34" charset="-122"/>
                <a:cs typeface="Aptos" pitchFamily="34" charset="-120"/>
              </a:rPr>
              <a:t>Audit log: A record of system activity, such as who accessed data, what an AI tool generated, what actions were taken, and when changes occurred.</a:t>
            </a:r>
            <a:endParaRPr lang="en-US" sz="1320" dirty="0"/>
          </a:p>
          <a:p>
            <a:r>
              <a:rPr lang="en-US" sz="1320" dirty="0">
                <a:solidFill>
                  <a:srgbClr val="17364A"/>
                </a:solidFill>
                <a:latin typeface="Aptos" pitchFamily="34" charset="0"/>
                <a:ea typeface="Aptos" pitchFamily="34" charset="-122"/>
                <a:cs typeface="Aptos" pitchFamily="34" charset="-120"/>
              </a:rPr>
              <a:t>Data classification: Sorting data into sensitivity levels, such as public, internal, confidential, protected, restricted, or sovereign, so staff know which AI environments and safeguards are appropriate.</a:t>
            </a:r>
            <a:endParaRPr lang="en-US" sz="1320" dirty="0"/>
          </a:p>
          <a:p>
            <a:r>
              <a:rPr lang="en-US" sz="1320" dirty="0">
                <a:solidFill>
                  <a:srgbClr val="17364A"/>
                </a:solidFill>
                <a:latin typeface="Aptos" pitchFamily="34" charset="0"/>
                <a:ea typeface="Aptos" pitchFamily="34" charset="-122"/>
                <a:cs typeface="Aptos" pitchFamily="34" charset="-120"/>
              </a:rPr>
              <a:t>Incident response: The process for reporting, triaging, containing, investigating, correcting, documenting, and communicating about AI-related errors, harmful outputs, privacy issues, bias concerns, security events, or.</a:t>
            </a:r>
            <a:endParaRPr lang="en-US" sz="1320" dirty="0"/>
          </a:p>
          <a:p>
            <a:r>
              <a:rPr lang="en-US" sz="1320" dirty="0">
                <a:solidFill>
                  <a:srgbClr val="17364A"/>
                </a:solidFill>
                <a:latin typeface="Aptos" pitchFamily="34" charset="0"/>
                <a:ea typeface="Aptos" pitchFamily="34" charset="-122"/>
                <a:cs typeface="Aptos" pitchFamily="34" charset="-120"/>
              </a:rPr>
              <a:t>Prompt injection: A security risk where malicious or hidden instructions attempt to manipulate an AI system into ignoring rules, exposing data, or taking inappropriate actions.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Access control is a core concept for this lesson because it turns cybersecurity and secure ai use from an abstract AI topic into something you can recognize in daily public health work. Rules that determine who can use a system and what they can see or do.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Prompt injection is a core concept for this lesson because it turns cybersecurity and secure ai use from an abstract AI topic into something you can recognize in daily public health work. Malicious or hidden instructions that try to manipulate an AI system into ignoring rules or exposing data.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Logging is a core concept for this lesson because it turns cybersecurity and secure ai use from an abstract AI topic into something you can recognize in daily public health work. Recording system activity so the department can review what happened during normal use or an incident.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Use approved AI environments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Review vendor integrations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Train staff on prompt injection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2, Play 3, Play 7, Play 11, Play 12) to identify the decisions, approvals, people, and timing needed for responsible implementation. Use the related tools (Tool 10, Tool 15, Tool 17, Tool 34, Tool 39, Tool 43) to create documentation that can be reviewed, saved, revised, and used as evidence of readiness. The practical exercise asks you to produce evidence that can feed into that work: Map the security controls needed for one AI use case, including data classification, access controls, vendor hosting, integrations, logging, incident response, and role-based learning. The main guardrail for this lesson is that AI tools can create new attack surfaces, data leakage pathways, and social engineering risks if security is not built into implementation.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Cybersecurity protects public health operations, sensitive data, system integrity, and community trust.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Map the security controls needed for one AI use case, including data classification, access controls, vendor hosting, integrations, logging, incident response, and role-based learning.</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AI security review notes</a:t>
            </a:r>
            <a:endParaRPr lang="en-US" sz="1400" dirty="0"/>
          </a:p>
          <a:p>
            <a:r>
              <a:rPr lang="en-US" sz="1400" dirty="0">
                <a:solidFill>
                  <a:srgbClr val="17364A"/>
                </a:solidFill>
                <a:latin typeface="Aptos" pitchFamily="34" charset="0"/>
                <a:ea typeface="Aptos" pitchFamily="34" charset="-122"/>
                <a:cs typeface="Aptos" pitchFamily="34" charset="-120"/>
              </a:rPr>
              <a:t>Expected artifact: Approved-use rules</a:t>
            </a:r>
            <a:endParaRPr lang="en-US" sz="1400" dirty="0"/>
          </a:p>
          <a:p>
            <a:r>
              <a:rPr lang="en-US" sz="1400" dirty="0">
                <a:solidFill>
                  <a:srgbClr val="17364A"/>
                </a:solidFill>
                <a:latin typeface="Aptos" pitchFamily="34" charset="0"/>
                <a:ea typeface="Aptos" pitchFamily="34" charset="-122"/>
                <a:cs typeface="Aptos" pitchFamily="34" charset="-120"/>
              </a:rPr>
              <a:t>Expected artifact: Security escalation checklist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AI tools are approved for official work?</a:t>
            </a:r>
            <a:endParaRPr lang="en-US" sz="1500" dirty="0"/>
          </a:p>
          <a:p>
            <a:r>
              <a:rPr lang="en-US" sz="1500" dirty="0">
                <a:solidFill>
                  <a:srgbClr val="17364A"/>
                </a:solidFill>
                <a:latin typeface="Aptos" pitchFamily="34" charset="0"/>
                <a:ea typeface="Aptos" pitchFamily="34" charset="-122"/>
                <a:cs typeface="Aptos" pitchFamily="34" charset="-120"/>
              </a:rPr>
              <a:t>Which integrations or data flows require security review?</a:t>
            </a:r>
            <a:endParaRPr lang="en-US" sz="1500" dirty="0"/>
          </a:p>
          <a:p>
            <a:r>
              <a:rPr lang="en-US" sz="1500" dirty="0">
                <a:solidFill>
                  <a:srgbClr val="17364A"/>
                </a:solidFill>
                <a:latin typeface="Aptos" pitchFamily="34" charset="0"/>
                <a:ea typeface="Aptos" pitchFamily="34" charset="-122"/>
                <a:cs typeface="Aptos" pitchFamily="34" charset="-120"/>
              </a:rPr>
              <a:t>How should staff report suspicious AI behavior, data leakage, or unauthorized access?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Cybersecurity and Secure AI Use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NIST Cybersecurity Framework: Cybersecurity risk management structure for organizational systems.</a:t>
            </a:r>
            <a:endParaRPr lang="en-US" sz="1280" dirty="0"/>
          </a:p>
          <a:p>
            <a:r>
              <a:rPr lang="en-US" sz="1280" dirty="0">
                <a:solidFill>
                  <a:srgbClr val="17364A"/>
                </a:solidFill>
                <a:latin typeface="Aptos" pitchFamily="34" charset="0"/>
                <a:ea typeface="Aptos" pitchFamily="34" charset="-122"/>
                <a:cs typeface="Aptos" pitchFamily="34" charset="-120"/>
              </a:rPr>
              <a:t>CISA AI and Cybersecurity: Cybersecurity context for AI systems and AI-enabled threats.</a:t>
            </a:r>
            <a:endParaRPr lang="en-US" sz="1280" dirty="0"/>
          </a:p>
          <a:p>
            <a:r>
              <a:rPr lang="en-US" sz="1280" dirty="0">
                <a:solidFill>
                  <a:srgbClr val="17364A"/>
                </a:solidFill>
                <a:latin typeface="Aptos" pitchFamily="34" charset="0"/>
                <a:ea typeface="Aptos" pitchFamily="34" charset="-122"/>
                <a:cs typeface="Aptos" pitchFamily="34" charset="-120"/>
              </a:rPr>
              <a:t>FedRAMP: Cloud security authorization context for vendor-hosted government systems.</a:t>
            </a:r>
            <a:endParaRPr lang="en-US" sz="1280" dirty="0"/>
          </a:p>
          <a:p>
            <a:r>
              <a:rPr lang="en-US" sz="1280" dirty="0">
                <a:solidFill>
                  <a:srgbClr val="17364A"/>
                </a:solidFill>
                <a:latin typeface="Aptos" pitchFamily="34" charset="0"/>
                <a:ea typeface="Aptos" pitchFamily="34" charset="-122"/>
                <a:cs typeface="Aptos" pitchFamily="34" charset="-120"/>
              </a:rPr>
              <a:t>OWASP LLM01: Prompt Injection: Security guidance on prompt injection risks, including malicious instructions, indirect prompt injection, and mitigation.</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and Secure AI Use</dc:title>
  <dc:subject>Cybersecurity and Secure AI Use learning module</dc:subject>
  <dc:creator>Paula Soper</dc:creator>
  <cp:lastModifiedBy>Paula Soper</cp:lastModifiedBy>
  <cp:revision>1</cp:revision>
  <dcterms:created xsi:type="dcterms:W3CDTF">2026-07-09T20:18:53Z</dcterms:created>
  <dcterms:modified xsi:type="dcterms:W3CDTF">2026-07-09T20:18:53Z</dcterms:modified>
</cp:coreProperties>
</file>