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Lst>
  <p:notesMasterIdLst>
    <p:notesMasterId r:id="rId24"/>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notesMaster" Target="notesMasters/notesMaster1.xml"/><Relationship Id="rId25" Type="http://schemas.openxmlformats.org/officeDocument/2006/relationships/presProps" Target="presProps.xml"/><Relationship Id="rId26" Type="http://schemas.openxmlformats.org/officeDocument/2006/relationships/viewProps" Target="viewProps.xml"/><Relationship Id="rId27" Type="http://schemas.openxmlformats.org/officeDocument/2006/relationships/theme" Target="theme/theme1.xml"/><Relationship Id="rId28"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INT 190 AI for Social Good
AI for Social Good refers to the intentional use of artificial intelligence to improve public well-being, reduce inequities, strengthen institutions, and address complex social problems. For public health, this concept is not abstract. Public health agencies already work to prevent disease, protect communities, improve access, and reduce inequities. AI for Social Good should therefore be judged by whether it advances public health values in measurable, accountable, and community-centered ways. This training helps learners distinguish socially beneficial AI from AI that is merely innovative or efficient. A tool can be technically impressive and still fail to advance the public good if it increases surveillance burden, excludes communities, weakens transparency, or diverts resources from more effective interventions. Conversely, a modest AI tool may create meaningful public value if it reduces staff burden, improves language access, directs services to underserved communities, or helps agencies respond faster and more fairly. The module emphasizes public purpose, equity by design, community engagement, responsible innovation, transparency, measurement, and avoidance of unintended harm. Learners will develop an AI for Social Good review brief for a public health use case.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Module Context
Level: introductory
Primary track: Shared Foundational / Introductory Course
Appears in tracks: shared-foundational, policy, communications
AI for Social Good refers to the intentional use of artificial intelligence to improve public well-being, reduce inequities, strengthen institutions, and address complex social problems. For public health, this concept is not abstract. Public health agencies already work to prevent disease, protect communities, improve access, and reduce inequities. AI for Social Good should therefore be judged by whether it advances public health values in measurable, accountable, and community-centered ways. This training helps learners distinguish socially beneficial AI from AI that is merely innovative or efficient. A tool can be technically impressive and still fail to advance the public good if it increases surveillance burden, excludes communities, weakens transparency, or diverts resources from more effective interventions. Conversely, a modest AI tool may create meaningful public value if it reduces staff burden, improves language access, directs services to underserved communities, or helps agencies respond faster and more fairly. The module emphasizes public purpose, equity by design, community engagement, responsible innovation, transparency, measurement, and avoidance of unintended harm. Learners will develop an AI for Social Good review brief for a public health use case.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Related Playbook Plays
Play 4: Engage Stakeholders - This lesson informs Play 4 by helping learners connect the lesson topic to engage stakeholders work in the AI Playbook sequence.
Play 7: Prioritize Use Cases - This lesson informs Play 7 by helping learners connect the lesson topic to prioritize use cases work in the AI Playbook sequence.
Play 1: Vision &amp; Guardrails - This lesson informs Play 1 by helping learners connect the lesson topic to vision &amp; guardrails work in the AI Playbook sequence.
Play 13: Monitor and Evaluate AI Systems - This lesson informs Play 13 by helping learners connect the lesson topic to monitor and evaluate ai systems work in the AI Playbook.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Related Toolkit Resources
Tool 20: Community Engagement Planning (Planning) - Use this tool to complete or strengthen the practical exercise for the module using fictional, de-identified, or generalized.
Tool 21: Stakeholder Mapping &amp; RACI (Template) - Use this tool to complete or strengthen the practical exercise for the module using fictional, de-identified, or generalized.
Tool 22: Missing Voices Analysis (Checklist) - Use this tool to complete or strengthen the practical exercise for the module using fictional, de-identified, or generalized.
Tool 4: AI Policy Landscape Scan (Worksheet) - Use AI Policy Landscape Scan to translate this lesson into a documented public health AI planning, governance, implementation,.
Tool 5: AI Environmental and Resource Impact Review (Checklist) - Use AI Environmental and Resource Impact Review to translate this lesson into a documented public health AI planning,.
Tool 6: Human-Centered AI Decision Rule Checklist (Checklist) - Use Human-Centered AI Decision Rule Checklist to translate this lesson into a documented public health AI planning, governance,.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Learning Objectives
Define AI for Social Good in public health terms.
Distinguish public benefit from novelty, efficiency, or automation alone.
Identify how AI can support public health values, including equity, transparency, accessibility, accountability, and community trust.
Assess potential harms, including exclusion, surveillance burden, stigma, resource diversion, and unequal benefit.
Design community-centered safeguards for socially beneficial AI use.
Application guidance: Use the assignment to test whether you can explain the concept, apply it to a realistic public health situation, and identify what would need review before the work moves forward.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Learning Objectives
Produce an AI for Social Good review brief for a public health use case.
Application guidance: Use the assignment to test whether you can explain the concept, apply it to a realistic public health situation, and identify what would need review before the work moves forward.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Module Overview
AI for Social Good refers to the intentional use of artificial intelligence to improve public well-being, reduce inequities, strengthen institutions, and address complex social problems. For public health, this concept is not abstract. Public health agencies already work to prevent disease, protect communities, improve access, and reduce inequities. AI for Social Good should therefore be judged by whether it advances public health values in measurable, accountable, and community-centered ways.
This training helps learners distinguish socially beneficial AI from AI that is merely innovative or efficient. A tool can be technically impressive and still fail to advance the public good if it increases surveillance burden, excludes communities, weakens transparency, or diverts resources from more effective interventions. Conversely, a modest AI tool may create meaningful public value if it reduces staff burden, improves language access, directs services to underserved communities, or helps agencies respond faster and more fairly.
The module emphasizes public purpose, equity by design, community engagement, responsible innovation, transparency, measurement, and avoidance of unintended harm. Learners will develop an AI for Social Good review brief for a public health use case.
Application guidance: Connect the concept to public health purpose, responsible use, required safeguards, documentation, and the next action a department should take.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This Topic Matters for Public Health AI
Public health is uniquely positioned to use AI for social good because its mission is population well-being rather than private gain. AI can help agencies identify emerging needs, improve access to information, reduce administrative burden, support community outreach, and allocate resources more effectively. These benefits are especially important when agencies face workforce shortages, fragmented systems, and increasing demands.
However, AI for Social Good is not guaranteed by good intentions. Tools built for efficiency may shift burden onto communities, reduce human contact, or make services harder to access for people with limited digital literacy. Predictive tools may label communities as risky without addressing structural causes. Chatbots may improve information access for some users while excluding people who need language, disability, or offline support.
The public health standard for social good should be rigorous. Agencies should define the public problem, identify who benefits, identify who could be harmed, involve affected communities, measure outcomes, and document safeguards. The central question is not “Can AI do this?” but “Should AI be used for this purpose, and under what conditions would it create public value?”
Application guidance: Connect the concept to public health purpose, responsible use, required safeguards, documentation, and the next action a department should take.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Public Health Example
A health department may use AI to improve access to maternal and child health resources. A tool could help staff identify service gaps, summarize eligibility rules, translate plain-language information, and route families to local support. If designed well, the tool could reduce administrative burden and improve timely access to services.
The same tool could fail if it assumes internet access, uses only English content, provides outdated referral information, exposes sensitive information, or replaces trusted human navigators. An AI for Social Good review would examine community needs, access barriers, language and disability accommodations, privacy, human fallback options, and measurable outcomes.
Application guidance: Connect the concept to public health purpose, responsible use, required safeguards, documentation, and the next action a department should take.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Topic Deep Dive
AI for Social Good begins with problem definition. The problem should be a public health problem, not a technology opportunity. For example, “use a chatbot” is not a problem definition. “Reduce delays in connecting families to local nutrition, housing, transportation, and home visiting resources” is a stronger public health problem definition. Starting with the problem helps agencies avoid technology-driven solutions that do not address root needs.
Equity by design requires agencies to identify who is included, who is excluded, and who bears risk. This includes reviewing data representativeness, digital access, language access, disability access, rural access, immigration-related concerns, privacy expectations, and historical mistrust. Equity review should shape the use case, data sources, interface, outreach strategy, and evaluation metrics.
Community engagement should occur before deployment, not only after concerns arise. Affected communities can help identify priorities, unacceptable uses, preferred communication channels, needed safeguards, and measures of success. Engagement does not mean asking communities to approve a predetermined tool. It means allowing community input to change the design, scope, or decision to proceed.
Application guidance: Connect the concept to public health purpose, responsible use, required safeguards, documentation, and the next action a department should take.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Topic Deep Dive
Measuring social good requires more than counting users or outputs. Agencies should measure whether the AI-supported workflow improves timeliness, access, quality, fairness, staff burden, community trust, and public health outcomes. They should also monitor unintended consequences, such as reduced service quality, increased complaints, inequitable uptake, or inaccurate referrals.
Responsible innovation includes sunset and rollback planning. If an AI tool does not produce expected benefit, creates harm, or becomes outdated, the agency should be prepared to modify, pause, or retire it. Social good depends on ongoing accountability, not one-time approval.
Application guidance: Connect the concept to public health purpose, responsible use, required safeguards, documentation, and the next action a department should take.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Risks, Failure Modes, and Guardrails
Technology-first design. A tool may be adopted because it is novel rather than because it solves a public health problem. Guardrails include problem-first planning, alternatives analysis, and public value criteria.
Unequal benefit. AI may help people with strong digital access while excluding others. Guardrails include language access, accessibility, offline options, and human fallback.
Stigma and surveillance burden. AI may label communities or increase monitoring without support. Guardrails include equity framing, community engagement, and supportive-use restrictions.
Application guidance: Identify what could go wrong, who could be affected, what safeguards are needed, and what evidence should be reviewed before use expands.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Risks, Failure Modes, and Guardrails
Resource diversion. AI projects may consume resources that could be used for more effective interventions. Guardrails include impact measurement, cost-benefit review, and periodic reassessment.
Application guidance: Identify what could go wrong, who could be affected, what safeguards are needed, and what evidence should be reviewed before use expands.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Application to AI-Supported Workflows
AI for Social Good applies to every AI method. Generative AI may improve plain-language communication, but it must be accurate, accessible, and culturally appropriate. Predictive analytics may guide supportive outreach, but it should not become a tool for exclusion. RAG systems may improve staff access to guidance, but they must include current and authorized content. Agentic workflows may reduce burden, but they require boundaries and human accountability.
The strongest public health AI projects define social good in operational terms. They identify the population benefit, the equity goal, the workflow change, the safeguards, and the measurement plan. They also acknowledge tradeoffs and document why AI is an appropriate tool compared with non-AI alternatives.
Application guidance: Use the concept to clarify workflow changes, dependencies, staffing, procurement requirements, training needs, and implementation checkpoints.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Reflection Questions
What public health problem would this AI use address?
Who would benefit, and who could be excluded or harmed?
How were affected communities involved in defining the need and safeguards?
Application guidance: Connect the concept to public health purpose, responsible use, required safeguards, documentation, and the next action a department should take.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Reflection Questions
What non-AI alternatives should be considered?
How will the agency measure public value, equity, trust, and unintended consequences?
Application guidance: Connect the concept to public health purpose, responsible use, required safeguards, documentation, and the next action a department should take.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Practical Exercise
Create an AI for Social Good review brief for one public health use case. The brief should define the public health problem, intended public benefit, affected communities, equity considerations, non-AI alternatives, proposed AI role, safeguards, community engagement plan, evaluation measures, and sunset or rollback criteria.
The exercise should result in a decision-support document that helps leaders and governance reviewers determine whether the proposed AI use advances public health values.
Application guidance: Use the assignment to test whether you can explain the concept, apply it to a realistic public health situation, and identify what would need review before the work moves forward.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Expected Artifact or Evidence
AI for Social Good review brief
Public value and equity assessment
Community engagement and accessibility plan
Application guidance: Connect the concept to public health purpose, responsible use, required safeguards, documentation, and the next action a department should take.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Expected Artifact or Evidence
Impact and unintended-consequence measurement plan
Application guidance: Connect the concept to public health purpose, responsible use, required safeguards, documentation, and the next action a department should take.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Expected Assignment
AI for Social Good review brief
Public value and equity assessment
Community engagement and accessibility plan
Impact and unintended-consequence measurement plan
Application guidance: Use the assignment to test whether you can explain the concept, apply it to a realistic public health situation, and identify what would need review before the work moves forward.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Knowledge Check
1. What is the best definition of AI for Social Good in public health?
2. Why is efficiency alone not enough to show social good?
3. What does equity by design require?
4. Which use best reflects AI for Social Good?
5. What is strong completion evidence for this module?
Application guidance: Use the assignment to test whether you can explain the concept, apply it to a realistic public health situation, and identify what would need review before the work moves forward.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References and Resources
WHO Ethics and Governance of Artificial Intelligence for Health: https://www.who.int/publications/i/item/9789240029200
WHO Guidance on Large Multi-Modal Models: https://www.who.int/publications/i/item/9789240084759
NIST Artificial Intelligence Risk Management Framework: https://www.nist.gov/itl/ai-risk-management-framework
CDC Public Health Data Strategy: https://www.cdc.gov/public-health-data-strategy/php/about/index.html
Agency equity, community engagement, accessibility, and language access policies
Application guidance: Connect the concept to public health purpose, responsible use, required safeguards, documentation, and the next action a department should take.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F7FBFD"/>
          </a:solidFill>
          <a:ln w="12700">
            <a:solidFill>
              <a:srgbClr val="F7FBFD"/>
            </a:solidFill>
            <a:prstDash val="solid"/>
          </a:ln>
        </p:spPr>
      </p:sp>
      <p:pic>
        <p:nvPicPr>
          <p:cNvPr id="3" name="Image 0" descr="C:\Users\paula\Documents\Codex\2026-06-30\files-mentioned-by-the-user-ai\outputs\ai-playbook-site\assets\ai-playbook-logo-public-health.png">    </p:cNvPr>
          <p:cNvPicPr>
            <a:picLocks noChangeAspect="1"/>
          </p:cNvPicPr>
          <p:nvPr/>
        </p:nvPicPr>
        <p:blipFill>
          <a:blip r:embed="rId1"/>
          <a:stretch>
            <a:fillRect/>
          </a:stretch>
        </p:blipFill>
        <p:spPr>
          <a:xfrm>
            <a:off x="713232" y="566928"/>
            <a:ext cx="1353312" cy="1353312"/>
          </a:xfrm>
          <a:prstGeom prst="rect">
            <a:avLst/>
          </a:prstGeom>
        </p:spPr>
      </p:pic>
      <p:sp>
        <p:nvSpPr>
          <p:cNvPr id="4" name="Shape 1"/>
          <p:cNvSpPr/>
          <p:nvPr/>
        </p:nvSpPr>
        <p:spPr>
          <a:xfrm>
            <a:off x="713232" y="2240280"/>
            <a:ext cx="10698480" cy="0"/>
          </a:xfrm>
          <a:prstGeom prst="line">
            <a:avLst/>
          </a:prstGeom>
          <a:noFill/>
          <a:ln w="25400">
            <a:solidFill>
              <a:srgbClr val="2F8A28"/>
            </a:solidFill>
            <a:prstDash val="solid"/>
          </a:ln>
        </p:spPr>
      </p:sp>
      <p:sp>
        <p:nvSpPr>
          <p:cNvPr id="5" name="Text 2"/>
          <p:cNvSpPr/>
          <p:nvPr/>
        </p:nvSpPr>
        <p:spPr>
          <a:xfrm>
            <a:off x="749808" y="2487168"/>
            <a:ext cx="2926080" cy="274320"/>
          </a:xfrm>
          <a:prstGeom prst="rect">
            <a:avLst/>
          </a:prstGeom>
          <a:noFill/>
          <a:ln/>
        </p:spPr>
        <p:txBody>
          <a:bodyPr wrap="square" lIns="0" tIns="0" rIns="0" bIns="0" rtlCol="0" anchor="ctr"/>
          <a:lstStyle/>
          <a:p>
            <a:pPr indent="0" marL="0">
              <a:buNone/>
            </a:pPr>
            <a:r>
              <a:rPr lang="en-US" sz="1400" b="1" dirty="0">
                <a:solidFill>
                  <a:srgbClr val="2F8A28"/>
                </a:solidFill>
                <a:latin typeface="Aptos" pitchFamily="34" charset="0"/>
                <a:ea typeface="Aptos" pitchFamily="34" charset="-122"/>
                <a:cs typeface="Aptos" pitchFamily="34" charset="-120"/>
              </a:rPr>
              <a:t>INT 190</a:t>
            </a:r>
            <a:endParaRPr lang="en-US" sz="1400" dirty="0"/>
          </a:p>
        </p:txBody>
      </p:sp>
      <p:sp>
        <p:nvSpPr>
          <p:cNvPr id="6" name="Text 3"/>
          <p:cNvSpPr/>
          <p:nvPr/>
        </p:nvSpPr>
        <p:spPr>
          <a:xfrm>
            <a:off x="713232" y="2816352"/>
            <a:ext cx="10607040" cy="868680"/>
          </a:xfrm>
          <a:prstGeom prst="rect">
            <a:avLst/>
          </a:prstGeom>
          <a:noFill/>
          <a:ln/>
        </p:spPr>
        <p:txBody>
          <a:bodyPr wrap="square" lIns="0" tIns="0" rIns="0" bIns="0" rtlCol="0" anchor="ctr">
            <a:normAutofit/>
          </a:bodyPr>
          <a:lstStyle/>
          <a:p>
            <a:pPr indent="0" marL="0">
              <a:buNone/>
            </a:pPr>
            <a:r>
              <a:rPr lang="en-US" sz="3200" b="1" dirty="0">
                <a:solidFill>
                  <a:srgbClr val="003A63"/>
                </a:solidFill>
                <a:latin typeface="Aptos Display" pitchFamily="34" charset="0"/>
                <a:ea typeface="Aptos Display" pitchFamily="34" charset="-122"/>
                <a:cs typeface="Aptos Display" pitchFamily="34" charset="-120"/>
              </a:rPr>
              <a:t>AI for Social Good</a:t>
            </a:r>
            <a:endParaRPr lang="en-US" sz="3200" dirty="0"/>
          </a:p>
        </p:txBody>
      </p:sp>
      <p:sp>
        <p:nvSpPr>
          <p:cNvPr id="7" name="Text 4"/>
          <p:cNvSpPr/>
          <p:nvPr/>
        </p:nvSpPr>
        <p:spPr>
          <a:xfrm>
            <a:off x="749808" y="3968496"/>
            <a:ext cx="8686800" cy="320040"/>
          </a:xfrm>
          <a:prstGeom prst="rect">
            <a:avLst/>
          </a:prstGeom>
          <a:noFill/>
          <a:ln/>
        </p:spPr>
        <p:txBody>
          <a:bodyPr wrap="square" lIns="0" tIns="0" rIns="0" bIns="0" rtlCol="0" anchor="ctr"/>
          <a:lstStyle/>
          <a:p>
            <a:pPr indent="0" marL="0">
              <a:buNone/>
            </a:pPr>
            <a:r>
              <a:rPr lang="en-US" sz="1800" dirty="0">
                <a:solidFill>
                  <a:srgbClr val="17364A"/>
                </a:solidFill>
                <a:latin typeface="Aptos" pitchFamily="34" charset="0"/>
                <a:ea typeface="Aptos" pitchFamily="34" charset="-122"/>
                <a:cs typeface="Aptos" pitchFamily="34" charset="-120"/>
              </a:rPr>
              <a:t>AI Playbook and Toolkit for Public Health Departments</a:t>
            </a:r>
            <a:endParaRPr lang="en-US" sz="1800" dirty="0"/>
          </a:p>
        </p:txBody>
      </p:sp>
      <p:sp>
        <p:nvSpPr>
          <p:cNvPr id="8"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a:t>
            </a:r>
            <a:endParaRPr lang="en-US" sz="9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for Social Good</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2</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What this module helps you do</a:t>
            </a:r>
            <a:endParaRPr lang="en-US" sz="3400" dirty="0"/>
          </a:p>
        </p:txBody>
      </p:sp>
      <p:sp>
        <p:nvSpPr>
          <p:cNvPr id="9" name="Text 7"/>
          <p:cNvSpPr/>
          <p:nvPr/>
        </p:nvSpPr>
        <p:spPr>
          <a:xfrm>
            <a:off x="868680" y="1508760"/>
            <a:ext cx="6446520" cy="2926080"/>
          </a:xfrm>
          <a:prstGeom prst="rect">
            <a:avLst/>
          </a:prstGeom>
          <a:noFill/>
          <a:ln/>
        </p:spPr>
        <p:txBody>
          <a:bodyPr wrap="square" lIns="1016" tIns="1016" rIns="1016" bIns="1016" rtlCol="0" anchor="t">
            <a:normAutofit/>
          </a:bodyPr>
          <a:lstStyle/>
          <a:p>
            <a:pPr indent="0" marL="0">
              <a:buNone/>
            </a:pPr>
            <a:r>
              <a:rPr lang="en-US" sz="2100" dirty="0">
                <a:solidFill>
                  <a:srgbClr val="003A63"/>
                </a:solidFill>
                <a:latin typeface="Aptos" pitchFamily="34" charset="0"/>
                <a:ea typeface="Aptos" pitchFamily="34" charset="-122"/>
                <a:cs typeface="Aptos" pitchFamily="34" charset="-120"/>
              </a:rPr>
              <a:t>• AI for Social Good refers to the intentional use of artificial intelligence.</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For public health, this concept is not abstract.</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Public health agencies already work to prevent disease, protect communities,.</a:t>
            </a:r>
            <a:endParaRPr lang="en-US" sz="2100" dirty="0"/>
          </a:p>
        </p:txBody>
      </p:sp>
      <p:sp>
        <p:nvSpPr>
          <p:cNvPr id="10" name="Shape 8"/>
          <p:cNvSpPr/>
          <p:nvPr/>
        </p:nvSpPr>
        <p:spPr>
          <a:xfrm>
            <a:off x="7909560" y="1417320"/>
            <a:ext cx="3154680" cy="1920240"/>
          </a:xfrm>
          <a:prstGeom prst="roundRect">
            <a:avLst>
              <a:gd name="adj" fmla="val 5714"/>
            </a:avLst>
          </a:prstGeom>
          <a:solidFill>
            <a:srgbClr val="EAF6F8"/>
          </a:solidFill>
          <a:ln w="12700">
            <a:solidFill>
              <a:srgbClr val="B9D7E6"/>
            </a:solidFill>
            <a:prstDash val="solid"/>
          </a:ln>
        </p:spPr>
      </p:sp>
      <p:sp>
        <p:nvSpPr>
          <p:cNvPr id="11" name="Text 9"/>
          <p:cNvSpPr/>
          <p:nvPr/>
        </p:nvSpPr>
        <p:spPr>
          <a:xfrm>
            <a:off x="8074152" y="1545336"/>
            <a:ext cx="28254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Module details</a:t>
            </a:r>
            <a:endParaRPr lang="en-US" sz="1220" dirty="0"/>
          </a:p>
        </p:txBody>
      </p:sp>
      <p:sp>
        <p:nvSpPr>
          <p:cNvPr id="12" name="Text 10"/>
          <p:cNvSpPr/>
          <p:nvPr/>
        </p:nvSpPr>
        <p:spPr>
          <a:xfrm>
            <a:off x="8074152" y="1856232"/>
            <a:ext cx="2825496" cy="1408176"/>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Level: introductory Primary track: Shared Foundational / Introductory Course.</a:t>
            </a:r>
            <a:endParaRPr lang="en-US" sz="1220" dirty="0"/>
          </a:p>
        </p:txBody>
      </p:sp>
      <p:sp>
        <p:nvSpPr>
          <p:cNvPr id="13" name="Shape 11"/>
          <p:cNvSpPr/>
          <p:nvPr/>
        </p:nvSpPr>
        <p:spPr>
          <a:xfrm>
            <a:off x="7909560" y="3675888"/>
            <a:ext cx="3154680" cy="1691640"/>
          </a:xfrm>
          <a:prstGeom prst="roundRect">
            <a:avLst>
              <a:gd name="adj" fmla="val 6486"/>
            </a:avLst>
          </a:prstGeom>
          <a:solidFill>
            <a:srgbClr val="FFFFFF"/>
          </a:solidFill>
          <a:ln w="12700">
            <a:solidFill>
              <a:srgbClr val="B9D7E6"/>
            </a:solidFill>
            <a:prstDash val="solid"/>
          </a:ln>
        </p:spPr>
      </p:sp>
      <p:sp>
        <p:nvSpPr>
          <p:cNvPr id="14" name="Text 12"/>
          <p:cNvSpPr/>
          <p:nvPr/>
        </p:nvSpPr>
        <p:spPr>
          <a:xfrm>
            <a:off x="8074152" y="3803904"/>
            <a:ext cx="28254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Learning sequence</a:t>
            </a:r>
            <a:endParaRPr lang="en-US" sz="1220" dirty="0"/>
          </a:p>
        </p:txBody>
      </p:sp>
      <p:sp>
        <p:nvSpPr>
          <p:cNvPr id="15" name="Text 13"/>
          <p:cNvSpPr/>
          <p:nvPr/>
        </p:nvSpPr>
        <p:spPr>
          <a:xfrm>
            <a:off x="8092440" y="4133088"/>
            <a:ext cx="2770632" cy="1124712"/>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Read the module for shared vocabulary and context.</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Complete the practical exercise to apply the.</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Use the notes and references for deeper review.</a:t>
            </a:r>
            <a:endParaRPr lang="en-US" sz="114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for Social Good</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3</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How this module connects to the playbook</a:t>
            </a:r>
            <a:endParaRPr lang="en-US" sz="3400" dirty="0"/>
          </a:p>
        </p:txBody>
      </p:sp>
      <p:sp>
        <p:nvSpPr>
          <p:cNvPr id="9" name="Text 7"/>
          <p:cNvSpPr/>
          <p:nvPr/>
        </p:nvSpPr>
        <p:spPr>
          <a:xfrm>
            <a:off x="868680" y="1508760"/>
            <a:ext cx="6812280" cy="3977640"/>
          </a:xfrm>
          <a:prstGeom prst="rect">
            <a:avLst/>
          </a:prstGeom>
          <a:noFill/>
          <a:ln/>
        </p:spPr>
        <p:txBody>
          <a:bodyPr wrap="square" lIns="1016" tIns="1016" rIns="1016" bIns="1016" rtlCol="0" anchor="t">
            <a:normAutofit/>
          </a:bodyPr>
          <a:lstStyle/>
          <a:p>
            <a:pPr indent="0" marL="0">
              <a:buNone/>
            </a:pPr>
            <a:r>
              <a:rPr lang="en-US" sz="1900" dirty="0">
                <a:solidFill>
                  <a:srgbClr val="003A63"/>
                </a:solidFill>
                <a:latin typeface="Aptos" pitchFamily="34" charset="0"/>
                <a:ea typeface="Aptos" pitchFamily="34" charset="-122"/>
                <a:cs typeface="Aptos" pitchFamily="34" charset="-120"/>
              </a:rPr>
              <a:t>• Play 4: Engage Stakeholders - This lesson informs Play 4 by helping learners.</a:t>
            </a:r>
            <a:endParaRPr lang="en-US" sz="1900" dirty="0"/>
          </a:p>
          <a:p>
            <a:pPr indent="0" marL="0">
              <a:buNone/>
            </a:pPr>
            <a:r>
              <a:rPr lang="en-US" sz="1900" dirty="0">
                <a:solidFill>
                  <a:srgbClr val="003A63"/>
                </a:solidFill>
                <a:latin typeface="Aptos" pitchFamily="34" charset="0"/>
                <a:ea typeface="Aptos" pitchFamily="34" charset="-122"/>
                <a:cs typeface="Aptos" pitchFamily="34" charset="-120"/>
              </a:rPr>
              <a:t>• Play 7: Prioritize Use Cases - This lesson informs Play 7 by helping.</a:t>
            </a:r>
            <a:endParaRPr lang="en-US" sz="1900" dirty="0"/>
          </a:p>
          <a:p>
            <a:pPr indent="0" marL="0">
              <a:buNone/>
            </a:pPr>
            <a:r>
              <a:rPr lang="en-US" sz="1900" dirty="0">
                <a:solidFill>
                  <a:srgbClr val="003A63"/>
                </a:solidFill>
                <a:latin typeface="Aptos" pitchFamily="34" charset="0"/>
                <a:ea typeface="Aptos" pitchFamily="34" charset="-122"/>
                <a:cs typeface="Aptos" pitchFamily="34" charset="-120"/>
              </a:rPr>
              <a:t>• Play 1: Vision &amp; Guardrails - This lesson informs Play 1 by helping learners.</a:t>
            </a:r>
            <a:endParaRPr lang="en-US" sz="1900" dirty="0"/>
          </a:p>
          <a:p>
            <a:pPr indent="0" marL="0">
              <a:buNone/>
            </a:pPr>
            <a:r>
              <a:rPr lang="en-US" sz="1900" dirty="0">
                <a:solidFill>
                  <a:srgbClr val="003A63"/>
                </a:solidFill>
                <a:latin typeface="Aptos" pitchFamily="34" charset="0"/>
                <a:ea typeface="Aptos" pitchFamily="34" charset="-122"/>
                <a:cs typeface="Aptos" pitchFamily="34" charset="-120"/>
              </a:rPr>
              <a:t>• Play 13: Monitor and Evaluate AI Systems - This lesson informs Play 13 by.</a:t>
            </a:r>
            <a:endParaRPr lang="en-US" sz="1900" dirty="0"/>
          </a:p>
        </p:txBody>
      </p:sp>
      <p:sp>
        <p:nvSpPr>
          <p:cNvPr id="10" name="Shape 8"/>
          <p:cNvSpPr/>
          <p:nvPr/>
        </p:nvSpPr>
        <p:spPr>
          <a:xfrm>
            <a:off x="8046720" y="1417320"/>
            <a:ext cx="3063240" cy="2103120"/>
          </a:xfrm>
          <a:prstGeom prst="roundRect">
            <a:avLst>
              <a:gd name="adj" fmla="val 5217"/>
            </a:avLst>
          </a:prstGeom>
          <a:solidFill>
            <a:srgbClr val="EEF8ED"/>
          </a:solidFill>
          <a:ln w="12700">
            <a:solidFill>
              <a:srgbClr val="B9D7E6"/>
            </a:solidFill>
            <a:prstDash val="solid"/>
          </a:ln>
        </p:spPr>
      </p:sp>
      <p:sp>
        <p:nvSpPr>
          <p:cNvPr id="11" name="Text 9"/>
          <p:cNvSpPr/>
          <p:nvPr/>
        </p:nvSpPr>
        <p:spPr>
          <a:xfrm>
            <a:off x="8211312" y="1545336"/>
            <a:ext cx="273405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Apply the lesson</a:t>
            </a:r>
            <a:endParaRPr lang="en-US" sz="1220" dirty="0"/>
          </a:p>
        </p:txBody>
      </p:sp>
      <p:sp>
        <p:nvSpPr>
          <p:cNvPr id="12" name="Text 10"/>
          <p:cNvSpPr/>
          <p:nvPr/>
        </p:nvSpPr>
        <p:spPr>
          <a:xfrm>
            <a:off x="8211312" y="1856232"/>
            <a:ext cx="2734056" cy="1591056"/>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Use the related plays to identify decisions, participants, timing, approvals,.</a:t>
            </a:r>
            <a:endParaRPr lang="en-US" sz="1220" dirty="0"/>
          </a:p>
        </p:txBody>
      </p:sp>
      <p:sp>
        <p:nvSpPr>
          <p:cNvPr id="13" name="Shape 11"/>
          <p:cNvSpPr/>
          <p:nvPr/>
        </p:nvSpPr>
        <p:spPr>
          <a:xfrm>
            <a:off x="8046720" y="3794760"/>
            <a:ext cx="3063240" cy="1600200"/>
          </a:xfrm>
          <a:prstGeom prst="roundRect">
            <a:avLst>
              <a:gd name="adj" fmla="val 6857"/>
            </a:avLst>
          </a:prstGeom>
          <a:solidFill>
            <a:srgbClr val="FFFFFF"/>
          </a:solidFill>
          <a:ln w="12700">
            <a:solidFill>
              <a:srgbClr val="B9D7E6"/>
            </a:solidFill>
            <a:prstDash val="solid"/>
          </a:ln>
        </p:spPr>
      </p:sp>
      <p:sp>
        <p:nvSpPr>
          <p:cNvPr id="14" name="Text 12"/>
          <p:cNvSpPr/>
          <p:nvPr/>
        </p:nvSpPr>
        <p:spPr>
          <a:xfrm>
            <a:off x="8211312" y="3922776"/>
            <a:ext cx="273405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Use the play links to</a:t>
            </a:r>
            <a:endParaRPr lang="en-US" sz="1220" dirty="0"/>
          </a:p>
        </p:txBody>
      </p:sp>
      <p:sp>
        <p:nvSpPr>
          <p:cNvPr id="15" name="Text 13"/>
          <p:cNvSpPr/>
          <p:nvPr/>
        </p:nvSpPr>
        <p:spPr>
          <a:xfrm>
            <a:off x="8229600" y="4251960"/>
            <a:ext cx="2679192" cy="1033272"/>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Locate the decision point in the playbook sequence.</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Identify who should participate in the work.</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Document the review, approval, or implementation.</a:t>
            </a:r>
            <a:endParaRPr lang="en-US" sz="114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for Social Good</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4</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Related toolkit resources</a:t>
            </a:r>
            <a:endParaRPr lang="en-US" sz="3400" dirty="0"/>
          </a:p>
        </p:txBody>
      </p:sp>
      <p:sp>
        <p:nvSpPr>
          <p:cNvPr id="9" name="Text 7"/>
          <p:cNvSpPr/>
          <p:nvPr/>
        </p:nvSpPr>
        <p:spPr>
          <a:xfrm>
            <a:off x="868680" y="1508760"/>
            <a:ext cx="6812280" cy="3977640"/>
          </a:xfrm>
          <a:prstGeom prst="rect">
            <a:avLst/>
          </a:prstGeom>
          <a:noFill/>
          <a:ln/>
        </p:spPr>
        <p:txBody>
          <a:bodyPr wrap="square" lIns="1016" tIns="1016" rIns="1016" bIns="1016" rtlCol="0" anchor="t">
            <a:normAutofit/>
          </a:bodyPr>
          <a:lstStyle/>
          <a:p>
            <a:pPr indent="0" marL="0">
              <a:buNone/>
            </a:pPr>
            <a:r>
              <a:rPr lang="en-US" sz="1850" dirty="0">
                <a:solidFill>
                  <a:srgbClr val="003A63"/>
                </a:solidFill>
                <a:latin typeface="Aptos" pitchFamily="34" charset="0"/>
                <a:ea typeface="Aptos" pitchFamily="34" charset="-122"/>
                <a:cs typeface="Aptos" pitchFamily="34" charset="-120"/>
              </a:rPr>
              <a:t>• Tool 20: Community Engagement Planning (Planning) - Use this tool to.</a:t>
            </a:r>
            <a:endParaRPr lang="en-US" sz="1850" dirty="0"/>
          </a:p>
          <a:p>
            <a:pPr indent="0" marL="0">
              <a:buNone/>
            </a:pPr>
            <a:r>
              <a:rPr lang="en-US" sz="1850" dirty="0">
                <a:solidFill>
                  <a:srgbClr val="003A63"/>
                </a:solidFill>
                <a:latin typeface="Aptos" pitchFamily="34" charset="0"/>
                <a:ea typeface="Aptos" pitchFamily="34" charset="-122"/>
                <a:cs typeface="Aptos" pitchFamily="34" charset="-120"/>
              </a:rPr>
              <a:t>• Tool 21: Stakeholder Mapping &amp; RACI (Template) - Use this tool to complete.</a:t>
            </a:r>
            <a:endParaRPr lang="en-US" sz="1850" dirty="0"/>
          </a:p>
          <a:p>
            <a:pPr indent="0" marL="0">
              <a:buNone/>
            </a:pPr>
            <a:r>
              <a:rPr lang="en-US" sz="1850" dirty="0">
                <a:solidFill>
                  <a:srgbClr val="003A63"/>
                </a:solidFill>
                <a:latin typeface="Aptos" pitchFamily="34" charset="0"/>
                <a:ea typeface="Aptos" pitchFamily="34" charset="-122"/>
                <a:cs typeface="Aptos" pitchFamily="34" charset="-120"/>
              </a:rPr>
              <a:t>• Tool 22: Missing Voices Analysis (Checklist) - Use this tool to complete or.</a:t>
            </a:r>
            <a:endParaRPr lang="en-US" sz="1850" dirty="0"/>
          </a:p>
          <a:p>
            <a:pPr indent="0" marL="0">
              <a:buNone/>
            </a:pPr>
            <a:r>
              <a:rPr lang="en-US" sz="1850" dirty="0">
                <a:solidFill>
                  <a:srgbClr val="003A63"/>
                </a:solidFill>
                <a:latin typeface="Aptos" pitchFamily="34" charset="0"/>
                <a:ea typeface="Aptos" pitchFamily="34" charset="-122"/>
                <a:cs typeface="Aptos" pitchFamily="34" charset="-120"/>
              </a:rPr>
              <a:t>• Tool 4: AI Policy Landscape Scan (Worksheet) - Use AI Policy Landscape Scan.</a:t>
            </a:r>
            <a:endParaRPr lang="en-US" sz="1850" dirty="0"/>
          </a:p>
        </p:txBody>
      </p:sp>
      <p:sp>
        <p:nvSpPr>
          <p:cNvPr id="10" name="Shape 8"/>
          <p:cNvSpPr/>
          <p:nvPr/>
        </p:nvSpPr>
        <p:spPr>
          <a:xfrm>
            <a:off x="8046720" y="1417320"/>
            <a:ext cx="3063240" cy="2103120"/>
          </a:xfrm>
          <a:prstGeom prst="roundRect">
            <a:avLst>
              <a:gd name="adj" fmla="val 5217"/>
            </a:avLst>
          </a:prstGeom>
          <a:solidFill>
            <a:srgbClr val="EAF6F8"/>
          </a:solidFill>
          <a:ln w="12700">
            <a:solidFill>
              <a:srgbClr val="B9D7E6"/>
            </a:solidFill>
            <a:prstDash val="solid"/>
          </a:ln>
        </p:spPr>
      </p:sp>
      <p:sp>
        <p:nvSpPr>
          <p:cNvPr id="11" name="Text 9"/>
          <p:cNvSpPr/>
          <p:nvPr/>
        </p:nvSpPr>
        <p:spPr>
          <a:xfrm>
            <a:off x="8211312" y="1545336"/>
            <a:ext cx="273405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Use the tools</a:t>
            </a:r>
            <a:endParaRPr lang="en-US" sz="1220" dirty="0"/>
          </a:p>
        </p:txBody>
      </p:sp>
      <p:sp>
        <p:nvSpPr>
          <p:cNvPr id="12" name="Text 10"/>
          <p:cNvSpPr/>
          <p:nvPr/>
        </p:nvSpPr>
        <p:spPr>
          <a:xfrm>
            <a:off x="8211312" y="1856232"/>
            <a:ext cx="2734056" cy="1591056"/>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Use linked tools when your department needs a structured worksheet, template,.</a:t>
            </a:r>
            <a:endParaRPr lang="en-US" sz="1220" dirty="0"/>
          </a:p>
        </p:txBody>
      </p:sp>
      <p:sp>
        <p:nvSpPr>
          <p:cNvPr id="13" name="Shape 11"/>
          <p:cNvSpPr/>
          <p:nvPr/>
        </p:nvSpPr>
        <p:spPr>
          <a:xfrm>
            <a:off x="8046720" y="3794760"/>
            <a:ext cx="3063240" cy="1600200"/>
          </a:xfrm>
          <a:prstGeom prst="roundRect">
            <a:avLst>
              <a:gd name="adj" fmla="val 6857"/>
            </a:avLst>
          </a:prstGeom>
          <a:solidFill>
            <a:srgbClr val="FFFFFF"/>
          </a:solidFill>
          <a:ln w="12700">
            <a:solidFill>
              <a:srgbClr val="B9D7E6"/>
            </a:solidFill>
            <a:prstDash val="solid"/>
          </a:ln>
        </p:spPr>
      </p:sp>
      <p:sp>
        <p:nvSpPr>
          <p:cNvPr id="14" name="Text 12"/>
          <p:cNvSpPr/>
          <p:nvPr/>
        </p:nvSpPr>
        <p:spPr>
          <a:xfrm>
            <a:off x="8211312" y="3922776"/>
            <a:ext cx="273405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Tool selection cues</a:t>
            </a:r>
            <a:endParaRPr lang="en-US" sz="1220" dirty="0"/>
          </a:p>
        </p:txBody>
      </p:sp>
      <p:sp>
        <p:nvSpPr>
          <p:cNvPr id="15" name="Text 13"/>
          <p:cNvSpPr/>
          <p:nvPr/>
        </p:nvSpPr>
        <p:spPr>
          <a:xfrm>
            <a:off x="8229600" y="4251960"/>
            <a:ext cx="2679192" cy="1033272"/>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Use a tool when no comparable local process exists.</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Adapt existing department templates when they.</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Save the completed artifact as evidence of the.</a:t>
            </a:r>
            <a:endParaRPr lang="en-US" sz="114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for Social Good</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5</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Learning Objectives</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Define AI for Social Good in public health terms.</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Distinguish public benefit from novelty, efficiency, or automation alone.</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Identify how AI can support public health values, including equity,.</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Practice focus</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Define AI for Social Good in public health terms.</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Identify how AI can support public health values,.</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Assess potential harms, including exclusion,.</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Design community-centered safeguards for socially.</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What to produce</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Use the assignment to test whether you can explain the concept, apply it to a.</a:t>
            </a:r>
            <a:endParaRPr lang="en-US" sz="122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for Social Good</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6</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Learning Objectives Continued</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Produce an AI for Social Good review brief for a public health use case.</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Practice focus</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Produce an AI for Social Good review brief for a public health use case.</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Produce an AI for Social Good review brief for a.</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What to produce</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Use the assignment to test whether you can explain the concept, apply it to a.</a:t>
            </a:r>
            <a:endParaRPr lang="en-US" sz="122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for Social Good</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7</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Module Overview</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AI for Social Good refers to the intentional use of artificial intelligence.</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For public health, this concept is not abstract.</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Public health agencies already work to prevent disease, protect communities,.</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Core concept</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AI for Social Good refers to the intentional use of artificial intelligence to.</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19456"/>
          </a:xfrm>
          <a:prstGeom prst="rect">
            <a:avLst/>
          </a:prstGeom>
          <a:noFill/>
          <a:ln/>
        </p:spPr>
        <p:txBody>
          <a:bodyPr wrap="square" lIns="0" tIns="0" rIns="0" bIns="0" rtlCol="0" anchor="ctr">
            <a:normAutofit/>
          </a:bodyPr>
          <a:lstStyle/>
          <a:p>
            <a:pPr indent="0" marL="0">
              <a:buNone/>
            </a:pPr>
            <a:r>
              <a:rPr lang="en-US" sz="1160" b="1" dirty="0">
                <a:solidFill>
                  <a:srgbClr val="0068B7"/>
                </a:solidFill>
                <a:latin typeface="Aptos" pitchFamily="34" charset="0"/>
                <a:ea typeface="Aptos" pitchFamily="34" charset="-122"/>
                <a:cs typeface="Aptos" pitchFamily="34" charset="-120"/>
              </a:rPr>
              <a:t>Human-in-the-loop use</a:t>
            </a:r>
            <a:endParaRPr lang="en-US" sz="1160" dirty="0"/>
          </a:p>
        </p:txBody>
      </p:sp>
      <p:sp>
        <p:nvSpPr>
          <p:cNvPr id="15" name="Shape 13"/>
          <p:cNvSpPr/>
          <p:nvPr/>
        </p:nvSpPr>
        <p:spPr>
          <a:xfrm>
            <a:off x="8717280" y="3406140"/>
            <a:ext cx="164592" cy="0"/>
          </a:xfrm>
          <a:prstGeom prst="line">
            <a:avLst/>
          </a:prstGeom>
          <a:noFill/>
          <a:ln w="15240">
            <a:solidFill>
              <a:srgbClr val="8ABBD8"/>
            </a:solidFill>
            <a:prstDash val="solid"/>
          </a:ln>
        </p:spPr>
      </p:sp>
      <p:sp>
        <p:nvSpPr>
          <p:cNvPr id="16" name="Shape 14"/>
          <p:cNvSpPr/>
          <p:nvPr/>
        </p:nvSpPr>
        <p:spPr>
          <a:xfrm>
            <a:off x="7781544" y="3255264"/>
            <a:ext cx="935736" cy="301752"/>
          </a:xfrm>
          <a:prstGeom prst="roundRect">
            <a:avLst>
              <a:gd name="adj" fmla="val 24242"/>
            </a:avLst>
          </a:prstGeom>
          <a:solidFill>
            <a:srgbClr val="0068B7"/>
          </a:solidFill>
          <a:ln w="12700">
            <a:solidFill>
              <a:srgbClr val="0068B7"/>
            </a:solidFill>
            <a:prstDash val="solid"/>
          </a:ln>
        </p:spPr>
      </p:sp>
      <p:sp>
        <p:nvSpPr>
          <p:cNvPr id="17" name="Text 15"/>
          <p:cNvSpPr/>
          <p:nvPr/>
        </p:nvSpPr>
        <p:spPr>
          <a:xfrm>
            <a:off x="7818120" y="3328416"/>
            <a:ext cx="862584" cy="146304"/>
          </a:xfrm>
          <a:prstGeom prst="rect">
            <a:avLst/>
          </a:prstGeom>
          <a:noFill/>
          <a:ln/>
        </p:spPr>
        <p:txBody>
          <a:bodyPr wrap="square" lIns="0" tIns="0" rIns="0" bIns="0" rtlCol="0" anchor="ctr">
            <a:normAutofit/>
          </a:bodyPr>
          <a:lstStyle/>
          <a:p>
            <a:pPr algn="ctr" indent="0" marL="0">
              <a:buNone/>
            </a:pPr>
            <a:r>
              <a:rPr lang="en-US" sz="880" b="1" dirty="0">
                <a:solidFill>
                  <a:srgbClr val="FFFFFF"/>
                </a:solidFill>
                <a:latin typeface="Aptos" pitchFamily="34" charset="0"/>
                <a:ea typeface="Aptos" pitchFamily="34" charset="-122"/>
                <a:cs typeface="Aptos" pitchFamily="34" charset="-120"/>
              </a:rPr>
              <a:t>Input</a:t>
            </a:r>
            <a:endParaRPr lang="en-US" sz="880" dirty="0"/>
          </a:p>
        </p:txBody>
      </p:sp>
      <p:sp>
        <p:nvSpPr>
          <p:cNvPr id="18" name="Shape 16"/>
          <p:cNvSpPr/>
          <p:nvPr/>
        </p:nvSpPr>
        <p:spPr>
          <a:xfrm>
            <a:off x="9817608" y="3406140"/>
            <a:ext cx="164592" cy="0"/>
          </a:xfrm>
          <a:prstGeom prst="line">
            <a:avLst/>
          </a:prstGeom>
          <a:noFill/>
          <a:ln w="15240">
            <a:solidFill>
              <a:srgbClr val="8ABBD8"/>
            </a:solidFill>
            <a:prstDash val="solid"/>
          </a:ln>
        </p:spPr>
      </p:sp>
      <p:sp>
        <p:nvSpPr>
          <p:cNvPr id="19" name="Shape 17"/>
          <p:cNvSpPr/>
          <p:nvPr/>
        </p:nvSpPr>
        <p:spPr>
          <a:xfrm>
            <a:off x="8881872" y="3255264"/>
            <a:ext cx="935736" cy="301752"/>
          </a:xfrm>
          <a:prstGeom prst="roundRect">
            <a:avLst>
              <a:gd name="adj" fmla="val 24242"/>
            </a:avLst>
          </a:prstGeom>
          <a:solidFill>
            <a:srgbClr val="2F8A28"/>
          </a:solidFill>
          <a:ln w="12700">
            <a:solidFill>
              <a:srgbClr val="2F8A28"/>
            </a:solidFill>
            <a:prstDash val="solid"/>
          </a:ln>
        </p:spPr>
      </p:sp>
      <p:sp>
        <p:nvSpPr>
          <p:cNvPr id="20" name="Text 18"/>
          <p:cNvSpPr/>
          <p:nvPr/>
        </p:nvSpPr>
        <p:spPr>
          <a:xfrm>
            <a:off x="8918448" y="3328416"/>
            <a:ext cx="862584" cy="146304"/>
          </a:xfrm>
          <a:prstGeom prst="rect">
            <a:avLst/>
          </a:prstGeom>
          <a:noFill/>
          <a:ln/>
        </p:spPr>
        <p:txBody>
          <a:bodyPr wrap="square" lIns="0" tIns="0" rIns="0" bIns="0" rtlCol="0" anchor="ctr">
            <a:normAutofit/>
          </a:bodyPr>
          <a:lstStyle/>
          <a:p>
            <a:pPr algn="ctr" indent="0" marL="0">
              <a:buNone/>
            </a:pPr>
            <a:r>
              <a:rPr lang="en-US" sz="880" b="1" dirty="0">
                <a:solidFill>
                  <a:srgbClr val="FFFFFF"/>
                </a:solidFill>
                <a:latin typeface="Aptos" pitchFamily="34" charset="0"/>
                <a:ea typeface="Aptos" pitchFamily="34" charset="-122"/>
                <a:cs typeface="Aptos" pitchFamily="34" charset="-120"/>
              </a:rPr>
              <a:t>AI assist</a:t>
            </a:r>
            <a:endParaRPr lang="en-US" sz="880" dirty="0"/>
          </a:p>
        </p:txBody>
      </p:sp>
      <p:sp>
        <p:nvSpPr>
          <p:cNvPr id="21" name="Shape 19"/>
          <p:cNvSpPr/>
          <p:nvPr/>
        </p:nvSpPr>
        <p:spPr>
          <a:xfrm>
            <a:off x="9982200" y="3255264"/>
            <a:ext cx="935736" cy="301752"/>
          </a:xfrm>
          <a:prstGeom prst="roundRect">
            <a:avLst>
              <a:gd name="adj" fmla="val 24242"/>
            </a:avLst>
          </a:prstGeom>
          <a:solidFill>
            <a:srgbClr val="6A4CA3"/>
          </a:solidFill>
          <a:ln w="12700">
            <a:solidFill>
              <a:srgbClr val="6A4CA3"/>
            </a:solidFill>
            <a:prstDash val="solid"/>
          </a:ln>
        </p:spPr>
      </p:sp>
      <p:sp>
        <p:nvSpPr>
          <p:cNvPr id="22" name="Text 20"/>
          <p:cNvSpPr/>
          <p:nvPr/>
        </p:nvSpPr>
        <p:spPr>
          <a:xfrm>
            <a:off x="10018776" y="3328416"/>
            <a:ext cx="862584" cy="146304"/>
          </a:xfrm>
          <a:prstGeom prst="rect">
            <a:avLst/>
          </a:prstGeom>
          <a:noFill/>
          <a:ln/>
        </p:spPr>
        <p:txBody>
          <a:bodyPr wrap="square" lIns="0" tIns="0" rIns="0" bIns="0" rtlCol="0" anchor="ctr">
            <a:normAutofit/>
          </a:bodyPr>
          <a:lstStyle/>
          <a:p>
            <a:pPr algn="ctr" indent="0" marL="0">
              <a:buNone/>
            </a:pPr>
            <a:r>
              <a:rPr lang="en-US" sz="880" b="1" dirty="0">
                <a:solidFill>
                  <a:srgbClr val="FFFFFF"/>
                </a:solidFill>
                <a:latin typeface="Aptos" pitchFamily="34" charset="0"/>
                <a:ea typeface="Aptos" pitchFamily="34" charset="-122"/>
                <a:cs typeface="Aptos" pitchFamily="34" charset="-120"/>
              </a:rPr>
              <a:t>Review</a:t>
            </a:r>
            <a:endParaRPr lang="en-US" sz="880" dirty="0"/>
          </a:p>
        </p:txBody>
      </p:sp>
      <p:sp>
        <p:nvSpPr>
          <p:cNvPr id="23" name="Text 21"/>
          <p:cNvSpPr/>
          <p:nvPr/>
        </p:nvSpPr>
        <p:spPr>
          <a:xfrm>
            <a:off x="7763256" y="3749040"/>
            <a:ext cx="3172968" cy="356616"/>
          </a:xfrm>
          <a:prstGeom prst="rect">
            <a:avLst/>
          </a:prstGeom>
          <a:noFill/>
          <a:ln/>
        </p:spPr>
        <p:txBody>
          <a:bodyPr wrap="square" lIns="254" tIns="254" rIns="254" bIns="254" rtlCol="0" anchor="t">
            <a:normAutofit/>
          </a:bodyPr>
          <a:lstStyle/>
          <a:p>
            <a:pPr indent="0" marL="0">
              <a:buNone/>
            </a:pPr>
            <a:r>
              <a:rPr lang="en-US" sz="1040" dirty="0">
                <a:solidFill>
                  <a:srgbClr val="17364A"/>
                </a:solidFill>
                <a:latin typeface="Aptos" pitchFamily="34" charset="0"/>
                <a:ea typeface="Aptos" pitchFamily="34" charset="-122"/>
                <a:cs typeface="Aptos" pitchFamily="34" charset="-120"/>
              </a:rPr>
              <a:t>AI can support work, but public health judgment remains responsible.</a:t>
            </a:r>
            <a:endParaRPr lang="en-US" sz="1040" dirty="0"/>
          </a:p>
        </p:txBody>
      </p:sp>
      <p:sp>
        <p:nvSpPr>
          <p:cNvPr id="24" name="Shape 22"/>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25" name="Text 23"/>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Apply it</a:t>
            </a:r>
            <a:endParaRPr lang="en-US" sz="1220" dirty="0"/>
          </a:p>
        </p:txBody>
      </p:sp>
      <p:sp>
        <p:nvSpPr>
          <p:cNvPr id="26" name="Text 24"/>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Connect the concept to public health purpose, responsible use, required.</a:t>
            </a:r>
            <a:endParaRPr lang="en-US" sz="122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for Social Good</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8</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Why This Topic Matters for Public Health AI</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Public health is uniquely positioned to use AI for social good because its.</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AI can help agencies identify emerging needs, improve access to information,.</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These benefits are especially important when agencies face workforce.</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Core concept</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Public health is uniquely positioned to use AI for social good because its.</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19456"/>
          </a:xfrm>
          <a:prstGeom prst="rect">
            <a:avLst/>
          </a:prstGeom>
          <a:noFill/>
          <a:ln/>
        </p:spPr>
        <p:txBody>
          <a:bodyPr wrap="square" lIns="0" tIns="0" rIns="0" bIns="0" rtlCol="0" anchor="ctr">
            <a:normAutofit/>
          </a:bodyPr>
          <a:lstStyle/>
          <a:p>
            <a:pPr indent="0" marL="0">
              <a:buNone/>
            </a:pPr>
            <a:r>
              <a:rPr lang="en-US" sz="1160" b="1" dirty="0">
                <a:solidFill>
                  <a:srgbClr val="0068B7"/>
                </a:solidFill>
                <a:latin typeface="Aptos" pitchFamily="34" charset="0"/>
                <a:ea typeface="Aptos" pitchFamily="34" charset="-122"/>
                <a:cs typeface="Aptos" pitchFamily="34" charset="-120"/>
              </a:rPr>
              <a:t>Human-in-the-loop use</a:t>
            </a:r>
            <a:endParaRPr lang="en-US" sz="1160" dirty="0"/>
          </a:p>
        </p:txBody>
      </p:sp>
      <p:sp>
        <p:nvSpPr>
          <p:cNvPr id="15" name="Shape 13"/>
          <p:cNvSpPr/>
          <p:nvPr/>
        </p:nvSpPr>
        <p:spPr>
          <a:xfrm>
            <a:off x="8717280" y="3406140"/>
            <a:ext cx="164592" cy="0"/>
          </a:xfrm>
          <a:prstGeom prst="line">
            <a:avLst/>
          </a:prstGeom>
          <a:noFill/>
          <a:ln w="15240">
            <a:solidFill>
              <a:srgbClr val="8ABBD8"/>
            </a:solidFill>
            <a:prstDash val="solid"/>
          </a:ln>
        </p:spPr>
      </p:sp>
      <p:sp>
        <p:nvSpPr>
          <p:cNvPr id="16" name="Shape 14"/>
          <p:cNvSpPr/>
          <p:nvPr/>
        </p:nvSpPr>
        <p:spPr>
          <a:xfrm>
            <a:off x="7781544" y="3255264"/>
            <a:ext cx="935736" cy="301752"/>
          </a:xfrm>
          <a:prstGeom prst="roundRect">
            <a:avLst>
              <a:gd name="adj" fmla="val 24242"/>
            </a:avLst>
          </a:prstGeom>
          <a:solidFill>
            <a:srgbClr val="0068B7"/>
          </a:solidFill>
          <a:ln w="12700">
            <a:solidFill>
              <a:srgbClr val="0068B7"/>
            </a:solidFill>
            <a:prstDash val="solid"/>
          </a:ln>
        </p:spPr>
      </p:sp>
      <p:sp>
        <p:nvSpPr>
          <p:cNvPr id="17" name="Text 15"/>
          <p:cNvSpPr/>
          <p:nvPr/>
        </p:nvSpPr>
        <p:spPr>
          <a:xfrm>
            <a:off x="7818120" y="3328416"/>
            <a:ext cx="862584" cy="146304"/>
          </a:xfrm>
          <a:prstGeom prst="rect">
            <a:avLst/>
          </a:prstGeom>
          <a:noFill/>
          <a:ln/>
        </p:spPr>
        <p:txBody>
          <a:bodyPr wrap="square" lIns="0" tIns="0" rIns="0" bIns="0" rtlCol="0" anchor="ctr">
            <a:normAutofit/>
          </a:bodyPr>
          <a:lstStyle/>
          <a:p>
            <a:pPr algn="ctr" indent="0" marL="0">
              <a:buNone/>
            </a:pPr>
            <a:r>
              <a:rPr lang="en-US" sz="880" b="1" dirty="0">
                <a:solidFill>
                  <a:srgbClr val="FFFFFF"/>
                </a:solidFill>
                <a:latin typeface="Aptos" pitchFamily="34" charset="0"/>
                <a:ea typeface="Aptos" pitchFamily="34" charset="-122"/>
                <a:cs typeface="Aptos" pitchFamily="34" charset="-120"/>
              </a:rPr>
              <a:t>Input</a:t>
            </a:r>
            <a:endParaRPr lang="en-US" sz="880" dirty="0"/>
          </a:p>
        </p:txBody>
      </p:sp>
      <p:sp>
        <p:nvSpPr>
          <p:cNvPr id="18" name="Shape 16"/>
          <p:cNvSpPr/>
          <p:nvPr/>
        </p:nvSpPr>
        <p:spPr>
          <a:xfrm>
            <a:off x="9817608" y="3406140"/>
            <a:ext cx="164592" cy="0"/>
          </a:xfrm>
          <a:prstGeom prst="line">
            <a:avLst/>
          </a:prstGeom>
          <a:noFill/>
          <a:ln w="15240">
            <a:solidFill>
              <a:srgbClr val="8ABBD8"/>
            </a:solidFill>
            <a:prstDash val="solid"/>
          </a:ln>
        </p:spPr>
      </p:sp>
      <p:sp>
        <p:nvSpPr>
          <p:cNvPr id="19" name="Shape 17"/>
          <p:cNvSpPr/>
          <p:nvPr/>
        </p:nvSpPr>
        <p:spPr>
          <a:xfrm>
            <a:off x="8881872" y="3255264"/>
            <a:ext cx="935736" cy="301752"/>
          </a:xfrm>
          <a:prstGeom prst="roundRect">
            <a:avLst>
              <a:gd name="adj" fmla="val 24242"/>
            </a:avLst>
          </a:prstGeom>
          <a:solidFill>
            <a:srgbClr val="2F8A28"/>
          </a:solidFill>
          <a:ln w="12700">
            <a:solidFill>
              <a:srgbClr val="2F8A28"/>
            </a:solidFill>
            <a:prstDash val="solid"/>
          </a:ln>
        </p:spPr>
      </p:sp>
      <p:sp>
        <p:nvSpPr>
          <p:cNvPr id="20" name="Text 18"/>
          <p:cNvSpPr/>
          <p:nvPr/>
        </p:nvSpPr>
        <p:spPr>
          <a:xfrm>
            <a:off x="8918448" y="3328416"/>
            <a:ext cx="862584" cy="146304"/>
          </a:xfrm>
          <a:prstGeom prst="rect">
            <a:avLst/>
          </a:prstGeom>
          <a:noFill/>
          <a:ln/>
        </p:spPr>
        <p:txBody>
          <a:bodyPr wrap="square" lIns="0" tIns="0" rIns="0" bIns="0" rtlCol="0" anchor="ctr">
            <a:normAutofit/>
          </a:bodyPr>
          <a:lstStyle/>
          <a:p>
            <a:pPr algn="ctr" indent="0" marL="0">
              <a:buNone/>
            </a:pPr>
            <a:r>
              <a:rPr lang="en-US" sz="880" b="1" dirty="0">
                <a:solidFill>
                  <a:srgbClr val="FFFFFF"/>
                </a:solidFill>
                <a:latin typeface="Aptos" pitchFamily="34" charset="0"/>
                <a:ea typeface="Aptos" pitchFamily="34" charset="-122"/>
                <a:cs typeface="Aptos" pitchFamily="34" charset="-120"/>
              </a:rPr>
              <a:t>AI assist</a:t>
            </a:r>
            <a:endParaRPr lang="en-US" sz="880" dirty="0"/>
          </a:p>
        </p:txBody>
      </p:sp>
      <p:sp>
        <p:nvSpPr>
          <p:cNvPr id="21" name="Shape 19"/>
          <p:cNvSpPr/>
          <p:nvPr/>
        </p:nvSpPr>
        <p:spPr>
          <a:xfrm>
            <a:off x="9982200" y="3255264"/>
            <a:ext cx="935736" cy="301752"/>
          </a:xfrm>
          <a:prstGeom prst="roundRect">
            <a:avLst>
              <a:gd name="adj" fmla="val 24242"/>
            </a:avLst>
          </a:prstGeom>
          <a:solidFill>
            <a:srgbClr val="6A4CA3"/>
          </a:solidFill>
          <a:ln w="12700">
            <a:solidFill>
              <a:srgbClr val="6A4CA3"/>
            </a:solidFill>
            <a:prstDash val="solid"/>
          </a:ln>
        </p:spPr>
      </p:sp>
      <p:sp>
        <p:nvSpPr>
          <p:cNvPr id="22" name="Text 20"/>
          <p:cNvSpPr/>
          <p:nvPr/>
        </p:nvSpPr>
        <p:spPr>
          <a:xfrm>
            <a:off x="10018776" y="3328416"/>
            <a:ext cx="862584" cy="146304"/>
          </a:xfrm>
          <a:prstGeom prst="rect">
            <a:avLst/>
          </a:prstGeom>
          <a:noFill/>
          <a:ln/>
        </p:spPr>
        <p:txBody>
          <a:bodyPr wrap="square" lIns="0" tIns="0" rIns="0" bIns="0" rtlCol="0" anchor="ctr">
            <a:normAutofit/>
          </a:bodyPr>
          <a:lstStyle/>
          <a:p>
            <a:pPr algn="ctr" indent="0" marL="0">
              <a:buNone/>
            </a:pPr>
            <a:r>
              <a:rPr lang="en-US" sz="880" b="1" dirty="0">
                <a:solidFill>
                  <a:srgbClr val="FFFFFF"/>
                </a:solidFill>
                <a:latin typeface="Aptos" pitchFamily="34" charset="0"/>
                <a:ea typeface="Aptos" pitchFamily="34" charset="-122"/>
                <a:cs typeface="Aptos" pitchFamily="34" charset="-120"/>
              </a:rPr>
              <a:t>Review</a:t>
            </a:r>
            <a:endParaRPr lang="en-US" sz="880" dirty="0"/>
          </a:p>
        </p:txBody>
      </p:sp>
      <p:sp>
        <p:nvSpPr>
          <p:cNvPr id="23" name="Text 21"/>
          <p:cNvSpPr/>
          <p:nvPr/>
        </p:nvSpPr>
        <p:spPr>
          <a:xfrm>
            <a:off x="7763256" y="3749040"/>
            <a:ext cx="3172968" cy="356616"/>
          </a:xfrm>
          <a:prstGeom prst="rect">
            <a:avLst/>
          </a:prstGeom>
          <a:noFill/>
          <a:ln/>
        </p:spPr>
        <p:txBody>
          <a:bodyPr wrap="square" lIns="254" tIns="254" rIns="254" bIns="254" rtlCol="0" anchor="t">
            <a:normAutofit/>
          </a:bodyPr>
          <a:lstStyle/>
          <a:p>
            <a:pPr indent="0" marL="0">
              <a:buNone/>
            </a:pPr>
            <a:r>
              <a:rPr lang="en-US" sz="1040" dirty="0">
                <a:solidFill>
                  <a:srgbClr val="17364A"/>
                </a:solidFill>
                <a:latin typeface="Aptos" pitchFamily="34" charset="0"/>
                <a:ea typeface="Aptos" pitchFamily="34" charset="-122"/>
                <a:cs typeface="Aptos" pitchFamily="34" charset="-120"/>
              </a:rPr>
              <a:t>AI can support work, but public health judgment remains responsible.</a:t>
            </a:r>
            <a:endParaRPr lang="en-US" sz="1040" dirty="0"/>
          </a:p>
        </p:txBody>
      </p:sp>
      <p:sp>
        <p:nvSpPr>
          <p:cNvPr id="24" name="Shape 22"/>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25" name="Text 23"/>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Apply it</a:t>
            </a:r>
            <a:endParaRPr lang="en-US" sz="1220" dirty="0"/>
          </a:p>
        </p:txBody>
      </p:sp>
      <p:sp>
        <p:nvSpPr>
          <p:cNvPr id="26" name="Text 24"/>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Connect the concept to public health purpose, responsible use, required.</a:t>
            </a:r>
            <a:endParaRPr lang="en-US" sz="122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for Social Good</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9</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Public Health Example</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A health department may use AI to improve access to maternal and child.</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A tool could help staff identify service gaps, summarize eligibility rules,.</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If designed well, the tool could reduce administrative burden and improve.</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Core concept</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A health department may use AI to improve access to maternal and child health.</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A tool could help staff identify service gaps,.</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The same tool could fail if it assumes internet.</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An AI for Social Good review would examine.</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Apply it</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Connect the concept to public health purpose, responsible use, required.</a:t>
            </a:r>
            <a:endParaRPr lang="en-US" sz="122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for Social Good</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10</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Topic Deep Dive</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AI for Social Good begins with problem definition.</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The problem should be a public health problem, not a technology opportunity.</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For example, “use a chatbot” is not a problem definition. “Reduce delays in.</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Core concept</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AI for Social Good begins with problem definition.</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19456"/>
          </a:xfrm>
          <a:prstGeom prst="rect">
            <a:avLst/>
          </a:prstGeom>
          <a:noFill/>
          <a:ln/>
        </p:spPr>
        <p:txBody>
          <a:bodyPr wrap="square" lIns="0" tIns="0" rIns="0" bIns="0" rtlCol="0" anchor="ctr">
            <a:normAutofit/>
          </a:bodyPr>
          <a:lstStyle/>
          <a:p>
            <a:pPr indent="0" marL="0">
              <a:buNone/>
            </a:pPr>
            <a:r>
              <a:rPr lang="en-US" sz="1160" b="1" dirty="0">
                <a:solidFill>
                  <a:srgbClr val="0068B7"/>
                </a:solidFill>
                <a:latin typeface="Aptos" pitchFamily="34" charset="0"/>
                <a:ea typeface="Aptos" pitchFamily="34" charset="-122"/>
                <a:cs typeface="Aptos" pitchFamily="34" charset="-120"/>
              </a:rPr>
              <a:t>Human-in-the-loop use</a:t>
            </a:r>
            <a:endParaRPr lang="en-US" sz="1160" dirty="0"/>
          </a:p>
        </p:txBody>
      </p:sp>
      <p:sp>
        <p:nvSpPr>
          <p:cNvPr id="15" name="Shape 13"/>
          <p:cNvSpPr/>
          <p:nvPr/>
        </p:nvSpPr>
        <p:spPr>
          <a:xfrm>
            <a:off x="8717280" y="3406140"/>
            <a:ext cx="164592" cy="0"/>
          </a:xfrm>
          <a:prstGeom prst="line">
            <a:avLst/>
          </a:prstGeom>
          <a:noFill/>
          <a:ln w="15240">
            <a:solidFill>
              <a:srgbClr val="8ABBD8"/>
            </a:solidFill>
            <a:prstDash val="solid"/>
          </a:ln>
        </p:spPr>
      </p:sp>
      <p:sp>
        <p:nvSpPr>
          <p:cNvPr id="16" name="Shape 14"/>
          <p:cNvSpPr/>
          <p:nvPr/>
        </p:nvSpPr>
        <p:spPr>
          <a:xfrm>
            <a:off x="7781544" y="3255264"/>
            <a:ext cx="935736" cy="301752"/>
          </a:xfrm>
          <a:prstGeom prst="roundRect">
            <a:avLst>
              <a:gd name="adj" fmla="val 24242"/>
            </a:avLst>
          </a:prstGeom>
          <a:solidFill>
            <a:srgbClr val="0068B7"/>
          </a:solidFill>
          <a:ln w="12700">
            <a:solidFill>
              <a:srgbClr val="0068B7"/>
            </a:solidFill>
            <a:prstDash val="solid"/>
          </a:ln>
        </p:spPr>
      </p:sp>
      <p:sp>
        <p:nvSpPr>
          <p:cNvPr id="17" name="Text 15"/>
          <p:cNvSpPr/>
          <p:nvPr/>
        </p:nvSpPr>
        <p:spPr>
          <a:xfrm>
            <a:off x="7818120" y="3328416"/>
            <a:ext cx="862584" cy="146304"/>
          </a:xfrm>
          <a:prstGeom prst="rect">
            <a:avLst/>
          </a:prstGeom>
          <a:noFill/>
          <a:ln/>
        </p:spPr>
        <p:txBody>
          <a:bodyPr wrap="square" lIns="0" tIns="0" rIns="0" bIns="0" rtlCol="0" anchor="ctr">
            <a:normAutofit/>
          </a:bodyPr>
          <a:lstStyle/>
          <a:p>
            <a:pPr algn="ctr" indent="0" marL="0">
              <a:buNone/>
            </a:pPr>
            <a:r>
              <a:rPr lang="en-US" sz="880" b="1" dirty="0">
                <a:solidFill>
                  <a:srgbClr val="FFFFFF"/>
                </a:solidFill>
                <a:latin typeface="Aptos" pitchFamily="34" charset="0"/>
                <a:ea typeface="Aptos" pitchFamily="34" charset="-122"/>
                <a:cs typeface="Aptos" pitchFamily="34" charset="-120"/>
              </a:rPr>
              <a:t>Input</a:t>
            </a:r>
            <a:endParaRPr lang="en-US" sz="880" dirty="0"/>
          </a:p>
        </p:txBody>
      </p:sp>
      <p:sp>
        <p:nvSpPr>
          <p:cNvPr id="18" name="Shape 16"/>
          <p:cNvSpPr/>
          <p:nvPr/>
        </p:nvSpPr>
        <p:spPr>
          <a:xfrm>
            <a:off x="9817608" y="3406140"/>
            <a:ext cx="164592" cy="0"/>
          </a:xfrm>
          <a:prstGeom prst="line">
            <a:avLst/>
          </a:prstGeom>
          <a:noFill/>
          <a:ln w="15240">
            <a:solidFill>
              <a:srgbClr val="8ABBD8"/>
            </a:solidFill>
            <a:prstDash val="solid"/>
          </a:ln>
        </p:spPr>
      </p:sp>
      <p:sp>
        <p:nvSpPr>
          <p:cNvPr id="19" name="Shape 17"/>
          <p:cNvSpPr/>
          <p:nvPr/>
        </p:nvSpPr>
        <p:spPr>
          <a:xfrm>
            <a:off x="8881872" y="3255264"/>
            <a:ext cx="935736" cy="301752"/>
          </a:xfrm>
          <a:prstGeom prst="roundRect">
            <a:avLst>
              <a:gd name="adj" fmla="val 24242"/>
            </a:avLst>
          </a:prstGeom>
          <a:solidFill>
            <a:srgbClr val="2F8A28"/>
          </a:solidFill>
          <a:ln w="12700">
            <a:solidFill>
              <a:srgbClr val="2F8A28"/>
            </a:solidFill>
            <a:prstDash val="solid"/>
          </a:ln>
        </p:spPr>
      </p:sp>
      <p:sp>
        <p:nvSpPr>
          <p:cNvPr id="20" name="Text 18"/>
          <p:cNvSpPr/>
          <p:nvPr/>
        </p:nvSpPr>
        <p:spPr>
          <a:xfrm>
            <a:off x="8918448" y="3328416"/>
            <a:ext cx="862584" cy="146304"/>
          </a:xfrm>
          <a:prstGeom prst="rect">
            <a:avLst/>
          </a:prstGeom>
          <a:noFill/>
          <a:ln/>
        </p:spPr>
        <p:txBody>
          <a:bodyPr wrap="square" lIns="0" tIns="0" rIns="0" bIns="0" rtlCol="0" anchor="ctr">
            <a:normAutofit/>
          </a:bodyPr>
          <a:lstStyle/>
          <a:p>
            <a:pPr algn="ctr" indent="0" marL="0">
              <a:buNone/>
            </a:pPr>
            <a:r>
              <a:rPr lang="en-US" sz="880" b="1" dirty="0">
                <a:solidFill>
                  <a:srgbClr val="FFFFFF"/>
                </a:solidFill>
                <a:latin typeface="Aptos" pitchFamily="34" charset="0"/>
                <a:ea typeface="Aptos" pitchFamily="34" charset="-122"/>
                <a:cs typeface="Aptos" pitchFamily="34" charset="-120"/>
              </a:rPr>
              <a:t>AI assist</a:t>
            </a:r>
            <a:endParaRPr lang="en-US" sz="880" dirty="0"/>
          </a:p>
        </p:txBody>
      </p:sp>
      <p:sp>
        <p:nvSpPr>
          <p:cNvPr id="21" name="Shape 19"/>
          <p:cNvSpPr/>
          <p:nvPr/>
        </p:nvSpPr>
        <p:spPr>
          <a:xfrm>
            <a:off x="9982200" y="3255264"/>
            <a:ext cx="935736" cy="301752"/>
          </a:xfrm>
          <a:prstGeom prst="roundRect">
            <a:avLst>
              <a:gd name="adj" fmla="val 24242"/>
            </a:avLst>
          </a:prstGeom>
          <a:solidFill>
            <a:srgbClr val="6A4CA3"/>
          </a:solidFill>
          <a:ln w="12700">
            <a:solidFill>
              <a:srgbClr val="6A4CA3"/>
            </a:solidFill>
            <a:prstDash val="solid"/>
          </a:ln>
        </p:spPr>
      </p:sp>
      <p:sp>
        <p:nvSpPr>
          <p:cNvPr id="22" name="Text 20"/>
          <p:cNvSpPr/>
          <p:nvPr/>
        </p:nvSpPr>
        <p:spPr>
          <a:xfrm>
            <a:off x="10018776" y="3328416"/>
            <a:ext cx="862584" cy="146304"/>
          </a:xfrm>
          <a:prstGeom prst="rect">
            <a:avLst/>
          </a:prstGeom>
          <a:noFill/>
          <a:ln/>
        </p:spPr>
        <p:txBody>
          <a:bodyPr wrap="square" lIns="0" tIns="0" rIns="0" bIns="0" rtlCol="0" anchor="ctr">
            <a:normAutofit/>
          </a:bodyPr>
          <a:lstStyle/>
          <a:p>
            <a:pPr algn="ctr" indent="0" marL="0">
              <a:buNone/>
            </a:pPr>
            <a:r>
              <a:rPr lang="en-US" sz="880" b="1" dirty="0">
                <a:solidFill>
                  <a:srgbClr val="FFFFFF"/>
                </a:solidFill>
                <a:latin typeface="Aptos" pitchFamily="34" charset="0"/>
                <a:ea typeface="Aptos" pitchFamily="34" charset="-122"/>
                <a:cs typeface="Aptos" pitchFamily="34" charset="-120"/>
              </a:rPr>
              <a:t>Review</a:t>
            </a:r>
            <a:endParaRPr lang="en-US" sz="880" dirty="0"/>
          </a:p>
        </p:txBody>
      </p:sp>
      <p:sp>
        <p:nvSpPr>
          <p:cNvPr id="23" name="Text 21"/>
          <p:cNvSpPr/>
          <p:nvPr/>
        </p:nvSpPr>
        <p:spPr>
          <a:xfrm>
            <a:off x="7763256" y="3749040"/>
            <a:ext cx="3172968" cy="356616"/>
          </a:xfrm>
          <a:prstGeom prst="rect">
            <a:avLst/>
          </a:prstGeom>
          <a:noFill/>
          <a:ln/>
        </p:spPr>
        <p:txBody>
          <a:bodyPr wrap="square" lIns="254" tIns="254" rIns="254" bIns="254" rtlCol="0" anchor="t">
            <a:normAutofit/>
          </a:bodyPr>
          <a:lstStyle/>
          <a:p>
            <a:pPr indent="0" marL="0">
              <a:buNone/>
            </a:pPr>
            <a:r>
              <a:rPr lang="en-US" sz="1040" dirty="0">
                <a:solidFill>
                  <a:srgbClr val="17364A"/>
                </a:solidFill>
                <a:latin typeface="Aptos" pitchFamily="34" charset="0"/>
                <a:ea typeface="Aptos" pitchFamily="34" charset="-122"/>
                <a:cs typeface="Aptos" pitchFamily="34" charset="-120"/>
              </a:rPr>
              <a:t>AI can support work, but public health judgment remains responsible.</a:t>
            </a:r>
            <a:endParaRPr lang="en-US" sz="1040" dirty="0"/>
          </a:p>
        </p:txBody>
      </p:sp>
      <p:sp>
        <p:nvSpPr>
          <p:cNvPr id="24" name="Shape 22"/>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25" name="Text 23"/>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Apply it</a:t>
            </a:r>
            <a:endParaRPr lang="en-US" sz="1220" dirty="0"/>
          </a:p>
        </p:txBody>
      </p:sp>
      <p:sp>
        <p:nvSpPr>
          <p:cNvPr id="26" name="Text 24"/>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Connect the concept to public health purpose, responsible use, required.</a:t>
            </a:r>
            <a:endParaRPr lang="en-US" sz="122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for Social Good</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11</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Topic Deep Dive Continued</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Measuring social good requires more than counting users or outputs.</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Agencies should measure whether the AI-supported workflow improves.</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They should also monitor unintended consequences, such as reduced service.</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Core concept</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Measuring social good requires more than counting users or outputs.</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Agencies should measure whether the AI-supported.</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They should also monitor unintended consequences,.</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Responsible innovation includes sunset and.</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Apply it</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Connect the concept to public health purpose, responsible use, required.</a:t>
            </a:r>
            <a:endParaRPr lang="en-US" sz="122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for Social Good</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12</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Risks, Failure Modes, and Guardrails</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Technology-first design.</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A tool may be adopted because it is novel rather than because it solves a.</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Guardrails include problem-first planning, alternatives analysis, and public.</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Risk check</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Technology-first design.</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Unequal benefit.</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AI may help people with strong digital access.</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Guardrails include language access, accessibility,.</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Safeguard to plan</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Identify what could go wrong, who could be affected, what safeguards are needed,.</a:t>
            </a:r>
            <a:endParaRPr lang="en-US" sz="122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for Social Good</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13</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Risks, Failure Modes, and Guardrails Continued</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Resource diversion.</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AI projects may consume resources that could be used for more effective.</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Guardrails include impact measurement, cost-benefit review, and periodic.</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Risk check</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Resource diversion.</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Resource diversion.</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AI projects may consume resources that could be.</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Guardrails include impact measurement,.</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Safeguard to plan</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Identify what could go wrong, who could be affected, what safeguards are needed,.</a:t>
            </a:r>
            <a:endParaRPr lang="en-US" sz="122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for Social Good</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14</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Application to AI-Supported Workflows</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AI for Social Good applies to every AI method.</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Generative AI may improve plain-language communication, but it must be.</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Predictive analytics may guide supportive outreach, but it should not become.</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Implementation cue</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AI for Social Good applies to every AI method.</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Generative AI may improve plain-language.</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RAG systems may improve staff access to guidance,.</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Agentic workflows may reduce burden, but they.</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Next action</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Use the concept to clarify workflow changes, dependencies, staffing, procurement.</a:t>
            </a:r>
            <a:endParaRPr lang="en-US" sz="122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for Social Good</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15</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Reflection Questions</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What public health problem would this AI use address?</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Who would benefit, and who could be excluded or harmed?</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How were affected communities involved in defining the need and safeguards?</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Core concept</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What public health problem would this AI use address?</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What public health problem would this AI use.</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Who would benefit, and who could be excluded or.</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How were affected communities involved in defining.</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Apply it</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Connect the concept to public health purpose, responsible use, required.</a:t>
            </a:r>
            <a:endParaRPr lang="en-US" sz="122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for Social Good</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16</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Reflection Questions Continued</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What non-AI alternatives should be considered?</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How will the agency measure public value, equity, trust, and unintended.</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Core concept</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What non-AI alternatives should be considered?</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What non-AI alternatives should be considered?</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How will the agency measure public value, equity,.</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Apply it</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Connect the concept to public health purpose, responsible use, required.</a:t>
            </a:r>
            <a:endParaRPr lang="en-US" sz="122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for Social Good</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17</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Practical Exercise</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Create an AI for Social Good review brief for one public health use case.</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The brief should define the public health problem, intended public benefit,.</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The exercise should result in a decision-support document that helps leaders.</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Practice focus</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Create an AI for Social Good review brief for one public health use case.</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The brief should define the public health problem,.</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The exercise should result in a decision-support.</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What to produce</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Use the assignment to test whether you can explain the concept, apply it to a.</a:t>
            </a:r>
            <a:endParaRPr lang="en-US" sz="122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for Social Good</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18</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Expected Artifact or Evidence</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AI for Social Good review brief</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Public value and equity assessment</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Community engagement and accessibility plan</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Core concept</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AI for Social Good review brief</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AI for Social Good review brief</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Public value and equity assessment</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Community engagement and accessibility plan</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Apply it</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Connect the concept to public health purpose, responsible use, required.</a:t>
            </a:r>
            <a:endParaRPr lang="en-US" sz="122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for Social Good</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19</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Expected Artifact or Evidence Continued</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Impact and unintended-consequence measurement plan</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Core concept</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Impact and unintended-consequence measurement plan</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Impact and unintended-consequence measurement plan</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Apply it</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Connect the concept to public health purpose, responsible use, required.</a:t>
            </a:r>
            <a:endParaRPr lang="en-US" sz="122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for Social Good</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20</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Expected Assignment</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AI for Social Good review brief</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Public value and equity assessment</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Community engagement and accessibility plan</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Practice focus</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AI for Social Good review brief</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AI for Social Good review brief</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Public value and equity assessment</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Community engagement and accessibility plan</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What to produce</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Use the assignment to test whether you can explain the concept, apply it to a.</a:t>
            </a:r>
            <a:endParaRPr lang="en-US" sz="122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for Social Good</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21</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Knowledge Check</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1. What is the best definition of AI for Social Good in public health?</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2. Why is efficiency alone not enough to show social good?</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3. What does equity by design require?</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Practice focus</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What is the best definition of AI for Social Good in public health?</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What is the best definition of AI for Social Good.</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What to produce</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Use the assignment to test whether you can explain the concept, apply it to a.</a:t>
            </a:r>
            <a:endParaRPr lang="en-US" sz="122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for Social Good</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22</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References and Resources</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WHO Ethics and Governance of Artificial Intelligence for Health:.</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WHO Guidance on Large Multi-Modal Models:.</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NIST Artificial Intelligence Risk Management Framework:.</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Core concept</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WHO Ethics and Governance of Artificial Intelligence for Health:.</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WHO Ethics and Governance of Artificial.</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NIST Artificial Intelligence Risk Management.</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CDC Public Health Data Strategy:.</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Apply it</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Connect the concept to public health purpose, responsible use, required.</a:t>
            </a:r>
            <a:endParaRPr lang="en-US" sz="122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ptos Display"/>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22</Slides>
  <Notes>22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22</vt:i4>
      </vt:variant>
    </vt:vector>
  </HeadingPairs>
  <TitlesOfParts>
    <vt:vector size="25"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vector>
  </TitlesOfParts>
  <Company>AI Playbook for Public Health</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AI for Social Good</dc:title>
  <dc:subject>AI for Social Good learning module</dc:subject>
  <dc:creator>Paula Soper</dc:creator>
  <cp:lastModifiedBy>Paula Soper</cp:lastModifiedBy>
  <cp:revision>1</cp:revision>
  <dcterms:created xsi:type="dcterms:W3CDTF">2026-07-13T03:27:54Z</dcterms:created>
  <dcterms:modified xsi:type="dcterms:W3CDTF">2026-07-13T03:27:54Z</dcterms:modified>
</cp:coreProperties>
</file>