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 and equity.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record linkage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between deterministic matching, probabilistic matching, entity resolution, and deduplication.</a:t>
            </a:r>
            <a:endParaRPr lang="en-US" sz="2100" dirty="0"/>
          </a:p>
          <a:p>
            <a:r>
              <a:rPr lang="en-US" sz="2100" dirty="0">
                <a:solidFill>
                  <a:srgbClr val="17364A"/>
                </a:solidFill>
                <a:latin typeface="Aptos" pitchFamily="34" charset="0"/>
                <a:ea typeface="Aptos" pitchFamily="34" charset="-122"/>
                <a:cs typeface="Aptos" pitchFamily="34" charset="-120"/>
              </a:rPr>
              <a:t>Identify risks from false matches and missed matches.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record linkage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2100" dirty="0"/>
          </a:p>
          <a:p>
            <a:r>
              <a:rPr lang="en-US" sz="2100" dirty="0">
                <a:solidFill>
                  <a:srgbClr val="17364A"/>
                </a:solidFill>
                <a:latin typeface="Aptos" pitchFamily="34" charset="0"/>
                <a:ea typeface="Aptos" pitchFamily="34" charset="-122"/>
                <a:cs typeface="Aptos" pitchFamily="34" charset="-120"/>
              </a:rPr>
              <a:t>A surveillance system may need to associate a lab report with an existing case.</a:t>
            </a:r>
            <a:endParaRPr lang="en-US" sz="2100" dirty="0"/>
          </a:p>
          <a:p>
            <a:r>
              <a:rPr lang="en-US" sz="2100" dirty="0">
                <a:solidFill>
                  <a:srgbClr val="17364A"/>
                </a:solidFill>
                <a:latin typeface="Aptos" pitchFamily="34" charset="0"/>
                <a:ea typeface="Aptos" pitchFamily="34" charset="-122"/>
                <a:cs typeface="Aptos" pitchFamily="34" charset="-120"/>
              </a:rPr>
              <a:t>An IIS may need to match vaccination records from multiple providers.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a:t>
            </a:r>
            <a:endParaRPr lang="en-US" sz="2100" dirty="0"/>
          </a:p>
          <a:p>
            <a:r>
              <a:rPr lang="en-US" sz="2100" dirty="0">
                <a:solidFill>
                  <a:srgbClr val="17364A"/>
                </a:solidFill>
                <a:latin typeface="Aptos" pitchFamily="34" charset="0"/>
                <a:ea typeface="Aptos" pitchFamily="34" charset="-122"/>
                <a:cs typeface="Aptos" pitchFamily="34" charset="-120"/>
              </a:rPr>
              <a:t>Record linkage is the process of determining whether records from one or more sources refer to the same.</a:t>
            </a:r>
            <a:endParaRPr lang="en-US" sz="2100" dirty="0"/>
          </a:p>
          <a:p>
            <a:r>
              <a:rPr lang="en-US" sz="2100" dirty="0">
                <a:solidFill>
                  <a:srgbClr val="17364A"/>
                </a:solidFill>
                <a:latin typeface="Aptos" pitchFamily="34" charset="0"/>
                <a:ea typeface="Aptos" pitchFamily="34" charset="-122"/>
                <a:cs typeface="Aptos" pitchFamily="34" charset="-120"/>
              </a:rPr>
              <a:t>The entity may be a person, provider, facility, address, organization, event, or outbreak.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Probabilistic matching.</a:t>
            </a:r>
            <a:endParaRPr lang="en-US" sz="2100" dirty="0"/>
          </a:p>
          <a:p>
            <a:r>
              <a:rPr lang="en-US" sz="2100" dirty="0">
                <a:solidFill>
                  <a:srgbClr val="17364A"/>
                </a:solidFill>
                <a:latin typeface="Aptos" pitchFamily="34" charset="0"/>
                <a:ea typeface="Aptos" pitchFamily="34" charset="-122"/>
                <a:cs typeface="Aptos" pitchFamily="34" charset="-120"/>
              </a:rPr>
              <a:t>Probabilistic matching estimates the likelihood that records refer to the same entity even when fields.</a:t>
            </a:r>
            <a:endParaRPr lang="en-US" sz="2100" dirty="0"/>
          </a:p>
          <a:p>
            <a:r>
              <a:rPr lang="en-US" sz="2100" dirty="0">
                <a:solidFill>
                  <a:srgbClr val="17364A"/>
                </a:solidFill>
                <a:latin typeface="Aptos" pitchFamily="34" charset="0"/>
                <a:ea typeface="Aptos" pitchFamily="34" charset="-122"/>
                <a:cs typeface="Aptos" pitchFamily="34" charset="-120"/>
              </a:rPr>
              <a:t>It can improve recall but requires thresholds, validation,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Probabilistic matching.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2100" dirty="0"/>
          </a:p>
          <a:p>
            <a:r>
              <a:rPr lang="en-US" sz="2100" dirty="0">
                <a:solidFill>
                  <a:srgbClr val="17364A"/>
                </a:solidFill>
                <a:latin typeface="Aptos" pitchFamily="34" charset="0"/>
                <a:ea typeface="Aptos" pitchFamily="34" charset="-122"/>
                <a:cs typeface="Aptos" pitchFamily="34" charset="-120"/>
              </a:rPr>
              <a:t>If the person matching process incorrectly combines two people, the summary may include information.</a:t>
            </a:r>
            <a:endParaRPr lang="en-US" sz="2100" dirty="0"/>
          </a:p>
          <a:p>
            <a:r>
              <a:rPr lang="en-US" sz="2100" dirty="0">
                <a:solidFill>
                  <a:srgbClr val="17364A"/>
                </a:solidFill>
                <a:latin typeface="Aptos" pitchFamily="34" charset="0"/>
                <a:ea typeface="Aptos" pitchFamily="34" charset="-122"/>
                <a:cs typeface="Aptos" pitchFamily="34" charset="-120"/>
              </a:rPr>
              <a:t>If the process misses a prior record, the summary may omit important history.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2100" dirty="0"/>
          </a:p>
          <a:p>
            <a:r>
              <a:rPr lang="en-US" sz="2100" dirty="0">
                <a:solidFill>
                  <a:srgbClr val="17364A"/>
                </a:solidFill>
                <a:latin typeface="Aptos" pitchFamily="34" charset="0"/>
                <a:ea typeface="Aptos" pitchFamily="34" charset="-122"/>
                <a:cs typeface="Aptos" pitchFamily="34" charset="-120"/>
              </a:rPr>
              <a:t>Person matching may use name, date of birth, address, phone, medical record number, email, sex, or.</a:t>
            </a:r>
            <a:endParaRPr lang="en-US" sz="2100" dirty="0"/>
          </a:p>
          <a:p>
            <a:r>
              <a:rPr lang="en-US" sz="2100" dirty="0">
                <a:solidFill>
                  <a:srgbClr val="17364A"/>
                </a:solidFill>
                <a:latin typeface="Aptos" pitchFamily="34" charset="0"/>
                <a:ea typeface="Aptos" pitchFamily="34" charset="-122"/>
                <a:cs typeface="Aptos" pitchFamily="34" charset="-120"/>
              </a:rPr>
              <a:t>Facility matching may use name, address, license number, geocode, and ownership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False matches.</a:t>
            </a:r>
            <a:endParaRPr lang="en-US" sz="2100" dirty="0"/>
          </a:p>
          <a:p>
            <a:r>
              <a:rPr lang="en-US" sz="2100" dirty="0">
                <a:solidFill>
                  <a:srgbClr val="17364A"/>
                </a:solidFill>
                <a:latin typeface="Aptos" pitchFamily="34" charset="0"/>
                <a:ea typeface="Aptos" pitchFamily="34" charset="-122"/>
                <a:cs typeface="Aptos" pitchFamily="34" charset="-120"/>
              </a:rPr>
              <a:t>False matches can combine data from different people or entities.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conservative thresholds for consequential uses, clerical review, and source display.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False matches.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Hidden linkage uncertainty.</a:t>
            </a:r>
            <a:endParaRPr lang="en-US" sz="2100" dirty="0"/>
          </a:p>
          <a:p>
            <a:r>
              <a:rPr lang="en-US" sz="2100" dirty="0">
                <a:solidFill>
                  <a:srgbClr val="17364A"/>
                </a:solidFill>
                <a:latin typeface="Aptos" pitchFamily="34" charset="0"/>
                <a:ea typeface="Aptos" pitchFamily="34" charset="-122"/>
                <a:cs typeface="Aptos" pitchFamily="34" charset="-120"/>
              </a:rPr>
              <a:t>AI outputs may present linked data as certain.</a:t>
            </a:r>
            <a:endParaRPr lang="en-US" sz="2100" dirty="0"/>
          </a:p>
          <a:p>
            <a:r>
              <a:rPr lang="en-US" sz="2100" dirty="0">
                <a:solidFill>
                  <a:srgbClr val="17364A"/>
                </a:solidFill>
                <a:latin typeface="Aptos" pitchFamily="34" charset="0"/>
                <a:ea typeface="Aptos" pitchFamily="34" charset="-122"/>
                <a:cs typeface="Aptos" pitchFamily="34" charset="-120"/>
              </a:rPr>
              <a:t>Guardrails include confidence indicators, source records, and user review of uncertain matches.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Hidden linkage uncertainty.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created from linked records, making match quality part of model.</a:t>
            </a:r>
            <a:endParaRPr lang="en-US" sz="2100" dirty="0"/>
          </a:p>
          <a:p>
            <a:r>
              <a:rPr lang="en-US" sz="2100" dirty="0">
                <a:solidFill>
                  <a:srgbClr val="17364A"/>
                </a:solidFill>
                <a:latin typeface="Aptos" pitchFamily="34" charset="0"/>
                <a:ea typeface="Aptos" pitchFamily="34" charset="-122"/>
                <a:cs typeface="Aptos" pitchFamily="34" charset="-120"/>
              </a:rPr>
              <a:t>NLP may extract identifiers from text to support linkage, which requires privacy and accuracy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2100" dirty="0"/>
          </a:p>
          <a:p>
            <a:r>
              <a:rPr lang="en-US" sz="2100" dirty="0">
                <a:solidFill>
                  <a:srgbClr val="17364A"/>
                </a:solidFill>
                <a:latin typeface="Aptos" pitchFamily="34" charset="0"/>
                <a:ea typeface="Aptos" pitchFamily="34" charset="-122"/>
                <a:cs typeface="Aptos" pitchFamily="34" charset="-120"/>
              </a:rPr>
              <a:t>What fields are used for matching, and how complete are they?</a:t>
            </a:r>
            <a:endParaRPr lang="en-US" sz="2100" dirty="0"/>
          </a:p>
          <a:p>
            <a:r>
              <a:rPr lang="en-US" sz="2100" dirty="0">
                <a:solidFill>
                  <a:srgbClr val="17364A"/>
                </a:solidFill>
                <a:latin typeface="Aptos" pitchFamily="34" charset="0"/>
                <a:ea typeface="Aptos" pitchFamily="34" charset="-122"/>
                <a:cs typeface="Aptos" pitchFamily="34" charset="-120"/>
              </a:rPr>
              <a:t>Which populations may be more likely to experience missed or incorrect matches?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happens when records are incorrectly merged or not merged?</a:t>
            </a:r>
            <a:endParaRPr lang="en-US" sz="2100" dirty="0"/>
          </a:p>
          <a:p>
            <a:r>
              <a:rPr lang="en-US" sz="2100" dirty="0">
                <a:solidFill>
                  <a:srgbClr val="17364A"/>
                </a:solidFill>
                <a:latin typeface="Aptos" pitchFamily="34" charset="0"/>
                <a:ea typeface="Aptos" pitchFamily="34" charset="-122"/>
                <a:cs typeface="Aptos" pitchFamily="34" charset="-120"/>
              </a:rPr>
              <a:t>Where should human review be required?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happens when records are incorrectly merged or not merged?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matching purpose, data sources, matching fields, known field quality issues, match method,.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notes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notes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false match?</a:t>
            </a:r>
            <a:endParaRPr lang="en-US" sz="2100" dirty="0"/>
          </a:p>
          <a:p>
            <a:r>
              <a:rPr lang="en-US" sz="2100" dirty="0">
                <a:solidFill>
                  <a:srgbClr val="17364A"/>
                </a:solidFill>
                <a:latin typeface="Aptos" pitchFamily="34" charset="0"/>
                <a:ea typeface="Aptos" pitchFamily="34" charset="-122"/>
                <a:cs typeface="Aptos" pitchFamily="34" charset="-120"/>
              </a:rPr>
              <a:t>2. What is a missed match?</a:t>
            </a:r>
            <a:endParaRPr lang="en-US" sz="2100" dirty="0"/>
          </a:p>
          <a:p>
            <a:r>
              <a:rPr lang="en-US" sz="2100" dirty="0">
                <a:solidFill>
                  <a:srgbClr val="17364A"/>
                </a:solidFill>
                <a:latin typeface="Aptos" pitchFamily="34" charset="0"/>
                <a:ea typeface="Aptos" pitchFamily="34" charset="-122"/>
                <a:cs typeface="Aptos" pitchFamily="34" charset="-120"/>
              </a:rPr>
              <a:t>3. Why does record linkage matter for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false match?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IIS and surveillance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Health information exchange data quality materials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IIS and surveillance data quality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2026-07-12T19:24:28Z</dcterms:created>
  <dcterms:modified xsi:type="dcterms:W3CDTF">2026-07-12T19:24:28Z</dcterms:modified>
</cp:coreProperties>
</file>