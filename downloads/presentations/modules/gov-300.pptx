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300 AI Security, Prompt Injection, and Data Leakage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analytics-modeling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security in public health operational terms.
Identify prompt injection, data leakage, sensitive information disclosure, insecure output handling, excessive agency, and supply chain risks.
Explain why RAG, plugins, APIs, and agentic workflows increase the need for security controls.
Apply least privilege, approved-tool use, access controls, logging, testing, and incident response to AI workflows.
Develop security questions for AI procurement, implementation, and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secure AI workflow checklist.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security matters because public health AI tools may process sensitive records, internal protocols, draft communications, credentials, contracts, emergency plans, and partner information. The risks increase when AI tools are connected to email, calendars, case systems, data warehouses, document repositories, APIs, or messaging platforms. A security weakness can become a privacy breach, operational disruption, public trust problem, or legal issue.
Prompt injection is particularly important for public health because staff may ask AI tools to process external documents, emails, web pages, public comments, complaints, or uploaded files. Those materials may contain instructions designed to manipulate the AI system. If the AI tool has access to sensitive data or actions, prompt injection can become a pathway to data exposure or unauthorized activity.
Security controls should be built into governance and procurement. Agencies should require information about data handling, retention, encryption, access controls, audit logs, model training use, third-party services, incident notification, vulnerability management, and secure configuration. Security review should happen before deployment and continue after launch.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program may use an AI assistant to summarize uploaded partner reports. One report could contain hidden or visible instructions telling the AI to ignore prior rules and reveal confidential information. If the assistant treats the report content as instructions rather than data, it may produce unsafe outputs or attempt unauthorized actions.
A secure workflow would use an approved tool, restrict the assistant’s access, treat uploaded content as untrusted, disable unnecessary tool actions, log activity, and require human review before any output is shared. Staff should be trained to recognize suspicious instructions embedded in documents or outputs.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 security begins with use-case classification. A low-risk training exercise using public documents requires different controls than a tool connected to case records or document repositories. Agencies should classify AI uses by data sensitivity, system access, autonomy, public-facing impact, and consequence of error.
Access control is central. AI tools should not have broad access to systems simply because broad access is convenient. Each integration should specify what the tool can read, write, update, send, or delete. Read-only access is safer than write access, but read-only access can still expose sensitive information if permissions are weak.
Prompt injection defenses should include system-level protections, content handling, tool restrictions, and user training. External content should be treated as data, not instruction. Tools should not follow directions found inside documents, emails, or web pages unless those directions come from an authorized user in the correct workflow. Agentic systems should require additional approval before taking consequential actions.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Output handling matters because AI outputs may be copied into reports, emails, code, dashboards, or scripts. Insecure output handling can lead to misinformation, broken code, malicious links, or inappropriate disclosure. Outputs should be validated before downstream use, especially when they affect systems, public communications, or records.
Incident response should include AI-specific triggers. Examples include unauthorized data exposure, unexpected tool use, prompt injection attempt, repeated unsafe output, model misuse, credential exposure, or vendor security incident. Logs should support investigation of prompts, inputs, retrieved sources, outputs, tool calls, users, and actions.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Prompt injection. Untrusted content may override instructions. Guardrails include treating external content as data, restricting tools, and testing with adversarial examples.
Sensitive information disclosure. AI may reveal information outside user permissions. Guardrails include access controls, data minimization, redaction, and audit logs.
Excessive agency. Tools may have more capability than needed. Guardrails include least privilege, approval gates, and prohibited-action lists.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Supply chain risk. AI tools may depend on vendors, plugins, models, or libraries with vulnerabilities. Guardrails include vendor review, security documentation, patching, and contract requirements.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AI security applies to generative AI, RAG, NLP, APIs, and agentic workflows. RAG systems need document-level permissions and protections against unauthorized retrieval. Agentic systems need tool restrictions and action approval. Prompt templates should include data boundaries, and technical implementations should enforce those boundaries rather than relying on user behavior alone.
Security should be designed as part of the workflow. Public health users should know which tools are approved, what data may be used, what outputs require review, and how to report suspicious or unsafe behavior.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sensitive data or systems would the AI workflow touch?
Could the AI tool access more information or actions than necessary?
What untrusted content might the tool process?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will prompt injection attempts or unsafe outputs be detected?
What logs and incident response steps are required?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secure AI workflow checklist for one public health use case. Include data sensitivity, approved tools, access controls, least-privilege review, prompt injection risk, output handling, logging, vendor security questions, incident triggers, and escalation process.
The checklist should identify which controls must be in place before pilot testing and which controls must be monitored after launch.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Secure AI workflow checklist
Vendor and implementation security questions
Prompt injection risk notes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incident trigger and escalation plan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Secure AI workflow checklist
Vendor and implementation security questions
Prompt injection risk notes
AI incident trigger and escalation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prompt injection?
2. What does least privilege mean?
3. Why does agentic AI increase security risk?
4. Which control helps investigate AI-related incidents?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Artificial Intelligence Risk Management Framework: https://www.nist.gov/itl/ai-risk-management-framework
NIST AI RMF Generative AI Profile: https://www.nist.gov/publications/artificial-intelligence-risk-management-framework-generative-artificial-intelligence
NIST Privacy Framework: https://www.nist.gov/privacy-framework
Agency cybersecurity, identity/access management, privacy, procurement, and incident response policies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Security, Prompt Injection, and Data Leakage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focuses on protecting AI systems, integrations, prompts, outputs, data, users, and connected tools.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handle sensitive health, demographic, legal, operational, and community information.</a:t>
            </a:r>
            <a:endParaRPr lang="en-US" sz="2100" dirty="0"/>
          </a:p>
          <a:p>
            <a:r>
              <a:rPr lang="en-US" sz="2100" dirty="0">
                <a:solidFill>
                  <a:srgbClr val="17364A"/>
                </a:solidFill>
                <a:latin typeface="Aptos" pitchFamily="34" charset="0"/>
                <a:ea typeface="Aptos" pitchFamily="34" charset="-122"/>
                <a:cs typeface="Aptos" pitchFamily="34" charset="-120"/>
              </a:rPr>
              <a:t>AI security is therefore a core public health safeguard, not only an IT responsibility.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AI security in public health operational terms.</a:t>
            </a:r>
            <a:endParaRPr lang="en-US" sz="2100" dirty="0"/>
          </a:p>
          <a:p>
            <a:r>
              <a:rPr lang="en-US" sz="2100" dirty="0">
                <a:solidFill>
                  <a:srgbClr val="17364A"/>
                </a:solidFill>
                <a:latin typeface="Aptos" pitchFamily="34" charset="0"/>
                <a:ea typeface="Aptos" pitchFamily="34" charset="-122"/>
                <a:cs typeface="Aptos" pitchFamily="34" charset="-120"/>
              </a:rPr>
              <a:t>Identify prompt injection, data leakage, sensitive information disclosure, insecure output handling,.</a:t>
            </a:r>
            <a:endParaRPr lang="en-US" sz="2100" dirty="0"/>
          </a:p>
          <a:p>
            <a:r>
              <a:rPr lang="en-US" sz="2100" dirty="0">
                <a:solidFill>
                  <a:srgbClr val="17364A"/>
                </a:solidFill>
                <a:latin typeface="Aptos" pitchFamily="34" charset="0"/>
                <a:ea typeface="Aptos" pitchFamily="34" charset="-122"/>
                <a:cs typeface="Aptos" pitchFamily="34" charset="-120"/>
              </a:rPr>
              <a:t>Explain why RAG, plugins, APIs, and agentic workflows increase the need for security controls.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AI security in public health operational terms.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Identify prompt injection, data leakage, sensitive information disclosure, insecure output.</a:t>
            </a:r>
            <a:endParaRPr lang="en-US" sz="1380" dirty="0"/>
          </a:p>
          <a:p>
            <a:r>
              <a:rPr lang="en-US" sz="1380" dirty="0">
                <a:solidFill>
                  <a:srgbClr val="17364A"/>
                </a:solidFill>
                <a:latin typeface="Aptos" pitchFamily="34" charset="0"/>
                <a:ea typeface="Aptos" pitchFamily="34" charset="-122"/>
                <a:cs typeface="Aptos" pitchFamily="34" charset="-120"/>
              </a:rPr>
              <a:t>Apply least privilege, approved-tool use, access controls, logging, testing, and incident.</a:t>
            </a:r>
            <a:endParaRPr lang="en-US" sz="1380" dirty="0"/>
          </a:p>
          <a:p>
            <a:r>
              <a:rPr lang="en-US" sz="1380" dirty="0">
                <a:solidFill>
                  <a:srgbClr val="17364A"/>
                </a:solidFill>
                <a:latin typeface="Aptos" pitchFamily="34" charset="0"/>
                <a:ea typeface="Aptos" pitchFamily="34" charset="-122"/>
                <a:cs typeface="Aptos" pitchFamily="34" charset="-120"/>
              </a:rPr>
              <a:t>Develop security questions for AI procurement, implementation, and monitoring.</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secure AI workflow checklist.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secure AI workflow checklist.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Produce a secure AI workflow checklist.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focuses on protecting AI systems, integrations, prompts, outputs, data, users, and.</a:t>
            </a:r>
            <a:endParaRPr lang="en-US" sz="2100" dirty="0"/>
          </a:p>
          <a:p>
            <a:r>
              <a:rPr lang="en-US" sz="2100" dirty="0">
                <a:solidFill>
                  <a:srgbClr val="17364A"/>
                </a:solidFill>
                <a:latin typeface="Aptos" pitchFamily="34" charset="0"/>
                <a:ea typeface="Aptos" pitchFamily="34" charset="-122"/>
                <a:cs typeface="Aptos" pitchFamily="34" charset="-120"/>
              </a:rPr>
              <a:t>Public health agencies handle sensitive health, demographic, legal, operational, and community.</a:t>
            </a:r>
            <a:endParaRPr lang="en-US" sz="2100" dirty="0"/>
          </a:p>
          <a:p>
            <a:r>
              <a:rPr lang="en-US" sz="2100" dirty="0">
                <a:solidFill>
                  <a:srgbClr val="17364A"/>
                </a:solidFill>
                <a:latin typeface="Aptos" pitchFamily="34" charset="0"/>
                <a:ea typeface="Aptos" pitchFamily="34" charset="-122"/>
                <a:cs typeface="Aptos" pitchFamily="34" charset="-120"/>
              </a:rPr>
              <a:t>AI security is therefore a core public health safeguard, not only an IT responsibility.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security focuses on protecting AI systems, integrations, prompts, outputs, data, users, and.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AI security focuses on protecting AI systems, integrations, prompts, outputs, data, users,.</a:t>
            </a:r>
            <a:endParaRPr lang="en-US" sz="1380" dirty="0"/>
          </a:p>
          <a:p>
            <a:r>
              <a:rPr lang="en-US" sz="1380" dirty="0">
                <a:solidFill>
                  <a:srgbClr val="17364A"/>
                </a:solidFill>
                <a:latin typeface="Aptos" pitchFamily="34" charset="0"/>
                <a:ea typeface="Aptos" pitchFamily="34" charset="-122"/>
                <a:cs typeface="Aptos" pitchFamily="34" charset="-120"/>
              </a:rPr>
              <a:t>Public health agencies handle sensitive health, demographic, legal, operational, and.</a:t>
            </a:r>
            <a:endParaRPr lang="en-US" sz="1380" dirty="0"/>
          </a:p>
          <a:p>
            <a:r>
              <a:rPr lang="en-US" sz="1380" dirty="0">
                <a:solidFill>
                  <a:srgbClr val="17364A"/>
                </a:solidFill>
                <a:latin typeface="Aptos" pitchFamily="34" charset="0"/>
                <a:ea typeface="Aptos" pitchFamily="34" charset="-122"/>
                <a:cs typeface="Aptos" pitchFamily="34" charset="-120"/>
              </a:rPr>
              <a:t>This module introduces security risks that are especially relevant to generative AI, RAG.</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It is not legal advice and does not replace review by agency legal counsel, privacy.</a:t>
            </a:r>
            <a:endParaRPr lang="en-US" sz="1380" dirty="0"/>
          </a:p>
          <a:p>
            <a:r>
              <a:rPr lang="en-US" sz="1380" dirty="0">
                <a:solidFill>
                  <a:srgbClr val="17364A"/>
                </a:solidFill>
                <a:latin typeface="Aptos" pitchFamily="34" charset="0"/>
                <a:ea typeface="Aptos" pitchFamily="34" charset="-122"/>
                <a:cs typeface="Aptos" pitchFamily="34" charset="-120"/>
              </a:rPr>
              <a:t>Requirements may vary by state, locality, territory, Tribe, agency, funding source,.</a:t>
            </a:r>
            <a:endParaRPr lang="en-US" sz="1380" dirty="0"/>
          </a:p>
          <a:p>
            <a:r>
              <a:rPr lang="en-US" sz="1380" dirty="0">
                <a:solidFill>
                  <a:srgbClr val="17364A"/>
                </a:solidFill>
                <a:latin typeface="Aptos" pitchFamily="34" charset="0"/>
                <a:ea typeface="Aptos" pitchFamily="34" charset="-122"/>
                <a:cs typeface="Aptos" pitchFamily="34" charset="-120"/>
              </a:rPr>
              <a:t>Learners should use this module to identify the issues that require review and should.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matters because public health AI tools may process sensitive records, internal protocols,.</a:t>
            </a:r>
            <a:endParaRPr lang="en-US" sz="2100" dirty="0"/>
          </a:p>
          <a:p>
            <a:r>
              <a:rPr lang="en-US" sz="2100" dirty="0">
                <a:solidFill>
                  <a:srgbClr val="17364A"/>
                </a:solidFill>
                <a:latin typeface="Aptos" pitchFamily="34" charset="0"/>
                <a:ea typeface="Aptos" pitchFamily="34" charset="-122"/>
                <a:cs typeface="Aptos" pitchFamily="34" charset="-120"/>
              </a:rPr>
              <a:t>The risks increase when AI tools are connected to email, calendars, case systems, data warehouses,.</a:t>
            </a:r>
            <a:endParaRPr lang="en-US" sz="2100" dirty="0"/>
          </a:p>
          <a:p>
            <a:r>
              <a:rPr lang="en-US" sz="2100" dirty="0">
                <a:solidFill>
                  <a:srgbClr val="17364A"/>
                </a:solidFill>
                <a:latin typeface="Aptos" pitchFamily="34" charset="0"/>
                <a:ea typeface="Aptos" pitchFamily="34" charset="-122"/>
                <a:cs typeface="Aptos" pitchFamily="34" charset="-120"/>
              </a:rPr>
              <a:t>A security weakness can become a privacy breach, operational disruption, public trust problem, or legal.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security matters because public health AI tools may process sensitive records, internal protocols,.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AI security matters because public health AI tools may process sensitive records, internal.</a:t>
            </a:r>
            <a:endParaRPr lang="en-US" sz="1380" dirty="0"/>
          </a:p>
          <a:p>
            <a:r>
              <a:rPr lang="en-US" sz="1380" dirty="0">
                <a:solidFill>
                  <a:srgbClr val="17364A"/>
                </a:solidFill>
                <a:latin typeface="Aptos" pitchFamily="34" charset="0"/>
                <a:ea typeface="Aptos" pitchFamily="34" charset="-122"/>
                <a:cs typeface="Aptos" pitchFamily="34" charset="-120"/>
              </a:rPr>
              <a:t>The risks increase when AI tools are connected to email, calendars, case systems, data.</a:t>
            </a:r>
            <a:endParaRPr lang="en-US" sz="1380" dirty="0"/>
          </a:p>
          <a:p>
            <a:r>
              <a:rPr lang="en-US" sz="1380" dirty="0">
                <a:solidFill>
                  <a:srgbClr val="17364A"/>
                </a:solidFill>
                <a:latin typeface="Aptos" pitchFamily="34" charset="0"/>
                <a:ea typeface="Aptos" pitchFamily="34" charset="-122"/>
                <a:cs typeface="Aptos" pitchFamily="34" charset="-120"/>
              </a:rPr>
              <a:t>A security weakness can become a privacy breach, operational disruption, public trust.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program may use an AI assistant to summarize uploaded partner reports.</a:t>
            </a:r>
            <a:endParaRPr lang="en-US" sz="2100" dirty="0"/>
          </a:p>
          <a:p>
            <a:r>
              <a:rPr lang="en-US" sz="2100" dirty="0">
                <a:solidFill>
                  <a:srgbClr val="17364A"/>
                </a:solidFill>
                <a:latin typeface="Aptos" pitchFamily="34" charset="0"/>
                <a:ea typeface="Aptos" pitchFamily="34" charset="-122"/>
                <a:cs typeface="Aptos" pitchFamily="34" charset="-120"/>
              </a:rPr>
              <a:t>One report could contain hidden or visible instructions telling the AI to ignore prior rules and reveal.</a:t>
            </a:r>
            <a:endParaRPr lang="en-US" sz="2100" dirty="0"/>
          </a:p>
          <a:p>
            <a:r>
              <a:rPr lang="en-US" sz="2100" dirty="0">
                <a:solidFill>
                  <a:srgbClr val="17364A"/>
                </a:solidFill>
                <a:latin typeface="Aptos" pitchFamily="34" charset="0"/>
                <a:ea typeface="Aptos" pitchFamily="34" charset="-122"/>
                <a:cs typeface="Aptos" pitchFamily="34" charset="-120"/>
              </a:rPr>
              <a:t>If the assistant treats the report content as instructions rather than data, it may produce unsafe.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program may use an AI assistant to summarize uploaded partner reports.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One report could contain hidden or visible instructions telling the AI to ignore prior.</a:t>
            </a:r>
            <a:endParaRPr lang="en-US" sz="1380" dirty="0"/>
          </a:p>
          <a:p>
            <a:r>
              <a:rPr lang="en-US" sz="1380" dirty="0">
                <a:solidFill>
                  <a:srgbClr val="17364A"/>
                </a:solidFill>
                <a:latin typeface="Aptos" pitchFamily="34" charset="0"/>
                <a:ea typeface="Aptos" pitchFamily="34" charset="-122"/>
                <a:cs typeface="Aptos" pitchFamily="34" charset="-120"/>
              </a:rPr>
              <a:t>If the assistant treats the report content as instructions rather than data, it may.</a:t>
            </a:r>
            <a:endParaRPr lang="en-US" sz="1380" dirty="0"/>
          </a:p>
          <a:p>
            <a:r>
              <a:rPr lang="en-US" sz="1380" dirty="0">
                <a:solidFill>
                  <a:srgbClr val="17364A"/>
                </a:solidFill>
                <a:latin typeface="Aptos" pitchFamily="34" charset="0"/>
                <a:ea typeface="Aptos" pitchFamily="34" charset="-122"/>
                <a:cs typeface="Aptos" pitchFamily="34" charset="-120"/>
              </a:rPr>
              <a:t>A secure workflow would use an approved tool, restrict the assistant’s access, treat.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begins with use-case classification.</a:t>
            </a:r>
            <a:endParaRPr lang="en-US" sz="2100" dirty="0"/>
          </a:p>
          <a:p>
            <a:r>
              <a:rPr lang="en-US" sz="2100" dirty="0">
                <a:solidFill>
                  <a:srgbClr val="17364A"/>
                </a:solidFill>
                <a:latin typeface="Aptos" pitchFamily="34" charset="0"/>
                <a:ea typeface="Aptos" pitchFamily="34" charset="-122"/>
                <a:cs typeface="Aptos" pitchFamily="34" charset="-120"/>
              </a:rPr>
              <a:t>A low-risk training exercise using public documents requires different controls than a tool connected.</a:t>
            </a:r>
            <a:endParaRPr lang="en-US" sz="2100" dirty="0"/>
          </a:p>
          <a:p>
            <a:r>
              <a:rPr lang="en-US" sz="2100" dirty="0">
                <a:solidFill>
                  <a:srgbClr val="17364A"/>
                </a:solidFill>
                <a:latin typeface="Aptos" pitchFamily="34" charset="0"/>
                <a:ea typeface="Aptos" pitchFamily="34" charset="-122"/>
                <a:cs typeface="Aptos" pitchFamily="34" charset="-120"/>
              </a:rPr>
              <a:t>Agencies should classify AI uses by data sensitivity, system access, autonomy, public-facing impact,.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security begins with use-case classification.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low-risk training exercise using public documents requires different controls than a.</a:t>
            </a:r>
            <a:endParaRPr lang="en-US" sz="1380" dirty="0"/>
          </a:p>
          <a:p>
            <a:r>
              <a:rPr lang="en-US" sz="1380" dirty="0">
                <a:solidFill>
                  <a:srgbClr val="17364A"/>
                </a:solidFill>
                <a:latin typeface="Aptos" pitchFamily="34" charset="0"/>
                <a:ea typeface="Aptos" pitchFamily="34" charset="-122"/>
                <a:cs typeface="Aptos" pitchFamily="34" charset="-120"/>
              </a:rPr>
              <a:t>Agencies should classify AI uses by data sensitivity, system access, autonomy,.</a:t>
            </a:r>
            <a:endParaRPr lang="en-US" sz="1380" dirty="0"/>
          </a:p>
          <a:p>
            <a:r>
              <a:rPr lang="en-US" sz="1380" dirty="0">
                <a:solidFill>
                  <a:srgbClr val="17364A"/>
                </a:solidFill>
                <a:latin typeface="Aptos" pitchFamily="34" charset="0"/>
                <a:ea typeface="Aptos" pitchFamily="34" charset="-122"/>
                <a:cs typeface="Aptos" pitchFamily="34" charset="-120"/>
              </a:rPr>
              <a:t>Access control is central.</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Output handling matters because AI outputs may be copied into reports, emails, code, dashboards, or.</a:t>
            </a:r>
            <a:endParaRPr lang="en-US" sz="2100" dirty="0"/>
          </a:p>
          <a:p>
            <a:r>
              <a:rPr lang="en-US" sz="2100" dirty="0">
                <a:solidFill>
                  <a:srgbClr val="17364A"/>
                </a:solidFill>
                <a:latin typeface="Aptos" pitchFamily="34" charset="0"/>
                <a:ea typeface="Aptos" pitchFamily="34" charset="-122"/>
                <a:cs typeface="Aptos" pitchFamily="34" charset="-120"/>
              </a:rPr>
              <a:t>Insecure output handling can lead to misinformation, broken code, malicious links, or inappropriate.</a:t>
            </a:r>
            <a:endParaRPr lang="en-US" sz="2100" dirty="0"/>
          </a:p>
          <a:p>
            <a:r>
              <a:rPr lang="en-US" sz="2100" dirty="0">
                <a:solidFill>
                  <a:srgbClr val="17364A"/>
                </a:solidFill>
                <a:latin typeface="Aptos" pitchFamily="34" charset="0"/>
                <a:ea typeface="Aptos" pitchFamily="34" charset="-122"/>
                <a:cs typeface="Aptos" pitchFamily="34" charset="-120"/>
              </a:rPr>
              <a:t>Outputs should be validated before downstream use, especially when they affect systems, public.</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Output handling matters because AI outputs may be copied into reports, emails, code, dashboards, or.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Output handling matters because AI outputs may be copied into reports, emails, code,.</a:t>
            </a:r>
            <a:endParaRPr lang="en-US" sz="1380" dirty="0"/>
          </a:p>
          <a:p>
            <a:r>
              <a:rPr lang="en-US" sz="1380" dirty="0">
                <a:solidFill>
                  <a:srgbClr val="17364A"/>
                </a:solidFill>
                <a:latin typeface="Aptos" pitchFamily="34" charset="0"/>
                <a:ea typeface="Aptos" pitchFamily="34" charset="-122"/>
                <a:cs typeface="Aptos" pitchFamily="34" charset="-120"/>
              </a:rPr>
              <a:t>Insecure output handling can lead to misinformation, broken code, malicious links, or.</a:t>
            </a:r>
            <a:endParaRPr lang="en-US" sz="1380" dirty="0"/>
          </a:p>
          <a:p>
            <a:r>
              <a:rPr lang="en-US" sz="1380" dirty="0">
                <a:solidFill>
                  <a:srgbClr val="17364A"/>
                </a:solidFill>
                <a:latin typeface="Aptos" pitchFamily="34" charset="0"/>
                <a:ea typeface="Aptos" pitchFamily="34" charset="-122"/>
                <a:cs typeface="Aptos" pitchFamily="34" charset="-120"/>
              </a:rPr>
              <a:t>Outputs should be validated before downstream use, especially when they affect systems,.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injection.</a:t>
            </a:r>
            <a:endParaRPr lang="en-US" sz="2100" dirty="0"/>
          </a:p>
          <a:p>
            <a:r>
              <a:rPr lang="en-US" sz="2100" dirty="0">
                <a:solidFill>
                  <a:srgbClr val="17364A"/>
                </a:solidFill>
                <a:latin typeface="Aptos" pitchFamily="34" charset="0"/>
                <a:ea typeface="Aptos" pitchFamily="34" charset="-122"/>
                <a:cs typeface="Aptos" pitchFamily="34" charset="-120"/>
              </a:rPr>
              <a:t>Untrusted content may override instructions.</a:t>
            </a:r>
            <a:endParaRPr lang="en-US" sz="2100" dirty="0"/>
          </a:p>
          <a:p>
            <a:r>
              <a:rPr lang="en-US" sz="2100" dirty="0">
                <a:solidFill>
                  <a:srgbClr val="17364A"/>
                </a:solidFill>
                <a:latin typeface="Aptos" pitchFamily="34" charset="0"/>
                <a:ea typeface="Aptos" pitchFamily="34" charset="-122"/>
                <a:cs typeface="Aptos" pitchFamily="34" charset="-120"/>
              </a:rPr>
              <a:t>Guardrails include treating external content as data, restricting tools, and testing with adversarial.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injection.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Guardrails include treating external content as data, restricting tools, and testing with.</a:t>
            </a:r>
            <a:endParaRPr lang="en-US" sz="1380" dirty="0"/>
          </a:p>
          <a:p>
            <a:r>
              <a:rPr lang="en-US" sz="1380" dirty="0">
                <a:solidFill>
                  <a:srgbClr val="17364A"/>
                </a:solidFill>
                <a:latin typeface="Aptos" pitchFamily="34" charset="0"/>
                <a:ea typeface="Aptos" pitchFamily="34" charset="-122"/>
                <a:cs typeface="Aptos" pitchFamily="34" charset="-120"/>
              </a:rPr>
              <a:t>Sensitive information disclosure.</a:t>
            </a:r>
            <a:endParaRPr lang="en-US" sz="1380" dirty="0"/>
          </a:p>
          <a:p>
            <a:r>
              <a:rPr lang="en-US" sz="1380" dirty="0">
                <a:solidFill>
                  <a:srgbClr val="17364A"/>
                </a:solidFill>
                <a:latin typeface="Aptos" pitchFamily="34" charset="0"/>
                <a:ea typeface="Aptos" pitchFamily="34" charset="-122"/>
                <a:cs typeface="Aptos" pitchFamily="34" charset="-120"/>
              </a:rPr>
              <a:t>AI may reveal information outside user permissions.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Supply chain risk.</a:t>
            </a:r>
            <a:endParaRPr lang="en-US" sz="2100" dirty="0"/>
          </a:p>
          <a:p>
            <a:r>
              <a:rPr lang="en-US" sz="2100" dirty="0">
                <a:solidFill>
                  <a:srgbClr val="17364A"/>
                </a:solidFill>
                <a:latin typeface="Aptos" pitchFamily="34" charset="0"/>
                <a:ea typeface="Aptos" pitchFamily="34" charset="-122"/>
                <a:cs typeface="Aptos" pitchFamily="34" charset="-120"/>
              </a:rPr>
              <a:t>AI tools may depend on vendors, plugins, models, or libraries with vulnerabilities.</a:t>
            </a:r>
            <a:endParaRPr lang="en-US" sz="2100" dirty="0"/>
          </a:p>
          <a:p>
            <a:r>
              <a:rPr lang="en-US" sz="2100" dirty="0">
                <a:solidFill>
                  <a:srgbClr val="17364A"/>
                </a:solidFill>
                <a:latin typeface="Aptos" pitchFamily="34" charset="0"/>
                <a:ea typeface="Aptos" pitchFamily="34" charset="-122"/>
                <a:cs typeface="Aptos" pitchFamily="34" charset="-120"/>
              </a:rPr>
              <a:t>Guardrails include vendor review, security documentation, patching, and contract requirements.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Supply chain risk.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Supply chain risk.</a:t>
            </a:r>
            <a:endParaRPr lang="en-US" sz="1380" dirty="0"/>
          </a:p>
          <a:p>
            <a:r>
              <a:rPr lang="en-US" sz="1380" dirty="0">
                <a:solidFill>
                  <a:srgbClr val="17364A"/>
                </a:solidFill>
                <a:latin typeface="Aptos" pitchFamily="34" charset="0"/>
                <a:ea typeface="Aptos" pitchFamily="34" charset="-122"/>
                <a:cs typeface="Aptos" pitchFamily="34" charset="-120"/>
              </a:rPr>
              <a:t>AI tools may depend on vendors, plugins, models, or libraries with vulnerabilities.</a:t>
            </a:r>
            <a:endParaRPr lang="en-US" sz="1380" dirty="0"/>
          </a:p>
          <a:p>
            <a:r>
              <a:rPr lang="en-US" sz="1380" dirty="0">
                <a:solidFill>
                  <a:srgbClr val="17364A"/>
                </a:solidFill>
                <a:latin typeface="Aptos" pitchFamily="34" charset="0"/>
                <a:ea typeface="Aptos" pitchFamily="34" charset="-122"/>
                <a:cs typeface="Aptos" pitchFamily="34" charset="-120"/>
              </a:rPr>
              <a:t>Guardrails include vendor review, security documentation, patching, and contract.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security applies to generative AI, RAG, NLP, APIs, and agentic workflows.</a:t>
            </a:r>
            <a:endParaRPr lang="en-US" sz="2100" dirty="0"/>
          </a:p>
          <a:p>
            <a:r>
              <a:rPr lang="en-US" sz="2100" dirty="0">
                <a:solidFill>
                  <a:srgbClr val="17364A"/>
                </a:solidFill>
                <a:latin typeface="Aptos" pitchFamily="34" charset="0"/>
                <a:ea typeface="Aptos" pitchFamily="34" charset="-122"/>
                <a:cs typeface="Aptos" pitchFamily="34" charset="-120"/>
              </a:rPr>
              <a:t>RAG systems need document-level permissions and protections against unauthorized retrieval.</a:t>
            </a:r>
            <a:endParaRPr lang="en-US" sz="2100" dirty="0"/>
          </a:p>
          <a:p>
            <a:r>
              <a:rPr lang="en-US" sz="2100" dirty="0">
                <a:solidFill>
                  <a:srgbClr val="17364A"/>
                </a:solidFill>
                <a:latin typeface="Aptos" pitchFamily="34" charset="0"/>
                <a:ea typeface="Aptos" pitchFamily="34" charset="-122"/>
                <a:cs typeface="Aptos" pitchFamily="34" charset="-120"/>
              </a:rPr>
              <a:t>Agentic systems need tool restrictions and action approval.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security applies to generative AI, RAG, NLP, APIs, and agentic workflows.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Prompt templates should include data boundaries, and technical implementations should.</a:t>
            </a:r>
            <a:endParaRPr lang="en-US" sz="1380" dirty="0"/>
          </a:p>
          <a:p>
            <a:r>
              <a:rPr lang="en-US" sz="1380" dirty="0">
                <a:solidFill>
                  <a:srgbClr val="17364A"/>
                </a:solidFill>
                <a:latin typeface="Aptos" pitchFamily="34" charset="0"/>
                <a:ea typeface="Aptos" pitchFamily="34" charset="-122"/>
                <a:cs typeface="Aptos" pitchFamily="34" charset="-120"/>
              </a:rPr>
              <a:t>Security should be designed as part of the workflow.</a:t>
            </a:r>
            <a:endParaRPr lang="en-US" sz="1380" dirty="0"/>
          </a:p>
          <a:p>
            <a:r>
              <a:rPr lang="en-US" sz="1380" dirty="0">
                <a:solidFill>
                  <a:srgbClr val="17364A"/>
                </a:solidFill>
                <a:latin typeface="Aptos" pitchFamily="34" charset="0"/>
                <a:ea typeface="Aptos" pitchFamily="34" charset="-122"/>
                <a:cs typeface="Aptos" pitchFamily="34" charset="-120"/>
              </a:rPr>
              <a:t>Public health users should know which tools are approved, what data may be used, what.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sensitive data or systems would the AI workflow touch?</a:t>
            </a:r>
            <a:endParaRPr lang="en-US" sz="2100" dirty="0"/>
          </a:p>
          <a:p>
            <a:r>
              <a:rPr lang="en-US" sz="2100" dirty="0">
                <a:solidFill>
                  <a:srgbClr val="17364A"/>
                </a:solidFill>
                <a:latin typeface="Aptos" pitchFamily="34" charset="0"/>
                <a:ea typeface="Aptos" pitchFamily="34" charset="-122"/>
                <a:cs typeface="Aptos" pitchFamily="34" charset="-120"/>
              </a:rPr>
              <a:t>Could the AI tool access more information or actions than necessary?</a:t>
            </a:r>
            <a:endParaRPr lang="en-US" sz="2100" dirty="0"/>
          </a:p>
          <a:p>
            <a:r>
              <a:rPr lang="en-US" sz="2100" dirty="0">
                <a:solidFill>
                  <a:srgbClr val="17364A"/>
                </a:solidFill>
                <a:latin typeface="Aptos" pitchFamily="34" charset="0"/>
                <a:ea typeface="Aptos" pitchFamily="34" charset="-122"/>
                <a:cs typeface="Aptos" pitchFamily="34" charset="-120"/>
              </a:rPr>
              <a:t>What untrusted content might the tool process?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sensitive data or systems would the AI workflow touch?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sensitive data or systems would the AI workflow touch?</a:t>
            </a:r>
            <a:endParaRPr lang="en-US" sz="1380" dirty="0"/>
          </a:p>
          <a:p>
            <a:r>
              <a:rPr lang="en-US" sz="1380" dirty="0">
                <a:solidFill>
                  <a:srgbClr val="17364A"/>
                </a:solidFill>
                <a:latin typeface="Aptos" pitchFamily="34" charset="0"/>
                <a:ea typeface="Aptos" pitchFamily="34" charset="-122"/>
                <a:cs typeface="Aptos" pitchFamily="34" charset="-120"/>
              </a:rPr>
              <a:t>Could the AI tool access more information or actions than necessary?</a:t>
            </a:r>
            <a:endParaRPr lang="en-US" sz="1380" dirty="0"/>
          </a:p>
          <a:p>
            <a:r>
              <a:rPr lang="en-US" sz="1380" dirty="0">
                <a:solidFill>
                  <a:srgbClr val="17364A"/>
                </a:solidFill>
                <a:latin typeface="Aptos" pitchFamily="34" charset="0"/>
                <a:ea typeface="Aptos" pitchFamily="34" charset="-122"/>
                <a:cs typeface="Aptos" pitchFamily="34" charset="-120"/>
              </a:rPr>
              <a:t>What untrusted content might the tool process?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will prompt injection attempts or unsafe outputs be detected?</a:t>
            </a:r>
            <a:endParaRPr lang="en-US" sz="2100" dirty="0"/>
          </a:p>
          <a:p>
            <a:r>
              <a:rPr lang="en-US" sz="2100" dirty="0">
                <a:solidFill>
                  <a:srgbClr val="17364A"/>
                </a:solidFill>
                <a:latin typeface="Aptos" pitchFamily="34" charset="0"/>
                <a:ea typeface="Aptos" pitchFamily="34" charset="-122"/>
                <a:cs typeface="Aptos" pitchFamily="34" charset="-120"/>
              </a:rPr>
              <a:t>What logs and incident response steps are required?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will prompt injection attempts or unsafe outputs be detected?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How will prompt injection attempts or unsafe outputs be detected?</a:t>
            </a:r>
            <a:endParaRPr lang="en-US" sz="1380" dirty="0"/>
          </a:p>
          <a:p>
            <a:r>
              <a:rPr lang="en-US" sz="1380" dirty="0">
                <a:solidFill>
                  <a:srgbClr val="17364A"/>
                </a:solidFill>
                <a:latin typeface="Aptos" pitchFamily="34" charset="0"/>
                <a:ea typeface="Aptos" pitchFamily="34" charset="-122"/>
                <a:cs typeface="Aptos" pitchFamily="34" charset="-120"/>
              </a:rPr>
              <a:t>What logs and incident response steps are required?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secure AI workflow checklist for one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Include data sensitivity, approved tools, access controls, least-privilege review, prompt injection.</a:t>
            </a:r>
            <a:endParaRPr lang="en-US" sz="2100" dirty="0"/>
          </a:p>
          <a:p>
            <a:r>
              <a:rPr lang="en-US" sz="2100" dirty="0">
                <a:solidFill>
                  <a:srgbClr val="17364A"/>
                </a:solidFill>
                <a:latin typeface="Aptos" pitchFamily="34" charset="0"/>
                <a:ea typeface="Aptos" pitchFamily="34" charset="-122"/>
                <a:cs typeface="Aptos" pitchFamily="34" charset="-120"/>
              </a:rPr>
              <a:t>The checklist should identify which controls must be in place before pilot testing and which controls.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secure AI workflow checklist for one public health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Include data sensitivity, approved tools, access controls, least-privilege review, prompt.</a:t>
            </a:r>
            <a:endParaRPr lang="en-US" sz="1380" dirty="0"/>
          </a:p>
          <a:p>
            <a:r>
              <a:rPr lang="en-US" sz="1380" dirty="0">
                <a:solidFill>
                  <a:srgbClr val="17364A"/>
                </a:solidFill>
                <a:latin typeface="Aptos" pitchFamily="34" charset="0"/>
                <a:ea typeface="Aptos" pitchFamily="34" charset="-122"/>
                <a:cs typeface="Aptos" pitchFamily="34" charset="-120"/>
              </a:rPr>
              <a:t>The checklist should identify which controls must be in place before pilot testing and.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Secure AI workflow checklist</a:t>
            </a:r>
            <a:endParaRPr lang="en-US" sz="2100" dirty="0"/>
          </a:p>
          <a:p>
            <a:r>
              <a:rPr lang="en-US" sz="2100" dirty="0">
                <a:solidFill>
                  <a:srgbClr val="17364A"/>
                </a:solidFill>
                <a:latin typeface="Aptos" pitchFamily="34" charset="0"/>
                <a:ea typeface="Aptos" pitchFamily="34" charset="-122"/>
                <a:cs typeface="Aptos" pitchFamily="34" charset="-120"/>
              </a:rPr>
              <a:t>Vendor and implementation security questions</a:t>
            </a:r>
            <a:endParaRPr lang="en-US" sz="2100" dirty="0"/>
          </a:p>
          <a:p>
            <a:r>
              <a:rPr lang="en-US" sz="2100" dirty="0">
                <a:solidFill>
                  <a:srgbClr val="17364A"/>
                </a:solidFill>
                <a:latin typeface="Aptos" pitchFamily="34" charset="0"/>
                <a:ea typeface="Aptos" pitchFamily="34" charset="-122"/>
                <a:cs typeface="Aptos" pitchFamily="34" charset="-120"/>
              </a:rPr>
              <a:t>Prompt injection risk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Secure AI workflow checklist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Secure AI workflow checklist</a:t>
            </a:r>
            <a:endParaRPr lang="en-US" sz="1380" dirty="0"/>
          </a:p>
          <a:p>
            <a:r>
              <a:rPr lang="en-US" sz="1380" dirty="0">
                <a:solidFill>
                  <a:srgbClr val="17364A"/>
                </a:solidFill>
                <a:latin typeface="Aptos" pitchFamily="34" charset="0"/>
                <a:ea typeface="Aptos" pitchFamily="34" charset="-122"/>
                <a:cs typeface="Aptos" pitchFamily="34" charset="-120"/>
              </a:rPr>
              <a:t>Vendor and implementation security questions</a:t>
            </a:r>
            <a:endParaRPr lang="en-US" sz="1380" dirty="0"/>
          </a:p>
          <a:p>
            <a:r>
              <a:rPr lang="en-US" sz="1380" dirty="0">
                <a:solidFill>
                  <a:srgbClr val="17364A"/>
                </a:solidFill>
                <a:latin typeface="Aptos" pitchFamily="34" charset="0"/>
                <a:ea typeface="Aptos" pitchFamily="34" charset="-122"/>
                <a:cs typeface="Aptos" pitchFamily="34" charset="-120"/>
              </a:rPr>
              <a:t>Prompt injection risk notes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incident trigger and escalation plan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incident trigger and escalation plan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AI incident trigger and escalation plan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Secure AI workflow checklist</a:t>
            </a:r>
            <a:endParaRPr lang="en-US" sz="2100" dirty="0"/>
          </a:p>
          <a:p>
            <a:r>
              <a:rPr lang="en-US" sz="2100" dirty="0">
                <a:solidFill>
                  <a:srgbClr val="17364A"/>
                </a:solidFill>
                <a:latin typeface="Aptos" pitchFamily="34" charset="0"/>
                <a:ea typeface="Aptos" pitchFamily="34" charset="-122"/>
                <a:cs typeface="Aptos" pitchFamily="34" charset="-120"/>
              </a:rPr>
              <a:t>Vendor and implementation security questions</a:t>
            </a:r>
            <a:endParaRPr lang="en-US" sz="2100" dirty="0"/>
          </a:p>
          <a:p>
            <a:r>
              <a:rPr lang="en-US" sz="2100" dirty="0">
                <a:solidFill>
                  <a:srgbClr val="17364A"/>
                </a:solidFill>
                <a:latin typeface="Aptos" pitchFamily="34" charset="0"/>
                <a:ea typeface="Aptos" pitchFamily="34" charset="-122"/>
                <a:cs typeface="Aptos" pitchFamily="34" charset="-120"/>
              </a:rPr>
              <a:t>Prompt injection risk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Secure AI workflow checklist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Secure AI workflow checklist</a:t>
            </a:r>
            <a:endParaRPr lang="en-US" sz="1380" dirty="0"/>
          </a:p>
          <a:p>
            <a:r>
              <a:rPr lang="en-US" sz="1380" dirty="0">
                <a:solidFill>
                  <a:srgbClr val="17364A"/>
                </a:solidFill>
                <a:latin typeface="Aptos" pitchFamily="34" charset="0"/>
                <a:ea typeface="Aptos" pitchFamily="34" charset="-122"/>
                <a:cs typeface="Aptos" pitchFamily="34" charset="-120"/>
              </a:rPr>
              <a:t>Vendor and implementation security questions</a:t>
            </a:r>
            <a:endParaRPr lang="en-US" sz="1380" dirty="0"/>
          </a:p>
          <a:p>
            <a:r>
              <a:rPr lang="en-US" sz="1380" dirty="0">
                <a:solidFill>
                  <a:srgbClr val="17364A"/>
                </a:solidFill>
                <a:latin typeface="Aptos" pitchFamily="34" charset="0"/>
                <a:ea typeface="Aptos" pitchFamily="34" charset="-122"/>
                <a:cs typeface="Aptos" pitchFamily="34" charset="-120"/>
              </a:rPr>
              <a:t>Prompt injection risk notes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prompt injection?</a:t>
            </a:r>
            <a:endParaRPr lang="en-US" sz="2100" dirty="0"/>
          </a:p>
          <a:p>
            <a:r>
              <a:rPr lang="en-US" sz="2100" dirty="0">
                <a:solidFill>
                  <a:srgbClr val="17364A"/>
                </a:solidFill>
                <a:latin typeface="Aptos" pitchFamily="34" charset="0"/>
                <a:ea typeface="Aptos" pitchFamily="34" charset="-122"/>
                <a:cs typeface="Aptos" pitchFamily="34" charset="-120"/>
              </a:rPr>
              <a:t>2. What does least privilege mean?</a:t>
            </a:r>
            <a:endParaRPr lang="en-US" sz="2100" dirty="0"/>
          </a:p>
          <a:p>
            <a:r>
              <a:rPr lang="en-US" sz="2100" dirty="0">
                <a:solidFill>
                  <a:srgbClr val="17364A"/>
                </a:solidFill>
                <a:latin typeface="Aptos" pitchFamily="34" charset="0"/>
                <a:ea typeface="Aptos" pitchFamily="34" charset="-122"/>
                <a:cs typeface="Aptos" pitchFamily="34" charset="-120"/>
              </a:rPr>
              <a:t>3. Why does agentic AI increase security risk?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prompt injection?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prompt injection?</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OWASP Top 10 for Large Language Model Applications:.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OWASP Top 10 for Large Language Model Applications:.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NIST Artificial Intelligence Risk Management Framework:.</a:t>
            </a:r>
            <a:endParaRPr lang="en-US" sz="1380" dirty="0"/>
          </a:p>
          <a:p>
            <a:r>
              <a:rPr lang="en-US" sz="1380" dirty="0">
                <a:solidFill>
                  <a:srgbClr val="17364A"/>
                </a:solidFill>
                <a:latin typeface="Aptos" pitchFamily="34" charset="0"/>
                <a:ea typeface="Aptos" pitchFamily="34" charset="-122"/>
                <a:cs typeface="Aptos" pitchFamily="34" charset="-120"/>
              </a:rPr>
              <a:t>NIST Privacy Framework: https://www.nist.gov/privacy-framework</a:t>
            </a:r>
            <a:endParaRPr lang="en-US" sz="1380" dirty="0"/>
          </a:p>
          <a:p>
            <a:r>
              <a:rPr lang="en-US" sz="1380" dirty="0">
                <a:solidFill>
                  <a:srgbClr val="17364A"/>
                </a:solidFill>
                <a:latin typeface="Aptos" pitchFamily="34" charset="0"/>
                <a:ea typeface="Aptos" pitchFamily="34" charset="-122"/>
                <a:cs typeface="Aptos" pitchFamily="34" charset="-120"/>
              </a:rPr>
              <a:t>Agency cybersecurity, identity/access management, privacy, procurement, and incident.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Security, Prompt Injection, and Data Leakage</dc:title>
  <dc:subject>AI Security, Prompt Injection, and Data Leakage learning module</dc:subject>
  <dc:creator>Paula Soper</dc:creator>
  <cp:lastModifiedBy>Paula Soper</cp:lastModifiedBy>
  <cp:revision>1</cp:revision>
  <dcterms:created xsi:type="dcterms:W3CDTF">2026-07-13T02:11:43Z</dcterms:created>
  <dcterms:modified xsi:type="dcterms:W3CDTF">2026-07-13T02:11:43Z</dcterms:modified>
</cp:coreProperties>
</file>