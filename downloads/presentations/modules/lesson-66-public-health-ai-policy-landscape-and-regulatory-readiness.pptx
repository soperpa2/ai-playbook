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300 Public Health AI Policy Landscape and Regulatory Readiness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governance-and-security, public-health-executive-leadership, program-management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categories of law, policy, standards, and guidance that may affect public health AI.
Explain why regulatory readiness requires monitoring, interpretation, documentation, and policy maintenance.
Distinguish between binding requirements, agency policy, professional guidance, standards, and best practices.
Create a policy scan process for AI-related developments.
Produce an AI regulatory readiness memo or policy update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is considering AI tools for translation, complaint triage, and case note summarization. A policy scan identifies privacy, public records, procurement, accessibility, cybersecurity, and civil rights considerations. The agency creates a readiness memo that distinguishes existing requirements from emerging guidance, recommends interim safeguards, and establishes a quarterly process to update AI policies as requirements evolve.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Policy readiness begins by identifying relevant domains rather than looking for a single AI law. Public health AI may be affected by health privacy rules, state confidentiality laws, public records requirements, procurement standards, accessibility laws, cybersecurity policies, civil rights obligations, data sharing agreements, records retention rules, and professional ethics. AI-specific policy should be layered onto this existing policy environment.
Agencies should distinguish between different levels of authority. A statute, regulation, contract clause, grant requirement, executive order, agency policy, professional guideline, and technical standard do not all carry the same legal weight. However, nonbinding guidance can still be important because it may reflect emerging expectations for responsible practice, risk management, transparency, documentation, or auditability.
A policy scan should be assigned to a responsible role or group. The scan should identify sources to monitor, frequency of review, criteria for relevance, and a process for escalating items that may affect agency policy or active AI use cases. The process should avoid overreacting to every news item while still ensuring that meaningful changes are not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Regulatory readiness also requires change management. When policy requirements change, the agency may need to update SOPs, procurement language, risk tiers, training, documentation, vendor oversight, public transparency materials, or incident response procedures. A policy update is not complete until it has been translated into operational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Assuming there is no policy risk because there is no single AI statute.
Treating nonbinding guidance as irrelevant even when it reflects expected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Failing to update internal policies after legal, procurement, privacy, or cybersecurity changes.
Allowing vendors to define compliance obligations without agency review.
Maintaining policies that are too vague to guide real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Assign responsibility for AI policy scanning and interpretation.
Distinguish binding requirements from guidance and best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Maintain a crosswalk from external requirements to internal policies and procedures.
Update training, SOPs, and procurement language when policies change.
Document assumptions, decisions, and unresolved legal or policy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public health AI policy scan and regulatory readiness memo. Identify relevant policy domains, sources to monitor, current agency policy gaps, likely operational implications, recommended interim safeguards, and a process for ongoing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scan plan
Regulatory readiness memo
Policy-domain crosswalk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Recommended policy updates
Ongoing monitoring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scan plan
Regulatory readiness memo
Policy-domain crosswalk
Recommended policy updates
Ongoing monitoring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regulatory readiness mean in this module?
2. Which statement is most accurate?
3. What is a policy scan?
4. What should happen after a policy change affects AI use?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AI Policy Landscape and Regulatory Readiness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 governments,.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do not need to wait for every rule to be settled before acting responsibly, but they do.</a:t>
            </a:r>
            <a:endParaRPr lang="en-US" sz="2100" dirty="0"/>
          </a:p>
          <a:p>
            <a:r>
              <a:rPr lang="en-US" sz="2100" dirty="0">
                <a:solidFill>
                  <a:srgbClr val="17364A"/>
                </a:solidFill>
                <a:latin typeface="Aptos" pitchFamily="34" charset="0"/>
                <a:ea typeface="Aptos" pitchFamily="34" charset="-122"/>
                <a:cs typeface="Aptos" pitchFamily="34" charset="-120"/>
              </a:rPr>
              <a:t>Regulatory readiness means the agency can identify relevant requirements, update internal policies, and document.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policy, governance-and-security, public-health-executive-leadership, program-management</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categories of law, policy, standards, and guidance that may affect public health AI.</a:t>
            </a:r>
            <a:endParaRPr lang="en-US" sz="2100" dirty="0"/>
          </a:p>
          <a:p>
            <a:r>
              <a:rPr lang="en-US" sz="2100" dirty="0">
                <a:solidFill>
                  <a:srgbClr val="17364A"/>
                </a:solidFill>
                <a:latin typeface="Aptos" pitchFamily="34" charset="0"/>
                <a:ea typeface="Aptos" pitchFamily="34" charset="-122"/>
                <a:cs typeface="Aptos" pitchFamily="34" charset="-120"/>
              </a:rPr>
              <a:t>Explain why regulatory readiness requires monitoring, interpretation, documentation, and policy.</a:t>
            </a:r>
            <a:endParaRPr lang="en-US" sz="2100" dirty="0"/>
          </a:p>
          <a:p>
            <a:r>
              <a:rPr lang="en-US" sz="2100" dirty="0">
                <a:solidFill>
                  <a:srgbClr val="17364A"/>
                </a:solidFill>
                <a:latin typeface="Aptos" pitchFamily="34" charset="0"/>
                <a:ea typeface="Aptos" pitchFamily="34" charset="-122"/>
                <a:cs typeface="Aptos" pitchFamily="34" charset="-120"/>
              </a:rPr>
              <a:t>Distinguish between binding requirements, agency policy, professional guidance, standards, and best.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categories of law, policy, standards, and guidance that may affect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a:t>
            </a:r>
            <a:endParaRPr lang="en-US" sz="2100" dirty="0"/>
          </a:p>
          <a:p>
            <a:r>
              <a:rPr lang="en-US" sz="2100" dirty="0">
                <a:solidFill>
                  <a:srgbClr val="17364A"/>
                </a:solidFill>
                <a:latin typeface="Aptos" pitchFamily="34" charset="0"/>
                <a:ea typeface="Aptos" pitchFamily="34" charset="-122"/>
                <a:cs typeface="Aptos" pitchFamily="34" charset="-120"/>
              </a:rPr>
              <a:t>Public health agencies do not need to wait for every rule to be settled before acting responsibly, but.</a:t>
            </a:r>
            <a:endParaRPr lang="en-US" sz="2100" dirty="0"/>
          </a:p>
          <a:p>
            <a:r>
              <a:rPr lang="en-US" sz="2100" dirty="0">
                <a:solidFill>
                  <a:srgbClr val="17364A"/>
                </a:solidFill>
                <a:latin typeface="Aptos" pitchFamily="34" charset="0"/>
                <a:ea typeface="Aptos" pitchFamily="34" charset="-122"/>
                <a:cs typeface="Aptos" pitchFamily="34" charset="-120"/>
              </a:rPr>
              <a:t>Regulatory readiness means the agency can identify relevant requirements, update internal policies,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is considering AI tools for translation, complaint triage, and case note.</a:t>
            </a:r>
            <a:endParaRPr lang="en-US" sz="2100" dirty="0"/>
          </a:p>
          <a:p>
            <a:r>
              <a:rPr lang="en-US" sz="2100" dirty="0">
                <a:solidFill>
                  <a:srgbClr val="17364A"/>
                </a:solidFill>
                <a:latin typeface="Aptos" pitchFamily="34" charset="0"/>
                <a:ea typeface="Aptos" pitchFamily="34" charset="-122"/>
                <a:cs typeface="Aptos" pitchFamily="34" charset="-120"/>
              </a:rPr>
              <a:t>A policy scan identifies privacy, public records, procurement, accessibility, cybersecurity, and civil.</a:t>
            </a:r>
            <a:endParaRPr lang="en-US" sz="2100" dirty="0"/>
          </a:p>
          <a:p>
            <a:r>
              <a:rPr lang="en-US" sz="2100" dirty="0">
                <a:solidFill>
                  <a:srgbClr val="17364A"/>
                </a:solidFill>
                <a:latin typeface="Aptos" pitchFamily="34" charset="0"/>
                <a:ea typeface="Aptos" pitchFamily="34" charset="-122"/>
                <a:cs typeface="Aptos" pitchFamily="34" charset="-120"/>
              </a:rPr>
              <a:t>The agency creates a readiness memo that distinguishes existing requirements from emerging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is considering AI tools for translation, complaint triage, and case note.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Policy readiness begins by identifying relevant domains rather than looking for a single AI law.</a:t>
            </a:r>
            <a:endParaRPr lang="en-US" sz="2100" dirty="0"/>
          </a:p>
          <a:p>
            <a:r>
              <a:rPr lang="en-US" sz="2100" dirty="0">
                <a:solidFill>
                  <a:srgbClr val="17364A"/>
                </a:solidFill>
                <a:latin typeface="Aptos" pitchFamily="34" charset="0"/>
                <a:ea typeface="Aptos" pitchFamily="34" charset="-122"/>
                <a:cs typeface="Aptos" pitchFamily="34" charset="-120"/>
              </a:rPr>
              <a:t>Public health AI may be affected by health privacy rules, state confidentiality laws, public records.</a:t>
            </a:r>
            <a:endParaRPr lang="en-US" sz="2100" dirty="0"/>
          </a:p>
          <a:p>
            <a:r>
              <a:rPr lang="en-US" sz="2100" dirty="0">
                <a:solidFill>
                  <a:srgbClr val="17364A"/>
                </a:solidFill>
                <a:latin typeface="Aptos" pitchFamily="34" charset="0"/>
                <a:ea typeface="Aptos" pitchFamily="34" charset="-122"/>
                <a:cs typeface="Aptos" pitchFamily="34" charset="-120"/>
              </a:rPr>
              <a:t>AI-specific policy should be layered onto this existing policy environment.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Policy readiness begins by identifying relevant domains rather than looking for a single AI law.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Regulatory readiness also requires change management.</a:t>
            </a:r>
            <a:endParaRPr lang="en-US" sz="2100" dirty="0"/>
          </a:p>
          <a:p>
            <a:r>
              <a:rPr lang="en-US" sz="2100" dirty="0">
                <a:solidFill>
                  <a:srgbClr val="17364A"/>
                </a:solidFill>
                <a:latin typeface="Aptos" pitchFamily="34" charset="0"/>
                <a:ea typeface="Aptos" pitchFamily="34" charset="-122"/>
                <a:cs typeface="Aptos" pitchFamily="34" charset="-120"/>
              </a:rPr>
              <a:t>When policy requirements change, the agency may need to update SOPs, procurement language, risk tiers,.</a:t>
            </a:r>
            <a:endParaRPr lang="en-US" sz="2100" dirty="0"/>
          </a:p>
          <a:p>
            <a:r>
              <a:rPr lang="en-US" sz="2100" dirty="0">
                <a:solidFill>
                  <a:srgbClr val="17364A"/>
                </a:solidFill>
                <a:latin typeface="Aptos" pitchFamily="34" charset="0"/>
                <a:ea typeface="Aptos" pitchFamily="34" charset="-122"/>
                <a:cs typeface="Aptos" pitchFamily="34" charset="-120"/>
              </a:rPr>
              <a:t>A policy update is not complete until it has been translated into operational practice.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Regulatory readiness also requires change management.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Assuming there is no policy risk because there is no single AI statute.</a:t>
            </a:r>
            <a:endParaRPr lang="en-US" sz="2100" dirty="0"/>
          </a:p>
          <a:p>
            <a:r>
              <a:rPr lang="en-US" sz="2100" dirty="0">
                <a:solidFill>
                  <a:srgbClr val="17364A"/>
                </a:solidFill>
                <a:latin typeface="Aptos" pitchFamily="34" charset="0"/>
                <a:ea typeface="Aptos" pitchFamily="34" charset="-122"/>
                <a:cs typeface="Aptos" pitchFamily="34" charset="-120"/>
              </a:rPr>
              <a:t>Treating nonbinding guidance as irrelevant even when it reflects expected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Failing to update internal policies after legal, procurement, privacy, or cybersecurity changes.</a:t>
            </a:r>
            <a:endParaRPr lang="en-US" sz="2100" dirty="0"/>
          </a:p>
          <a:p>
            <a:r>
              <a:rPr lang="en-US" sz="2100" dirty="0">
                <a:solidFill>
                  <a:srgbClr val="17364A"/>
                </a:solidFill>
                <a:latin typeface="Aptos" pitchFamily="34" charset="0"/>
                <a:ea typeface="Aptos" pitchFamily="34" charset="-122"/>
                <a:cs typeface="Aptos" pitchFamily="34" charset="-120"/>
              </a:rPr>
              <a:t>Allowing vendors to define compliance obligations without agency review.</a:t>
            </a:r>
            <a:endParaRPr lang="en-US" sz="2100" dirty="0"/>
          </a:p>
          <a:p>
            <a:r>
              <a:rPr lang="en-US" sz="2100" dirty="0">
                <a:solidFill>
                  <a:srgbClr val="17364A"/>
                </a:solidFill>
                <a:latin typeface="Aptos" pitchFamily="34" charset="0"/>
                <a:ea typeface="Aptos" pitchFamily="34" charset="-122"/>
                <a:cs typeface="Aptos" pitchFamily="34" charset="-120"/>
              </a:rPr>
              <a:t>Maintaining policies that are too vague to guide real decisions.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Failing to update internal policies after legal, procurement, privacy, or cybersecurity changes.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Assign responsibility for AI policy scanning and interpretation.</a:t>
            </a:r>
            <a:endParaRPr lang="en-US" sz="2100" dirty="0"/>
          </a:p>
          <a:p>
            <a:r>
              <a:rPr lang="en-US" sz="2100" dirty="0">
                <a:solidFill>
                  <a:srgbClr val="17364A"/>
                </a:solidFill>
                <a:latin typeface="Aptos" pitchFamily="34" charset="0"/>
                <a:ea typeface="Aptos" pitchFamily="34" charset="-122"/>
                <a:cs typeface="Aptos" pitchFamily="34" charset="-120"/>
              </a:rPr>
              <a:t>Distinguish binding requirements from guidance and best practices.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Maintain a crosswalk from external requirements to internal policies and procedures.</a:t>
            </a:r>
            <a:endParaRPr lang="en-US" sz="2100" dirty="0"/>
          </a:p>
          <a:p>
            <a:r>
              <a:rPr lang="en-US" sz="2100" dirty="0">
                <a:solidFill>
                  <a:srgbClr val="17364A"/>
                </a:solidFill>
                <a:latin typeface="Aptos" pitchFamily="34" charset="0"/>
                <a:ea typeface="Aptos" pitchFamily="34" charset="-122"/>
                <a:cs typeface="Aptos" pitchFamily="34" charset="-120"/>
              </a:rPr>
              <a:t>Update training, SOPs, and procurement language when policies change.</a:t>
            </a:r>
            <a:endParaRPr lang="en-US" sz="2100" dirty="0"/>
          </a:p>
          <a:p>
            <a:r>
              <a:rPr lang="en-US" sz="2100" dirty="0">
                <a:solidFill>
                  <a:srgbClr val="17364A"/>
                </a:solidFill>
                <a:latin typeface="Aptos" pitchFamily="34" charset="0"/>
                <a:ea typeface="Aptos" pitchFamily="34" charset="-122"/>
                <a:cs typeface="Aptos" pitchFamily="34" charset="-120"/>
              </a:rPr>
              <a:t>Document assumptions, decisions, and unresolved legal or policy questions.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Maintain a crosswalk from external requirements to internal policies and procedures.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2100" dirty="0"/>
          </a:p>
          <a:p>
            <a:r>
              <a:rPr lang="en-US" sz="2100" dirty="0">
                <a:solidFill>
                  <a:srgbClr val="17364A"/>
                </a:solidFill>
                <a:latin typeface="Aptos" pitchFamily="34" charset="0"/>
                <a:ea typeface="Aptos" pitchFamily="34" charset="-122"/>
                <a:cs typeface="Aptos" pitchFamily="34" charset="-120"/>
              </a:rPr>
              <a:t>Identify relevant policy domains, sources to monitor, current agency policy gaps, likely operational.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scan plan</a:t>
            </a:r>
            <a:endParaRPr lang="en-US" sz="2100" dirty="0"/>
          </a:p>
          <a:p>
            <a:r>
              <a:rPr lang="en-US" sz="2100" dirty="0">
                <a:solidFill>
                  <a:srgbClr val="17364A"/>
                </a:solidFill>
                <a:latin typeface="Aptos" pitchFamily="34" charset="0"/>
                <a:ea typeface="Aptos" pitchFamily="34" charset="-122"/>
                <a:cs typeface="Aptos" pitchFamily="34" charset="-120"/>
              </a:rPr>
              <a:t>Regulatory readiness memo</a:t>
            </a:r>
            <a:endParaRPr lang="en-US" sz="2100" dirty="0"/>
          </a:p>
          <a:p>
            <a:r>
              <a:rPr lang="en-US" sz="2100" dirty="0">
                <a:solidFill>
                  <a:srgbClr val="17364A"/>
                </a:solidFill>
                <a:latin typeface="Aptos" pitchFamily="34" charset="0"/>
                <a:ea typeface="Aptos" pitchFamily="34" charset="-122"/>
                <a:cs typeface="Aptos" pitchFamily="34" charset="-120"/>
              </a:rPr>
              <a:t>Policy-domain crosswalk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scan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policy updates</a:t>
            </a:r>
            <a:endParaRPr lang="en-US" sz="2100" dirty="0"/>
          </a:p>
          <a:p>
            <a:r>
              <a:rPr lang="en-US" sz="2100" dirty="0">
                <a:solidFill>
                  <a:srgbClr val="17364A"/>
                </a:solidFill>
                <a:latin typeface="Aptos" pitchFamily="34" charset="0"/>
                <a:ea typeface="Aptos" pitchFamily="34" charset="-122"/>
                <a:cs typeface="Aptos" pitchFamily="34" charset="-120"/>
              </a:rPr>
              <a:t>Ongoing monitoring process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policy updates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scan plan</a:t>
            </a:r>
            <a:endParaRPr lang="en-US" sz="2100" dirty="0"/>
          </a:p>
          <a:p>
            <a:r>
              <a:rPr lang="en-US" sz="2100" dirty="0">
                <a:solidFill>
                  <a:srgbClr val="17364A"/>
                </a:solidFill>
                <a:latin typeface="Aptos" pitchFamily="34" charset="0"/>
                <a:ea typeface="Aptos" pitchFamily="34" charset="-122"/>
                <a:cs typeface="Aptos" pitchFamily="34" charset="-120"/>
              </a:rPr>
              <a:t>Regulatory readiness memo</a:t>
            </a:r>
            <a:endParaRPr lang="en-US" sz="2100" dirty="0"/>
          </a:p>
          <a:p>
            <a:r>
              <a:rPr lang="en-US" sz="2100" dirty="0">
                <a:solidFill>
                  <a:srgbClr val="17364A"/>
                </a:solidFill>
                <a:latin typeface="Aptos" pitchFamily="34" charset="0"/>
                <a:ea typeface="Aptos" pitchFamily="34" charset="-122"/>
                <a:cs typeface="Aptos" pitchFamily="34" charset="-120"/>
              </a:rPr>
              <a:t>Policy-domain crosswalk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scan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does regulatory readiness mean in this module?</a:t>
            </a:r>
            <a:endParaRPr lang="en-US" sz="2100" dirty="0"/>
          </a:p>
          <a:p>
            <a:r>
              <a:rPr lang="en-US" sz="2100" dirty="0">
                <a:solidFill>
                  <a:srgbClr val="17364A"/>
                </a:solidFill>
                <a:latin typeface="Aptos" pitchFamily="34" charset="0"/>
                <a:ea typeface="Aptos" pitchFamily="34" charset="-122"/>
                <a:cs typeface="Aptos" pitchFamily="34" charset="-120"/>
              </a:rPr>
              <a:t>2. Which statement is most accurate?</a:t>
            </a:r>
            <a:endParaRPr lang="en-US" sz="2100" dirty="0"/>
          </a:p>
          <a:p>
            <a:r>
              <a:rPr lang="en-US" sz="2100" dirty="0">
                <a:solidFill>
                  <a:srgbClr val="17364A"/>
                </a:solidFill>
                <a:latin typeface="Aptos" pitchFamily="34" charset="0"/>
                <a:ea typeface="Aptos" pitchFamily="34" charset="-122"/>
                <a:cs typeface="Aptos" pitchFamily="34" charset="-120"/>
              </a:rPr>
              <a:t>3. What is a policy scan?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does regulatory readiness mean in this module?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AI Policy Landscape and Regulatory Readiness</dc:title>
  <dc:subject>Public Health AI Policy Landscape and Regulatory Readiness learning module</dc:subject>
  <dc:creator>Paula Soper</dc:creator>
  <cp:lastModifiedBy>Paula Soper</cp:lastModifiedBy>
  <cp:revision>1</cp:revision>
  <dcterms:created xsi:type="dcterms:W3CDTF">2026-07-12T19:24:28Z</dcterms:created>
  <dcterms:modified xsi:type="dcterms:W3CDTF">2026-07-12T19:24:28Z</dcterms:modified>
</cp:coreProperties>
</file>