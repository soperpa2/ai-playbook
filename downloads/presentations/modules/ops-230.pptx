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 reviewing,.</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 communications,.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applied/foundational</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Operations and Data Quality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operations-and-data-quality, program-management, governance-and-security, epidemiology</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2100" dirty="0"/>
          </a:p>
          <a:p>
            <a:r>
              <a:rPr lang="en-US" sz="2100" dirty="0">
                <a:solidFill>
                  <a:srgbClr val="17364A"/>
                </a:solidFill>
                <a:latin typeface="Aptos" pitchFamily="34" charset="0"/>
                <a:ea typeface="Aptos" pitchFamily="34" charset="-122"/>
                <a:cs typeface="Aptos" pitchFamily="34" charset="-120"/>
              </a:rPr>
              <a:t>Identify the core elements of an AI workflow SOP.</a:t>
            </a:r>
            <a:endParaRPr lang="en-US" sz="2100" dirty="0"/>
          </a:p>
          <a:p>
            <a:r>
              <a:rPr lang="en-US" sz="2100" dirty="0">
                <a:solidFill>
                  <a:srgbClr val="17364A"/>
                </a:solidFill>
                <a:latin typeface="Aptos" pitchFamily="34" charset="0"/>
                <a:ea typeface="Aptos" pitchFamily="34" charset="-122"/>
                <a:cs typeface="Aptos" pitchFamily="34" charset="-120"/>
              </a:rPr>
              <a:t>Define human review, documentation, override, escalation, and fallback expectations.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2100" dirty="0"/>
          </a:p>
          <a:p>
            <a:r>
              <a:rPr lang="en-US" sz="2100" dirty="0">
                <a:solidFill>
                  <a:srgbClr val="17364A"/>
                </a:solidFill>
                <a:latin typeface="Aptos" pitchFamily="34" charset="0"/>
                <a:ea typeface="Aptos" pitchFamily="34" charset="-122"/>
                <a:cs typeface="Aptos" pitchFamily="34" charset="-120"/>
              </a:rPr>
              <a:t>It describes how staff should use an approved AI-supported workflow, what they are responsible for.</a:t>
            </a:r>
            <a:endParaRPr lang="en-US" sz="2100" dirty="0"/>
          </a:p>
          <a:p>
            <a:r>
              <a:rPr lang="en-US" sz="2100" dirty="0">
                <a:solidFill>
                  <a:srgbClr val="17364A"/>
                </a:solidFill>
                <a:latin typeface="Aptos" pitchFamily="34" charset="0"/>
                <a:ea typeface="Aptos" pitchFamily="34" charset="-122"/>
                <a:cs typeface="Aptos" pitchFamily="34" charset="-120"/>
              </a:rPr>
              <a:t>In public health, SOPs are especially important because AI outputs may influence surveillance,.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workflow standard operating procedure translates AI policy into day-to-day practice.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2100" dirty="0"/>
          </a:p>
          <a:p>
            <a:r>
              <a:rPr lang="en-US" sz="2100" dirty="0">
                <a:solidFill>
                  <a:srgbClr val="17364A"/>
                </a:solidFill>
                <a:latin typeface="Aptos" pitchFamily="34" charset="0"/>
                <a:ea typeface="Aptos" pitchFamily="34" charset="-122"/>
                <a:cs typeface="Aptos" pitchFamily="34" charset="-120"/>
              </a:rPr>
              <a:t>The SOP explains which complaint types are eligible, which data fields may be used, how staff must.</a:t>
            </a:r>
            <a:endParaRPr lang="en-US" sz="2100" dirty="0"/>
          </a:p>
          <a:p>
            <a:r>
              <a:rPr lang="en-US" sz="2100" dirty="0">
                <a:solidFill>
                  <a:srgbClr val="17364A"/>
                </a:solidFill>
                <a:latin typeface="Aptos" pitchFamily="34" charset="0"/>
                <a:ea typeface="Aptos" pitchFamily="34" charset="-122"/>
                <a:cs typeface="Aptos" pitchFamily="34" charset="-120"/>
              </a:rPr>
              <a:t>The SOP also explains that the tool may not issue inspection decisions, enforcement recommendations,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approves an AI tool to draft summaries of environmental health complaints.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An AI SOP should begin with scope.</a:t>
            </a:r>
            <a:endParaRPr lang="en-US" sz="2100" dirty="0"/>
          </a:p>
          <a:p>
            <a:r>
              <a:rPr lang="en-US" sz="2100" dirty="0">
                <a:solidFill>
                  <a:srgbClr val="17364A"/>
                </a:solidFill>
                <a:latin typeface="Aptos" pitchFamily="34" charset="0"/>
                <a:ea typeface="Aptos" pitchFamily="34" charset="-122"/>
                <a:cs typeface="Aptos" pitchFamily="34" charset="-120"/>
              </a:rPr>
              <a:t>The scope explains which workflow the SOP covers, which staff roles may use the tool, which systems or.</a:t>
            </a:r>
            <a:endParaRPr lang="en-US" sz="2100" dirty="0"/>
          </a:p>
          <a:p>
            <a:r>
              <a:rPr lang="en-US" sz="2100" dirty="0">
                <a:solidFill>
                  <a:srgbClr val="17364A"/>
                </a:solidFill>
                <a:latin typeface="Aptos" pitchFamily="34" charset="0"/>
                <a:ea typeface="Aptos" pitchFamily="34" charset="-122"/>
                <a:cs typeface="Aptos" pitchFamily="34" charset="-120"/>
              </a:rPr>
              <a:t>Scope is important because many AI tools can technically perform more tasks than the agency has approved.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An AI SOP should begin with scope.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SOPs should be maintained as living documents.</a:t>
            </a:r>
            <a:endParaRPr lang="en-US" sz="2100" dirty="0"/>
          </a:p>
          <a:p>
            <a:r>
              <a:rPr lang="en-US" sz="2100" dirty="0">
                <a:solidFill>
                  <a:srgbClr val="17364A"/>
                </a:solidFill>
                <a:latin typeface="Aptos" pitchFamily="34" charset="0"/>
                <a:ea typeface="Aptos" pitchFamily="34" charset="-122"/>
                <a:cs typeface="Aptos" pitchFamily="34" charset="-120"/>
              </a:rPr>
              <a:t>AI workflows may change when policies, data feeds, models, prompts, vendors, or public health.</a:t>
            </a:r>
            <a:endParaRPr lang="en-US" sz="2100" dirty="0"/>
          </a:p>
          <a:p>
            <a:r>
              <a:rPr lang="en-US" sz="2100" dirty="0">
                <a:solidFill>
                  <a:srgbClr val="17364A"/>
                </a:solidFill>
                <a:latin typeface="Aptos" pitchFamily="34" charset="0"/>
                <a:ea typeface="Aptos" pitchFamily="34" charset="-122"/>
                <a:cs typeface="Aptos" pitchFamily="34" charset="-120"/>
              </a:rPr>
              <a:t>SOP ownership, review frequency, and change control should be documented so the procedure remains.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SOPs should be maintained as living documents.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Risks and failure modes include the following:</a:t>
            </a:r>
            <a:endParaRPr lang="en-US" sz="2100" dirty="0"/>
          </a:p>
          <a:p>
            <a:r>
              <a:rPr lang="en-US" sz="2100" dirty="0">
                <a:solidFill>
                  <a:srgbClr val="17364A"/>
                </a:solidFill>
                <a:latin typeface="Aptos" pitchFamily="34" charset="0"/>
                <a:ea typeface="Aptos" pitchFamily="34" charset="-122"/>
                <a:cs typeface="Aptos" pitchFamily="34" charset="-120"/>
              </a:rPr>
              <a:t>Staff applying an AI tool beyond the approved workflow.</a:t>
            </a:r>
            <a:endParaRPr lang="en-US" sz="2100" dirty="0"/>
          </a:p>
          <a:p>
            <a:r>
              <a:rPr lang="en-US" sz="2100" dirty="0">
                <a:solidFill>
                  <a:srgbClr val="17364A"/>
                </a:solidFill>
                <a:latin typeface="Aptos" pitchFamily="34" charset="0"/>
                <a:ea typeface="Aptos" pitchFamily="34" charset="-122"/>
                <a:cs typeface="Aptos" pitchFamily="34" charset="-120"/>
              </a:rPr>
              <a:t>Outputs being copied into official records without required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Risks and failure modes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Errors, bias concerns, or privacy issues not being escalated.</a:t>
            </a:r>
            <a:endParaRPr lang="en-US" sz="2100" dirty="0"/>
          </a:p>
          <a:p>
            <a:r>
              <a:rPr lang="en-US" sz="2100" dirty="0">
                <a:solidFill>
                  <a:srgbClr val="17364A"/>
                </a:solidFill>
                <a:latin typeface="Aptos" pitchFamily="34" charset="0"/>
                <a:ea typeface="Aptos" pitchFamily="34" charset="-122"/>
                <a:cs typeface="Aptos" pitchFamily="34" charset="-120"/>
              </a:rPr>
              <a:t>No fallback process when the tool fails or is unavailable.</a:t>
            </a:r>
            <a:endParaRPr lang="en-US" sz="2100" dirty="0"/>
          </a:p>
          <a:p>
            <a:r>
              <a:rPr lang="en-US" sz="2100" dirty="0">
                <a:solidFill>
                  <a:srgbClr val="17364A"/>
                </a:solidFill>
                <a:latin typeface="Aptos" pitchFamily="34" charset="0"/>
                <a:ea typeface="Aptos" pitchFamily="34" charset="-122"/>
                <a:cs typeface="Aptos" pitchFamily="34" charset="-120"/>
              </a:rPr>
              <a:t>Outdated SOPs that no longer match the deployed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Errors, bias concerns, or privacy issues not being escalated.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Recommended guardrails include the following:</a:t>
            </a:r>
            <a:endParaRPr lang="en-US" sz="2100" dirty="0"/>
          </a:p>
          <a:p>
            <a:r>
              <a:rPr lang="en-US" sz="2100" dirty="0">
                <a:solidFill>
                  <a:srgbClr val="17364A"/>
                </a:solidFill>
                <a:latin typeface="Aptos" pitchFamily="34" charset="0"/>
                <a:ea typeface="Aptos" pitchFamily="34" charset="-122"/>
                <a:cs typeface="Aptos" pitchFamily="34" charset="-120"/>
              </a:rPr>
              <a:t>Create a workflow-specific SOP for each approved AI use.</a:t>
            </a:r>
            <a:endParaRPr lang="en-US" sz="2100" dirty="0"/>
          </a:p>
          <a:p>
            <a:r>
              <a:rPr lang="en-US" sz="2100" dirty="0">
                <a:solidFill>
                  <a:srgbClr val="17364A"/>
                </a:solidFill>
                <a:latin typeface="Aptos" pitchFamily="34" charset="0"/>
                <a:ea typeface="Aptos" pitchFamily="34" charset="-122"/>
                <a:cs typeface="Aptos" pitchFamily="34" charset="-120"/>
              </a:rPr>
              <a:t>Define allowed uses, prohibited uses, human review, and documentation requirements.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Recommended guardrails include the following: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Require staff training before independent use.</a:t>
            </a:r>
            <a:endParaRPr lang="en-US" sz="2100" dirty="0"/>
          </a:p>
          <a:p>
            <a:r>
              <a:rPr lang="en-US" sz="2100" dirty="0">
                <a:solidFill>
                  <a:srgbClr val="17364A"/>
                </a:solidFill>
                <a:latin typeface="Aptos" pitchFamily="34" charset="0"/>
                <a:ea typeface="Aptos" pitchFamily="34" charset="-122"/>
                <a:cs typeface="Aptos" pitchFamily="34" charset="-120"/>
              </a:rPr>
              <a:t>Include override, escalation, and fallback procedures.</a:t>
            </a:r>
            <a:endParaRPr lang="en-US" sz="2100" dirty="0"/>
          </a:p>
          <a:p>
            <a:r>
              <a:rPr lang="en-US" sz="2100" dirty="0">
                <a:solidFill>
                  <a:srgbClr val="17364A"/>
                </a:solidFill>
                <a:latin typeface="Aptos" pitchFamily="34" charset="0"/>
                <a:ea typeface="Aptos" pitchFamily="34" charset="-122"/>
                <a:cs typeface="Aptos" pitchFamily="34" charset="-120"/>
              </a:rPr>
              <a:t>Review SOPs after incidents, major updates, or policy changes.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Require staff training before independent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Where does this topic appear in your agency, program, or workflow?</a:t>
            </a:r>
            <a:endParaRPr lang="en-US" sz="2100" dirty="0"/>
          </a:p>
          <a:p>
            <a:r>
              <a:rPr lang="en-US" sz="2100" dirty="0">
                <a:solidFill>
                  <a:srgbClr val="17364A"/>
                </a:solidFill>
                <a:latin typeface="Aptos" pitchFamily="34" charset="0"/>
                <a:ea typeface="Aptos" pitchFamily="34" charset="-122"/>
                <a:cs typeface="Aptos" pitchFamily="34" charset="-120"/>
              </a:rPr>
              <a:t>Which staff roles would need to understand or apply this concept before AI use is approved?</a:t>
            </a:r>
            <a:endParaRPr lang="en-US" sz="2100" dirty="0"/>
          </a:p>
          <a:p>
            <a:r>
              <a:rPr lang="en-US" sz="2100" dirty="0">
                <a:solidFill>
                  <a:srgbClr val="17364A"/>
                </a:solidFill>
                <a:latin typeface="Aptos" pitchFamily="34" charset="0"/>
                <a:ea typeface="Aptos" pitchFamily="34" charset="-122"/>
                <a:cs typeface="Aptos" pitchFamily="34" charset="-120"/>
              </a:rPr>
              <a:t>What could go wrong if this topic is not addressed before implementation?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2100" dirty="0"/>
          </a:p>
          <a:p>
            <a:r>
              <a:rPr lang="en-US" sz="2100" dirty="0">
                <a:solidFill>
                  <a:srgbClr val="17364A"/>
                </a:solidFill>
                <a:latin typeface="Aptos" pitchFamily="34" charset="0"/>
                <a:ea typeface="Aptos" pitchFamily="34" charset="-122"/>
                <a:cs typeface="Aptos" pitchFamily="34" charset="-120"/>
              </a:rPr>
              <a:t>Which policy, data, equity, privacy, security, or workflow questions remain unresolved?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evidence would governance, leadership, or operations staff need before moving forward?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2100" dirty="0"/>
          </a:p>
          <a:p>
            <a:r>
              <a:rPr lang="en-US" sz="2100" dirty="0">
                <a:solidFill>
                  <a:srgbClr val="17364A"/>
                </a:solidFill>
                <a:latin typeface="Aptos" pitchFamily="34" charset="0"/>
                <a:ea typeface="Aptos" pitchFamily="34" charset="-122"/>
                <a:cs typeface="Aptos" pitchFamily="34" charset="-120"/>
              </a:rPr>
              <a:t>The SOP should include purpose, scope, roles, allowed uses, prohibited uses, step-by-step workflow,.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fallback process</a:t>
            </a:r>
            <a:endParaRPr lang="en-US" sz="2100" dirty="0"/>
          </a:p>
          <a:p>
            <a:r>
              <a:rPr lang="en-US" sz="2100" dirty="0">
                <a:solidFill>
                  <a:srgbClr val="17364A"/>
                </a:solidFill>
                <a:latin typeface="Aptos" pitchFamily="34" charset="0"/>
                <a:ea typeface="Aptos" pitchFamily="34" charset="-122"/>
                <a:cs typeface="Aptos" pitchFamily="34" charset="-120"/>
              </a:rPr>
              <a:t>Review and maintenance schedule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fallback process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Draft AI workflow SOP</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matrix</a:t>
            </a:r>
            <a:endParaRPr lang="en-US" sz="2100" dirty="0"/>
          </a:p>
          <a:p>
            <a:r>
              <a:rPr lang="en-US" sz="2100" dirty="0">
                <a:solidFill>
                  <a:srgbClr val="17364A"/>
                </a:solidFill>
                <a:latin typeface="Aptos" pitchFamily="34" charset="0"/>
                <a:ea typeface="Aptos" pitchFamily="34" charset="-122"/>
                <a:cs typeface="Aptos" pitchFamily="34" charset="-120"/>
              </a:rPr>
              <a:t>Allowed/prohibited use section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Draft AI workflow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2100" dirty="0"/>
          </a:p>
          <a:p>
            <a:r>
              <a:rPr lang="en-US" sz="2100" dirty="0">
                <a:solidFill>
                  <a:srgbClr val="17364A"/>
                </a:solidFill>
                <a:latin typeface="Aptos" pitchFamily="34" charset="0"/>
                <a:ea typeface="Aptos" pitchFamily="34" charset="-122"/>
                <a:cs typeface="Aptos" pitchFamily="34" charset="-120"/>
              </a:rPr>
              <a:t>2. What is an override?</a:t>
            </a:r>
            <a:endParaRPr lang="en-US" sz="2100" dirty="0"/>
          </a:p>
          <a:p>
            <a:r>
              <a:rPr lang="en-US" sz="2100" dirty="0">
                <a:solidFill>
                  <a:srgbClr val="17364A"/>
                </a:solidFill>
                <a:latin typeface="Aptos" pitchFamily="34" charset="0"/>
                <a:ea typeface="Aptos" pitchFamily="34" charset="-122"/>
                <a:cs typeface="Aptos" pitchFamily="34" charset="-120"/>
              </a:rPr>
              <a:t>3. Which item should an AI SOP include?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does an approved AI tool still need a workflow-specific SOP?</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Relevant public health program SOPs, data governance documentation, and implementation plans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2026-07-13T01:54:45Z</dcterms:created>
  <dcterms:modified xsi:type="dcterms:W3CDTF">2026-07-13T01:54:45Z</dcterms:modified>
</cp:coreProperties>
</file>