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notesMasterIdLst>
    <p:notesMasterId r:id="rId2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ANL 300 Advanced Model Validation and Evaluation for Public Health AI
Model validation is the process of determining whether an AI tool performs adequately for its intended use, population, setting, data sources, and workflow. Basic validation asks whether the tool works at all. Advanced validation asks whether it works well enough, for whom, under what conditions, with what limitations, and with what monitoring requirements. This module extends foundational validation content by focusing on metrics, subgroup performance, calibration, external validation, workflow validation, error review, drift monitoring, and documentation. Public health agencies need this deeper level of validation when AI outputs may influence investigation, outreach, resource allocation, public communication, or operational prioritization. Learners will develop a validation plan that connects technical performance to public health consequences. The goal is to evaluate not only the model, but the full AI-supported workflow.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Context
Level: intermediate/practitioner
Primary track: Analytics and Modeling Track
Appears in tracks: analytics-modeling
Model validation is the process of determining whether an AI tool performs adequately for its intended use, population, setting, data sources, and workflow. Basic validation asks whether the tool works at all. Advanced validation asks whether it works well enough, for whom, under what conditions, with what limitations, and with what monitoring requirements. This module extends foundational validation content by focusing on metrics, subgroup performance, calibration, external validation, workflow validation, error review, drift monitoring, and documentation. Public health agencies need this deeper level of validation when AI outputs may influence investigation, outreach, resource allocation, public communication, or operational prioritization. Learners will develop a validation plan that connects technical performance to public health consequences. The goal is to evaluate not only the model, but the full AI-supported workflow.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Related Playbook Plays
Play 13: Monitor and Evaluate AI Systems - This lesson informs Play 13 by helping learners connect the lesson topic to monitor and evaluate ai systems work in the AI Playbook.
Play 12: Execute Governance and Oversight - This lesson informs Play 12 by helping learners connect the lesson topic to execute governance and oversight work in the AI Playbook.
Play 11: Build and Deploy AI Solutions - This lesson informs Play 11 by helping learners connect the lesson topic to build and deploy ai solutions work in the AI Playbook.
Play 3: Establish AI Governance - This lesson informs Play 3 by helping learners connect the lesson topic to establish ai governance work in the AI Playbook sequence.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Related Toolkit Resources
Tool 44: Performance Monitoring Dashboard (Dashboard) - Use this tool to complete or strengthen the practical exercise for the module using fictional, de-identified, or generalized.
Tool 45: Continuous Improvement Log (Log) - Use Continuous Improvement Log to translate this lesson into a documented public health AI planning, governance, implementation,.
Tool 48: AI Evaluation &amp; Outcomes Reporting (Template) - Use this tool to complete or strengthen the practical exercise for the module using fictional, de-identified, or generalized.
Tool 13: AI Use Case Intake, Risk Review, and System Inventory Template (Template) - Use AI Use Case Intake, Risk Review, and System Inventory Template to translate this lesson into a documented public health AI.
Tool 16: Incident Response Checklist (Checklist) - Use Incident Response Checklist to translate this lesson into a documented public health AI planning, governance,.
Tool 17: Compliance Audit Checklist (Checklist) - Use Compliance Audit Checklist to translate this lesson into a documented public health AI planning, governance, implementation,.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Learning Objectives
Describe the purpose of advanced model validation in public health AI.
Interpret sensitivity, specificity, positive predictive value, negative predictive value, precision, recall, F1 score, calibration, and subgroup performance.
Distinguish internal validation, external validation, and workflow validation.
Identify when model performance is insufficient for the intended use.
Design monitoring for drift, degradation, error patterns, and unintended consequences.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Learning Objectives
Produce an advanced validation plan for an AI-supported workflow.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Overview
Model validation is the process of determining whether an AI tool performs adequately for its intended use, population, setting, data sources, and workflow. Basic validation asks whether the tool works at all. Advanced validation asks whether it works well enough, for whom, under what conditions, with what limitations, and with what monitoring requirements.
This module extends foundational validation content by focusing on metrics, subgroup performance, calibration, external validation, workflow validation, error review, drift monitoring, and documentation. Public health agencies need this deeper level of validation when AI outputs may influence investigation, outreach, resource allocation, public communication, or operational prioritization.
Learners will develop a validation plan that connects technical performance to public health consequences. The goal is to evaluate not only the model, but the full AI-supported workflow.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This Topic Matters for Public Health AI
Validation matters because public health AI tools can appear credible even when they are not fit for operational use. A polished dashboard, confident generated text, or high overall accuracy score does not prove that the tool is safe, equitable, or useful. Public health staff need to evaluate performance in relation to the specific task and the consequences of error.
Model performance is context-dependent. A tool that performs well in one health system or state may fail in another because of different data sources, coding practices, populations, workflows, or reporting laws. A tool that performs well during development may degrade when disease patterns change or new providers begin reporting. Validation must therefore include local or context-specific testing whenever possible.
Advanced validation also requires attention to equity. Overall performance can hide poor performance for small populations, language groups, rural communities, people with unstable housing, or communities with limited healthcare access. Public health validation should examine subgroup performance and data representativeness before AI outputs influence priority setting or resource allocation.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Public Health Example
A public health agency may test a model that identifies incoming case reports likely to require expedited review. Overall accuracy may be high, but that number alone is not enough. Staff need to know whether the model misses rare but severe conditions, whether it performs differently across facilities, whether it over-flags reports from certain communities, and whether users understand how to act on the output.
The agency should validate the model on recent local data, review errors with epidemiologists, test the workflow with actual users, and monitor override patterns after pilot deployment. If the model performs well technically but creates too many alerts for available staff, the workflow may still fail. Validation must include operational fit.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Technical Deep Dive
Metric selection should start with the public health consequence. Sensitivity may be prioritized when missing a true event is dangerous. Specificity may be prioritized when false positives create substantial burden or unnecessary intervention. Precision and positive predictive value matter when staff act on positive flags. Calibration matters when scores are interpreted as probabilities.
Confusion matrices are useful because they show true positives, false positives, true negatives, and false negatives. Public health teams should translate each cell into operational meaning. A false negative may mean a delayed investigation. A false positive may mean staff time diverted from other work. A true positive may mean earlier action. A true negative may mean confidence to continue routine processing.
External validation is essential when a model will be used outside its development context. Testing on a new jurisdiction, time period, data source, or population can reveal performance problems that internal validation missed. When external validation is not possible before pilot testing, agencies should begin with limited deployment, close monitoring, and conservative 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Technical Deep Dive
Workflow validation examines whether the AI output is understandable, accessible, timely, actionable, and used as intended. A model can be statistically strong but operationally weak if staff do not trust it, cannot see supporting data, cannot override it, or receive alerts too late. Workflow validation should include usability testing, training, documentation, and feedback loops.
Post-deployment validation should be planned before launch. Agencies should define monitoring indicators, review frequency, escalation triggers, and authority to pause use. Monitoring should include performance drift, subgroup changes, user override rates, incident reports, data feed changes, and public health outcomes where appropriate.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Risks, Failure Modes, and Guardrails
Misleading aggregate performance. Overall metrics may hide poor subgroup performance. Guardrails include subgroup testing and equity review.
Metric mismatch. The selected metric may not match the public health consequence. Guardrails include metric selection tied to intended use and error consequences.
Lack of external validation. Models may fail in new settings. Guardrails include local testing, limited pilots, and monitoring.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Risks, Failure Modes, and Guardrails
Workflow failure. A technically accurate model may be unusable or misused. Guardrails include usability testing, training, source visibility, and override documentation.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Application to AI-Supported Workflows
Advanced validation applies to predictive models, NLP tools, generative summaries, RAG outputs, and agentic workflows. For generative AI, validation may include factuality, completeness, source grounding, omissions, and harmful output review. For RAG, validation should test retrieval quality and citation accuracy. For agentic workflows, validation should include action safety, permission boundaries, and rollback procedures.
The evaluation unit should be the AI-supported workflow, not the model alone. Public health agencies should ask whether the full process improves timeliness, quality, equity, safety, and staff experience without creating unacceptable risk.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Reflection Questions
What decision or action will the AI output support?
Which performance metrics match the consequences of error?
Which subgroups, data sources, or settings require separate review?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Reflection Questions
What would make performance unacceptable for this use case?
How will the agency monitor performance after deployment?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Practical Exercise
Create an advanced validation plan for one AI-supported workflow. Include intended use, validation dataset, comparison standard, performance metrics, subgroup analysis, error review, workflow testing, user feedback, monitoring indicators, escalation triggers, and documentation requirements.
The plan should clearly explain how validation results will be interpreted and who has authority to approve, limit, pause, or reject the AI 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Artifact or Evidence
Advanced validation plan
Metric and error-consequence table
Subgroup performance review plan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Artifact or Evidence
Post-deployment monitoring schedule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Assignment
Advanced validation plan
Metric and error-consequence table
Subgroup performance review plan
Post-deployment monitoring schedule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Knowledge Check
1. Why can overall accuracy be misleading?
2. What is workflow validation?
3. Which metric is especially important when missed true events could cause harm?
4. What does external validation test?
5. What should an advanced validation plan include?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References and Resources
NIST Artificial Intelligence Risk Management Framework: https://www.nist.gov/itl/ai-risk-management-framework
NIST AI RMF Generative AI Profile: https://www.nist.gov/publications/artificial-intelligence-risk-management-framework-generative-artificial-intelligence
CDC Evaluation Framework: https://www.cdc.gov/evaluation/
WHO Guidance on Large Multi-Modal Models: https://www.who.int/publications/i/item/9789240084759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7FBFD"/>
          </a:solidFill>
          <a:ln w="12700">
            <a:solidFill>
              <a:srgbClr val="F7FBFD"/>
            </a:solidFill>
            <a:prstDash val="solid"/>
          </a:ln>
        </p:spPr>
      </p:sp>
      <p:pic>
        <p:nvPicPr>
          <p:cNvPr id="3" name="Image 0" descr="C:\Users\paula\Documents\Codex\2026-06-30\files-mentioned-by-the-user-ai\outputs\ai-playbook-site\assets\ai-playbook-logo-public-health.png">    </p:cNvPr>
          <p:cNvPicPr>
            <a:picLocks noChangeAspect="1"/>
          </p:cNvPicPr>
          <p:nvPr/>
        </p:nvPicPr>
        <p:blipFill>
          <a:blip r:embed="rId1"/>
          <a:stretch>
            <a:fillRect/>
          </a:stretch>
        </p:blipFill>
        <p:spPr>
          <a:xfrm>
            <a:off x="713232" y="566928"/>
            <a:ext cx="1353312" cy="1353312"/>
          </a:xfrm>
          <a:prstGeom prst="rect">
            <a:avLst/>
          </a:prstGeom>
        </p:spPr>
      </p:pic>
      <p:sp>
        <p:nvSpPr>
          <p:cNvPr id="4" name="Shape 1"/>
          <p:cNvSpPr/>
          <p:nvPr/>
        </p:nvSpPr>
        <p:spPr>
          <a:xfrm>
            <a:off x="713232" y="2240280"/>
            <a:ext cx="10698480" cy="0"/>
          </a:xfrm>
          <a:prstGeom prst="line">
            <a:avLst/>
          </a:prstGeom>
          <a:noFill/>
          <a:ln w="25400">
            <a:solidFill>
              <a:srgbClr val="2F8A28"/>
            </a:solidFill>
            <a:prstDash val="solid"/>
          </a:ln>
        </p:spPr>
      </p:sp>
      <p:sp>
        <p:nvSpPr>
          <p:cNvPr id="5" name="Text 2"/>
          <p:cNvSpPr/>
          <p:nvPr/>
        </p:nvSpPr>
        <p:spPr>
          <a:xfrm>
            <a:off x="749808" y="2487168"/>
            <a:ext cx="2926080" cy="274320"/>
          </a:xfrm>
          <a:prstGeom prst="rect">
            <a:avLst/>
          </a:prstGeom>
          <a:noFill/>
          <a:ln/>
        </p:spPr>
        <p:txBody>
          <a:bodyPr wrap="square" lIns="0" tIns="0" rIns="0" bIns="0" rtlCol="0" anchor="ctr"/>
          <a:lstStyle/>
          <a:p>
            <a:pPr indent="0" marL="0">
              <a:buNone/>
            </a:pPr>
            <a:r>
              <a:rPr lang="en-US" sz="1400" b="1" dirty="0">
                <a:solidFill>
                  <a:srgbClr val="2F8A28"/>
                </a:solidFill>
                <a:latin typeface="Aptos" pitchFamily="34" charset="0"/>
                <a:ea typeface="Aptos" pitchFamily="34" charset="-122"/>
                <a:cs typeface="Aptos" pitchFamily="34" charset="-120"/>
              </a:rPr>
              <a:t>ANL 300</a:t>
            </a:r>
            <a:endParaRPr lang="en-US" sz="1400" dirty="0"/>
          </a:p>
        </p:txBody>
      </p:sp>
      <p:sp>
        <p:nvSpPr>
          <p:cNvPr id="6" name="Text 3"/>
          <p:cNvSpPr/>
          <p:nvPr/>
        </p:nvSpPr>
        <p:spPr>
          <a:xfrm>
            <a:off x="713232" y="2816352"/>
            <a:ext cx="10607040" cy="868680"/>
          </a:xfrm>
          <a:prstGeom prst="rect">
            <a:avLst/>
          </a:prstGeom>
          <a:noFill/>
          <a:ln/>
        </p:spPr>
        <p:txBody>
          <a:bodyPr wrap="square" lIns="0" tIns="0" rIns="0" bIns="0" rtlCol="0" anchor="ctr">
            <a:normAutofit/>
          </a:bodyPr>
          <a:lstStyle/>
          <a:p>
            <a:pPr indent="0" marL="0">
              <a:buNone/>
            </a:pPr>
            <a:r>
              <a:rPr lang="en-US" sz="3200" b="1" dirty="0">
                <a:solidFill>
                  <a:srgbClr val="003A63"/>
                </a:solidFill>
                <a:latin typeface="Aptos Display" pitchFamily="34" charset="0"/>
                <a:ea typeface="Aptos Display" pitchFamily="34" charset="-122"/>
                <a:cs typeface="Aptos Display" pitchFamily="34" charset="-120"/>
              </a:rPr>
              <a:t>Advanced Model Validation and Evaluation for Public Health AI</a:t>
            </a:r>
            <a:endParaRPr lang="en-US" sz="3200" dirty="0"/>
          </a:p>
        </p:txBody>
      </p:sp>
      <p:sp>
        <p:nvSpPr>
          <p:cNvPr id="7" name="Text 4"/>
          <p:cNvSpPr/>
          <p:nvPr/>
        </p:nvSpPr>
        <p:spPr>
          <a:xfrm>
            <a:off x="749808" y="3968496"/>
            <a:ext cx="8686800" cy="320040"/>
          </a:xfrm>
          <a:prstGeom prst="rect">
            <a:avLst/>
          </a:prstGeom>
          <a:noFill/>
          <a:ln/>
        </p:spPr>
        <p:txBody>
          <a:bodyPr wrap="square" lIns="0" tIns="0" rIns="0" bIns="0" rtlCol="0" anchor="ctr"/>
          <a:lstStyle/>
          <a:p>
            <a:pPr indent="0" marL="0">
              <a:buNone/>
            </a:pPr>
            <a:r>
              <a:rPr lang="en-US" sz="1800" dirty="0">
                <a:solidFill>
                  <a:srgbClr val="17364A"/>
                </a:solidFill>
                <a:latin typeface="Aptos" pitchFamily="34" charset="0"/>
                <a:ea typeface="Aptos" pitchFamily="34" charset="-122"/>
                <a:cs typeface="Aptos" pitchFamily="34" charset="-120"/>
              </a:rPr>
              <a:t>AI Playbook and Toolkit for Public Health Departments</a:t>
            </a:r>
            <a:endParaRPr lang="en-US" sz="1800" dirty="0"/>
          </a:p>
        </p:txBody>
      </p:sp>
      <p:sp>
        <p:nvSpPr>
          <p:cNvPr id="8"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Advanced Model Validation and Evaluation for Public Health AI</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What this module helps you do</a:t>
            </a:r>
            <a:endParaRPr lang="en-US" sz="3400" dirty="0"/>
          </a:p>
        </p:txBody>
      </p:sp>
      <p:sp>
        <p:nvSpPr>
          <p:cNvPr id="9" name="Text 7"/>
          <p:cNvSpPr/>
          <p:nvPr/>
        </p:nvSpPr>
        <p:spPr>
          <a:xfrm>
            <a:off x="868680" y="1508760"/>
            <a:ext cx="6446520" cy="292608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Model validation is the process of determining whether an AI tool performs adequately for its intended use,.</a:t>
            </a:r>
            <a:endParaRPr lang="en-US" sz="2100" dirty="0"/>
          </a:p>
          <a:p>
            <a:r>
              <a:rPr lang="en-US" sz="2100" dirty="0">
                <a:solidFill>
                  <a:srgbClr val="17364A"/>
                </a:solidFill>
                <a:latin typeface="Aptos" pitchFamily="34" charset="0"/>
                <a:ea typeface="Aptos" pitchFamily="34" charset="-122"/>
                <a:cs typeface="Aptos" pitchFamily="34" charset="-120"/>
              </a:rPr>
              <a:t>Basic validation asks whether the tool works at all.</a:t>
            </a:r>
            <a:endParaRPr lang="en-US" sz="2100" dirty="0"/>
          </a:p>
          <a:p>
            <a:r>
              <a:rPr lang="en-US" sz="2100" dirty="0">
                <a:solidFill>
                  <a:srgbClr val="17364A"/>
                </a:solidFill>
                <a:latin typeface="Aptos" pitchFamily="34" charset="0"/>
                <a:ea typeface="Aptos" pitchFamily="34" charset="-122"/>
                <a:cs typeface="Aptos" pitchFamily="34" charset="-120"/>
              </a:rPr>
              <a:t>Advanced validation asks whether it works well enough, for whom, under what conditions, with what limitations,.</a:t>
            </a:r>
            <a:endParaRPr lang="en-US" sz="2100" dirty="0"/>
          </a:p>
        </p:txBody>
      </p:sp>
      <p:sp>
        <p:nvSpPr>
          <p:cNvPr id="10" name="Shape 8"/>
          <p:cNvSpPr/>
          <p:nvPr/>
        </p:nvSpPr>
        <p:spPr>
          <a:xfrm>
            <a:off x="7909560" y="1417320"/>
            <a:ext cx="3154680" cy="1920240"/>
          </a:xfrm>
          <a:prstGeom prst="roundRect">
            <a:avLst>
              <a:gd name="adj" fmla="val 5714"/>
            </a:avLst>
          </a:prstGeom>
          <a:solidFill>
            <a:srgbClr val="EAF6F8"/>
          </a:solidFill>
          <a:ln w="12700">
            <a:solidFill>
              <a:srgbClr val="B9D7E6"/>
            </a:solidFill>
            <a:prstDash val="solid"/>
          </a:ln>
        </p:spPr>
      </p:sp>
      <p:sp>
        <p:nvSpPr>
          <p:cNvPr id="11" name="Text 9"/>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Module details</a:t>
            </a:r>
            <a:endParaRPr lang="en-US" sz="1300" dirty="0"/>
          </a:p>
        </p:txBody>
      </p:sp>
      <p:sp>
        <p:nvSpPr>
          <p:cNvPr id="12" name="Text 10"/>
          <p:cNvSpPr/>
          <p:nvPr/>
        </p:nvSpPr>
        <p:spPr>
          <a:xfrm>
            <a:off x="8074152" y="1920240"/>
            <a:ext cx="2825496" cy="128016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Level: intermediate/practitioner</a:t>
            </a:r>
            <a:endParaRPr lang="en-US" sz="1550" dirty="0"/>
          </a:p>
          <a:p>
            <a:pPr indent="0" marL="0">
              <a:buNone/>
            </a:pPr>
            <a:r>
              <a:rPr lang="en-US" sz="1550" dirty="0">
                <a:solidFill>
                  <a:srgbClr val="17364A"/>
                </a:solidFill>
                <a:latin typeface="Aptos" pitchFamily="34" charset="0"/>
                <a:ea typeface="Aptos" pitchFamily="34" charset="-122"/>
                <a:cs typeface="Aptos" pitchFamily="34" charset="-120"/>
              </a:rPr>
              <a:t>Primary track: Analytics and Modeling Track</a:t>
            </a:r>
            <a:endParaRPr lang="en-US" sz="1550" dirty="0"/>
          </a:p>
          <a:p>
            <a:pPr indent="0" marL="0">
              <a:buNone/>
            </a:pPr>
            <a:r>
              <a:rPr lang="en-US" sz="1550" dirty="0">
                <a:solidFill>
                  <a:srgbClr val="17364A"/>
                </a:solidFill>
                <a:latin typeface="Aptos" pitchFamily="34" charset="0"/>
                <a:ea typeface="Aptos" pitchFamily="34" charset="-122"/>
                <a:cs typeface="Aptos" pitchFamily="34" charset="-120"/>
              </a:rPr>
              <a:t>Appears in tracks: analytics-modeling</a:t>
            </a:r>
            <a:endParaRPr lang="en-US" sz="1550" dirty="0"/>
          </a:p>
        </p:txBody>
      </p:sp>
      <p:sp>
        <p:nvSpPr>
          <p:cNvPr id="13" name="Shape 11"/>
          <p:cNvSpPr/>
          <p:nvPr/>
        </p:nvSpPr>
        <p:spPr>
          <a:xfrm>
            <a:off x="7635240" y="3730752"/>
            <a:ext cx="1033272" cy="749808"/>
          </a:xfrm>
          <a:prstGeom prst="roundRect">
            <a:avLst>
              <a:gd name="adj" fmla="val 14634"/>
            </a:avLst>
          </a:prstGeom>
          <a:solidFill>
            <a:srgbClr val="0068B7"/>
          </a:solidFill>
          <a:ln w="12700">
            <a:solidFill>
              <a:srgbClr val="0068B7"/>
            </a:solidFill>
            <a:prstDash val="solid"/>
          </a:ln>
        </p:spPr>
      </p:sp>
      <p:sp>
        <p:nvSpPr>
          <p:cNvPr id="14" name="Text 12"/>
          <p:cNvSpPr/>
          <p:nvPr/>
        </p:nvSpPr>
        <p:spPr>
          <a:xfrm>
            <a:off x="7708392" y="3922776"/>
            <a:ext cx="88696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Learn</a:t>
            </a:r>
            <a:endParaRPr lang="en-US" sz="1500" dirty="0"/>
          </a:p>
        </p:txBody>
      </p:sp>
      <p:sp>
        <p:nvSpPr>
          <p:cNvPr id="15" name="Text 13"/>
          <p:cNvSpPr/>
          <p:nvPr/>
        </p:nvSpPr>
        <p:spPr>
          <a:xfrm>
            <a:off x="8695944" y="3941064"/>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6" name="Shape 14"/>
          <p:cNvSpPr/>
          <p:nvPr/>
        </p:nvSpPr>
        <p:spPr>
          <a:xfrm>
            <a:off x="8924544" y="3730752"/>
            <a:ext cx="1033272" cy="749808"/>
          </a:xfrm>
          <a:prstGeom prst="roundRect">
            <a:avLst>
              <a:gd name="adj" fmla="val 14634"/>
            </a:avLst>
          </a:prstGeom>
          <a:solidFill>
            <a:srgbClr val="2F8A28"/>
          </a:solidFill>
          <a:ln w="12700">
            <a:solidFill>
              <a:srgbClr val="2F8A28"/>
            </a:solidFill>
            <a:prstDash val="solid"/>
          </a:ln>
        </p:spPr>
      </p:sp>
      <p:sp>
        <p:nvSpPr>
          <p:cNvPr id="17" name="Text 15"/>
          <p:cNvSpPr/>
          <p:nvPr/>
        </p:nvSpPr>
        <p:spPr>
          <a:xfrm>
            <a:off x="8997696" y="3922776"/>
            <a:ext cx="88696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Apply</a:t>
            </a:r>
            <a:endParaRPr lang="en-US" sz="1500" dirty="0"/>
          </a:p>
        </p:txBody>
      </p:sp>
      <p:sp>
        <p:nvSpPr>
          <p:cNvPr id="18" name="Text 16"/>
          <p:cNvSpPr/>
          <p:nvPr/>
        </p:nvSpPr>
        <p:spPr>
          <a:xfrm>
            <a:off x="9985248" y="3941064"/>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9" name="Shape 17"/>
          <p:cNvSpPr/>
          <p:nvPr/>
        </p:nvSpPr>
        <p:spPr>
          <a:xfrm>
            <a:off x="10213848" y="3730752"/>
            <a:ext cx="1033272" cy="749808"/>
          </a:xfrm>
          <a:prstGeom prst="roundRect">
            <a:avLst>
              <a:gd name="adj" fmla="val 14634"/>
            </a:avLst>
          </a:prstGeom>
          <a:solidFill>
            <a:srgbClr val="6A4CA3"/>
          </a:solidFill>
          <a:ln w="12700">
            <a:solidFill>
              <a:srgbClr val="6A4CA3"/>
            </a:solidFill>
            <a:prstDash val="solid"/>
          </a:ln>
        </p:spPr>
      </p:sp>
      <p:sp>
        <p:nvSpPr>
          <p:cNvPr id="20" name="Text 18"/>
          <p:cNvSpPr/>
          <p:nvPr/>
        </p:nvSpPr>
        <p:spPr>
          <a:xfrm>
            <a:off x="10287000" y="3922776"/>
            <a:ext cx="88696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Document</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Advanced Model Validation and Evaluation for Public Health AI</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3</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How this module connects to the playbook</a:t>
            </a:r>
            <a:endParaRPr lang="en-US" sz="3400" dirty="0"/>
          </a:p>
        </p:txBody>
      </p:sp>
      <p:sp>
        <p:nvSpPr>
          <p:cNvPr id="9" name="Text 7"/>
          <p:cNvSpPr/>
          <p:nvPr/>
        </p:nvSpPr>
        <p:spPr>
          <a:xfrm>
            <a:off x="868680" y="1508760"/>
            <a:ext cx="6812280" cy="3977640"/>
          </a:xfrm>
          <a:prstGeom prst="rect">
            <a:avLst/>
          </a:prstGeom>
          <a:noFill/>
          <a:ln/>
        </p:spPr>
        <p:txBody>
          <a:bodyPr wrap="square" lIns="635" tIns="635" rIns="635" bIns="635" rtlCol="0" anchor="t">
            <a:normAutofit/>
          </a:bodyPr>
          <a:lstStyle/>
          <a:p>
            <a:r>
              <a:rPr lang="en-US" sz="1900" dirty="0">
                <a:solidFill>
                  <a:srgbClr val="17364A"/>
                </a:solidFill>
                <a:latin typeface="Aptos" pitchFamily="34" charset="0"/>
                <a:ea typeface="Aptos" pitchFamily="34" charset="-122"/>
                <a:cs typeface="Aptos" pitchFamily="34" charset="-120"/>
              </a:rPr>
              <a:t>Play 13: Monitor and Evaluate AI Systems - This lesson informs Play 13 by helping learners connect the.</a:t>
            </a:r>
            <a:endParaRPr lang="en-US" sz="1900" dirty="0"/>
          </a:p>
          <a:p>
            <a:r>
              <a:rPr lang="en-US" sz="1900" dirty="0">
                <a:solidFill>
                  <a:srgbClr val="17364A"/>
                </a:solidFill>
                <a:latin typeface="Aptos" pitchFamily="34" charset="0"/>
                <a:ea typeface="Aptos" pitchFamily="34" charset="-122"/>
                <a:cs typeface="Aptos" pitchFamily="34" charset="-120"/>
              </a:rPr>
              <a:t>Play 12: Execute Governance and Oversight - This lesson informs Play 12 by helping learners connect the.</a:t>
            </a:r>
            <a:endParaRPr lang="en-US" sz="1900" dirty="0"/>
          </a:p>
          <a:p>
            <a:r>
              <a:rPr lang="en-US" sz="1900" dirty="0">
                <a:solidFill>
                  <a:srgbClr val="17364A"/>
                </a:solidFill>
                <a:latin typeface="Aptos" pitchFamily="34" charset="0"/>
                <a:ea typeface="Aptos" pitchFamily="34" charset="-122"/>
                <a:cs typeface="Aptos" pitchFamily="34" charset="-120"/>
              </a:rPr>
              <a:t>Play 11: Build and Deploy AI Solutions - This lesson informs Play 11 by helping learners connect the lesson.</a:t>
            </a:r>
            <a:endParaRPr lang="en-US" sz="1900" dirty="0"/>
          </a:p>
          <a:p>
            <a:r>
              <a:rPr lang="en-US" sz="1900" dirty="0">
                <a:solidFill>
                  <a:srgbClr val="17364A"/>
                </a:solidFill>
                <a:latin typeface="Aptos" pitchFamily="34" charset="0"/>
                <a:ea typeface="Aptos" pitchFamily="34" charset="-122"/>
                <a:cs typeface="Aptos" pitchFamily="34" charset="-120"/>
              </a:rPr>
              <a:t>Play 3: Establish AI Governance - This lesson informs Play 3 by helping learners connect the lesson topic to.</a:t>
            </a:r>
            <a:endParaRPr lang="en-US" sz="1900" dirty="0"/>
          </a:p>
        </p:txBody>
      </p:sp>
      <p:sp>
        <p:nvSpPr>
          <p:cNvPr id="10" name="Shape 8"/>
          <p:cNvSpPr/>
          <p:nvPr/>
        </p:nvSpPr>
        <p:spPr>
          <a:xfrm>
            <a:off x="8046720" y="1417320"/>
            <a:ext cx="3063240" cy="2103120"/>
          </a:xfrm>
          <a:prstGeom prst="roundRect">
            <a:avLst>
              <a:gd name="adj" fmla="val 5217"/>
            </a:avLst>
          </a:prstGeom>
          <a:solidFill>
            <a:srgbClr val="EEF8ED"/>
          </a:solidFill>
          <a:ln w="12700">
            <a:solidFill>
              <a:srgbClr val="B9D7E6"/>
            </a:solidFill>
            <a:prstDash val="solid"/>
          </a:ln>
        </p:spPr>
      </p:sp>
      <p:sp>
        <p:nvSpPr>
          <p:cNvPr id="11" name="Text 9"/>
          <p:cNvSpPr/>
          <p:nvPr/>
        </p:nvSpPr>
        <p:spPr>
          <a:xfrm>
            <a:off x="8211312" y="1563624"/>
            <a:ext cx="273405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Apply the lesson</a:t>
            </a:r>
            <a:endParaRPr lang="en-US" sz="1300" dirty="0"/>
          </a:p>
        </p:txBody>
      </p:sp>
      <p:sp>
        <p:nvSpPr>
          <p:cNvPr id="12" name="Text 10"/>
          <p:cNvSpPr/>
          <p:nvPr/>
        </p:nvSpPr>
        <p:spPr>
          <a:xfrm>
            <a:off x="8211312" y="1920240"/>
            <a:ext cx="2734056" cy="146304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Use the related plays to identify decisions, participants, timing, approvals, and documentation needed for responsible implementation.</a:t>
            </a:r>
            <a:endParaRPr lang="en-US" sz="1550" dirty="0"/>
          </a:p>
        </p:txBody>
      </p:sp>
      <p:sp>
        <p:nvSpPr>
          <p:cNvPr id="13" name="Shape 11"/>
          <p:cNvSpPr/>
          <p:nvPr/>
        </p:nvSpPr>
        <p:spPr>
          <a:xfrm>
            <a:off x="7818120" y="3977640"/>
            <a:ext cx="972312" cy="749808"/>
          </a:xfrm>
          <a:prstGeom prst="roundRect">
            <a:avLst>
              <a:gd name="adj" fmla="val 14634"/>
            </a:avLst>
          </a:prstGeom>
          <a:solidFill>
            <a:srgbClr val="0068B7"/>
          </a:solidFill>
          <a:ln w="12700">
            <a:solidFill>
              <a:srgbClr val="0068B7"/>
            </a:solidFill>
            <a:prstDash val="solid"/>
          </a:ln>
        </p:spPr>
      </p:sp>
      <p:sp>
        <p:nvSpPr>
          <p:cNvPr id="14" name="Text 12"/>
          <p:cNvSpPr/>
          <p:nvPr/>
        </p:nvSpPr>
        <p:spPr>
          <a:xfrm>
            <a:off x="7891272"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Lesson</a:t>
            </a:r>
            <a:endParaRPr lang="en-US" sz="1500" dirty="0"/>
          </a:p>
        </p:txBody>
      </p:sp>
      <p:sp>
        <p:nvSpPr>
          <p:cNvPr id="15" name="Text 13"/>
          <p:cNvSpPr/>
          <p:nvPr/>
        </p:nvSpPr>
        <p:spPr>
          <a:xfrm>
            <a:off x="8817864" y="4187952"/>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6" name="Shape 14"/>
          <p:cNvSpPr/>
          <p:nvPr/>
        </p:nvSpPr>
        <p:spPr>
          <a:xfrm>
            <a:off x="9046464" y="3977640"/>
            <a:ext cx="972312" cy="749808"/>
          </a:xfrm>
          <a:prstGeom prst="roundRect">
            <a:avLst>
              <a:gd name="adj" fmla="val 14634"/>
            </a:avLst>
          </a:prstGeom>
          <a:solidFill>
            <a:srgbClr val="2F8A28"/>
          </a:solidFill>
          <a:ln w="12700">
            <a:solidFill>
              <a:srgbClr val="2F8A28"/>
            </a:solidFill>
            <a:prstDash val="solid"/>
          </a:ln>
        </p:spPr>
      </p:sp>
      <p:sp>
        <p:nvSpPr>
          <p:cNvPr id="17" name="Text 15"/>
          <p:cNvSpPr/>
          <p:nvPr/>
        </p:nvSpPr>
        <p:spPr>
          <a:xfrm>
            <a:off x="9119616"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Plays</a:t>
            </a:r>
            <a:endParaRPr lang="en-US" sz="1500" dirty="0"/>
          </a:p>
        </p:txBody>
      </p:sp>
      <p:sp>
        <p:nvSpPr>
          <p:cNvPr id="18" name="Text 16"/>
          <p:cNvSpPr/>
          <p:nvPr/>
        </p:nvSpPr>
        <p:spPr>
          <a:xfrm>
            <a:off x="10046208" y="4187952"/>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9" name="Shape 17"/>
          <p:cNvSpPr/>
          <p:nvPr/>
        </p:nvSpPr>
        <p:spPr>
          <a:xfrm>
            <a:off x="10274808" y="3977640"/>
            <a:ext cx="972312" cy="749808"/>
          </a:xfrm>
          <a:prstGeom prst="roundRect">
            <a:avLst>
              <a:gd name="adj" fmla="val 14634"/>
            </a:avLst>
          </a:prstGeom>
          <a:solidFill>
            <a:srgbClr val="6A4CA3"/>
          </a:solidFill>
          <a:ln w="12700">
            <a:solidFill>
              <a:srgbClr val="6A4CA3"/>
            </a:solidFill>
            <a:prstDash val="solid"/>
          </a:ln>
        </p:spPr>
      </p:sp>
      <p:sp>
        <p:nvSpPr>
          <p:cNvPr id="20" name="Text 18"/>
          <p:cNvSpPr/>
          <p:nvPr/>
        </p:nvSpPr>
        <p:spPr>
          <a:xfrm>
            <a:off x="10347960"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Action</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Advanced Model Validation and Evaluation for Public Health AI</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4</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Related toolkit resources</a:t>
            </a:r>
            <a:endParaRPr lang="en-US" sz="3400" dirty="0"/>
          </a:p>
        </p:txBody>
      </p:sp>
      <p:sp>
        <p:nvSpPr>
          <p:cNvPr id="9" name="Text 7"/>
          <p:cNvSpPr/>
          <p:nvPr/>
        </p:nvSpPr>
        <p:spPr>
          <a:xfrm>
            <a:off x="868680" y="1508760"/>
            <a:ext cx="6812280" cy="3977640"/>
          </a:xfrm>
          <a:prstGeom prst="rect">
            <a:avLst/>
          </a:prstGeom>
          <a:noFill/>
          <a:ln/>
        </p:spPr>
        <p:txBody>
          <a:bodyPr wrap="square" lIns="635" tIns="635" rIns="635" bIns="635" rtlCol="0" anchor="t">
            <a:normAutofit/>
          </a:bodyPr>
          <a:lstStyle/>
          <a:p>
            <a:r>
              <a:rPr lang="en-US" sz="1850" dirty="0">
                <a:solidFill>
                  <a:srgbClr val="17364A"/>
                </a:solidFill>
                <a:latin typeface="Aptos" pitchFamily="34" charset="0"/>
                <a:ea typeface="Aptos" pitchFamily="34" charset="-122"/>
                <a:cs typeface="Aptos" pitchFamily="34" charset="-120"/>
              </a:rPr>
              <a:t>Tool 44: Performance Monitoring Dashboard (Dashboard) - Use this tool to complete or strengthen the.</a:t>
            </a:r>
            <a:endParaRPr lang="en-US" sz="1850" dirty="0"/>
          </a:p>
          <a:p>
            <a:r>
              <a:rPr lang="en-US" sz="1850" dirty="0">
                <a:solidFill>
                  <a:srgbClr val="17364A"/>
                </a:solidFill>
                <a:latin typeface="Aptos" pitchFamily="34" charset="0"/>
                <a:ea typeface="Aptos" pitchFamily="34" charset="-122"/>
                <a:cs typeface="Aptos" pitchFamily="34" charset="-120"/>
              </a:rPr>
              <a:t>Tool 45: Continuous Improvement Log (Log) - Use Continuous Improvement Log to translate this lesson into a.</a:t>
            </a:r>
            <a:endParaRPr lang="en-US" sz="1850" dirty="0"/>
          </a:p>
          <a:p>
            <a:r>
              <a:rPr lang="en-US" sz="1850" dirty="0">
                <a:solidFill>
                  <a:srgbClr val="17364A"/>
                </a:solidFill>
                <a:latin typeface="Aptos" pitchFamily="34" charset="0"/>
                <a:ea typeface="Aptos" pitchFamily="34" charset="-122"/>
                <a:cs typeface="Aptos" pitchFamily="34" charset="-120"/>
              </a:rPr>
              <a:t>Tool 48: AI Evaluation &amp; Outcomes Reporting (Template) - Use this tool to complete or strengthen the.</a:t>
            </a:r>
            <a:endParaRPr lang="en-US" sz="1850" dirty="0"/>
          </a:p>
          <a:p>
            <a:r>
              <a:rPr lang="en-US" sz="1850" dirty="0">
                <a:solidFill>
                  <a:srgbClr val="17364A"/>
                </a:solidFill>
                <a:latin typeface="Aptos" pitchFamily="34" charset="0"/>
                <a:ea typeface="Aptos" pitchFamily="34" charset="-122"/>
                <a:cs typeface="Aptos" pitchFamily="34" charset="-120"/>
              </a:rPr>
              <a:t>Tool 13: AI Use Case Intake, Risk Review, and System Inventory Template (Template) - Use AI Use Case Intake,.</a:t>
            </a:r>
            <a:endParaRPr lang="en-US" sz="1850" dirty="0"/>
          </a:p>
        </p:txBody>
      </p:sp>
      <p:sp>
        <p:nvSpPr>
          <p:cNvPr id="10" name="Shape 8"/>
          <p:cNvSpPr/>
          <p:nvPr/>
        </p:nvSpPr>
        <p:spPr>
          <a:xfrm>
            <a:off x="8046720" y="1417320"/>
            <a:ext cx="3063240" cy="2103120"/>
          </a:xfrm>
          <a:prstGeom prst="roundRect">
            <a:avLst>
              <a:gd name="adj" fmla="val 5217"/>
            </a:avLst>
          </a:prstGeom>
          <a:solidFill>
            <a:srgbClr val="EAF6F8"/>
          </a:solidFill>
          <a:ln w="12700">
            <a:solidFill>
              <a:srgbClr val="B9D7E6"/>
            </a:solidFill>
            <a:prstDash val="solid"/>
          </a:ln>
        </p:spPr>
      </p:sp>
      <p:sp>
        <p:nvSpPr>
          <p:cNvPr id="11" name="Text 9"/>
          <p:cNvSpPr/>
          <p:nvPr/>
        </p:nvSpPr>
        <p:spPr>
          <a:xfrm>
            <a:off x="8211312" y="1563624"/>
            <a:ext cx="273405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the tools</a:t>
            </a:r>
            <a:endParaRPr lang="en-US" sz="1300" dirty="0"/>
          </a:p>
        </p:txBody>
      </p:sp>
      <p:sp>
        <p:nvSpPr>
          <p:cNvPr id="12" name="Text 10"/>
          <p:cNvSpPr/>
          <p:nvPr/>
        </p:nvSpPr>
        <p:spPr>
          <a:xfrm>
            <a:off x="8211312" y="1920240"/>
            <a:ext cx="2734056" cy="146304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Use linked tools when your department needs a structured worksheet, template, checklist, review process, or documentation artifact.</a:t>
            </a:r>
            <a:endParaRPr lang="en-US" sz="1550" dirty="0"/>
          </a:p>
        </p:txBody>
      </p:sp>
      <p:sp>
        <p:nvSpPr>
          <p:cNvPr id="13" name="Shape 11"/>
          <p:cNvSpPr/>
          <p:nvPr/>
        </p:nvSpPr>
        <p:spPr>
          <a:xfrm>
            <a:off x="7818120" y="3977640"/>
            <a:ext cx="972312" cy="749808"/>
          </a:xfrm>
          <a:prstGeom prst="roundRect">
            <a:avLst>
              <a:gd name="adj" fmla="val 14634"/>
            </a:avLst>
          </a:prstGeom>
          <a:solidFill>
            <a:srgbClr val="0068B7"/>
          </a:solidFill>
          <a:ln w="12700">
            <a:solidFill>
              <a:srgbClr val="0068B7"/>
            </a:solidFill>
            <a:prstDash val="solid"/>
          </a:ln>
        </p:spPr>
      </p:sp>
      <p:sp>
        <p:nvSpPr>
          <p:cNvPr id="14" name="Text 12"/>
          <p:cNvSpPr/>
          <p:nvPr/>
        </p:nvSpPr>
        <p:spPr>
          <a:xfrm>
            <a:off x="7891272"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Concept</a:t>
            </a:r>
            <a:endParaRPr lang="en-US" sz="1500" dirty="0"/>
          </a:p>
        </p:txBody>
      </p:sp>
      <p:sp>
        <p:nvSpPr>
          <p:cNvPr id="15" name="Text 13"/>
          <p:cNvSpPr/>
          <p:nvPr/>
        </p:nvSpPr>
        <p:spPr>
          <a:xfrm>
            <a:off x="8817864" y="4187952"/>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6" name="Shape 14"/>
          <p:cNvSpPr/>
          <p:nvPr/>
        </p:nvSpPr>
        <p:spPr>
          <a:xfrm>
            <a:off x="9046464" y="3977640"/>
            <a:ext cx="972312" cy="749808"/>
          </a:xfrm>
          <a:prstGeom prst="roundRect">
            <a:avLst>
              <a:gd name="adj" fmla="val 14634"/>
            </a:avLst>
          </a:prstGeom>
          <a:solidFill>
            <a:srgbClr val="2F8A28"/>
          </a:solidFill>
          <a:ln w="12700">
            <a:solidFill>
              <a:srgbClr val="2F8A28"/>
            </a:solidFill>
            <a:prstDash val="solid"/>
          </a:ln>
        </p:spPr>
      </p:sp>
      <p:sp>
        <p:nvSpPr>
          <p:cNvPr id="17" name="Text 15"/>
          <p:cNvSpPr/>
          <p:nvPr/>
        </p:nvSpPr>
        <p:spPr>
          <a:xfrm>
            <a:off x="9119616"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Tool</a:t>
            </a:r>
            <a:endParaRPr lang="en-US" sz="1500" dirty="0"/>
          </a:p>
        </p:txBody>
      </p:sp>
      <p:sp>
        <p:nvSpPr>
          <p:cNvPr id="18" name="Text 16"/>
          <p:cNvSpPr/>
          <p:nvPr/>
        </p:nvSpPr>
        <p:spPr>
          <a:xfrm>
            <a:off x="10046208" y="4187952"/>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9" name="Shape 17"/>
          <p:cNvSpPr/>
          <p:nvPr/>
        </p:nvSpPr>
        <p:spPr>
          <a:xfrm>
            <a:off x="10274808" y="3977640"/>
            <a:ext cx="972312" cy="749808"/>
          </a:xfrm>
          <a:prstGeom prst="roundRect">
            <a:avLst>
              <a:gd name="adj" fmla="val 14634"/>
            </a:avLst>
          </a:prstGeom>
          <a:solidFill>
            <a:srgbClr val="D69A2D"/>
          </a:solidFill>
          <a:ln w="12700">
            <a:solidFill>
              <a:srgbClr val="D69A2D"/>
            </a:solidFill>
            <a:prstDash val="solid"/>
          </a:ln>
        </p:spPr>
      </p:sp>
      <p:sp>
        <p:nvSpPr>
          <p:cNvPr id="20" name="Text 18"/>
          <p:cNvSpPr/>
          <p:nvPr/>
        </p:nvSpPr>
        <p:spPr>
          <a:xfrm>
            <a:off x="10347960"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Artifact</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Advanced Model Validation and Evaluation for Public Health AI</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5</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Learning Objectives</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Describe the purpose of advanced model validation in public health AI.</a:t>
            </a:r>
            <a:endParaRPr lang="en-US" sz="2100" dirty="0"/>
          </a:p>
          <a:p>
            <a:r>
              <a:rPr lang="en-US" sz="2100" dirty="0">
                <a:solidFill>
                  <a:srgbClr val="17364A"/>
                </a:solidFill>
                <a:latin typeface="Aptos" pitchFamily="34" charset="0"/>
                <a:ea typeface="Aptos" pitchFamily="34" charset="-122"/>
                <a:cs typeface="Aptos" pitchFamily="34" charset="-120"/>
              </a:rPr>
              <a:t>Interpret sensitivity, specificity, positive predictive value, negative predictive value, precision,.</a:t>
            </a:r>
            <a:endParaRPr lang="en-US" sz="2100" dirty="0"/>
          </a:p>
          <a:p>
            <a:r>
              <a:rPr lang="en-US" sz="2100" dirty="0">
                <a:solidFill>
                  <a:srgbClr val="17364A"/>
                </a:solidFill>
                <a:latin typeface="Aptos" pitchFamily="34" charset="0"/>
                <a:ea typeface="Aptos" pitchFamily="34" charset="-122"/>
                <a:cs typeface="Aptos" pitchFamily="34" charset="-120"/>
              </a:rPr>
              <a:t>Distinguish internal validation, external validation, and workflow validation.</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Describe the purpose of advanced model validation in public health AI.</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Advanced Model Validation and Evaluation for Public Health AI</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6</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Learning Objectives Continued</a:t>
            </a:r>
            <a:endParaRPr lang="en-US" sz="3400" dirty="0"/>
          </a:p>
        </p:txBody>
      </p:sp>
      <p:sp>
        <p:nvSpPr>
          <p:cNvPr id="9" name="Text 7"/>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Produce an advanced validation plan for an AI-supported workflow.</a:t>
            </a:r>
            <a:endParaRPr lang="en-US" sz="2100" dirty="0"/>
          </a:p>
        </p:txBody>
      </p:sp>
      <p:sp>
        <p:nvSpPr>
          <p:cNvPr id="10" name="Shape 8"/>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1" name="Text 9"/>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2" name="Text 10"/>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Produce an advanced validation plan for an AI-supported workflow.</a:t>
            </a:r>
            <a:endParaRPr lang="en-US" sz="1550" dirty="0"/>
          </a:p>
        </p:txBody>
      </p:sp>
      <p:sp>
        <p:nvSpPr>
          <p:cNvPr id="13" name="Shape 11"/>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4" name="Text 12"/>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5" name="Text 13"/>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Advanced Model Validation and Evaluation for Public Health AI</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7</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2</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Module Overview</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Model validation is the process of determining whether an AI tool performs adequately for its intended.</a:t>
            </a:r>
            <a:endParaRPr lang="en-US" sz="2100" dirty="0"/>
          </a:p>
          <a:p>
            <a:r>
              <a:rPr lang="en-US" sz="2100" dirty="0">
                <a:solidFill>
                  <a:srgbClr val="17364A"/>
                </a:solidFill>
                <a:latin typeface="Aptos" pitchFamily="34" charset="0"/>
                <a:ea typeface="Aptos" pitchFamily="34" charset="-122"/>
                <a:cs typeface="Aptos" pitchFamily="34" charset="-120"/>
              </a:rPr>
              <a:t>Basic validation asks whether the tool works at all.</a:t>
            </a:r>
            <a:endParaRPr lang="en-US" sz="2100" dirty="0"/>
          </a:p>
          <a:p>
            <a:r>
              <a:rPr lang="en-US" sz="2100" dirty="0">
                <a:solidFill>
                  <a:srgbClr val="17364A"/>
                </a:solidFill>
                <a:latin typeface="Aptos" pitchFamily="34" charset="0"/>
                <a:ea typeface="Aptos" pitchFamily="34" charset="-122"/>
                <a:cs typeface="Aptos" pitchFamily="34" charset="-120"/>
              </a:rPr>
              <a:t>Advanced validation asks whether it works well enough, for whom, under what conditions, with what.</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Model validation is the process of determining whether an AI tool performs adequately for its intended.</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Advanced Model Validation and Evaluation for Public Health AI</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8</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3</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Why This Topic Matters for Public Health AI</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Validation matters because public health AI tools can appear credible even when they are not fit for.</a:t>
            </a:r>
            <a:endParaRPr lang="en-US" sz="2100" dirty="0"/>
          </a:p>
          <a:p>
            <a:r>
              <a:rPr lang="en-US" sz="2100" dirty="0">
                <a:solidFill>
                  <a:srgbClr val="17364A"/>
                </a:solidFill>
                <a:latin typeface="Aptos" pitchFamily="34" charset="0"/>
                <a:ea typeface="Aptos" pitchFamily="34" charset="-122"/>
                <a:cs typeface="Aptos" pitchFamily="34" charset="-120"/>
              </a:rPr>
              <a:t>A polished dashboard, confident generated text, or high overall accuracy score does not prove that the.</a:t>
            </a:r>
            <a:endParaRPr lang="en-US" sz="2100" dirty="0"/>
          </a:p>
          <a:p>
            <a:r>
              <a:rPr lang="en-US" sz="2100" dirty="0">
                <a:solidFill>
                  <a:srgbClr val="17364A"/>
                </a:solidFill>
                <a:latin typeface="Aptos" pitchFamily="34" charset="0"/>
                <a:ea typeface="Aptos" pitchFamily="34" charset="-122"/>
                <a:cs typeface="Aptos" pitchFamily="34" charset="-120"/>
              </a:rPr>
              <a:t>Public health staff need to evaluate performance in relation to the specific task and the consequences.</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Validation matters because public health AI tools can appear credible even when they are not fit for.</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Advanced Model Validation and Evaluation for Public Health AI</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9</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4</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Public Health Example</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A public health agency may test a model that identifies incoming case reports likely to require.</a:t>
            </a:r>
            <a:endParaRPr lang="en-US" sz="2100" dirty="0"/>
          </a:p>
          <a:p>
            <a:r>
              <a:rPr lang="en-US" sz="2100" dirty="0">
                <a:solidFill>
                  <a:srgbClr val="17364A"/>
                </a:solidFill>
                <a:latin typeface="Aptos" pitchFamily="34" charset="0"/>
                <a:ea typeface="Aptos" pitchFamily="34" charset="-122"/>
                <a:cs typeface="Aptos" pitchFamily="34" charset="-120"/>
              </a:rPr>
              <a:t>Overall accuracy may be high, but that number alone is not enough.</a:t>
            </a:r>
            <a:endParaRPr lang="en-US" sz="2100" dirty="0"/>
          </a:p>
          <a:p>
            <a:r>
              <a:rPr lang="en-US" sz="2100" dirty="0">
                <a:solidFill>
                  <a:srgbClr val="17364A"/>
                </a:solidFill>
                <a:latin typeface="Aptos" pitchFamily="34" charset="0"/>
                <a:ea typeface="Aptos" pitchFamily="34" charset="-122"/>
                <a:cs typeface="Aptos" pitchFamily="34" charset="-120"/>
              </a:rPr>
              <a:t>Staff need to know whether the model misses rare but severe conditions, whether it performs differently.</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A public health agency may test a model that identifies incoming case reports likely to require.</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Advanced Model Validation and Evaluation for Public Health AI</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10</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5</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Technical Deep Dive</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Metric selection should start with the public health consequence.</a:t>
            </a:r>
            <a:endParaRPr lang="en-US" sz="2100" dirty="0"/>
          </a:p>
          <a:p>
            <a:r>
              <a:rPr lang="en-US" sz="2100" dirty="0">
                <a:solidFill>
                  <a:srgbClr val="17364A"/>
                </a:solidFill>
                <a:latin typeface="Aptos" pitchFamily="34" charset="0"/>
                <a:ea typeface="Aptos" pitchFamily="34" charset="-122"/>
                <a:cs typeface="Aptos" pitchFamily="34" charset="-120"/>
              </a:rPr>
              <a:t>Sensitivity may be prioritized when missing a true event is dangerous.</a:t>
            </a:r>
            <a:endParaRPr lang="en-US" sz="2100" dirty="0"/>
          </a:p>
          <a:p>
            <a:r>
              <a:rPr lang="en-US" sz="2100" dirty="0">
                <a:solidFill>
                  <a:srgbClr val="17364A"/>
                </a:solidFill>
                <a:latin typeface="Aptos" pitchFamily="34" charset="0"/>
                <a:ea typeface="Aptos" pitchFamily="34" charset="-122"/>
                <a:cs typeface="Aptos" pitchFamily="34" charset="-120"/>
              </a:rPr>
              <a:t>Specificity may be prioritized when false positives create substantial burden or unnecessary.</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Metric selection should start with the public health consequence.</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Advanced Model Validation and Evaluation for Public Health AI</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11</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Technical Deep Dive Continued</a:t>
            </a:r>
            <a:endParaRPr lang="en-US" sz="3400" dirty="0"/>
          </a:p>
        </p:txBody>
      </p:sp>
      <p:sp>
        <p:nvSpPr>
          <p:cNvPr id="9" name="Text 7"/>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Workflow validation examines whether the AI output is understandable, accessible, timely, actionable,.</a:t>
            </a:r>
            <a:endParaRPr lang="en-US" sz="2100" dirty="0"/>
          </a:p>
          <a:p>
            <a:r>
              <a:rPr lang="en-US" sz="2100" dirty="0">
                <a:solidFill>
                  <a:srgbClr val="17364A"/>
                </a:solidFill>
                <a:latin typeface="Aptos" pitchFamily="34" charset="0"/>
                <a:ea typeface="Aptos" pitchFamily="34" charset="-122"/>
                <a:cs typeface="Aptos" pitchFamily="34" charset="-120"/>
              </a:rPr>
              <a:t>A model can be statistically strong but operationally weak if staff do not trust it, cannot see.</a:t>
            </a:r>
            <a:endParaRPr lang="en-US" sz="2100" dirty="0"/>
          </a:p>
          <a:p>
            <a:r>
              <a:rPr lang="en-US" sz="2100" dirty="0">
                <a:solidFill>
                  <a:srgbClr val="17364A"/>
                </a:solidFill>
                <a:latin typeface="Aptos" pitchFamily="34" charset="0"/>
                <a:ea typeface="Aptos" pitchFamily="34" charset="-122"/>
                <a:cs typeface="Aptos" pitchFamily="34" charset="-120"/>
              </a:rPr>
              <a:t>Workflow validation should include usability testing, training, documentation, and feedback loops.</a:t>
            </a:r>
            <a:endParaRPr lang="en-US" sz="2100" dirty="0"/>
          </a:p>
        </p:txBody>
      </p:sp>
      <p:sp>
        <p:nvSpPr>
          <p:cNvPr id="10" name="Shape 8"/>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1" name="Text 9"/>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2" name="Text 10"/>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Workflow validation examines whether the AI output is understandable, accessible, timely, actionable,.</a:t>
            </a:r>
            <a:endParaRPr lang="en-US" sz="1550" dirty="0"/>
          </a:p>
        </p:txBody>
      </p:sp>
      <p:sp>
        <p:nvSpPr>
          <p:cNvPr id="13" name="Shape 11"/>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4" name="Text 12"/>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5" name="Text 13"/>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Advanced Model Validation and Evaluation for Public Health AI</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12</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6</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Risks, Failure Modes, and Guardrails</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Misleading aggregate performance.</a:t>
            </a:r>
            <a:endParaRPr lang="en-US" sz="2100" dirty="0"/>
          </a:p>
          <a:p>
            <a:r>
              <a:rPr lang="en-US" sz="2100" dirty="0">
                <a:solidFill>
                  <a:srgbClr val="17364A"/>
                </a:solidFill>
                <a:latin typeface="Aptos" pitchFamily="34" charset="0"/>
                <a:ea typeface="Aptos" pitchFamily="34" charset="-122"/>
                <a:cs typeface="Aptos" pitchFamily="34" charset="-120"/>
              </a:rPr>
              <a:t>Overall metrics may hide poor subgroup performance.</a:t>
            </a:r>
            <a:endParaRPr lang="en-US" sz="2100" dirty="0"/>
          </a:p>
          <a:p>
            <a:r>
              <a:rPr lang="en-US" sz="2100" dirty="0">
                <a:solidFill>
                  <a:srgbClr val="17364A"/>
                </a:solidFill>
                <a:latin typeface="Aptos" pitchFamily="34" charset="0"/>
                <a:ea typeface="Aptos" pitchFamily="34" charset="-122"/>
                <a:cs typeface="Aptos" pitchFamily="34" charset="-120"/>
              </a:rPr>
              <a:t>Guardrails include subgroup testing and equity review.</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Misleading aggregate performance.</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Advanced Model Validation and Evaluation for Public Health AI</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13</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Risks, Failure Modes, and Guardrails Continued</a:t>
            </a:r>
            <a:endParaRPr lang="en-US" sz="3400" dirty="0"/>
          </a:p>
        </p:txBody>
      </p:sp>
      <p:sp>
        <p:nvSpPr>
          <p:cNvPr id="9" name="Text 7"/>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Workflow failure.</a:t>
            </a:r>
            <a:endParaRPr lang="en-US" sz="2100" dirty="0"/>
          </a:p>
          <a:p>
            <a:r>
              <a:rPr lang="en-US" sz="2100" dirty="0">
                <a:solidFill>
                  <a:srgbClr val="17364A"/>
                </a:solidFill>
                <a:latin typeface="Aptos" pitchFamily="34" charset="0"/>
                <a:ea typeface="Aptos" pitchFamily="34" charset="-122"/>
                <a:cs typeface="Aptos" pitchFamily="34" charset="-120"/>
              </a:rPr>
              <a:t>A technically accurate model may be unusable or misused.</a:t>
            </a:r>
            <a:endParaRPr lang="en-US" sz="2100" dirty="0"/>
          </a:p>
          <a:p>
            <a:r>
              <a:rPr lang="en-US" sz="2100" dirty="0">
                <a:solidFill>
                  <a:srgbClr val="17364A"/>
                </a:solidFill>
                <a:latin typeface="Aptos" pitchFamily="34" charset="0"/>
                <a:ea typeface="Aptos" pitchFamily="34" charset="-122"/>
                <a:cs typeface="Aptos" pitchFamily="34" charset="-120"/>
              </a:rPr>
              <a:t>Guardrails include usability testing, training, source visibility, and override documentation.</a:t>
            </a:r>
            <a:endParaRPr lang="en-US" sz="2100" dirty="0"/>
          </a:p>
        </p:txBody>
      </p:sp>
      <p:sp>
        <p:nvSpPr>
          <p:cNvPr id="10" name="Shape 8"/>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1" name="Text 9"/>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2" name="Text 10"/>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Workflow failure.</a:t>
            </a:r>
            <a:endParaRPr lang="en-US" sz="1550" dirty="0"/>
          </a:p>
        </p:txBody>
      </p:sp>
      <p:sp>
        <p:nvSpPr>
          <p:cNvPr id="13" name="Shape 11"/>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4" name="Text 12"/>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5" name="Text 13"/>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Advanced Model Validation and Evaluation for Public Health AI</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14</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7</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Application to AI-Supported Workflows</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Advanced validation applies to predictive models, NLP tools, generative summaries, RAG outputs, and.</a:t>
            </a:r>
            <a:endParaRPr lang="en-US" sz="2100" dirty="0"/>
          </a:p>
          <a:p>
            <a:r>
              <a:rPr lang="en-US" sz="2100" dirty="0">
                <a:solidFill>
                  <a:srgbClr val="17364A"/>
                </a:solidFill>
                <a:latin typeface="Aptos" pitchFamily="34" charset="0"/>
                <a:ea typeface="Aptos" pitchFamily="34" charset="-122"/>
                <a:cs typeface="Aptos" pitchFamily="34" charset="-120"/>
              </a:rPr>
              <a:t>For generative AI, validation may include factuality, completeness, source grounding, omissions, and.</a:t>
            </a:r>
            <a:endParaRPr lang="en-US" sz="2100" dirty="0"/>
          </a:p>
          <a:p>
            <a:r>
              <a:rPr lang="en-US" sz="2100" dirty="0">
                <a:solidFill>
                  <a:srgbClr val="17364A"/>
                </a:solidFill>
                <a:latin typeface="Aptos" pitchFamily="34" charset="0"/>
                <a:ea typeface="Aptos" pitchFamily="34" charset="-122"/>
                <a:cs typeface="Aptos" pitchFamily="34" charset="-120"/>
              </a:rPr>
              <a:t>For RAG, validation should test retrieval quality and citation accuracy.</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Advanced validation applies to predictive models, NLP tools, generative summaries, RAG outputs, and.</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Advanced Model Validation and Evaluation for Public Health AI</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15</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8</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Reflection Questions</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What decision or action will the AI output support?</a:t>
            </a:r>
            <a:endParaRPr lang="en-US" sz="2100" dirty="0"/>
          </a:p>
          <a:p>
            <a:r>
              <a:rPr lang="en-US" sz="2100" dirty="0">
                <a:solidFill>
                  <a:srgbClr val="17364A"/>
                </a:solidFill>
                <a:latin typeface="Aptos" pitchFamily="34" charset="0"/>
                <a:ea typeface="Aptos" pitchFamily="34" charset="-122"/>
                <a:cs typeface="Aptos" pitchFamily="34" charset="-120"/>
              </a:rPr>
              <a:t>Which performance metrics match the consequences of error?</a:t>
            </a:r>
            <a:endParaRPr lang="en-US" sz="2100" dirty="0"/>
          </a:p>
          <a:p>
            <a:r>
              <a:rPr lang="en-US" sz="2100" dirty="0">
                <a:solidFill>
                  <a:srgbClr val="17364A"/>
                </a:solidFill>
                <a:latin typeface="Aptos" pitchFamily="34" charset="0"/>
                <a:ea typeface="Aptos" pitchFamily="34" charset="-122"/>
                <a:cs typeface="Aptos" pitchFamily="34" charset="-120"/>
              </a:rPr>
              <a:t>Which subgroups, data sources, or settings require separate review?</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What decision or action will the AI output support?</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Advanced Model Validation and Evaluation for Public Health AI</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16</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Reflection Questions Continued</a:t>
            </a:r>
            <a:endParaRPr lang="en-US" sz="3400" dirty="0"/>
          </a:p>
        </p:txBody>
      </p:sp>
      <p:sp>
        <p:nvSpPr>
          <p:cNvPr id="9" name="Text 7"/>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What would make performance unacceptable for this use case?</a:t>
            </a:r>
            <a:endParaRPr lang="en-US" sz="2100" dirty="0"/>
          </a:p>
          <a:p>
            <a:r>
              <a:rPr lang="en-US" sz="2100" dirty="0">
                <a:solidFill>
                  <a:srgbClr val="17364A"/>
                </a:solidFill>
                <a:latin typeface="Aptos" pitchFamily="34" charset="0"/>
                <a:ea typeface="Aptos" pitchFamily="34" charset="-122"/>
                <a:cs typeface="Aptos" pitchFamily="34" charset="-120"/>
              </a:rPr>
              <a:t>How will the agency monitor performance after deployment?</a:t>
            </a:r>
            <a:endParaRPr lang="en-US" sz="2100" dirty="0"/>
          </a:p>
        </p:txBody>
      </p:sp>
      <p:sp>
        <p:nvSpPr>
          <p:cNvPr id="10" name="Shape 8"/>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1" name="Text 9"/>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2" name="Text 10"/>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What would make performance unacceptable for this use case?</a:t>
            </a:r>
            <a:endParaRPr lang="en-US" sz="1550" dirty="0"/>
          </a:p>
        </p:txBody>
      </p:sp>
      <p:sp>
        <p:nvSpPr>
          <p:cNvPr id="13" name="Shape 11"/>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4" name="Text 12"/>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5" name="Text 13"/>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Advanced Model Validation and Evaluation for Public Health AI</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17</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9</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Practical Exercise</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Create an advanced validation plan for one AI-supported workflow.</a:t>
            </a:r>
            <a:endParaRPr lang="en-US" sz="2100" dirty="0"/>
          </a:p>
          <a:p>
            <a:r>
              <a:rPr lang="en-US" sz="2100" dirty="0">
                <a:solidFill>
                  <a:srgbClr val="17364A"/>
                </a:solidFill>
                <a:latin typeface="Aptos" pitchFamily="34" charset="0"/>
                <a:ea typeface="Aptos" pitchFamily="34" charset="-122"/>
                <a:cs typeface="Aptos" pitchFamily="34" charset="-120"/>
              </a:rPr>
              <a:t>Include intended use, validation dataset, comparison standard, performance metrics, subgroup analysis,.</a:t>
            </a:r>
            <a:endParaRPr lang="en-US" sz="2100" dirty="0"/>
          </a:p>
          <a:p>
            <a:r>
              <a:rPr lang="en-US" sz="2100" dirty="0">
                <a:solidFill>
                  <a:srgbClr val="17364A"/>
                </a:solidFill>
                <a:latin typeface="Aptos" pitchFamily="34" charset="0"/>
                <a:ea typeface="Aptos" pitchFamily="34" charset="-122"/>
                <a:cs typeface="Aptos" pitchFamily="34" charset="-120"/>
              </a:rPr>
              <a:t>The plan should clearly explain how validation results will be interpreted and who has authority to.</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Create an advanced validation plan for one AI-supported workflow.</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Advanced Model Validation and Evaluation for Public Health AI</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18</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10</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Expected Artifact or Evidence</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Advanced validation plan</a:t>
            </a:r>
            <a:endParaRPr lang="en-US" sz="2100" dirty="0"/>
          </a:p>
          <a:p>
            <a:r>
              <a:rPr lang="en-US" sz="2100" dirty="0">
                <a:solidFill>
                  <a:srgbClr val="17364A"/>
                </a:solidFill>
                <a:latin typeface="Aptos" pitchFamily="34" charset="0"/>
                <a:ea typeface="Aptos" pitchFamily="34" charset="-122"/>
                <a:cs typeface="Aptos" pitchFamily="34" charset="-120"/>
              </a:rPr>
              <a:t>Metric and error-consequence table</a:t>
            </a:r>
            <a:endParaRPr lang="en-US" sz="2100" dirty="0"/>
          </a:p>
          <a:p>
            <a:r>
              <a:rPr lang="en-US" sz="2100" dirty="0">
                <a:solidFill>
                  <a:srgbClr val="17364A"/>
                </a:solidFill>
                <a:latin typeface="Aptos" pitchFamily="34" charset="0"/>
                <a:ea typeface="Aptos" pitchFamily="34" charset="-122"/>
                <a:cs typeface="Aptos" pitchFamily="34" charset="-120"/>
              </a:rPr>
              <a:t>Subgroup performance review plan</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Advanced validation plan</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Advanced Model Validation and Evaluation for Public Health AI</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19</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Expected Artifact or Evidence Continued</a:t>
            </a:r>
            <a:endParaRPr lang="en-US" sz="3400" dirty="0"/>
          </a:p>
        </p:txBody>
      </p:sp>
      <p:sp>
        <p:nvSpPr>
          <p:cNvPr id="9" name="Text 7"/>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Post-deployment monitoring schedule</a:t>
            </a:r>
            <a:endParaRPr lang="en-US" sz="2100" dirty="0"/>
          </a:p>
        </p:txBody>
      </p:sp>
      <p:sp>
        <p:nvSpPr>
          <p:cNvPr id="10" name="Shape 8"/>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1" name="Text 9"/>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2" name="Text 10"/>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Post-deployment monitoring schedule</a:t>
            </a:r>
            <a:endParaRPr lang="en-US" sz="1550" dirty="0"/>
          </a:p>
        </p:txBody>
      </p:sp>
      <p:sp>
        <p:nvSpPr>
          <p:cNvPr id="13" name="Shape 11"/>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4" name="Text 12"/>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5" name="Text 13"/>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Advanced Model Validation and Evaluation for Public Health AI</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20</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11</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Expected Assignment</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Advanced validation plan</a:t>
            </a:r>
            <a:endParaRPr lang="en-US" sz="2100" dirty="0"/>
          </a:p>
          <a:p>
            <a:r>
              <a:rPr lang="en-US" sz="2100" dirty="0">
                <a:solidFill>
                  <a:srgbClr val="17364A"/>
                </a:solidFill>
                <a:latin typeface="Aptos" pitchFamily="34" charset="0"/>
                <a:ea typeface="Aptos" pitchFamily="34" charset="-122"/>
                <a:cs typeface="Aptos" pitchFamily="34" charset="-120"/>
              </a:rPr>
              <a:t>Metric and error-consequence table</a:t>
            </a:r>
            <a:endParaRPr lang="en-US" sz="2100" dirty="0"/>
          </a:p>
          <a:p>
            <a:r>
              <a:rPr lang="en-US" sz="2100" dirty="0">
                <a:solidFill>
                  <a:srgbClr val="17364A"/>
                </a:solidFill>
                <a:latin typeface="Aptos" pitchFamily="34" charset="0"/>
                <a:ea typeface="Aptos" pitchFamily="34" charset="-122"/>
                <a:cs typeface="Aptos" pitchFamily="34" charset="-120"/>
              </a:rPr>
              <a:t>Subgroup performance review plan</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Advanced validation plan</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Advanced Model Validation and Evaluation for Public Health AI</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21</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12</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Knowledge Check</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1. Why can overall accuracy be misleading?</a:t>
            </a:r>
            <a:endParaRPr lang="en-US" sz="2100" dirty="0"/>
          </a:p>
          <a:p>
            <a:r>
              <a:rPr lang="en-US" sz="2100" dirty="0">
                <a:solidFill>
                  <a:srgbClr val="17364A"/>
                </a:solidFill>
                <a:latin typeface="Aptos" pitchFamily="34" charset="0"/>
                <a:ea typeface="Aptos" pitchFamily="34" charset="-122"/>
                <a:cs typeface="Aptos" pitchFamily="34" charset="-120"/>
              </a:rPr>
              <a:t>2. What is workflow validation?</a:t>
            </a:r>
            <a:endParaRPr lang="en-US" sz="2100" dirty="0"/>
          </a:p>
          <a:p>
            <a:r>
              <a:rPr lang="en-US" sz="2100" dirty="0">
                <a:solidFill>
                  <a:srgbClr val="17364A"/>
                </a:solidFill>
                <a:latin typeface="Aptos" pitchFamily="34" charset="0"/>
                <a:ea typeface="Aptos" pitchFamily="34" charset="-122"/>
                <a:cs typeface="Aptos" pitchFamily="34" charset="-120"/>
              </a:rPr>
              <a:t>3. Which metric is especially important when missed true events could cause harm?</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1. Why can overall accuracy be misleading?</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Advanced Model Validation and Evaluation for Public Health AI</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22</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13</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References and Resources</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NIST Artificial Intelligence Risk Management Framework:.</a:t>
            </a:r>
            <a:endParaRPr lang="en-US" sz="2100" dirty="0"/>
          </a:p>
          <a:p>
            <a:r>
              <a:rPr lang="en-US" sz="2100" dirty="0">
                <a:solidFill>
                  <a:srgbClr val="17364A"/>
                </a:solidFill>
                <a:latin typeface="Aptos" pitchFamily="34" charset="0"/>
                <a:ea typeface="Aptos" pitchFamily="34" charset="-122"/>
                <a:cs typeface="Aptos" pitchFamily="34" charset="-120"/>
              </a:rPr>
              <a:t>NIST AI RMF Generative AI Profile:.</a:t>
            </a:r>
            <a:endParaRPr lang="en-US" sz="2100" dirty="0"/>
          </a:p>
          <a:p>
            <a:r>
              <a:rPr lang="en-US" sz="2100" dirty="0">
                <a:solidFill>
                  <a:srgbClr val="17364A"/>
                </a:solidFill>
                <a:latin typeface="Aptos" pitchFamily="34" charset="0"/>
                <a:ea typeface="Aptos" pitchFamily="34" charset="-122"/>
                <a:cs typeface="Aptos" pitchFamily="34" charset="-120"/>
              </a:rPr>
              <a:t>CDC Evaluation Framework: https://www.cdc.gov/evaluation/</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NIST Artificial Intelligence Risk Management Framework:.</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AI Playbook for Public Health</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Advanced Model Validation and Evaluation for Public Health AI</dc:title>
  <dc:subject>Advanced Model Validation and Evaluation for Public Health AI learning module</dc:subject>
  <dc:creator>Paula Soper</dc:creator>
  <cp:lastModifiedBy>Paula Soper</cp:lastModifiedBy>
  <cp:revision>1</cp:revision>
  <dcterms:created xsi:type="dcterms:W3CDTF">2026-07-12T19:55:20Z</dcterms:created>
  <dcterms:modified xsi:type="dcterms:W3CDTF">2026-07-12T19:55:20Z</dcterms:modified>
</cp:coreProperties>
</file>