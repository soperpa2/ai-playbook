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Environmental and Resource Impacts is designed for an individual learner using the AI Playbook and Toolkit for Public Health Departments.
AI can carry energy, water, hardware, e-waste, procurement, and environmental justice implications that should be considered before scale.
Use the notes in this deck as additional reading and context. They are not written as presenter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Environmental and resource impact review.
Produce or contribute to: Lower-impact alternatives comparison.
Produce or contribute to: Procurement sustainability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systems can require substantial compute, energy, water, hardware, and vendor infrastructure. Public health departments do not need to perform complex environmental modeling for every use, but they should consider whether a proposed AI use is proportionate to the public health value, whether lower-impact alternatives exist, and whether infrastructure burdens raise environmental justice concerns.
AI systems can carry resource impacts related to compute, energy, water, hardware, infrastructure, and cost. These issues are not always visible to program teams, but they matter for responsible public sector decision-making and environmental justice.
Not every AI use requires the same level of review. A small drafting task has different implications than a high-volume, always-on, large-model deployment. Your department should ask whether the AI approach is proportionate to the public health value.
Your training should help staff compare alternatives. Sometimes a smaller model, retrieval-based system, existing analytic method, or non-AI workflow change may achieve the goal with less cost and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cost of ownership: The full cost of an AI system over time, including procurement, licensing, staff time, training, infrastructure, monitoring, evaluation, maintenance, vendor support, and retirement.
Use case: A specific public health task, workflow, decision support need, or service problem where AI might help. A use case should describe the problem, users, data, value, risks, workflow impact, and governance requirements.
Vendor review: A structured review of a vendor's product, data practices, model documentation, security controls, accessibility, pricing, auditability, subcontractors, contract terms, and exit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High-compute option is a core concept for this lesson because it turns environmental and resource impacts from an abstract AI topic into something you can recognize in daily public health work. An AI approach that requires substantial processing power, energy, infrastructure, or vendor resources.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Lower-impact alternative is a core concept for this lesson because it turns environmental and resource impacts from an abstract AI topic into something you can recognize in daily public health work. A simpler model, retrieval approach, rules-based tool, workflow change, or non-AI option that may meet the same need with less burden.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Resource implication is a core concept for this lesson because it turns environmental and resource impacts from an abstract AI topic into something you can recognize in daily public health work. The cost, energy, staff time, infrastructure, or environmental burden created by a technology choice.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vendor sustainability claims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Compare lower-impact alternatives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Flag data center environmental justice concerns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apply this module, begin with a real or realistic public health workflow and describe the task in plain language before naming an AI tool. Use the related plays (Play 1, Play 7, Play 8) to identify the decisions, approvals, people, and timing needed for responsible implementation. Use the related tools (Tool 5, Tool 31, Tool 33) to create documentation that can be reviewed, saved, revised, and used as evidence of readiness. The practical exercise asks you to produce evidence that can feed into that work: Review one proposed AI project and compare a high-compute option, a smaller model or RAG option, and a non-AI option. Document benefits, limitations, costs, and resource implications.
The main guardrail for this lesson is that High-compute AI uses should be justified by public health value and reviewed for resource burden and environmental justice implications.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AI systems can have energy, water, hardware, cost, and environmental justice implications. Your department should consider whether the public health value of a high-compute use justifies its resource burden and whether lower-impact alternatives exist.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one proposed AI project and compare a high-compute option, a smaller model or RAG option, and a non-AI option. Document benefits, limitations, costs, and resource implications.
Environmental and resource impact review
Lower-impact alternatives comparison
Procurement sustainability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AI necessary for this task, or would a simpler approach work?
What sustainability and infrastructure information should vendors disclose?
Could resource burdens affect communities already facing environmental inequities?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ASPPH AI Framework Report: Resource, public health systems, and responsible AI framing. https://aspph.org/initiatives/ai-for-public-health/ai-framework-report/
EPA Environmental Justice: Environmental justice context for reviewing infrastructure, procurement, and community burden. https://www.epa.gov/environmentaljustice
NIST AI Risk Management Framework: Risk management structure for documenting environmental and operational tradeoffs. https://www.nist.gov/itl/ai-risk-management-framework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13232" y="2542032"/>
            <a:ext cx="10607040" cy="777240"/>
          </a:xfrm>
          <a:prstGeom prst="rect">
            <a:avLst/>
          </a:prstGeom>
          <a:noFill/>
          <a:ln/>
        </p:spPr>
        <p:txBody>
          <a:bodyPr wrap="square" lIns="0" tIns="0" rIns="0" bIns="0" rtlCol="0" anchor="ct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Environmental and Resource Impacts</a:t>
            </a:r>
            <a:endParaRPr lang="en-US" sz="3400" dirty="0"/>
          </a:p>
        </p:txBody>
      </p:sp>
      <p:sp>
        <p:nvSpPr>
          <p:cNvPr id="6" name="Text 3"/>
          <p:cNvSpPr/>
          <p:nvPr/>
        </p:nvSpPr>
        <p:spPr>
          <a:xfrm>
            <a:off x="749808" y="3456432"/>
            <a:ext cx="365760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Learning Module</a:t>
            </a:r>
            <a:endParaRPr lang="en-US" sz="1400" dirty="0"/>
          </a:p>
        </p:txBody>
      </p:sp>
      <p:sp>
        <p:nvSpPr>
          <p:cNvPr id="7" name="Text 4"/>
          <p:cNvSpPr/>
          <p:nvPr/>
        </p:nvSpPr>
        <p:spPr>
          <a:xfrm>
            <a:off x="749808" y="3886200"/>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Learning Objectives</a:t>
            </a:r>
            <a:endParaRPr lang="en-US" sz="2800" dirty="0"/>
          </a:p>
        </p:txBody>
      </p:sp>
      <p:sp>
        <p:nvSpPr>
          <p:cNvPr id="7" name="Text 5"/>
          <p:cNvSpPr/>
          <p:nvPr/>
        </p:nvSpPr>
        <p:spPr>
          <a:xfrm>
            <a:off x="822960" y="1417320"/>
            <a:ext cx="10332720" cy="448056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600" dirty="0"/>
          </a:p>
          <a:p>
            <a:r>
              <a:rPr lang="en-US" sz="16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 health decision-making.</a:t>
            </a:r>
            <a:endParaRPr lang="en-US" sz="1600" dirty="0"/>
          </a:p>
          <a:p>
            <a:r>
              <a:rPr lang="en-US" sz="16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 expectations.</a:t>
            </a:r>
            <a:endParaRPr lang="en-US" sz="1600" dirty="0"/>
          </a:p>
          <a:p>
            <a:r>
              <a:rPr lang="en-US" sz="16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 planning, or monitoring.</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Environmental and resource impact review.</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Lower-impact alternatives comparison.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Module Overview</a:t>
            </a:r>
            <a:endParaRPr lang="en-US" sz="2800" dirty="0"/>
          </a:p>
        </p:txBody>
      </p:sp>
      <p:sp>
        <p:nvSpPr>
          <p:cNvPr id="7" name="Text 5"/>
          <p:cNvSpPr/>
          <p:nvPr/>
        </p:nvSpPr>
        <p:spPr>
          <a:xfrm>
            <a:off x="822960" y="1325880"/>
            <a:ext cx="10424160" cy="4434840"/>
          </a:xfrm>
          <a:prstGeom prst="rect">
            <a:avLst/>
          </a:prstGeom>
          <a:noFill/>
          <a:ln/>
        </p:spPr>
        <p:txBody>
          <a:bodyPr wrap="square" lIns="1016" tIns="1016" rIns="1016" bIns="1016" rtlCol="0" anchor="t">
            <a:normAutofit/>
          </a:bodyPr>
          <a:lstStyle/>
          <a:p>
            <a:pPr indent="0" marL="0">
              <a:buNone/>
            </a:pPr>
            <a:r>
              <a:rPr lang="en-US" sz="1600" dirty="0">
                <a:solidFill>
                  <a:srgbClr val="17364A"/>
                </a:solidFill>
                <a:latin typeface="Aptos" pitchFamily="34" charset="0"/>
                <a:ea typeface="Aptos" pitchFamily="34" charset="-122"/>
                <a:cs typeface="Aptos" pitchFamily="34" charset="-120"/>
              </a:rPr>
              <a:t>AI systems can require substantial compute, energy, water, hardware, and vendor infrastructure. Public health departments do not need to perform complex environmental modeling for every use, but they should consider whether a proposed AI use is proportionate to the public health value, whether lower-impact alternatives exist, and whether infrastructure burdens raise environmental justice concerns.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Total cost of ownership: The full cost of an AI system over time, including procurement, licensing, staff time, training, infrastructure, monitoring, evaluation, maintenance, vendor support, and retirement.</a:t>
            </a:r>
            <a:endParaRPr lang="en-US" sz="1320" dirty="0"/>
          </a:p>
          <a:p>
            <a:r>
              <a:rPr lang="en-US" sz="1320" dirty="0">
                <a:solidFill>
                  <a:srgbClr val="17364A"/>
                </a:solidFill>
                <a:latin typeface="Aptos" pitchFamily="34" charset="0"/>
                <a:ea typeface="Aptos" pitchFamily="34" charset="-122"/>
                <a:cs typeface="Aptos" pitchFamily="34" charset="-120"/>
              </a:rPr>
              <a:t>Use case: A specific public health task, workflow, decision support need, or service problem where AI might help. A use case should describe the problem, users, data, value, risks, workflow impact, and governance.</a:t>
            </a:r>
            <a:endParaRPr lang="en-US" sz="1320" dirty="0"/>
          </a:p>
          <a:p>
            <a:r>
              <a:rPr lang="en-US" sz="1320" dirty="0">
                <a:solidFill>
                  <a:srgbClr val="17364A"/>
                </a:solidFill>
                <a:latin typeface="Aptos" pitchFamily="34" charset="0"/>
                <a:ea typeface="Aptos" pitchFamily="34" charset="-122"/>
                <a:cs typeface="Aptos" pitchFamily="34" charset="-120"/>
              </a:rPr>
              <a:t>Vendor review: A structured review of a vendor's product, data practices, model documentation, security controls, accessibility, pricing, auditability, subcontractors, contract terms, and exit requirements.</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Core Concepts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High-compute option is a core concept for this lesson because it turns environmental and resource impacts from an abstract AI topic into something you can recognize in daily public health work. An AI approach that requires substantial processing power, energy, infrastructure, or vendor resources.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Lower-impact alternative is a core concept for this lesson because it turns environmental and resource impacts from an abstract AI topic into something you can recognize in daily public health work. A simpler model, retrieval approach, rules-based tool, workflow change, or non-AI option that may meet the same need with less burden.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Resource implication is a core concept for this lesson because it turns environmental and resource impacts from an abstract AI topic into something you can recognize in daily public health work. The cost, energy, staff time, infrastructure, or environmental burden created by a technology choice.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sz="13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Public Health Application</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Review vendor sustainability claims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Compare lower-impact alternatives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Flag data center environmental justice concerns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Implementation Guidance</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To apply this module, begin with a real or realistic public health workflow and describe the task in plain language before naming an AI tool. Use the related plays (Play 1, Play 7, Play 8) to identify the decisions, approvals, people, and timing needed for responsible implementation. Use the related tools (Tool 5, Tool 31, Tool 33) to create documentation that can be reviewed, saved, revised, and used as evidence of readiness. The practical exercise asks you to produce evidence that can feed into that work: Review one proposed AI project and compare a high-compute option, a smaller model or RAG option, and a non-AI option. Document benefits, limitations, costs, and resource implications. The main guardrail for this lesson is that High-compute AI uses should be justified by public health value and reviewed for resource burden and environmental justice implications.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Using Plays and Tools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AI systems can have energy, water, hardware, cost, and environmental justice implications. Your department should consider whether the public health value of a high-compute use justifies its resource burden and whether lower-impact alternatives exist.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Practical Exercise</a:t>
            </a:r>
            <a:endParaRPr lang="en-US" sz="2800" dirty="0"/>
          </a:p>
        </p:txBody>
      </p:sp>
      <p:sp>
        <p:nvSpPr>
          <p:cNvPr id="7" name="Text 5"/>
          <p:cNvSpPr/>
          <p:nvPr/>
        </p:nvSpPr>
        <p:spPr>
          <a:xfrm>
            <a:off x="822960" y="1234440"/>
            <a:ext cx="10378440" cy="2011680"/>
          </a:xfrm>
          <a:prstGeom prst="rect">
            <a:avLst/>
          </a:prstGeom>
          <a:noFill/>
          <a:ln/>
        </p:spPr>
        <p:txBody>
          <a:bodyPr wrap="square" lIns="1016" tIns="1016" rIns="1016" bIns="1016" rtlCol="0" anchor="t">
            <a:normAutofit/>
          </a:bodyPr>
          <a:lstStyle/>
          <a:p>
            <a:pPr indent="0" marL="0">
              <a:buNone/>
            </a:pPr>
            <a:r>
              <a:rPr lang="en-US" sz="1520" dirty="0">
                <a:solidFill>
                  <a:srgbClr val="17364A"/>
                </a:solidFill>
                <a:latin typeface="Aptos" pitchFamily="34" charset="0"/>
                <a:ea typeface="Aptos" pitchFamily="34" charset="-122"/>
                <a:cs typeface="Aptos" pitchFamily="34" charset="-120"/>
              </a:rPr>
              <a:t>Review one proposed AI project and compare a high-compute option, a smaller model or RAG option, and a non-AI option. Document benefits, limitations, costs, and resource implications.</a:t>
            </a:r>
            <a:endParaRPr lang="en-US" sz="1520" dirty="0"/>
          </a:p>
        </p:txBody>
      </p:sp>
      <p:sp>
        <p:nvSpPr>
          <p:cNvPr id="8" name="Text 6"/>
          <p:cNvSpPr/>
          <p:nvPr/>
        </p:nvSpPr>
        <p:spPr>
          <a:xfrm>
            <a:off x="822960" y="3520440"/>
            <a:ext cx="10378440" cy="1828800"/>
          </a:xfrm>
          <a:prstGeom prst="rect">
            <a:avLst/>
          </a:prstGeom>
          <a:noFill/>
          <a:ln/>
        </p:spPr>
        <p:txBody>
          <a:bodyPr wrap="square" lIns="635" tIns="635" rIns="635" bIns="635" rtlCol="0" anchor="t">
            <a:normAutofit/>
          </a:bodyPr>
          <a:lstStyle/>
          <a:p>
            <a:r>
              <a:rPr lang="en-US" sz="1400" dirty="0">
                <a:solidFill>
                  <a:srgbClr val="17364A"/>
                </a:solidFill>
                <a:latin typeface="Aptos" pitchFamily="34" charset="0"/>
                <a:ea typeface="Aptos" pitchFamily="34" charset="-122"/>
                <a:cs typeface="Aptos" pitchFamily="34" charset="-120"/>
              </a:rPr>
              <a:t>Expected artifact: Environmental and resource impact review</a:t>
            </a:r>
            <a:endParaRPr lang="en-US" sz="1400" dirty="0"/>
          </a:p>
          <a:p>
            <a:r>
              <a:rPr lang="en-US" sz="1400" dirty="0">
                <a:solidFill>
                  <a:srgbClr val="17364A"/>
                </a:solidFill>
                <a:latin typeface="Aptos" pitchFamily="34" charset="0"/>
                <a:ea typeface="Aptos" pitchFamily="34" charset="-122"/>
                <a:cs typeface="Aptos" pitchFamily="34" charset="-120"/>
              </a:rPr>
              <a:t>Expected artifact: Lower-impact alternatives comparison</a:t>
            </a:r>
            <a:endParaRPr lang="en-US" sz="1400" dirty="0"/>
          </a:p>
          <a:p>
            <a:r>
              <a:rPr lang="en-US" sz="1400" dirty="0">
                <a:solidFill>
                  <a:srgbClr val="17364A"/>
                </a:solidFill>
                <a:latin typeface="Aptos" pitchFamily="34" charset="0"/>
                <a:ea typeface="Aptos" pitchFamily="34" charset="-122"/>
                <a:cs typeface="Aptos" pitchFamily="34" charset="-120"/>
              </a:rPr>
              <a:t>Expected artifact: Procurement sustainability questions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Reflection Questions</a:t>
            </a:r>
            <a:endParaRPr lang="en-US" sz="2800" dirty="0"/>
          </a:p>
        </p:txBody>
      </p:sp>
      <p:sp>
        <p:nvSpPr>
          <p:cNvPr id="7" name="Text 5"/>
          <p:cNvSpPr/>
          <p:nvPr/>
        </p:nvSpPr>
        <p:spPr>
          <a:xfrm>
            <a:off x="822960" y="1325880"/>
            <a:ext cx="10378440" cy="4572000"/>
          </a:xfrm>
          <a:prstGeom prst="rect">
            <a:avLst/>
          </a:prstGeom>
          <a:noFill/>
          <a:ln/>
        </p:spPr>
        <p:txBody>
          <a:bodyPr wrap="square" lIns="635" tIns="635" rIns="635" bIns="635" rtlCol="0" anchor="t">
            <a:normAutofit/>
          </a:bodyPr>
          <a:lstStyle/>
          <a:p>
            <a:r>
              <a:rPr lang="en-US" sz="1500" dirty="0">
                <a:solidFill>
                  <a:srgbClr val="17364A"/>
                </a:solidFill>
                <a:latin typeface="Aptos" pitchFamily="34" charset="0"/>
                <a:ea typeface="Aptos" pitchFamily="34" charset="-122"/>
                <a:cs typeface="Aptos" pitchFamily="34" charset="-120"/>
              </a:rPr>
              <a:t>Is AI necessary for this task, or would a simpler approach work?</a:t>
            </a:r>
            <a:endParaRPr lang="en-US" sz="1500" dirty="0"/>
          </a:p>
          <a:p>
            <a:r>
              <a:rPr lang="en-US" sz="1500" dirty="0">
                <a:solidFill>
                  <a:srgbClr val="17364A"/>
                </a:solidFill>
                <a:latin typeface="Aptos" pitchFamily="34" charset="0"/>
                <a:ea typeface="Aptos" pitchFamily="34" charset="-122"/>
                <a:cs typeface="Aptos" pitchFamily="34" charset="-120"/>
              </a:rPr>
              <a:t>What sustainability and infrastructure information should vendors disclose?</a:t>
            </a:r>
            <a:endParaRPr lang="en-US" sz="1500" dirty="0"/>
          </a:p>
          <a:p>
            <a:r>
              <a:rPr lang="en-US" sz="1500" dirty="0">
                <a:solidFill>
                  <a:srgbClr val="17364A"/>
                </a:solidFill>
                <a:latin typeface="Aptos" pitchFamily="34" charset="0"/>
                <a:ea typeface="Aptos" pitchFamily="34" charset="-122"/>
                <a:cs typeface="Aptos" pitchFamily="34" charset="-120"/>
              </a:rPr>
              <a:t>Could resource burdens affect communities already facing environmental inequities?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Environmental and Resource Impacts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References and Resources</a:t>
            </a:r>
            <a:endParaRPr lang="en-US" sz="2800" dirty="0"/>
          </a:p>
        </p:txBody>
      </p:sp>
      <p:sp>
        <p:nvSpPr>
          <p:cNvPr id="7" name="Text 5"/>
          <p:cNvSpPr/>
          <p:nvPr/>
        </p:nvSpPr>
        <p:spPr>
          <a:xfrm>
            <a:off x="822960" y="1280160"/>
            <a:ext cx="10378440" cy="4800600"/>
          </a:xfrm>
          <a:prstGeom prst="rect">
            <a:avLst/>
          </a:prstGeom>
          <a:noFill/>
          <a:ln/>
        </p:spPr>
        <p:txBody>
          <a:bodyPr wrap="square" lIns="635" tIns="635" rIns="635" bIns="635" rtlCol="0" anchor="t">
            <a:normAutofit/>
          </a:bodyPr>
          <a:lstStyle/>
          <a:p>
            <a:r>
              <a:rPr lang="en-US" sz="1280" dirty="0">
                <a:solidFill>
                  <a:srgbClr val="17364A"/>
                </a:solidFill>
                <a:latin typeface="Aptos" pitchFamily="34" charset="0"/>
                <a:ea typeface="Aptos" pitchFamily="34" charset="-122"/>
                <a:cs typeface="Aptos" pitchFamily="34" charset="-120"/>
              </a:rPr>
              <a:t>ASPPH AI Framework Report: Resource, public health systems, and responsible AI framing.</a:t>
            </a:r>
            <a:endParaRPr lang="en-US" sz="1280" dirty="0"/>
          </a:p>
          <a:p>
            <a:r>
              <a:rPr lang="en-US" sz="1280" dirty="0">
                <a:solidFill>
                  <a:srgbClr val="17364A"/>
                </a:solidFill>
                <a:latin typeface="Aptos" pitchFamily="34" charset="0"/>
                <a:ea typeface="Aptos" pitchFamily="34" charset="-122"/>
                <a:cs typeface="Aptos" pitchFamily="34" charset="-120"/>
              </a:rPr>
              <a:t>EPA Environmental Justice: Environmental justice context for reviewing infrastructure, procurement, and community burden.</a:t>
            </a:r>
            <a:endParaRPr lang="en-US" sz="1280" dirty="0"/>
          </a:p>
          <a:p>
            <a:r>
              <a:rPr lang="en-US" sz="1280" dirty="0">
                <a:solidFill>
                  <a:srgbClr val="17364A"/>
                </a:solidFill>
                <a:latin typeface="Aptos" pitchFamily="34" charset="0"/>
                <a:ea typeface="Aptos" pitchFamily="34" charset="-122"/>
                <a:cs typeface="Aptos" pitchFamily="34" charset="-120"/>
              </a:rPr>
              <a:t>NIST AI Risk Management Framework: Risk management structure for documenting environmental and operational tradeoffs.</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Environmental and Resource Impacts</dc:title>
  <dc:subject>Environmental and Resource Impacts learning module</dc:subject>
  <dc:creator>Paula Soper</dc:creator>
  <cp:lastModifiedBy>Paula Soper</cp:lastModifiedBy>
  <cp:revision>1</cp:revision>
  <dcterms:created xsi:type="dcterms:W3CDTF">2026-07-09T20:18:52Z</dcterms:created>
  <dcterms:modified xsi:type="dcterms:W3CDTF">2026-07-09T20:18:52Z</dcterms:modified>
</cp:coreProperties>
</file>