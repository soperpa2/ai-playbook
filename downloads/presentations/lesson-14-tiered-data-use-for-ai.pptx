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02ac39b2df44f3" /><Relationship Type="http://schemas.openxmlformats.org/officeDocument/2006/relationships/extended-properties" Target="/docProps/app.xml" Id="Rf61318682904491d" /><Relationship Type="http://schemas.openxmlformats.org/officeDocument/2006/relationships/officeDocument" Target="/ppt/presentation.xml" Id="R03817a2735b74c13" /></Relationships>
</file>

<file path=ppt/presentation.xml><?xml version="1.0" encoding="utf-8"?>
<p:presentation xmlns:p="http://schemas.openxmlformats.org/presentationml/2006/main">
  <p:sldMasterIdLst>
    <p:sldMasterId xmlns:r="http://schemas.openxmlformats.org/officeDocument/2006/relationships" id="2147483648" r:id="Rf52c462eb4284837"/>
  </p:sldMasterIdLst>
  <p:notesMasterIdLst>
    <p:notesMasterId xmlns:r="http://schemas.openxmlformats.org/officeDocument/2006/relationships" r:id="Rdb36a4f528254755"/>
  </p:notesMasterIdLst>
  <p:sldIdLst>
    <p:sldId xmlns:r="http://schemas.openxmlformats.org/officeDocument/2006/relationships" id="256" r:id="R64ea14bb40fd492e"/>
    <p:sldId xmlns:r="http://schemas.openxmlformats.org/officeDocument/2006/relationships" id="257" r:id="R51aa2d2ae7164c47"/>
    <p:sldId xmlns:r="http://schemas.openxmlformats.org/officeDocument/2006/relationships" id="258" r:id="Rca5d8e05e8a3490d"/>
    <p:sldId xmlns:r="http://schemas.openxmlformats.org/officeDocument/2006/relationships" id="259" r:id="R1e59508119cb4eca"/>
    <p:sldId xmlns:r="http://schemas.openxmlformats.org/officeDocument/2006/relationships" id="260" r:id="Rf2be951e9b6a4fa6"/>
    <p:sldId xmlns:r="http://schemas.openxmlformats.org/officeDocument/2006/relationships" id="261" r:id="R9de418c9106e4af2"/>
    <p:sldId xmlns:r="http://schemas.openxmlformats.org/officeDocument/2006/relationships" id="262" r:id="Rd5347a9c3e754d91"/>
    <p:sldId xmlns:r="http://schemas.openxmlformats.org/officeDocument/2006/relationships" id="263" r:id="Rccff703c3781414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f1e65a48be4040" /><Relationship Type="http://schemas.openxmlformats.org/officeDocument/2006/relationships/slideMaster" Target="/ppt/slideMasters/slideMaster1.xml" Id="Rf52c462eb4284837" /><Relationship Type="http://schemas.openxmlformats.org/officeDocument/2006/relationships/notesMaster" Target="/ppt/notesMasters/notesMaster1.xml" Id="Rdb36a4f528254755" /><Relationship Type="http://schemas.openxmlformats.org/officeDocument/2006/relationships/presProps" Target="/ppt/presProps.xml" Id="Rbfe1acf160f045ce" /><Relationship Type="http://schemas.openxmlformats.org/officeDocument/2006/relationships/tableStyles" Target="/ppt/tableStyles.xml" Id="R8f400263f17f442f" /><Relationship Type="http://schemas.openxmlformats.org/officeDocument/2006/relationships/slide" Target="/ppt/slides/slide1.xml" Id="R64ea14bb40fd492e" /><Relationship Type="http://schemas.openxmlformats.org/officeDocument/2006/relationships/slide" Target="/ppt/slides/slide2.xml" Id="R51aa2d2ae7164c47" /><Relationship Type="http://schemas.openxmlformats.org/officeDocument/2006/relationships/slide" Target="/ppt/slides/slide3.xml" Id="Rca5d8e05e8a3490d" /><Relationship Type="http://schemas.openxmlformats.org/officeDocument/2006/relationships/slide" Target="/ppt/slides/slide4.xml" Id="R1e59508119cb4eca" /><Relationship Type="http://schemas.openxmlformats.org/officeDocument/2006/relationships/slide" Target="/ppt/slides/slide5.xml" Id="Rf2be951e9b6a4fa6" /><Relationship Type="http://schemas.openxmlformats.org/officeDocument/2006/relationships/slide" Target="/ppt/slides/slide6.xml" Id="R9de418c9106e4af2" /><Relationship Type="http://schemas.openxmlformats.org/officeDocument/2006/relationships/slide" Target="/ppt/slides/slide7.xml" Id="Rd5347a9c3e754d91" /><Relationship Type="http://schemas.openxmlformats.org/officeDocument/2006/relationships/slide" Target="/ppt/slides/slide8.xml" Id="Rccff703c378141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d463eae7924a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639f31b2b4ad2" /><Relationship Type="http://schemas.openxmlformats.org/officeDocument/2006/relationships/notesMaster" Target="/ppt/notesMasters/notesMaster1.xml" Id="R17d9196a94bc4f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4cdaf62f9e48c8" /><Relationship Type="http://schemas.openxmlformats.org/officeDocument/2006/relationships/notesMaster" Target="/ppt/notesMasters/notesMaster1.xml" Id="R2cc12d06dc6c4d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486cbe9a9f4956" /><Relationship Type="http://schemas.openxmlformats.org/officeDocument/2006/relationships/notesMaster" Target="/ppt/notesMasters/notesMaster1.xml" Id="Rb2a811b2e48a49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ddb69d27a449a4" /><Relationship Type="http://schemas.openxmlformats.org/officeDocument/2006/relationships/notesMaster" Target="/ppt/notesMasters/notesMaster1.xml" Id="Ree70e7de1f984d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f4ad47e3904692" /><Relationship Type="http://schemas.openxmlformats.org/officeDocument/2006/relationships/notesMaster" Target="/ppt/notesMasters/notesMaster1.xml" Id="R0104f0fb888e43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b587e23d2f4352" /><Relationship Type="http://schemas.openxmlformats.org/officeDocument/2006/relationships/notesMaster" Target="/ppt/notesMasters/notesMaster1.xml" Id="R7516d90438e24d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8610edae740c5" /><Relationship Type="http://schemas.openxmlformats.org/officeDocument/2006/relationships/notesMaster" Target="/ppt/notesMasters/notesMaster1.xml" Id="R4265e1ea79d94c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10b3aa887a4daa" /><Relationship Type="http://schemas.openxmlformats.org/officeDocument/2006/relationships/notesMaster" Target="/ppt/notesMasters/notesMaster1.xml" Id="R8874e430092d40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Tiered Data Use for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Tiered data use classifies information by sensitivity and defines which AI environments are appropriate for public, internal, confidential, and highly restricted data.</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11 and Tools 10, 15, 34.</a:t>
            </a:r>
          </a:p>
          <a:p xmlns:a="http://schemas.openxmlformats.org/drawingml/2006/main">
            <a:r>
              <a:t>Emphasize the core guardrail: Without data tiers, staff may unintentionally place confidential, protected, or sovereign data into unsuitable AI environments.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11 and Tools 10, 15, 34.</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11 and Tools 10, 15, 34.</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11 and Tools 10, 15, 34.</a:t>
            </a:r>
          </a:p>
          <a:p xmlns:a="http://schemas.openxmlformats.org/drawingml/2006/main">
            <a:r>
              <a:t>Invite participants to identify where these practices would need to be documented in their own department.</a:t>
            </a:r>
          </a:p>
          <a:p xmlns:a="http://schemas.openxmlformats.org/drawingml/2006/main">
            <a:r>
              <a:t>Start with Data Tiers,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11 and Tools 10, 15, 34.</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11 and Tools 10, 15, 34.</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Tiered data classification table, Approved AI environment list, Data-use approval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Tiered Data Use for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11 and Tools 10, 15, 34.</a:t>
            </a:r>
          </a:p>
          <a:p xmlns:a="http://schemas.openxmlformats.org/drawingml/2006/main">
            <a:r>
              <a:t>Point participants to the first resource: HIPAA.</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3365a163324a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c4b7df3f4f4f10" /><Relationship Type="http://schemas.openxmlformats.org/officeDocument/2006/relationships/slideLayout" Target="/ppt/slideLayouts/slideLayout1.xml" Id="R50b92b9e972743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b92b9e972743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53555a4bdf46b9" /><Relationship Type="http://schemas.openxmlformats.org/officeDocument/2006/relationships/image" Target="/ppt/media/image.png" Id="R1f01d393f7824696" /><Relationship Type="http://schemas.openxmlformats.org/officeDocument/2006/relationships/notesSlide" Target="/ppt/notesSlides/notesSlide1.xml" Id="R66c99f1815dd43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c37d50508d4599" /><Relationship Type="http://schemas.openxmlformats.org/officeDocument/2006/relationships/notesSlide" Target="/ppt/notesSlides/notesSlide2.xml" Id="Rdf1c8b64056e42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cf19a905834ed2" /><Relationship Type="http://schemas.openxmlformats.org/officeDocument/2006/relationships/notesSlide" Target="/ppt/notesSlides/notesSlide3.xml" Id="Rdf4032a415dd4c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dea7e01c104bcf" /><Relationship Type="http://schemas.openxmlformats.org/officeDocument/2006/relationships/notesSlide" Target="/ppt/notesSlides/notesSlide4.xml" Id="Rd10ecba2a98541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8ab6c9863e4122" /><Relationship Type="http://schemas.openxmlformats.org/officeDocument/2006/relationships/notesSlide" Target="/ppt/notesSlides/notesSlide5.xml" Id="R08c71af5a8fd4b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3c089072de4e4c" /><Relationship Type="http://schemas.openxmlformats.org/officeDocument/2006/relationships/notesSlide" Target="/ppt/notesSlides/notesSlide6.xml" Id="Ref668034ec9641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812361e5044997" /><Relationship Type="http://schemas.openxmlformats.org/officeDocument/2006/relationships/notesSlide" Target="/ppt/notesSlides/notesSlide7.xml" Id="Rb90b686af1e24f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2ea9a104384c22" /><Relationship Type="http://schemas.openxmlformats.org/officeDocument/2006/relationships/notesSlide" Target="/ppt/notesSlides/notesSlide8.xml" Id="Rf2e6652c184c40bd"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01d393f7824696"/>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167E18-BA84-44A9-B45A-C031FC0DED3F}"/>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14</a:t>
            </a:r>
          </a:p>
        </p:txBody>
      </p:sp>
      <p:sp>
        <p:nvSpPr>
          <p:cNvPr id="3" name="">
            <a:extLst xmlns:a="http://schemas.openxmlformats.org/drawingml/2006/main">
              <a:ext uri="{FF2B5EF4-FFF2-40B4-BE49-F238E27FC236}">
                <a16:creationId xmlns:a16="http://schemas.microsoft.com/office/drawing/2014/main" id="{050BD41A-4252-456C-969E-B5E497D6C7EF}"/>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Tiered Data Use for AI</a:t>
            </a:r>
          </a:p>
        </p:txBody>
      </p:sp>
      <p:sp>
        <p:nvSpPr>
          <p:cNvPr id="4" name="">
            <a:extLst xmlns:a="http://schemas.openxmlformats.org/drawingml/2006/main">
              <a:ext uri="{FF2B5EF4-FFF2-40B4-BE49-F238E27FC236}">
                <a16:creationId xmlns:a16="http://schemas.microsoft.com/office/drawing/2014/main" id="{53BF8371-A377-44C7-A4F8-7DFB0FC2B2E6}"/>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F8A960C1-6EB8-4ACE-9EBE-9FC3323733F6}"/>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4F919F50-5157-4931-B860-DF595795AB99}"/>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8506644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206DA7-2DC2-492C-A3D4-7E55520440C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78B0CE4-336D-47B4-9FD5-112F5BB84C6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D0526A93-73B2-4CE3-A560-1036D1AA4F5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E0C7FD6-225B-4D87-A814-6D566BD40AFE}"/>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Tiered data use classifies information by sensitivity and defines which AI environments are appropriate for public, internal, confidential, and highly restricted data.</a:t>
            </a:r>
          </a:p>
        </p:txBody>
      </p:sp>
      <p:sp>
        <p:nvSpPr>
          <p:cNvPr id="5" name="">
            <a:extLst xmlns:a="http://schemas.openxmlformats.org/drawingml/2006/main">
              <a:ext uri="{FF2B5EF4-FFF2-40B4-BE49-F238E27FC236}">
                <a16:creationId xmlns:a16="http://schemas.microsoft.com/office/drawing/2014/main" id="{F109385F-9B7E-4CF9-8609-EFF60C1C7221}"/>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11372E9-3855-4C3A-A1A2-A1D9944CE44B}"/>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39952800-B564-4B19-9065-1C8A0B2DE572}"/>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A035A4D1-0FFA-4CC0-99BF-E631AE2581C2}"/>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Clear data tiers turn privacy and security rules into daily practice. Staff need to know which data can be used in which AI environments, what approvals are needed, and what tools are prohibited for sensitive information.</a:t>
            </a:r>
          </a:p>
        </p:txBody>
      </p:sp>
      <p:sp>
        <p:nvSpPr>
          <p:cNvPr id="9" name="">
            <a:extLst xmlns:a="http://schemas.openxmlformats.org/drawingml/2006/main">
              <a:ext uri="{FF2B5EF4-FFF2-40B4-BE49-F238E27FC236}">
                <a16:creationId xmlns:a16="http://schemas.microsoft.com/office/drawing/2014/main" id="{2148EC1A-C942-4D92-A750-964D7EC25EF7}"/>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D07CD24-1D28-40F5-A615-E15349986744}"/>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7C4D8CBF-321E-499B-8586-7917F5F9F5A6}"/>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07B88629-C56F-4664-8E76-B523278057D7}"/>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Without data tiers, staff may unintentionally place confidential, protected, or sovereign data into unsuitable AI environments.</a:t>
            </a:r>
          </a:p>
        </p:txBody>
      </p:sp>
      <p:sp>
        <p:nvSpPr>
          <p:cNvPr id="13" name="">
            <a:extLst xmlns:a="http://schemas.openxmlformats.org/drawingml/2006/main">
              <a:ext uri="{FF2B5EF4-FFF2-40B4-BE49-F238E27FC236}">
                <a16:creationId xmlns:a16="http://schemas.microsoft.com/office/drawing/2014/main" id="{A76C8852-6CDA-4F2F-852B-E19FF40FFCC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4" name="">
            <a:extLst xmlns:a="http://schemas.openxmlformats.org/drawingml/2006/main">
              <a:ext uri="{FF2B5EF4-FFF2-40B4-BE49-F238E27FC236}">
                <a16:creationId xmlns:a16="http://schemas.microsoft.com/office/drawing/2014/main" id="{D20A0955-EEC3-48EE-9B10-5A6BA1058F6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824191468"/>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55349F-457D-4147-8DDC-1A90F41B11F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89C2DBE-923B-4573-A4D2-B0A6154A453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61427DF1-672B-42A9-8579-2B8DC42ACD2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96E3F93-76CC-435D-AEE1-483E0A41BA5B}"/>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07B7EA22-4621-44FB-AC14-96EE0648ADC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Tiered Data Use for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DA32E386-3220-4A48-AF17-048F79EE1CF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7" name="">
            <a:extLst xmlns:a="http://schemas.openxmlformats.org/drawingml/2006/main">
              <a:ext uri="{FF2B5EF4-FFF2-40B4-BE49-F238E27FC236}">
                <a16:creationId xmlns:a16="http://schemas.microsoft.com/office/drawing/2014/main" id="{77229481-75F7-4D1E-A046-CC4459977A7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3010308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FAD544-41FA-4D76-A96F-A759247A51A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E8BF747-F355-4597-A084-6371B07D570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0B674947-B44E-4563-888C-D0C923FF373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16ED0C9-DDEB-4562-BDBA-A707C8CBF593}"/>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Tiered data use gives staff practical rules for which AI environments can be used with which kinds of information. Public, internal, confidential, protected, restricted, and sovereign data may require different tools, approvals, vendors, contracts, security controls, and documentation. Without tiers, staff may unintentionally place sensitive data in inappropriate AI systems.</a:t>
            </a:r>
          </a:p>
        </p:txBody>
      </p:sp>
      <p:sp>
        <p:nvSpPr>
          <p:cNvPr id="5" name="">
            <a:extLst xmlns:a="http://schemas.openxmlformats.org/drawingml/2006/main">
              <a:ext uri="{FF2B5EF4-FFF2-40B4-BE49-F238E27FC236}">
                <a16:creationId xmlns:a16="http://schemas.microsoft.com/office/drawing/2014/main" id="{B043837F-46A4-4DD6-9C1E-4D62D854A077}"/>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876407E-FE7B-4EFF-AA6A-9C08B5EF7268}"/>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14D4ED3-DDA9-490B-9A0E-54344535AA73}"/>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A0B5A054-A95B-46C7-8BB7-E04E5DF5145E}"/>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Tiered data use classifies information by sensitivity and defines which AI environments are appropriate for public, internal, confidential, and highly restricted data.</a:t>
            </a:r>
          </a:p>
        </p:txBody>
      </p:sp>
      <p:sp>
        <p:nvSpPr>
          <p:cNvPr id="9" name="">
            <a:extLst xmlns:a="http://schemas.openxmlformats.org/drawingml/2006/main">
              <a:ext uri="{FF2B5EF4-FFF2-40B4-BE49-F238E27FC236}">
                <a16:creationId xmlns:a16="http://schemas.microsoft.com/office/drawing/2014/main" id="{6CBF95D7-2D1F-4D61-B75B-36EF140AAFA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0" name="">
            <a:extLst xmlns:a="http://schemas.openxmlformats.org/drawingml/2006/main">
              <a:ext uri="{FF2B5EF4-FFF2-40B4-BE49-F238E27FC236}">
                <a16:creationId xmlns:a16="http://schemas.microsoft.com/office/drawing/2014/main" id="{91C4E3A8-765D-4407-8F35-8CFE5A19044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98668459"/>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C26D8C-011F-4434-827D-613058A5FB4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B08412C-4A17-4A60-AEA0-4B45D4D63DA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C1019743-0DF4-4387-BC6D-359A0FA7D74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0CE90AC-9201-446A-851E-EE5A3A4A9892}"/>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C89B4DC-4E48-487E-BAF9-17DD4E08F910}"/>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1FCF057A-FA2C-4605-A7D5-1C4CE82067DB}"/>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Data Tiers</a:t>
            </a:r>
          </a:p>
        </p:txBody>
      </p:sp>
      <p:sp>
        <p:nvSpPr>
          <p:cNvPr id="7" name="">
            <a:extLst xmlns:a="http://schemas.openxmlformats.org/drawingml/2006/main">
              <a:ext uri="{FF2B5EF4-FFF2-40B4-BE49-F238E27FC236}">
                <a16:creationId xmlns:a16="http://schemas.microsoft.com/office/drawing/2014/main" id="{9645DE9A-6ADA-4954-9879-969FA2DD247A}"/>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information that can be used in approved public or enterprise tools. Internal information that should stay within approved organizational environments. Confidential or sensitive operational data that require restricted access and.</a:t>
            </a:r>
          </a:p>
        </p:txBody>
      </p:sp>
      <p:sp>
        <p:nvSpPr>
          <p:cNvPr id="8" name="">
            <a:extLst xmlns:a="http://schemas.openxmlformats.org/drawingml/2006/main">
              <a:ext uri="{FF2B5EF4-FFF2-40B4-BE49-F238E27FC236}">
                <a16:creationId xmlns:a16="http://schemas.microsoft.com/office/drawing/2014/main" id="{8DAFA111-0423-450F-87BA-45F38FEED012}"/>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7151D31-8F50-44B0-8691-F4D9902B95F4}"/>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40188FA6-B413-484D-88C7-7B943072AD81}"/>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Operational Rules</a:t>
            </a:r>
          </a:p>
        </p:txBody>
      </p:sp>
      <p:sp>
        <p:nvSpPr>
          <p:cNvPr id="11" name="">
            <a:extLst xmlns:a="http://schemas.openxmlformats.org/drawingml/2006/main">
              <a:ext uri="{FF2B5EF4-FFF2-40B4-BE49-F238E27FC236}">
                <a16:creationId xmlns:a16="http://schemas.microsoft.com/office/drawing/2014/main" id="{85E63D9A-AE9C-47F1-8DB9-B946F8C91B2A}"/>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which AI tools are approved for each data tier. Require data use agreements, business associate agreements, or vendor addenda when needed. Prohibit restricted information in public consumer AI tools. Document data sources, retention,.</a:t>
            </a:r>
          </a:p>
        </p:txBody>
      </p:sp>
      <p:sp>
        <p:nvSpPr>
          <p:cNvPr id="12" name="">
            <a:extLst xmlns:a="http://schemas.openxmlformats.org/drawingml/2006/main">
              <a:ext uri="{FF2B5EF4-FFF2-40B4-BE49-F238E27FC236}">
                <a16:creationId xmlns:a16="http://schemas.microsoft.com/office/drawing/2014/main" id="{DBDBFA07-1843-477E-907B-AFB095B5962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15F3234-7631-43E8-B789-8D676ACFBADD}"/>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C660CED-BBC1-4C27-904A-AE11891C72D2}"/>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Steps</a:t>
            </a:r>
          </a:p>
        </p:txBody>
      </p:sp>
      <p:sp>
        <p:nvSpPr>
          <p:cNvPr id="15" name="">
            <a:extLst xmlns:a="http://schemas.openxmlformats.org/drawingml/2006/main">
              <a:ext uri="{FF2B5EF4-FFF2-40B4-BE49-F238E27FC236}">
                <a16:creationId xmlns:a16="http://schemas.microsoft.com/office/drawing/2014/main" id="{F82E06A3-8A4B-4DE1-AB83-013C58990263}"/>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Train staff using real examples from their workflows. Include tiered data review in intake, procurement, governance, and incident response. Review vendor claims about data retention, training, logging, and deletion.</a:t>
            </a:r>
          </a:p>
        </p:txBody>
      </p:sp>
      <p:sp>
        <p:nvSpPr>
          <p:cNvPr id="16" name="">
            <a:extLst xmlns:a="http://schemas.openxmlformats.org/drawingml/2006/main">
              <a:ext uri="{FF2B5EF4-FFF2-40B4-BE49-F238E27FC236}">
                <a16:creationId xmlns:a16="http://schemas.microsoft.com/office/drawing/2014/main" id="{E32BCC2E-57C2-42E5-8A32-5671AAD5213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7" name="">
            <a:extLst xmlns:a="http://schemas.openxmlformats.org/drawingml/2006/main">
              <a:ext uri="{FF2B5EF4-FFF2-40B4-BE49-F238E27FC236}">
                <a16:creationId xmlns:a16="http://schemas.microsoft.com/office/drawing/2014/main" id="{C22E7E88-5FC1-4F84-90B5-9A0AD04F9AE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2667353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D3E0C3-EEA0-4967-B950-D9D06F0FE15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5D31443-9A99-40D3-853B-AEFBDD73C57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588D0FE8-7880-414E-B70C-0E1D999DF22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80D91E6-4A21-44E4-8AF1-20B7E4F946D3}"/>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79EE42CC-B616-4501-8444-A8DC89C7151D}"/>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F88BA7F-8944-40E7-B230-B99D201340F5}"/>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FA776B3-47A1-4FC1-9A6A-8F07A4D42624}"/>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Restrict PHI from public AI tools</a:t>
            </a:r>
          </a:p>
        </p:txBody>
      </p:sp>
      <p:sp>
        <p:nvSpPr>
          <p:cNvPr id="8" name="">
            <a:extLst xmlns:a="http://schemas.openxmlformats.org/drawingml/2006/main">
              <a:ext uri="{FF2B5EF4-FFF2-40B4-BE49-F238E27FC236}">
                <a16:creationId xmlns:a16="http://schemas.microsoft.com/office/drawing/2014/main" id="{37BE91C6-6EC4-4667-8083-6BD18C4C83DA}"/>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10050B47-4E3A-4A0C-A0C4-66D57503D96C}"/>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E4A7100-D0C5-41B5-8545-41D6803D26BE}"/>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5309D55-192C-4A3D-BE07-E0C69298D194}"/>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Approve enterprise AI for internal drafts</a:t>
            </a:r>
          </a:p>
        </p:txBody>
      </p:sp>
      <p:sp>
        <p:nvSpPr>
          <p:cNvPr id="12" name="">
            <a:extLst xmlns:a="http://schemas.openxmlformats.org/drawingml/2006/main">
              <a:ext uri="{FF2B5EF4-FFF2-40B4-BE49-F238E27FC236}">
                <a16:creationId xmlns:a16="http://schemas.microsoft.com/office/drawing/2014/main" id="{04CB88FD-8F02-47A2-AD29-C65A2A230D2F}"/>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309013B0-2AD7-438E-8C1B-2C8724B151E6}"/>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8D51765-6F3B-4053-BA83-9F3EBD89E5AE}"/>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E1181E70-10DE-417A-8A95-7E8EC2CA2C0C}"/>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in-house/RAG systems for restricted materials</a:t>
            </a:r>
          </a:p>
        </p:txBody>
      </p:sp>
      <p:sp>
        <p:nvSpPr>
          <p:cNvPr id="16" name="">
            <a:extLst xmlns:a="http://schemas.openxmlformats.org/drawingml/2006/main">
              <a:ext uri="{FF2B5EF4-FFF2-40B4-BE49-F238E27FC236}">
                <a16:creationId xmlns:a16="http://schemas.microsoft.com/office/drawing/2014/main" id="{F0A6DE2B-DA37-453A-B69E-68BA7AA14525}"/>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B38A5081-C62F-49E8-B9E1-50377BB1B5D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8" name="">
            <a:extLst xmlns:a="http://schemas.openxmlformats.org/drawingml/2006/main">
              <a:ext uri="{FF2B5EF4-FFF2-40B4-BE49-F238E27FC236}">
                <a16:creationId xmlns:a16="http://schemas.microsoft.com/office/drawing/2014/main" id="{C4F856DA-1A77-49D7-BE54-C0C44E6F06F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481128649"/>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0BF6B8-BB2C-4CAD-B96E-ED83DE1DD9F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6DC759D-9DBF-419D-90C3-1D0115B0E4B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6061E9CE-4527-4A86-A50D-A71F22F2C83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CC0DF76-C8DB-4995-8740-863C08839C66}"/>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AD02F6B-D80B-4C49-A766-CDF9F34BBF91}"/>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6913841-BC91-439A-9A5D-4760304D9E5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965F4048-BC98-4BDF-BD7F-3DD30EF1668E}"/>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data tiers does the department use? Which AI tools are approved for each tier? What vendor, contract, logging, retention, and training restrictions are required?</a:t>
            </a:r>
          </a:p>
        </p:txBody>
      </p:sp>
      <p:sp>
        <p:nvSpPr>
          <p:cNvPr id="8" name="">
            <a:extLst xmlns:a="http://schemas.openxmlformats.org/drawingml/2006/main">
              <a:ext uri="{FF2B5EF4-FFF2-40B4-BE49-F238E27FC236}">
                <a16:creationId xmlns:a16="http://schemas.microsoft.com/office/drawing/2014/main" id="{6CF4F551-A11A-4566-8700-ACD611561425}"/>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DE6C50A7-5096-4329-85EF-6E155EFE860C}"/>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5757733F-5070-4B9E-97A1-15E3E07BC84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4CB6BEDD-FAF2-473F-877B-B65AF5AF0DB7}"/>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table that maps public, internal, confidential, protected, restricted, and sovereign data categories to approved AI environments and required review steps.</a:t>
            </a:r>
          </a:p>
        </p:txBody>
      </p:sp>
      <p:sp>
        <p:nvSpPr>
          <p:cNvPr id="12" name="">
            <a:extLst xmlns:a="http://schemas.openxmlformats.org/drawingml/2006/main">
              <a:ext uri="{FF2B5EF4-FFF2-40B4-BE49-F238E27FC236}">
                <a16:creationId xmlns:a16="http://schemas.microsoft.com/office/drawing/2014/main" id="{C784361D-F9F0-48BF-A8B0-007EB98D52B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3" name="">
            <a:extLst xmlns:a="http://schemas.openxmlformats.org/drawingml/2006/main">
              <a:ext uri="{FF2B5EF4-FFF2-40B4-BE49-F238E27FC236}">
                <a16:creationId xmlns:a16="http://schemas.microsoft.com/office/drawing/2014/main" id="{446D4ABB-029B-40C8-A418-00D5A31B40B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0970246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0FC21D-DEEF-4A3A-8CCC-EBDFD57CDC0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E77504E-49E3-481E-A95B-18116D5B6A0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288C919D-0852-42EE-BFBF-A76A8652A01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6DA90B4-457F-467A-A5DE-2258E5F76AAD}"/>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1FD59CF-BE3F-44EB-808C-0CCFC5F6BB37}"/>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B9158CB-D90A-452C-A141-1C7A90CE531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CC10E330-7318-4454-A2CF-D2ABF2F532F6}"/>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11 and Tools 10, 15, 34.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9517A753-B68E-4C76-9AEF-EEC18732F0F8}"/>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3577460-41BA-4EB0-9630-7061574C2F08}"/>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BB5086A2-D00C-4177-BEC3-98EF7139CC89}"/>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7132DD4E-0510-47C9-9E26-91810EA376D5}"/>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HIPAA: Privacy requirements when protected health information may be involved. FedRAMP: Cloud security authorization context for systems handling sensitive government data. NIH Tribal Health Research Office: Tribal data governance and tribal.</a:t>
            </a:r>
          </a:p>
        </p:txBody>
      </p:sp>
      <p:sp>
        <p:nvSpPr>
          <p:cNvPr id="12" name="">
            <a:extLst xmlns:a="http://schemas.openxmlformats.org/drawingml/2006/main">
              <a:ext uri="{FF2B5EF4-FFF2-40B4-BE49-F238E27FC236}">
                <a16:creationId xmlns:a16="http://schemas.microsoft.com/office/drawing/2014/main" id="{76415C5C-3EA7-45AC-B6ED-7BC44DDCCD7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Tiered Data Use for AI</a:t>
            </a:r>
          </a:p>
        </p:txBody>
      </p:sp>
      <p:sp>
        <p:nvSpPr>
          <p:cNvPr id="13" name="">
            <a:extLst xmlns:a="http://schemas.openxmlformats.org/drawingml/2006/main">
              <a:ext uri="{FF2B5EF4-FFF2-40B4-BE49-F238E27FC236}">
                <a16:creationId xmlns:a16="http://schemas.microsoft.com/office/drawing/2014/main" id="{3E87DCB3-CAE0-426B-8851-EC5DE32EC35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474482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2026-07-02T17:47:03.2920000Z</dcterms:created>
  <dcterms:modified xsi:type="dcterms:W3CDTF">2026-07-02T17:47:03.2920000Z</dcterms:modified>
</coreProperties>
</file>