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7be6800ad74f44" /><Relationship Type="http://schemas.openxmlformats.org/officeDocument/2006/relationships/extended-properties" Target="/docProps/app.xml" Id="R1dba18380f374fa8" /><Relationship Type="http://schemas.openxmlformats.org/officeDocument/2006/relationships/officeDocument" Target="/ppt/presentation.xml" Id="Rc759003e95ee4578" /></Relationships>
</file>

<file path=ppt/presentation.xml><?xml version="1.0" encoding="utf-8"?>
<p:presentation xmlns:p="http://schemas.openxmlformats.org/presentationml/2006/main">
  <p:sldMasterIdLst>
    <p:sldMasterId xmlns:r="http://schemas.openxmlformats.org/officeDocument/2006/relationships" id="2147483648" r:id="Rbce42dece654451a"/>
  </p:sldMasterIdLst>
  <p:notesMasterIdLst>
    <p:notesMasterId xmlns:r="http://schemas.openxmlformats.org/officeDocument/2006/relationships" r:id="R72cabc9ed3cc455d"/>
  </p:notesMasterIdLst>
  <p:sldIdLst>
    <p:sldId xmlns:r="http://schemas.openxmlformats.org/officeDocument/2006/relationships" id="256" r:id="Rf89ed762c6484ab8"/>
    <p:sldId xmlns:r="http://schemas.openxmlformats.org/officeDocument/2006/relationships" id="257" r:id="R49899afe5810440f"/>
    <p:sldId xmlns:r="http://schemas.openxmlformats.org/officeDocument/2006/relationships" id="258" r:id="R55c6dbd7881a45df"/>
    <p:sldId xmlns:r="http://schemas.openxmlformats.org/officeDocument/2006/relationships" id="259" r:id="Rd0705723740744e7"/>
    <p:sldId xmlns:r="http://schemas.openxmlformats.org/officeDocument/2006/relationships" id="260" r:id="Rd48df52288884f47"/>
    <p:sldId xmlns:r="http://schemas.openxmlformats.org/officeDocument/2006/relationships" id="261" r:id="R98b789b4ec744623"/>
    <p:sldId xmlns:r="http://schemas.openxmlformats.org/officeDocument/2006/relationships" id="262" r:id="Rce3c5889c6bb4c62"/>
    <p:sldId xmlns:r="http://schemas.openxmlformats.org/officeDocument/2006/relationships" id="263" r:id="Rdda8023fc638475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5d9cec73ba4a11" /><Relationship Type="http://schemas.openxmlformats.org/officeDocument/2006/relationships/slideMaster" Target="/ppt/slideMasters/slideMaster1.xml" Id="Rbce42dece654451a" /><Relationship Type="http://schemas.openxmlformats.org/officeDocument/2006/relationships/notesMaster" Target="/ppt/notesMasters/notesMaster1.xml" Id="R72cabc9ed3cc455d" /><Relationship Type="http://schemas.openxmlformats.org/officeDocument/2006/relationships/presProps" Target="/ppt/presProps.xml" Id="R705f4f5b1d0f4432" /><Relationship Type="http://schemas.openxmlformats.org/officeDocument/2006/relationships/tableStyles" Target="/ppt/tableStyles.xml" Id="R2e89a6ffec9040b1" /><Relationship Type="http://schemas.openxmlformats.org/officeDocument/2006/relationships/slide" Target="/ppt/slides/slide1.xml" Id="Rf89ed762c6484ab8" /><Relationship Type="http://schemas.openxmlformats.org/officeDocument/2006/relationships/slide" Target="/ppt/slides/slide2.xml" Id="R49899afe5810440f" /><Relationship Type="http://schemas.openxmlformats.org/officeDocument/2006/relationships/slide" Target="/ppt/slides/slide3.xml" Id="R55c6dbd7881a45df" /><Relationship Type="http://schemas.openxmlformats.org/officeDocument/2006/relationships/slide" Target="/ppt/slides/slide4.xml" Id="Rd0705723740744e7" /><Relationship Type="http://schemas.openxmlformats.org/officeDocument/2006/relationships/slide" Target="/ppt/slides/slide5.xml" Id="Rd48df52288884f47" /><Relationship Type="http://schemas.openxmlformats.org/officeDocument/2006/relationships/slide" Target="/ppt/slides/slide6.xml" Id="R98b789b4ec744623" /><Relationship Type="http://schemas.openxmlformats.org/officeDocument/2006/relationships/slide" Target="/ppt/slides/slide7.xml" Id="Rce3c5889c6bb4c62" /><Relationship Type="http://schemas.openxmlformats.org/officeDocument/2006/relationships/slide" Target="/ppt/slides/slide8.xml" Id="Rdda8023fc63847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b1d28ee1e44c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e891f1f6ae450d" /><Relationship Type="http://schemas.openxmlformats.org/officeDocument/2006/relationships/notesMaster" Target="/ppt/notesMasters/notesMaster1.xml" Id="R534e7ea7ea1849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769aa239c644da" /><Relationship Type="http://schemas.openxmlformats.org/officeDocument/2006/relationships/notesMaster" Target="/ppt/notesMasters/notesMaster1.xml" Id="R0b01b004166743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103f6167d44487" /><Relationship Type="http://schemas.openxmlformats.org/officeDocument/2006/relationships/notesMaster" Target="/ppt/notesMasters/notesMaster1.xml" Id="Rbedce4bd3c1e47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24b34c954f44ea" /><Relationship Type="http://schemas.openxmlformats.org/officeDocument/2006/relationships/notesMaster" Target="/ppt/notesMasters/notesMaster1.xml" Id="R45a72161135343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d8594e8cd441c4" /><Relationship Type="http://schemas.openxmlformats.org/officeDocument/2006/relationships/notesMaster" Target="/ppt/notesMasters/notesMaster1.xml" Id="Rbf9f0a8c2e3846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7ce861fac14013" /><Relationship Type="http://schemas.openxmlformats.org/officeDocument/2006/relationships/notesMaster" Target="/ppt/notesMasters/notesMaster1.xml" Id="Rea6c8742520542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68db9634804712" /><Relationship Type="http://schemas.openxmlformats.org/officeDocument/2006/relationships/notesMaster" Target="/ppt/notesMasters/notesMaster1.xml" Id="R1c927e335eb244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cb0f5625924cbf" /><Relationship Type="http://schemas.openxmlformats.org/officeDocument/2006/relationships/notesMaster" Target="/ppt/notesMasters/notesMaster1.xml" Id="R47a803e98ccb48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Accessibility and Language Access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AI-supported public health materials, tools, dashboards, chatbots, translations, and workflows should be reviewed for disability access, language access, readability, cultural context, and usability.</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Accessibility and Language Access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1, 4, 7, 10, 11, 13 and Tools 3, 19, 20, 22, 29, 41, 47.</a:t>
            </a:r>
          </a:p>
          <a:p xmlns:a="http://schemas.openxmlformats.org/drawingml/2006/main">
            <a:r>
              <a:t>Emphasize the core guardrail: AI can create or worsen access barriers if outputs are not tested with people who rely on accessible formats, language support, or non-digital pathways.</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Accessibility and Language Access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1, 4, 7, 10, 11, 13 and Tools 3, 19, 20, 22, 29, 41, 47.</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Accessibility and Language Access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1, 4, 7, 10, 11, 13 and Tools 3, 19, 20, 22, 29, 41, 47.</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Accessibility and Language Access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1, 4, 7, 10, 11, 13 and Tools 3, 19, 20, 22, 29, 41, 47.</a:t>
            </a:r>
          </a:p>
          <a:p xmlns:a="http://schemas.openxmlformats.org/drawingml/2006/main">
            <a:r>
              <a:t>Invite participants to identify where these practices would need to be documented in their own department.</a:t>
            </a:r>
          </a:p>
          <a:p xmlns:a="http://schemas.openxmlformats.org/drawingml/2006/main">
            <a:r>
              <a:t>Start with What Needs Review,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Accessibility and Language Access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1, 4, 7, 10, 11, 13 and Tools 3, 19, 20, 22, 29, 41, 47.</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Accessibility and Language Access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1, 4, 7, 10, 11, 13 and Tools 3, 19, 20, 22, 29, 41, 47.</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Accessibility and language access review notes, Revised public message, Monitoring indicators for access barriers.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Accessibility and Language Access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1, 4, 7, 10, 11, 13 and Tools 3, 19, 20, 22, 29, 41, 47.</a:t>
            </a:r>
          </a:p>
          <a:p xmlns:a="http://schemas.openxmlformats.org/drawingml/2006/main">
            <a:r>
              <a:t>Point participants to the first resource: HHS Section 1557.</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fd25c5428c4e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2b43a3c3084fed" /><Relationship Type="http://schemas.openxmlformats.org/officeDocument/2006/relationships/slideLayout" Target="/ppt/slideLayouts/slideLayout1.xml" Id="R50161820588943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161820588943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f4f4b40f1d54de5" /><Relationship Type="http://schemas.openxmlformats.org/officeDocument/2006/relationships/image" Target="/ppt/media/image.png" Id="R3c894e337ee84d85" /><Relationship Type="http://schemas.openxmlformats.org/officeDocument/2006/relationships/notesSlide" Target="/ppt/notesSlides/notesSlide1.xml" Id="Rd27ded7ba0544a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fcea9cd03054954" /><Relationship Type="http://schemas.openxmlformats.org/officeDocument/2006/relationships/notesSlide" Target="/ppt/notesSlides/notesSlide2.xml" Id="R608cd8b227044b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57df7981d6749ce" /><Relationship Type="http://schemas.openxmlformats.org/officeDocument/2006/relationships/notesSlide" Target="/ppt/notesSlides/notesSlide3.xml" Id="Rdcb3f6bf45044d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d2053c474dc4c84" /><Relationship Type="http://schemas.openxmlformats.org/officeDocument/2006/relationships/notesSlide" Target="/ppt/notesSlides/notesSlide4.xml" Id="R756517ab06ea44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9e33d1d0fd04d37" /><Relationship Type="http://schemas.openxmlformats.org/officeDocument/2006/relationships/notesSlide" Target="/ppt/notesSlides/notesSlide5.xml" Id="R9af020072ae148e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24dddeed5e494c" /><Relationship Type="http://schemas.openxmlformats.org/officeDocument/2006/relationships/notesSlide" Target="/ppt/notesSlides/notesSlide6.xml" Id="R53d147c3757641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3dfb043206840fa" /><Relationship Type="http://schemas.openxmlformats.org/officeDocument/2006/relationships/notesSlide" Target="/ppt/notesSlides/notesSlide7.xml" Id="R1c9e7b0df5d54c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8b858d3a8cf4142" /><Relationship Type="http://schemas.openxmlformats.org/officeDocument/2006/relationships/notesSlide" Target="/ppt/notesSlides/notesSlide8.xml" Id="R338e337889b74f46"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c894e337ee84d85"/>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1E7589C-F2F5-43D2-A2A0-A5ABBA7BD0E8}"/>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25</a:t>
            </a:r>
          </a:p>
        </p:txBody>
      </p:sp>
      <p:sp>
        <p:nvSpPr>
          <p:cNvPr id="3" name="">
            <a:extLst xmlns:a="http://schemas.openxmlformats.org/drawingml/2006/main">
              <a:ext uri="{FF2B5EF4-FFF2-40B4-BE49-F238E27FC236}">
                <a16:creationId xmlns:a16="http://schemas.microsoft.com/office/drawing/2014/main" id="{B9D27AA4-C65D-4D34-8F06-35BD6207B4E6}"/>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Accessibility and Language Access</a:t>
            </a:r>
          </a:p>
        </p:txBody>
      </p:sp>
      <p:sp>
        <p:nvSpPr>
          <p:cNvPr id="4" name="">
            <a:extLst xmlns:a="http://schemas.openxmlformats.org/drawingml/2006/main">
              <a:ext uri="{FF2B5EF4-FFF2-40B4-BE49-F238E27FC236}">
                <a16:creationId xmlns:a16="http://schemas.microsoft.com/office/drawing/2014/main" id="{B0E1E977-957E-4453-9E8B-30007258CC32}"/>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02AFA8DA-6D20-4F7A-98A0-DB89A64712F0}"/>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2B650B78-E255-45DE-AA5B-DE5D4D8166C1}"/>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13116595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DD98F8A-CAC5-4BCD-A3BD-B8CFB4758E9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D2EB119-4248-4D30-9E7B-159E8D0A28FB}"/>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AE1A693D-72F1-4682-AB1B-14FD22F2573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B0A9B8AA-8CE9-432D-AFD0-2D5C9CA3499C}"/>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AI-supported public health materials, tools, dashboards, chatbots, translations, and workflows should be reviewed for disability access, language access, readability, cultural context, and usability.</a:t>
            </a:r>
          </a:p>
        </p:txBody>
      </p:sp>
      <p:sp>
        <p:nvSpPr>
          <p:cNvPr id="5" name="">
            <a:extLst xmlns:a="http://schemas.openxmlformats.org/drawingml/2006/main">
              <a:ext uri="{FF2B5EF4-FFF2-40B4-BE49-F238E27FC236}">
                <a16:creationId xmlns:a16="http://schemas.microsoft.com/office/drawing/2014/main" id="{F017CF32-EB5E-41AB-B818-4B64DD7BD4AD}"/>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2D44AE24-0EE4-4586-AF53-D81BA44694AF}"/>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A181893C-D12B-4FD0-8D0F-49A5E05E1C04}"/>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5709A12E-679D-4D22-A9A1-CA5607052B4D}"/>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Accessible and language-appropriate AI-supported communication is essential for equitable public health service delivery and public trust.</a:t>
            </a:r>
          </a:p>
        </p:txBody>
      </p:sp>
      <p:sp>
        <p:nvSpPr>
          <p:cNvPr id="9" name="">
            <a:extLst xmlns:a="http://schemas.openxmlformats.org/drawingml/2006/main">
              <a:ext uri="{FF2B5EF4-FFF2-40B4-BE49-F238E27FC236}">
                <a16:creationId xmlns:a16="http://schemas.microsoft.com/office/drawing/2014/main" id="{94A137A7-EB84-4DDD-AB05-A51E84F88665}"/>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B6351EFB-02FF-4FA3-98FD-1C5F500E97D4}"/>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4D833320-4689-4393-A0FE-E944C49EBCCA}"/>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DE4EB244-F2F1-4491-978E-6B7A0DA27CA5}"/>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can create or worsen access barriers if outputs are not tested with people who rely on accessible formats, language support, or non-digital pathways.</a:t>
            </a:r>
          </a:p>
        </p:txBody>
      </p:sp>
      <p:sp>
        <p:nvSpPr>
          <p:cNvPr id="13" name="">
            <a:extLst xmlns:a="http://schemas.openxmlformats.org/drawingml/2006/main">
              <a:ext uri="{FF2B5EF4-FFF2-40B4-BE49-F238E27FC236}">
                <a16:creationId xmlns:a16="http://schemas.microsoft.com/office/drawing/2014/main" id="{0E185387-81D4-4E44-9411-5F872A7AC753}"/>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Accessibility and Language Access</a:t>
            </a:r>
          </a:p>
        </p:txBody>
      </p:sp>
      <p:sp>
        <p:nvSpPr>
          <p:cNvPr id="14" name="">
            <a:extLst xmlns:a="http://schemas.openxmlformats.org/drawingml/2006/main">
              <a:ext uri="{FF2B5EF4-FFF2-40B4-BE49-F238E27FC236}">
                <a16:creationId xmlns:a16="http://schemas.microsoft.com/office/drawing/2014/main" id="{09220247-CDF4-4747-B904-51E378C6C35E}"/>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550859745"/>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DE45693-B253-4802-B22B-7698DEC67F3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F0F1540-AD11-4E2E-9298-A17BDC81F4B4}"/>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C3EBCF3A-F684-4B15-BE17-DB832E8AA533}"/>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838E7409-E6B7-4C29-8C45-4EBE4A04FD35}"/>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0E245DF8-0A6B-41A4-AFD8-0737F21F8483}"/>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Accessibility and Language Access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2820E2FF-B545-4758-AF0A-F7EA6741523A}"/>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Accessibility and Language Access</a:t>
            </a:r>
          </a:p>
        </p:txBody>
      </p:sp>
      <p:sp>
        <p:nvSpPr>
          <p:cNvPr id="7" name="">
            <a:extLst xmlns:a="http://schemas.openxmlformats.org/drawingml/2006/main">
              <a:ext uri="{FF2B5EF4-FFF2-40B4-BE49-F238E27FC236}">
                <a16:creationId xmlns:a16="http://schemas.microsoft.com/office/drawing/2014/main" id="{BB196D54-4986-488C-B7CC-FA3FFBC33621}"/>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9356526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EFF0978-9F7C-4195-85B4-2A809293AFD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3A9D74BE-076E-40A3-BB4B-D8E76F2F8922}"/>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A12FC0A2-381F-4E71-930B-C82D85AC1F6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847E34A9-75AF-4498-A5F3-9CEBF8F23A92}"/>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AI can support translation, plain-language rewriting, alternative formats, and communication drafts, but those outputs still need human review. Accessibility and language access should be part of planning, testing, communications approval, and monitoring.</a:t>
            </a:r>
          </a:p>
        </p:txBody>
      </p:sp>
      <p:sp>
        <p:nvSpPr>
          <p:cNvPr id="5" name="">
            <a:extLst xmlns:a="http://schemas.openxmlformats.org/drawingml/2006/main">
              <a:ext uri="{FF2B5EF4-FFF2-40B4-BE49-F238E27FC236}">
                <a16:creationId xmlns:a16="http://schemas.microsoft.com/office/drawing/2014/main" id="{53286963-3762-4A1F-8E61-7520505B2745}"/>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2A62AD64-45BC-4E6F-A9BE-99D8A4987736}"/>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4FF36D25-8B23-439A-B965-1AD09F0D5584}"/>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6570665F-AF04-49D3-8C2D-46C1C682A7CC}"/>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AI-supported public health materials, tools, dashboards, chatbots, translations, and workflows should be reviewed for disability access, language access, readability, cultural context, and usability.</a:t>
            </a:r>
          </a:p>
        </p:txBody>
      </p:sp>
      <p:sp>
        <p:nvSpPr>
          <p:cNvPr id="9" name="">
            <a:extLst xmlns:a="http://schemas.openxmlformats.org/drawingml/2006/main">
              <a:ext uri="{FF2B5EF4-FFF2-40B4-BE49-F238E27FC236}">
                <a16:creationId xmlns:a16="http://schemas.microsoft.com/office/drawing/2014/main" id="{FEBF0603-B5F7-4D31-919A-0574C9C7FCA0}"/>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Accessibility and Language Access</a:t>
            </a:r>
          </a:p>
        </p:txBody>
      </p:sp>
      <p:sp>
        <p:nvSpPr>
          <p:cNvPr id="10" name="">
            <a:extLst xmlns:a="http://schemas.openxmlformats.org/drawingml/2006/main">
              <a:ext uri="{FF2B5EF4-FFF2-40B4-BE49-F238E27FC236}">
                <a16:creationId xmlns:a16="http://schemas.microsoft.com/office/drawing/2014/main" id="{83AB34BA-60AE-42E1-87AB-3FBAA8AE1B1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472083694"/>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0AEDC7-BC6F-4D4F-A60D-225A6832512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D3CE64C0-A771-49E8-B210-FE38BC2D83D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0DB51C15-94AF-4739-B61C-64D78D31BCBB}"/>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E0E564A6-B23F-4FB5-B4DA-01FCE5970F5B}"/>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0CC00B82-A621-40A3-8500-E3A29A5C60F5}"/>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C4658950-A23F-448E-874B-E3548D23DADE}"/>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What Needs Review</a:t>
            </a:r>
          </a:p>
        </p:txBody>
      </p:sp>
      <p:sp>
        <p:nvSpPr>
          <p:cNvPr id="7" name="">
            <a:extLst xmlns:a="http://schemas.openxmlformats.org/drawingml/2006/main">
              <a:ext uri="{FF2B5EF4-FFF2-40B4-BE49-F238E27FC236}">
                <a16:creationId xmlns:a16="http://schemas.microsoft.com/office/drawing/2014/main" id="{EF98EA05-C164-40EB-B1EE-70E13DDAC411}"/>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AI-generated public health messages, FAQs, chatbot responses, translations, summaries, forms, dashboards, and outreach lists. Reading level, clarity, disability access, screen-reader compatibility, captions, plain-language structure, cultural.</a:t>
            </a:r>
          </a:p>
        </p:txBody>
      </p:sp>
      <p:sp>
        <p:nvSpPr>
          <p:cNvPr id="8" name="">
            <a:extLst xmlns:a="http://schemas.openxmlformats.org/drawingml/2006/main">
              <a:ext uri="{FF2B5EF4-FFF2-40B4-BE49-F238E27FC236}">
                <a16:creationId xmlns:a16="http://schemas.microsoft.com/office/drawing/2014/main" id="{B1F3D788-90C5-41AF-9A61-5D16CD3E212F}"/>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E57B6D68-EE10-40F8-82E1-B51D9A51B3D6}"/>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476866C9-5BAC-4F6A-9447-9A22107269A5}"/>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Translation and Language Access</a:t>
            </a:r>
          </a:p>
        </p:txBody>
      </p:sp>
      <p:sp>
        <p:nvSpPr>
          <p:cNvPr id="11" name="">
            <a:extLst xmlns:a="http://schemas.openxmlformats.org/drawingml/2006/main">
              <a:ext uri="{FF2B5EF4-FFF2-40B4-BE49-F238E27FC236}">
                <a16:creationId xmlns:a16="http://schemas.microsoft.com/office/drawing/2014/main" id="{1E776D19-BABF-49B6-8EF2-C61D1E18A5EC}"/>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translation should not be used for high-stakes public messaging without qualified human review. Departments should review dialect, cultural context, health terminology, and risk communication accuracy. Staff should document which languages.</a:t>
            </a:r>
          </a:p>
        </p:txBody>
      </p:sp>
      <p:sp>
        <p:nvSpPr>
          <p:cNvPr id="12" name="">
            <a:extLst xmlns:a="http://schemas.openxmlformats.org/drawingml/2006/main">
              <a:ext uri="{FF2B5EF4-FFF2-40B4-BE49-F238E27FC236}">
                <a16:creationId xmlns:a16="http://schemas.microsoft.com/office/drawing/2014/main" id="{E1955B08-96A5-45D2-90F3-9912BBA69A42}"/>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30B6CF66-E76C-4B24-B250-66A0457A1C07}"/>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62EC7FD8-AF5B-410D-A63D-704B719EDBD9}"/>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Implementation Check</a:t>
            </a:r>
          </a:p>
        </p:txBody>
      </p:sp>
      <p:sp>
        <p:nvSpPr>
          <p:cNvPr id="15" name="">
            <a:extLst xmlns:a="http://schemas.openxmlformats.org/drawingml/2006/main">
              <a:ext uri="{FF2B5EF4-FFF2-40B4-BE49-F238E27FC236}">
                <a16:creationId xmlns:a16="http://schemas.microsoft.com/office/drawing/2014/main" id="{FC97BF0B-E788-4CD2-A13C-32E5DFE21398}"/>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Include accessibility and language access in use case scoring. Test public-facing tools with users before launch. Monitor complaints, failed interactions, correction requests, and access barriers after deployment.</a:t>
            </a:r>
          </a:p>
        </p:txBody>
      </p:sp>
      <p:sp>
        <p:nvSpPr>
          <p:cNvPr id="16" name="">
            <a:extLst xmlns:a="http://schemas.openxmlformats.org/drawingml/2006/main">
              <a:ext uri="{FF2B5EF4-FFF2-40B4-BE49-F238E27FC236}">
                <a16:creationId xmlns:a16="http://schemas.microsoft.com/office/drawing/2014/main" id="{85CCC95B-8015-4AE7-ADCB-129A4AA8170A}"/>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Accessibility and Language Access</a:t>
            </a:r>
          </a:p>
        </p:txBody>
      </p:sp>
      <p:sp>
        <p:nvSpPr>
          <p:cNvPr id="17" name="">
            <a:extLst xmlns:a="http://schemas.openxmlformats.org/drawingml/2006/main">
              <a:ext uri="{FF2B5EF4-FFF2-40B4-BE49-F238E27FC236}">
                <a16:creationId xmlns:a16="http://schemas.microsoft.com/office/drawing/2014/main" id="{8D0D8098-E213-4C42-A1CF-52D49E4E968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2646593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A22E856-60FE-4E8A-A252-9CF362A16788}"/>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DCE58ADC-8049-49DE-9A80-D994C2E84580}"/>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FE851A1D-D1A2-4C4F-B5DC-2167FC3EFC1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9727E25E-DCCD-4D70-B76C-F2310C63AB93}"/>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3A964242-B2C3-4592-8A7B-D0AECE01B7E3}"/>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2568DA64-4D2F-44F8-815C-6C36E7FAF0FE}"/>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94D99AA1-C31F-46CC-94F7-96963B8FBED3}"/>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Review AI translations</a:t>
            </a:r>
          </a:p>
        </p:txBody>
      </p:sp>
      <p:sp>
        <p:nvSpPr>
          <p:cNvPr id="8" name="">
            <a:extLst xmlns:a="http://schemas.openxmlformats.org/drawingml/2006/main">
              <a:ext uri="{FF2B5EF4-FFF2-40B4-BE49-F238E27FC236}">
                <a16:creationId xmlns:a16="http://schemas.microsoft.com/office/drawing/2014/main" id="{8C24A4AF-4AB4-4786-949C-1431BC2C02E0}"/>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6AD56BD6-6B04-46FF-95BE-DFC669A72B93}"/>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74CB5C3B-4B43-40C7-A0DD-81ADBCFC8653}"/>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C3AE7931-8F84-4616-B654-D266B67BE1DE}"/>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Test chatbot accessibility</a:t>
            </a:r>
          </a:p>
        </p:txBody>
      </p:sp>
      <p:sp>
        <p:nvSpPr>
          <p:cNvPr id="12" name="">
            <a:extLst xmlns:a="http://schemas.openxmlformats.org/drawingml/2006/main">
              <a:ext uri="{FF2B5EF4-FFF2-40B4-BE49-F238E27FC236}">
                <a16:creationId xmlns:a16="http://schemas.microsoft.com/office/drawing/2014/main" id="{D94B570D-3F10-4D93-AC38-9BFDC3005FFD}"/>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A595378B-2464-4815-A51E-A57E2583C9D7}"/>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BD71226A-92A1-4DC8-B537-31096F6A2F24}"/>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7633851C-3054-4761-9405-839EE97450F5}"/>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Check plain-language outputs</a:t>
            </a:r>
          </a:p>
        </p:txBody>
      </p:sp>
      <p:sp>
        <p:nvSpPr>
          <p:cNvPr id="16" name="">
            <a:extLst xmlns:a="http://schemas.openxmlformats.org/drawingml/2006/main">
              <a:ext uri="{FF2B5EF4-FFF2-40B4-BE49-F238E27FC236}">
                <a16:creationId xmlns:a16="http://schemas.microsoft.com/office/drawing/2014/main" id="{40894AEA-48C7-4F14-8C46-29B89CD21804}"/>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7C83A11D-B90E-49A3-91F6-4DA6BFD18F42}"/>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Accessibility and Language Access</a:t>
            </a:r>
          </a:p>
        </p:txBody>
      </p:sp>
      <p:sp>
        <p:nvSpPr>
          <p:cNvPr id="18" name="">
            <a:extLst xmlns:a="http://schemas.openxmlformats.org/drawingml/2006/main">
              <a:ext uri="{FF2B5EF4-FFF2-40B4-BE49-F238E27FC236}">
                <a16:creationId xmlns:a16="http://schemas.microsoft.com/office/drawing/2014/main" id="{0630C2A3-5CF5-4292-898B-403B6314CE21}"/>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501659797"/>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0295A52-A135-4BDC-ADE8-2EE86CE9B439}"/>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13DC214E-278C-488A-B649-3261E29A3AC3}"/>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1E82369C-8098-4136-A9C7-DAC7E15E4E8C}"/>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201B5F3F-6702-403A-BA82-C83F94016924}"/>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911F1B7A-AC65-4562-AE71-CD4F350341E3}"/>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44121440-FCA8-42AC-AD10-C0FC21D8D76C}"/>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5C174ECC-E643-4E45-8C12-635CF4B472C3}"/>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Which AI-supported outputs will be public-facing or client-facing? Who reviews translations, accessibility, readability, and cultural context? What non-AI or human pathway remains available?</a:t>
            </a:r>
          </a:p>
        </p:txBody>
      </p:sp>
      <p:sp>
        <p:nvSpPr>
          <p:cNvPr id="8" name="">
            <a:extLst xmlns:a="http://schemas.openxmlformats.org/drawingml/2006/main">
              <a:ext uri="{FF2B5EF4-FFF2-40B4-BE49-F238E27FC236}">
                <a16:creationId xmlns:a16="http://schemas.microsoft.com/office/drawing/2014/main" id="{0232CAA2-E79A-4A15-A22C-45692D2C8683}"/>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91EAB545-3E83-4E91-BE69-445667D2AF5B}"/>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B3E69B11-F7D3-4CE4-94C2-190F4EB35110}"/>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8EB0A874-D606-4DF9-97FD-D69E871F3DC3}"/>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Review an AI-generated public health message and identify changes needed for plain language, accessibility, language access, cultural context, and human assistance pathways.</a:t>
            </a:r>
          </a:p>
        </p:txBody>
      </p:sp>
      <p:sp>
        <p:nvSpPr>
          <p:cNvPr id="12" name="">
            <a:extLst xmlns:a="http://schemas.openxmlformats.org/drawingml/2006/main">
              <a:ext uri="{FF2B5EF4-FFF2-40B4-BE49-F238E27FC236}">
                <a16:creationId xmlns:a16="http://schemas.microsoft.com/office/drawing/2014/main" id="{0AC0CE01-B793-4455-9BD7-90066DF35C70}"/>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Accessibility and Language Access</a:t>
            </a:r>
          </a:p>
        </p:txBody>
      </p:sp>
      <p:sp>
        <p:nvSpPr>
          <p:cNvPr id="13" name="">
            <a:extLst xmlns:a="http://schemas.openxmlformats.org/drawingml/2006/main">
              <a:ext uri="{FF2B5EF4-FFF2-40B4-BE49-F238E27FC236}">
                <a16:creationId xmlns:a16="http://schemas.microsoft.com/office/drawing/2014/main" id="{1556A152-D0DB-4789-800A-CF34EC0646B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198982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F58920D-81F9-45A0-8441-6017B0B83F71}"/>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3B806AA-DB85-4CA8-B35A-D17B0B712172}"/>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D3999178-3FFD-49F4-964D-9BE7DE50D2E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5C293E30-44C0-49C4-B850-4547043518B3}"/>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63AFF315-FE69-495F-80CB-085E1F94BB01}"/>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BB9321E7-1BDC-4531-9537-295133F18DEB}"/>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228DF697-C597-4697-A100-533CC9C006A2}"/>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1, 4, 7, 10, 11, 13 and Tools 3, 19, 20, 22, 29, 41, 47.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9D5F0446-37DE-4542-BDAF-8CA0379CDF3B}"/>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0AAD45B6-0B7D-4C5E-B2BA-B80ACBAEC2F4}"/>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70AD52CA-6076-4167-AFDA-C6FE32378299}"/>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CDD34A8A-14F2-4547-BB00-9B6D106ED1AB}"/>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HHS Section 1557: Nondiscrimination and language access context in health programs and activities. ADA.gov: Federal accessibility requirements and guidance. CDC Clear Communication Index: Plain-language review support for health communication.</a:t>
            </a:r>
          </a:p>
        </p:txBody>
      </p:sp>
      <p:sp>
        <p:nvSpPr>
          <p:cNvPr id="12" name="">
            <a:extLst xmlns:a="http://schemas.openxmlformats.org/drawingml/2006/main">
              <a:ext uri="{FF2B5EF4-FFF2-40B4-BE49-F238E27FC236}">
                <a16:creationId xmlns:a16="http://schemas.microsoft.com/office/drawing/2014/main" id="{79683B0F-06CC-477F-BDEF-9A6FFFE5E2A7}"/>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Accessibility and Language Access</a:t>
            </a:r>
          </a:p>
        </p:txBody>
      </p:sp>
      <p:sp>
        <p:nvSpPr>
          <p:cNvPr id="13" name="">
            <a:extLst xmlns:a="http://schemas.openxmlformats.org/drawingml/2006/main">
              <a:ext uri="{FF2B5EF4-FFF2-40B4-BE49-F238E27FC236}">
                <a16:creationId xmlns:a16="http://schemas.microsoft.com/office/drawing/2014/main" id="{C9C1547E-203F-4E45-A779-22B4AA867834}"/>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7640423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2026-07-02T17:47:05.3500000Z</dcterms:created>
  <dcterms:modified xsi:type="dcterms:W3CDTF">2026-07-02T17:47:05.3500000Z</dcterms:modified>
</coreProperties>
</file>