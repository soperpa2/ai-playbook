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330 Cloud, Containers, and Secure Deployment Basics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operations-data-quality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cloud, containers, and secure deployment basics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deployment readiness worksheet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Cloud, Containers, and Secure Deployment Basics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Cloud computing provides remote infrastructure, platforms, and services that can host data pipelines, analytics environments, AI tools, and public health applications. Cloud deployment can improve scalability and resilience, but only when identity, access, logging, encryption, and governance are configured correctly.
Containers package software and its dependencies so that it can run consistently across environments. Containers can improve reproducibility and deployment speed, but they must be scanned, patched, configured, and monitored. Container use does not remove the need for secure architecture.
Identity and access management defines who or what can access systems, data, and actions. In AI workflows, IAM must include human users, service accounts, APIs, agents, and automation tools. Poorly designed access can expose sensitive data or allow unauthorized write-back to systems of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deploy an internal RAG assistant in a cloud environment so staff can search approved guidance and protocols. The tool may be low risk if it uses public documents, but it becomes higher risk if it retrieves sensitive policies, case notes, or internal operational documents. Secure deployment requires access controls, document-level permissions, logging, monitoring, backup, and a process for removing outdated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Secure deployment begins with environment separation. Development, testing, staging, and production environments should be clearly separated so experimental tools do not affect operational systems. Sensitive production data should not be copied into lower environments unless approved controls are in place.
Logging and monitoring are central to deployment safety. Agencies should know when systems are accessed, when APIs fail, when models produce errors, when unusual activity occurs, and when infrastructure changes are made. Logs should be protected because they can contain sensitive information.
Secrets management is essential for AI integrations. API keys, database passwords, certificates, and tokens should not be embedded in code, prompts, shared documents, or configuration files that are not secured. A compromised secret can allow unauthorized access to data or actions across connected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deployment readiness worksheet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secure deployment readiness worksheet.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secure deployment readiness worksheet.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cloud, containers, and secure deployment basics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Cybersecurity Framework and cloud security guidance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Cloud, Containers, and Secure Deployment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 easier to move, scale, and maintain.</a:t>
            </a:r>
            <a:endParaRPr lang="en-US" sz="1700" dirty="0"/>
          </a:p>
          <a:p>
            <a:r>
              <a:rPr lang="en-US" sz="1700" dirty="0">
                <a:solidFill>
                  <a:srgbClr val="17364A"/>
                </a:solidFill>
                <a:latin typeface="Aptos" pitchFamily="34" charset="0"/>
                <a:ea typeface="Aptos" pitchFamily="34" charset="-122"/>
                <a:cs typeface="Aptos" pitchFamily="34" charset="-120"/>
              </a:rPr>
              <a:t>Public health staff do not need to become cloud engineers, but they need enough technical literacy to understand hosting, identity and access.</a:t>
            </a:r>
            <a:endParaRPr lang="en-US" sz="1700" dirty="0"/>
          </a:p>
          <a:p>
            <a:r>
              <a:rPr lang="en-US" sz="1700" dirty="0">
                <a:solidFill>
                  <a:srgbClr val="17364A"/>
                </a:solidFill>
                <a:latin typeface="Aptos" pitchFamily="34" charset="0"/>
                <a:ea typeface="Aptos" pitchFamily="34" charset="-122"/>
                <a:cs typeface="Aptos" pitchFamily="34" charset="-120"/>
              </a:rPr>
              <a:t>This module connects deployment choices to public health continuity, privacy, cybersecurity, and sustainability.</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Technical Architecture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operations-data-quality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cloud, containers, and secure deployment basics in public health AI work.</a:t>
            </a:r>
            <a:endParaRPr lang="en-US" sz="1700" dirty="0"/>
          </a:p>
          <a:p>
            <a:r>
              <a:rPr lang="en-US" sz="17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1700" dirty="0"/>
          </a:p>
          <a:p>
            <a:r>
              <a:rPr lang="en-US" sz="1700" dirty="0">
                <a:solidFill>
                  <a:srgbClr val="17364A"/>
                </a:solidFill>
                <a:latin typeface="Aptos" pitchFamily="34" charset="0"/>
                <a:ea typeface="Aptos" pitchFamily="34" charset="-122"/>
                <a:cs typeface="Aptos" pitchFamily="34" charset="-120"/>
              </a:rPr>
              <a:t>Recognize common failure modes that can affect safety, accuracy, trust, workflow fit, or sustainability.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cloud, containers, and secure deployment basics in public health AI 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 secure deployment readiness worksheet that can support readiness assessment, governance review, procurement,.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 secure deployment readiness worksheet that can support readiness assessment, governance review, procurement,.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 easier to move, scale,.</a:t>
            </a:r>
            <a:endParaRPr lang="en-US" sz="1700" dirty="0"/>
          </a:p>
          <a:p>
            <a:r>
              <a:rPr lang="en-US" sz="1700" dirty="0">
                <a:solidFill>
                  <a:srgbClr val="17364A"/>
                </a:solidFill>
                <a:latin typeface="Aptos" pitchFamily="34" charset="0"/>
                <a:ea typeface="Aptos" pitchFamily="34" charset="-122"/>
                <a:cs typeface="Aptos" pitchFamily="34" charset="-120"/>
              </a:rPr>
              <a:t>Public health staff do not need to become cloud engineers, but they need enough technical literacy to understand hosting,.</a:t>
            </a:r>
            <a:endParaRPr lang="en-US" sz="1700" dirty="0"/>
          </a:p>
          <a:p>
            <a:r>
              <a:rPr lang="en-US" sz="1700" dirty="0">
                <a:solidFill>
                  <a:srgbClr val="17364A"/>
                </a:solidFill>
                <a:latin typeface="Aptos" pitchFamily="34" charset="0"/>
                <a:ea typeface="Aptos" pitchFamily="34" charset="-122"/>
                <a:cs typeface="Aptos" pitchFamily="34" charset="-120"/>
              </a:rPr>
              <a:t>This module connects deployment choices to public health continuity, privacy, cybersecurity, and sustainability.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 easier to move, scale,.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Cloud, Containers, and Secure Deployment Basics matters because AI systems are embedded in public health programs, data.</a:t>
            </a:r>
            <a:endParaRPr lang="en-US" sz="1700" dirty="0"/>
          </a:p>
          <a:p>
            <a:r>
              <a:rPr lang="en-US" sz="17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1700" dirty="0"/>
          </a:p>
          <a:p>
            <a:r>
              <a:rPr lang="en-US" sz="17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1700" dirty="0"/>
          </a:p>
          <a:p>
            <a:r>
              <a:rPr lang="en-US" sz="1700" dirty="0">
                <a:solidFill>
                  <a:srgbClr val="17364A"/>
                </a:solidFill>
                <a:latin typeface="Aptos" pitchFamily="34" charset="0"/>
                <a:ea typeface="Aptos" pitchFamily="34" charset="-122"/>
                <a:cs typeface="Aptos" pitchFamily="34" charset="-120"/>
              </a:rPr>
              <a:t>The topic also affects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Cloud, Containers, and Secure Deployment Basics matters because AI systems are embedded in public health programs, data.</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Cloud computing provides remote infrastructure, platforms, and services that can host data pipelines, analytics.</a:t>
            </a:r>
            <a:endParaRPr lang="en-US" sz="1700" dirty="0"/>
          </a:p>
          <a:p>
            <a:r>
              <a:rPr lang="en-US" sz="1700" dirty="0">
                <a:solidFill>
                  <a:srgbClr val="17364A"/>
                </a:solidFill>
                <a:latin typeface="Aptos" pitchFamily="34" charset="0"/>
                <a:ea typeface="Aptos" pitchFamily="34" charset="-122"/>
                <a:cs typeface="Aptos" pitchFamily="34" charset="-120"/>
              </a:rPr>
              <a:t>Cloud deployment can improve scalability and resilience, but only when identity, access, logging, encryption, and.</a:t>
            </a:r>
            <a:endParaRPr lang="en-US" sz="1700" dirty="0"/>
          </a:p>
          <a:p>
            <a:r>
              <a:rPr lang="en-US" sz="1700" dirty="0">
                <a:solidFill>
                  <a:srgbClr val="17364A"/>
                </a:solidFill>
                <a:latin typeface="Aptos" pitchFamily="34" charset="0"/>
                <a:ea typeface="Aptos" pitchFamily="34" charset="-122"/>
                <a:cs typeface="Aptos" pitchFamily="34" charset="-120"/>
              </a:rPr>
              <a:t>Containers package software and its dependencies so that it can run consistently across environments.</a:t>
            </a:r>
            <a:endParaRPr lang="en-US" sz="1700" dirty="0"/>
          </a:p>
          <a:p>
            <a:r>
              <a:rPr lang="en-US" sz="1700" dirty="0">
                <a:solidFill>
                  <a:srgbClr val="17364A"/>
                </a:solidFill>
                <a:latin typeface="Aptos" pitchFamily="34" charset="0"/>
                <a:ea typeface="Aptos" pitchFamily="34" charset="-122"/>
                <a:cs typeface="Aptos" pitchFamily="34" charset="-120"/>
              </a:rPr>
              <a:t>Containers can improve reproducibility and deployment speed, but they must be scanned, patched, configured, and monitored.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Cloud computing provides remote infrastructure, platforms, and services that can host data pipelines, analytics.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agency may deploy an internal RAG assistant in a cloud environment so staff can search approved guidance.</a:t>
            </a:r>
            <a:endParaRPr lang="en-US" sz="1700" dirty="0"/>
          </a:p>
          <a:p>
            <a:r>
              <a:rPr lang="en-US" sz="1700" dirty="0">
                <a:solidFill>
                  <a:srgbClr val="17364A"/>
                </a:solidFill>
                <a:latin typeface="Aptos" pitchFamily="34" charset="0"/>
                <a:ea typeface="Aptos" pitchFamily="34" charset="-122"/>
                <a:cs typeface="Aptos" pitchFamily="34" charset="-120"/>
              </a:rPr>
              <a:t>The tool may be low risk if it uses public documents, but it becomes higher risk if it retrieves sensitive policies, case.</a:t>
            </a:r>
            <a:endParaRPr lang="en-US" sz="1700" dirty="0"/>
          </a:p>
          <a:p>
            <a:r>
              <a:rPr lang="en-US" sz="1700" dirty="0">
                <a:solidFill>
                  <a:srgbClr val="17364A"/>
                </a:solidFill>
                <a:latin typeface="Aptos" pitchFamily="34" charset="0"/>
                <a:ea typeface="Aptos" pitchFamily="34" charset="-122"/>
                <a:cs typeface="Aptos" pitchFamily="34" charset="-120"/>
              </a:rPr>
              <a:t>Secure deployment requires access controls, document-level permissions, logging, monitoring, backup, and a process for.</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agency may deploy an internal RAG assistant in a cloud environment so staff can search approved guidance.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Secure deployment begins with environment separation.</a:t>
            </a:r>
            <a:endParaRPr lang="en-US" sz="1700" dirty="0"/>
          </a:p>
          <a:p>
            <a:r>
              <a:rPr lang="en-US" sz="1700" dirty="0">
                <a:solidFill>
                  <a:srgbClr val="17364A"/>
                </a:solidFill>
                <a:latin typeface="Aptos" pitchFamily="34" charset="0"/>
                <a:ea typeface="Aptos" pitchFamily="34" charset="-122"/>
                <a:cs typeface="Aptos" pitchFamily="34" charset="-120"/>
              </a:rPr>
              <a:t>Development, testing, staging, and production environments should be clearly separated so experimental tools do not affect.</a:t>
            </a:r>
            <a:endParaRPr lang="en-US" sz="1700" dirty="0"/>
          </a:p>
          <a:p>
            <a:r>
              <a:rPr lang="en-US" sz="1700" dirty="0">
                <a:solidFill>
                  <a:srgbClr val="17364A"/>
                </a:solidFill>
                <a:latin typeface="Aptos" pitchFamily="34" charset="0"/>
                <a:ea typeface="Aptos" pitchFamily="34" charset="-122"/>
                <a:cs typeface="Aptos" pitchFamily="34" charset="-120"/>
              </a:rPr>
              <a:t>Sensitive production data should not be copied into lower environments unless approved controls are in place.</a:t>
            </a:r>
            <a:endParaRPr lang="en-US" sz="1700" dirty="0"/>
          </a:p>
          <a:p>
            <a:r>
              <a:rPr lang="en-US" sz="1700" dirty="0">
                <a:solidFill>
                  <a:srgbClr val="17364A"/>
                </a:solidFill>
                <a:latin typeface="Aptos" pitchFamily="34" charset="0"/>
                <a:ea typeface="Aptos" pitchFamily="34" charset="-122"/>
                <a:cs typeface="Aptos" pitchFamily="34" charset="-120"/>
              </a:rPr>
              <a:t>Logging and monitoring are central to deployment safety.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Secure deployment begins with environment separation.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700" dirty="0"/>
          </a:p>
          <a:p>
            <a:r>
              <a:rPr lang="en-US" sz="17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 accountability, the.</a:t>
            </a:r>
            <a:endParaRPr lang="en-US" sz="1700" dirty="0"/>
          </a:p>
          <a:p>
            <a:r>
              <a:rPr lang="en-US" sz="17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1700" dirty="0"/>
          </a:p>
          <a:p>
            <a:r>
              <a:rPr lang="en-US" sz="1700" dirty="0">
                <a:solidFill>
                  <a:srgbClr val="17364A"/>
                </a:solidFill>
                <a:latin typeface="Aptos" pitchFamily="34" charset="0"/>
                <a:ea typeface="Aptos" pitchFamily="34" charset="-122"/>
                <a:cs typeface="Aptos" pitchFamily="34" charset="-120"/>
              </a:rPr>
              <a:t>Vendors may provide demonstrations, dashboards, or summary metrics that do not match the agency workflow or data environment.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700" dirty="0"/>
          </a:p>
          <a:p>
            <a:r>
              <a:rPr lang="en-US" sz="1700" dirty="0">
                <a:solidFill>
                  <a:srgbClr val="17364A"/>
                </a:solidFill>
                <a:latin typeface="Aptos" pitchFamily="34" charset="0"/>
                <a:ea typeface="Aptos" pitchFamily="34" charset="-122"/>
                <a:cs typeface="Aptos" pitchFamily="34" charset="-120"/>
              </a:rPr>
              <a:t>The controls should be scaled to the risk of the use case.</a:t>
            </a:r>
            <a:endParaRPr lang="en-US" sz="1700" dirty="0"/>
          </a:p>
          <a:p>
            <a:r>
              <a:rPr lang="en-US" sz="17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 records, prioritizes.</a:t>
            </a:r>
            <a:endParaRPr lang="en-US" sz="1700" dirty="0"/>
          </a:p>
          <a:p>
            <a:r>
              <a:rPr lang="en-US" sz="1700" dirty="0">
                <a:solidFill>
                  <a:srgbClr val="17364A"/>
                </a:solidFill>
                <a:latin typeface="Aptos" pitchFamily="34" charset="0"/>
                <a:ea typeface="Aptos" pitchFamily="34" charset="-122"/>
                <a:cs typeface="Aptos" pitchFamily="34" charset="-120"/>
              </a:rPr>
              <a:t>The module should be applied during readiness assessment, procurement, implementation planning, pilot testing,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700" dirty="0"/>
          </a:p>
          <a:p>
            <a:r>
              <a:rPr lang="en-US" sz="17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safeguards should be required before pilot testing?</a:t>
            </a:r>
            <a:endParaRPr lang="en-US" sz="1700" dirty="0"/>
          </a:p>
          <a:p>
            <a:r>
              <a:rPr lang="en-US" sz="1700" dirty="0">
                <a:solidFill>
                  <a:srgbClr val="17364A"/>
                </a:solidFill>
                <a:latin typeface="Aptos" pitchFamily="34" charset="0"/>
                <a:ea typeface="Aptos" pitchFamily="34" charset="-122"/>
                <a:cs typeface="Aptos" pitchFamily="34" charset="-120"/>
              </a:rPr>
              <a:t>Who owns ongoing monitoring and review?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safeguards should be required before pilot testing?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secure deployment readiness worksheet for one real or realistic public health AI workflow.</a:t>
            </a:r>
            <a:endParaRPr lang="en-US" sz="1700" dirty="0"/>
          </a:p>
          <a:p>
            <a:r>
              <a:rPr lang="en-US" sz="17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 guardrails, review.</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 review, implementation.</a:t>
            </a:r>
            <a:endParaRPr lang="en-US" sz="1700" dirty="0"/>
          </a:p>
          <a:p>
            <a:r>
              <a:rPr lang="en-US" sz="1700" dirty="0">
                <a:solidFill>
                  <a:srgbClr val="17364A"/>
                </a:solidFill>
                <a:latin typeface="Aptos" pitchFamily="34" charset="0"/>
                <a:ea typeface="Aptos" pitchFamily="34" charset="-122"/>
                <a:cs typeface="Aptos" pitchFamily="34" charset="-120"/>
              </a:rPr>
              <a:t>Learners should document assumptions and identify which staff or partners need to be consulted.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secure deployment readiness worksheet for one real or realistic public health AI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1700" dirty="0"/>
          </a:p>
          <a:p>
            <a:r>
              <a:rPr lang="en-US" sz="17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 questions, human.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secure deployment readiness worksheet. It should be specific to a public health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secure deployment readiness worksheet. It should be specific to a public health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best reason to address cloud, containers, and secure deployment basics before deployment?</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responsible implementation?</a:t>
            </a:r>
            <a:endParaRPr lang="en-US" sz="1700" dirty="0"/>
          </a:p>
          <a:p>
            <a:r>
              <a:rPr lang="en-US" sz="1700" dirty="0">
                <a:solidFill>
                  <a:srgbClr val="17364A"/>
                </a:solidFill>
                <a:latin typeface="Aptos" pitchFamily="34" charset="0"/>
                <a:ea typeface="Aptos" pitchFamily="34" charset="-122"/>
                <a:cs typeface="Aptos" pitchFamily="34" charset="-120"/>
              </a:rPr>
              <a:t>3. Which statement best describes a common failure mode?</a:t>
            </a:r>
            <a:endParaRPr lang="en-US" sz="1700" dirty="0"/>
          </a:p>
          <a:p>
            <a:r>
              <a:rPr lang="en-US" sz="1700" dirty="0">
                <a:solidFill>
                  <a:srgbClr val="17364A"/>
                </a:solidFill>
                <a:latin typeface="Aptos" pitchFamily="34" charset="0"/>
                <a:ea typeface="Aptos" pitchFamily="34" charset="-122"/>
                <a:cs typeface="Aptos" pitchFamily="34" charset="-120"/>
              </a:rPr>
              <a:t>4. What should be included in the practical artifact for this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best reason to address cloud, containers, and secure deployment basics before deployment?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Cybersecurity Framework and cloud security guidance</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Containers, and Secure Deployment Basics</dc:title>
  <dc:subject>Cloud, Containers, and Secure Deployment Basics learning module</dc:subject>
  <dc:creator>Paula Soper</dc:creator>
  <cp:lastModifiedBy>Paula Soper</cp:lastModifiedBy>
  <cp:revision>1</cp:revision>
  <dcterms:created xsi:type="dcterms:W3CDTF">2026-07-12T18:54:57Z</dcterms:created>
  <dcterms:modified xsi:type="dcterms:W3CDTF">2026-07-12T18:54:57Z</dcterms:modified>
</cp:coreProperties>
</file>