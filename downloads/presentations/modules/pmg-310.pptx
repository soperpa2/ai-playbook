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310 Grant and Funding Management for AI Projects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Program Management Role-Based Track
Appears in tracks: program-management, public-health-executive-leadership, policy, governance-security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grant and funding management for ai projects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Grant and Funding Management for AI Projects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connecting AI projects to allowable costs, deliverables, reporting, performance measures, and sustainability.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grant and funding management for ai projects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Grant and Funding Management for AI Projects artifact
Role and responsibility table
Risk and safeguard summary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Grant and Funding Management for AI Projects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grant and funding management for ai projects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Appendix. Common Source Base Used Across Modules
CDC Public Health Data Strategy and CDC Data Modernization resources.: https://www.cdc.gov/public-health-data-strategy/php/about/index.html
CDC electronic case reporting, electronic laboratory reporting, surveillance, and public health data quality resources.: https://www.cdc.gov/ecr/php/index.html
HL7 FHIR, HL7 US Core, public health implementation guides, CDA, and HL7 v2 implementation materials.: https://hl7.org/fhir/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ONC USCDI, health IT, interoperability, and information blocking resources.: https://isp.healthit.gov/united-states-core-data-interoperability-uscdi
NIST Artificial Intelligence Risk Management Framework, NIST Generative AI Profile, NIST Privacy Framework, and related NIST cybersecurity guidance.: https://www.nist.gov/publications/artificial-intelligence-risk-management-framework-generative-artificial-intelligence
OWASP Top 10 for Large Language Model Applications and related secure AI application guidance.: https://owasp.org/www-project-top-10-for-large-language-model-applications/
WHO ethics and governance guidance for artificial intelligence in health.
Agency policies and procedures for privacy, public records, cybersecurity, procurement, civil rights, accessibility, language access, records retention, incident response, and emergency communications.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Grant and Funding Management for AI Projects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connecting AI projects to allowable costs, deliverables, reporting, performance measures,.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Program Management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program-management, public-health-executive-leadership, policy, governance-security</a:t>
            </a:r>
            <a:endParaRPr lang="en-US" sz="155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Read the module for shared vocabulary and context.</a:t>
            </a:r>
            <a:endParaRPr lang="en-US" sz="1380" dirty="0"/>
          </a:p>
          <a:p>
            <a:r>
              <a:rPr lang="en-US" sz="1380" dirty="0">
                <a:solidFill>
                  <a:srgbClr val="17364A"/>
                </a:solidFill>
                <a:latin typeface="Aptos" pitchFamily="34" charset="0"/>
                <a:ea typeface="Aptos" pitchFamily="34" charset="-122"/>
                <a:cs typeface="Aptos" pitchFamily="34" charset="-120"/>
              </a:rPr>
              <a:t>Complete the practical exercise to apply the concept.</a:t>
            </a:r>
            <a:endParaRPr lang="en-US" sz="1380" dirty="0"/>
          </a:p>
          <a:p>
            <a:r>
              <a:rPr lang="en-US" sz="1380" dirty="0">
                <a:solidFill>
                  <a:srgbClr val="17364A"/>
                </a:solidFill>
                <a:latin typeface="Aptos" pitchFamily="34" charset="0"/>
                <a:ea typeface="Aptos" pitchFamily="34" charset="-122"/>
                <a:cs typeface="Aptos" pitchFamily="34" charset="-120"/>
              </a:rPr>
              <a:t>Use the notes and references for deeper review.</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Locate the decision point in the playbook sequence.</a:t>
            </a:r>
            <a:endParaRPr lang="en-US" sz="1380" dirty="0"/>
          </a:p>
          <a:p>
            <a:r>
              <a:rPr lang="en-US" sz="1380" dirty="0">
                <a:solidFill>
                  <a:srgbClr val="17364A"/>
                </a:solidFill>
                <a:latin typeface="Aptos" pitchFamily="34" charset="0"/>
                <a:ea typeface="Aptos" pitchFamily="34" charset="-122"/>
                <a:cs typeface="Aptos" pitchFamily="34" charset="-120"/>
              </a:rPr>
              <a:t>Identify who should participate in the work.</a:t>
            </a:r>
            <a:endParaRPr lang="en-US" sz="1380" dirty="0"/>
          </a:p>
          <a:p>
            <a:r>
              <a:rPr lang="en-US" sz="1380" dirty="0">
                <a:solidFill>
                  <a:srgbClr val="17364A"/>
                </a:solidFill>
                <a:latin typeface="Aptos" pitchFamily="34" charset="0"/>
                <a:ea typeface="Aptos" pitchFamily="34" charset="-122"/>
                <a:cs typeface="Aptos" pitchFamily="34" charset="-120"/>
              </a:rPr>
              <a:t>Document the review, approval, or implementation step.</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a tool when no comparable local process exists.</a:t>
            </a:r>
            <a:endParaRPr lang="en-US" sz="1380" dirty="0"/>
          </a:p>
          <a:p>
            <a:r>
              <a:rPr lang="en-US" sz="1380" dirty="0">
                <a:solidFill>
                  <a:srgbClr val="17364A"/>
                </a:solidFill>
                <a:latin typeface="Aptos" pitchFamily="34" charset="0"/>
                <a:ea typeface="Aptos" pitchFamily="34" charset="-122"/>
                <a:cs typeface="Aptos" pitchFamily="34" charset="-120"/>
              </a:rPr>
              <a:t>Adapt existing department templates when they already fit the purpose.</a:t>
            </a:r>
            <a:endParaRPr lang="en-US" sz="1380" dirty="0"/>
          </a:p>
          <a:p>
            <a:r>
              <a:rPr lang="en-US" sz="1380" dirty="0">
                <a:solidFill>
                  <a:srgbClr val="17364A"/>
                </a:solidFill>
                <a:latin typeface="Aptos" pitchFamily="34" charset="0"/>
                <a:ea typeface="Aptos" pitchFamily="34" charset="-122"/>
                <a:cs typeface="Aptos" pitchFamily="34" charset="-120"/>
              </a:rPr>
              <a:t>Save the completed artifact as evidence of the decision.</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grant and funding management for ai projects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grant and funding management for ai projects in public health AI.</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Recognize equity, privacy, security, legal, operational, and public trust implications.</a:t>
            </a:r>
            <a:endParaRPr lang="en-US" sz="1380" dirty="0"/>
          </a:p>
          <a:p>
            <a:r>
              <a:rPr lang="en-US" sz="1380" dirty="0">
                <a:solidFill>
                  <a:srgbClr val="17364A"/>
                </a:solidFill>
                <a:latin typeface="Aptos" pitchFamily="34" charset="0"/>
                <a:ea typeface="Aptos" pitchFamily="34" charset="-122"/>
                <a:cs typeface="Aptos" pitchFamily="34" charset="-120"/>
              </a:rPr>
              <a:t>Produce a practical artifact that supports readiness, governance, implementation,.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connecting AI projects to allowable costs, deliverables, reporting, performance.</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connecting AI projects to allowable costs, deliverables, reporting, performance.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This module focuses on connecting AI projects to allowable costs, deliverables, reporting,.</a:t>
            </a:r>
            <a:endParaRPr lang="en-US" sz="1380" dirty="0"/>
          </a:p>
          <a:p>
            <a:r>
              <a:rPr lang="en-US" sz="1380" dirty="0">
                <a:solidFill>
                  <a:srgbClr val="17364A"/>
                </a:solidFill>
                <a:latin typeface="Aptos" pitchFamily="34" charset="0"/>
                <a:ea typeface="Aptos" pitchFamily="34" charset="-122"/>
                <a:cs typeface="Aptos" pitchFamily="34" charset="-120"/>
              </a:rPr>
              <a:t>It is designed for public health staff who must translate responsible AI principles into.</a:t>
            </a:r>
            <a:endParaRPr lang="en-US" sz="1380" dirty="0"/>
          </a:p>
          <a:p>
            <a:r>
              <a:rPr lang="en-US" sz="1380" dirty="0">
                <a:solidFill>
                  <a:srgbClr val="17364A"/>
                </a:solidFill>
                <a:latin typeface="Aptos" pitchFamily="34" charset="0"/>
                <a:ea typeface="Aptos" pitchFamily="34" charset="-122"/>
                <a:cs typeface="Aptos" pitchFamily="34" charset="-120"/>
              </a:rPr>
              <a:t>The module helps learners move beyond general awareness by producing a practical artifact.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Decision right: The authority to approve, deny, modify, pause, or escalate an AI use case.</a:t>
            </a:r>
            <a:endParaRPr lang="en-US" sz="1380" dirty="0"/>
          </a:p>
          <a:p>
            <a:r>
              <a:rPr lang="en-US" sz="1380" dirty="0">
                <a:solidFill>
                  <a:srgbClr val="17364A"/>
                </a:solidFill>
                <a:latin typeface="Aptos" pitchFamily="34" charset="0"/>
                <a:ea typeface="Aptos" pitchFamily="34" charset="-122"/>
                <a:cs typeface="Aptos" pitchFamily="34" charset="-120"/>
              </a:rPr>
              <a:t>Evidence artifact: A document, log, checklist, test result, approval record, or review.</a:t>
            </a:r>
            <a:endParaRPr lang="en-US" sz="1380" dirty="0"/>
          </a:p>
          <a:p>
            <a:r>
              <a:rPr lang="en-US" sz="1380" dirty="0">
                <a:solidFill>
                  <a:srgbClr val="17364A"/>
                </a:solidFill>
                <a:latin typeface="Aptos" pitchFamily="34" charset="0"/>
                <a:ea typeface="Aptos" pitchFamily="34" charset="-122"/>
                <a:cs typeface="Aptos" pitchFamily="34" charset="-120"/>
              </a:rPr>
              <a:t>Accountability owner: The person or role responsible for ensuring that an AI use case is.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It is not legal advice and does not replace review by agency legal counsel, privacy.</a:t>
            </a:r>
            <a:endParaRPr lang="en-US" sz="1380" dirty="0"/>
          </a:p>
          <a:p>
            <a:r>
              <a:rPr lang="en-US" sz="1380" dirty="0">
                <a:solidFill>
                  <a:srgbClr val="17364A"/>
                </a:solidFill>
                <a:latin typeface="Aptos" pitchFamily="34" charset="0"/>
                <a:ea typeface="Aptos" pitchFamily="34" charset="-122"/>
                <a:cs typeface="Aptos" pitchFamily="34" charset="-120"/>
              </a:rPr>
              <a:t>Requirements may vary by state, locality, territory, Tribe, agency, funding source,.</a:t>
            </a:r>
            <a:endParaRPr lang="en-US" sz="1380" dirty="0"/>
          </a:p>
          <a:p>
            <a:r>
              <a:rPr lang="en-US" sz="1380" dirty="0">
                <a:solidFill>
                  <a:srgbClr val="17364A"/>
                </a:solidFill>
                <a:latin typeface="Aptos" pitchFamily="34" charset="0"/>
                <a:ea typeface="Aptos" pitchFamily="34" charset="-122"/>
                <a:cs typeface="Aptos" pitchFamily="34" charset="-120"/>
              </a:rPr>
              <a:t>Learners should use this module to identify the issues that require review and should.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Grant and Funding Management for AI Projects matters because AI adoption changes how public health.</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Grant and Funding Management for AI Projects matters because AI adoption changes how public health.</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Grant and Funding Management for AI Projects matters because AI adoption changes how.</a:t>
            </a:r>
            <a:endParaRPr lang="en-US" sz="1380" dirty="0"/>
          </a:p>
          <a:p>
            <a:r>
              <a:rPr lang="en-US" sz="1380" dirty="0">
                <a:solidFill>
                  <a:srgbClr val="17364A"/>
                </a:solidFill>
                <a:latin typeface="Aptos" pitchFamily="34" charset="0"/>
                <a:ea typeface="Aptos" pitchFamily="34" charset="-122"/>
                <a:cs typeface="Aptos" pitchFamily="34" charset="-120"/>
              </a:rPr>
              <a:t>Without a structured approach, staff may rely on informal practices, vendor assurances, or.</a:t>
            </a:r>
            <a:endParaRPr lang="en-US" sz="1380" dirty="0"/>
          </a:p>
          <a:p>
            <a:r>
              <a:rPr lang="en-US" sz="1380" dirty="0">
                <a:solidFill>
                  <a:srgbClr val="17364A"/>
                </a:solidFill>
                <a:latin typeface="Aptos" pitchFamily="34" charset="0"/>
                <a:ea typeface="Aptos" pitchFamily="34" charset="-122"/>
                <a:cs typeface="Aptos" pitchFamily="34" charset="-120"/>
              </a:rPr>
              <a:t>Public health agencies operate under legal authorities, public accountability, resource.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connecting AI projects to.</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connecting AI projects to.</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public health agency is preparing to use AI in a workflow related to connecting AI.</a:t>
            </a:r>
            <a:endParaRPr lang="en-US" sz="1380" dirty="0"/>
          </a:p>
          <a:p>
            <a:r>
              <a:rPr lang="en-US" sz="1380" dirty="0">
                <a:solidFill>
                  <a:srgbClr val="17364A"/>
                </a:solidFill>
                <a:latin typeface="Aptos" pitchFamily="34" charset="0"/>
                <a:ea typeface="Aptos" pitchFamily="34" charset="-122"/>
                <a:cs typeface="Aptos" pitchFamily="34" charset="-120"/>
              </a:rPr>
              <a:t>The project team initially treats the tool as a helpful efficiency aid, but governance.</a:t>
            </a:r>
            <a:endParaRPr lang="en-US" sz="1380" dirty="0"/>
          </a:p>
          <a:p>
            <a:r>
              <a:rPr lang="en-US" sz="1380" dirty="0">
                <a:solidFill>
                  <a:srgbClr val="17364A"/>
                </a:solidFill>
                <a:latin typeface="Aptos" pitchFamily="34" charset="0"/>
                <a:ea typeface="Aptos" pitchFamily="34" charset="-122"/>
                <a:cs typeface="Aptos" pitchFamily="34" charset="-120"/>
              </a:rPr>
              <a:t>The agency responds by creating a clear artifact that defines intended use, prohibited.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Staff should identify who is affected, what data are used, what AI output is produced, who.</a:t>
            </a:r>
            <a:endParaRPr lang="en-US" sz="1380" dirty="0"/>
          </a:p>
          <a:p>
            <a:r>
              <a:rPr lang="en-US" sz="1380" dirty="0">
                <a:solidFill>
                  <a:srgbClr val="17364A"/>
                </a:solidFill>
                <a:latin typeface="Aptos" pitchFamily="34" charset="0"/>
                <a:ea typeface="Aptos" pitchFamily="34" charset="-122"/>
                <a:cs typeface="Aptos" pitchFamily="34" charset="-120"/>
              </a:rPr>
              <a:t>The second step is to assign responsibilities.</a:t>
            </a:r>
            <a:endParaRPr lang="en-US" sz="1380" dirty="0"/>
          </a:p>
          <a:p>
            <a:r>
              <a:rPr lang="en-US" sz="1380" dirty="0">
                <a:solidFill>
                  <a:srgbClr val="17364A"/>
                </a:solidFill>
                <a:latin typeface="Aptos" pitchFamily="34" charset="0"/>
                <a:ea typeface="Aptos" pitchFamily="34" charset="-122"/>
                <a:cs typeface="Aptos" pitchFamily="34" charset="-120"/>
              </a:rPr>
              <a:t>AI-supported workflows often cross program, IT, legal, privacy, communications,.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Another failure mode is unclear ownership.</a:t>
            </a:r>
            <a:endParaRPr lang="en-US" sz="1380" dirty="0"/>
          </a:p>
          <a:p>
            <a:r>
              <a:rPr lang="en-US" sz="1380" dirty="0">
                <a:solidFill>
                  <a:srgbClr val="17364A"/>
                </a:solidFill>
                <a:latin typeface="Aptos" pitchFamily="34" charset="0"/>
                <a:ea typeface="Aptos" pitchFamily="34" charset="-122"/>
                <a:cs typeface="Aptos" pitchFamily="34" charset="-120"/>
              </a:rPr>
              <a:t>When everyone is responsible in general, no one may be responsible in practice.</a:t>
            </a:r>
            <a:endParaRPr lang="en-US" sz="1380" dirty="0"/>
          </a:p>
          <a:p>
            <a:r>
              <a:rPr lang="en-US" sz="1380" dirty="0">
                <a:solidFill>
                  <a:srgbClr val="17364A"/>
                </a:solidFill>
                <a:latin typeface="Aptos" pitchFamily="34" charset="0"/>
                <a:ea typeface="Aptos" pitchFamily="34" charset="-122"/>
                <a:cs typeface="Aptos" pitchFamily="34" charset="-120"/>
              </a:rPr>
              <a:t>A guardrail is to assign an accountability owner and name escalation pathways.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This topic applies across generative AI, predictive analytics, NLP, RAG, automation, and.</a:t>
            </a:r>
            <a:endParaRPr lang="en-US" sz="1380" dirty="0"/>
          </a:p>
          <a:p>
            <a:r>
              <a:rPr lang="en-US" sz="1380" dirty="0">
                <a:solidFill>
                  <a:srgbClr val="17364A"/>
                </a:solidFill>
                <a:latin typeface="Aptos" pitchFamily="34" charset="0"/>
                <a:ea typeface="Aptos" pitchFamily="34" charset="-122"/>
                <a:cs typeface="Aptos" pitchFamily="34" charset="-120"/>
              </a:rPr>
              <a:t>The more sensitive the data, the more consequential the output, or the more automated the.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public health decision or workflow does this topic affect?</a:t>
            </a:r>
            <a:endParaRPr lang="en-US" sz="1380" dirty="0"/>
          </a:p>
          <a:p>
            <a:r>
              <a:rPr lang="en-US" sz="1380" dirty="0">
                <a:solidFill>
                  <a:srgbClr val="17364A"/>
                </a:solidFill>
                <a:latin typeface="Aptos" pitchFamily="34" charset="0"/>
                <a:ea typeface="Aptos" pitchFamily="34" charset="-122"/>
                <a:cs typeface="Aptos" pitchFamily="34" charset="-120"/>
              </a:rPr>
              <a:t>Who has authority to approve or pause the work?</a:t>
            </a:r>
            <a:endParaRPr lang="en-US" sz="1380" dirty="0"/>
          </a:p>
          <a:p>
            <a:r>
              <a:rPr lang="en-US" sz="138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380" dirty="0"/>
          </a:p>
          <a:p>
            <a:r>
              <a:rPr lang="en-US" sz="1380" dirty="0">
                <a:solidFill>
                  <a:srgbClr val="17364A"/>
                </a:solidFill>
                <a:latin typeface="Aptos" pitchFamily="34" charset="0"/>
                <a:ea typeface="Aptos" pitchFamily="34" charset="-122"/>
                <a:cs typeface="Aptos" pitchFamily="34" charset="-120"/>
              </a:rPr>
              <a:t>How will the agency know when the workflow needs to be revised?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grant and funding management for ai projects artifact for one AI-supported public.</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grant and funding management for ai projects artifact for one AI-supported public.</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Create a practical grant and funding management for ai projects artifact for one.</a:t>
            </a:r>
            <a:endParaRPr lang="en-US" sz="1380" dirty="0"/>
          </a:p>
          <a:p>
            <a:r>
              <a:rPr lang="en-US" sz="1380" dirty="0">
                <a:solidFill>
                  <a:srgbClr val="17364A"/>
                </a:solidFill>
                <a:latin typeface="Aptos" pitchFamily="34" charset="0"/>
                <a:ea typeface="Aptos" pitchFamily="34" charset="-122"/>
                <a:cs typeface="Aptos" pitchFamily="34" charset="-120"/>
              </a:rPr>
              <a:t>The artifact should define the use case, affected roles, review criteria, safeguards,.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Grant and Funding Management for AI Projects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Grant and Funding Management for AI Projects artifact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Grant and Funding Management for AI Projects artifact</a:t>
            </a:r>
            <a:endParaRPr lang="en-US" sz="1380" dirty="0"/>
          </a:p>
          <a:p>
            <a:r>
              <a:rPr lang="en-US" sz="1380" dirty="0">
                <a:solidFill>
                  <a:srgbClr val="17364A"/>
                </a:solidFill>
                <a:latin typeface="Aptos" pitchFamily="34" charset="0"/>
                <a:ea typeface="Aptos" pitchFamily="34" charset="-122"/>
                <a:cs typeface="Aptos" pitchFamily="34" charset="-120"/>
              </a:rPr>
              <a:t>Role and responsibility table</a:t>
            </a:r>
            <a:endParaRPr lang="en-US" sz="1380" dirty="0"/>
          </a:p>
          <a:p>
            <a:r>
              <a:rPr lang="en-US" sz="1380" dirty="0">
                <a:solidFill>
                  <a:srgbClr val="17364A"/>
                </a:solidFill>
                <a:latin typeface="Aptos" pitchFamily="34" charset="0"/>
                <a:ea typeface="Aptos" pitchFamily="34" charset="-122"/>
                <a:cs typeface="Aptos" pitchFamily="34" charset="-120"/>
              </a:rPr>
              <a:t>Risk and safeguard summary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Escalation and monitoring plan</a:t>
            </a:r>
            <a:endParaRPr lang="en-US" sz="1380" dirty="0"/>
          </a:p>
          <a:p>
            <a:r>
              <a:rPr lang="en-US" sz="1380" dirty="0">
                <a:solidFill>
                  <a:srgbClr val="17364A"/>
                </a:solidFill>
                <a:latin typeface="Aptos" pitchFamily="34" charset="0"/>
                <a:ea typeface="Aptos" pitchFamily="34" charset="-122"/>
                <a:cs typeface="Aptos" pitchFamily="34" charset="-120"/>
              </a:rPr>
              <a:t>Approval or review note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Grant and Funding Management for AI Projects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Grant and Funding Management for AI Projects artifact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Escalation and monitoring plan</a:t>
            </a:r>
            <a:endParaRPr lang="en-US" sz="1380" dirty="0"/>
          </a:p>
          <a:p>
            <a:r>
              <a:rPr lang="en-US" sz="1380" dirty="0">
                <a:solidFill>
                  <a:srgbClr val="17364A"/>
                </a:solidFill>
                <a:latin typeface="Aptos" pitchFamily="34" charset="0"/>
                <a:ea typeface="Aptos" pitchFamily="34" charset="-122"/>
                <a:cs typeface="Aptos" pitchFamily="34" charset="-120"/>
              </a:rPr>
              <a:t>Approval or review note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grant and funding management for ai projects has been applied.</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grant and funding management for ai projects has been applied.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1.</a:t>
            </a:r>
            <a:endParaRPr lang="en-US" sz="1380" dirty="0"/>
          </a:p>
          <a:p>
            <a:r>
              <a:rPr lang="en-US" sz="1380" dirty="0">
                <a:solidFill>
                  <a:srgbClr val="17364A"/>
                </a:solidFill>
                <a:latin typeface="Aptos" pitchFamily="34" charset="0"/>
                <a:ea typeface="Aptos" pitchFamily="34" charset="-122"/>
                <a:cs typeface="Aptos" pitchFamily="34" charset="-120"/>
              </a:rPr>
              <a:t>What is the strongest evidence that grant and funding management for ai projects has been.</a:t>
            </a:r>
            <a:endParaRPr lang="en-US" sz="1380" dirty="0"/>
          </a:p>
          <a:p>
            <a:r>
              <a:rPr lang="en-US" sz="1380" dirty="0">
                <a:solidFill>
                  <a:srgbClr val="17364A"/>
                </a:solidFill>
                <a:latin typeface="Aptos" pitchFamily="34" charset="0"/>
                <a:ea typeface="Aptos" pitchFamily="34" charset="-122"/>
                <a:cs typeface="Aptos" pitchFamily="34" charset="-120"/>
              </a:rPr>
              <a:t>2.</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OWASP Top 10 for Large Language Model Applications:.</a:t>
            </a:r>
            <a:endParaRPr lang="en-US" sz="1380" dirty="0"/>
          </a:p>
          <a:p>
            <a:r>
              <a:rPr lang="en-US" sz="1380" dirty="0">
                <a:solidFill>
                  <a:srgbClr val="17364A"/>
                </a:solidFill>
                <a:latin typeface="Aptos" pitchFamily="34" charset="0"/>
                <a:ea typeface="Aptos" pitchFamily="34" charset="-122"/>
                <a:cs typeface="Aptos" pitchFamily="34" charset="-120"/>
              </a:rPr>
              <a:t>ONC health IT, interoperability, and information blocking resources:.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a:p>
            <a:r>
              <a:rPr lang="en-US" sz="2100" dirty="0">
                <a:solidFill>
                  <a:srgbClr val="17364A"/>
                </a:solidFill>
                <a:latin typeface="Aptos" pitchFamily="34" charset="0"/>
                <a:ea typeface="Aptos" pitchFamily="34" charset="-122"/>
                <a:cs typeface="Aptos" pitchFamily="34" charset="-120"/>
              </a:rPr>
              <a:t>Appendix. Common Source Base Used Across Modules</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CDC Data Modernization resources.:.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Agency policies for privacy, public records, cybersecurity, procurement, civil rights,.</a:t>
            </a:r>
            <a:endParaRPr lang="en-US" sz="1380" dirty="0"/>
          </a:p>
          <a:p>
            <a:r>
              <a:rPr lang="en-US" sz="1380" dirty="0">
                <a:solidFill>
                  <a:srgbClr val="17364A"/>
                </a:solidFill>
                <a:latin typeface="Aptos" pitchFamily="34" charset="0"/>
                <a:ea typeface="Aptos" pitchFamily="34" charset="-122"/>
                <a:cs typeface="Aptos" pitchFamily="34" charset="-120"/>
              </a:rPr>
              <a:t>Appendix.</a:t>
            </a:r>
            <a:endParaRPr lang="en-US" sz="1380" dirty="0"/>
          </a:p>
          <a:p>
            <a:r>
              <a:rPr lang="en-US" sz="1380" dirty="0">
                <a:solidFill>
                  <a:srgbClr val="17364A"/>
                </a:solidFill>
                <a:latin typeface="Aptos" pitchFamily="34" charset="0"/>
                <a:ea typeface="Aptos" pitchFamily="34" charset="-122"/>
                <a:cs typeface="Aptos" pitchFamily="34" charset="-120"/>
              </a:rPr>
              <a:t>Common Source Base Used Across Modules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ONC USCDI, health IT, interoperability, and information blocking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NIST Generative AI Profile, NIST Privacy.</a:t>
            </a:r>
            <a:endParaRPr lang="en-US" sz="2100" dirty="0"/>
          </a:p>
          <a:p>
            <a:r>
              <a:rPr lang="en-US" sz="2100" dirty="0">
                <a:solidFill>
                  <a:srgbClr val="17364A"/>
                </a:solidFill>
                <a:latin typeface="Aptos" pitchFamily="34" charset="0"/>
                <a:ea typeface="Aptos" pitchFamily="34" charset="-122"/>
                <a:cs typeface="Aptos" pitchFamily="34" charset="-120"/>
              </a:rPr>
              <a:t>OWASP Top 10 for Large Language Model Applications and related secure AI application guidance.:.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ONC USCDI, health IT, interoperability, and information blocking resources.:.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NIST Artificial Intelligence Risk Management Framework, NIST Generative AI Profile, NIST.</a:t>
            </a:r>
            <a:endParaRPr lang="en-US" sz="1380" dirty="0"/>
          </a:p>
          <a:p>
            <a:r>
              <a:rPr lang="en-US" sz="1380" dirty="0">
                <a:solidFill>
                  <a:srgbClr val="17364A"/>
                </a:solidFill>
                <a:latin typeface="Aptos" pitchFamily="34" charset="0"/>
                <a:ea typeface="Aptos" pitchFamily="34" charset="-122"/>
                <a:cs typeface="Aptos" pitchFamily="34" charset="-120"/>
              </a:rPr>
              <a:t>WHO ethics and governance guidance for artificial intelligence in health.</a:t>
            </a:r>
            <a:endParaRPr lang="en-US" sz="1380" dirty="0"/>
          </a:p>
          <a:p>
            <a:r>
              <a:rPr lang="en-US" sz="1380" dirty="0">
                <a:solidFill>
                  <a:srgbClr val="17364A"/>
                </a:solidFill>
                <a:latin typeface="Aptos" pitchFamily="34" charset="0"/>
                <a:ea typeface="Aptos" pitchFamily="34" charset="-122"/>
                <a:cs typeface="Aptos" pitchFamily="34" charset="-120"/>
              </a:rPr>
              <a:t>Agency policies and procedures for privacy, public records, cybersecurity, procurement,.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Grant and Funding Management for AI Projects</dc:title>
  <dc:subject>Grant and Funding Management for AI Projects learning module</dc:subject>
  <dc:creator>Paula Soper</dc:creator>
  <cp:lastModifiedBy>Paula Soper</cp:lastModifiedBy>
  <cp:revision>1</cp:revision>
  <dcterms:created xsi:type="dcterms:W3CDTF">2026-07-13T02:11:44Z</dcterms:created>
  <dcterms:modified xsi:type="dcterms:W3CDTF">2026-07-13T02:11:44Z</dcterms:modified>
</cp:coreProperties>
</file>