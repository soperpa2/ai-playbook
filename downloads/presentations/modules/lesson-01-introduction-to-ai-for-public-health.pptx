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this lesson to build a practical foundation in AI, including predictive AI, generative AI, agentic AI,.</a:t>
            </a:r>
            <a:endParaRPr lang="en-US" sz="2100" dirty="0"/>
          </a:p>
          <a:p>
            <a:r>
              <a:rPr lang="en-US" sz="2100" dirty="0">
                <a:solidFill>
                  <a:srgbClr val="17364A"/>
                </a:solidFill>
                <a:latin typeface="Aptos" pitchFamily="34" charset="0"/>
                <a:ea typeface="Aptos" pitchFamily="34" charset="-122"/>
                <a:cs typeface="Aptos" pitchFamily="34" charset="-120"/>
              </a:rPr>
              <a:t>The goal is to understand what each capability can support, where it can fail, and what safeguards are needed.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Foundational Module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 Responsible AI Policy Template (Template) - Use Responsible AI Policy Template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2100" dirty="0"/>
          </a:p>
          <a:p>
            <a:r>
              <a:rPr lang="en-US" sz="21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a:t>
            </a:r>
            <a:endParaRPr lang="en-US" sz="2100" dirty="0"/>
          </a:p>
          <a:p>
            <a:r>
              <a:rPr lang="en-US" sz="21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2100" dirty="0"/>
          </a:p>
          <a:p>
            <a:r>
              <a:rPr lang="en-US" sz="2100" dirty="0">
                <a:solidFill>
                  <a:srgbClr val="17364A"/>
                </a:solidFill>
                <a:latin typeface="Aptos" pitchFamily="34" charset="0"/>
                <a:ea typeface="Aptos" pitchFamily="34" charset="-122"/>
                <a:cs typeface="Aptos" pitchFamily="34" charset="-120"/>
              </a:rPr>
              <a:t>Produce or contribute to: Draft list of decisions that require human accountability.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2100" dirty="0"/>
          </a:p>
          <a:p>
            <a:r>
              <a:rPr lang="en-US" sz="2100" dirty="0">
                <a:solidFill>
                  <a:srgbClr val="17364A"/>
                </a:solidFill>
                <a:latin typeface="Aptos" pitchFamily="34" charset="0"/>
                <a:ea typeface="Aptos" pitchFamily="34" charset="-122"/>
                <a:cs typeface="Aptos" pitchFamily="34" charset="-120"/>
              </a:rPr>
              <a:t>This module helps you distinguish pattern recognition, predictive analytics, generative AI,.</a:t>
            </a:r>
            <a:endParaRPr lang="en-US" sz="2100" dirty="0"/>
          </a:p>
          <a:p>
            <a:r>
              <a:rPr lang="en-US" sz="2100" dirty="0">
                <a:solidFill>
                  <a:srgbClr val="17364A"/>
                </a:solidFill>
                <a:latin typeface="Aptos" pitchFamily="34" charset="0"/>
                <a:ea typeface="Aptos" pitchFamily="34" charset="-122"/>
                <a:cs typeface="Aptos" pitchFamily="34" charset="-120"/>
              </a:rPr>
              <a:t>That distinction matters because a tool that drafts a message, a tool that predicts risk, and a tool.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2100" dirty="0"/>
          </a:p>
          <a:p>
            <a:r>
              <a:rPr lang="en-US" sz="2100" dirty="0">
                <a:solidFill>
                  <a:srgbClr val="17364A"/>
                </a:solidFill>
                <a:latin typeface="Aptos" pitchFamily="34" charset="0"/>
                <a:ea typeface="Aptos" pitchFamily="34" charset="-122"/>
                <a:cs typeface="Aptos" pitchFamily="34" charset="-120"/>
              </a:rPr>
              <a:t>Artificial intelligence (AI): Computer-based methods that can recognize patterns, generate content,.</a:t>
            </a:r>
            <a:endParaRPr lang="en-US" sz="2100" dirty="0"/>
          </a:p>
          <a:p>
            <a:r>
              <a:rPr lang="en-US" sz="2100" dirty="0">
                <a:solidFill>
                  <a:srgbClr val="17364A"/>
                </a:solidFill>
                <a:latin typeface="Aptos" pitchFamily="34" charset="0"/>
                <a:ea typeface="Aptos" pitchFamily="34" charset="-122"/>
                <a:cs typeface="Aptos" pitchFamily="34" charset="-120"/>
              </a:rPr>
              <a:t>Deep Research: An agentic research capability that can plan a multi-step search, gather and compare.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2100" dirty="0"/>
          </a:p>
          <a:p>
            <a:r>
              <a:rPr lang="en-US" sz="2100" dirty="0">
                <a:solidFill>
                  <a:srgbClr val="17364A"/>
                </a:solidFill>
                <a:latin typeface="Aptos" pitchFamily="34" charset="0"/>
                <a:ea typeface="Aptos" pitchFamily="34" charset="-122"/>
                <a:cs typeface="Aptos" pitchFamily="34" charset="-120"/>
              </a:rPr>
              <a:t>Machine learning: A type of AI that identifies patterns in data and uses those patterns to classify,.</a:t>
            </a:r>
            <a:endParaRPr lang="en-US" sz="2100" dirty="0"/>
          </a:p>
          <a:p>
            <a:r>
              <a:rPr lang="en-US" sz="2100" dirty="0">
                <a:solidFill>
                  <a:srgbClr val="17364A"/>
                </a:solidFill>
                <a:latin typeface="Aptos" pitchFamily="34" charset="0"/>
                <a:ea typeface="Aptos" pitchFamily="34" charset="-122"/>
                <a:cs typeface="Aptos" pitchFamily="34" charset="-120"/>
              </a:rPr>
              <a:t>Predictive AI: AI that uses data patterns to estimate future events, risks, needs, trends, or outcomes..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the most consequential near-term branches are generative AI and agentic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In public health, AI may appear as predictive analytics, classification, natural-language.</a:t>
            </a:r>
            <a:endParaRPr lang="en-US" sz="2100" dirty="0"/>
          </a:p>
          <a:p>
            <a:r>
              <a:rPr lang="en-US" sz="2100" dirty="0">
                <a:solidFill>
                  <a:srgbClr val="17364A"/>
                </a:solidFill>
                <a:latin typeface="Aptos" pitchFamily="34" charset="0"/>
                <a:ea typeface="Aptos" pitchFamily="34" charset="-122"/>
                <a:cs typeface="Aptos" pitchFamily="34" charset="-120"/>
              </a:rPr>
              <a:t>You need to recognize these differences because each capability has different risks, data needs,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2100" dirty="0"/>
          </a:p>
          <a:p>
            <a:r>
              <a:rPr lang="en-US" sz="2100" dirty="0">
                <a:solidFill>
                  <a:srgbClr val="17364A"/>
                </a:solidFill>
                <a:latin typeface="Aptos" pitchFamily="34" charset="0"/>
                <a:ea typeface="Aptos" pitchFamily="34" charset="-122"/>
                <a:cs typeface="Aptos" pitchFamily="34" charset="-120"/>
              </a:rPr>
              <a:t>Generative AI produces new content from prompts and source material. It can draft, summarize,.</a:t>
            </a:r>
            <a:endParaRPr lang="en-US" sz="2100" dirty="0"/>
          </a:p>
          <a:p>
            <a:r>
              <a:rPr lang="en-US" sz="2100" dirty="0">
                <a:solidFill>
                  <a:srgbClr val="17364A"/>
                </a:solidFill>
                <a:latin typeface="Aptos" pitchFamily="34" charset="0"/>
                <a:ea typeface="Aptos" pitchFamily="34" charset="-122"/>
                <a:cs typeface="Aptos" pitchFamily="34" charset="-120"/>
              </a:rPr>
              <a:t>Agentic AI can coordinate a sequence of actions across systems under defined rules. This may include.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2100" dirty="0"/>
          </a:p>
          <a:p>
            <a:r>
              <a:rPr lang="en-US" sz="2100" dirty="0">
                <a:solidFill>
                  <a:srgbClr val="17364A"/>
                </a:solidFill>
                <a:latin typeface="Aptos" pitchFamily="34" charset="0"/>
                <a:ea typeface="Aptos" pitchFamily="34" charset="-122"/>
                <a:cs typeface="Aptos" pitchFamily="34" charset="-120"/>
              </a:rPr>
              <a:t>Some AI systems classify records, some detect patterns, some predict possible outcomes, some generate.</a:t>
            </a:r>
            <a:endParaRPr lang="en-US" sz="2100" dirty="0"/>
          </a:p>
          <a:p>
            <a:r>
              <a:rPr lang="en-US" sz="2100" dirty="0">
                <a:solidFill>
                  <a:srgbClr val="17364A"/>
                </a:solidFill>
                <a:latin typeface="Aptos" pitchFamily="34" charset="0"/>
                <a:ea typeface="Aptos" pitchFamily="34" charset="-122"/>
                <a:cs typeface="Aptos" pitchFamily="34" charset="-120"/>
              </a:rPr>
              <a:t>This distinction matters because each capability has different data requirements, error patterns, human.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the system retrieves relevant passages from.</a:t>
            </a:r>
            <a:endParaRPr lang="en-US" sz="2100" dirty="0"/>
          </a:p>
          <a:p>
            <a:r>
              <a:rPr lang="en-US" sz="2100" dirty="0">
                <a:solidFill>
                  <a:srgbClr val="17364A"/>
                </a:solidFill>
                <a:latin typeface="Aptos" pitchFamily="34" charset="0"/>
                <a:ea typeface="Aptos" pitchFamily="34" charset="-122"/>
                <a:cs typeface="Aptos" pitchFamily="34" charset="-120"/>
              </a:rPr>
              <a:t>This approach can be useful for policy summaries, inspection documentation, program guidance, 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2100" dirty="0"/>
          </a:p>
          <a:p>
            <a:r>
              <a:rPr lang="en-US" sz="2100" dirty="0">
                <a:solidFill>
                  <a:srgbClr val="17364A"/>
                </a:solidFill>
                <a:latin typeface="Aptos" pitchFamily="34" charset="0"/>
                <a:ea typeface="Aptos" pitchFamily="34" charset="-122"/>
                <a:cs typeface="Aptos" pitchFamily="34" charset="-120"/>
              </a:rPr>
              <a:t>Informal use can include staff drafting emails or public messages with consumer AI tools, analysts.</a:t>
            </a:r>
            <a:endParaRPr lang="en-US" sz="2100" dirty="0"/>
          </a:p>
          <a:p>
            <a:r>
              <a:rPr lang="en-US" sz="2100" dirty="0">
                <a:solidFill>
                  <a:srgbClr val="17364A"/>
                </a:solidFill>
                <a:latin typeface="Aptos" pitchFamily="34" charset="0"/>
                <a:ea typeface="Aptos" pitchFamily="34" charset="-122"/>
                <a:cs typeface="Aptos" pitchFamily="34" charset="-120"/>
              </a:rPr>
              <a:t>An early inventory does not need to be punitive.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2100" dirty="0"/>
          </a:p>
          <a:p>
            <a:r>
              <a:rPr lang="en-US" sz="2100" dirty="0">
                <a:solidFill>
                  <a:srgbClr val="17364A"/>
                </a:solidFill>
                <a:latin typeface="Aptos" pitchFamily="34" charset="0"/>
                <a:ea typeface="Aptos" pitchFamily="34" charset="-122"/>
                <a:cs typeface="Aptos" pitchFamily="34" charset="-120"/>
              </a:rPr>
              <a:t>These questions should be answered before procurement, pilot approval, or workflow redesign.</a:t>
            </a:r>
            <a:endParaRPr lang="en-US" sz="2100" dirty="0"/>
          </a:p>
          <a:p>
            <a:r>
              <a:rPr lang="en-US" sz="2100" dirty="0">
                <a:solidFill>
                  <a:srgbClr val="17364A"/>
                </a:solidFill>
                <a:latin typeface="Aptos" pitchFamily="34" charset="0"/>
                <a:ea typeface="Aptos" pitchFamily="34" charset="-122"/>
                <a:cs typeface="Aptos" pitchFamily="34" charset="-120"/>
              </a:rPr>
              <a:t>If the department cannot explain what the AI will do and how people will review it, the project should.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2100" dirty="0"/>
          </a:p>
          <a:p>
            <a:r>
              <a:rPr lang="en-US" sz="2100" dirty="0">
                <a:solidFill>
                  <a:srgbClr val="17364A"/>
                </a:solidFill>
                <a:latin typeface="Aptos" pitchFamily="34" charset="0"/>
                <a:ea typeface="Aptos" pitchFamily="34" charset="-122"/>
                <a:cs typeface="Aptos" pitchFamily="34" charset="-120"/>
              </a:rPr>
              <a:t>Agencies need a shared vocabulary before they can set guardrails, evaluate vendors, select use cases,.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2100" dirty="0"/>
          </a:p>
          <a:p>
            <a:r>
              <a:rPr lang="en-US" sz="2100" dirty="0">
                <a:solidFill>
                  <a:srgbClr val="17364A"/>
                </a:solidFill>
                <a:latin typeface="Aptos" pitchFamily="34" charset="0"/>
                <a:ea typeface="Aptos" pitchFamily="34" charset="-122"/>
                <a:cs typeface="Aptos" pitchFamily="34" charset="-120"/>
              </a:rPr>
              <a:t>It can help with literature scans, policy scans, funding reviews, and comparative program analysis, but.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2100" dirty="0"/>
          </a:p>
          <a:p>
            <a:r>
              <a:rPr lang="en-US" sz="2100" dirty="0">
                <a:solidFill>
                  <a:srgbClr val="17364A"/>
                </a:solidFill>
                <a:latin typeface="Aptos" pitchFamily="34" charset="0"/>
                <a:ea typeface="Aptos" pitchFamily="34" charset="-122"/>
                <a:cs typeface="Aptos" pitchFamily="34" charset="-120"/>
              </a:rPr>
              <a:t>Use the linked tools to turn the concept into an agency artifact that can be saved, reviewed, updated,.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for STLT public health departments because AI may enter through many.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2100" dirty="0"/>
          </a:p>
          <a:p>
            <a:r>
              <a:rPr lang="en-US" sz="2100" dirty="0">
                <a:solidFill>
                  <a:srgbClr val="17364A"/>
                </a:solidFill>
                <a:latin typeface="Aptos" pitchFamily="34" charset="0"/>
                <a:ea typeface="Aptos" pitchFamily="34" charset="-122"/>
                <a:cs typeface="Aptos" pitchFamily="34" charset="-120"/>
              </a:rPr>
              <a:t>Which public health decisions should never be delegated to an AI system?</a:t>
            </a:r>
            <a:endParaRPr lang="en-US" sz="2100" dirty="0"/>
          </a:p>
          <a:p>
            <a:r>
              <a:rPr lang="en-US" sz="2100" dirty="0">
                <a:solidFill>
                  <a:srgbClr val="17364A"/>
                </a:solidFill>
                <a:latin typeface="Aptos" pitchFamily="34" charset="0"/>
                <a:ea typeface="Aptos" pitchFamily="34" charset="-122"/>
                <a:cs typeface="Aptos" pitchFamily="34" charset="-120"/>
              </a:rPr>
              <a:t>Who needs enough AI literacy to participate in governance, procurement, or implementation decisions?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2100" dirty="0"/>
          </a:p>
          <a:p>
            <a:r>
              <a:rPr lang="en-US" sz="2100" dirty="0">
                <a:solidFill>
                  <a:srgbClr val="17364A"/>
                </a:solidFill>
                <a:latin typeface="Aptos" pitchFamily="34" charset="0"/>
                <a:ea typeface="Aptos" pitchFamily="34" charset="-122"/>
                <a:cs typeface="Aptos" pitchFamily="34" charset="-120"/>
              </a:rPr>
              <a:t>Classify each task by AI type and identify the human decision owner.</a:t>
            </a:r>
            <a:endParaRPr lang="en-US" sz="2100" dirty="0"/>
          </a:p>
          <a:p>
            <a:r>
              <a:rPr lang="en-US" sz="2100" dirty="0">
                <a:solidFill>
                  <a:srgbClr val="17364A"/>
                </a:solidFill>
                <a:latin typeface="Aptos" pitchFamily="34" charset="0"/>
                <a:ea typeface="Aptos" pitchFamily="34" charset="-122"/>
                <a:cs typeface="Aptos" pitchFamily="34" charset="-120"/>
              </a:rPr>
              <a:t>Expected assignment: Agency AI vocabulary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AI use in public health?</a:t>
            </a:r>
            <a:endParaRPr lang="en-US" sz="2100" dirty="0"/>
          </a:p>
          <a:p>
            <a:r>
              <a:rPr lang="en-US" sz="2100" dirty="0">
                <a:solidFill>
                  <a:srgbClr val="17364A"/>
                </a:solidFill>
                <a:latin typeface="Aptos" pitchFamily="34" charset="0"/>
                <a:ea typeface="Aptos" pitchFamily="34" charset="-122"/>
                <a:cs typeface="Aptos" pitchFamily="34" charset="-120"/>
              </a:rPr>
              <a:t>3. Which statement best reflects the risk or guardrail for this module: Do not treat AI as a single.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2100" dirty="0"/>
          </a:p>
          <a:p>
            <a:r>
              <a:rPr lang="en-US" sz="2100" dirty="0">
                <a:solidFill>
                  <a:srgbClr val="17364A"/>
                </a:solidFill>
                <a:latin typeface="Aptos" pitchFamily="34" charset="0"/>
                <a:ea typeface="Aptos" pitchFamily="34" charset="-122"/>
                <a:cs typeface="Aptos" pitchFamily="34" charset="-120"/>
              </a:rPr>
              <a:t>ASPPH AI Framework Report: Public health framing for responsible AI education, research, practice,.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Health-sector principles for ethical.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2026-07-12T19:24:26Z</dcterms:created>
  <dcterms:modified xsi:type="dcterms:W3CDTF">2026-07-12T19:24:26Z</dcterms:modified>
</cp:coreProperties>
</file>