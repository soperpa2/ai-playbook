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210 Machine Learning Basics for Epidemiology and Surveillance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
Tool 48: AI Evaluation &amp; Outcomes Reporting (Template)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3: Equity Impact Assessment Checklist (Checklist) - Use Equity Impact Assessment Checklist to translate this lesson into a documented public health AI planning, governance,.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supervised, unsupervised, and semi-supervised learning in public health terms.
Describe features, labels, training data, validation data, and test data.
Identify when a machine learning approach may be appropriate for a public health workflow and when a simpler method may be preferable.
Recognize common machine learning risks, including overfitting, biased labels, data leakage, and poor generalization.
Interpret basic model performance questions in relation to epidemiologic and operational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machine learning use case review worksheet for a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Machine learning matters for public health AI because many proposed tools rely on classification, prediction, ranking, or pattern detection. A surveillance team may want to classify incoming reports by urgency. An epidemiology team may want to detect unusual disease patterns. A program may want to prioritize outreach based on predicted risk. Each of these uses can affect who receives attention, services, investigation, or resources.
Public health staff need enough machine learning literacy to ask whether the model is aligned with the public health purpose. A model built to predict an outcome is not the same as a model that explains why the outcome occurred. A model that performs well in one jurisdiction, population, or reporting environment may not perform well elsewhere. A model trained on historical public health actions may learn historical practice patterns, including under-detection or unequal service access.
The most important public health question is whether the model improves decision-making safely and equitably. This requires more than a performance score. Staff must understand the source data, label quality, model limitations, subgroup performance, workflow impact, human review process, and monitoring plan. Machine learning should strengthen public health practice, not obscure uncertainty or shift responsibility away from accountable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 machine learning model to classify environmental health complaints by likely urgency. Historical complaint text, location, facility type, prior violations, and resolution outcomes may be used as features. The label might be whether the complaint was ultimately assigned high priority by trained staff. This sounds useful, but the label may reflect staffing capacity or historical prioritization patterns rather than true urgency.
To use this model responsibly, staff would need to evaluate the training data, define the intended use, test performance on recent complaints, review errors by complaint type and community, and decide whether the output is advisory or operational. The model might help sort a queue, but it should not prevent staff from reviewing complaints that do not match historical patterns. The public health example shows that model design decisions become program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Machine learning development typically begins with a defined prediction or classification task. The task should be specific enough to test. “Use AI to improve surveillance” is too vague. “Classify incoming reports into routine review, expedited review, and supervisor review based on defined criteria” is more actionable. A clear task allows staff to define the target label, required features, acceptance criteria, and human review process.
Data preparation is often the most important and time-consuming step. Public health data may contain missing values, duplicate records, delayed reporting, inconsistent coding, local terminology, free-text notes, and changes over time. Feature engineering translates raw data into model inputs, but it can also embed assumptions. For example, using prior healthcare utilization as a feature may reflect access to care as much as underlying risk.
Training, validation, and test datasets serve different purposes. Training data are used to fit the model. Validation data are used to tune choices during development. Test data are used to estimate performance on data not used to build the model. Public health teams should be cautious when a vendor reports only development performance without external validation or realistic operational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Model performance should be interpreted in relation to the workflow. A model with high overall accuracy may still miss rare but important events. A model with many false positives may burden staff and create alert fatigue. A model with many false negatives may miss cases, outbreaks, or communities needing support. Thresholds should be selected based on public health consequences, not only technical optimization.
Human review should be designed into the workflow before deployment. Reviewers need to understand what the model output means, what it does not mean, and when to override or escalate. Staff also need feedback channels so model errors can be documented, analyzed, and used to improve monitoring or retraining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Biased or inconsistent labels. If historical labels reflect unequal detection, inconsistent review, or limited resources, the model may reproduce those patterns. Guardrails include label audits, expert review, subgroup analysis, and documentation of label limitations.
Data leakage. Data leakage occurs when information that would not be available at the time of decision is used during training. Guardrails include temporal validation, careful feature review, and independent testing.
Overfitting and poor generalization. A model may perform well on development data but poorly in a new jurisdiction, time period, or population. Guardrails include held-out testing, external validation, drift monitoring, and conservative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Misuse of prediction as explanation. A model can predict risk without explaining cause. Guardrails include clear communication, training, and restrictions against causal claims unless supported by appropriate study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Machine learning may support generative AI, predictive analytics, NLP, anomaly detection, and agentic workflows. In generative AI systems, machine learning concepts help staff understand why outputs may be fluent but unreliable. In predictive workflows, machine learning literacy helps staff evaluate risk scores, thresholds, and subgroup performance. In agentic workflows, models may trigger actions, making validation, permissions, and human approval especially important.
The practical application is disciplined use. Staff should define intended use, validate performance, document limitations, monitor drift, and ensure that human reviewers remain accountable for consequential public health actions. Machine learning should be treated as an analytic support method within a governed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task would the model support: classification, prediction, ranking, clustering, or exploration?
What label would be used, and how reliable or equitable is that label?
Which features might reflect access, documentation, or reporting bias rather than true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errors would be most harmful in this workflow?
Who would review model outputs, override them, and document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machine learning use case review worksheet for one public health workflow. The worksheet should describe the public health task, intended use, data sources, candidate features, proposed label, likely users, performance measures, subgroup review needs, human review points, and monitoring requirements.
This exercise should produce a governance-ready artifact. Learners should identify at least three reasons the model might fail and at least three safeguards that should be in place before pilot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Machine learning use case review worksheet
Feature and label inventory
Initial model risk and safeguard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monitoring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Machine learning use case review worksheet
Feature and label inventory
Initial model risk and safeguard list
Human review and monitoring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supervised learning?
2. Why can historical labels create risk?
3. What is overfitting?
4. What should determine model thresholds in public health workflows?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Machine Learning Basics for Epidemiology and Surveillance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 those patterns to classify, predict, cluster,.</a:t>
            </a:r>
            <a:endParaRPr lang="en-US" sz="1700" dirty="0"/>
          </a:p>
          <a:p>
            <a:r>
              <a:rPr lang="en-US" sz="17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 stratification, case classification, anomaly.</a:t>
            </a:r>
            <a:endParaRPr lang="en-US" sz="1700" dirty="0"/>
          </a:p>
          <a:p>
            <a:r>
              <a:rPr lang="en-US" sz="17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1700" dirty="0"/>
          </a:p>
          <a:p>
            <a:r>
              <a:rPr lang="en-US" sz="1700" dirty="0">
                <a:solidFill>
                  <a:srgbClr val="17364A"/>
                </a:solidFill>
                <a:latin typeface="Aptos" pitchFamily="34" charset="0"/>
                <a:ea typeface="Aptos" pitchFamily="34" charset="-122"/>
                <a:cs typeface="Aptos" pitchFamily="34" charset="-120"/>
              </a:rPr>
              <a:t>The purpose is to help public health informaticians, epidemiologists, and technologists understand the concepts needed to evaluate whether a machine.</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applied/foundational</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Analytics and Modeling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analytics-modeling</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 lesson topic to monitor and.</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 practical exercise for the module.</a:t>
            </a:r>
            <a:endParaRPr lang="en-US" sz="1460" dirty="0"/>
          </a:p>
          <a:p>
            <a:r>
              <a:rPr lang="en-US" sz="1460" dirty="0">
                <a:solidFill>
                  <a:srgbClr val="17364A"/>
                </a:solidFill>
                <a:latin typeface="Aptos" pitchFamily="34" charset="0"/>
                <a:ea typeface="Aptos" pitchFamily="34" charset="-122"/>
                <a:cs typeface="Aptos" pitchFamily="34" charset="-120"/>
              </a:rPr>
              <a:t>Tool 45: Continuous Improvement Log (Log) - Use this tool to complete or strengthen the practical exercise for the module using.</a:t>
            </a:r>
            <a:endParaRPr lang="en-US" sz="1460" dirty="0"/>
          </a:p>
          <a:p>
            <a:r>
              <a:rPr lang="en-US" sz="146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 lesson into a documented.</a:t>
            </a:r>
            <a:endParaRPr lang="en-US" sz="1460" dirty="0"/>
          </a:p>
          <a:p>
            <a:r>
              <a:rPr lang="en-US" sz="1460" dirty="0">
                <a:solidFill>
                  <a:srgbClr val="17364A"/>
                </a:solidFill>
                <a:latin typeface="Aptos" pitchFamily="34" charset="0"/>
                <a:ea typeface="Aptos" pitchFamily="34" charset="-122"/>
                <a:cs typeface="Aptos" pitchFamily="34" charset="-120"/>
              </a:rPr>
              <a:t>Tool 3: Equity Impact Assessment Checklist (Checklist) - Use Equity Impact Assessment Checklist to translate this lesson into a.</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 terms.</a:t>
            </a:r>
            <a:endParaRPr lang="en-US" sz="1700" dirty="0"/>
          </a:p>
          <a:p>
            <a:r>
              <a:rPr lang="en-US" sz="1700" dirty="0">
                <a:solidFill>
                  <a:srgbClr val="17364A"/>
                </a:solidFill>
                <a:latin typeface="Aptos" pitchFamily="34" charset="0"/>
                <a:ea typeface="Aptos" pitchFamily="34" charset="-122"/>
                <a:cs typeface="Aptos" pitchFamily="34" charset="-120"/>
              </a:rPr>
              <a:t>Describe features, labels, training data, validation data, and test data.</a:t>
            </a:r>
            <a:endParaRPr lang="en-US" sz="1700" dirty="0"/>
          </a:p>
          <a:p>
            <a:r>
              <a:rPr lang="en-US" sz="1700" dirty="0">
                <a:solidFill>
                  <a:srgbClr val="17364A"/>
                </a:solidFill>
                <a:latin typeface="Aptos" pitchFamily="34" charset="0"/>
                <a:ea typeface="Aptos" pitchFamily="34" charset="-122"/>
                <a:cs typeface="Aptos" pitchFamily="34" charset="-120"/>
              </a:rPr>
              <a:t>Identify when a machine learning approach may be appropriate for a public health workflow and when a simpler method may be.</a:t>
            </a:r>
            <a:endParaRPr lang="en-US" sz="1700" dirty="0"/>
          </a:p>
          <a:p>
            <a:r>
              <a:rPr lang="en-US" sz="1700" dirty="0">
                <a:solidFill>
                  <a:srgbClr val="17364A"/>
                </a:solidFill>
                <a:latin typeface="Aptos" pitchFamily="34" charset="0"/>
                <a:ea typeface="Aptos" pitchFamily="34" charset="-122"/>
                <a:cs typeface="Aptos" pitchFamily="34" charset="-120"/>
              </a:rPr>
              <a:t>Recognize common machine learning risks, including overfitting, biased labels, data leakage, and poor generalization.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 terms.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 those patterns to.</a:t>
            </a:r>
            <a:endParaRPr lang="en-US" sz="1700" dirty="0"/>
          </a:p>
          <a:p>
            <a:r>
              <a:rPr lang="en-US" sz="17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 stratification, case.</a:t>
            </a:r>
            <a:endParaRPr lang="en-US" sz="1700" dirty="0"/>
          </a:p>
          <a:p>
            <a:r>
              <a:rPr lang="en-US" sz="17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1700" dirty="0"/>
          </a:p>
          <a:p>
            <a:r>
              <a:rPr lang="en-US" sz="1700" dirty="0">
                <a:solidFill>
                  <a:srgbClr val="17364A"/>
                </a:solidFill>
                <a:latin typeface="Aptos" pitchFamily="34" charset="0"/>
                <a:ea typeface="Aptos" pitchFamily="34" charset="-122"/>
                <a:cs typeface="Aptos" pitchFamily="34" charset="-120"/>
              </a:rPr>
              <a:t>The purpose is to help public health informaticians, epidemiologists, and technologists understand the concepts needed to.</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 those patterns to.</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 prediction, ranking, or.</a:t>
            </a:r>
            <a:endParaRPr lang="en-US" sz="1700" dirty="0"/>
          </a:p>
          <a:p>
            <a:r>
              <a:rPr lang="en-US" sz="1700" dirty="0">
                <a:solidFill>
                  <a:srgbClr val="17364A"/>
                </a:solidFill>
                <a:latin typeface="Aptos" pitchFamily="34" charset="0"/>
                <a:ea typeface="Aptos" pitchFamily="34" charset="-122"/>
                <a:cs typeface="Aptos" pitchFamily="34" charset="-120"/>
              </a:rPr>
              <a:t>A surveillance team may want to classify incoming reports by urgency.</a:t>
            </a:r>
            <a:endParaRPr lang="en-US" sz="1700" dirty="0"/>
          </a:p>
          <a:p>
            <a:r>
              <a:rPr lang="en-US" sz="1700" dirty="0">
                <a:solidFill>
                  <a:srgbClr val="17364A"/>
                </a:solidFill>
                <a:latin typeface="Aptos" pitchFamily="34" charset="0"/>
                <a:ea typeface="Aptos" pitchFamily="34" charset="-122"/>
                <a:cs typeface="Aptos" pitchFamily="34" charset="-120"/>
              </a:rPr>
              <a:t>An epidemiology team may want to detect unusual disease patterns.</a:t>
            </a:r>
            <a:endParaRPr lang="en-US" sz="1700" dirty="0"/>
          </a:p>
          <a:p>
            <a:r>
              <a:rPr lang="en-US" sz="1700" dirty="0">
                <a:solidFill>
                  <a:srgbClr val="17364A"/>
                </a:solidFill>
                <a:latin typeface="Aptos" pitchFamily="34" charset="0"/>
                <a:ea typeface="Aptos" pitchFamily="34" charset="-122"/>
                <a:cs typeface="Aptos" pitchFamily="34" charset="-120"/>
              </a:rPr>
              <a:t>A program may want to prioritize outreach based on predicted risk.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 prediction, ranking, or.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 by likely urgency.</a:t>
            </a:r>
            <a:endParaRPr lang="en-US" sz="1700" dirty="0"/>
          </a:p>
          <a:p>
            <a:r>
              <a:rPr lang="en-US" sz="1700" dirty="0">
                <a:solidFill>
                  <a:srgbClr val="17364A"/>
                </a:solidFill>
                <a:latin typeface="Aptos" pitchFamily="34" charset="0"/>
                <a:ea typeface="Aptos" pitchFamily="34" charset="-122"/>
                <a:cs typeface="Aptos" pitchFamily="34" charset="-120"/>
              </a:rPr>
              <a:t>Historical complaint text, location, facility type, prior violations, and resolution outcomes may be used as features.</a:t>
            </a:r>
            <a:endParaRPr lang="en-US" sz="1700" dirty="0"/>
          </a:p>
          <a:p>
            <a:r>
              <a:rPr lang="en-US" sz="1700" dirty="0">
                <a:solidFill>
                  <a:srgbClr val="17364A"/>
                </a:solidFill>
                <a:latin typeface="Aptos" pitchFamily="34" charset="0"/>
                <a:ea typeface="Aptos" pitchFamily="34" charset="-122"/>
                <a:cs typeface="Aptos" pitchFamily="34" charset="-120"/>
              </a:rPr>
              <a:t>The label might be whether the complaint was ultimately assigned high priority by trained staff.</a:t>
            </a:r>
            <a:endParaRPr lang="en-US" sz="1700" dirty="0"/>
          </a:p>
          <a:p>
            <a:r>
              <a:rPr lang="en-US" sz="1700" dirty="0">
                <a:solidFill>
                  <a:srgbClr val="17364A"/>
                </a:solidFill>
                <a:latin typeface="Aptos" pitchFamily="34" charset="0"/>
                <a:ea typeface="Aptos" pitchFamily="34" charset="-122"/>
                <a:cs typeface="Aptos" pitchFamily="34" charset="-120"/>
              </a:rPr>
              <a:t>This sounds useful, but the label may reflect staffing capacity or historical prioritization patterns rather than true.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 by likely urgency.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1700" dirty="0"/>
          </a:p>
          <a:p>
            <a:r>
              <a:rPr lang="en-US" sz="1700" dirty="0">
                <a:solidFill>
                  <a:srgbClr val="17364A"/>
                </a:solidFill>
                <a:latin typeface="Aptos" pitchFamily="34" charset="0"/>
                <a:ea typeface="Aptos" pitchFamily="34" charset="-122"/>
                <a:cs typeface="Aptos" pitchFamily="34" charset="-120"/>
              </a:rPr>
              <a:t>The task should be specific enough to test. “Use AI to improve surveillance” is too vague. “Classify incoming reports into.</a:t>
            </a:r>
            <a:endParaRPr lang="en-US" sz="1700" dirty="0"/>
          </a:p>
          <a:p>
            <a:r>
              <a:rPr lang="en-US" sz="1700" dirty="0">
                <a:solidFill>
                  <a:srgbClr val="17364A"/>
                </a:solidFill>
                <a:latin typeface="Aptos" pitchFamily="34" charset="0"/>
                <a:ea typeface="Aptos" pitchFamily="34" charset="-122"/>
                <a:cs typeface="Aptos" pitchFamily="34" charset="-120"/>
              </a:rPr>
              <a:t>A clear task allows staff to define the target label, required features, acceptance criteria, and human review process.</a:t>
            </a:r>
            <a:endParaRPr lang="en-US" sz="1700" dirty="0"/>
          </a:p>
          <a:p>
            <a:r>
              <a:rPr lang="en-US" sz="1700" dirty="0">
                <a:solidFill>
                  <a:srgbClr val="17364A"/>
                </a:solidFill>
                <a:latin typeface="Aptos" pitchFamily="34" charset="0"/>
                <a:ea typeface="Aptos" pitchFamily="34" charset="-122"/>
                <a:cs typeface="Aptos" pitchFamily="34" charset="-120"/>
              </a:rPr>
              <a:t>Data preparation is often the most important and time-consuming step.</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1700" dirty="0"/>
          </a:p>
          <a:p>
            <a:r>
              <a:rPr lang="en-US" sz="1700" dirty="0">
                <a:solidFill>
                  <a:srgbClr val="17364A"/>
                </a:solidFill>
                <a:latin typeface="Aptos" pitchFamily="34" charset="0"/>
                <a:ea typeface="Aptos" pitchFamily="34" charset="-122"/>
                <a:cs typeface="Aptos" pitchFamily="34" charset="-120"/>
              </a:rPr>
              <a:t>A model with high overall accuracy may still miss rare but important events.</a:t>
            </a:r>
            <a:endParaRPr lang="en-US" sz="1700" dirty="0"/>
          </a:p>
          <a:p>
            <a:r>
              <a:rPr lang="en-US" sz="1700" dirty="0">
                <a:solidFill>
                  <a:srgbClr val="17364A"/>
                </a:solidFill>
                <a:latin typeface="Aptos" pitchFamily="34" charset="0"/>
                <a:ea typeface="Aptos" pitchFamily="34" charset="-122"/>
                <a:cs typeface="Aptos" pitchFamily="34" charset="-120"/>
              </a:rPr>
              <a:t>A model with many false positives may burden staff and create alert fatigue.</a:t>
            </a:r>
            <a:endParaRPr lang="en-US" sz="1700" dirty="0"/>
          </a:p>
          <a:p>
            <a:r>
              <a:rPr lang="en-US" sz="1700" dirty="0">
                <a:solidFill>
                  <a:srgbClr val="17364A"/>
                </a:solidFill>
                <a:latin typeface="Aptos" pitchFamily="34" charset="0"/>
                <a:ea typeface="Aptos" pitchFamily="34" charset="-122"/>
                <a:cs typeface="Aptos" pitchFamily="34" charset="-120"/>
              </a:rPr>
              <a:t>A model with many false negatives may miss cases, outbreaks, or communities needing support.</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Biased or inconsistent labels.</a:t>
            </a:r>
            <a:endParaRPr lang="en-US" sz="1700" dirty="0"/>
          </a:p>
          <a:p>
            <a:r>
              <a:rPr lang="en-US" sz="1700" dirty="0">
                <a:solidFill>
                  <a:srgbClr val="17364A"/>
                </a:solidFill>
                <a:latin typeface="Aptos" pitchFamily="34" charset="0"/>
                <a:ea typeface="Aptos" pitchFamily="34" charset="-122"/>
                <a:cs typeface="Aptos" pitchFamily="34" charset="-120"/>
              </a:rPr>
              <a:t>If historical labels reflect unequal detection, inconsistent review, or limited resources, the model may reproduce those.</a:t>
            </a:r>
            <a:endParaRPr lang="en-US" sz="1700" dirty="0"/>
          </a:p>
          <a:p>
            <a:r>
              <a:rPr lang="en-US" sz="1700" dirty="0">
                <a:solidFill>
                  <a:srgbClr val="17364A"/>
                </a:solidFill>
                <a:latin typeface="Aptos" pitchFamily="34" charset="0"/>
                <a:ea typeface="Aptos" pitchFamily="34" charset="-122"/>
                <a:cs typeface="Aptos" pitchFamily="34" charset="-120"/>
              </a:rPr>
              <a:t>Guardrails include label audits, expert review, subgroup analysis, and documentation of label limitations.</a:t>
            </a:r>
            <a:endParaRPr lang="en-US" sz="1700" dirty="0"/>
          </a:p>
          <a:p>
            <a:r>
              <a:rPr lang="en-US" sz="1700" dirty="0">
                <a:solidFill>
                  <a:srgbClr val="17364A"/>
                </a:solidFill>
                <a:latin typeface="Aptos" pitchFamily="34" charset="0"/>
                <a:ea typeface="Aptos" pitchFamily="34" charset="-122"/>
                <a:cs typeface="Aptos" pitchFamily="34" charset="-120"/>
              </a:rPr>
              <a:t>Data leakage.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Biased or inconsistent labels.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Misuse of prediction as explanation.</a:t>
            </a:r>
            <a:endParaRPr lang="en-US" sz="1700" dirty="0"/>
          </a:p>
          <a:p>
            <a:r>
              <a:rPr lang="en-US" sz="1700" dirty="0">
                <a:solidFill>
                  <a:srgbClr val="17364A"/>
                </a:solidFill>
                <a:latin typeface="Aptos" pitchFamily="34" charset="0"/>
                <a:ea typeface="Aptos" pitchFamily="34" charset="-122"/>
                <a:cs typeface="Aptos" pitchFamily="34" charset="-120"/>
              </a:rPr>
              <a:t>A model can predict risk without explaining cause.</a:t>
            </a:r>
            <a:endParaRPr lang="en-US" sz="1700" dirty="0"/>
          </a:p>
          <a:p>
            <a:r>
              <a:rPr lang="en-US" sz="1700" dirty="0">
                <a:solidFill>
                  <a:srgbClr val="17364A"/>
                </a:solidFill>
                <a:latin typeface="Aptos" pitchFamily="34" charset="0"/>
                <a:ea typeface="Aptos" pitchFamily="34" charset="-122"/>
                <a:cs typeface="Aptos" pitchFamily="34" charset="-120"/>
              </a:rPr>
              <a:t>Guardrails include clear communication, training, and restrictions against causal claims unless supported by appropriate.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Misuse of prediction as explanation.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 workflows.</a:t>
            </a:r>
            <a:endParaRPr lang="en-US" sz="1700" dirty="0"/>
          </a:p>
          <a:p>
            <a:r>
              <a:rPr lang="en-US" sz="1700" dirty="0">
                <a:solidFill>
                  <a:srgbClr val="17364A"/>
                </a:solidFill>
                <a:latin typeface="Aptos" pitchFamily="34" charset="0"/>
                <a:ea typeface="Aptos" pitchFamily="34" charset="-122"/>
                <a:cs typeface="Aptos" pitchFamily="34" charset="-120"/>
              </a:rPr>
              <a:t>In generative AI systems, machine learning concepts help staff understand why outputs may be fluent but unreliable.</a:t>
            </a:r>
            <a:endParaRPr lang="en-US" sz="1700" dirty="0"/>
          </a:p>
          <a:p>
            <a:r>
              <a:rPr lang="en-US" sz="1700" dirty="0">
                <a:solidFill>
                  <a:srgbClr val="17364A"/>
                </a:solidFill>
                <a:latin typeface="Aptos" pitchFamily="34" charset="0"/>
                <a:ea typeface="Aptos" pitchFamily="34" charset="-122"/>
                <a:cs typeface="Aptos" pitchFamily="34" charset="-120"/>
              </a:rPr>
              <a:t>In predictive workflows, machine learning literacy helps staff evaluate risk scores, thresholds, and subgroup performance.</a:t>
            </a:r>
            <a:endParaRPr lang="en-US" sz="1700" dirty="0"/>
          </a:p>
          <a:p>
            <a:r>
              <a:rPr lang="en-US" sz="1700" dirty="0">
                <a:solidFill>
                  <a:srgbClr val="17364A"/>
                </a:solidFill>
                <a:latin typeface="Aptos" pitchFamily="34" charset="0"/>
                <a:ea typeface="Aptos" pitchFamily="34" charset="-122"/>
                <a:cs typeface="Aptos" pitchFamily="34" charset="-120"/>
              </a:rPr>
              <a:t>In agentic workflows, models may trigger actions, making validation, permissions, and human approval especially important.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 exploration?</a:t>
            </a:r>
            <a:endParaRPr lang="en-US" sz="1700" dirty="0"/>
          </a:p>
          <a:p>
            <a:r>
              <a:rPr lang="en-US" sz="1700" dirty="0">
                <a:solidFill>
                  <a:srgbClr val="17364A"/>
                </a:solidFill>
                <a:latin typeface="Aptos" pitchFamily="34" charset="0"/>
                <a:ea typeface="Aptos" pitchFamily="34" charset="-122"/>
                <a:cs typeface="Aptos" pitchFamily="34" charset="-120"/>
              </a:rPr>
              <a:t>What label would be used, and how reliable or equitable is that label?</a:t>
            </a:r>
            <a:endParaRPr lang="en-US" sz="1700" dirty="0"/>
          </a:p>
          <a:p>
            <a:r>
              <a:rPr lang="en-US" sz="1700" dirty="0">
                <a:solidFill>
                  <a:srgbClr val="17364A"/>
                </a:solidFill>
                <a:latin typeface="Aptos" pitchFamily="34" charset="0"/>
                <a:ea typeface="Aptos" pitchFamily="34" charset="-122"/>
                <a:cs typeface="Aptos" pitchFamily="34" charset="-120"/>
              </a:rPr>
              <a:t>Which features might reflect access, documentation, or reporting bias rather than true risk?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 exploration?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errors would be most harmful in this workflow?</a:t>
            </a:r>
            <a:endParaRPr lang="en-US" sz="1700" dirty="0"/>
          </a:p>
          <a:p>
            <a:r>
              <a:rPr lang="en-US" sz="1700" dirty="0">
                <a:solidFill>
                  <a:srgbClr val="17364A"/>
                </a:solidFill>
                <a:latin typeface="Aptos" pitchFamily="34" charset="0"/>
                <a:ea typeface="Aptos" pitchFamily="34" charset="-122"/>
                <a:cs typeface="Aptos" pitchFamily="34" charset="-120"/>
              </a:rPr>
              <a:t>Who would review model outputs, override them, and document concerns?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errors would be most harmful in this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1700" dirty="0"/>
          </a:p>
          <a:p>
            <a:r>
              <a:rPr lang="en-US" sz="1700" dirty="0">
                <a:solidFill>
                  <a:srgbClr val="17364A"/>
                </a:solidFill>
                <a:latin typeface="Aptos" pitchFamily="34" charset="0"/>
                <a:ea typeface="Aptos" pitchFamily="34" charset="-122"/>
                <a:cs typeface="Aptos" pitchFamily="34" charset="-120"/>
              </a:rPr>
              <a:t>The worksheet should describe the public health task, intended use, data sources, candidate features, proposed label,.</a:t>
            </a:r>
            <a:endParaRPr lang="en-US" sz="1700" dirty="0"/>
          </a:p>
          <a:p>
            <a:r>
              <a:rPr lang="en-US" sz="1700" dirty="0">
                <a:solidFill>
                  <a:srgbClr val="17364A"/>
                </a:solidFill>
                <a:latin typeface="Aptos" pitchFamily="34" charset="0"/>
                <a:ea typeface="Aptos" pitchFamily="34" charset="-122"/>
                <a:cs typeface="Aptos" pitchFamily="34" charset="-120"/>
              </a:rPr>
              <a:t>This exercise should produce a governance-ready artifact.</a:t>
            </a:r>
            <a:endParaRPr lang="en-US" sz="1700" dirty="0"/>
          </a:p>
          <a:p>
            <a:r>
              <a:rPr lang="en-US" sz="1700" dirty="0">
                <a:solidFill>
                  <a:srgbClr val="17364A"/>
                </a:solidFill>
                <a:latin typeface="Aptos" pitchFamily="34" charset="0"/>
                <a:ea typeface="Aptos" pitchFamily="34" charset="-122"/>
                <a:cs typeface="Aptos" pitchFamily="34" charset="-120"/>
              </a:rPr>
              <a:t>Learners should identify at least three reasons the model might fail and at least three safeguards that should be in place.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use case review worksheet</a:t>
            </a:r>
            <a:endParaRPr lang="en-US" sz="1700" dirty="0"/>
          </a:p>
          <a:p>
            <a:r>
              <a:rPr lang="en-US" sz="1700" dirty="0">
                <a:solidFill>
                  <a:srgbClr val="17364A"/>
                </a:solidFill>
                <a:latin typeface="Aptos" pitchFamily="34" charset="0"/>
                <a:ea typeface="Aptos" pitchFamily="34" charset="-122"/>
                <a:cs typeface="Aptos" pitchFamily="34" charset="-120"/>
              </a:rPr>
              <a:t>Feature and label inventory</a:t>
            </a:r>
            <a:endParaRPr lang="en-US" sz="1700" dirty="0"/>
          </a:p>
          <a:p>
            <a:r>
              <a:rPr lang="en-US" sz="1700" dirty="0">
                <a:solidFill>
                  <a:srgbClr val="17364A"/>
                </a:solidFill>
                <a:latin typeface="Aptos" pitchFamily="34" charset="0"/>
                <a:ea typeface="Aptos" pitchFamily="34" charset="-122"/>
                <a:cs typeface="Aptos" pitchFamily="34" charset="-120"/>
              </a:rPr>
              <a:t>Initial model risk and safeguard list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use case review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Human review and monitoring notes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Human review and monitoring notes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Machine learning use case review worksheet</a:t>
            </a:r>
            <a:endParaRPr lang="en-US" sz="1700" dirty="0"/>
          </a:p>
          <a:p>
            <a:r>
              <a:rPr lang="en-US" sz="1700" dirty="0">
                <a:solidFill>
                  <a:srgbClr val="17364A"/>
                </a:solidFill>
                <a:latin typeface="Aptos" pitchFamily="34" charset="0"/>
                <a:ea typeface="Aptos" pitchFamily="34" charset="-122"/>
                <a:cs typeface="Aptos" pitchFamily="34" charset="-120"/>
              </a:rPr>
              <a:t>Feature and label inventory</a:t>
            </a:r>
            <a:endParaRPr lang="en-US" sz="1700" dirty="0"/>
          </a:p>
          <a:p>
            <a:r>
              <a:rPr lang="en-US" sz="1700" dirty="0">
                <a:solidFill>
                  <a:srgbClr val="17364A"/>
                </a:solidFill>
                <a:latin typeface="Aptos" pitchFamily="34" charset="0"/>
                <a:ea typeface="Aptos" pitchFamily="34" charset="-122"/>
                <a:cs typeface="Aptos" pitchFamily="34" charset="-120"/>
              </a:rPr>
              <a:t>Initial model risk and safeguard list</a:t>
            </a:r>
            <a:endParaRPr lang="en-US" sz="1700" dirty="0"/>
          </a:p>
          <a:p>
            <a:r>
              <a:rPr lang="en-US" sz="1700" dirty="0">
                <a:solidFill>
                  <a:srgbClr val="17364A"/>
                </a:solidFill>
                <a:latin typeface="Aptos" pitchFamily="34" charset="0"/>
                <a:ea typeface="Aptos" pitchFamily="34" charset="-122"/>
                <a:cs typeface="Aptos" pitchFamily="34" charset="-120"/>
              </a:rPr>
              <a:t>Human review and monitoring notes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Machine learning use case review worksheet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Which statement best describes supervised learning?</a:t>
            </a:r>
            <a:endParaRPr lang="en-US" sz="1700" dirty="0"/>
          </a:p>
          <a:p>
            <a:r>
              <a:rPr lang="en-US" sz="1700" dirty="0">
                <a:solidFill>
                  <a:srgbClr val="17364A"/>
                </a:solidFill>
                <a:latin typeface="Aptos" pitchFamily="34" charset="0"/>
                <a:ea typeface="Aptos" pitchFamily="34" charset="-122"/>
                <a:cs typeface="Aptos" pitchFamily="34" charset="-120"/>
              </a:rPr>
              <a:t>2. Why can historical labels create risk?</a:t>
            </a:r>
            <a:endParaRPr lang="en-US" sz="1700" dirty="0"/>
          </a:p>
          <a:p>
            <a:r>
              <a:rPr lang="en-US" sz="1700" dirty="0">
                <a:solidFill>
                  <a:srgbClr val="17364A"/>
                </a:solidFill>
                <a:latin typeface="Aptos" pitchFamily="34" charset="0"/>
                <a:ea typeface="Aptos" pitchFamily="34" charset="-122"/>
                <a:cs typeface="Aptos" pitchFamily="34" charset="-120"/>
              </a:rPr>
              <a:t>3. What is overfitting?</a:t>
            </a:r>
            <a:endParaRPr lang="en-US" sz="1700" dirty="0"/>
          </a:p>
          <a:p>
            <a:r>
              <a:rPr lang="en-US" sz="1700" dirty="0">
                <a:solidFill>
                  <a:srgbClr val="17364A"/>
                </a:solidFill>
                <a:latin typeface="Aptos" pitchFamily="34" charset="0"/>
                <a:ea typeface="Aptos" pitchFamily="34" charset="-122"/>
                <a:cs typeface="Aptos" pitchFamily="34" charset="-120"/>
              </a:rPr>
              <a:t>4. What should determine model thresholds in public health workflows?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Which statement best describes supervised learning?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Evaluation Framework: https://www.cdc.gov/evaluation/</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AI RMF Generative AI Profile:.</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Evaluation Framework: https://www.cdc.gov/evaluation/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for Epidemiology and Surveillance</dc:title>
  <dc:subject>Machine Learning Basics for Epidemiology and Surveillance learning module</dc:subject>
  <dc:creator>Paula Soper</dc:creator>
  <cp:lastModifiedBy>Paula Soper</cp:lastModifiedBy>
  <cp:revision>1</cp:revision>
  <dcterms:created xsi:type="dcterms:W3CDTF">2026-07-12T18:54:57Z</dcterms:created>
  <dcterms:modified xsi:type="dcterms:W3CDTF">2026-07-12T18:54:57Z</dcterms:modified>
</cp:coreProperties>
</file>