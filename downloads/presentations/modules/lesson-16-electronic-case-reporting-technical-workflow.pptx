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450" dirty="0"/>
          </a:p>
          <a:p>
            <a:r>
              <a:rPr lang="en-US" sz="1450" dirty="0">
                <a:solidFill>
                  <a:srgbClr val="17364A"/>
                </a:solidFill>
                <a:latin typeface="Aptos" pitchFamily="34" charset="0"/>
                <a:ea typeface="Aptos" pitchFamily="34" charset="-122"/>
                <a:cs typeface="Aptos" pitchFamily="34" charset="-120"/>
              </a:rPr>
              <a:t>Explain the roles of eICR, Reportability Response, eRSD, and RCTC.</a:t>
            </a:r>
            <a:endParaRPr lang="en-US" sz="1450" dirty="0"/>
          </a:p>
          <a:p>
            <a:r>
              <a:rPr lang="en-US" sz="1450" dirty="0">
                <a:solidFill>
                  <a:srgbClr val="17364A"/>
                </a:solidFill>
                <a:latin typeface="Aptos" pitchFamily="34" charset="0"/>
                <a:ea typeface="Aptos" pitchFamily="34" charset="-122"/>
                <a:cs typeface="Aptos" pitchFamily="34" charset="-120"/>
              </a:rPr>
              <a:t>Identify eCR data quality, routing, and onboarding issues that can affect AI use.</a:t>
            </a:r>
            <a:endParaRPr lang="en-US" sz="1450" dirty="0"/>
          </a:p>
          <a:p>
            <a:r>
              <a:rPr lang="en-US" sz="1450" dirty="0">
                <a:solidFill>
                  <a:srgbClr val="17364A"/>
                </a:solidFill>
                <a:latin typeface="Aptos" pitchFamily="34" charset="0"/>
                <a:ea typeface="Aptos" pitchFamily="34" charset="-122"/>
                <a:cs typeface="Aptos" pitchFamily="34" charset="-120"/>
              </a:rPr>
              <a:t>Assess where AI may support eCR workflows and where human review remains required.</a:t>
            </a:r>
            <a:endParaRPr lang="en-US" sz="1450" dirty="0"/>
          </a:p>
          <a:p>
            <a:r>
              <a:rPr lang="en-US" sz="1450" dirty="0">
                <a:solidFill>
                  <a:srgbClr val="17364A"/>
                </a:solidFill>
                <a:latin typeface="Aptos" pitchFamily="34" charset="0"/>
                <a:ea typeface="Aptos" pitchFamily="34" charset="-122"/>
                <a:cs typeface="Aptos" pitchFamily="34" charset="-120"/>
              </a:rPr>
              <a:t>Produce an AI-readiness review for an eCR workflow.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Routing errors. Incorrect jurisdiction or program routing can delay response. Guardrails include routing validation, exception queues, and escalation procedures.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your agency receive, review, or process case reports today? Which steps are automated and which remain manual? Where are timeliness, completeness, routing, or duplication problems most common?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eCR tasks could AI support safely? Which tasks require human review, legal authority, or epidemiologic judgment?</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AI-readiness review for one eCR workflow. Map the current workflow, identify data elements required for review, describe common data quality gaps, define the AI-supported task under consideration, and specify human review, validation, monitoring, and escalation requirements.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eCR workflow map AI-readiness checklist Validation scenarios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Human review and escalation plan</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eCR workflow map</a:t>
            </a:r>
            <a:endParaRPr lang="en-US" sz="1450" dirty="0"/>
          </a:p>
          <a:p>
            <a:r>
              <a:rPr lang="en-US" sz="1450" dirty="0">
                <a:solidFill>
                  <a:srgbClr val="17364A"/>
                </a:solidFill>
                <a:latin typeface="Aptos" pitchFamily="34" charset="0"/>
                <a:ea typeface="Aptos" pitchFamily="34" charset="-122"/>
                <a:cs typeface="Aptos" pitchFamily="34" charset="-120"/>
              </a:rPr>
              <a:t>AI-readiness checklist</a:t>
            </a:r>
            <a:endParaRPr lang="en-US" sz="1450" dirty="0"/>
          </a:p>
          <a:p>
            <a:r>
              <a:rPr lang="en-US" sz="1450" dirty="0">
                <a:solidFill>
                  <a:srgbClr val="17364A"/>
                </a:solidFill>
                <a:latin typeface="Aptos" pitchFamily="34" charset="0"/>
                <a:ea typeface="Aptos" pitchFamily="34" charset="-122"/>
                <a:cs typeface="Aptos" pitchFamily="34" charset="-120"/>
              </a:rPr>
              <a:t>Validation scenarios</a:t>
            </a:r>
            <a:endParaRPr lang="en-US" sz="1450" dirty="0"/>
          </a:p>
          <a:p>
            <a:r>
              <a:rPr lang="en-US" sz="1450" dirty="0">
                <a:solidFill>
                  <a:srgbClr val="17364A"/>
                </a:solidFill>
                <a:latin typeface="Aptos" pitchFamily="34" charset="0"/>
                <a:ea typeface="Aptos" pitchFamily="34" charset="-122"/>
                <a:cs typeface="Aptos" pitchFamily="34" charset="-120"/>
              </a:rPr>
              <a:t>Human review and escalation plan</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eCR?</a:t>
            </a:r>
            <a:endParaRPr lang="en-US" sz="1450" dirty="0"/>
          </a:p>
          <a:p>
            <a:r>
              <a:rPr lang="en-US" sz="1450" dirty="0">
                <a:solidFill>
                  <a:srgbClr val="17364A"/>
                </a:solidFill>
                <a:latin typeface="Aptos" pitchFamily="34" charset="0"/>
                <a:ea typeface="Aptos" pitchFamily="34" charset="-122"/>
                <a:cs typeface="Aptos" pitchFamily="34" charset="-120"/>
              </a:rPr>
              <a:t>2. What is an eICR?</a:t>
            </a:r>
            <a:endParaRPr lang="en-US" sz="1450" dirty="0"/>
          </a:p>
          <a:p>
            <a:r>
              <a:rPr lang="en-US" sz="1450" dirty="0">
                <a:solidFill>
                  <a:srgbClr val="17364A"/>
                </a:solidFill>
                <a:latin typeface="Aptos" pitchFamily="34" charset="0"/>
                <a:ea typeface="Aptos" pitchFamily="34" charset="-122"/>
                <a:cs typeface="Aptos" pitchFamily="34" charset="-120"/>
              </a:rPr>
              <a:t>3. What do eRSD and RCTC support?</a:t>
            </a:r>
            <a:endParaRPr lang="en-US" sz="1450" dirty="0"/>
          </a:p>
          <a:p>
            <a:r>
              <a:rPr lang="en-US" sz="1450" dirty="0">
                <a:solidFill>
                  <a:srgbClr val="17364A"/>
                </a:solidFill>
                <a:latin typeface="Aptos" pitchFamily="34" charset="0"/>
                <a:ea typeface="Aptos" pitchFamily="34" charset="-122"/>
                <a:cs typeface="Aptos" pitchFamily="34" charset="-120"/>
              </a:rPr>
              <a:t>4. Which AI-supported eCR use requires particularly careful validation?</a:t>
            </a:r>
            <a:endParaRPr lang="en-US" sz="1450" dirty="0"/>
          </a:p>
          <a:p>
            <a:r>
              <a:rPr lang="en-US" sz="1450" dirty="0">
                <a:solidFill>
                  <a:srgbClr val="17364A"/>
                </a:solidFill>
                <a:latin typeface="Aptos" pitchFamily="34" charset="0"/>
                <a:ea typeface="Aptos" pitchFamily="34" charset="-122"/>
                <a:cs typeface="Aptos" pitchFamily="34" charset="-120"/>
              </a:rPr>
              <a:t>5. What should be documented before using AI in an eCR workflow?</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450" dirty="0"/>
          </a:p>
          <a:p>
            <a:r>
              <a:rPr lang="en-US" sz="145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1450" dirty="0"/>
          </a:p>
          <a:p>
            <a:r>
              <a:rPr lang="en-US" sz="1450" dirty="0">
                <a:solidFill>
                  <a:srgbClr val="17364A"/>
                </a:solidFill>
                <a:latin typeface="Aptos" pitchFamily="34" charset="0"/>
                <a:ea typeface="Aptos" pitchFamily="34" charset="-122"/>
                <a:cs typeface="Aptos" pitchFamily="34" charset="-120"/>
              </a:rPr>
              <a:t>HL7 eCR FHIR Implementation Guide: https://hl7.org/fhir/us/ecr/</a:t>
            </a:r>
            <a:endParaRPr lang="en-US" sz="1450" dirty="0"/>
          </a:p>
          <a:p>
            <a:r>
              <a:rPr lang="en-US" sz="1450" dirty="0">
                <a:solidFill>
                  <a:srgbClr val="17364A"/>
                </a:solidFill>
                <a:latin typeface="Aptos" pitchFamily="34" charset="0"/>
                <a:ea typeface="Aptos" pitchFamily="34" charset="-122"/>
                <a:cs typeface="Aptos" pitchFamily="34" charset="-120"/>
              </a:rPr>
              <a:t>Jurisdictional eCR onboarding and surveillance documentation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2026-07-12T18:22:12Z</dcterms:created>
  <dcterms:modified xsi:type="dcterms:W3CDTF">2026-07-12T18:22:12Z</dcterms:modified>
</cp:coreProperties>
</file>