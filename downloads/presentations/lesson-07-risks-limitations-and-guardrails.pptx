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9710b1bcc854f97" /><Relationship Type="http://schemas.openxmlformats.org/officeDocument/2006/relationships/extended-properties" Target="/docProps/app.xml" Id="R45eface04b2a4fb5" /><Relationship Type="http://schemas.openxmlformats.org/officeDocument/2006/relationships/officeDocument" Target="/ppt/presentation.xml" Id="R94c3ea8997244355" /></Relationships>
</file>

<file path=ppt/presentation.xml><?xml version="1.0" encoding="utf-8"?>
<p:presentation xmlns:p="http://schemas.openxmlformats.org/presentationml/2006/main">
  <p:sldMasterIdLst>
    <p:sldMasterId xmlns:r="http://schemas.openxmlformats.org/officeDocument/2006/relationships" id="2147483648" r:id="R2b270411f2664bf5"/>
  </p:sldMasterIdLst>
  <p:notesMasterIdLst>
    <p:notesMasterId xmlns:r="http://schemas.openxmlformats.org/officeDocument/2006/relationships" r:id="Rc7a0091fa32d40ac"/>
  </p:notesMasterIdLst>
  <p:sldIdLst>
    <p:sldId xmlns:r="http://schemas.openxmlformats.org/officeDocument/2006/relationships" id="256" r:id="R7ce9b791f76a4f55"/>
    <p:sldId xmlns:r="http://schemas.openxmlformats.org/officeDocument/2006/relationships" id="257" r:id="R7f013cc4caf349ab"/>
    <p:sldId xmlns:r="http://schemas.openxmlformats.org/officeDocument/2006/relationships" id="258" r:id="Raa2aeaacc53b4271"/>
    <p:sldId xmlns:r="http://schemas.openxmlformats.org/officeDocument/2006/relationships" id="259" r:id="Rb725aa7571be4086"/>
    <p:sldId xmlns:r="http://schemas.openxmlformats.org/officeDocument/2006/relationships" id="260" r:id="R07ba0575720a4f45"/>
    <p:sldId xmlns:r="http://schemas.openxmlformats.org/officeDocument/2006/relationships" id="261" r:id="Rc4fec77ebf8a4078"/>
    <p:sldId xmlns:r="http://schemas.openxmlformats.org/officeDocument/2006/relationships" id="262" r:id="Rc0cc22ea13934c4b"/>
    <p:sldId xmlns:r="http://schemas.openxmlformats.org/officeDocument/2006/relationships" id="263" r:id="Rc739ea7d9d0a4cfb"/>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1b241a1b43f492e" /><Relationship Type="http://schemas.openxmlformats.org/officeDocument/2006/relationships/slideMaster" Target="/ppt/slideMasters/slideMaster1.xml" Id="R2b270411f2664bf5" /><Relationship Type="http://schemas.openxmlformats.org/officeDocument/2006/relationships/notesMaster" Target="/ppt/notesMasters/notesMaster1.xml" Id="Rc7a0091fa32d40ac" /><Relationship Type="http://schemas.openxmlformats.org/officeDocument/2006/relationships/presProps" Target="/ppt/presProps.xml" Id="R49912f8945bd4a04" /><Relationship Type="http://schemas.openxmlformats.org/officeDocument/2006/relationships/tableStyles" Target="/ppt/tableStyles.xml" Id="Rad62151e0c2b46c8" /><Relationship Type="http://schemas.openxmlformats.org/officeDocument/2006/relationships/slide" Target="/ppt/slides/slide1.xml" Id="R7ce9b791f76a4f55" /><Relationship Type="http://schemas.openxmlformats.org/officeDocument/2006/relationships/slide" Target="/ppt/slides/slide2.xml" Id="R7f013cc4caf349ab" /><Relationship Type="http://schemas.openxmlformats.org/officeDocument/2006/relationships/slide" Target="/ppt/slides/slide3.xml" Id="Raa2aeaacc53b4271" /><Relationship Type="http://schemas.openxmlformats.org/officeDocument/2006/relationships/slide" Target="/ppt/slides/slide4.xml" Id="Rb725aa7571be4086" /><Relationship Type="http://schemas.openxmlformats.org/officeDocument/2006/relationships/slide" Target="/ppt/slides/slide5.xml" Id="R07ba0575720a4f45" /><Relationship Type="http://schemas.openxmlformats.org/officeDocument/2006/relationships/slide" Target="/ppt/slides/slide6.xml" Id="Rc4fec77ebf8a4078" /><Relationship Type="http://schemas.openxmlformats.org/officeDocument/2006/relationships/slide" Target="/ppt/slides/slide7.xml" Id="Rc0cc22ea13934c4b" /><Relationship Type="http://schemas.openxmlformats.org/officeDocument/2006/relationships/slide" Target="/ppt/slides/slide8.xml" Id="Rc739ea7d9d0a4cf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9268d9184e64e6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5daf06ebbc8429a" /><Relationship Type="http://schemas.openxmlformats.org/officeDocument/2006/relationships/notesMaster" Target="/ppt/notesMasters/notesMaster1.xml" Id="Rfec56b4343214179" /></Relationships>
</file>

<file path=ppt/notesSlides/_rels/notesSlide2.xml.rels>&#65279;<?xml version="1.0" encoding="utf-8"?><Relationships xmlns="http://schemas.openxmlformats.org/package/2006/relationships"><Relationship Type="http://schemas.openxmlformats.org/officeDocument/2006/relationships/slide" Target="/ppt/slides/slide2.xml" Id="Re2f5b32902b540c5" /><Relationship Type="http://schemas.openxmlformats.org/officeDocument/2006/relationships/notesMaster" Target="/ppt/notesMasters/notesMaster1.xml" Id="R009f7b4e0f794582" /></Relationships>
</file>

<file path=ppt/notesSlides/_rels/notesSlide3.xml.rels>&#65279;<?xml version="1.0" encoding="utf-8"?><Relationships xmlns="http://schemas.openxmlformats.org/package/2006/relationships"><Relationship Type="http://schemas.openxmlformats.org/officeDocument/2006/relationships/slide" Target="/ppt/slides/slide3.xml" Id="R47cca231afdb441a" /><Relationship Type="http://schemas.openxmlformats.org/officeDocument/2006/relationships/notesMaster" Target="/ppt/notesMasters/notesMaster1.xml" Id="R39239ad363d14f51" /></Relationships>
</file>

<file path=ppt/notesSlides/_rels/notesSlide4.xml.rels>&#65279;<?xml version="1.0" encoding="utf-8"?><Relationships xmlns="http://schemas.openxmlformats.org/package/2006/relationships"><Relationship Type="http://schemas.openxmlformats.org/officeDocument/2006/relationships/slide" Target="/ppt/slides/slide4.xml" Id="R34d13a06e52a412a" /><Relationship Type="http://schemas.openxmlformats.org/officeDocument/2006/relationships/notesMaster" Target="/ppt/notesMasters/notesMaster1.xml" Id="R003f117002bc47ee" /></Relationships>
</file>

<file path=ppt/notesSlides/_rels/notesSlide5.xml.rels>&#65279;<?xml version="1.0" encoding="utf-8"?><Relationships xmlns="http://schemas.openxmlformats.org/package/2006/relationships"><Relationship Type="http://schemas.openxmlformats.org/officeDocument/2006/relationships/slide" Target="/ppt/slides/slide5.xml" Id="R14ef8091b6504d4e" /><Relationship Type="http://schemas.openxmlformats.org/officeDocument/2006/relationships/notesMaster" Target="/ppt/notesMasters/notesMaster1.xml" Id="Rcf59ba91d8794581" /></Relationships>
</file>

<file path=ppt/notesSlides/_rels/notesSlide6.xml.rels>&#65279;<?xml version="1.0" encoding="utf-8"?><Relationships xmlns="http://schemas.openxmlformats.org/package/2006/relationships"><Relationship Type="http://schemas.openxmlformats.org/officeDocument/2006/relationships/slide" Target="/ppt/slides/slide6.xml" Id="R68c6779ca8be424a" /><Relationship Type="http://schemas.openxmlformats.org/officeDocument/2006/relationships/notesMaster" Target="/ppt/notesMasters/notesMaster1.xml" Id="R12843195e2b04644" /></Relationships>
</file>

<file path=ppt/notesSlides/_rels/notesSlide7.xml.rels>&#65279;<?xml version="1.0" encoding="utf-8"?><Relationships xmlns="http://schemas.openxmlformats.org/package/2006/relationships"><Relationship Type="http://schemas.openxmlformats.org/officeDocument/2006/relationships/slide" Target="/ppt/slides/slide7.xml" Id="R71d9166342134583" /><Relationship Type="http://schemas.openxmlformats.org/officeDocument/2006/relationships/notesMaster" Target="/ppt/notesMasters/notesMaster1.xml" Id="R66ec5e4ac4844490" /></Relationships>
</file>

<file path=ppt/notesSlides/_rels/notesSlide8.xml.rels>&#65279;<?xml version="1.0" encoding="utf-8"?><Relationships xmlns="http://schemas.openxmlformats.org/package/2006/relationships"><Relationship Type="http://schemas.openxmlformats.org/officeDocument/2006/relationships/slide" Target="/ppt/slides/slide8.xml" Id="Redbdd18b2f0249f3" /><Relationship Type="http://schemas.openxmlformats.org/officeDocument/2006/relationships/notesMaster" Target="/ppt/notesMasters/notesMaster1.xml" Id="Re63ef959b7394c4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participants to the Risks, Limitations, and Guardrails lesson.</a:t>
            </a:r>
          </a:p>
          <a:p xmlns:a="http://schemas.openxmlformats.org/drawingml/2006/main">
            <a:r>
              <a:t>Explain that this deck is designed for staff training, leadership orientation, governance preparation, or cross-program discussion.</a:t>
            </a:r>
          </a:p>
          <a:p xmlns:a="http://schemas.openxmlformats.org/drawingml/2006/main">
            <a:r>
              <a:t>Frame the topic in plain language: Public health AI risks include hallucination, bias, privacy exposure, automation bias, model drift, and performance loss on complex tasks.</a:t>
            </a:r>
          </a:p>
          <a:p xmlns:a="http://schemas.openxmlformats.org/drawingml/2006/main">
            <a:r>
              <a:t>Invite participants to think about where this topic already appears in their department's workflows, vendor tools, data systems, communications, or planning conversations.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Risks, Limitations, and Guardrails training module.</a:t>
            </a:r>
          </a:p>
          <a:p xmlns:a="http://schemas.openxmlformats.org/drawingml/2006/main">
            <a:r>
              <a:t>Use this slide to explain the practical public health reason for learning this topic before AI tools are approved or deployed.</a:t>
            </a:r>
          </a:p>
          <a:p xmlns:a="http://schemas.openxmlformats.org/drawingml/2006/main">
            <a:r>
              <a:t>Connect the discussion back to the playbook: this topic supports Plays 3, 11, 12, 13 and Tools 3, 16, 14, 42, 17.</a:t>
            </a:r>
          </a:p>
          <a:p xmlns:a="http://schemas.openxmlformats.org/drawingml/2006/main">
            <a:r>
              <a:t>Emphasize the core guardrail: Governance, documentation, validation, and monitoring are mandatory, not optional.</a:t>
            </a:r>
          </a:p>
          <a:p xmlns:a="http://schemas.openxmlformats.org/drawingml/2006/main">
            <a:r>
              <a:t>Ask participants how this topic could affect their own program area, staff roles, community relationships, data, or public communications.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Risks, Limitations, and Guardrails training module.</a:t>
            </a:r>
          </a:p>
          <a:p xmlns:a="http://schemas.openxmlformats.org/drawingml/2006/main">
            <a:r>
              <a:t>Walk through the objectives and connect each one to a practical implementation decision.</a:t>
            </a:r>
          </a:p>
          <a:p xmlns:a="http://schemas.openxmlformats.org/drawingml/2006/main">
            <a:r>
              <a:t>Connect the discussion back to the playbook: this topic supports Plays 3, 11, 12, 13 and Tools 3, 16, 14, 42, 17.</a:t>
            </a:r>
          </a:p>
          <a:p xmlns:a="http://schemas.openxmlformats.org/drawingml/2006/main">
            <a:r>
              <a:t>Explain that participants do not need technical expertise to use this material. The goal is enough shared understanding to participate in governance, readiness assessment, use case review, procurement, deployment, or monitoring.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Risks, Limitations, and Guardrails training module.</a:t>
            </a:r>
          </a:p>
          <a:p xmlns:a="http://schemas.openxmlformats.org/drawingml/2006/main">
            <a:r>
              <a:t>Use this slide to provide the narrative overview and definition before moving into detailed application.</a:t>
            </a:r>
          </a:p>
          <a:p xmlns:a="http://schemas.openxmlformats.org/drawingml/2006/main">
            <a:r>
              <a:t>Connect the discussion back to the playbook: this topic supports Plays 3, 11, 12, 13 and Tools 3, 16, 14, 42, 17.</a:t>
            </a:r>
          </a:p>
          <a:p xmlns:a="http://schemas.openxmlformats.org/drawingml/2006/main">
            <a:r>
              <a:t>Ask the group to restate the topic in their own words.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Risks, Limitations, and Guardrails training module.</a:t>
            </a:r>
          </a:p>
          <a:p xmlns:a="http://schemas.openxmlformats.org/drawingml/2006/main">
            <a:r>
              <a:t>Use this slide to turn the concept into practical behaviors, decisions, and safeguards.</a:t>
            </a:r>
          </a:p>
          <a:p xmlns:a="http://schemas.openxmlformats.org/drawingml/2006/main">
            <a:r>
              <a:t>Connect the discussion back to the playbook: this topic supports Plays 3, 11, 12, 13 and Tools 3, 16, 14, 42, 17.</a:t>
            </a:r>
          </a:p>
          <a:p xmlns:a="http://schemas.openxmlformats.org/drawingml/2006/main">
            <a:r>
              <a:t>Invite participants to identify where these practices would need to be documented in their own department.</a:t>
            </a:r>
          </a:p>
          <a:p xmlns:a="http://schemas.openxmlformats.org/drawingml/2006/main">
            <a:r>
              <a:t>Start with Common Risk Categories, then compare it with the other practice areas on the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Risks, Limitations, and Guardrails training module.</a:t>
            </a:r>
          </a:p>
          <a:p xmlns:a="http://schemas.openxmlformats.org/drawingml/2006/main">
            <a:r>
              <a:t>Use this slide to make the topic concrete through public health workflow examples.</a:t>
            </a:r>
          </a:p>
          <a:p xmlns:a="http://schemas.openxmlformats.org/drawingml/2006/main">
            <a:r>
              <a:t>Connect the discussion back to the playbook: this topic supports Plays 3, 11, 12, 13 and Tools 3, 16, 14, 42, 17.</a:t>
            </a:r>
          </a:p>
          <a:p xmlns:a="http://schemas.openxmlformats.org/drawingml/2006/main">
            <a:r>
              <a:t>For each example, ask: What problem is being solved? What data would be used? Who reviews the AI output? What decision remains human? What could go wrong?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Risks, Limitations, and Guardrails training module.</a:t>
            </a:r>
          </a:p>
          <a:p xmlns:a="http://schemas.openxmlformats.org/drawingml/2006/main">
            <a:r>
              <a:t>Use this slide for a facilitated activity near the end of the lesson.</a:t>
            </a:r>
          </a:p>
          <a:p xmlns:a="http://schemas.openxmlformats.org/drawingml/2006/main">
            <a:r>
              <a:t>Connect the discussion back to the playbook: this topic supports Plays 3, 11, 12, 13 and Tools 3, 16, 14, 42, 17.</a:t>
            </a:r>
          </a:p>
          <a:p xmlns:a="http://schemas.openxmlformats.org/drawingml/2006/main">
            <a:r>
              <a:t>Give participants time to work individually or in small groups. Ask them to produce a practical artifact that can feed into readiness assessment, governance review, use case prioritization, or implementation planning.</a:t>
            </a:r>
          </a:p>
          <a:p xmlns:a="http://schemas.openxmlformats.org/drawingml/2006/main">
            <a:r>
              <a:t>Expected takeaways include: Risk register, Mitigation plan, Incident escalation criteria.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Risks, Limitations, and Guardrails training module.</a:t>
            </a:r>
          </a:p>
          <a:p xmlns:a="http://schemas.openxmlformats.org/drawingml/2006/main">
            <a:r>
              <a:t>Close by connecting the lesson to next actions and resources.</a:t>
            </a:r>
          </a:p>
          <a:p xmlns:a="http://schemas.openxmlformats.org/drawingml/2006/main">
            <a:r>
              <a:t>Connect the discussion back to the playbook: this topic supports Plays 3, 11, 12, 13 and Tools 3, 16, 14, 42, 17.</a:t>
            </a:r>
          </a:p>
          <a:p xmlns:a="http://schemas.openxmlformats.org/drawingml/2006/main">
            <a:r>
              <a:t>Point participants to the first resource: NIST AI Risk Management Framework.</a:t>
            </a:r>
          </a:p>
          <a:p xmlns:a="http://schemas.openxmlformats.org/drawingml/2006/main">
            <a:r>
              <a:t>End by asking each participant or team to name one follow-up action they will take after the session.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a6d7716afd743a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2838edd480f4739" /><Relationship Type="http://schemas.openxmlformats.org/officeDocument/2006/relationships/slideLayout" Target="/ppt/slideLayouts/slideLayout1.xml" Id="Rcccda39af4de45d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ccda39af4de45d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6cd4fc44ae44f47" /><Relationship Type="http://schemas.openxmlformats.org/officeDocument/2006/relationships/image" Target="/ppt/media/image.png" Id="R0e1187940fdf4a4a" /><Relationship Type="http://schemas.openxmlformats.org/officeDocument/2006/relationships/notesSlide" Target="/ppt/notesSlides/notesSlide1.xml" Id="R7faf14d3f3ce42e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f15fd367e664760" /><Relationship Type="http://schemas.openxmlformats.org/officeDocument/2006/relationships/notesSlide" Target="/ppt/notesSlides/notesSlide2.xml" Id="R3ef665920bdc43f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8142d32626547d6" /><Relationship Type="http://schemas.openxmlformats.org/officeDocument/2006/relationships/notesSlide" Target="/ppt/notesSlides/notesSlide3.xml" Id="R7f2695722062442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2647c7e3d4344cf" /><Relationship Type="http://schemas.openxmlformats.org/officeDocument/2006/relationships/notesSlide" Target="/ppt/notesSlides/notesSlide4.xml" Id="R3a24848ae246420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dbbbc69ca244359" /><Relationship Type="http://schemas.openxmlformats.org/officeDocument/2006/relationships/notesSlide" Target="/ppt/notesSlides/notesSlide5.xml" Id="R175b45c62dc247c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0a32f6a962546cd" /><Relationship Type="http://schemas.openxmlformats.org/officeDocument/2006/relationships/notesSlide" Target="/ppt/notesSlides/notesSlide6.xml" Id="R25cae3683c7a4d9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b9474c836424ee0" /><Relationship Type="http://schemas.openxmlformats.org/officeDocument/2006/relationships/notesSlide" Target="/ppt/notesSlides/notesSlide7.xml" Id="R801dce52a062441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a18371b37184c06" /><Relationship Type="http://schemas.openxmlformats.org/officeDocument/2006/relationships/notesSlide" Target="/ppt/notesSlides/notesSlide8.xml" Id="R6d66f0cc0d1441df" /></Relationships>
</file>

<file path=ppt/slides/slide1.xml><?xml version="1.0" encoding="utf-8"?>
<p:sld xmlns:p="http://schemas.openxmlformats.org/presentationml/2006/main">
  <p:cSld>
    <p:bg>
      <p:bgPr>
        <a:solidFill xmlns:a="http://schemas.openxmlformats.org/drawingml/2006/main">
          <a:srgbClr val="F7FBFD"/>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0e1187940fdf4a4a"/>
          <a:stretch xmlns:a="http://schemas.openxmlformats.org/drawingml/2006/main"/>
        </p:blipFill>
        <p:spPr>
          <a:xfrm xmlns:a="http://schemas.openxmlformats.org/drawingml/2006/main">
            <a:off x="5316097" y="514350"/>
            <a:ext cx="1559806" cy="1524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489291C-2E47-4D1E-AFCE-787B1B2D53F5}"/>
              </a:ext>
            </a:extLst>
          </p:cNvPr>
          <p:cNvSpPr>
            <a:spLocks xmlns:a="http://schemas.openxmlformats.org/drawingml/2006/main" noGrp="1"/>
          </p:cNvSpPr>
          <p:nvPr/>
        </p:nvSpPr>
        <p:spPr>
          <a:xfrm xmlns:a="http://schemas.openxmlformats.org/drawingml/2006/main">
            <a:off x="4953000" y="230505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287320"/>
                </a:solidFill>
              </a:defRPr>
            </a:pPr>
            <a:r>
              <a:rPr sz="1800" b="1">
                <a:solidFill>
                  <a:srgbClr val="287320"/>
                </a:solidFill>
              </a:rPr>
              <a:t>Lesson 7</a:t>
            </a:r>
          </a:p>
        </p:txBody>
      </p:sp>
      <p:sp>
        <p:nvSpPr>
          <p:cNvPr id="3" name="">
            <a:extLst xmlns:a="http://schemas.openxmlformats.org/drawingml/2006/main">
              <a:ext uri="{FF2B5EF4-FFF2-40B4-BE49-F238E27FC236}">
                <a16:creationId xmlns:a16="http://schemas.microsoft.com/office/drawing/2014/main" id="{505F9F94-20E3-4417-A84E-F318B5549D25}"/>
              </a:ext>
            </a:extLst>
          </p:cNvPr>
          <p:cNvSpPr>
            <a:spLocks xmlns:a="http://schemas.openxmlformats.org/drawingml/2006/main" noGrp="1"/>
          </p:cNvSpPr>
          <p:nvPr/>
        </p:nvSpPr>
        <p:spPr>
          <a:xfrm xmlns:a="http://schemas.openxmlformats.org/drawingml/2006/main">
            <a:off x="1333500" y="2781300"/>
            <a:ext cx="9525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3900" b="1">
                <a:solidFill>
                  <a:srgbClr val="003B70"/>
                </a:solidFill>
              </a:defRPr>
            </a:pPr>
            <a:r>
              <a:rPr sz="3900" b="1">
                <a:solidFill>
                  <a:srgbClr val="003B70"/>
                </a:solidFill>
              </a:rPr>
              <a:t>Risks, Limitations, and Guardrails</a:t>
            </a:r>
          </a:p>
        </p:txBody>
      </p:sp>
      <p:sp>
        <p:nvSpPr>
          <p:cNvPr id="4" name="">
            <a:extLst xmlns:a="http://schemas.openxmlformats.org/drawingml/2006/main">
              <a:ext uri="{FF2B5EF4-FFF2-40B4-BE49-F238E27FC236}">
                <a16:creationId xmlns:a16="http://schemas.microsoft.com/office/drawing/2014/main" id="{0CAEAF57-DDE7-4B7C-B1D9-F1F8EFEF91C8}"/>
              </a:ext>
            </a:extLst>
          </p:cNvPr>
          <p:cNvSpPr>
            <a:spLocks xmlns:a="http://schemas.openxmlformats.org/drawingml/2006/main" noGrp="1"/>
          </p:cNvSpPr>
          <p:nvPr/>
        </p:nvSpPr>
        <p:spPr>
          <a:xfrm xmlns:a="http://schemas.openxmlformats.org/drawingml/2006/main">
            <a:off x="3714750" y="3857625"/>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025" b="1">
                <a:solidFill>
                  <a:srgbClr val="005DAA"/>
                </a:solidFill>
              </a:defRPr>
            </a:pPr>
            <a:r>
              <a:rPr sz="2025" b="1">
                <a:solidFill>
                  <a:srgbClr val="005DAA"/>
                </a:solidFill>
              </a:rPr>
              <a:t>Staff Training Module</a:t>
            </a:r>
          </a:p>
        </p:txBody>
      </p:sp>
      <p:sp>
        <p:nvSpPr>
          <p:cNvPr id="5" name="">
            <a:extLst xmlns:a="http://schemas.openxmlformats.org/drawingml/2006/main">
              <a:ext uri="{FF2B5EF4-FFF2-40B4-BE49-F238E27FC236}">
                <a16:creationId xmlns:a16="http://schemas.microsoft.com/office/drawing/2014/main" id="{EE7DC7BE-072D-4C37-8326-C974A86D09E5}"/>
              </a:ext>
            </a:extLst>
          </p:cNvPr>
          <p:cNvSpPr>
            <a:spLocks xmlns:a="http://schemas.openxmlformats.org/drawingml/2006/main" noGrp="1"/>
          </p:cNvSpPr>
          <p:nvPr/>
        </p:nvSpPr>
        <p:spPr>
          <a:xfrm xmlns:a="http://schemas.openxmlformats.org/drawingml/2006/main">
            <a:off x="3429000" y="4495800"/>
            <a:ext cx="5334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6" name="">
            <a:extLst xmlns:a="http://schemas.openxmlformats.org/drawingml/2006/main">
              <a:ext uri="{FF2B5EF4-FFF2-40B4-BE49-F238E27FC236}">
                <a16:creationId xmlns:a16="http://schemas.microsoft.com/office/drawing/2014/main" id="{2C220460-611F-438A-85FD-AB7BA059A930}"/>
              </a:ext>
            </a:extLst>
          </p:cNvPr>
          <p:cNvSpPr>
            <a:spLocks xmlns:a="http://schemas.openxmlformats.org/drawingml/2006/main" noGrp="1"/>
          </p:cNvSpPr>
          <p:nvPr/>
        </p:nvSpPr>
        <p:spPr>
          <a:xfrm xmlns:a="http://schemas.openxmlformats.org/drawingml/2006/main">
            <a:off x="2286000" y="4905375"/>
            <a:ext cx="7620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287320"/>
                </a:solidFill>
              </a:defRPr>
            </a:pPr>
            <a:r>
              <a:rPr sz="1500" b="1">
                <a:solidFill>
                  <a:srgbClr val="287320"/>
                </a:solidFill>
              </a:rPr>
              <a:t>AI Playbook and Toolkit for Public Health Departments</a:t>
            </a:r>
          </a:p>
        </p:txBody>
      </p:sp>
    </p:spTree>
    <p:extLst>
      <p:ext uri="{BB962C8B-B14F-4D97-AF65-F5344CB8AC3E}">
        <p14:creationId xmlns:p14="http://schemas.microsoft.com/office/powerpoint/2010/main" val="111871335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D9D6A32-97CA-4DA5-BA93-D48256C1E2E5}"/>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1EA233CF-821F-423F-B2D9-FE2E3663A4EE}"/>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Why this topic matters</a:t>
            </a:r>
          </a:p>
        </p:txBody>
      </p:sp>
      <p:sp>
        <p:nvSpPr>
          <p:cNvPr id="3" name="">
            <a:extLst xmlns:a="http://schemas.openxmlformats.org/drawingml/2006/main">
              <a:ext uri="{FF2B5EF4-FFF2-40B4-BE49-F238E27FC236}">
                <a16:creationId xmlns:a16="http://schemas.microsoft.com/office/drawing/2014/main" id="{B26835FA-1AA8-4CEC-A1F0-2A9546952778}"/>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5360CFDF-DC54-4BAB-9D02-47C0C9B5E0B9}"/>
              </a:ext>
            </a:extLst>
          </p:cNvPr>
          <p:cNvSpPr>
            <a:spLocks xmlns:a="http://schemas.openxmlformats.org/drawingml/2006/main" noGrp="1"/>
          </p:cNvSpPr>
          <p:nvPr/>
        </p:nvSpPr>
        <p:spPr>
          <a:xfrm xmlns:a="http://schemas.openxmlformats.org/drawingml/2006/main">
            <a:off x="685800" y="1714500"/>
            <a:ext cx="10287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12324A"/>
                </a:solidFill>
              </a:defRPr>
            </a:pPr>
            <a:r>
              <a:rPr sz="2025" b="1">
                <a:solidFill>
                  <a:srgbClr val="12324A"/>
                </a:solidFill>
              </a:rPr>
              <a:t>Public health AI risks include hallucination, bias, privacy exposure, automation bias, model drift, and performance loss on complex tasks.</a:t>
            </a:r>
          </a:p>
        </p:txBody>
      </p:sp>
      <p:sp>
        <p:nvSpPr>
          <p:cNvPr id="5" name="">
            <a:extLst xmlns:a="http://schemas.openxmlformats.org/drawingml/2006/main">
              <a:ext uri="{FF2B5EF4-FFF2-40B4-BE49-F238E27FC236}">
                <a16:creationId xmlns:a16="http://schemas.microsoft.com/office/drawing/2014/main" id="{C7469E79-4CBD-4D04-AF2D-914B54C860B5}"/>
              </a:ext>
            </a:extLst>
          </p:cNvPr>
          <p:cNvSpPr>
            <a:spLocks xmlns:a="http://schemas.openxmlformats.org/drawingml/2006/main" noGrp="1"/>
          </p:cNvSpPr>
          <p:nvPr/>
        </p:nvSpPr>
        <p:spPr>
          <a:xfrm xmlns:a="http://schemas.openxmlformats.org/drawingml/2006/main">
            <a:off x="685800" y="2905125"/>
            <a:ext cx="4762500" cy="2190750"/>
          </a:xfrm>
          <a:prstGeom xmlns:a="http://schemas.openxmlformats.org/drawingml/2006/main" prst="roundRect">
            <a:avLst>
              <a:gd name="adj" fmla="val 5217"/>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48735EDC-BA42-4499-8D31-018BB124B0C2}"/>
              </a:ext>
            </a:extLst>
          </p:cNvPr>
          <p:cNvSpPr>
            <a:spLocks xmlns:a="http://schemas.openxmlformats.org/drawingml/2006/main" noGrp="1"/>
          </p:cNvSpPr>
          <p:nvPr/>
        </p:nvSpPr>
        <p:spPr>
          <a:xfrm xmlns:a="http://schemas.openxmlformats.org/drawingml/2006/main">
            <a:off x="685800" y="2905125"/>
            <a:ext cx="66675" cy="219075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7" name="">
            <a:extLst xmlns:a="http://schemas.openxmlformats.org/drawingml/2006/main">
              <a:ext uri="{FF2B5EF4-FFF2-40B4-BE49-F238E27FC236}">
                <a16:creationId xmlns:a16="http://schemas.microsoft.com/office/drawing/2014/main" id="{97737A97-D42C-4327-BC6E-7CFA9EFFE973}"/>
              </a:ext>
            </a:extLst>
          </p:cNvPr>
          <p:cNvSpPr>
            <a:spLocks xmlns:a="http://schemas.openxmlformats.org/drawingml/2006/main" noGrp="1"/>
          </p:cNvSpPr>
          <p:nvPr/>
        </p:nvSpPr>
        <p:spPr>
          <a:xfrm xmlns:a="http://schemas.openxmlformats.org/drawingml/2006/main">
            <a:off x="914400" y="3095625"/>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Public health value</a:t>
            </a:r>
          </a:p>
        </p:txBody>
      </p:sp>
      <p:sp>
        <p:nvSpPr>
          <p:cNvPr id="8" name="">
            <a:extLst xmlns:a="http://schemas.openxmlformats.org/drawingml/2006/main">
              <a:ext uri="{FF2B5EF4-FFF2-40B4-BE49-F238E27FC236}">
                <a16:creationId xmlns:a16="http://schemas.microsoft.com/office/drawing/2014/main" id="{40E58BE5-3981-4999-A1D9-F599B689F479}"/>
              </a:ext>
            </a:extLst>
          </p:cNvPr>
          <p:cNvSpPr>
            <a:spLocks xmlns:a="http://schemas.openxmlformats.org/drawingml/2006/main" noGrp="1"/>
          </p:cNvSpPr>
          <p:nvPr/>
        </p:nvSpPr>
        <p:spPr>
          <a:xfrm xmlns:a="http://schemas.openxmlformats.org/drawingml/2006/main">
            <a:off x="914400" y="3552825"/>
            <a:ext cx="4305300" cy="1390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Responsible AI risk management is not a one-time checklist. Public health risks change as data, models, vendors, disease patterns, staff behavior, and community needs change. Agencies need repeatable risk review methods that can be used before.</a:t>
            </a:r>
          </a:p>
        </p:txBody>
      </p:sp>
      <p:sp>
        <p:nvSpPr>
          <p:cNvPr id="9" name="">
            <a:extLst xmlns:a="http://schemas.openxmlformats.org/drawingml/2006/main">
              <a:ext uri="{FF2B5EF4-FFF2-40B4-BE49-F238E27FC236}">
                <a16:creationId xmlns:a16="http://schemas.microsoft.com/office/drawing/2014/main" id="{92AA78C9-DA9C-4412-B299-2AB263C2858D}"/>
              </a:ext>
            </a:extLst>
          </p:cNvPr>
          <p:cNvSpPr>
            <a:spLocks xmlns:a="http://schemas.openxmlformats.org/drawingml/2006/main" noGrp="1"/>
          </p:cNvSpPr>
          <p:nvPr/>
        </p:nvSpPr>
        <p:spPr>
          <a:xfrm xmlns:a="http://schemas.openxmlformats.org/drawingml/2006/main">
            <a:off x="5953125" y="2905125"/>
            <a:ext cx="4762500" cy="2190750"/>
          </a:xfrm>
          <a:prstGeom xmlns:a="http://schemas.openxmlformats.org/drawingml/2006/main" prst="roundRect">
            <a:avLst>
              <a:gd name="adj" fmla="val 5217"/>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848EB7F7-CE51-4000-9458-EAF7DEAC06C1}"/>
              </a:ext>
            </a:extLst>
          </p:cNvPr>
          <p:cNvSpPr>
            <a:spLocks xmlns:a="http://schemas.openxmlformats.org/drawingml/2006/main" noGrp="1"/>
          </p:cNvSpPr>
          <p:nvPr/>
        </p:nvSpPr>
        <p:spPr>
          <a:xfrm xmlns:a="http://schemas.openxmlformats.org/drawingml/2006/main">
            <a:off x="5953125" y="2905125"/>
            <a:ext cx="66675" cy="2190750"/>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11" name="">
            <a:extLst xmlns:a="http://schemas.openxmlformats.org/drawingml/2006/main">
              <a:ext uri="{FF2B5EF4-FFF2-40B4-BE49-F238E27FC236}">
                <a16:creationId xmlns:a16="http://schemas.microsoft.com/office/drawing/2014/main" id="{284CCCF0-36BE-49CD-B716-29A0582CC34B}"/>
              </a:ext>
            </a:extLst>
          </p:cNvPr>
          <p:cNvSpPr>
            <a:spLocks xmlns:a="http://schemas.openxmlformats.org/drawingml/2006/main" noGrp="1"/>
          </p:cNvSpPr>
          <p:nvPr/>
        </p:nvSpPr>
        <p:spPr>
          <a:xfrm xmlns:a="http://schemas.openxmlformats.org/drawingml/2006/main">
            <a:off x="6181725" y="3095625"/>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Guardrail</a:t>
            </a:r>
          </a:p>
        </p:txBody>
      </p:sp>
      <p:sp>
        <p:nvSpPr>
          <p:cNvPr id="12" name="">
            <a:extLst xmlns:a="http://schemas.openxmlformats.org/drawingml/2006/main">
              <a:ext uri="{FF2B5EF4-FFF2-40B4-BE49-F238E27FC236}">
                <a16:creationId xmlns:a16="http://schemas.microsoft.com/office/drawing/2014/main" id="{9BA80AA9-A126-4A98-8E21-0D588381F634}"/>
              </a:ext>
            </a:extLst>
          </p:cNvPr>
          <p:cNvSpPr>
            <a:spLocks xmlns:a="http://schemas.openxmlformats.org/drawingml/2006/main" noGrp="1"/>
          </p:cNvSpPr>
          <p:nvPr/>
        </p:nvSpPr>
        <p:spPr>
          <a:xfrm xmlns:a="http://schemas.openxmlformats.org/drawingml/2006/main">
            <a:off x="6181725" y="3552825"/>
            <a:ext cx="4305300" cy="1390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Governance, documentation, validation, and monitoring are mandatory, not optional.</a:t>
            </a:r>
          </a:p>
        </p:txBody>
      </p:sp>
      <p:sp>
        <p:nvSpPr>
          <p:cNvPr id="13" name="">
            <a:extLst xmlns:a="http://schemas.openxmlformats.org/drawingml/2006/main">
              <a:ext uri="{FF2B5EF4-FFF2-40B4-BE49-F238E27FC236}">
                <a16:creationId xmlns:a16="http://schemas.microsoft.com/office/drawing/2014/main" id="{6294F6DB-9FF7-4508-8ED1-F39E4E1CB716}"/>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Risks, Limitations, and Guardrails</a:t>
            </a:r>
          </a:p>
        </p:txBody>
      </p:sp>
      <p:sp>
        <p:nvSpPr>
          <p:cNvPr id="14" name="">
            <a:extLst xmlns:a="http://schemas.openxmlformats.org/drawingml/2006/main">
              <a:ext uri="{FF2B5EF4-FFF2-40B4-BE49-F238E27FC236}">
                <a16:creationId xmlns:a16="http://schemas.microsoft.com/office/drawing/2014/main" id="{CAE713EF-48CE-49DF-8412-109BA3AA3A9A}"/>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02</a:t>
            </a:r>
          </a:p>
        </p:txBody>
      </p:sp>
    </p:spTree>
    <p:extLst>
      <p:ext uri="{BB962C8B-B14F-4D97-AF65-F5344CB8AC3E}">
        <p14:creationId xmlns:p14="http://schemas.microsoft.com/office/powerpoint/2010/main" val="1437481732"/>
      </p:ext>
    </p:extLst>
  </p:cSld>
</p:sld>
</file>

<file path=ppt/slides/slide3.xml><?xml version="1.0" encoding="utf-8"?>
<p:sld xmlns:p="http://schemas.openxmlformats.org/presentationml/2006/main">
  <p:cSld>
    <p:bg>
      <p:bgPr>
        <a:solidFill xmlns:a="http://schemas.openxmlformats.org/drawingml/2006/main">
          <a:srgbClr val="F7FBFD"/>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686C2A2-476B-45CA-A990-E0D68033C8E8}"/>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95DC6510-9022-46D9-B268-9C33E610A9C1}"/>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Learning objectives</a:t>
            </a:r>
          </a:p>
        </p:txBody>
      </p:sp>
      <p:sp>
        <p:nvSpPr>
          <p:cNvPr id="3" name="">
            <a:extLst xmlns:a="http://schemas.openxmlformats.org/drawingml/2006/main">
              <a:ext uri="{FF2B5EF4-FFF2-40B4-BE49-F238E27FC236}">
                <a16:creationId xmlns:a16="http://schemas.microsoft.com/office/drawing/2014/main" id="{A2D38A7B-5DB1-4463-994F-A1922D71EAE0}"/>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847D38FC-BDD9-43C2-A25E-CF0F8462317D}"/>
              </a:ext>
            </a:extLst>
          </p:cNvPr>
          <p:cNvSpPr>
            <a:spLocks xmlns:a="http://schemas.openxmlformats.org/drawingml/2006/main" noGrp="1"/>
          </p:cNvSpPr>
          <p:nvPr/>
        </p:nvSpPr>
        <p:spPr>
          <a:xfrm xmlns:a="http://schemas.openxmlformats.org/drawingml/2006/main">
            <a:off x="685800" y="1657350"/>
            <a:ext cx="9525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12324A"/>
                </a:solidFill>
              </a:defRPr>
            </a:pPr>
            <a:r>
              <a:rPr sz="1875" b="1">
                <a:solidFill>
                  <a:srgbClr val="12324A"/>
                </a:solidFill>
              </a:rPr>
              <a:t>By the end of this lesson, staff should be able to:</a:t>
            </a:r>
          </a:p>
        </p:txBody>
      </p:sp>
      <p:sp>
        <p:nvSpPr>
          <p:cNvPr id="5" name="">
            <a:extLst xmlns:a="http://schemas.openxmlformats.org/drawingml/2006/main">
              <a:ext uri="{FF2B5EF4-FFF2-40B4-BE49-F238E27FC236}">
                <a16:creationId xmlns:a16="http://schemas.microsoft.com/office/drawing/2014/main" id="{30D8692F-A95D-4EF4-B5CA-08802C9DF95F}"/>
              </a:ext>
            </a:extLst>
          </p:cNvPr>
          <p:cNvSpPr>
            <a:spLocks xmlns:a="http://schemas.openxmlformats.org/drawingml/2006/main" noGrp="1"/>
          </p:cNvSpPr>
          <p:nvPr/>
        </p:nvSpPr>
        <p:spPr>
          <a:xfrm xmlns:a="http://schemas.openxmlformats.org/drawingml/2006/main">
            <a:off x="1047750" y="2286000"/>
            <a:ext cx="9429750" cy="3143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0">
                <a:solidFill>
                  <a:srgbClr val="24394A"/>
                </a:solidFill>
              </a:defRPr>
            </a:pPr>
            <a:r>
              <a:rPr sz="1725" b="0">
                <a:solidFill>
                  <a:srgbClr val="24394A"/>
                </a:solidFill>
              </a:rPr>
              <a:t>• Explain Risks, Limitations, and Guardrails in plain language.</a:t>
            </a:r>
          </a:p>
          <a:p xmlns:a="http://schemas.openxmlformats.org/drawingml/2006/main">
            <a:pPr algn="l">
              <a:defRPr sz="1725" b="0">
                <a:solidFill>
                  <a:srgbClr val="24394A"/>
                </a:solidFill>
              </a:defRPr>
            </a:pPr>
            <a:r>
              <a:rPr sz="1725" b="0">
                <a:solidFill>
                  <a:srgbClr val="24394A"/>
                </a:solidFill>
              </a:rPr>
              <a:t>• Identify appropriate public health uses and limits.</a:t>
            </a:r>
          </a:p>
          <a:p xmlns:a="http://schemas.openxmlformats.org/drawingml/2006/main">
            <a:pPr algn="l">
              <a:defRPr sz="1725" b="0">
                <a:solidFill>
                  <a:srgbClr val="24394A"/>
                </a:solidFill>
              </a:defRPr>
            </a:pPr>
            <a:r>
              <a:rPr sz="1725" b="0">
                <a:solidFill>
                  <a:srgbClr val="24394A"/>
                </a:solidFill>
              </a:rPr>
              <a:t>• Describe human review, governance, equity, privacy, and monitoring expectations.</a:t>
            </a:r>
          </a:p>
          <a:p xmlns:a="http://schemas.openxmlformats.org/drawingml/2006/main">
            <a:pPr algn="l">
              <a:defRPr sz="1725" b="0">
                <a:solidFill>
                  <a:srgbClr val="24394A"/>
                </a:solidFill>
              </a:defRPr>
            </a:pPr>
            <a:r>
              <a:rPr sz="1725" b="0">
                <a:solidFill>
                  <a:srgbClr val="24394A"/>
                </a:solidFill>
              </a:rPr>
              <a:t>• Connect the topic to the related plays and tools.</a:t>
            </a:r>
          </a:p>
        </p:txBody>
      </p:sp>
      <p:sp>
        <p:nvSpPr>
          <p:cNvPr id="6" name="">
            <a:extLst xmlns:a="http://schemas.openxmlformats.org/drawingml/2006/main">
              <a:ext uri="{FF2B5EF4-FFF2-40B4-BE49-F238E27FC236}">
                <a16:creationId xmlns:a16="http://schemas.microsoft.com/office/drawing/2014/main" id="{D3D4B911-5A53-4995-9E2A-F3448C217F50}"/>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Risks, Limitations, and Guardrails</a:t>
            </a:r>
          </a:p>
        </p:txBody>
      </p:sp>
      <p:sp>
        <p:nvSpPr>
          <p:cNvPr id="7" name="">
            <a:extLst xmlns:a="http://schemas.openxmlformats.org/drawingml/2006/main">
              <a:ext uri="{FF2B5EF4-FFF2-40B4-BE49-F238E27FC236}">
                <a16:creationId xmlns:a16="http://schemas.microsoft.com/office/drawing/2014/main" id="{D35B6FB2-DC36-48A6-866B-308797575258}"/>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03</a:t>
            </a:r>
          </a:p>
        </p:txBody>
      </p:sp>
    </p:spTree>
    <p:extLst>
      <p:ext uri="{BB962C8B-B14F-4D97-AF65-F5344CB8AC3E}">
        <p14:creationId xmlns:p14="http://schemas.microsoft.com/office/powerpoint/2010/main" val="4729322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E9FE748-2AFE-49C0-81A1-6D8F043CB40A}"/>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F800E9AF-57A7-4B0C-82CE-A63A16041385}"/>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Module overview</a:t>
            </a:r>
          </a:p>
        </p:txBody>
      </p:sp>
      <p:sp>
        <p:nvSpPr>
          <p:cNvPr id="3" name="">
            <a:extLst xmlns:a="http://schemas.openxmlformats.org/drawingml/2006/main">
              <a:ext uri="{FF2B5EF4-FFF2-40B4-BE49-F238E27FC236}">
                <a16:creationId xmlns:a16="http://schemas.microsoft.com/office/drawing/2014/main" id="{1D782BF4-8618-482D-AD62-8F23A0C588CA}"/>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4532611F-3E7D-4165-8127-B294AF894FC7}"/>
              </a:ext>
            </a:extLst>
          </p:cNvPr>
          <p:cNvSpPr>
            <a:spLocks xmlns:a="http://schemas.openxmlformats.org/drawingml/2006/main" noGrp="1"/>
          </p:cNvSpPr>
          <p:nvPr/>
        </p:nvSpPr>
        <p:spPr>
          <a:xfrm xmlns:a="http://schemas.openxmlformats.org/drawingml/2006/main">
            <a:off x="685800" y="1695450"/>
            <a:ext cx="101917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24394A"/>
                </a:solidFill>
              </a:defRPr>
            </a:pPr>
            <a:r>
              <a:rPr sz="1800" b="0">
                <a:solidFill>
                  <a:srgbClr val="24394A"/>
                </a:solidFill>
              </a:rPr>
              <a:t>AI risks in public health are not limited to technical errors. They include privacy exposure, hallucinated guidance, biased prioritization, automation bias, model drift, vendor opacity, accessibility barriers, environmental burden, and loss of public trust. Risk management should begin before tool selection and continue through deployment and monitoring.</a:t>
            </a:r>
          </a:p>
        </p:txBody>
      </p:sp>
      <p:sp>
        <p:nvSpPr>
          <p:cNvPr id="5" name="">
            <a:extLst xmlns:a="http://schemas.openxmlformats.org/drawingml/2006/main">
              <a:ext uri="{FF2B5EF4-FFF2-40B4-BE49-F238E27FC236}">
                <a16:creationId xmlns:a16="http://schemas.microsoft.com/office/drawing/2014/main" id="{42D93320-428C-442F-BE4E-BD2471263D0D}"/>
              </a:ext>
            </a:extLst>
          </p:cNvPr>
          <p:cNvSpPr>
            <a:spLocks xmlns:a="http://schemas.openxmlformats.org/drawingml/2006/main" noGrp="1"/>
          </p:cNvSpPr>
          <p:nvPr/>
        </p:nvSpPr>
        <p:spPr>
          <a:xfrm xmlns:a="http://schemas.openxmlformats.org/drawingml/2006/main">
            <a:off x="685800" y="3524250"/>
            <a:ext cx="9953625" cy="1381125"/>
          </a:xfrm>
          <a:prstGeom xmlns:a="http://schemas.openxmlformats.org/drawingml/2006/main" prst="roundRect">
            <a:avLst>
              <a:gd name="adj" fmla="val 827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24BF7C94-3E50-4EA2-BF64-8550E70BA91C}"/>
              </a:ext>
            </a:extLst>
          </p:cNvPr>
          <p:cNvSpPr>
            <a:spLocks xmlns:a="http://schemas.openxmlformats.org/drawingml/2006/main" noGrp="1"/>
          </p:cNvSpPr>
          <p:nvPr/>
        </p:nvSpPr>
        <p:spPr>
          <a:xfrm xmlns:a="http://schemas.openxmlformats.org/drawingml/2006/main">
            <a:off x="685800" y="3524250"/>
            <a:ext cx="66675" cy="1381125"/>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7" name="">
            <a:extLst xmlns:a="http://schemas.openxmlformats.org/drawingml/2006/main">
              <a:ext uri="{FF2B5EF4-FFF2-40B4-BE49-F238E27FC236}">
                <a16:creationId xmlns:a16="http://schemas.microsoft.com/office/drawing/2014/main" id="{B95B4958-8890-463C-A8E7-AE50C17B279E}"/>
              </a:ext>
            </a:extLst>
          </p:cNvPr>
          <p:cNvSpPr>
            <a:spLocks xmlns:a="http://schemas.openxmlformats.org/drawingml/2006/main" noGrp="1"/>
          </p:cNvSpPr>
          <p:nvPr/>
        </p:nvSpPr>
        <p:spPr>
          <a:xfrm xmlns:a="http://schemas.openxmlformats.org/drawingml/2006/main">
            <a:off x="914400" y="3714750"/>
            <a:ext cx="94964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Working definition</a:t>
            </a:r>
          </a:p>
        </p:txBody>
      </p:sp>
      <p:sp>
        <p:nvSpPr>
          <p:cNvPr id="8" name="">
            <a:extLst xmlns:a="http://schemas.openxmlformats.org/drawingml/2006/main">
              <a:ext uri="{FF2B5EF4-FFF2-40B4-BE49-F238E27FC236}">
                <a16:creationId xmlns:a16="http://schemas.microsoft.com/office/drawing/2014/main" id="{C5D5ABB8-E57D-4E8D-92EC-1E49381934E2}"/>
              </a:ext>
            </a:extLst>
          </p:cNvPr>
          <p:cNvSpPr>
            <a:spLocks xmlns:a="http://schemas.openxmlformats.org/drawingml/2006/main" noGrp="1"/>
          </p:cNvSpPr>
          <p:nvPr/>
        </p:nvSpPr>
        <p:spPr>
          <a:xfrm xmlns:a="http://schemas.openxmlformats.org/drawingml/2006/main">
            <a:off x="914400" y="4171950"/>
            <a:ext cx="9496425"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Public health AI risks include hallucination, bias, privacy exposure, automation bias, model drift, and performance loss on complex tasks.</a:t>
            </a:r>
          </a:p>
        </p:txBody>
      </p:sp>
      <p:sp>
        <p:nvSpPr>
          <p:cNvPr id="9" name="">
            <a:extLst xmlns:a="http://schemas.openxmlformats.org/drawingml/2006/main">
              <a:ext uri="{FF2B5EF4-FFF2-40B4-BE49-F238E27FC236}">
                <a16:creationId xmlns:a16="http://schemas.microsoft.com/office/drawing/2014/main" id="{9CA38562-5C2D-498E-A903-4AC9B6A94506}"/>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Risks, Limitations, and Guardrails</a:t>
            </a:r>
          </a:p>
        </p:txBody>
      </p:sp>
      <p:sp>
        <p:nvSpPr>
          <p:cNvPr id="10" name="">
            <a:extLst xmlns:a="http://schemas.openxmlformats.org/drawingml/2006/main">
              <a:ext uri="{FF2B5EF4-FFF2-40B4-BE49-F238E27FC236}">
                <a16:creationId xmlns:a16="http://schemas.microsoft.com/office/drawing/2014/main" id="{2C75244B-4009-4A25-B35C-DEC1A319F1D3}"/>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04</a:t>
            </a:r>
          </a:p>
        </p:txBody>
      </p:sp>
    </p:spTree>
    <p:extLst>
      <p:ext uri="{BB962C8B-B14F-4D97-AF65-F5344CB8AC3E}">
        <p14:creationId xmlns:p14="http://schemas.microsoft.com/office/powerpoint/2010/main" val="240055730"/>
      </p:ext>
    </p:extLst>
  </p:cSld>
</p:sld>
</file>

<file path=ppt/slides/slide5.xml><?xml version="1.0" encoding="utf-8"?>
<p:sld xmlns:p="http://schemas.openxmlformats.org/presentationml/2006/main">
  <p:cSld>
    <p:bg>
      <p:bgPr>
        <a:solidFill xmlns:a="http://schemas.openxmlformats.org/drawingml/2006/main">
          <a:srgbClr val="F7FBFD"/>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736EBC3-4E5E-47BE-B23A-111536D6798C}"/>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485FC6A7-6277-4DBF-8F11-4C81A9EDBB3E}"/>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What this means in practice</a:t>
            </a:r>
          </a:p>
        </p:txBody>
      </p:sp>
      <p:sp>
        <p:nvSpPr>
          <p:cNvPr id="3" name="">
            <a:extLst xmlns:a="http://schemas.openxmlformats.org/drawingml/2006/main">
              <a:ext uri="{FF2B5EF4-FFF2-40B4-BE49-F238E27FC236}">
                <a16:creationId xmlns:a16="http://schemas.microsoft.com/office/drawing/2014/main" id="{E8768AD9-F283-4B20-97A8-34B613921CB7}"/>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96DFD9FD-76A2-4FA2-B23B-1DB7CE5B05B1}"/>
              </a:ext>
            </a:extLst>
          </p:cNvPr>
          <p:cNvSpPr>
            <a:spLocks xmlns:a="http://schemas.openxmlformats.org/drawingml/2006/main" noGrp="1"/>
          </p:cNvSpPr>
          <p:nvPr/>
        </p:nvSpPr>
        <p:spPr>
          <a:xfrm xmlns:a="http://schemas.openxmlformats.org/drawingml/2006/main">
            <a:off x="685800" y="1809750"/>
            <a:ext cx="3143250" cy="3143250"/>
          </a:xfrm>
          <a:prstGeom xmlns:a="http://schemas.openxmlformats.org/drawingml/2006/main" prst="roundRect">
            <a:avLst>
              <a:gd name="adj" fmla="val 363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 name="">
            <a:extLst xmlns:a="http://schemas.openxmlformats.org/drawingml/2006/main">
              <a:ext uri="{FF2B5EF4-FFF2-40B4-BE49-F238E27FC236}">
                <a16:creationId xmlns:a16="http://schemas.microsoft.com/office/drawing/2014/main" id="{277B13F4-6F43-4987-8030-6AEE61DD6FA2}"/>
              </a:ext>
            </a:extLst>
          </p:cNvPr>
          <p:cNvSpPr>
            <a:spLocks xmlns:a="http://schemas.openxmlformats.org/drawingml/2006/main" noGrp="1"/>
          </p:cNvSpPr>
          <p:nvPr/>
        </p:nvSpPr>
        <p:spPr>
          <a:xfrm xmlns:a="http://schemas.openxmlformats.org/drawingml/2006/main">
            <a:off x="685800" y="1809750"/>
            <a:ext cx="66675" cy="314325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6" name="">
            <a:extLst xmlns:a="http://schemas.openxmlformats.org/drawingml/2006/main">
              <a:ext uri="{FF2B5EF4-FFF2-40B4-BE49-F238E27FC236}">
                <a16:creationId xmlns:a16="http://schemas.microsoft.com/office/drawing/2014/main" id="{F8A7885C-38D8-4AD7-8711-25420955105E}"/>
              </a:ext>
            </a:extLst>
          </p:cNvPr>
          <p:cNvSpPr>
            <a:spLocks xmlns:a="http://schemas.openxmlformats.org/drawingml/2006/main" noGrp="1"/>
          </p:cNvSpPr>
          <p:nvPr/>
        </p:nvSpPr>
        <p:spPr>
          <a:xfrm xmlns:a="http://schemas.openxmlformats.org/drawingml/2006/main">
            <a:off x="914400" y="2000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Common Risk Categories</a:t>
            </a:r>
          </a:p>
        </p:txBody>
      </p:sp>
      <p:sp>
        <p:nvSpPr>
          <p:cNvPr id="7" name="">
            <a:extLst xmlns:a="http://schemas.openxmlformats.org/drawingml/2006/main">
              <a:ext uri="{FF2B5EF4-FFF2-40B4-BE49-F238E27FC236}">
                <a16:creationId xmlns:a16="http://schemas.microsoft.com/office/drawing/2014/main" id="{4274A5A9-EA9F-4E81-9235-C05695962DF3}"/>
              </a:ext>
            </a:extLst>
          </p:cNvPr>
          <p:cNvSpPr>
            <a:spLocks xmlns:a="http://schemas.openxmlformats.org/drawingml/2006/main" noGrp="1"/>
          </p:cNvSpPr>
          <p:nvPr/>
        </p:nvSpPr>
        <p:spPr>
          <a:xfrm xmlns:a="http://schemas.openxmlformats.org/drawingml/2006/main">
            <a:off x="914400" y="2457450"/>
            <a:ext cx="2686050" cy="2343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Accuracy risk: the output is wrong, incomplete, out of date, or unsupported by evidence. Equity risk: the system performs worse for a subgroup, language community, rural area, disability group, Tribal community, or. Privacy and security risk:.</a:t>
            </a:r>
          </a:p>
        </p:txBody>
      </p:sp>
      <p:sp>
        <p:nvSpPr>
          <p:cNvPr id="8" name="">
            <a:extLst xmlns:a="http://schemas.openxmlformats.org/drawingml/2006/main">
              <a:ext uri="{FF2B5EF4-FFF2-40B4-BE49-F238E27FC236}">
                <a16:creationId xmlns:a16="http://schemas.microsoft.com/office/drawing/2014/main" id="{9021FC16-632E-4611-83E8-DA2892811E8B}"/>
              </a:ext>
            </a:extLst>
          </p:cNvPr>
          <p:cNvSpPr>
            <a:spLocks xmlns:a="http://schemas.openxmlformats.org/drawingml/2006/main" noGrp="1"/>
          </p:cNvSpPr>
          <p:nvPr/>
        </p:nvSpPr>
        <p:spPr>
          <a:xfrm xmlns:a="http://schemas.openxmlformats.org/drawingml/2006/main">
            <a:off x="4257675" y="1809750"/>
            <a:ext cx="3143250" cy="3143250"/>
          </a:xfrm>
          <a:prstGeom xmlns:a="http://schemas.openxmlformats.org/drawingml/2006/main" prst="roundRect">
            <a:avLst>
              <a:gd name="adj" fmla="val 363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9" name="">
            <a:extLst xmlns:a="http://schemas.openxmlformats.org/drawingml/2006/main">
              <a:ext uri="{FF2B5EF4-FFF2-40B4-BE49-F238E27FC236}">
                <a16:creationId xmlns:a16="http://schemas.microsoft.com/office/drawing/2014/main" id="{40EAD3AF-71A8-4940-9EF5-70753782DFBA}"/>
              </a:ext>
            </a:extLst>
          </p:cNvPr>
          <p:cNvSpPr>
            <a:spLocks xmlns:a="http://schemas.openxmlformats.org/drawingml/2006/main" noGrp="1"/>
          </p:cNvSpPr>
          <p:nvPr/>
        </p:nvSpPr>
        <p:spPr>
          <a:xfrm xmlns:a="http://schemas.openxmlformats.org/drawingml/2006/main">
            <a:off x="4257675" y="1809750"/>
            <a:ext cx="66675" cy="3143250"/>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10" name="">
            <a:extLst xmlns:a="http://schemas.openxmlformats.org/drawingml/2006/main">
              <a:ext uri="{FF2B5EF4-FFF2-40B4-BE49-F238E27FC236}">
                <a16:creationId xmlns:a16="http://schemas.microsoft.com/office/drawing/2014/main" id="{28EC5A4F-26FF-42E1-8053-2F7BAE3311A9}"/>
              </a:ext>
            </a:extLst>
          </p:cNvPr>
          <p:cNvSpPr>
            <a:spLocks xmlns:a="http://schemas.openxmlformats.org/drawingml/2006/main" noGrp="1"/>
          </p:cNvSpPr>
          <p:nvPr/>
        </p:nvSpPr>
        <p:spPr>
          <a:xfrm xmlns:a="http://schemas.openxmlformats.org/drawingml/2006/main">
            <a:off x="4486275" y="2000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Mitigation Practices</a:t>
            </a:r>
          </a:p>
        </p:txBody>
      </p:sp>
      <p:sp>
        <p:nvSpPr>
          <p:cNvPr id="11" name="">
            <a:extLst xmlns:a="http://schemas.openxmlformats.org/drawingml/2006/main">
              <a:ext uri="{FF2B5EF4-FFF2-40B4-BE49-F238E27FC236}">
                <a16:creationId xmlns:a16="http://schemas.microsoft.com/office/drawing/2014/main" id="{05295EDA-7DBD-41A7-BAE1-8AFCB50C8450}"/>
              </a:ext>
            </a:extLst>
          </p:cNvPr>
          <p:cNvSpPr>
            <a:spLocks xmlns:a="http://schemas.openxmlformats.org/drawingml/2006/main" noGrp="1"/>
          </p:cNvSpPr>
          <p:nvPr/>
        </p:nvSpPr>
        <p:spPr>
          <a:xfrm xmlns:a="http://schemas.openxmlformats.org/drawingml/2006/main">
            <a:off x="4486275" y="2457450"/>
            <a:ext cx="2686050" cy="2343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Use risk tiers so higher-impact systems receive deeper review, documentation, validation, and monitoring. Require human review, source verification, and documented decision ownership. Test outputs with realistic public health examples before.</a:t>
            </a:r>
          </a:p>
        </p:txBody>
      </p:sp>
      <p:sp>
        <p:nvSpPr>
          <p:cNvPr id="12" name="">
            <a:extLst xmlns:a="http://schemas.openxmlformats.org/drawingml/2006/main">
              <a:ext uri="{FF2B5EF4-FFF2-40B4-BE49-F238E27FC236}">
                <a16:creationId xmlns:a16="http://schemas.microsoft.com/office/drawing/2014/main" id="{41B79FB9-9301-415D-BDF2-9A33BD899649}"/>
              </a:ext>
            </a:extLst>
          </p:cNvPr>
          <p:cNvSpPr>
            <a:spLocks xmlns:a="http://schemas.openxmlformats.org/drawingml/2006/main" noGrp="1"/>
          </p:cNvSpPr>
          <p:nvPr/>
        </p:nvSpPr>
        <p:spPr>
          <a:xfrm xmlns:a="http://schemas.openxmlformats.org/drawingml/2006/main">
            <a:off x="7829550" y="1809750"/>
            <a:ext cx="3143250" cy="3143250"/>
          </a:xfrm>
          <a:prstGeom xmlns:a="http://schemas.openxmlformats.org/drawingml/2006/main" prst="roundRect">
            <a:avLst>
              <a:gd name="adj" fmla="val 363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3" name="">
            <a:extLst xmlns:a="http://schemas.openxmlformats.org/drawingml/2006/main">
              <a:ext uri="{FF2B5EF4-FFF2-40B4-BE49-F238E27FC236}">
                <a16:creationId xmlns:a16="http://schemas.microsoft.com/office/drawing/2014/main" id="{F4EE01A7-14E0-42D3-B065-0E050F303C23}"/>
              </a:ext>
            </a:extLst>
          </p:cNvPr>
          <p:cNvSpPr>
            <a:spLocks xmlns:a="http://schemas.openxmlformats.org/drawingml/2006/main" noGrp="1"/>
          </p:cNvSpPr>
          <p:nvPr/>
        </p:nvSpPr>
        <p:spPr>
          <a:xfrm xmlns:a="http://schemas.openxmlformats.org/drawingml/2006/main">
            <a:off x="7829550" y="1809750"/>
            <a:ext cx="66675" cy="314325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14" name="">
            <a:extLst xmlns:a="http://schemas.openxmlformats.org/drawingml/2006/main">
              <a:ext uri="{FF2B5EF4-FFF2-40B4-BE49-F238E27FC236}">
                <a16:creationId xmlns:a16="http://schemas.microsoft.com/office/drawing/2014/main" id="{6CD25DFF-D060-4409-9ED6-4AE423BC0ED9}"/>
              </a:ext>
            </a:extLst>
          </p:cNvPr>
          <p:cNvSpPr>
            <a:spLocks xmlns:a="http://schemas.openxmlformats.org/drawingml/2006/main" noGrp="1"/>
          </p:cNvSpPr>
          <p:nvPr/>
        </p:nvSpPr>
        <p:spPr>
          <a:xfrm xmlns:a="http://schemas.openxmlformats.org/drawingml/2006/main">
            <a:off x="8058150" y="2000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Governance Triggers</a:t>
            </a:r>
          </a:p>
        </p:txBody>
      </p:sp>
      <p:sp>
        <p:nvSpPr>
          <p:cNvPr id="15" name="">
            <a:extLst xmlns:a="http://schemas.openxmlformats.org/drawingml/2006/main">
              <a:ext uri="{FF2B5EF4-FFF2-40B4-BE49-F238E27FC236}">
                <a16:creationId xmlns:a16="http://schemas.microsoft.com/office/drawing/2014/main" id="{F3D5DCDF-8221-4ECB-98BC-99A266357833}"/>
              </a:ext>
            </a:extLst>
          </p:cNvPr>
          <p:cNvSpPr>
            <a:spLocks xmlns:a="http://schemas.openxmlformats.org/drawingml/2006/main" noGrp="1"/>
          </p:cNvSpPr>
          <p:nvPr/>
        </p:nvSpPr>
        <p:spPr>
          <a:xfrm xmlns:a="http://schemas.openxmlformats.org/drawingml/2006/main">
            <a:off x="8058150" y="2457450"/>
            <a:ext cx="2686050" cy="2343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Escalate to governance when AI affects public communication, eligibility, enforcement, surveillance prioritization, resource. Pause or retire systems when risk controls fail, performance changes, or the use no longer aligns with agency.</a:t>
            </a:r>
          </a:p>
        </p:txBody>
      </p:sp>
      <p:sp>
        <p:nvSpPr>
          <p:cNvPr id="16" name="">
            <a:extLst xmlns:a="http://schemas.openxmlformats.org/drawingml/2006/main">
              <a:ext uri="{FF2B5EF4-FFF2-40B4-BE49-F238E27FC236}">
                <a16:creationId xmlns:a16="http://schemas.microsoft.com/office/drawing/2014/main" id="{034247D9-C30E-4201-BAC4-571D02A149FE}"/>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Risks, Limitations, and Guardrails</a:t>
            </a:r>
          </a:p>
        </p:txBody>
      </p:sp>
      <p:sp>
        <p:nvSpPr>
          <p:cNvPr id="17" name="">
            <a:extLst xmlns:a="http://schemas.openxmlformats.org/drawingml/2006/main">
              <a:ext uri="{FF2B5EF4-FFF2-40B4-BE49-F238E27FC236}">
                <a16:creationId xmlns:a16="http://schemas.microsoft.com/office/drawing/2014/main" id="{CCF475A2-069B-4DC1-BB30-9616777CB08B}"/>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05</a:t>
            </a:r>
          </a:p>
        </p:txBody>
      </p:sp>
    </p:spTree>
    <p:extLst>
      <p:ext uri="{BB962C8B-B14F-4D97-AF65-F5344CB8AC3E}">
        <p14:creationId xmlns:p14="http://schemas.microsoft.com/office/powerpoint/2010/main" val="122280973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AB08802-B9E9-4A34-B750-507A7E06E93C}"/>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48F25614-8D54-4A0B-AA7C-93D64A769D79}"/>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Public health application</a:t>
            </a:r>
          </a:p>
        </p:txBody>
      </p:sp>
      <p:sp>
        <p:nvSpPr>
          <p:cNvPr id="3" name="">
            <a:extLst xmlns:a="http://schemas.openxmlformats.org/drawingml/2006/main">
              <a:ext uri="{FF2B5EF4-FFF2-40B4-BE49-F238E27FC236}">
                <a16:creationId xmlns:a16="http://schemas.microsoft.com/office/drawing/2014/main" id="{988C2FF4-5DC6-45BE-892A-B77FB335B52B}"/>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64657C88-791E-4ADD-980C-07FE33BA59C6}"/>
              </a:ext>
            </a:extLst>
          </p:cNvPr>
          <p:cNvSpPr>
            <a:spLocks xmlns:a="http://schemas.openxmlformats.org/drawingml/2006/main" noGrp="1"/>
          </p:cNvSpPr>
          <p:nvPr/>
        </p:nvSpPr>
        <p:spPr>
          <a:xfrm xmlns:a="http://schemas.openxmlformats.org/drawingml/2006/main">
            <a:off x="685800" y="1714500"/>
            <a:ext cx="990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12324A"/>
                </a:solidFill>
              </a:defRPr>
            </a:pPr>
            <a:r>
              <a:rPr sz="2025" b="1">
                <a:solidFill>
                  <a:srgbClr val="12324A"/>
                </a:solidFill>
              </a:rPr>
              <a:t>Use the topic to examine real workflows, not abstract technology.</a:t>
            </a:r>
          </a:p>
        </p:txBody>
      </p:sp>
      <p:sp>
        <p:nvSpPr>
          <p:cNvPr id="5" name="">
            <a:extLst xmlns:a="http://schemas.openxmlformats.org/drawingml/2006/main">
              <a:ext uri="{FF2B5EF4-FFF2-40B4-BE49-F238E27FC236}">
                <a16:creationId xmlns:a16="http://schemas.microsoft.com/office/drawing/2014/main" id="{D1A647A1-310C-4B0A-8221-440069AE301A}"/>
              </a:ext>
            </a:extLst>
          </p:cNvPr>
          <p:cNvSpPr>
            <a:spLocks xmlns:a="http://schemas.openxmlformats.org/drawingml/2006/main" noGrp="1"/>
          </p:cNvSpPr>
          <p:nvPr/>
        </p:nvSpPr>
        <p:spPr>
          <a:xfrm xmlns:a="http://schemas.openxmlformats.org/drawingml/2006/main">
            <a:off x="685800" y="2571750"/>
            <a:ext cx="3143250" cy="2238375"/>
          </a:xfrm>
          <a:prstGeom xmlns:a="http://schemas.openxmlformats.org/drawingml/2006/main" prst="roundRect">
            <a:avLst>
              <a:gd name="adj" fmla="val 510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28274B8F-3801-4B02-8D77-B9D62B89332C}"/>
              </a:ext>
            </a:extLst>
          </p:cNvPr>
          <p:cNvSpPr>
            <a:spLocks xmlns:a="http://schemas.openxmlformats.org/drawingml/2006/main" noGrp="1"/>
          </p:cNvSpPr>
          <p:nvPr/>
        </p:nvSpPr>
        <p:spPr>
          <a:xfrm xmlns:a="http://schemas.openxmlformats.org/drawingml/2006/main">
            <a:off x="685800" y="2571750"/>
            <a:ext cx="66675" cy="2238375"/>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7" name="">
            <a:extLst xmlns:a="http://schemas.openxmlformats.org/drawingml/2006/main">
              <a:ext uri="{FF2B5EF4-FFF2-40B4-BE49-F238E27FC236}">
                <a16:creationId xmlns:a16="http://schemas.microsoft.com/office/drawing/2014/main" id="{9A2C243C-E6C2-4583-9BB5-E1504FF8832A}"/>
              </a:ext>
            </a:extLst>
          </p:cNvPr>
          <p:cNvSpPr>
            <a:spLocks xmlns:a="http://schemas.openxmlformats.org/drawingml/2006/main" noGrp="1"/>
          </p:cNvSpPr>
          <p:nvPr/>
        </p:nvSpPr>
        <p:spPr>
          <a:xfrm xmlns:a="http://schemas.openxmlformats.org/drawingml/2006/main">
            <a:off x="914400" y="2762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Equity audit before scale</a:t>
            </a:r>
          </a:p>
        </p:txBody>
      </p:sp>
      <p:sp>
        <p:nvSpPr>
          <p:cNvPr id="8" name="">
            <a:extLst xmlns:a="http://schemas.openxmlformats.org/drawingml/2006/main">
              <a:ext uri="{FF2B5EF4-FFF2-40B4-BE49-F238E27FC236}">
                <a16:creationId xmlns:a16="http://schemas.microsoft.com/office/drawing/2014/main" id="{95E4E31E-1E74-4AA0-A16B-37F04DEDAC38}"/>
              </a:ext>
            </a:extLst>
          </p:cNvPr>
          <p:cNvSpPr>
            <a:spLocks xmlns:a="http://schemas.openxmlformats.org/drawingml/2006/main" noGrp="1"/>
          </p:cNvSpPr>
          <p:nvPr/>
        </p:nvSpPr>
        <p:spPr>
          <a:xfrm xmlns:a="http://schemas.openxmlformats.org/drawingml/2006/main">
            <a:off x="914400" y="3219450"/>
            <a:ext cx="2686050" cy="1438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Review subgroup performance, access barriers, language needs, and potential disparate impacts before a pilot expands.</a:t>
            </a:r>
          </a:p>
        </p:txBody>
      </p:sp>
      <p:sp>
        <p:nvSpPr>
          <p:cNvPr id="9" name="">
            <a:extLst xmlns:a="http://schemas.openxmlformats.org/drawingml/2006/main">
              <a:ext uri="{FF2B5EF4-FFF2-40B4-BE49-F238E27FC236}">
                <a16:creationId xmlns:a16="http://schemas.microsoft.com/office/drawing/2014/main" id="{C553585D-B010-4A30-8414-09A34FC16242}"/>
              </a:ext>
            </a:extLst>
          </p:cNvPr>
          <p:cNvSpPr>
            <a:spLocks xmlns:a="http://schemas.openxmlformats.org/drawingml/2006/main" noGrp="1"/>
          </p:cNvSpPr>
          <p:nvPr/>
        </p:nvSpPr>
        <p:spPr>
          <a:xfrm xmlns:a="http://schemas.openxmlformats.org/drawingml/2006/main">
            <a:off x="4257675" y="2571750"/>
            <a:ext cx="3143250" cy="2238375"/>
          </a:xfrm>
          <a:prstGeom xmlns:a="http://schemas.openxmlformats.org/drawingml/2006/main" prst="roundRect">
            <a:avLst>
              <a:gd name="adj" fmla="val 510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5245F99F-45B0-4339-BBDB-ECF533B0816A}"/>
              </a:ext>
            </a:extLst>
          </p:cNvPr>
          <p:cNvSpPr>
            <a:spLocks xmlns:a="http://schemas.openxmlformats.org/drawingml/2006/main" noGrp="1"/>
          </p:cNvSpPr>
          <p:nvPr/>
        </p:nvSpPr>
        <p:spPr>
          <a:xfrm xmlns:a="http://schemas.openxmlformats.org/drawingml/2006/main">
            <a:off x="4257675" y="2571750"/>
            <a:ext cx="66675" cy="22383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11" name="">
            <a:extLst xmlns:a="http://schemas.openxmlformats.org/drawingml/2006/main">
              <a:ext uri="{FF2B5EF4-FFF2-40B4-BE49-F238E27FC236}">
                <a16:creationId xmlns:a16="http://schemas.microsoft.com/office/drawing/2014/main" id="{2BA230D4-32F9-4EFD-A89E-59AFEC221CD2}"/>
              </a:ext>
            </a:extLst>
          </p:cNvPr>
          <p:cNvSpPr>
            <a:spLocks xmlns:a="http://schemas.openxmlformats.org/drawingml/2006/main" noGrp="1"/>
          </p:cNvSpPr>
          <p:nvPr/>
        </p:nvSpPr>
        <p:spPr>
          <a:xfrm xmlns:a="http://schemas.openxmlformats.org/drawingml/2006/main">
            <a:off x="4486275" y="2762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Hallucination audit for public-facing products</a:t>
            </a:r>
          </a:p>
        </p:txBody>
      </p:sp>
      <p:sp>
        <p:nvSpPr>
          <p:cNvPr id="12" name="">
            <a:extLst xmlns:a="http://schemas.openxmlformats.org/drawingml/2006/main">
              <a:ext uri="{FF2B5EF4-FFF2-40B4-BE49-F238E27FC236}">
                <a16:creationId xmlns:a16="http://schemas.microsoft.com/office/drawing/2014/main" id="{40475F77-59B5-495D-B887-698242747C4F}"/>
              </a:ext>
            </a:extLst>
          </p:cNvPr>
          <p:cNvSpPr>
            <a:spLocks xmlns:a="http://schemas.openxmlformats.org/drawingml/2006/main" noGrp="1"/>
          </p:cNvSpPr>
          <p:nvPr/>
        </p:nvSpPr>
        <p:spPr>
          <a:xfrm xmlns:a="http://schemas.openxmlformats.org/drawingml/2006/main">
            <a:off x="4486275" y="3219450"/>
            <a:ext cx="2686050" cy="1438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Test generated content against authoritative sources and require correction before public release.</a:t>
            </a:r>
          </a:p>
        </p:txBody>
      </p:sp>
      <p:sp>
        <p:nvSpPr>
          <p:cNvPr id="13" name="">
            <a:extLst xmlns:a="http://schemas.openxmlformats.org/drawingml/2006/main">
              <a:ext uri="{FF2B5EF4-FFF2-40B4-BE49-F238E27FC236}">
                <a16:creationId xmlns:a16="http://schemas.microsoft.com/office/drawing/2014/main" id="{D69F329B-F12E-4FE3-A013-086A7D9E7B1A}"/>
              </a:ext>
            </a:extLst>
          </p:cNvPr>
          <p:cNvSpPr>
            <a:spLocks xmlns:a="http://schemas.openxmlformats.org/drawingml/2006/main" noGrp="1"/>
          </p:cNvSpPr>
          <p:nvPr/>
        </p:nvSpPr>
        <p:spPr>
          <a:xfrm xmlns:a="http://schemas.openxmlformats.org/drawingml/2006/main">
            <a:off x="7829550" y="2571750"/>
            <a:ext cx="3143250" cy="2238375"/>
          </a:xfrm>
          <a:prstGeom xmlns:a="http://schemas.openxmlformats.org/drawingml/2006/main" prst="roundRect">
            <a:avLst>
              <a:gd name="adj" fmla="val 510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4" name="">
            <a:extLst xmlns:a="http://schemas.openxmlformats.org/drawingml/2006/main">
              <a:ext uri="{FF2B5EF4-FFF2-40B4-BE49-F238E27FC236}">
                <a16:creationId xmlns:a16="http://schemas.microsoft.com/office/drawing/2014/main" id="{BA16F904-8486-4D3E-999B-8F07D6E6F8FE}"/>
              </a:ext>
            </a:extLst>
          </p:cNvPr>
          <p:cNvSpPr>
            <a:spLocks xmlns:a="http://schemas.openxmlformats.org/drawingml/2006/main" noGrp="1"/>
          </p:cNvSpPr>
          <p:nvPr/>
        </p:nvSpPr>
        <p:spPr>
          <a:xfrm xmlns:a="http://schemas.openxmlformats.org/drawingml/2006/main">
            <a:off x="7829550" y="2571750"/>
            <a:ext cx="66675" cy="2238375"/>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15" name="">
            <a:extLst xmlns:a="http://schemas.openxmlformats.org/drawingml/2006/main">
              <a:ext uri="{FF2B5EF4-FFF2-40B4-BE49-F238E27FC236}">
                <a16:creationId xmlns:a16="http://schemas.microsoft.com/office/drawing/2014/main" id="{75806B91-4AD8-4FF7-8BF5-42637C1496A1}"/>
              </a:ext>
            </a:extLst>
          </p:cNvPr>
          <p:cNvSpPr>
            <a:spLocks xmlns:a="http://schemas.openxmlformats.org/drawingml/2006/main" noGrp="1"/>
          </p:cNvSpPr>
          <p:nvPr/>
        </p:nvSpPr>
        <p:spPr>
          <a:xfrm xmlns:a="http://schemas.openxmlformats.org/drawingml/2006/main">
            <a:off x="8058150" y="2762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Incident response for unsafe outputs</a:t>
            </a:r>
          </a:p>
        </p:txBody>
      </p:sp>
      <p:sp>
        <p:nvSpPr>
          <p:cNvPr id="16" name="">
            <a:extLst xmlns:a="http://schemas.openxmlformats.org/drawingml/2006/main">
              <a:ext uri="{FF2B5EF4-FFF2-40B4-BE49-F238E27FC236}">
                <a16:creationId xmlns:a16="http://schemas.microsoft.com/office/drawing/2014/main" id="{698FA408-2922-45F6-9163-74C43D6018DA}"/>
              </a:ext>
            </a:extLst>
          </p:cNvPr>
          <p:cNvSpPr>
            <a:spLocks xmlns:a="http://schemas.openxmlformats.org/drawingml/2006/main" noGrp="1"/>
          </p:cNvSpPr>
          <p:nvPr/>
        </p:nvSpPr>
        <p:spPr>
          <a:xfrm xmlns:a="http://schemas.openxmlformats.org/drawingml/2006/main">
            <a:off x="8058150" y="3219450"/>
            <a:ext cx="2686050" cy="1438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Document unsafe, biased, private, or inaccurate outputs and route them through escalation, containment, and corrective action.</a:t>
            </a:r>
          </a:p>
        </p:txBody>
      </p:sp>
      <p:sp>
        <p:nvSpPr>
          <p:cNvPr id="17" name="">
            <a:extLst xmlns:a="http://schemas.openxmlformats.org/drawingml/2006/main">
              <a:ext uri="{FF2B5EF4-FFF2-40B4-BE49-F238E27FC236}">
                <a16:creationId xmlns:a16="http://schemas.microsoft.com/office/drawing/2014/main" id="{B73777D7-439A-4896-B6F5-0DEA3F74C26E}"/>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Risks, Limitations, and Guardrails</a:t>
            </a:r>
          </a:p>
        </p:txBody>
      </p:sp>
      <p:sp>
        <p:nvSpPr>
          <p:cNvPr id="18" name="">
            <a:extLst xmlns:a="http://schemas.openxmlformats.org/drawingml/2006/main">
              <a:ext uri="{FF2B5EF4-FFF2-40B4-BE49-F238E27FC236}">
                <a16:creationId xmlns:a16="http://schemas.microsoft.com/office/drawing/2014/main" id="{E304FB2E-DD5C-466D-8442-7EACBCA0CCDE}"/>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06</a:t>
            </a:r>
          </a:p>
        </p:txBody>
      </p:sp>
    </p:spTree>
    <p:extLst>
      <p:ext uri="{BB962C8B-B14F-4D97-AF65-F5344CB8AC3E}">
        <p14:creationId xmlns:p14="http://schemas.microsoft.com/office/powerpoint/2010/main" val="519400624"/>
      </p:ext>
    </p:extLst>
  </p:cSld>
</p:sld>
</file>

<file path=ppt/slides/slide7.xml><?xml version="1.0" encoding="utf-8"?>
<p:sld xmlns:p="http://schemas.openxmlformats.org/presentationml/2006/main">
  <p:cSld>
    <p:bg>
      <p:bgPr>
        <a:solidFill xmlns:a="http://schemas.openxmlformats.org/drawingml/2006/main">
          <a:srgbClr val="F7FBFD"/>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6C60D8A-F442-48E2-A3A3-3FDE1029B4A1}"/>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EB06AC8D-3B35-4B4A-9C72-62C38B63E90D}"/>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Facilitated discussion and exercise</a:t>
            </a:r>
          </a:p>
        </p:txBody>
      </p:sp>
      <p:sp>
        <p:nvSpPr>
          <p:cNvPr id="3" name="">
            <a:extLst xmlns:a="http://schemas.openxmlformats.org/drawingml/2006/main">
              <a:ext uri="{FF2B5EF4-FFF2-40B4-BE49-F238E27FC236}">
                <a16:creationId xmlns:a16="http://schemas.microsoft.com/office/drawing/2014/main" id="{DD2C3517-1D2F-431B-A8E3-40EA30CA0D51}"/>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4DB9DE92-FE5A-495E-8A11-63A3C66006FC}"/>
              </a:ext>
            </a:extLst>
          </p:cNvPr>
          <p:cNvSpPr>
            <a:spLocks xmlns:a="http://schemas.openxmlformats.org/drawingml/2006/main" noGrp="1"/>
          </p:cNvSpPr>
          <p:nvPr/>
        </p:nvSpPr>
        <p:spPr>
          <a:xfrm xmlns:a="http://schemas.openxmlformats.org/drawingml/2006/main">
            <a:off x="685800" y="1809750"/>
            <a:ext cx="4762500" cy="2952750"/>
          </a:xfrm>
          <a:prstGeom xmlns:a="http://schemas.openxmlformats.org/drawingml/2006/main" prst="roundRect">
            <a:avLst>
              <a:gd name="adj" fmla="val 3871"/>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 name="">
            <a:extLst xmlns:a="http://schemas.openxmlformats.org/drawingml/2006/main">
              <a:ext uri="{FF2B5EF4-FFF2-40B4-BE49-F238E27FC236}">
                <a16:creationId xmlns:a16="http://schemas.microsoft.com/office/drawing/2014/main" id="{E07CC939-CC8A-456E-B50A-7C4088F8A63C}"/>
              </a:ext>
            </a:extLst>
          </p:cNvPr>
          <p:cNvSpPr>
            <a:spLocks xmlns:a="http://schemas.openxmlformats.org/drawingml/2006/main" noGrp="1"/>
          </p:cNvSpPr>
          <p:nvPr/>
        </p:nvSpPr>
        <p:spPr>
          <a:xfrm xmlns:a="http://schemas.openxmlformats.org/drawingml/2006/main">
            <a:off x="685800" y="1809750"/>
            <a:ext cx="66675" cy="295275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6" name="">
            <a:extLst xmlns:a="http://schemas.openxmlformats.org/drawingml/2006/main">
              <a:ext uri="{FF2B5EF4-FFF2-40B4-BE49-F238E27FC236}">
                <a16:creationId xmlns:a16="http://schemas.microsoft.com/office/drawing/2014/main" id="{98E9EE02-EF29-42D8-9117-90B8CFD3E1E1}"/>
              </a:ext>
            </a:extLst>
          </p:cNvPr>
          <p:cNvSpPr>
            <a:spLocks xmlns:a="http://schemas.openxmlformats.org/drawingml/2006/main" noGrp="1"/>
          </p:cNvSpPr>
          <p:nvPr/>
        </p:nvSpPr>
        <p:spPr>
          <a:xfrm xmlns:a="http://schemas.openxmlformats.org/drawingml/2006/main">
            <a:off x="914400" y="2000250"/>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Discussion questions</a:t>
            </a:r>
          </a:p>
        </p:txBody>
      </p:sp>
      <p:sp>
        <p:nvSpPr>
          <p:cNvPr id="7" name="">
            <a:extLst xmlns:a="http://schemas.openxmlformats.org/drawingml/2006/main">
              <a:ext uri="{FF2B5EF4-FFF2-40B4-BE49-F238E27FC236}">
                <a16:creationId xmlns:a16="http://schemas.microsoft.com/office/drawing/2014/main" id="{10382B77-A951-481A-BA22-FF407D012748}"/>
              </a:ext>
            </a:extLst>
          </p:cNvPr>
          <p:cNvSpPr>
            <a:spLocks xmlns:a="http://schemas.openxmlformats.org/drawingml/2006/main" noGrp="1"/>
          </p:cNvSpPr>
          <p:nvPr/>
        </p:nvSpPr>
        <p:spPr>
          <a:xfrm xmlns:a="http://schemas.openxmlformats.org/drawingml/2006/main">
            <a:off x="914400" y="2457450"/>
            <a:ext cx="4305300" cy="215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What harms could occur if the AI output is wrong, biased, delayed, misunderstood, or over-trusted? What data, populations, or workflows are most vulnerable to error? What conditions should trigger pause, review, correction, or retirement?</a:t>
            </a:r>
          </a:p>
        </p:txBody>
      </p:sp>
      <p:sp>
        <p:nvSpPr>
          <p:cNvPr id="8" name="">
            <a:extLst xmlns:a="http://schemas.openxmlformats.org/drawingml/2006/main">
              <a:ext uri="{FF2B5EF4-FFF2-40B4-BE49-F238E27FC236}">
                <a16:creationId xmlns:a16="http://schemas.microsoft.com/office/drawing/2014/main" id="{36994FE5-A65D-42A0-97F4-F22F27AD3707}"/>
              </a:ext>
            </a:extLst>
          </p:cNvPr>
          <p:cNvSpPr>
            <a:spLocks xmlns:a="http://schemas.openxmlformats.org/drawingml/2006/main" noGrp="1"/>
          </p:cNvSpPr>
          <p:nvPr/>
        </p:nvSpPr>
        <p:spPr>
          <a:xfrm xmlns:a="http://schemas.openxmlformats.org/drawingml/2006/main">
            <a:off x="5953125" y="1809750"/>
            <a:ext cx="4762500" cy="2952750"/>
          </a:xfrm>
          <a:prstGeom xmlns:a="http://schemas.openxmlformats.org/drawingml/2006/main" prst="roundRect">
            <a:avLst>
              <a:gd name="adj" fmla="val 3871"/>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9" name="">
            <a:extLst xmlns:a="http://schemas.openxmlformats.org/drawingml/2006/main">
              <a:ext uri="{FF2B5EF4-FFF2-40B4-BE49-F238E27FC236}">
                <a16:creationId xmlns:a16="http://schemas.microsoft.com/office/drawing/2014/main" id="{2D225D85-C47E-42BA-89A4-797A161A0C96}"/>
              </a:ext>
            </a:extLst>
          </p:cNvPr>
          <p:cNvSpPr>
            <a:spLocks xmlns:a="http://schemas.openxmlformats.org/drawingml/2006/main" noGrp="1"/>
          </p:cNvSpPr>
          <p:nvPr/>
        </p:nvSpPr>
        <p:spPr>
          <a:xfrm xmlns:a="http://schemas.openxmlformats.org/drawingml/2006/main">
            <a:off x="5953125" y="1809750"/>
            <a:ext cx="66675" cy="2952750"/>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10" name="">
            <a:extLst xmlns:a="http://schemas.openxmlformats.org/drawingml/2006/main">
              <a:ext uri="{FF2B5EF4-FFF2-40B4-BE49-F238E27FC236}">
                <a16:creationId xmlns:a16="http://schemas.microsoft.com/office/drawing/2014/main" id="{2ACAE64F-B787-4202-9C19-61DA5839B70E}"/>
              </a:ext>
            </a:extLst>
          </p:cNvPr>
          <p:cNvSpPr>
            <a:spLocks xmlns:a="http://schemas.openxmlformats.org/drawingml/2006/main" noGrp="1"/>
          </p:cNvSpPr>
          <p:nvPr/>
        </p:nvSpPr>
        <p:spPr>
          <a:xfrm xmlns:a="http://schemas.openxmlformats.org/drawingml/2006/main">
            <a:off x="6181725" y="2000250"/>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Training exercise</a:t>
            </a:r>
          </a:p>
        </p:txBody>
      </p:sp>
      <p:sp>
        <p:nvSpPr>
          <p:cNvPr id="11" name="">
            <a:extLst xmlns:a="http://schemas.openxmlformats.org/drawingml/2006/main">
              <a:ext uri="{FF2B5EF4-FFF2-40B4-BE49-F238E27FC236}">
                <a16:creationId xmlns:a16="http://schemas.microsoft.com/office/drawing/2014/main" id="{93417F70-4763-4DDF-9E56-FDC0CD02DA7B}"/>
              </a:ext>
            </a:extLst>
          </p:cNvPr>
          <p:cNvSpPr>
            <a:spLocks xmlns:a="http://schemas.openxmlformats.org/drawingml/2006/main" noGrp="1"/>
          </p:cNvSpPr>
          <p:nvPr/>
        </p:nvSpPr>
        <p:spPr>
          <a:xfrm xmlns:a="http://schemas.openxmlformats.org/drawingml/2006/main">
            <a:off x="6181725" y="2457450"/>
            <a:ext cx="4305300" cy="215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Select a proposed AI use case and identify risks across accuracy, privacy, security, equity, transparency, workforce burden, legal authority, and public trust. Define one mitigation for each risk.</a:t>
            </a:r>
          </a:p>
        </p:txBody>
      </p:sp>
      <p:sp>
        <p:nvSpPr>
          <p:cNvPr id="12" name="">
            <a:extLst xmlns:a="http://schemas.openxmlformats.org/drawingml/2006/main">
              <a:ext uri="{FF2B5EF4-FFF2-40B4-BE49-F238E27FC236}">
                <a16:creationId xmlns:a16="http://schemas.microsoft.com/office/drawing/2014/main" id="{4E7794B4-185E-45D8-8CAB-B20784E498CF}"/>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Risks, Limitations, and Guardrails</a:t>
            </a:r>
          </a:p>
        </p:txBody>
      </p:sp>
      <p:sp>
        <p:nvSpPr>
          <p:cNvPr id="13" name="">
            <a:extLst xmlns:a="http://schemas.openxmlformats.org/drawingml/2006/main">
              <a:ext uri="{FF2B5EF4-FFF2-40B4-BE49-F238E27FC236}">
                <a16:creationId xmlns:a16="http://schemas.microsoft.com/office/drawing/2014/main" id="{3692634A-9EFB-4FA8-AE50-B892E2FCF923}"/>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07</a:t>
            </a:r>
          </a:p>
        </p:txBody>
      </p:sp>
    </p:spTree>
    <p:extLst>
      <p:ext uri="{BB962C8B-B14F-4D97-AF65-F5344CB8AC3E}">
        <p14:creationId xmlns:p14="http://schemas.microsoft.com/office/powerpoint/2010/main" val="130713733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C9F0FA9-7068-4DDD-BE03-D4BB449E7604}"/>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4E064814-EB69-4540-B66F-D9DD9532B0BD}"/>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Next steps and resources</a:t>
            </a:r>
          </a:p>
        </p:txBody>
      </p:sp>
      <p:sp>
        <p:nvSpPr>
          <p:cNvPr id="3" name="">
            <a:extLst xmlns:a="http://schemas.openxmlformats.org/drawingml/2006/main">
              <a:ext uri="{FF2B5EF4-FFF2-40B4-BE49-F238E27FC236}">
                <a16:creationId xmlns:a16="http://schemas.microsoft.com/office/drawing/2014/main" id="{79780A55-02BC-41C3-9040-15BBC16EB54B}"/>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62D4CEBC-9722-4F3D-9F33-033DFDBA2ED6}"/>
              </a:ext>
            </a:extLst>
          </p:cNvPr>
          <p:cNvSpPr>
            <a:spLocks xmlns:a="http://schemas.openxmlformats.org/drawingml/2006/main" noGrp="1"/>
          </p:cNvSpPr>
          <p:nvPr/>
        </p:nvSpPr>
        <p:spPr>
          <a:xfrm xmlns:a="http://schemas.openxmlformats.org/drawingml/2006/main">
            <a:off x="685800" y="1809750"/>
            <a:ext cx="4762500" cy="2095500"/>
          </a:xfrm>
          <a:prstGeom xmlns:a="http://schemas.openxmlformats.org/drawingml/2006/main" prst="roundRect">
            <a:avLst>
              <a:gd name="adj" fmla="val 5455"/>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 name="">
            <a:extLst xmlns:a="http://schemas.openxmlformats.org/drawingml/2006/main">
              <a:ext uri="{FF2B5EF4-FFF2-40B4-BE49-F238E27FC236}">
                <a16:creationId xmlns:a16="http://schemas.microsoft.com/office/drawing/2014/main" id="{B7B7DCF3-A91C-4158-951A-F52D5DDD0414}"/>
              </a:ext>
            </a:extLst>
          </p:cNvPr>
          <p:cNvSpPr>
            <a:spLocks xmlns:a="http://schemas.openxmlformats.org/drawingml/2006/main" noGrp="1"/>
          </p:cNvSpPr>
          <p:nvPr/>
        </p:nvSpPr>
        <p:spPr>
          <a:xfrm xmlns:a="http://schemas.openxmlformats.org/drawingml/2006/main">
            <a:off x="685800" y="1809750"/>
            <a:ext cx="66675" cy="2095500"/>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6" name="">
            <a:extLst xmlns:a="http://schemas.openxmlformats.org/drawingml/2006/main">
              <a:ext uri="{FF2B5EF4-FFF2-40B4-BE49-F238E27FC236}">
                <a16:creationId xmlns:a16="http://schemas.microsoft.com/office/drawing/2014/main" id="{5C079951-5639-4371-895C-1DDE3BF1C757}"/>
              </a:ext>
            </a:extLst>
          </p:cNvPr>
          <p:cNvSpPr>
            <a:spLocks xmlns:a="http://schemas.openxmlformats.org/drawingml/2006/main" noGrp="1"/>
          </p:cNvSpPr>
          <p:nvPr/>
        </p:nvSpPr>
        <p:spPr>
          <a:xfrm xmlns:a="http://schemas.openxmlformats.org/drawingml/2006/main">
            <a:off x="914400" y="2000250"/>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Apply the lesson</a:t>
            </a:r>
          </a:p>
        </p:txBody>
      </p:sp>
      <p:sp>
        <p:nvSpPr>
          <p:cNvPr id="7" name="">
            <a:extLst xmlns:a="http://schemas.openxmlformats.org/drawingml/2006/main">
              <a:ext uri="{FF2B5EF4-FFF2-40B4-BE49-F238E27FC236}">
                <a16:creationId xmlns:a16="http://schemas.microsoft.com/office/drawing/2014/main" id="{7E41DEC9-AE6E-4746-9DAE-2E0A967E797B}"/>
              </a:ext>
            </a:extLst>
          </p:cNvPr>
          <p:cNvSpPr>
            <a:spLocks xmlns:a="http://schemas.openxmlformats.org/drawingml/2006/main" noGrp="1"/>
          </p:cNvSpPr>
          <p:nvPr/>
        </p:nvSpPr>
        <p:spPr>
          <a:xfrm xmlns:a="http://schemas.openxmlformats.org/drawingml/2006/main">
            <a:off x="914400" y="2457450"/>
            <a:ext cx="4305300" cy="1295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Use this topic with Plays 3, 11, 12, 13 and Tools 3, 16, 14, 42, 17. Turn the discussion into a documented question, decision, gap, or implementation artifact.</a:t>
            </a:r>
          </a:p>
        </p:txBody>
      </p:sp>
      <p:sp>
        <p:nvSpPr>
          <p:cNvPr id="8" name="">
            <a:extLst xmlns:a="http://schemas.openxmlformats.org/drawingml/2006/main">
              <a:ext uri="{FF2B5EF4-FFF2-40B4-BE49-F238E27FC236}">
                <a16:creationId xmlns:a16="http://schemas.microsoft.com/office/drawing/2014/main" id="{91425811-6441-43E6-816D-EF29AF78F5E7}"/>
              </a:ext>
            </a:extLst>
          </p:cNvPr>
          <p:cNvSpPr>
            <a:spLocks xmlns:a="http://schemas.openxmlformats.org/drawingml/2006/main" noGrp="1"/>
          </p:cNvSpPr>
          <p:nvPr/>
        </p:nvSpPr>
        <p:spPr>
          <a:xfrm xmlns:a="http://schemas.openxmlformats.org/drawingml/2006/main">
            <a:off x="5953125" y="1809750"/>
            <a:ext cx="4762500" cy="3048000"/>
          </a:xfrm>
          <a:prstGeom xmlns:a="http://schemas.openxmlformats.org/drawingml/2006/main" prst="roundRect">
            <a:avLst>
              <a:gd name="adj" fmla="val 3750"/>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9" name="">
            <a:extLst xmlns:a="http://schemas.openxmlformats.org/drawingml/2006/main">
              <a:ext uri="{FF2B5EF4-FFF2-40B4-BE49-F238E27FC236}">
                <a16:creationId xmlns:a16="http://schemas.microsoft.com/office/drawing/2014/main" id="{F6F96491-1C1C-4213-B70E-3AD4EC08A038}"/>
              </a:ext>
            </a:extLst>
          </p:cNvPr>
          <p:cNvSpPr>
            <a:spLocks xmlns:a="http://schemas.openxmlformats.org/drawingml/2006/main" noGrp="1"/>
          </p:cNvSpPr>
          <p:nvPr/>
        </p:nvSpPr>
        <p:spPr>
          <a:xfrm xmlns:a="http://schemas.openxmlformats.org/drawingml/2006/main">
            <a:off x="5953125" y="1809750"/>
            <a:ext cx="66675" cy="304800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10" name="">
            <a:extLst xmlns:a="http://schemas.openxmlformats.org/drawingml/2006/main">
              <a:ext uri="{FF2B5EF4-FFF2-40B4-BE49-F238E27FC236}">
                <a16:creationId xmlns:a16="http://schemas.microsoft.com/office/drawing/2014/main" id="{0C3E511E-B09E-4816-8CA4-0850AD83D86B}"/>
              </a:ext>
            </a:extLst>
          </p:cNvPr>
          <p:cNvSpPr>
            <a:spLocks xmlns:a="http://schemas.openxmlformats.org/drawingml/2006/main" noGrp="1"/>
          </p:cNvSpPr>
          <p:nvPr/>
        </p:nvSpPr>
        <p:spPr>
          <a:xfrm xmlns:a="http://schemas.openxmlformats.org/drawingml/2006/main">
            <a:off x="6181725" y="2000250"/>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References and resources</a:t>
            </a:r>
          </a:p>
        </p:txBody>
      </p:sp>
      <p:sp>
        <p:nvSpPr>
          <p:cNvPr id="11" name="">
            <a:extLst xmlns:a="http://schemas.openxmlformats.org/drawingml/2006/main">
              <a:ext uri="{FF2B5EF4-FFF2-40B4-BE49-F238E27FC236}">
                <a16:creationId xmlns:a16="http://schemas.microsoft.com/office/drawing/2014/main" id="{FEF55E27-AC97-4878-89C7-38450BC905CB}"/>
              </a:ext>
            </a:extLst>
          </p:cNvPr>
          <p:cNvSpPr>
            <a:spLocks xmlns:a="http://schemas.openxmlformats.org/drawingml/2006/main" noGrp="1"/>
          </p:cNvSpPr>
          <p:nvPr/>
        </p:nvSpPr>
        <p:spPr>
          <a:xfrm xmlns:a="http://schemas.openxmlformats.org/drawingml/2006/main">
            <a:off x="6181725" y="2457450"/>
            <a:ext cx="4305300" cy="2247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NIST AI Risk Management Framework: Core framework for identifying, measuring, managing, and governing AI risk. HHS Civil Rights and AI: Civil rights and nondiscrimination considerations for AI in health and human services. WHO: Ethics and.</a:t>
            </a:r>
          </a:p>
        </p:txBody>
      </p:sp>
      <p:sp>
        <p:nvSpPr>
          <p:cNvPr id="12" name="">
            <a:extLst xmlns:a="http://schemas.openxmlformats.org/drawingml/2006/main">
              <a:ext uri="{FF2B5EF4-FFF2-40B4-BE49-F238E27FC236}">
                <a16:creationId xmlns:a16="http://schemas.microsoft.com/office/drawing/2014/main" id="{FDB7E284-D18C-44CA-BAEF-363FB67303CD}"/>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Risks, Limitations, and Guardrails</a:t>
            </a:r>
          </a:p>
        </p:txBody>
      </p:sp>
      <p:sp>
        <p:nvSpPr>
          <p:cNvPr id="13" name="">
            <a:extLst xmlns:a="http://schemas.openxmlformats.org/drawingml/2006/main">
              <a:ext uri="{FF2B5EF4-FFF2-40B4-BE49-F238E27FC236}">
                <a16:creationId xmlns:a16="http://schemas.microsoft.com/office/drawing/2014/main" id="{55C480F5-D30A-454A-AEDE-022BAB3BD4A9}"/>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08</a:t>
            </a:r>
          </a:p>
        </p:txBody>
      </p:sp>
    </p:spTree>
    <p:extLst>
      <p:ext uri="{BB962C8B-B14F-4D97-AF65-F5344CB8AC3E}">
        <p14:creationId xmlns:p14="http://schemas.microsoft.com/office/powerpoint/2010/main" val="74167628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2026-07-02T16:02:59.8560000Z</dcterms:created>
  <dcterms:modified xsi:type="dcterms:W3CDTF">2026-07-02T16:02:59.8560000Z</dcterms:modified>
</coreProperties>
</file>