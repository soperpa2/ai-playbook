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897e5dc358b4ebd" /><Relationship Type="http://schemas.openxmlformats.org/officeDocument/2006/relationships/extended-properties" Target="/docProps/app.xml" Id="R41192e21db034d6e" /><Relationship Type="http://schemas.openxmlformats.org/officeDocument/2006/relationships/officeDocument" Target="/ppt/presentation.xml" Id="R17f40ab4091345d5" /></Relationships>
</file>

<file path=ppt/presentation.xml><?xml version="1.0" encoding="utf-8"?>
<p:presentation xmlns:p="http://schemas.openxmlformats.org/presentationml/2006/main">
  <p:sldMasterIdLst>
    <p:sldMasterId xmlns:r="http://schemas.openxmlformats.org/officeDocument/2006/relationships" id="2147483648" r:id="R8718116dab324acd"/>
  </p:sldMasterIdLst>
  <p:notesMasterIdLst>
    <p:notesMasterId xmlns:r="http://schemas.openxmlformats.org/officeDocument/2006/relationships" r:id="R525c67c4ca9a47fd"/>
  </p:notesMasterIdLst>
  <p:sldIdLst>
    <p:sldId xmlns:r="http://schemas.openxmlformats.org/officeDocument/2006/relationships" id="256" r:id="Ra8ccb790701247c5"/>
    <p:sldId xmlns:r="http://schemas.openxmlformats.org/officeDocument/2006/relationships" id="257" r:id="Rd711ee8989e24b6a"/>
    <p:sldId xmlns:r="http://schemas.openxmlformats.org/officeDocument/2006/relationships" id="258" r:id="Raf26bc0ed0374b1a"/>
    <p:sldId xmlns:r="http://schemas.openxmlformats.org/officeDocument/2006/relationships" id="259" r:id="R90d9769a3e6d4fee"/>
    <p:sldId xmlns:r="http://schemas.openxmlformats.org/officeDocument/2006/relationships" id="260" r:id="R479c67368bbc4aaf"/>
    <p:sldId xmlns:r="http://schemas.openxmlformats.org/officeDocument/2006/relationships" id="261" r:id="R736b0121e1094f9d"/>
    <p:sldId xmlns:r="http://schemas.openxmlformats.org/officeDocument/2006/relationships" id="262" r:id="R4e55b6a798ca4d12"/>
    <p:sldId xmlns:r="http://schemas.openxmlformats.org/officeDocument/2006/relationships" id="263" r:id="R07db745e96e14ddc"/>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7643796011a4ea3" /><Relationship Type="http://schemas.openxmlformats.org/officeDocument/2006/relationships/slideMaster" Target="/ppt/slideMasters/slideMaster1.xml" Id="R8718116dab324acd" /><Relationship Type="http://schemas.openxmlformats.org/officeDocument/2006/relationships/notesMaster" Target="/ppt/notesMasters/notesMaster1.xml" Id="R525c67c4ca9a47fd" /><Relationship Type="http://schemas.openxmlformats.org/officeDocument/2006/relationships/presProps" Target="/ppt/presProps.xml" Id="R31a92a5dbacb4aa0" /><Relationship Type="http://schemas.openxmlformats.org/officeDocument/2006/relationships/tableStyles" Target="/ppt/tableStyles.xml" Id="R44f0416493294652" /><Relationship Type="http://schemas.openxmlformats.org/officeDocument/2006/relationships/slide" Target="/ppt/slides/slide1.xml" Id="Ra8ccb790701247c5" /><Relationship Type="http://schemas.openxmlformats.org/officeDocument/2006/relationships/slide" Target="/ppt/slides/slide2.xml" Id="Rd711ee8989e24b6a" /><Relationship Type="http://schemas.openxmlformats.org/officeDocument/2006/relationships/slide" Target="/ppt/slides/slide3.xml" Id="Raf26bc0ed0374b1a" /><Relationship Type="http://schemas.openxmlformats.org/officeDocument/2006/relationships/slide" Target="/ppt/slides/slide4.xml" Id="R90d9769a3e6d4fee" /><Relationship Type="http://schemas.openxmlformats.org/officeDocument/2006/relationships/slide" Target="/ppt/slides/slide5.xml" Id="R479c67368bbc4aaf" /><Relationship Type="http://schemas.openxmlformats.org/officeDocument/2006/relationships/slide" Target="/ppt/slides/slide6.xml" Id="R736b0121e1094f9d" /><Relationship Type="http://schemas.openxmlformats.org/officeDocument/2006/relationships/slide" Target="/ppt/slides/slide7.xml" Id="R4e55b6a798ca4d12" /><Relationship Type="http://schemas.openxmlformats.org/officeDocument/2006/relationships/slide" Target="/ppt/slides/slide8.xml" Id="R07db745e96e14dd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b2c717f19974ee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63c5fec5064196" /><Relationship Type="http://schemas.openxmlformats.org/officeDocument/2006/relationships/notesMaster" Target="/ppt/notesMasters/notesMaster1.xml" Id="Readf7dd58ea54abb" /></Relationships>
</file>

<file path=ppt/notesSlides/_rels/notesSlide2.xml.rels>&#65279;<?xml version="1.0" encoding="utf-8"?><Relationships xmlns="http://schemas.openxmlformats.org/package/2006/relationships"><Relationship Type="http://schemas.openxmlformats.org/officeDocument/2006/relationships/slide" Target="/ppt/slides/slide2.xml" Id="R018dceb9aeb54ef2" /><Relationship Type="http://schemas.openxmlformats.org/officeDocument/2006/relationships/notesMaster" Target="/ppt/notesMasters/notesMaster1.xml" Id="R5e4b12ceffb84274" /></Relationships>
</file>

<file path=ppt/notesSlides/_rels/notesSlide3.xml.rels>&#65279;<?xml version="1.0" encoding="utf-8"?><Relationships xmlns="http://schemas.openxmlformats.org/package/2006/relationships"><Relationship Type="http://schemas.openxmlformats.org/officeDocument/2006/relationships/slide" Target="/ppt/slides/slide3.xml" Id="Ra39c8f5c9ed24369" /><Relationship Type="http://schemas.openxmlformats.org/officeDocument/2006/relationships/notesMaster" Target="/ppt/notesMasters/notesMaster1.xml" Id="R77e3a7e3514c45cc" /></Relationships>
</file>

<file path=ppt/notesSlides/_rels/notesSlide4.xml.rels>&#65279;<?xml version="1.0" encoding="utf-8"?><Relationships xmlns="http://schemas.openxmlformats.org/package/2006/relationships"><Relationship Type="http://schemas.openxmlformats.org/officeDocument/2006/relationships/slide" Target="/ppt/slides/slide4.xml" Id="R7eec0ce7a7f2403c" /><Relationship Type="http://schemas.openxmlformats.org/officeDocument/2006/relationships/notesMaster" Target="/ppt/notesMasters/notesMaster1.xml" Id="Ra6bd75a392364e55" /></Relationships>
</file>

<file path=ppt/notesSlides/_rels/notesSlide5.xml.rels>&#65279;<?xml version="1.0" encoding="utf-8"?><Relationships xmlns="http://schemas.openxmlformats.org/package/2006/relationships"><Relationship Type="http://schemas.openxmlformats.org/officeDocument/2006/relationships/slide" Target="/ppt/slides/slide5.xml" Id="Rcf432490939d4ee0" /><Relationship Type="http://schemas.openxmlformats.org/officeDocument/2006/relationships/notesMaster" Target="/ppt/notesMasters/notesMaster1.xml" Id="Rccd2398337094046" /></Relationships>
</file>

<file path=ppt/notesSlides/_rels/notesSlide6.xml.rels>&#65279;<?xml version="1.0" encoding="utf-8"?><Relationships xmlns="http://schemas.openxmlformats.org/package/2006/relationships"><Relationship Type="http://schemas.openxmlformats.org/officeDocument/2006/relationships/slide" Target="/ppt/slides/slide6.xml" Id="Rf93e00b40c8d4ef2" /><Relationship Type="http://schemas.openxmlformats.org/officeDocument/2006/relationships/notesMaster" Target="/ppt/notesMasters/notesMaster1.xml" Id="R1a74752858954bdc" /></Relationships>
</file>

<file path=ppt/notesSlides/_rels/notesSlide7.xml.rels>&#65279;<?xml version="1.0" encoding="utf-8"?><Relationships xmlns="http://schemas.openxmlformats.org/package/2006/relationships"><Relationship Type="http://schemas.openxmlformats.org/officeDocument/2006/relationships/slide" Target="/ppt/slides/slide7.xml" Id="R3ef56303d26b443b" /><Relationship Type="http://schemas.openxmlformats.org/officeDocument/2006/relationships/notesMaster" Target="/ppt/notesMasters/notesMaster1.xml" Id="R0766bcf92324418d" /></Relationships>
</file>

<file path=ppt/notesSlides/_rels/notesSlide8.xml.rels>&#65279;<?xml version="1.0" encoding="utf-8"?><Relationships xmlns="http://schemas.openxmlformats.org/package/2006/relationships"><Relationship Type="http://schemas.openxmlformats.org/officeDocument/2006/relationships/slide" Target="/ppt/slides/slide8.xml" Id="Rd87a0500e9a045ef" /><Relationship Type="http://schemas.openxmlformats.org/officeDocument/2006/relationships/notesMaster" Target="/ppt/notesMasters/notesMaster1.xml" Id="Rc3e0383953ab4e9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participants to the AI as a Digital Determinant of Health lesson.</a:t>
            </a:r>
          </a:p>
          <a:p xmlns:a="http://schemas.openxmlformats.org/drawingml/2006/main">
            <a:r>
              <a:t>Explain that this deck is designed for staff training, leadership orientation, governance preparation, or cross-program discussion.</a:t>
            </a:r>
          </a:p>
          <a:p xmlns:a="http://schemas.openxmlformats.org/drawingml/2006/main">
            <a:r>
              <a:t>Frame the topic in plain language: AI can shape access to services, quality of information, exposure to misinformation, eligibility decisions, language access, public benefits, and community trust.</a:t>
            </a:r>
          </a:p>
          <a:p xmlns:a="http://schemas.openxmlformats.org/drawingml/2006/main">
            <a:r>
              <a:t>Invite participants to think about where this topic already appears in their department's workflows, vendor tools, data systems, communications, or planning conversations.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as a Digital Determinant of Health training module.</a:t>
            </a:r>
          </a:p>
          <a:p xmlns:a="http://schemas.openxmlformats.org/drawingml/2006/main">
            <a:r>
              <a:t>Use this slide to explain the practical public health reason for learning this topic before AI tools are approved or deployed.</a:t>
            </a:r>
          </a:p>
          <a:p xmlns:a="http://schemas.openxmlformats.org/drawingml/2006/main">
            <a:r>
              <a:t>Connect the discussion back to the playbook: this topic supports Plays 1, 4, 7, 13 and Tools 3, 22, 19.</a:t>
            </a:r>
          </a:p>
          <a:p xmlns:a="http://schemas.openxmlformats.org/drawingml/2006/main">
            <a:r>
              <a:t>Emphasize the core guardrail: AI-enabled systems can widen inequities if digital access, data representation, and community context are not examined early.</a:t>
            </a:r>
          </a:p>
          <a:p xmlns:a="http://schemas.openxmlformats.org/drawingml/2006/main">
            <a:r>
              <a:t>Ask participants how this topic could affect their own program area, staff roles, community relationships, data, or public communications.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as a Digital Determinant of Health training module.</a:t>
            </a:r>
          </a:p>
          <a:p xmlns:a="http://schemas.openxmlformats.org/drawingml/2006/main">
            <a:r>
              <a:t>Walk through the objectives and connect each one to a practical implementation decision.</a:t>
            </a:r>
          </a:p>
          <a:p xmlns:a="http://schemas.openxmlformats.org/drawingml/2006/main">
            <a:r>
              <a:t>Connect the discussion back to the playbook: this topic supports Plays 1, 4, 7, 13 and Tools 3, 22, 19.</a:t>
            </a:r>
          </a:p>
          <a:p xmlns:a="http://schemas.openxmlformats.org/drawingml/2006/main">
            <a:r>
              <a:t>Explain that participants do not need technical expertise to use this material. The goal is enough shared understanding to participate in governance, readiness assessment, use case review, procurement, deployment, or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as a Digital Determinant of Health training module.</a:t>
            </a:r>
          </a:p>
          <a:p xmlns:a="http://schemas.openxmlformats.org/drawingml/2006/main">
            <a:r>
              <a:t>Use this slide to provide the narrative overview and definition before moving into detailed application.</a:t>
            </a:r>
          </a:p>
          <a:p xmlns:a="http://schemas.openxmlformats.org/drawingml/2006/main">
            <a:r>
              <a:t>Connect the discussion back to the playbook: this topic supports Plays 1, 4, 7, 13 and Tools 3, 22, 19.</a:t>
            </a:r>
          </a:p>
          <a:p xmlns:a="http://schemas.openxmlformats.org/drawingml/2006/main">
            <a:r>
              <a:t>Ask the group to restate the topic in their own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as a Digital Determinant of Health training module.</a:t>
            </a:r>
          </a:p>
          <a:p xmlns:a="http://schemas.openxmlformats.org/drawingml/2006/main">
            <a:r>
              <a:t>Use this slide to turn the concept into practical behaviors, decisions, and safeguards.</a:t>
            </a:r>
          </a:p>
          <a:p xmlns:a="http://schemas.openxmlformats.org/drawingml/2006/main">
            <a:r>
              <a:t>Connect the discussion back to the playbook: this topic supports Plays 1, 4, 7, 13 and Tools 3, 22, 19.</a:t>
            </a:r>
          </a:p>
          <a:p xmlns:a="http://schemas.openxmlformats.org/drawingml/2006/main">
            <a:r>
              <a:t>Invite participants to identify where these practices would need to be documented in their own department.</a:t>
            </a:r>
          </a:p>
          <a:p xmlns:a="http://schemas.openxmlformats.org/drawingml/2006/main">
            <a:r>
              <a:t>Start with Where Digital Determinants Appear, then compare it with the other practice areas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as a Digital Determinant of Health training module.</a:t>
            </a:r>
          </a:p>
          <a:p xmlns:a="http://schemas.openxmlformats.org/drawingml/2006/main">
            <a:r>
              <a:t>Use this slide to make the topic concrete through public health workflow examples.</a:t>
            </a:r>
          </a:p>
          <a:p xmlns:a="http://schemas.openxmlformats.org/drawingml/2006/main">
            <a:r>
              <a:t>Connect the discussion back to the playbook: this topic supports Plays 1, 4, 7, 13 and Tools 3, 22, 19.</a:t>
            </a:r>
          </a:p>
          <a:p xmlns:a="http://schemas.openxmlformats.org/drawingml/2006/main">
            <a:r>
              <a:t>For each example, ask: What problem is being solved? What data would be used? Who reviews the AI output? What decision remains human? What could go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as a Digital Determinant of Health training module.</a:t>
            </a:r>
          </a:p>
          <a:p xmlns:a="http://schemas.openxmlformats.org/drawingml/2006/main">
            <a:r>
              <a:t>Use this slide for a facilitated activity near the end of the lesson.</a:t>
            </a:r>
          </a:p>
          <a:p xmlns:a="http://schemas.openxmlformats.org/drawingml/2006/main">
            <a:r>
              <a:t>Connect the discussion back to the playbook: this topic supports Plays 1, 4, 7, 13 and Tools 3, 22, 19.</a:t>
            </a:r>
          </a:p>
          <a:p xmlns:a="http://schemas.openxmlformats.org/drawingml/2006/main">
            <a:r>
              <a:t>Give participants time to work individually or in small groups. Ask them to produce a practical artifact that can feed into readiness assessment, governance review, use case prioritization, or implementation planning.</a:t>
            </a:r>
          </a:p>
          <a:p xmlns:a="http://schemas.openxmlformats.org/drawingml/2006/main">
            <a:r>
              <a:t>Expected takeaways include: Digital access impact review, Language and accessibility mitigation plan, Alternate pathway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as a Digital Determinant of Health training module.</a:t>
            </a:r>
          </a:p>
          <a:p xmlns:a="http://schemas.openxmlformats.org/drawingml/2006/main">
            <a:r>
              <a:t>Close by connecting the lesson to next actions and resources.</a:t>
            </a:r>
          </a:p>
          <a:p xmlns:a="http://schemas.openxmlformats.org/drawingml/2006/main">
            <a:r>
              <a:t>Connect the discussion back to the playbook: this topic supports Plays 1, 4, 7, 13 and Tools 3, 22, 19.</a:t>
            </a:r>
          </a:p>
          <a:p xmlns:a="http://schemas.openxmlformats.org/drawingml/2006/main">
            <a:r>
              <a:t>Point participants to the first resource: HHS Civil Rights and AI.</a:t>
            </a:r>
          </a:p>
          <a:p xmlns:a="http://schemas.openxmlformats.org/drawingml/2006/main">
            <a:r>
              <a:t>End by asking each participant or team to name one follow-up action they will take after the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e3a359b36b24e0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f2441ee0fd64be3" /><Relationship Type="http://schemas.openxmlformats.org/officeDocument/2006/relationships/slideLayout" Target="/ppt/slideLayouts/slideLayout1.xml" Id="Reb7b98ecf544489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7b98ecf544489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5d169499c8d4ab0" /><Relationship Type="http://schemas.openxmlformats.org/officeDocument/2006/relationships/image" Target="/ppt/media/image.png" Id="R3d5c9b5e50d14614" /><Relationship Type="http://schemas.openxmlformats.org/officeDocument/2006/relationships/notesSlide" Target="/ppt/notesSlides/notesSlide1.xml" Id="R78536a22b9244c5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8d40c4e76c34cfd" /><Relationship Type="http://schemas.openxmlformats.org/officeDocument/2006/relationships/notesSlide" Target="/ppt/notesSlides/notesSlide2.xml" Id="Rc3e440b25b44460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e224aea87cf469d" /><Relationship Type="http://schemas.openxmlformats.org/officeDocument/2006/relationships/notesSlide" Target="/ppt/notesSlides/notesSlide3.xml" Id="R540ad5885ce1481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e8fd83793ca4a57" /><Relationship Type="http://schemas.openxmlformats.org/officeDocument/2006/relationships/notesSlide" Target="/ppt/notesSlides/notesSlide4.xml" Id="Rcdc2fa0488d44c1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bdecf258c044c25" /><Relationship Type="http://schemas.openxmlformats.org/officeDocument/2006/relationships/notesSlide" Target="/ppt/notesSlides/notesSlide5.xml" Id="R97d93db25b2949f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96ed6f2112b4dd9" /><Relationship Type="http://schemas.openxmlformats.org/officeDocument/2006/relationships/notesSlide" Target="/ppt/notesSlides/notesSlide6.xml" Id="R06b1233b531146c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18bd2fab8f4450a" /><Relationship Type="http://schemas.openxmlformats.org/officeDocument/2006/relationships/notesSlide" Target="/ppt/notesSlides/notesSlide7.xml" Id="Rdb742057aba04c2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bc5ba3f4e404a22" /><Relationship Type="http://schemas.openxmlformats.org/officeDocument/2006/relationships/notesSlide" Target="/ppt/notesSlides/notesSlide8.xml" Id="Rb90e1ec8822f47dd" /></Relationships>
</file>

<file path=ppt/slides/slide1.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d5c9b5e50d14614"/>
          <a:stretch xmlns:a="http://schemas.openxmlformats.org/drawingml/2006/main"/>
        </p:blipFill>
        <p:spPr>
          <a:xfrm xmlns:a="http://schemas.openxmlformats.org/drawingml/2006/main">
            <a:off x="5316097" y="514350"/>
            <a:ext cx="1559806" cy="1524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CDB35EF-91A6-4E54-B239-4ACD1A289FA4}"/>
              </a:ext>
            </a:extLst>
          </p:cNvPr>
          <p:cNvSpPr>
            <a:spLocks xmlns:a="http://schemas.openxmlformats.org/drawingml/2006/main" noGrp="1"/>
          </p:cNvSpPr>
          <p:nvPr/>
        </p:nvSpPr>
        <p:spPr>
          <a:xfrm xmlns:a="http://schemas.openxmlformats.org/drawingml/2006/main">
            <a:off x="4953000" y="23050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287320"/>
                </a:solidFill>
              </a:defRPr>
            </a:pPr>
            <a:r>
              <a:rPr sz="1800" b="1">
                <a:solidFill>
                  <a:srgbClr val="287320"/>
                </a:solidFill>
              </a:rPr>
              <a:t>Lesson 9</a:t>
            </a:r>
          </a:p>
        </p:txBody>
      </p:sp>
      <p:sp>
        <p:nvSpPr>
          <p:cNvPr id="3" name="">
            <a:extLst xmlns:a="http://schemas.openxmlformats.org/drawingml/2006/main">
              <a:ext uri="{FF2B5EF4-FFF2-40B4-BE49-F238E27FC236}">
                <a16:creationId xmlns:a16="http://schemas.microsoft.com/office/drawing/2014/main" id="{763D36CF-9EFD-4362-B8C2-8AD06E66277B}"/>
              </a:ext>
            </a:extLst>
          </p:cNvPr>
          <p:cNvSpPr>
            <a:spLocks xmlns:a="http://schemas.openxmlformats.org/drawingml/2006/main" noGrp="1"/>
          </p:cNvSpPr>
          <p:nvPr/>
        </p:nvSpPr>
        <p:spPr>
          <a:xfrm xmlns:a="http://schemas.openxmlformats.org/drawingml/2006/main">
            <a:off x="1333500" y="2781300"/>
            <a:ext cx="9525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900" b="1">
                <a:solidFill>
                  <a:srgbClr val="003B70"/>
                </a:solidFill>
              </a:defRPr>
            </a:pPr>
            <a:r>
              <a:rPr sz="3900" b="1">
                <a:solidFill>
                  <a:srgbClr val="003B70"/>
                </a:solidFill>
              </a:rPr>
              <a:t>AI as a Digital Determinant of Health</a:t>
            </a:r>
          </a:p>
        </p:txBody>
      </p:sp>
      <p:sp>
        <p:nvSpPr>
          <p:cNvPr id="4" name="">
            <a:extLst xmlns:a="http://schemas.openxmlformats.org/drawingml/2006/main">
              <a:ext uri="{FF2B5EF4-FFF2-40B4-BE49-F238E27FC236}">
                <a16:creationId xmlns:a16="http://schemas.microsoft.com/office/drawing/2014/main" id="{A5CE6595-7A69-4D18-82DB-1C0A304D51A5}"/>
              </a:ext>
            </a:extLst>
          </p:cNvPr>
          <p:cNvSpPr>
            <a:spLocks xmlns:a="http://schemas.openxmlformats.org/drawingml/2006/main" noGrp="1"/>
          </p:cNvSpPr>
          <p:nvPr/>
        </p:nvSpPr>
        <p:spPr>
          <a:xfrm xmlns:a="http://schemas.openxmlformats.org/drawingml/2006/main">
            <a:off x="3714750" y="3857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a:solidFill>
                  <a:srgbClr val="005DAA"/>
                </a:solidFill>
              </a:defRPr>
            </a:pPr>
            <a:r>
              <a:rPr sz="2025" b="1">
                <a:solidFill>
                  <a:srgbClr val="005DAA"/>
                </a:solidFill>
              </a:rPr>
              <a:t>Staff Training Module</a:t>
            </a:r>
          </a:p>
        </p:txBody>
      </p:sp>
      <p:sp>
        <p:nvSpPr>
          <p:cNvPr id="5" name="">
            <a:extLst xmlns:a="http://schemas.openxmlformats.org/drawingml/2006/main">
              <a:ext uri="{FF2B5EF4-FFF2-40B4-BE49-F238E27FC236}">
                <a16:creationId xmlns:a16="http://schemas.microsoft.com/office/drawing/2014/main" id="{47A7A493-F8C6-4D52-9291-7503F052C908}"/>
              </a:ext>
            </a:extLst>
          </p:cNvPr>
          <p:cNvSpPr>
            <a:spLocks xmlns:a="http://schemas.openxmlformats.org/drawingml/2006/main" noGrp="1"/>
          </p:cNvSpPr>
          <p:nvPr/>
        </p:nvSpPr>
        <p:spPr>
          <a:xfrm xmlns:a="http://schemas.openxmlformats.org/drawingml/2006/main">
            <a:off x="3429000" y="4495800"/>
            <a:ext cx="5334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BB10F383-C7AE-4834-A9A3-6629F915059C}"/>
              </a:ext>
            </a:extLst>
          </p:cNvPr>
          <p:cNvSpPr>
            <a:spLocks xmlns:a="http://schemas.openxmlformats.org/drawingml/2006/main" noGrp="1"/>
          </p:cNvSpPr>
          <p:nvPr/>
        </p:nvSpPr>
        <p:spPr>
          <a:xfrm xmlns:a="http://schemas.openxmlformats.org/drawingml/2006/main">
            <a:off x="2286000" y="4905375"/>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287320"/>
                </a:solidFill>
              </a:defRPr>
            </a:pPr>
            <a:r>
              <a:rPr sz="1500" b="1">
                <a:solidFill>
                  <a:srgbClr val="287320"/>
                </a:solidFill>
              </a:rPr>
              <a:t>AI Playbook and Toolkit for Public Health Departments</a:t>
            </a:r>
          </a:p>
        </p:txBody>
      </p:sp>
    </p:spTree>
    <p:extLst>
      <p:ext uri="{BB962C8B-B14F-4D97-AF65-F5344CB8AC3E}">
        <p14:creationId xmlns:p14="http://schemas.microsoft.com/office/powerpoint/2010/main" val="143586124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4E64680-A066-432A-8AD9-F634BA190818}"/>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F009DF96-8258-479A-A064-1CBCB355BDA3}"/>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Why this topic matters</a:t>
            </a:r>
          </a:p>
        </p:txBody>
      </p:sp>
      <p:sp>
        <p:nvSpPr>
          <p:cNvPr id="3" name="">
            <a:extLst xmlns:a="http://schemas.openxmlformats.org/drawingml/2006/main">
              <a:ext uri="{FF2B5EF4-FFF2-40B4-BE49-F238E27FC236}">
                <a16:creationId xmlns:a16="http://schemas.microsoft.com/office/drawing/2014/main" id="{2568BC13-FCF7-4CEA-9B8A-A3FA734A8002}"/>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AFB24A5C-D65E-4D59-917F-B4930DF95A45}"/>
              </a:ext>
            </a:extLst>
          </p:cNvPr>
          <p:cNvSpPr>
            <a:spLocks xmlns:a="http://schemas.openxmlformats.org/drawingml/2006/main" noGrp="1"/>
          </p:cNvSpPr>
          <p:nvPr/>
        </p:nvSpPr>
        <p:spPr>
          <a:xfrm xmlns:a="http://schemas.openxmlformats.org/drawingml/2006/main">
            <a:off x="685800" y="17145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AI can shape access to services, quality of information, exposure to misinformation, eligibility decisions, language access, public benefits, and community trust.</a:t>
            </a:r>
          </a:p>
        </p:txBody>
      </p:sp>
      <p:sp>
        <p:nvSpPr>
          <p:cNvPr id="5" name="">
            <a:extLst xmlns:a="http://schemas.openxmlformats.org/drawingml/2006/main">
              <a:ext uri="{FF2B5EF4-FFF2-40B4-BE49-F238E27FC236}">
                <a16:creationId xmlns:a16="http://schemas.microsoft.com/office/drawing/2014/main" id="{757334DB-386D-4CA4-83CC-F4925C549222}"/>
              </a:ext>
            </a:extLst>
          </p:cNvPr>
          <p:cNvSpPr>
            <a:spLocks xmlns:a="http://schemas.openxmlformats.org/drawingml/2006/main" noGrp="1"/>
          </p:cNvSpPr>
          <p:nvPr/>
        </p:nvSpPr>
        <p:spPr>
          <a:xfrm xmlns:a="http://schemas.openxmlformats.org/drawingml/2006/main">
            <a:off x="685800"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663AEA8A-3C42-4490-937B-16B133CCC80D}"/>
              </a:ext>
            </a:extLst>
          </p:cNvPr>
          <p:cNvSpPr>
            <a:spLocks xmlns:a="http://schemas.openxmlformats.org/drawingml/2006/main" noGrp="1"/>
          </p:cNvSpPr>
          <p:nvPr/>
        </p:nvSpPr>
        <p:spPr>
          <a:xfrm xmlns:a="http://schemas.openxmlformats.org/drawingml/2006/main">
            <a:off x="685800" y="2905125"/>
            <a:ext cx="66675" cy="2190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BF83D8E1-0EEE-47EB-80C9-218D0B904C3A}"/>
              </a:ext>
            </a:extLst>
          </p:cNvPr>
          <p:cNvSpPr>
            <a:spLocks xmlns:a="http://schemas.openxmlformats.org/drawingml/2006/main" noGrp="1"/>
          </p:cNvSpPr>
          <p:nvPr/>
        </p:nvSpPr>
        <p:spPr>
          <a:xfrm xmlns:a="http://schemas.openxmlformats.org/drawingml/2006/main">
            <a:off x="914400"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Public health value</a:t>
            </a:r>
          </a:p>
        </p:txBody>
      </p:sp>
      <p:sp>
        <p:nvSpPr>
          <p:cNvPr id="8" name="">
            <a:extLst xmlns:a="http://schemas.openxmlformats.org/drawingml/2006/main">
              <a:ext uri="{FF2B5EF4-FFF2-40B4-BE49-F238E27FC236}">
                <a16:creationId xmlns:a16="http://schemas.microsoft.com/office/drawing/2014/main" id="{CBF054F2-24D0-403B-A679-66B567DC4613}"/>
              </a:ext>
            </a:extLst>
          </p:cNvPr>
          <p:cNvSpPr>
            <a:spLocks xmlns:a="http://schemas.openxmlformats.org/drawingml/2006/main" noGrp="1"/>
          </p:cNvSpPr>
          <p:nvPr/>
        </p:nvSpPr>
        <p:spPr>
          <a:xfrm xmlns:a="http://schemas.openxmlformats.org/drawingml/2006/main">
            <a:off x="914400"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AI can influence whether people receive understandable information, timely services, fair prioritization, language access, or meaningful alternatives. Departments should treat AI-supported workflows as part of the digital environment that.</a:t>
            </a:r>
          </a:p>
        </p:txBody>
      </p:sp>
      <p:sp>
        <p:nvSpPr>
          <p:cNvPr id="9" name="">
            <a:extLst xmlns:a="http://schemas.openxmlformats.org/drawingml/2006/main">
              <a:ext uri="{FF2B5EF4-FFF2-40B4-BE49-F238E27FC236}">
                <a16:creationId xmlns:a16="http://schemas.microsoft.com/office/drawing/2014/main" id="{10E66144-FDC6-49F2-8498-ACB82ECE0408}"/>
              </a:ext>
            </a:extLst>
          </p:cNvPr>
          <p:cNvSpPr>
            <a:spLocks xmlns:a="http://schemas.openxmlformats.org/drawingml/2006/main" noGrp="1"/>
          </p:cNvSpPr>
          <p:nvPr/>
        </p:nvSpPr>
        <p:spPr>
          <a:xfrm xmlns:a="http://schemas.openxmlformats.org/drawingml/2006/main">
            <a:off x="5953125"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EE265F50-F860-4D31-8FC5-11BE191D4A7C}"/>
              </a:ext>
            </a:extLst>
          </p:cNvPr>
          <p:cNvSpPr>
            <a:spLocks xmlns:a="http://schemas.openxmlformats.org/drawingml/2006/main" noGrp="1"/>
          </p:cNvSpPr>
          <p:nvPr/>
        </p:nvSpPr>
        <p:spPr>
          <a:xfrm xmlns:a="http://schemas.openxmlformats.org/drawingml/2006/main">
            <a:off x="5953125" y="2905125"/>
            <a:ext cx="66675" cy="2190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BD4E4AA2-85B8-438B-9CCD-785C4052E8A4}"/>
              </a:ext>
            </a:extLst>
          </p:cNvPr>
          <p:cNvSpPr>
            <a:spLocks xmlns:a="http://schemas.openxmlformats.org/drawingml/2006/main" noGrp="1"/>
          </p:cNvSpPr>
          <p:nvPr/>
        </p:nvSpPr>
        <p:spPr>
          <a:xfrm xmlns:a="http://schemas.openxmlformats.org/drawingml/2006/main">
            <a:off x="6181725"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Guardrail</a:t>
            </a:r>
          </a:p>
        </p:txBody>
      </p:sp>
      <p:sp>
        <p:nvSpPr>
          <p:cNvPr id="12" name="">
            <a:extLst xmlns:a="http://schemas.openxmlformats.org/drawingml/2006/main">
              <a:ext uri="{FF2B5EF4-FFF2-40B4-BE49-F238E27FC236}">
                <a16:creationId xmlns:a16="http://schemas.microsoft.com/office/drawing/2014/main" id="{F9D60C20-DF7C-4B64-9034-02806B6F3AA4}"/>
              </a:ext>
            </a:extLst>
          </p:cNvPr>
          <p:cNvSpPr>
            <a:spLocks xmlns:a="http://schemas.openxmlformats.org/drawingml/2006/main" noGrp="1"/>
          </p:cNvSpPr>
          <p:nvPr/>
        </p:nvSpPr>
        <p:spPr>
          <a:xfrm xmlns:a="http://schemas.openxmlformats.org/drawingml/2006/main">
            <a:off x="6181725"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AI-enabled systems can widen inequities if digital access, data representation, and community context are not examined early.</a:t>
            </a:r>
          </a:p>
        </p:txBody>
      </p:sp>
      <p:sp>
        <p:nvSpPr>
          <p:cNvPr id="13" name="">
            <a:extLst xmlns:a="http://schemas.openxmlformats.org/drawingml/2006/main">
              <a:ext uri="{FF2B5EF4-FFF2-40B4-BE49-F238E27FC236}">
                <a16:creationId xmlns:a16="http://schemas.microsoft.com/office/drawing/2014/main" id="{D23E4850-29D6-4134-864C-710DBF4DC0EF}"/>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as a Digital Determinant of Health</a:t>
            </a:r>
          </a:p>
        </p:txBody>
      </p:sp>
      <p:sp>
        <p:nvSpPr>
          <p:cNvPr id="14" name="">
            <a:extLst xmlns:a="http://schemas.openxmlformats.org/drawingml/2006/main">
              <a:ext uri="{FF2B5EF4-FFF2-40B4-BE49-F238E27FC236}">
                <a16:creationId xmlns:a16="http://schemas.microsoft.com/office/drawing/2014/main" id="{B436F1C9-3748-4DB0-A38A-0EF53D88DF6B}"/>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02</a:t>
            </a:r>
          </a:p>
        </p:txBody>
      </p:sp>
    </p:spTree>
    <p:extLst>
      <p:ext uri="{BB962C8B-B14F-4D97-AF65-F5344CB8AC3E}">
        <p14:creationId xmlns:p14="http://schemas.microsoft.com/office/powerpoint/2010/main" val="2087169673"/>
      </p:ext>
    </p:extLst>
  </p:cSld>
</p:sld>
</file>

<file path=ppt/slides/slide3.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10F5460-21A5-466F-9001-4CE4AA8A1AC6}"/>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A6D9659E-C6DF-402D-A04C-0C327D513D00}"/>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Learning objectives</a:t>
            </a:r>
          </a:p>
        </p:txBody>
      </p:sp>
      <p:sp>
        <p:nvSpPr>
          <p:cNvPr id="3" name="">
            <a:extLst xmlns:a="http://schemas.openxmlformats.org/drawingml/2006/main">
              <a:ext uri="{FF2B5EF4-FFF2-40B4-BE49-F238E27FC236}">
                <a16:creationId xmlns:a16="http://schemas.microsoft.com/office/drawing/2014/main" id="{D00D0E8A-4D02-49B7-967F-5AD207DC9C74}"/>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A0D62652-4B99-4D60-B568-A918408309BC}"/>
              </a:ext>
            </a:extLst>
          </p:cNvPr>
          <p:cNvSpPr>
            <a:spLocks xmlns:a="http://schemas.openxmlformats.org/drawingml/2006/main" noGrp="1"/>
          </p:cNvSpPr>
          <p:nvPr/>
        </p:nvSpPr>
        <p:spPr>
          <a:xfrm xmlns:a="http://schemas.openxmlformats.org/drawingml/2006/main">
            <a:off x="685800" y="16573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2324A"/>
                </a:solidFill>
              </a:defRPr>
            </a:pPr>
            <a:r>
              <a:rPr sz="1875" b="1">
                <a:solidFill>
                  <a:srgbClr val="12324A"/>
                </a:solidFill>
              </a:rPr>
              <a:t>By the end of this lesson, staff should be able to:</a:t>
            </a:r>
          </a:p>
        </p:txBody>
      </p:sp>
      <p:sp>
        <p:nvSpPr>
          <p:cNvPr id="5" name="">
            <a:extLst xmlns:a="http://schemas.openxmlformats.org/drawingml/2006/main">
              <a:ext uri="{FF2B5EF4-FFF2-40B4-BE49-F238E27FC236}">
                <a16:creationId xmlns:a16="http://schemas.microsoft.com/office/drawing/2014/main" id="{02C793EA-37B5-4886-8D5F-4021F3B54DED}"/>
              </a:ext>
            </a:extLst>
          </p:cNvPr>
          <p:cNvSpPr>
            <a:spLocks xmlns:a="http://schemas.openxmlformats.org/drawingml/2006/main" noGrp="1"/>
          </p:cNvSpPr>
          <p:nvPr/>
        </p:nvSpPr>
        <p:spPr>
          <a:xfrm xmlns:a="http://schemas.openxmlformats.org/drawingml/2006/main">
            <a:off x="1047750" y="2286000"/>
            <a:ext cx="942975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24394A"/>
                </a:solidFill>
              </a:defRPr>
            </a:pPr>
            <a:r>
              <a:rPr sz="1725" b="0">
                <a:solidFill>
                  <a:srgbClr val="24394A"/>
                </a:solidFill>
              </a:rPr>
              <a:t>• Explain AI as a Digital Determinant of Health in plain language.</a:t>
            </a:r>
          </a:p>
          <a:p xmlns:a="http://schemas.openxmlformats.org/drawingml/2006/main">
            <a:pPr algn="l">
              <a:defRPr sz="1725" b="0">
                <a:solidFill>
                  <a:srgbClr val="24394A"/>
                </a:solidFill>
              </a:defRPr>
            </a:pPr>
            <a:r>
              <a:rPr sz="1725" b="0">
                <a:solidFill>
                  <a:srgbClr val="24394A"/>
                </a:solidFill>
              </a:rPr>
              <a:t>• Identify appropriate public health uses and limits.</a:t>
            </a:r>
          </a:p>
          <a:p xmlns:a="http://schemas.openxmlformats.org/drawingml/2006/main">
            <a:pPr algn="l">
              <a:defRPr sz="1725" b="0">
                <a:solidFill>
                  <a:srgbClr val="24394A"/>
                </a:solidFill>
              </a:defRPr>
            </a:pPr>
            <a:r>
              <a:rPr sz="1725" b="0">
                <a:solidFill>
                  <a:srgbClr val="24394A"/>
                </a:solidFill>
              </a:rPr>
              <a:t>• Describe human review, governance, equity, privacy, and monitoring expectations.</a:t>
            </a:r>
          </a:p>
          <a:p xmlns:a="http://schemas.openxmlformats.org/drawingml/2006/main">
            <a:pPr algn="l">
              <a:defRPr sz="1725" b="0">
                <a:solidFill>
                  <a:srgbClr val="24394A"/>
                </a:solidFill>
              </a:defRPr>
            </a:pPr>
            <a:r>
              <a:rPr sz="1725" b="0">
                <a:solidFill>
                  <a:srgbClr val="24394A"/>
                </a:solidFill>
              </a:rPr>
              <a:t>• Connect the topic to the related plays and tools.</a:t>
            </a:r>
          </a:p>
        </p:txBody>
      </p:sp>
      <p:sp>
        <p:nvSpPr>
          <p:cNvPr id="6" name="">
            <a:extLst xmlns:a="http://schemas.openxmlformats.org/drawingml/2006/main">
              <a:ext uri="{FF2B5EF4-FFF2-40B4-BE49-F238E27FC236}">
                <a16:creationId xmlns:a16="http://schemas.microsoft.com/office/drawing/2014/main" id="{D1341E0D-8A0B-4ABA-88C0-3AFC97FA7C13}"/>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as a Digital Determinant of Health</a:t>
            </a:r>
          </a:p>
        </p:txBody>
      </p:sp>
      <p:sp>
        <p:nvSpPr>
          <p:cNvPr id="7" name="">
            <a:extLst xmlns:a="http://schemas.openxmlformats.org/drawingml/2006/main">
              <a:ext uri="{FF2B5EF4-FFF2-40B4-BE49-F238E27FC236}">
                <a16:creationId xmlns:a16="http://schemas.microsoft.com/office/drawing/2014/main" id="{154F61DB-EAC4-4DA8-A485-B7E7D21B2A0F}"/>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03</a:t>
            </a:r>
          </a:p>
        </p:txBody>
      </p:sp>
    </p:spTree>
    <p:extLst>
      <p:ext uri="{BB962C8B-B14F-4D97-AF65-F5344CB8AC3E}">
        <p14:creationId xmlns:p14="http://schemas.microsoft.com/office/powerpoint/2010/main" val="25519802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4E59E42-189E-420C-8793-B2E46C1E2752}"/>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A48DF543-A7B5-4B42-AE06-3006724C038A}"/>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Module overview</a:t>
            </a:r>
          </a:p>
        </p:txBody>
      </p:sp>
      <p:sp>
        <p:nvSpPr>
          <p:cNvPr id="3" name="">
            <a:extLst xmlns:a="http://schemas.openxmlformats.org/drawingml/2006/main">
              <a:ext uri="{FF2B5EF4-FFF2-40B4-BE49-F238E27FC236}">
                <a16:creationId xmlns:a16="http://schemas.microsoft.com/office/drawing/2014/main" id="{C27ADF68-D7BB-4C3F-9980-4F4A29724090}"/>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15C4328E-8C76-423A-BE64-79359D03A313}"/>
              </a:ext>
            </a:extLst>
          </p:cNvPr>
          <p:cNvSpPr>
            <a:spLocks xmlns:a="http://schemas.openxmlformats.org/drawingml/2006/main" noGrp="1"/>
          </p:cNvSpPr>
          <p:nvPr/>
        </p:nvSpPr>
        <p:spPr>
          <a:xfrm xmlns:a="http://schemas.openxmlformats.org/drawingml/2006/main">
            <a:off x="685800" y="1695450"/>
            <a:ext cx="1019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24394A"/>
                </a:solidFill>
              </a:defRPr>
            </a:pPr>
            <a:r>
              <a:rPr sz="1800" b="0">
                <a:solidFill>
                  <a:srgbClr val="24394A"/>
                </a:solidFill>
              </a:rPr>
              <a:t>AI can become a digital determinant of health because it shapes how people receive information, access services, are prioritized for outreach, experience language access, or are affected by automated decisions. Departments should examine whether AI-supported systems make services more reachable and fair, or whether they create new barriers.</a:t>
            </a:r>
          </a:p>
        </p:txBody>
      </p:sp>
      <p:sp>
        <p:nvSpPr>
          <p:cNvPr id="5" name="">
            <a:extLst xmlns:a="http://schemas.openxmlformats.org/drawingml/2006/main">
              <a:ext uri="{FF2B5EF4-FFF2-40B4-BE49-F238E27FC236}">
                <a16:creationId xmlns:a16="http://schemas.microsoft.com/office/drawing/2014/main" id="{7E250C63-99DE-46E9-AF40-E067B1E7348B}"/>
              </a:ext>
            </a:extLst>
          </p:cNvPr>
          <p:cNvSpPr>
            <a:spLocks xmlns:a="http://schemas.openxmlformats.org/drawingml/2006/main" noGrp="1"/>
          </p:cNvSpPr>
          <p:nvPr/>
        </p:nvSpPr>
        <p:spPr>
          <a:xfrm xmlns:a="http://schemas.openxmlformats.org/drawingml/2006/main">
            <a:off x="685800" y="3524250"/>
            <a:ext cx="9953625" cy="1381125"/>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10AE0F5E-31C7-47F6-94D6-CE5425CB36AA}"/>
              </a:ext>
            </a:extLst>
          </p:cNvPr>
          <p:cNvSpPr>
            <a:spLocks xmlns:a="http://schemas.openxmlformats.org/drawingml/2006/main" noGrp="1"/>
          </p:cNvSpPr>
          <p:nvPr/>
        </p:nvSpPr>
        <p:spPr>
          <a:xfrm xmlns:a="http://schemas.openxmlformats.org/drawingml/2006/main">
            <a:off x="685800" y="3524250"/>
            <a:ext cx="66675" cy="138112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045208D5-41DF-408B-AD5B-6410B49BD331}"/>
              </a:ext>
            </a:extLst>
          </p:cNvPr>
          <p:cNvSpPr>
            <a:spLocks xmlns:a="http://schemas.openxmlformats.org/drawingml/2006/main" noGrp="1"/>
          </p:cNvSpPr>
          <p:nvPr/>
        </p:nvSpPr>
        <p:spPr>
          <a:xfrm xmlns:a="http://schemas.openxmlformats.org/drawingml/2006/main">
            <a:off x="914400" y="3714750"/>
            <a:ext cx="94964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Working definition</a:t>
            </a:r>
          </a:p>
        </p:txBody>
      </p:sp>
      <p:sp>
        <p:nvSpPr>
          <p:cNvPr id="8" name="">
            <a:extLst xmlns:a="http://schemas.openxmlformats.org/drawingml/2006/main">
              <a:ext uri="{FF2B5EF4-FFF2-40B4-BE49-F238E27FC236}">
                <a16:creationId xmlns:a16="http://schemas.microsoft.com/office/drawing/2014/main" id="{8630DB59-CCF7-4179-B260-F29301BD2C19}"/>
              </a:ext>
            </a:extLst>
          </p:cNvPr>
          <p:cNvSpPr>
            <a:spLocks xmlns:a="http://schemas.openxmlformats.org/drawingml/2006/main" noGrp="1"/>
          </p:cNvSpPr>
          <p:nvPr/>
        </p:nvSpPr>
        <p:spPr>
          <a:xfrm xmlns:a="http://schemas.openxmlformats.org/drawingml/2006/main">
            <a:off x="914400" y="4171950"/>
            <a:ext cx="9496425"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AI can shape access to services, quality of information, exposure to misinformation, eligibility decisions, language access, public benefits, and community trust.</a:t>
            </a:r>
          </a:p>
        </p:txBody>
      </p:sp>
      <p:sp>
        <p:nvSpPr>
          <p:cNvPr id="9" name="">
            <a:extLst xmlns:a="http://schemas.openxmlformats.org/drawingml/2006/main">
              <a:ext uri="{FF2B5EF4-FFF2-40B4-BE49-F238E27FC236}">
                <a16:creationId xmlns:a16="http://schemas.microsoft.com/office/drawing/2014/main" id="{52C0225E-732B-4056-BA1F-7A7FE994970E}"/>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as a Digital Determinant of Health</a:t>
            </a:r>
          </a:p>
        </p:txBody>
      </p:sp>
      <p:sp>
        <p:nvSpPr>
          <p:cNvPr id="10" name="">
            <a:extLst xmlns:a="http://schemas.openxmlformats.org/drawingml/2006/main">
              <a:ext uri="{FF2B5EF4-FFF2-40B4-BE49-F238E27FC236}">
                <a16:creationId xmlns:a16="http://schemas.microsoft.com/office/drawing/2014/main" id="{B32B0CD8-07AC-48E5-8A73-13DC76660D11}"/>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04</a:t>
            </a:r>
          </a:p>
        </p:txBody>
      </p:sp>
    </p:spTree>
    <p:extLst>
      <p:ext uri="{BB962C8B-B14F-4D97-AF65-F5344CB8AC3E}">
        <p14:creationId xmlns:p14="http://schemas.microsoft.com/office/powerpoint/2010/main" val="665846697"/>
      </p:ext>
    </p:extLst>
  </p:cSld>
</p:sld>
</file>

<file path=ppt/slides/slide5.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E5BC6DE-FFAE-44ED-A2E7-323FAA7304FE}"/>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19A99143-45A6-4D8D-8959-9649C0F82518}"/>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What this means in practice</a:t>
            </a:r>
          </a:p>
        </p:txBody>
      </p:sp>
      <p:sp>
        <p:nvSpPr>
          <p:cNvPr id="3" name="">
            <a:extLst xmlns:a="http://schemas.openxmlformats.org/drawingml/2006/main">
              <a:ext uri="{FF2B5EF4-FFF2-40B4-BE49-F238E27FC236}">
                <a16:creationId xmlns:a16="http://schemas.microsoft.com/office/drawing/2014/main" id="{B72D21CE-58F0-4ECD-A557-687C43B77ACB}"/>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B97E4CBA-D5C0-4D8A-9722-C9292520F2D0}"/>
              </a:ext>
            </a:extLst>
          </p:cNvPr>
          <p:cNvSpPr>
            <a:spLocks xmlns:a="http://schemas.openxmlformats.org/drawingml/2006/main" noGrp="1"/>
          </p:cNvSpPr>
          <p:nvPr/>
        </p:nvSpPr>
        <p:spPr>
          <a:xfrm xmlns:a="http://schemas.openxmlformats.org/drawingml/2006/main">
            <a:off x="685800"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C3653A19-DE9D-474E-AF5F-855826380BCD}"/>
              </a:ext>
            </a:extLst>
          </p:cNvPr>
          <p:cNvSpPr>
            <a:spLocks xmlns:a="http://schemas.openxmlformats.org/drawingml/2006/main" noGrp="1"/>
          </p:cNvSpPr>
          <p:nvPr/>
        </p:nvSpPr>
        <p:spPr>
          <a:xfrm xmlns:a="http://schemas.openxmlformats.org/drawingml/2006/main">
            <a:off x="685800" y="1809750"/>
            <a:ext cx="66675" cy="31432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6" name="">
            <a:extLst xmlns:a="http://schemas.openxmlformats.org/drawingml/2006/main">
              <a:ext uri="{FF2B5EF4-FFF2-40B4-BE49-F238E27FC236}">
                <a16:creationId xmlns:a16="http://schemas.microsoft.com/office/drawing/2014/main" id="{F182FEB0-FCCF-4454-B904-44346193C247}"/>
              </a:ext>
            </a:extLst>
          </p:cNvPr>
          <p:cNvSpPr>
            <a:spLocks xmlns:a="http://schemas.openxmlformats.org/drawingml/2006/main" noGrp="1"/>
          </p:cNvSpPr>
          <p:nvPr/>
        </p:nvSpPr>
        <p:spPr>
          <a:xfrm xmlns:a="http://schemas.openxmlformats.org/drawingml/2006/main">
            <a:off x="914400"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Where Digital Determinants Appear</a:t>
            </a:r>
          </a:p>
        </p:txBody>
      </p:sp>
      <p:sp>
        <p:nvSpPr>
          <p:cNvPr id="7" name="">
            <a:extLst xmlns:a="http://schemas.openxmlformats.org/drawingml/2006/main">
              <a:ext uri="{FF2B5EF4-FFF2-40B4-BE49-F238E27FC236}">
                <a16:creationId xmlns:a16="http://schemas.microsoft.com/office/drawing/2014/main" id="{93D7B183-7978-4BCA-B582-82E8E980D9FB}"/>
              </a:ext>
            </a:extLst>
          </p:cNvPr>
          <p:cNvSpPr>
            <a:spLocks xmlns:a="http://schemas.openxmlformats.org/drawingml/2006/main" noGrp="1"/>
          </p:cNvSpPr>
          <p:nvPr/>
        </p:nvSpPr>
        <p:spPr>
          <a:xfrm xmlns:a="http://schemas.openxmlformats.org/drawingml/2006/main">
            <a:off x="914400"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Chatbots, eligibility tools, translation systems, online appointment systems, risk scores, outreach lists, public dashboards, and. Public health messaging that is generated, translated, personalized, or targeted with AI. Vendor systems that.</a:t>
            </a:r>
          </a:p>
        </p:txBody>
      </p:sp>
      <p:sp>
        <p:nvSpPr>
          <p:cNvPr id="8" name="">
            <a:extLst xmlns:a="http://schemas.openxmlformats.org/drawingml/2006/main">
              <a:ext uri="{FF2B5EF4-FFF2-40B4-BE49-F238E27FC236}">
                <a16:creationId xmlns:a16="http://schemas.microsoft.com/office/drawing/2014/main" id="{22749665-9A02-4DD1-8C45-7574DB6177FF}"/>
              </a:ext>
            </a:extLst>
          </p:cNvPr>
          <p:cNvSpPr>
            <a:spLocks xmlns:a="http://schemas.openxmlformats.org/drawingml/2006/main" noGrp="1"/>
          </p:cNvSpPr>
          <p:nvPr/>
        </p:nvSpPr>
        <p:spPr>
          <a:xfrm xmlns:a="http://schemas.openxmlformats.org/drawingml/2006/main">
            <a:off x="4257675"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61C44BF7-7150-4A43-B026-0F6B08220655}"/>
              </a:ext>
            </a:extLst>
          </p:cNvPr>
          <p:cNvSpPr>
            <a:spLocks xmlns:a="http://schemas.openxmlformats.org/drawingml/2006/main" noGrp="1"/>
          </p:cNvSpPr>
          <p:nvPr/>
        </p:nvSpPr>
        <p:spPr>
          <a:xfrm xmlns:a="http://schemas.openxmlformats.org/drawingml/2006/main">
            <a:off x="4257675" y="1809750"/>
            <a:ext cx="66675" cy="31432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0" name="">
            <a:extLst xmlns:a="http://schemas.openxmlformats.org/drawingml/2006/main">
              <a:ext uri="{FF2B5EF4-FFF2-40B4-BE49-F238E27FC236}">
                <a16:creationId xmlns:a16="http://schemas.microsoft.com/office/drawing/2014/main" id="{F798DBA0-2AC5-4EE1-843F-6B84E93EF2F8}"/>
              </a:ext>
            </a:extLst>
          </p:cNvPr>
          <p:cNvSpPr>
            <a:spLocks xmlns:a="http://schemas.openxmlformats.org/drawingml/2006/main" noGrp="1"/>
          </p:cNvSpPr>
          <p:nvPr/>
        </p:nvSpPr>
        <p:spPr>
          <a:xfrm xmlns:a="http://schemas.openxmlformats.org/drawingml/2006/main">
            <a:off x="4486275"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Equity Review Questions</a:t>
            </a:r>
          </a:p>
        </p:txBody>
      </p:sp>
      <p:sp>
        <p:nvSpPr>
          <p:cNvPr id="11" name="">
            <a:extLst xmlns:a="http://schemas.openxmlformats.org/drawingml/2006/main">
              <a:ext uri="{FF2B5EF4-FFF2-40B4-BE49-F238E27FC236}">
                <a16:creationId xmlns:a16="http://schemas.microsoft.com/office/drawing/2014/main" id="{3F916061-7CE8-4228-9924-F2911663048F}"/>
              </a:ext>
            </a:extLst>
          </p:cNvPr>
          <p:cNvSpPr>
            <a:spLocks xmlns:a="http://schemas.openxmlformats.org/drawingml/2006/main" noGrp="1"/>
          </p:cNvSpPr>
          <p:nvPr/>
        </p:nvSpPr>
        <p:spPr>
          <a:xfrm xmlns:a="http://schemas.openxmlformats.org/drawingml/2006/main">
            <a:off x="4486275"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Who benefits from the tool, and who might be excluded because of language, disability, broadband, device access, trust, literacy,. Does the tool work for rural, Tribal, immigrant, older adult, disability, low-literacy, and.</a:t>
            </a:r>
          </a:p>
        </p:txBody>
      </p:sp>
      <p:sp>
        <p:nvSpPr>
          <p:cNvPr id="12" name="">
            <a:extLst xmlns:a="http://schemas.openxmlformats.org/drawingml/2006/main">
              <a:ext uri="{FF2B5EF4-FFF2-40B4-BE49-F238E27FC236}">
                <a16:creationId xmlns:a16="http://schemas.microsoft.com/office/drawing/2014/main" id="{26F783C3-7A2C-4BFA-9B79-13D60CB8DAF1}"/>
              </a:ext>
            </a:extLst>
          </p:cNvPr>
          <p:cNvSpPr>
            <a:spLocks xmlns:a="http://schemas.openxmlformats.org/drawingml/2006/main" noGrp="1"/>
          </p:cNvSpPr>
          <p:nvPr/>
        </p:nvSpPr>
        <p:spPr>
          <a:xfrm xmlns:a="http://schemas.openxmlformats.org/drawingml/2006/main">
            <a:off x="7829550"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BECEB4C5-11E7-4929-98A4-80CF47EB8893}"/>
              </a:ext>
            </a:extLst>
          </p:cNvPr>
          <p:cNvSpPr>
            <a:spLocks xmlns:a="http://schemas.openxmlformats.org/drawingml/2006/main" noGrp="1"/>
          </p:cNvSpPr>
          <p:nvPr/>
        </p:nvSpPr>
        <p:spPr>
          <a:xfrm xmlns:a="http://schemas.openxmlformats.org/drawingml/2006/main">
            <a:off x="7829550" y="1809750"/>
            <a:ext cx="66675" cy="31432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4" name="">
            <a:extLst xmlns:a="http://schemas.openxmlformats.org/drawingml/2006/main">
              <a:ext uri="{FF2B5EF4-FFF2-40B4-BE49-F238E27FC236}">
                <a16:creationId xmlns:a16="http://schemas.microsoft.com/office/drawing/2014/main" id="{F9F48048-DC2D-43AE-94D7-64486CBA19B4}"/>
              </a:ext>
            </a:extLst>
          </p:cNvPr>
          <p:cNvSpPr>
            <a:spLocks xmlns:a="http://schemas.openxmlformats.org/drawingml/2006/main" noGrp="1"/>
          </p:cNvSpPr>
          <p:nvPr/>
        </p:nvSpPr>
        <p:spPr>
          <a:xfrm xmlns:a="http://schemas.openxmlformats.org/drawingml/2006/main">
            <a:off x="8058150"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Action Steps</a:t>
            </a:r>
          </a:p>
        </p:txBody>
      </p:sp>
      <p:sp>
        <p:nvSpPr>
          <p:cNvPr id="15" name="">
            <a:extLst xmlns:a="http://schemas.openxmlformats.org/drawingml/2006/main">
              <a:ext uri="{FF2B5EF4-FFF2-40B4-BE49-F238E27FC236}">
                <a16:creationId xmlns:a16="http://schemas.microsoft.com/office/drawing/2014/main" id="{D539D2B1-98A5-4C4C-A1EF-A14ABC50BB35}"/>
              </a:ext>
            </a:extLst>
          </p:cNvPr>
          <p:cNvSpPr>
            <a:spLocks xmlns:a="http://schemas.openxmlformats.org/drawingml/2006/main" noGrp="1"/>
          </p:cNvSpPr>
          <p:nvPr/>
        </p:nvSpPr>
        <p:spPr>
          <a:xfrm xmlns:a="http://schemas.openxmlformats.org/drawingml/2006/main">
            <a:off x="8058150"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Include digital access and language access in use case prioritization. Test public-facing outputs with affected users before launch. Monitor service access, complaints, correction requests, and subgroup outcomes after deployment.</a:t>
            </a:r>
          </a:p>
        </p:txBody>
      </p:sp>
      <p:sp>
        <p:nvSpPr>
          <p:cNvPr id="16" name="">
            <a:extLst xmlns:a="http://schemas.openxmlformats.org/drawingml/2006/main">
              <a:ext uri="{FF2B5EF4-FFF2-40B4-BE49-F238E27FC236}">
                <a16:creationId xmlns:a16="http://schemas.microsoft.com/office/drawing/2014/main" id="{7EA89AE5-1671-4763-ADF7-3DCDD62B934F}"/>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as a Digital Determinant of Health</a:t>
            </a:r>
          </a:p>
        </p:txBody>
      </p:sp>
      <p:sp>
        <p:nvSpPr>
          <p:cNvPr id="17" name="">
            <a:extLst xmlns:a="http://schemas.openxmlformats.org/drawingml/2006/main">
              <a:ext uri="{FF2B5EF4-FFF2-40B4-BE49-F238E27FC236}">
                <a16:creationId xmlns:a16="http://schemas.microsoft.com/office/drawing/2014/main" id="{110912EC-43BB-4FF8-8B32-C863C78E39DB}"/>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05</a:t>
            </a:r>
          </a:p>
        </p:txBody>
      </p:sp>
    </p:spTree>
    <p:extLst>
      <p:ext uri="{BB962C8B-B14F-4D97-AF65-F5344CB8AC3E}">
        <p14:creationId xmlns:p14="http://schemas.microsoft.com/office/powerpoint/2010/main" val="48617508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BC05D79-0D54-470D-A02A-281317F03DC9}"/>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2487B443-56C3-4D7E-ADEA-0EAA506F0975}"/>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Public health application</a:t>
            </a:r>
          </a:p>
        </p:txBody>
      </p:sp>
      <p:sp>
        <p:nvSpPr>
          <p:cNvPr id="3" name="">
            <a:extLst xmlns:a="http://schemas.openxmlformats.org/drawingml/2006/main">
              <a:ext uri="{FF2B5EF4-FFF2-40B4-BE49-F238E27FC236}">
                <a16:creationId xmlns:a16="http://schemas.microsoft.com/office/drawing/2014/main" id="{8B260C03-5BF4-48E4-9B31-0902E9BBC3B2}"/>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7AFA8BCD-5040-4F76-AA18-27A339D6C700}"/>
              </a:ext>
            </a:extLst>
          </p:cNvPr>
          <p:cNvSpPr>
            <a:spLocks xmlns:a="http://schemas.openxmlformats.org/drawingml/2006/main" noGrp="1"/>
          </p:cNvSpPr>
          <p:nvPr/>
        </p:nvSpPr>
        <p:spPr>
          <a:xfrm xmlns:a="http://schemas.openxmlformats.org/drawingml/2006/main">
            <a:off x="685800" y="171450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Use the topic to examine real workflows, not abstract technology.</a:t>
            </a:r>
          </a:p>
        </p:txBody>
      </p:sp>
      <p:sp>
        <p:nvSpPr>
          <p:cNvPr id="5" name="">
            <a:extLst xmlns:a="http://schemas.openxmlformats.org/drawingml/2006/main">
              <a:ext uri="{FF2B5EF4-FFF2-40B4-BE49-F238E27FC236}">
                <a16:creationId xmlns:a16="http://schemas.microsoft.com/office/drawing/2014/main" id="{ACA9D964-A44B-42C3-9BFC-C54E9C343D94}"/>
              </a:ext>
            </a:extLst>
          </p:cNvPr>
          <p:cNvSpPr>
            <a:spLocks xmlns:a="http://schemas.openxmlformats.org/drawingml/2006/main" noGrp="1"/>
          </p:cNvSpPr>
          <p:nvPr/>
        </p:nvSpPr>
        <p:spPr>
          <a:xfrm xmlns:a="http://schemas.openxmlformats.org/drawingml/2006/main">
            <a:off x="68580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D0BD433D-77E8-4566-85E6-781CF2D69623}"/>
              </a:ext>
            </a:extLst>
          </p:cNvPr>
          <p:cNvSpPr>
            <a:spLocks xmlns:a="http://schemas.openxmlformats.org/drawingml/2006/main" noGrp="1"/>
          </p:cNvSpPr>
          <p:nvPr/>
        </p:nvSpPr>
        <p:spPr>
          <a:xfrm xmlns:a="http://schemas.openxmlformats.org/drawingml/2006/main">
            <a:off x="68580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DC425BC2-6AE9-49BF-AFBC-102BC1981264}"/>
              </a:ext>
            </a:extLst>
          </p:cNvPr>
          <p:cNvSpPr>
            <a:spLocks xmlns:a="http://schemas.openxmlformats.org/drawingml/2006/main" noGrp="1"/>
          </p:cNvSpPr>
          <p:nvPr/>
        </p:nvSpPr>
        <p:spPr>
          <a:xfrm xmlns:a="http://schemas.openxmlformats.org/drawingml/2006/main">
            <a:off x="91440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Review AI effects on language access</a:t>
            </a:r>
          </a:p>
        </p:txBody>
      </p:sp>
      <p:sp>
        <p:nvSpPr>
          <p:cNvPr id="8" name="">
            <a:extLst xmlns:a="http://schemas.openxmlformats.org/drawingml/2006/main">
              <a:ext uri="{FF2B5EF4-FFF2-40B4-BE49-F238E27FC236}">
                <a16:creationId xmlns:a16="http://schemas.microsoft.com/office/drawing/2014/main" id="{B57D4BD4-0754-4934-AF98-FC2DFFB52150}"/>
              </a:ext>
            </a:extLst>
          </p:cNvPr>
          <p:cNvSpPr>
            <a:spLocks xmlns:a="http://schemas.openxmlformats.org/drawingml/2006/main" noGrp="1"/>
          </p:cNvSpPr>
          <p:nvPr/>
        </p:nvSpPr>
        <p:spPr>
          <a:xfrm xmlns:a="http://schemas.openxmlformats.org/drawingml/2006/main">
            <a:off x="91440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9" name="">
            <a:extLst xmlns:a="http://schemas.openxmlformats.org/drawingml/2006/main">
              <a:ext uri="{FF2B5EF4-FFF2-40B4-BE49-F238E27FC236}">
                <a16:creationId xmlns:a16="http://schemas.microsoft.com/office/drawing/2014/main" id="{0733D2CF-6788-44D6-A88A-2F15949AC63E}"/>
              </a:ext>
            </a:extLst>
          </p:cNvPr>
          <p:cNvSpPr>
            <a:spLocks xmlns:a="http://schemas.openxmlformats.org/drawingml/2006/main" noGrp="1"/>
          </p:cNvSpPr>
          <p:nvPr/>
        </p:nvSpPr>
        <p:spPr>
          <a:xfrm xmlns:a="http://schemas.openxmlformats.org/drawingml/2006/main">
            <a:off x="4257675"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55414C5A-CB59-4672-A57B-1D388C83DF7D}"/>
              </a:ext>
            </a:extLst>
          </p:cNvPr>
          <p:cNvSpPr>
            <a:spLocks xmlns:a="http://schemas.openxmlformats.org/drawingml/2006/main" noGrp="1"/>
          </p:cNvSpPr>
          <p:nvPr/>
        </p:nvSpPr>
        <p:spPr>
          <a:xfrm xmlns:a="http://schemas.openxmlformats.org/drawingml/2006/main">
            <a:off x="4257675" y="2571750"/>
            <a:ext cx="66675" cy="22383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28D2FBA6-55B9-47DA-8221-D9B1D053BD19}"/>
              </a:ext>
            </a:extLst>
          </p:cNvPr>
          <p:cNvSpPr>
            <a:spLocks xmlns:a="http://schemas.openxmlformats.org/drawingml/2006/main" noGrp="1"/>
          </p:cNvSpPr>
          <p:nvPr/>
        </p:nvSpPr>
        <p:spPr>
          <a:xfrm xmlns:a="http://schemas.openxmlformats.org/drawingml/2006/main">
            <a:off x="4486275"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Assess misinformation risk</a:t>
            </a:r>
          </a:p>
        </p:txBody>
      </p:sp>
      <p:sp>
        <p:nvSpPr>
          <p:cNvPr id="12" name="">
            <a:extLst xmlns:a="http://schemas.openxmlformats.org/drawingml/2006/main">
              <a:ext uri="{FF2B5EF4-FFF2-40B4-BE49-F238E27FC236}">
                <a16:creationId xmlns:a16="http://schemas.microsoft.com/office/drawing/2014/main" id="{FA3F093B-35FA-4957-8A1A-5A26A44F7328}"/>
              </a:ext>
            </a:extLst>
          </p:cNvPr>
          <p:cNvSpPr>
            <a:spLocks xmlns:a="http://schemas.openxmlformats.org/drawingml/2006/main" noGrp="1"/>
          </p:cNvSpPr>
          <p:nvPr/>
        </p:nvSpPr>
        <p:spPr>
          <a:xfrm xmlns:a="http://schemas.openxmlformats.org/drawingml/2006/main">
            <a:off x="4486275"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13" name="">
            <a:extLst xmlns:a="http://schemas.openxmlformats.org/drawingml/2006/main">
              <a:ext uri="{FF2B5EF4-FFF2-40B4-BE49-F238E27FC236}">
                <a16:creationId xmlns:a16="http://schemas.microsoft.com/office/drawing/2014/main" id="{06712C0E-ACB5-4FF2-B81B-107A13D84D25}"/>
              </a:ext>
            </a:extLst>
          </p:cNvPr>
          <p:cNvSpPr>
            <a:spLocks xmlns:a="http://schemas.openxmlformats.org/drawingml/2006/main" noGrp="1"/>
          </p:cNvSpPr>
          <p:nvPr/>
        </p:nvSpPr>
        <p:spPr>
          <a:xfrm xmlns:a="http://schemas.openxmlformats.org/drawingml/2006/main">
            <a:off x="782955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FBB62BFF-B9A0-4619-9475-5C828D398059}"/>
              </a:ext>
            </a:extLst>
          </p:cNvPr>
          <p:cNvSpPr>
            <a:spLocks xmlns:a="http://schemas.openxmlformats.org/drawingml/2006/main" noGrp="1"/>
          </p:cNvSpPr>
          <p:nvPr/>
        </p:nvSpPr>
        <p:spPr>
          <a:xfrm xmlns:a="http://schemas.openxmlformats.org/drawingml/2006/main">
            <a:off x="782955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5" name="">
            <a:extLst xmlns:a="http://schemas.openxmlformats.org/drawingml/2006/main">
              <a:ext uri="{FF2B5EF4-FFF2-40B4-BE49-F238E27FC236}">
                <a16:creationId xmlns:a16="http://schemas.microsoft.com/office/drawing/2014/main" id="{E7078A4B-73C4-405A-90C8-DB7E949FC639}"/>
              </a:ext>
            </a:extLst>
          </p:cNvPr>
          <p:cNvSpPr>
            <a:spLocks xmlns:a="http://schemas.openxmlformats.org/drawingml/2006/main" noGrp="1"/>
          </p:cNvSpPr>
          <p:nvPr/>
        </p:nvSpPr>
        <p:spPr>
          <a:xfrm xmlns:a="http://schemas.openxmlformats.org/drawingml/2006/main">
            <a:off x="805815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Evaluate service access impacts</a:t>
            </a:r>
          </a:p>
        </p:txBody>
      </p:sp>
      <p:sp>
        <p:nvSpPr>
          <p:cNvPr id="16" name="">
            <a:extLst xmlns:a="http://schemas.openxmlformats.org/drawingml/2006/main">
              <a:ext uri="{FF2B5EF4-FFF2-40B4-BE49-F238E27FC236}">
                <a16:creationId xmlns:a16="http://schemas.microsoft.com/office/drawing/2014/main" id="{7BCDE2D0-0096-49A0-BC77-2032B50DB7D8}"/>
              </a:ext>
            </a:extLst>
          </p:cNvPr>
          <p:cNvSpPr>
            <a:spLocks xmlns:a="http://schemas.openxmlformats.org/drawingml/2006/main" noGrp="1"/>
          </p:cNvSpPr>
          <p:nvPr/>
        </p:nvSpPr>
        <p:spPr>
          <a:xfrm xmlns:a="http://schemas.openxmlformats.org/drawingml/2006/main">
            <a:off x="805815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17" name="">
            <a:extLst xmlns:a="http://schemas.openxmlformats.org/drawingml/2006/main">
              <a:ext uri="{FF2B5EF4-FFF2-40B4-BE49-F238E27FC236}">
                <a16:creationId xmlns:a16="http://schemas.microsoft.com/office/drawing/2014/main" id="{01BD970D-4A7E-444F-8EF0-42EF692D0941}"/>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as a Digital Determinant of Health</a:t>
            </a:r>
          </a:p>
        </p:txBody>
      </p:sp>
      <p:sp>
        <p:nvSpPr>
          <p:cNvPr id="18" name="">
            <a:extLst xmlns:a="http://schemas.openxmlformats.org/drawingml/2006/main">
              <a:ext uri="{FF2B5EF4-FFF2-40B4-BE49-F238E27FC236}">
                <a16:creationId xmlns:a16="http://schemas.microsoft.com/office/drawing/2014/main" id="{CE92E658-CF2D-44BC-909F-97559080898A}"/>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06</a:t>
            </a:r>
          </a:p>
        </p:txBody>
      </p:sp>
    </p:spTree>
    <p:extLst>
      <p:ext uri="{BB962C8B-B14F-4D97-AF65-F5344CB8AC3E}">
        <p14:creationId xmlns:p14="http://schemas.microsoft.com/office/powerpoint/2010/main" val="2078468992"/>
      </p:ext>
    </p:extLst>
  </p:cSld>
</p:sld>
</file>

<file path=ppt/slides/slide7.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B4EF762-BCE7-4490-9354-16BBE6A60F79}"/>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D2BE21B8-703A-46CB-91D9-6A62F6AB2068}"/>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Facilitated discussion and exercise</a:t>
            </a:r>
          </a:p>
        </p:txBody>
      </p:sp>
      <p:sp>
        <p:nvSpPr>
          <p:cNvPr id="3" name="">
            <a:extLst xmlns:a="http://schemas.openxmlformats.org/drawingml/2006/main">
              <a:ext uri="{FF2B5EF4-FFF2-40B4-BE49-F238E27FC236}">
                <a16:creationId xmlns:a16="http://schemas.microsoft.com/office/drawing/2014/main" id="{8CD25256-85D9-42CE-AE64-2CD5518632C8}"/>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153DC5C8-790E-4475-ACE0-C3FA5D8385D2}"/>
              </a:ext>
            </a:extLst>
          </p:cNvPr>
          <p:cNvSpPr>
            <a:spLocks xmlns:a="http://schemas.openxmlformats.org/drawingml/2006/main" noGrp="1"/>
          </p:cNvSpPr>
          <p:nvPr/>
        </p:nvSpPr>
        <p:spPr>
          <a:xfrm xmlns:a="http://schemas.openxmlformats.org/drawingml/2006/main">
            <a:off x="685800"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839D5F90-FF9D-426C-9E67-2F96535891AE}"/>
              </a:ext>
            </a:extLst>
          </p:cNvPr>
          <p:cNvSpPr>
            <a:spLocks xmlns:a="http://schemas.openxmlformats.org/drawingml/2006/main" noGrp="1"/>
          </p:cNvSpPr>
          <p:nvPr/>
        </p:nvSpPr>
        <p:spPr>
          <a:xfrm xmlns:a="http://schemas.openxmlformats.org/drawingml/2006/main">
            <a:off x="685800" y="1809750"/>
            <a:ext cx="66675" cy="2952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6" name="">
            <a:extLst xmlns:a="http://schemas.openxmlformats.org/drawingml/2006/main">
              <a:ext uri="{FF2B5EF4-FFF2-40B4-BE49-F238E27FC236}">
                <a16:creationId xmlns:a16="http://schemas.microsoft.com/office/drawing/2014/main" id="{E7C076C9-1021-4A9E-B690-C124E26A7965}"/>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Discussion questions</a:t>
            </a:r>
          </a:p>
        </p:txBody>
      </p:sp>
      <p:sp>
        <p:nvSpPr>
          <p:cNvPr id="7" name="">
            <a:extLst xmlns:a="http://schemas.openxmlformats.org/drawingml/2006/main">
              <a:ext uri="{FF2B5EF4-FFF2-40B4-BE49-F238E27FC236}">
                <a16:creationId xmlns:a16="http://schemas.microsoft.com/office/drawing/2014/main" id="{38BCBD7C-D4FD-4E15-A8FD-122291FCDF5B}"/>
              </a:ext>
            </a:extLst>
          </p:cNvPr>
          <p:cNvSpPr>
            <a:spLocks xmlns:a="http://schemas.openxmlformats.org/drawingml/2006/main" noGrp="1"/>
          </p:cNvSpPr>
          <p:nvPr/>
        </p:nvSpPr>
        <p:spPr>
          <a:xfrm xmlns:a="http://schemas.openxmlformats.org/drawingml/2006/main">
            <a:off x="914400"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Who might be excluded by the data, interface, language, channel, or workflow? Does the AI-supported process create or reduce barriers to services? What non-digital or non-AI alternative is available for important services?</a:t>
            </a:r>
          </a:p>
        </p:txBody>
      </p:sp>
      <p:sp>
        <p:nvSpPr>
          <p:cNvPr id="8" name="">
            <a:extLst xmlns:a="http://schemas.openxmlformats.org/drawingml/2006/main">
              <a:ext uri="{FF2B5EF4-FFF2-40B4-BE49-F238E27FC236}">
                <a16:creationId xmlns:a16="http://schemas.microsoft.com/office/drawing/2014/main" id="{14F6CB83-E9F0-4FBF-A050-2910948D2670}"/>
              </a:ext>
            </a:extLst>
          </p:cNvPr>
          <p:cNvSpPr>
            <a:spLocks xmlns:a="http://schemas.openxmlformats.org/drawingml/2006/main" noGrp="1"/>
          </p:cNvSpPr>
          <p:nvPr/>
        </p:nvSpPr>
        <p:spPr>
          <a:xfrm xmlns:a="http://schemas.openxmlformats.org/drawingml/2006/main">
            <a:off x="5953125"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5E001AF5-C895-474B-BD55-C8B00F954154}"/>
              </a:ext>
            </a:extLst>
          </p:cNvPr>
          <p:cNvSpPr>
            <a:spLocks xmlns:a="http://schemas.openxmlformats.org/drawingml/2006/main" noGrp="1"/>
          </p:cNvSpPr>
          <p:nvPr/>
        </p:nvSpPr>
        <p:spPr>
          <a:xfrm xmlns:a="http://schemas.openxmlformats.org/drawingml/2006/main">
            <a:off x="5953125" y="1809750"/>
            <a:ext cx="66675" cy="2952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0" name="">
            <a:extLst xmlns:a="http://schemas.openxmlformats.org/drawingml/2006/main">
              <a:ext uri="{FF2B5EF4-FFF2-40B4-BE49-F238E27FC236}">
                <a16:creationId xmlns:a16="http://schemas.microsoft.com/office/drawing/2014/main" id="{3B56C778-DD7B-4F43-89C4-645E258ACBBC}"/>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Training exercise</a:t>
            </a:r>
          </a:p>
        </p:txBody>
      </p:sp>
      <p:sp>
        <p:nvSpPr>
          <p:cNvPr id="11" name="">
            <a:extLst xmlns:a="http://schemas.openxmlformats.org/drawingml/2006/main">
              <a:ext uri="{FF2B5EF4-FFF2-40B4-BE49-F238E27FC236}">
                <a16:creationId xmlns:a16="http://schemas.microsoft.com/office/drawing/2014/main" id="{546CAAB0-F3FB-4C83-9DCB-11138FE30C0F}"/>
              </a:ext>
            </a:extLst>
          </p:cNvPr>
          <p:cNvSpPr>
            <a:spLocks xmlns:a="http://schemas.openxmlformats.org/drawingml/2006/main" noGrp="1"/>
          </p:cNvSpPr>
          <p:nvPr/>
        </p:nvSpPr>
        <p:spPr>
          <a:xfrm xmlns:a="http://schemas.openxmlformats.org/drawingml/2006/main">
            <a:off x="6181725"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Review a public-facing AI use case and identify access barriers related to language, disability, broadband, device access, literacy, rural context, trust, and data representation.</a:t>
            </a:r>
          </a:p>
        </p:txBody>
      </p:sp>
      <p:sp>
        <p:nvSpPr>
          <p:cNvPr id="12" name="">
            <a:extLst xmlns:a="http://schemas.openxmlformats.org/drawingml/2006/main">
              <a:ext uri="{FF2B5EF4-FFF2-40B4-BE49-F238E27FC236}">
                <a16:creationId xmlns:a16="http://schemas.microsoft.com/office/drawing/2014/main" id="{019F97D3-6666-4826-885D-C8D8B7E629D2}"/>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as a Digital Determinant of Health</a:t>
            </a:r>
          </a:p>
        </p:txBody>
      </p:sp>
      <p:sp>
        <p:nvSpPr>
          <p:cNvPr id="13" name="">
            <a:extLst xmlns:a="http://schemas.openxmlformats.org/drawingml/2006/main">
              <a:ext uri="{FF2B5EF4-FFF2-40B4-BE49-F238E27FC236}">
                <a16:creationId xmlns:a16="http://schemas.microsoft.com/office/drawing/2014/main" id="{3FF422C4-DBE1-46D6-BBAA-975FAA074475}"/>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07</a:t>
            </a:r>
          </a:p>
        </p:txBody>
      </p:sp>
    </p:spTree>
    <p:extLst>
      <p:ext uri="{BB962C8B-B14F-4D97-AF65-F5344CB8AC3E}">
        <p14:creationId xmlns:p14="http://schemas.microsoft.com/office/powerpoint/2010/main" val="27137943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9BB7E8D-08CC-45AC-A328-000E2477C8B9}"/>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02425997-3348-49B1-9740-E70E2BD29711}"/>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Next steps and resources</a:t>
            </a:r>
          </a:p>
        </p:txBody>
      </p:sp>
      <p:sp>
        <p:nvSpPr>
          <p:cNvPr id="3" name="">
            <a:extLst xmlns:a="http://schemas.openxmlformats.org/drawingml/2006/main">
              <a:ext uri="{FF2B5EF4-FFF2-40B4-BE49-F238E27FC236}">
                <a16:creationId xmlns:a16="http://schemas.microsoft.com/office/drawing/2014/main" id="{2323910D-CF11-43F5-8A88-D9F7A560EA29}"/>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DEF3E77E-2295-4A2E-90FC-B80755FD8EDF}"/>
              </a:ext>
            </a:extLst>
          </p:cNvPr>
          <p:cNvSpPr>
            <a:spLocks xmlns:a="http://schemas.openxmlformats.org/drawingml/2006/main" noGrp="1"/>
          </p:cNvSpPr>
          <p:nvPr/>
        </p:nvSpPr>
        <p:spPr>
          <a:xfrm xmlns:a="http://schemas.openxmlformats.org/drawingml/2006/main">
            <a:off x="685800" y="1809750"/>
            <a:ext cx="4762500" cy="2095500"/>
          </a:xfrm>
          <a:prstGeom xmlns:a="http://schemas.openxmlformats.org/drawingml/2006/main" prst="roundRect">
            <a:avLst>
              <a:gd name="adj" fmla="val 5455"/>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9C49602D-A94B-4BFE-8280-2FCC6D6BA750}"/>
              </a:ext>
            </a:extLst>
          </p:cNvPr>
          <p:cNvSpPr>
            <a:spLocks xmlns:a="http://schemas.openxmlformats.org/drawingml/2006/main" noGrp="1"/>
          </p:cNvSpPr>
          <p:nvPr/>
        </p:nvSpPr>
        <p:spPr>
          <a:xfrm xmlns:a="http://schemas.openxmlformats.org/drawingml/2006/main">
            <a:off x="685800" y="1809750"/>
            <a:ext cx="66675" cy="209550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097E59C2-DDDA-4F11-9103-F94B263C2D60}"/>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Apply the lesson</a:t>
            </a:r>
          </a:p>
        </p:txBody>
      </p:sp>
      <p:sp>
        <p:nvSpPr>
          <p:cNvPr id="7" name="">
            <a:extLst xmlns:a="http://schemas.openxmlformats.org/drawingml/2006/main">
              <a:ext uri="{FF2B5EF4-FFF2-40B4-BE49-F238E27FC236}">
                <a16:creationId xmlns:a16="http://schemas.microsoft.com/office/drawing/2014/main" id="{3CA06516-99D2-44DE-AD52-CF6B7D69AC0E}"/>
              </a:ext>
            </a:extLst>
          </p:cNvPr>
          <p:cNvSpPr>
            <a:spLocks xmlns:a="http://schemas.openxmlformats.org/drawingml/2006/main" noGrp="1"/>
          </p:cNvSpPr>
          <p:nvPr/>
        </p:nvSpPr>
        <p:spPr>
          <a:xfrm xmlns:a="http://schemas.openxmlformats.org/drawingml/2006/main">
            <a:off x="914400" y="2457450"/>
            <a:ext cx="43053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Use this topic with Plays 1, 4, 7, 13 and Tools 3, 22, 19. Turn the discussion into a documented question, decision, gap, or implementation artifact.</a:t>
            </a:r>
          </a:p>
        </p:txBody>
      </p:sp>
      <p:sp>
        <p:nvSpPr>
          <p:cNvPr id="8" name="">
            <a:extLst xmlns:a="http://schemas.openxmlformats.org/drawingml/2006/main">
              <a:ext uri="{FF2B5EF4-FFF2-40B4-BE49-F238E27FC236}">
                <a16:creationId xmlns:a16="http://schemas.microsoft.com/office/drawing/2014/main" id="{37DEB397-20A2-4FF6-8808-5CBC59249819}"/>
              </a:ext>
            </a:extLst>
          </p:cNvPr>
          <p:cNvSpPr>
            <a:spLocks xmlns:a="http://schemas.openxmlformats.org/drawingml/2006/main" noGrp="1"/>
          </p:cNvSpPr>
          <p:nvPr/>
        </p:nvSpPr>
        <p:spPr>
          <a:xfrm xmlns:a="http://schemas.openxmlformats.org/drawingml/2006/main">
            <a:off x="5953125" y="1809750"/>
            <a:ext cx="4762500" cy="3048000"/>
          </a:xfrm>
          <a:prstGeom xmlns:a="http://schemas.openxmlformats.org/drawingml/2006/main" prst="roundRect">
            <a:avLst>
              <a:gd name="adj" fmla="val 3750"/>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2CB23E88-6CDE-4675-B54A-22317D2094A1}"/>
              </a:ext>
            </a:extLst>
          </p:cNvPr>
          <p:cNvSpPr>
            <a:spLocks xmlns:a="http://schemas.openxmlformats.org/drawingml/2006/main" noGrp="1"/>
          </p:cNvSpPr>
          <p:nvPr/>
        </p:nvSpPr>
        <p:spPr>
          <a:xfrm xmlns:a="http://schemas.openxmlformats.org/drawingml/2006/main">
            <a:off x="5953125" y="1809750"/>
            <a:ext cx="66675" cy="304800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0" name="">
            <a:extLst xmlns:a="http://schemas.openxmlformats.org/drawingml/2006/main">
              <a:ext uri="{FF2B5EF4-FFF2-40B4-BE49-F238E27FC236}">
                <a16:creationId xmlns:a16="http://schemas.microsoft.com/office/drawing/2014/main" id="{B311D633-6545-48FC-88F1-91F216204F6F}"/>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References and resources</a:t>
            </a:r>
          </a:p>
        </p:txBody>
      </p:sp>
      <p:sp>
        <p:nvSpPr>
          <p:cNvPr id="11" name="">
            <a:extLst xmlns:a="http://schemas.openxmlformats.org/drawingml/2006/main">
              <a:ext uri="{FF2B5EF4-FFF2-40B4-BE49-F238E27FC236}">
                <a16:creationId xmlns:a16="http://schemas.microsoft.com/office/drawing/2014/main" id="{4B6F2F56-42EA-4E3A-8283-D07CD3ABBC6D}"/>
              </a:ext>
            </a:extLst>
          </p:cNvPr>
          <p:cNvSpPr>
            <a:spLocks xmlns:a="http://schemas.openxmlformats.org/drawingml/2006/main" noGrp="1"/>
          </p:cNvSpPr>
          <p:nvPr/>
        </p:nvSpPr>
        <p:spPr>
          <a:xfrm xmlns:a="http://schemas.openxmlformats.org/drawingml/2006/main">
            <a:off x="6181725" y="2457450"/>
            <a:ext cx="4305300" cy="2247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HHS Civil Rights and AI: Civil rights context for AI-enabled access, language, disability, and service equity concerns. ASPPH AI Framework Report: Human-centered AI, missing voices, public trust, and equity framing. CDC Health Equity: Public.</a:t>
            </a:r>
          </a:p>
        </p:txBody>
      </p:sp>
      <p:sp>
        <p:nvSpPr>
          <p:cNvPr id="12" name="">
            <a:extLst xmlns:a="http://schemas.openxmlformats.org/drawingml/2006/main">
              <a:ext uri="{FF2B5EF4-FFF2-40B4-BE49-F238E27FC236}">
                <a16:creationId xmlns:a16="http://schemas.microsoft.com/office/drawing/2014/main" id="{614DD4C0-7B7B-4D23-8D77-DDA300C49328}"/>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as a Digital Determinant of Health</a:t>
            </a:r>
          </a:p>
        </p:txBody>
      </p:sp>
      <p:sp>
        <p:nvSpPr>
          <p:cNvPr id="13" name="">
            <a:extLst xmlns:a="http://schemas.openxmlformats.org/drawingml/2006/main">
              <a:ext uri="{FF2B5EF4-FFF2-40B4-BE49-F238E27FC236}">
                <a16:creationId xmlns:a16="http://schemas.microsoft.com/office/drawing/2014/main" id="{5683F0B9-7C8E-441F-9850-444A171A2DEC}"/>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08</a:t>
            </a:r>
          </a:p>
        </p:txBody>
      </p:sp>
    </p:spTree>
    <p:extLst>
      <p:ext uri="{BB962C8B-B14F-4D97-AF65-F5344CB8AC3E}">
        <p14:creationId xmlns:p14="http://schemas.microsoft.com/office/powerpoint/2010/main" val="7668893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2026-07-02T16:03:00.5070000Z</dcterms:created>
  <dcterms:modified xsi:type="dcterms:W3CDTF">2026-07-02T16:03:00.5070000Z</dcterms:modified>
</coreProperties>
</file>