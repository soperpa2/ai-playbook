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330 Cloud, Containers, and Secure Deployment Basics
Many AI tools are deployed in cloud environments or packaged in containers that make applications easier to move, scale, and maintain. Public health staff do not need to become cloud engineers, but they need enough technical literacy to understand hosting, identity and access management, logging, encryption, secrets management, backup, disaster recovery, and secure deployment responsibilities. This module connects deployment choices to public health continuity, privacy, cybersecurity, and sustainability.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Technical Architecture Track
Appears in tracks: operations-data-quality
Many AI tools are deployed in cloud environments or packaged in containers that make applications easier to move, scale, and maintain. Public health staff do not need to become cloud engineers, but they need enough technical literacy to understand hosting, identity and access management, logging, encryption, secrets management, backup, disaster recovery, and secure deployment responsibilities. This module connects deployment choices to public health continuity, privacy, cybersecurity, and sustainability.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cloud, containers, and secure deployment basics in public health AI work.
Identify the technical, operational, privacy, security, equity, and governance issues associated with the topic.
Apply the topic to a real or realistic public health workflow, system, or implementation scenario.
Recognize common failure modes that can affect safety, accuracy, trust, workflow fit, or sustainability.
Identify practical guardrails that should be documented before implementation.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secure deployment readiness worksheet that can support readiness assessment, governance review, procurement, implementation, or monitoring.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Many AI tools are deployed in cloud environments or packaged in containers that make applications easier to move, scale, and maintain. Public health staff do not need to become cloud engineers, but they need enough technical literacy to understand hosting, identity and access management, logging, encryption, secrets management, backup, disaster recovery, and secure deployment responsibilities. This module connects deployment choices to public health continuity, privacy, cybersecurity, and sustainability.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Cloud, Containers, and Secure Deployment Basics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Cloud computing provides remote infrastructure, platforms, and services that can host data pipelines, analytics environments, AI tools, and public health applications. Cloud deployment can improve scalability and resilience, but only when identity, access, logging, encryption, and governance are configured correctly.
Containers package software and its dependencies so that it can run consistently across environments. Containers can improve reproducibility and deployment speed, but they must be scanned, patched, configured, and monitored. Container use does not remove the need for secure architecture.
Identity and access management defines who or what can access systems, data, and actions. In AI workflows, IAM must include human users, service accounts, APIs, agents, and automation tools. Poorly designed access can expose sensitive data or allow unauthorized write-back to systems of record.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may deploy an internal RAG assistant in a cloud environment so staff can search approved guidance and protocols. The tool may be low risk if it uses public documents, but it becomes higher risk if it retrieves sensitive policies, case notes, or internal operational documents. Secure deployment requires access controls, document-level permissions, logging, monitoring, backup, and a process for removing outdated content.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Secure deployment begins with environment separation. Development, testing, staging, and production environments should be clearly separated so experimental tools do not affect operational systems. Sensitive production data should not be copied into lower environments unless approved controls are in place.
Logging and monitoring are central to deployment safety. Agencies should know when systems are accessed, when APIs fail, when models produce errors, when unusual activity occurs, and when infrastructure changes are made. Logs should be protected because they can contain sensitive information.
Secrets management is essential for AI integrations. API keys, database passwords, certificates, and tokens should not be embedded in code, prompts, shared documents, or configuration files that are not secured. A compromised secret can allow unauthorized access to data or actions across connected systems.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one current or proposed AI workflow in your agency?
What decisions, data sources, users, or partners would be affected if this area is poorly designed?
What evidence would governance reviewers need before approving the workflow?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safeguards should be required before pilot testing?
Who owns ongoing monitoring and review?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secure deployment readiness worksheet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completed secure deployment readiness worksheet. It should be specific to a public health workflow and should include technical dependencies, governance questions, human review expectations, monitoring indicators, and unresolved risks.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completed secure deployment readiness worksheet. It should be specific to a public health workflow and should include technical dependencies, governance questions, human review expectations, monitoring indicators, and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address cloud, containers, and secure deployment basics before deployment?
2. Which practice best supports responsible implementation?
3. Which statement best describes a common failure mode?
4. What should be included in the practical artifact for this module?
5. When should the issue be escalated for governance or leadership review?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Risk Management Framework: https://www.nist.gov/itl/ai-risk-management-framework
NIST Cybersecurity Framework and cloud security guidance
NIST Generative AI Profile: https://www.nist.gov/publications/artificial-intelligence-risk-management-framework-generative-artificial-intelligence
CDC Public Health Data Strategy and Data Modernization resources: https://www.cdc.gov/public-health-data-strategy/php/about/index.html
OWASP Top 10 for LLM Applications, when security or AI integrations are relevant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privacy, cybersecurity, data governance, procurement, and records management policies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330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Cloud, Containers, and Secure Deployment Basics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Many AI tools are deployed in cloud environments or packaged in containers that make applications easier to move,.</a:t>
            </a:r>
            <a:endParaRPr lang="en-US" sz="2100" dirty="0"/>
          </a:p>
          <a:p>
            <a:r>
              <a:rPr lang="en-US" sz="2100" dirty="0">
                <a:solidFill>
                  <a:srgbClr val="17364A"/>
                </a:solidFill>
                <a:latin typeface="Aptos" pitchFamily="34" charset="0"/>
                <a:ea typeface="Aptos" pitchFamily="34" charset="-122"/>
                <a:cs typeface="Aptos" pitchFamily="34" charset="-120"/>
              </a:rPr>
              <a:t>Public health staff do not need to become cloud engineers, but they need enough technical literacy to understand.</a:t>
            </a:r>
            <a:endParaRPr lang="en-US" sz="2100" dirty="0"/>
          </a:p>
          <a:p>
            <a:r>
              <a:rPr lang="en-US" sz="2100" dirty="0">
                <a:solidFill>
                  <a:srgbClr val="17364A"/>
                </a:solidFill>
                <a:latin typeface="Aptos" pitchFamily="34" charset="0"/>
                <a:ea typeface="Aptos" pitchFamily="34" charset="-122"/>
                <a:cs typeface="Aptos" pitchFamily="34" charset="-120"/>
              </a:rPr>
              <a:t>This module connects deployment choices to public health continuity, privacy, cybersecurity, and sustainability.</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Technical Architecture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operations-data-quality</a:t>
            </a:r>
            <a:endParaRPr lang="en-US" sz="155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Read the module for shared vocabulary and context.</a:t>
            </a:r>
            <a:endParaRPr lang="en-US" sz="1380" dirty="0"/>
          </a:p>
          <a:p>
            <a:r>
              <a:rPr lang="en-US" sz="1380" dirty="0">
                <a:solidFill>
                  <a:srgbClr val="17364A"/>
                </a:solidFill>
                <a:latin typeface="Aptos" pitchFamily="34" charset="0"/>
                <a:ea typeface="Aptos" pitchFamily="34" charset="-122"/>
                <a:cs typeface="Aptos" pitchFamily="34" charset="-120"/>
              </a:rPr>
              <a:t>Complete the practical exercise to apply the concept.</a:t>
            </a:r>
            <a:endParaRPr lang="en-US" sz="1380" dirty="0"/>
          </a:p>
          <a:p>
            <a:r>
              <a:rPr lang="en-US" sz="1380" dirty="0">
                <a:solidFill>
                  <a:srgbClr val="17364A"/>
                </a:solidFill>
                <a:latin typeface="Aptos" pitchFamily="34" charset="0"/>
                <a:ea typeface="Aptos" pitchFamily="34" charset="-122"/>
                <a:cs typeface="Aptos" pitchFamily="34" charset="-120"/>
              </a:rPr>
              <a:t>Use the notes and references for deeper review.</a:t>
            </a:r>
            <a:endParaRPr lang="en-US" sz="13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Locate the decision point in the playbook sequence.</a:t>
            </a:r>
            <a:endParaRPr lang="en-US" sz="1380" dirty="0"/>
          </a:p>
          <a:p>
            <a:r>
              <a:rPr lang="en-US" sz="1380" dirty="0">
                <a:solidFill>
                  <a:srgbClr val="17364A"/>
                </a:solidFill>
                <a:latin typeface="Aptos" pitchFamily="34" charset="0"/>
                <a:ea typeface="Aptos" pitchFamily="34" charset="-122"/>
                <a:cs typeface="Aptos" pitchFamily="34" charset="-120"/>
              </a:rPr>
              <a:t>Identify who should participate in the work.</a:t>
            </a:r>
            <a:endParaRPr lang="en-US" sz="1380" dirty="0"/>
          </a:p>
          <a:p>
            <a:r>
              <a:rPr lang="en-US" sz="1380" dirty="0">
                <a:solidFill>
                  <a:srgbClr val="17364A"/>
                </a:solidFill>
                <a:latin typeface="Aptos" pitchFamily="34" charset="0"/>
                <a:ea typeface="Aptos" pitchFamily="34" charset="-122"/>
                <a:cs typeface="Aptos" pitchFamily="34" charset="-120"/>
              </a:rPr>
              <a:t>Document the review, approval, or implementation step.</a:t>
            </a:r>
            <a:endParaRPr lang="en-US" sz="13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this tool to complete or strengthen.</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Use a tool when no comparable local process exists.</a:t>
            </a:r>
            <a:endParaRPr lang="en-US" sz="1380" dirty="0"/>
          </a:p>
          <a:p>
            <a:r>
              <a:rPr lang="en-US" sz="1380" dirty="0">
                <a:solidFill>
                  <a:srgbClr val="17364A"/>
                </a:solidFill>
                <a:latin typeface="Aptos" pitchFamily="34" charset="0"/>
                <a:ea typeface="Aptos" pitchFamily="34" charset="-122"/>
                <a:cs typeface="Aptos" pitchFamily="34" charset="-120"/>
              </a:rPr>
              <a:t>Adapt existing department templates when they already fit the purpose.</a:t>
            </a:r>
            <a:endParaRPr lang="en-US" sz="1380" dirty="0"/>
          </a:p>
          <a:p>
            <a:r>
              <a:rPr lang="en-US" sz="1380" dirty="0">
                <a:solidFill>
                  <a:srgbClr val="17364A"/>
                </a:solidFill>
                <a:latin typeface="Aptos" pitchFamily="34" charset="0"/>
                <a:ea typeface="Aptos" pitchFamily="34" charset="-122"/>
                <a:cs typeface="Aptos" pitchFamily="34" charset="-120"/>
              </a:rPr>
              <a:t>Save the completed artifact as evidence of the decision.</a:t>
            </a:r>
            <a:endParaRPr lang="en-US" sz="13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cloud, containers, and secure deployment basics in public health AI work.</a:t>
            </a:r>
            <a:endParaRPr lang="en-US" sz="2100" dirty="0"/>
          </a:p>
          <a:p>
            <a:r>
              <a:rPr lang="en-US" sz="2100" dirty="0">
                <a:solidFill>
                  <a:srgbClr val="17364A"/>
                </a:solidFill>
                <a:latin typeface="Aptos" pitchFamily="34" charset="0"/>
                <a:ea typeface="Aptos" pitchFamily="34" charset="-122"/>
                <a:cs typeface="Aptos" pitchFamily="34" charset="-120"/>
              </a:rPr>
              <a:t>Identify the technical, operational, privacy, security, equity, and governance issues associated with.</a:t>
            </a:r>
            <a:endParaRPr lang="en-US" sz="2100" dirty="0"/>
          </a:p>
          <a:p>
            <a:r>
              <a:rPr lang="en-US" sz="2100" dirty="0">
                <a:solidFill>
                  <a:srgbClr val="17364A"/>
                </a:solidFill>
                <a:latin typeface="Aptos" pitchFamily="34" charset="0"/>
                <a:ea typeface="Aptos" pitchFamily="34" charset="-122"/>
                <a:cs typeface="Aptos" pitchFamily="34" charset="-120"/>
              </a:rPr>
              <a:t>Apply the topic to a real or realistic public health workflow, system, or implementation scenario.</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cloud, containers, and secure deployment basics in public health AI work.</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Identify the technical, operational, privacy, security, equity, and governance issues.</a:t>
            </a:r>
            <a:endParaRPr lang="en-US" sz="1380" dirty="0"/>
          </a:p>
          <a:p>
            <a:r>
              <a:rPr lang="en-US" sz="1380" dirty="0">
                <a:solidFill>
                  <a:srgbClr val="17364A"/>
                </a:solidFill>
                <a:latin typeface="Aptos" pitchFamily="34" charset="0"/>
                <a:ea typeface="Aptos" pitchFamily="34" charset="-122"/>
                <a:cs typeface="Aptos" pitchFamily="34" charset="-120"/>
              </a:rPr>
              <a:t>Recognize common failure modes that can affect safety, accuracy, trust, workflow fit, or.</a:t>
            </a:r>
            <a:endParaRPr lang="en-US" sz="1380" dirty="0"/>
          </a:p>
          <a:p>
            <a:r>
              <a:rPr lang="en-US" sz="1380" dirty="0">
                <a:solidFill>
                  <a:srgbClr val="17364A"/>
                </a:solidFill>
                <a:latin typeface="Aptos" pitchFamily="34" charset="0"/>
                <a:ea typeface="Aptos" pitchFamily="34" charset="-122"/>
                <a:cs typeface="Aptos" pitchFamily="34" charset="-120"/>
              </a:rPr>
              <a:t>Identify practical guardrails that should be documented before implementation.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 secure deployment readiness worksheet that can support readiness assessment, governance.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 secure deployment readiness worksheet that can support readiness assessment, governance.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Produce a secure deployment readiness worksheet that can support readiness assessment,.</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Many AI tools are deployed in cloud environments or packaged in containers that make applications.</a:t>
            </a:r>
            <a:endParaRPr lang="en-US" sz="2100" dirty="0"/>
          </a:p>
          <a:p>
            <a:r>
              <a:rPr lang="en-US" sz="2100" dirty="0">
                <a:solidFill>
                  <a:srgbClr val="17364A"/>
                </a:solidFill>
                <a:latin typeface="Aptos" pitchFamily="34" charset="0"/>
                <a:ea typeface="Aptos" pitchFamily="34" charset="-122"/>
                <a:cs typeface="Aptos" pitchFamily="34" charset="-120"/>
              </a:rPr>
              <a:t>Public health staff do not need to become cloud engineers, but they need enough technical literacy to.</a:t>
            </a:r>
            <a:endParaRPr lang="en-US" sz="2100" dirty="0"/>
          </a:p>
          <a:p>
            <a:r>
              <a:rPr lang="en-US" sz="2100" dirty="0">
                <a:solidFill>
                  <a:srgbClr val="17364A"/>
                </a:solidFill>
                <a:latin typeface="Aptos" pitchFamily="34" charset="0"/>
                <a:ea typeface="Aptos" pitchFamily="34" charset="-122"/>
                <a:cs typeface="Aptos" pitchFamily="34" charset="-120"/>
              </a:rPr>
              <a:t>This module connects deployment choices to public health continuity, privacy, cybersecurity, and.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Many AI tools are deployed in cloud environments or packaged in containers that make applications.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Many AI tools are deployed in cloud environments or packaged in containers that make.</a:t>
            </a:r>
            <a:endParaRPr lang="en-US" sz="1380" dirty="0"/>
          </a:p>
          <a:p>
            <a:r>
              <a:rPr lang="en-US" sz="1380" dirty="0">
                <a:solidFill>
                  <a:srgbClr val="17364A"/>
                </a:solidFill>
                <a:latin typeface="Aptos" pitchFamily="34" charset="0"/>
                <a:ea typeface="Aptos" pitchFamily="34" charset="-122"/>
                <a:cs typeface="Aptos" pitchFamily="34" charset="-120"/>
              </a:rPr>
              <a:t>Public health staff do not need to become cloud engineers, but they need enough technical.</a:t>
            </a:r>
            <a:endParaRPr lang="en-US" sz="1380" dirty="0"/>
          </a:p>
          <a:p>
            <a:r>
              <a:rPr lang="en-US" sz="1380" dirty="0">
                <a:solidFill>
                  <a:srgbClr val="17364A"/>
                </a:solidFill>
                <a:latin typeface="Aptos" pitchFamily="34" charset="0"/>
                <a:ea typeface="Aptos" pitchFamily="34" charset="-122"/>
                <a:cs typeface="Aptos" pitchFamily="34" charset="-120"/>
              </a:rPr>
              <a:t>This module connects deployment choices to public health continuity, privacy,.</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2100" dirty="0"/>
          </a:p>
          <a:p>
            <a:r>
              <a:rPr lang="en-US" sz="2100" dirty="0">
                <a:solidFill>
                  <a:srgbClr val="17364A"/>
                </a:solidFill>
                <a:latin typeface="Aptos" pitchFamily="34" charset="0"/>
                <a:ea typeface="Aptos" pitchFamily="34" charset="-122"/>
                <a:cs typeface="Aptos" pitchFamily="34" charset="-120"/>
              </a:rPr>
              <a:t>It does not replace legal, privacy, procurement, civil rights, records, or agency policy review.</a:t>
            </a:r>
            <a:endParaRPr lang="en-US" sz="2100" dirty="0"/>
          </a:p>
          <a:p>
            <a:r>
              <a:rPr lang="en-US" sz="2100" dirty="0">
                <a:solidFill>
                  <a:srgbClr val="17364A"/>
                </a:solidFill>
                <a:latin typeface="Aptos" pitchFamily="34" charset="0"/>
                <a:ea typeface="Aptos" pitchFamily="34" charset="-122"/>
                <a:cs typeface="Aptos" pitchFamily="34" charset="-120"/>
              </a:rPr>
              <a:t>Learners should confirm applicable requirements in their own jurisdiction and organization before.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380" dirty="0"/>
          </a:p>
          <a:p>
            <a:r>
              <a:rPr lang="en-US" sz="1380" dirty="0">
                <a:solidFill>
                  <a:srgbClr val="17364A"/>
                </a:solidFill>
                <a:latin typeface="Aptos" pitchFamily="34" charset="0"/>
                <a:ea typeface="Aptos" pitchFamily="34" charset="-122"/>
                <a:cs typeface="Aptos" pitchFamily="34" charset="-120"/>
              </a:rPr>
              <a:t>It does not replace legal, privacy, procurement, civil rights, records, or agency policy.</a:t>
            </a:r>
            <a:endParaRPr lang="en-US" sz="1380" dirty="0"/>
          </a:p>
          <a:p>
            <a:r>
              <a:rPr lang="en-US" sz="1380" dirty="0">
                <a:solidFill>
                  <a:srgbClr val="17364A"/>
                </a:solidFill>
                <a:latin typeface="Aptos" pitchFamily="34" charset="0"/>
                <a:ea typeface="Aptos" pitchFamily="34" charset="-122"/>
                <a:cs typeface="Aptos" pitchFamily="34" charset="-120"/>
              </a:rPr>
              <a:t>Learners should confirm applicable requirements in their own jurisdiction and organization.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Cloud, Containers, and Secure Deployment Basics matters because AI systems are embedded in public.</a:t>
            </a:r>
            <a:endParaRPr lang="en-US" sz="2100" dirty="0"/>
          </a:p>
          <a:p>
            <a:r>
              <a:rPr lang="en-US" sz="2100" dirty="0">
                <a:solidFill>
                  <a:srgbClr val="17364A"/>
                </a:solidFill>
                <a:latin typeface="Aptos" pitchFamily="34" charset="0"/>
                <a:ea typeface="Aptos" pitchFamily="34" charset="-122"/>
                <a:cs typeface="Aptos" pitchFamily="34" charset="-120"/>
              </a:rPr>
              <a:t>The topic affects whether AI outputs are accurate, explainable, safe, equitable, secure, and sustainable.</a:t>
            </a:r>
            <a:endParaRPr lang="en-US" sz="2100" dirty="0"/>
          </a:p>
          <a:p>
            <a:r>
              <a:rPr lang="en-US" sz="2100" dirty="0">
                <a:solidFill>
                  <a:srgbClr val="17364A"/>
                </a:solidFill>
                <a:latin typeface="Aptos" pitchFamily="34" charset="0"/>
                <a:ea typeface="Aptos" pitchFamily="34" charset="-122"/>
                <a:cs typeface="Aptos" pitchFamily="34" charset="-120"/>
              </a:rPr>
              <a:t>Agencies that ignore this area may create tools that work in a demonstration but fail in actual practice.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Cloud, Containers, and Secure Deployment Basics matters because AI systems are embedded in public.</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Cloud, Containers, and Secure Deployment Basics matters because AI systems are embedded in.</a:t>
            </a:r>
            <a:endParaRPr lang="en-US" sz="1380" dirty="0"/>
          </a:p>
          <a:p>
            <a:r>
              <a:rPr lang="en-US" sz="1380" dirty="0">
                <a:solidFill>
                  <a:srgbClr val="17364A"/>
                </a:solidFill>
                <a:latin typeface="Aptos" pitchFamily="34" charset="0"/>
                <a:ea typeface="Aptos" pitchFamily="34" charset="-122"/>
                <a:cs typeface="Aptos" pitchFamily="34" charset="-120"/>
              </a:rPr>
              <a:t>The topic also affects accountability.</a:t>
            </a:r>
            <a:endParaRPr lang="en-US" sz="1380" dirty="0"/>
          </a:p>
          <a:p>
            <a:r>
              <a:rPr lang="en-US" sz="1380" dirty="0">
                <a:solidFill>
                  <a:srgbClr val="17364A"/>
                </a:solidFill>
                <a:latin typeface="Aptos" pitchFamily="34" charset="0"/>
                <a:ea typeface="Aptos" pitchFamily="34" charset="-122"/>
                <a:cs typeface="Aptos" pitchFamily="34" charset="-120"/>
              </a:rPr>
              <a:t>Public health agencies must be able to explain how data are used, why a tool was approved,.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Cloud computing provides remote infrastructure, platforms, and services that can host data pipelines,.</a:t>
            </a:r>
            <a:endParaRPr lang="en-US" sz="2100" dirty="0"/>
          </a:p>
          <a:p>
            <a:r>
              <a:rPr lang="en-US" sz="2100" dirty="0">
                <a:solidFill>
                  <a:srgbClr val="17364A"/>
                </a:solidFill>
                <a:latin typeface="Aptos" pitchFamily="34" charset="0"/>
                <a:ea typeface="Aptos" pitchFamily="34" charset="-122"/>
                <a:cs typeface="Aptos" pitchFamily="34" charset="-120"/>
              </a:rPr>
              <a:t>Cloud deployment can improve scalability and resilience, but only when identity, access, logging,.</a:t>
            </a:r>
            <a:endParaRPr lang="en-US" sz="2100" dirty="0"/>
          </a:p>
          <a:p>
            <a:r>
              <a:rPr lang="en-US" sz="2100" dirty="0">
                <a:solidFill>
                  <a:srgbClr val="17364A"/>
                </a:solidFill>
                <a:latin typeface="Aptos" pitchFamily="34" charset="0"/>
                <a:ea typeface="Aptos" pitchFamily="34" charset="-122"/>
                <a:cs typeface="Aptos" pitchFamily="34" charset="-120"/>
              </a:rPr>
              <a:t>Containers package software and its dependencies so that it can run consistently across environments.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Cloud computing provides remote infrastructure, platforms, and services that can host data pipelines,.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Cloud computing provides remote infrastructure, platforms, and services that can host data.</a:t>
            </a:r>
            <a:endParaRPr lang="en-US" sz="1380" dirty="0"/>
          </a:p>
          <a:p>
            <a:r>
              <a:rPr lang="en-US" sz="1380" dirty="0">
                <a:solidFill>
                  <a:srgbClr val="17364A"/>
                </a:solidFill>
                <a:latin typeface="Aptos" pitchFamily="34" charset="0"/>
                <a:ea typeface="Aptos" pitchFamily="34" charset="-122"/>
                <a:cs typeface="Aptos" pitchFamily="34" charset="-120"/>
              </a:rPr>
              <a:t>Cloud deployment can improve scalability and resilience, but only when identity, access,.</a:t>
            </a:r>
            <a:endParaRPr lang="en-US" sz="1380" dirty="0"/>
          </a:p>
          <a:p>
            <a:r>
              <a:rPr lang="en-US" sz="1380" dirty="0">
                <a:solidFill>
                  <a:srgbClr val="17364A"/>
                </a:solidFill>
                <a:latin typeface="Aptos" pitchFamily="34" charset="0"/>
                <a:ea typeface="Aptos" pitchFamily="34" charset="-122"/>
                <a:cs typeface="Aptos" pitchFamily="34" charset="-120"/>
              </a:rPr>
              <a:t>Containers can improve reproducibility and deployment speed, but they must be scanned,.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public health agency may deploy an internal RAG assistant in a cloud environment so staff can search.</a:t>
            </a:r>
            <a:endParaRPr lang="en-US" sz="2100" dirty="0"/>
          </a:p>
          <a:p>
            <a:r>
              <a:rPr lang="en-US" sz="2100" dirty="0">
                <a:solidFill>
                  <a:srgbClr val="17364A"/>
                </a:solidFill>
                <a:latin typeface="Aptos" pitchFamily="34" charset="0"/>
                <a:ea typeface="Aptos" pitchFamily="34" charset="-122"/>
                <a:cs typeface="Aptos" pitchFamily="34" charset="-120"/>
              </a:rPr>
              <a:t>The tool may be low risk if it uses public documents, but it becomes higher risk if it retrieves.</a:t>
            </a:r>
            <a:endParaRPr lang="en-US" sz="2100" dirty="0"/>
          </a:p>
          <a:p>
            <a:r>
              <a:rPr lang="en-US" sz="2100" dirty="0">
                <a:solidFill>
                  <a:srgbClr val="17364A"/>
                </a:solidFill>
                <a:latin typeface="Aptos" pitchFamily="34" charset="0"/>
                <a:ea typeface="Aptos" pitchFamily="34" charset="-122"/>
                <a:cs typeface="Aptos" pitchFamily="34" charset="-120"/>
              </a:rPr>
              <a:t>Secure deployment requires access controls, document-level permissions, logging, monitoring, backup,.</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public health agency may deploy an internal RAG assistant in a cloud environment so staff can search.</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 public health agency may deploy an internal RAG assistant in a cloud environment so.</a:t>
            </a:r>
            <a:endParaRPr lang="en-US" sz="1380" dirty="0"/>
          </a:p>
          <a:p>
            <a:r>
              <a:rPr lang="en-US" sz="1380" dirty="0">
                <a:solidFill>
                  <a:srgbClr val="17364A"/>
                </a:solidFill>
                <a:latin typeface="Aptos" pitchFamily="34" charset="0"/>
                <a:ea typeface="Aptos" pitchFamily="34" charset="-122"/>
                <a:cs typeface="Aptos" pitchFamily="34" charset="-120"/>
              </a:rPr>
              <a:t>The tool may be low risk if it uses public documents, but it becomes higher risk if it.</a:t>
            </a:r>
            <a:endParaRPr lang="en-US" sz="1380" dirty="0"/>
          </a:p>
          <a:p>
            <a:r>
              <a:rPr lang="en-US" sz="1380" dirty="0">
                <a:solidFill>
                  <a:srgbClr val="17364A"/>
                </a:solidFill>
                <a:latin typeface="Aptos" pitchFamily="34" charset="0"/>
                <a:ea typeface="Aptos" pitchFamily="34" charset="-122"/>
                <a:cs typeface="Aptos" pitchFamily="34" charset="-120"/>
              </a:rPr>
              <a:t>Secure deployment requires access controls, document-level permissions, logging,.</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Secure deployment begins with environment separation.</a:t>
            </a:r>
            <a:endParaRPr lang="en-US" sz="2100" dirty="0"/>
          </a:p>
          <a:p>
            <a:r>
              <a:rPr lang="en-US" sz="2100" dirty="0">
                <a:solidFill>
                  <a:srgbClr val="17364A"/>
                </a:solidFill>
                <a:latin typeface="Aptos" pitchFamily="34" charset="0"/>
                <a:ea typeface="Aptos" pitchFamily="34" charset="-122"/>
                <a:cs typeface="Aptos" pitchFamily="34" charset="-120"/>
              </a:rPr>
              <a:t>Development, testing, staging, and production environments should be clearly separated so experimental.</a:t>
            </a:r>
            <a:endParaRPr lang="en-US" sz="2100" dirty="0"/>
          </a:p>
          <a:p>
            <a:r>
              <a:rPr lang="en-US" sz="2100" dirty="0">
                <a:solidFill>
                  <a:srgbClr val="17364A"/>
                </a:solidFill>
                <a:latin typeface="Aptos" pitchFamily="34" charset="0"/>
                <a:ea typeface="Aptos" pitchFamily="34" charset="-122"/>
                <a:cs typeface="Aptos" pitchFamily="34" charset="-120"/>
              </a:rPr>
              <a:t>Sensitive production data should not be copied into lower environments unless approved controls are in.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Secure deployment begins with environment separation.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Development, testing, staging, and production environments should be clearly separated so.</a:t>
            </a:r>
            <a:endParaRPr lang="en-US" sz="1380" dirty="0"/>
          </a:p>
          <a:p>
            <a:r>
              <a:rPr lang="en-US" sz="1380" dirty="0">
                <a:solidFill>
                  <a:srgbClr val="17364A"/>
                </a:solidFill>
                <a:latin typeface="Aptos" pitchFamily="34" charset="0"/>
                <a:ea typeface="Aptos" pitchFamily="34" charset="-122"/>
                <a:cs typeface="Aptos" pitchFamily="34" charset="-120"/>
              </a:rPr>
              <a:t>Sensitive production data should not be copied into lower environments unless approved.</a:t>
            </a:r>
            <a:endParaRPr lang="en-US" sz="1380" dirty="0"/>
          </a:p>
          <a:p>
            <a:r>
              <a:rPr lang="en-US" sz="1380" dirty="0">
                <a:solidFill>
                  <a:srgbClr val="17364A"/>
                </a:solidFill>
                <a:latin typeface="Aptos" pitchFamily="34" charset="0"/>
                <a:ea typeface="Aptos" pitchFamily="34" charset="-122"/>
                <a:cs typeface="Aptos" pitchFamily="34" charset="-120"/>
              </a:rPr>
              <a:t>Logging and monitoring are central to deployment safety.</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2100" dirty="0"/>
          </a:p>
          <a:p>
            <a:r>
              <a:rPr lang="en-US" sz="2100" dirty="0">
                <a:solidFill>
                  <a:srgbClr val="17364A"/>
                </a:solidFill>
                <a:latin typeface="Aptos" pitchFamily="34" charset="0"/>
                <a:ea typeface="Aptos" pitchFamily="34" charset="-122"/>
                <a:cs typeface="Aptos" pitchFamily="34" charset="-120"/>
              </a:rPr>
              <a:t>When staff do not connect technical decisions to authority, workflow, equity, privacy, security, and.</a:t>
            </a:r>
            <a:endParaRPr lang="en-US" sz="2100" dirty="0"/>
          </a:p>
          <a:p>
            <a:r>
              <a:rPr lang="en-US" sz="2100" dirty="0">
                <a:solidFill>
                  <a:srgbClr val="17364A"/>
                </a:solidFill>
                <a:latin typeface="Aptos" pitchFamily="34" charset="0"/>
                <a:ea typeface="Aptos" pitchFamily="34" charset="-122"/>
                <a:cs typeface="Aptos" pitchFamily="34" charset="-120"/>
              </a:rPr>
              <a:t>Another risk is relying on vendor claims without agency-defined evidence.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When staff do not connect technical decisions to authority, workflow, equity, privacy,.</a:t>
            </a:r>
            <a:endParaRPr lang="en-US" sz="1380" dirty="0"/>
          </a:p>
          <a:p>
            <a:r>
              <a:rPr lang="en-US" sz="1380" dirty="0">
                <a:solidFill>
                  <a:srgbClr val="17364A"/>
                </a:solidFill>
                <a:latin typeface="Aptos" pitchFamily="34" charset="0"/>
                <a:ea typeface="Aptos" pitchFamily="34" charset="-122"/>
                <a:cs typeface="Aptos" pitchFamily="34" charset="-120"/>
              </a:rPr>
              <a:t>Vendors may provide demonstrations, dashboards, or summary metrics that do not match the.</a:t>
            </a:r>
            <a:endParaRPr lang="en-US" sz="1380" dirty="0"/>
          </a:p>
          <a:p>
            <a:r>
              <a:rPr lang="en-US" sz="1380" dirty="0">
                <a:solidFill>
                  <a:srgbClr val="17364A"/>
                </a:solidFill>
                <a:latin typeface="Aptos" pitchFamily="34" charset="0"/>
                <a:ea typeface="Aptos" pitchFamily="34" charset="-122"/>
                <a:cs typeface="Aptos" pitchFamily="34" charset="-120"/>
              </a:rPr>
              <a:t>A guardrail is to require documentation, test results, acceptance criteria, and.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a:t>
            </a:r>
            <a:endParaRPr lang="en-US" sz="2100" dirty="0"/>
          </a:p>
          <a:p>
            <a:r>
              <a:rPr lang="en-US" sz="2100" dirty="0">
                <a:solidFill>
                  <a:srgbClr val="17364A"/>
                </a:solidFill>
                <a:latin typeface="Aptos" pitchFamily="34" charset="0"/>
                <a:ea typeface="Aptos" pitchFamily="34" charset="-122"/>
                <a:cs typeface="Aptos" pitchFamily="34" charset="-120"/>
              </a:rPr>
              <a:t>The controls should be scaled to the risk of the use case.</a:t>
            </a:r>
            <a:endParaRPr lang="en-US" sz="2100" dirty="0"/>
          </a:p>
          <a:p>
            <a:r>
              <a:rPr lang="en-US" sz="2100" dirty="0">
                <a:solidFill>
                  <a:srgbClr val="17364A"/>
                </a:solidFill>
                <a:latin typeface="Aptos" pitchFamily="34" charset="0"/>
                <a:ea typeface="Aptos" pitchFamily="34" charset="-122"/>
                <a:cs typeface="Aptos" pitchFamily="34" charset="-120"/>
              </a:rPr>
              <a:t>A tool that drafts internal training text may require lighter review than a tool that updates case.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Generative AI, predictive analytics, RAG, automation, and agentic workflows all depend on.</a:t>
            </a:r>
            <a:endParaRPr lang="en-US" sz="1380" dirty="0"/>
          </a:p>
          <a:p>
            <a:r>
              <a:rPr lang="en-US" sz="1380" dirty="0">
                <a:solidFill>
                  <a:srgbClr val="17364A"/>
                </a:solidFill>
                <a:latin typeface="Aptos" pitchFamily="34" charset="0"/>
                <a:ea typeface="Aptos" pitchFamily="34" charset="-122"/>
                <a:cs typeface="Aptos" pitchFamily="34" charset="-120"/>
              </a:rPr>
              <a:t>A tool that drafts internal training text may require lighter review than a tool that.</a:t>
            </a:r>
            <a:endParaRPr lang="en-US" sz="1380" dirty="0"/>
          </a:p>
          <a:p>
            <a:r>
              <a:rPr lang="en-US" sz="1380" dirty="0">
                <a:solidFill>
                  <a:srgbClr val="17364A"/>
                </a:solidFill>
                <a:latin typeface="Aptos" pitchFamily="34" charset="0"/>
                <a:ea typeface="Aptos" pitchFamily="34" charset="-122"/>
                <a:cs typeface="Aptos" pitchFamily="34" charset="-120"/>
              </a:rPr>
              <a:t>The module should be applied during readiness assessment, procurement, implementation.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2100" dirty="0"/>
          </a:p>
          <a:p>
            <a:r>
              <a:rPr lang="en-US" sz="2100" dirty="0">
                <a:solidFill>
                  <a:srgbClr val="17364A"/>
                </a:solidFill>
                <a:latin typeface="Aptos" pitchFamily="34" charset="0"/>
                <a:ea typeface="Aptos" pitchFamily="34" charset="-122"/>
                <a:cs typeface="Aptos" pitchFamily="34" charset="-120"/>
              </a:rPr>
              <a:t>What decisions, data sources, users, or partners would be affected if this area is poorly designed?</a:t>
            </a:r>
            <a:endParaRPr lang="en-US" sz="2100" dirty="0"/>
          </a:p>
          <a:p>
            <a:r>
              <a:rPr lang="en-US" sz="2100" dirty="0">
                <a:solidFill>
                  <a:srgbClr val="17364A"/>
                </a:solidFill>
                <a:latin typeface="Aptos" pitchFamily="34" charset="0"/>
                <a:ea typeface="Aptos" pitchFamily="34" charset="-122"/>
                <a:cs typeface="Aptos" pitchFamily="34" charset="-120"/>
              </a:rPr>
              <a:t>What evidence would governance reviewers need before approving the workflow?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1380" dirty="0"/>
          </a:p>
          <a:p>
            <a:r>
              <a:rPr lang="en-US" sz="1380" dirty="0">
                <a:solidFill>
                  <a:srgbClr val="17364A"/>
                </a:solidFill>
                <a:latin typeface="Aptos" pitchFamily="34" charset="0"/>
                <a:ea typeface="Aptos" pitchFamily="34" charset="-122"/>
                <a:cs typeface="Aptos" pitchFamily="34" charset="-120"/>
              </a:rPr>
              <a:t>What decisions, data sources, users, or partners would be affected if this area is poorly.</a:t>
            </a:r>
            <a:endParaRPr lang="en-US" sz="1380" dirty="0"/>
          </a:p>
          <a:p>
            <a:r>
              <a:rPr lang="en-US" sz="1380" dirty="0">
                <a:solidFill>
                  <a:srgbClr val="17364A"/>
                </a:solidFill>
                <a:latin typeface="Aptos" pitchFamily="34" charset="0"/>
                <a:ea typeface="Aptos" pitchFamily="34" charset="-122"/>
                <a:cs typeface="Aptos" pitchFamily="34" charset="-120"/>
              </a:rPr>
              <a:t>What evidence would governance reviewers need before approving the workflow?</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safeguards should be required before pilot testing?</a:t>
            </a:r>
            <a:endParaRPr lang="en-US" sz="2100" dirty="0"/>
          </a:p>
          <a:p>
            <a:r>
              <a:rPr lang="en-US" sz="2100" dirty="0">
                <a:solidFill>
                  <a:srgbClr val="17364A"/>
                </a:solidFill>
                <a:latin typeface="Aptos" pitchFamily="34" charset="0"/>
                <a:ea typeface="Aptos" pitchFamily="34" charset="-122"/>
                <a:cs typeface="Aptos" pitchFamily="34" charset="-120"/>
              </a:rPr>
              <a:t>Who owns ongoing monitoring and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safeguards should be required before pilot testing?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Which safeguards should be required before pilot testing?</a:t>
            </a:r>
            <a:endParaRPr lang="en-US" sz="1380" dirty="0"/>
          </a:p>
          <a:p>
            <a:r>
              <a:rPr lang="en-US" sz="1380" dirty="0">
                <a:solidFill>
                  <a:srgbClr val="17364A"/>
                </a:solidFill>
                <a:latin typeface="Aptos" pitchFamily="34" charset="0"/>
                <a:ea typeface="Aptos" pitchFamily="34" charset="-122"/>
                <a:cs typeface="Aptos" pitchFamily="34" charset="-120"/>
              </a:rPr>
              <a:t>Who owns ongoing monitoring and review?</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secure deployment readiness worksheet for one real or realistic public health AI workflow.</a:t>
            </a:r>
            <a:endParaRPr lang="en-US" sz="2100" dirty="0"/>
          </a:p>
          <a:p>
            <a:r>
              <a:rPr lang="en-US" sz="2100" dirty="0">
                <a:solidFill>
                  <a:srgbClr val="17364A"/>
                </a:solidFill>
                <a:latin typeface="Aptos" pitchFamily="34" charset="0"/>
                <a:ea typeface="Aptos" pitchFamily="34" charset="-122"/>
                <a:cs typeface="Aptos" pitchFamily="34" charset="-120"/>
              </a:rPr>
              <a:t>The artifact should describe the use case, affected users, data sources, system dependencies, risks,.</a:t>
            </a:r>
            <a:endParaRPr lang="en-US" sz="2100" dirty="0"/>
          </a:p>
          <a:p>
            <a:r>
              <a:rPr lang="en-US" sz="2100" dirty="0">
                <a:solidFill>
                  <a:srgbClr val="17364A"/>
                </a:solidFill>
                <a:latin typeface="Aptos" pitchFamily="34" charset="0"/>
                <a:ea typeface="Aptos" pitchFamily="34" charset="-122"/>
                <a:cs typeface="Aptos" pitchFamily="34" charset="-120"/>
              </a:rPr>
              <a:t>The exercise should produce a work product that could be used in a governance meeting, procurement.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secure deployment readiness worksheet for one real or realistic public health AI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The artifact should describe the use case, affected users, data sources, system.</a:t>
            </a:r>
            <a:endParaRPr lang="en-US" sz="1380" dirty="0"/>
          </a:p>
          <a:p>
            <a:r>
              <a:rPr lang="en-US" sz="1380" dirty="0">
                <a:solidFill>
                  <a:srgbClr val="17364A"/>
                </a:solidFill>
                <a:latin typeface="Aptos" pitchFamily="34" charset="0"/>
                <a:ea typeface="Aptos" pitchFamily="34" charset="-122"/>
                <a:cs typeface="Aptos" pitchFamily="34" charset="-120"/>
              </a:rPr>
              <a:t>The exercise should produce a work product that could be used in a governance meeting,.</a:t>
            </a:r>
            <a:endParaRPr lang="en-US" sz="1380" dirty="0"/>
          </a:p>
          <a:p>
            <a:r>
              <a:rPr lang="en-US" sz="1380" dirty="0">
                <a:solidFill>
                  <a:srgbClr val="17364A"/>
                </a:solidFill>
                <a:latin typeface="Aptos" pitchFamily="34" charset="0"/>
                <a:ea typeface="Aptos" pitchFamily="34" charset="-122"/>
                <a:cs typeface="Aptos" pitchFamily="34" charset="-120"/>
              </a:rPr>
              <a:t>Learners should document assumptions and identify which staff or partners need to be.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expected artifact is a completed secure deployment readiness worksheet.</a:t>
            </a:r>
            <a:endParaRPr lang="en-US" sz="2100" dirty="0"/>
          </a:p>
          <a:p>
            <a:r>
              <a:rPr lang="en-US" sz="2100" dirty="0">
                <a:solidFill>
                  <a:srgbClr val="17364A"/>
                </a:solidFill>
                <a:latin typeface="Aptos" pitchFamily="34" charset="0"/>
                <a:ea typeface="Aptos" pitchFamily="34" charset="-122"/>
                <a:cs typeface="Aptos" pitchFamily="34" charset="-120"/>
              </a:rPr>
              <a:t>It should be specific to a public health workflow and should include technical dependencies, governance.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expected artifact is a completed secure deployment readiness worksheet.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The expected artifact is a completed secure deployment readiness worksheet.</a:t>
            </a:r>
            <a:endParaRPr lang="en-US" sz="1380" dirty="0"/>
          </a:p>
          <a:p>
            <a:r>
              <a:rPr lang="en-US" sz="1380" dirty="0">
                <a:solidFill>
                  <a:srgbClr val="17364A"/>
                </a:solidFill>
                <a:latin typeface="Aptos" pitchFamily="34" charset="0"/>
                <a:ea typeface="Aptos" pitchFamily="34" charset="-122"/>
                <a:cs typeface="Aptos" pitchFamily="34" charset="-120"/>
              </a:rPr>
              <a:t>It should be specific to a public health workflow and should include technical.</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expected artifact is a completed secure deployment readiness worksheet. It should be specific to 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expected artifact is a completed secure deployment readiness worksheet. It should be specific to a.</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The expected artifact is a completed secure deployment readiness worksheet.</a:t>
            </a:r>
            <a:endParaRPr lang="en-US" sz="1380" dirty="0"/>
          </a:p>
          <a:p>
            <a:r>
              <a:rPr lang="en-US" sz="1380" dirty="0">
                <a:solidFill>
                  <a:srgbClr val="17364A"/>
                </a:solidFill>
                <a:latin typeface="Aptos" pitchFamily="34" charset="0"/>
                <a:ea typeface="Aptos" pitchFamily="34" charset="-122"/>
                <a:cs typeface="Aptos" pitchFamily="34" charset="-120"/>
              </a:rPr>
              <a:t>It should be specific to a public health workflow and should include technical.</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best reason to address cloud, containers, and secure deployment basics before deployment?</a:t>
            </a:r>
            <a:endParaRPr lang="en-US" sz="2100" dirty="0"/>
          </a:p>
          <a:p>
            <a:r>
              <a:rPr lang="en-US" sz="2100" dirty="0">
                <a:solidFill>
                  <a:srgbClr val="17364A"/>
                </a:solidFill>
                <a:latin typeface="Aptos" pitchFamily="34" charset="0"/>
                <a:ea typeface="Aptos" pitchFamily="34" charset="-122"/>
                <a:cs typeface="Aptos" pitchFamily="34" charset="-120"/>
              </a:rPr>
              <a:t>2. Which practice best supports responsible implementation?</a:t>
            </a:r>
            <a:endParaRPr lang="en-US" sz="2100" dirty="0"/>
          </a:p>
          <a:p>
            <a:r>
              <a:rPr lang="en-US" sz="2100" dirty="0">
                <a:solidFill>
                  <a:srgbClr val="17364A"/>
                </a:solidFill>
                <a:latin typeface="Aptos" pitchFamily="34" charset="0"/>
                <a:ea typeface="Aptos" pitchFamily="34" charset="-122"/>
                <a:cs typeface="Aptos" pitchFamily="34" charset="-120"/>
              </a:rPr>
              <a:t>3. Which statement best describes a common failure mode?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best reason to address cloud, containers, and secure deployment basics before deployment?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1.</a:t>
            </a:r>
            <a:endParaRPr lang="en-US" sz="1380" dirty="0"/>
          </a:p>
          <a:p>
            <a:r>
              <a:rPr lang="en-US" sz="1380" dirty="0">
                <a:solidFill>
                  <a:srgbClr val="17364A"/>
                </a:solidFill>
                <a:latin typeface="Aptos" pitchFamily="34" charset="0"/>
                <a:ea typeface="Aptos" pitchFamily="34" charset="-122"/>
                <a:cs typeface="Aptos" pitchFamily="34" charset="-120"/>
              </a:rPr>
              <a:t>What is the best reason to address cloud, containers, and secure deployment basics before.</a:t>
            </a:r>
            <a:endParaRPr lang="en-US" sz="1380" dirty="0"/>
          </a:p>
          <a:p>
            <a:r>
              <a:rPr lang="en-US" sz="1380" dirty="0">
                <a:solidFill>
                  <a:srgbClr val="17364A"/>
                </a:solidFill>
                <a:latin typeface="Aptos" pitchFamily="34" charset="0"/>
                <a:ea typeface="Aptos" pitchFamily="34" charset="-122"/>
                <a:cs typeface="Aptos" pitchFamily="34" charset="-120"/>
              </a:rPr>
              <a:t>2.</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2100" dirty="0"/>
          </a:p>
          <a:p>
            <a:r>
              <a:rPr lang="en-US" sz="2100" dirty="0">
                <a:solidFill>
                  <a:srgbClr val="17364A"/>
                </a:solidFill>
                <a:latin typeface="Aptos" pitchFamily="34" charset="0"/>
                <a:ea typeface="Aptos" pitchFamily="34" charset="-122"/>
                <a:cs typeface="Aptos" pitchFamily="34" charset="-120"/>
              </a:rPr>
              <a:t>NIST Cybersecurity Framework and cloud security guidance</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380" dirty="0"/>
          </a:p>
          <a:p>
            <a:r>
              <a:rPr lang="en-US" sz="1380" dirty="0">
                <a:solidFill>
                  <a:srgbClr val="17364A"/>
                </a:solidFill>
                <a:latin typeface="Aptos" pitchFamily="34" charset="0"/>
                <a:ea typeface="Aptos" pitchFamily="34" charset="-122"/>
                <a:cs typeface="Aptos" pitchFamily="34" charset="-120"/>
              </a:rPr>
              <a:t>OWASP Top 10 for LLM Applications, when security or AI integrations are relevant</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Cloud, Containers, and Secure Deployment Basics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Agency privacy, cybersecurity, data governance, procurement, and records management policies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Agency privacy, cybersecurity, data governance, procurement, and records management policies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Agency privacy, cybersecurity, data governance, procurement, and records management policies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Cloud, Containers, and Secure Deployment Basics</dc:title>
  <dc:subject>Cloud, Containers, and Secure Deployment Basics learning module</dc:subject>
  <dc:creator>Paula Soper</dc:creator>
  <cp:lastModifiedBy>Paula Soper</cp:lastModifiedBy>
  <cp:revision>1</cp:revision>
  <dcterms:created xsi:type="dcterms:W3CDTF">2026-07-13T02:11:42Z</dcterms:created>
  <dcterms:modified xsi:type="dcterms:W3CDTF">2026-07-13T02:11:42Z</dcterms:modified>
</cp:coreProperties>
</file>