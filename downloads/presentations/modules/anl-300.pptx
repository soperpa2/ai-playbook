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300 Advanced Model Validation and Evaluation for Public Health AI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13: AI Use Case Intake, Risk Review, and System Inventory Template (Template) - Use AI Use Case Intake, Risk Review, and System Inventory Template to translate this lesson into a documented public health AI.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purpose of advanced model validation in public health AI.
Interpret sensitivity, specificity, positive predictive value, negative predictive value, precision, recall, F1 score, calibration, and subgroup performance.
Distinguish internal validation, external validation, and workflow validation.
Identify when model performance is insufficient for the intended use.
Design monitoring for drift, degradation, error patterns, and unintended consequences.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advanced validation plan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Workflow failure. A technically accurate model may be unusable or misused. Guardrails include usability testing, training, source visibility, and override documentation.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decision or action will the AI output support?
Which performance metrics match the consequences of error?
Which subgroups, data sources, or settings require separate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would make performance unacceptable for this use case?
How will the agency monitor performance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Advanced validation plan
Metric and error-consequence table
Subgroup performance review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Post-deployment monitoring schedule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Advanced validation plan
Metric and error-consequence table
Subgroup performance review plan
Post-deployment monitoring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can overall accuracy be misleading?
2. What is workflow validation?
3. Which metric is especially important when missed true events could cause harm?
4. What does external validation test?
5. What should an advanced validation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WHO Guidance on Large Multi-Modal Models: https://www.who.int/publications/i/item/9789240084759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Advanced Model Validation and Evaluation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 use,.</a:t>
            </a:r>
            <a:endParaRPr lang="en-US" sz="2100" dirty="0"/>
          </a:p>
          <a:p>
            <a:r>
              <a:rPr lang="en-US" sz="2100" dirty="0">
                <a:solidFill>
                  <a:srgbClr val="17364A"/>
                </a:solidFill>
                <a:latin typeface="Aptos" pitchFamily="34" charset="0"/>
                <a:ea typeface="Aptos" pitchFamily="34" charset="-122"/>
                <a:cs typeface="Aptos" pitchFamily="34" charset="-120"/>
              </a:rPr>
              <a:t>Basic validation asks whether the tool works at all.</a:t>
            </a:r>
            <a:endParaRPr lang="en-US" sz="2100" dirty="0"/>
          </a:p>
          <a:p>
            <a:r>
              <a:rPr lang="en-US" sz="2100" dirty="0">
                <a:solidFill>
                  <a:srgbClr val="17364A"/>
                </a:solidFill>
                <a:latin typeface="Aptos" pitchFamily="34" charset="0"/>
                <a:ea typeface="Aptos" pitchFamily="34" charset="-122"/>
                <a:cs typeface="Aptos" pitchFamily="34" charset="-120"/>
              </a:rPr>
              <a:t>Advanced validation asks whether it works well enough, for whom, under what conditions, with what limitations,.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13: AI Use Case Intake, Risk Review, and System Inventory Template (Template) - Use AI Use Case Intake,.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Interpret sensitivity, specificity, positive predictive value, negative predictive value, precision,.</a:t>
            </a:r>
            <a:endParaRPr lang="en-US" sz="2100" dirty="0"/>
          </a:p>
          <a:p>
            <a:r>
              <a:rPr lang="en-US" sz="2100" dirty="0">
                <a:solidFill>
                  <a:srgbClr val="17364A"/>
                </a:solidFill>
                <a:latin typeface="Aptos" pitchFamily="34" charset="0"/>
                <a:ea typeface="Aptos" pitchFamily="34" charset="-122"/>
                <a:cs typeface="Aptos" pitchFamily="34" charset="-120"/>
              </a:rPr>
              <a:t>Distinguish internal validation, external validation, and workflow validation.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Interpret sensitivity, specificity, positive predictive value, negative predictive value,.</a:t>
            </a:r>
            <a:endParaRPr lang="en-US" sz="1380" dirty="0"/>
          </a:p>
          <a:p>
            <a:r>
              <a:rPr lang="en-US" sz="1380" dirty="0">
                <a:solidFill>
                  <a:srgbClr val="17364A"/>
                </a:solidFill>
                <a:latin typeface="Aptos" pitchFamily="34" charset="0"/>
                <a:ea typeface="Aptos" pitchFamily="34" charset="-122"/>
                <a:cs typeface="Aptos" pitchFamily="34" charset="-120"/>
              </a:rPr>
              <a:t>Identify when model performance is insufficient for the intended use.</a:t>
            </a:r>
            <a:endParaRPr lang="en-US" sz="1380" dirty="0"/>
          </a:p>
          <a:p>
            <a:r>
              <a:rPr lang="en-US" sz="1380" dirty="0">
                <a:solidFill>
                  <a:srgbClr val="17364A"/>
                </a:solidFill>
                <a:latin typeface="Aptos" pitchFamily="34" charset="0"/>
                <a:ea typeface="Aptos" pitchFamily="34" charset="-122"/>
                <a:cs typeface="Aptos" pitchFamily="34" charset="-120"/>
              </a:rPr>
              <a:t>Design monitoring for drift, degradation, error patterns, and unintended consequences.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advanced validation plan for an AI-supported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a:t>
            </a:r>
            <a:endParaRPr lang="en-US" sz="2100" dirty="0"/>
          </a:p>
          <a:p>
            <a:r>
              <a:rPr lang="en-US" sz="2100" dirty="0">
                <a:solidFill>
                  <a:srgbClr val="17364A"/>
                </a:solidFill>
                <a:latin typeface="Aptos" pitchFamily="34" charset="0"/>
                <a:ea typeface="Aptos" pitchFamily="34" charset="-122"/>
                <a:cs typeface="Aptos" pitchFamily="34" charset="-120"/>
              </a:rPr>
              <a:t>Basic validation asks whether the tool works at all.</a:t>
            </a:r>
            <a:endParaRPr lang="en-US" sz="2100" dirty="0"/>
          </a:p>
          <a:p>
            <a:r>
              <a:rPr lang="en-US" sz="2100" dirty="0">
                <a:solidFill>
                  <a:srgbClr val="17364A"/>
                </a:solidFill>
                <a:latin typeface="Aptos" pitchFamily="34" charset="0"/>
                <a:ea typeface="Aptos" pitchFamily="34" charset="-122"/>
                <a:cs typeface="Aptos" pitchFamily="34" charset="-120"/>
              </a:rPr>
              <a:t>Advanced validation asks whether it works well enough, for whom, under what conditions, with what.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Model validation is the process of determining whether an AI tool performs adequately for.</a:t>
            </a:r>
            <a:endParaRPr lang="en-US" sz="1380" dirty="0"/>
          </a:p>
          <a:p>
            <a:r>
              <a:rPr lang="en-US" sz="1380" dirty="0">
                <a:solidFill>
                  <a:srgbClr val="17364A"/>
                </a:solidFill>
                <a:latin typeface="Aptos" pitchFamily="34" charset="0"/>
                <a:ea typeface="Aptos" pitchFamily="34" charset="-122"/>
                <a:cs typeface="Aptos" pitchFamily="34" charset="-120"/>
              </a:rPr>
              <a:t>Advanced validation asks whether it works well enough, for whom, under what conditions,.</a:t>
            </a:r>
            <a:endParaRPr lang="en-US" sz="1380" dirty="0"/>
          </a:p>
          <a:p>
            <a:r>
              <a:rPr lang="en-US" sz="1380" dirty="0">
                <a:solidFill>
                  <a:srgbClr val="17364A"/>
                </a:solidFill>
                <a:latin typeface="Aptos" pitchFamily="34" charset="0"/>
                <a:ea typeface="Aptos" pitchFamily="34" charset="-122"/>
                <a:cs typeface="Aptos" pitchFamily="34" charset="-120"/>
              </a:rPr>
              <a:t>This module extends foundational validation content by focusing on metrics, subgroup.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Validation matters because public health AI tools can appear credible even when they are not fit for.</a:t>
            </a:r>
            <a:endParaRPr lang="en-US" sz="2100" dirty="0"/>
          </a:p>
          <a:p>
            <a:r>
              <a:rPr lang="en-US" sz="2100" dirty="0">
                <a:solidFill>
                  <a:srgbClr val="17364A"/>
                </a:solidFill>
                <a:latin typeface="Aptos" pitchFamily="34" charset="0"/>
                <a:ea typeface="Aptos" pitchFamily="34" charset="-122"/>
                <a:cs typeface="Aptos" pitchFamily="34" charset="-120"/>
              </a:rPr>
              <a:t>A polished dashboard, confident generated text, or high overall accuracy score does not prove that the.</a:t>
            </a:r>
            <a:endParaRPr lang="en-US" sz="2100" dirty="0"/>
          </a:p>
          <a:p>
            <a:r>
              <a:rPr lang="en-US" sz="2100" dirty="0">
                <a:solidFill>
                  <a:srgbClr val="17364A"/>
                </a:solidFill>
                <a:latin typeface="Aptos" pitchFamily="34" charset="0"/>
                <a:ea typeface="Aptos" pitchFamily="34" charset="-122"/>
                <a:cs typeface="Aptos" pitchFamily="34" charset="-120"/>
              </a:rPr>
              <a:t>Public health staff need to evaluate performance in relation to the specific task and the consequences.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Validation matters because public health AI tools can appear credible even when they are not fit for.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Validation matters because public health AI tools can appear credible even when they are.</a:t>
            </a:r>
            <a:endParaRPr lang="en-US" sz="1380" dirty="0"/>
          </a:p>
          <a:p>
            <a:r>
              <a:rPr lang="en-US" sz="1380" dirty="0">
                <a:solidFill>
                  <a:srgbClr val="17364A"/>
                </a:solidFill>
                <a:latin typeface="Aptos" pitchFamily="34" charset="0"/>
                <a:ea typeface="Aptos" pitchFamily="34" charset="-122"/>
                <a:cs typeface="Aptos" pitchFamily="34" charset="-120"/>
              </a:rPr>
              <a:t>A polished dashboard, confident generated text, or high overall accuracy score does not.</a:t>
            </a:r>
            <a:endParaRPr lang="en-US" sz="1380" dirty="0"/>
          </a:p>
          <a:p>
            <a:r>
              <a:rPr lang="en-US" sz="1380" dirty="0">
                <a:solidFill>
                  <a:srgbClr val="17364A"/>
                </a:solidFill>
                <a:latin typeface="Aptos" pitchFamily="34" charset="0"/>
                <a:ea typeface="Aptos" pitchFamily="34" charset="-122"/>
                <a:cs typeface="Aptos" pitchFamily="34" charset="-120"/>
              </a:rPr>
              <a:t>Public health staff need to evaluate performance in relation to the specific task and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test a model that identifies incoming case reports likely to require.</a:t>
            </a:r>
            <a:endParaRPr lang="en-US" sz="2100" dirty="0"/>
          </a:p>
          <a:p>
            <a:r>
              <a:rPr lang="en-US" sz="2100" dirty="0">
                <a:solidFill>
                  <a:srgbClr val="17364A"/>
                </a:solidFill>
                <a:latin typeface="Aptos" pitchFamily="34" charset="0"/>
                <a:ea typeface="Aptos" pitchFamily="34" charset="-122"/>
                <a:cs typeface="Aptos" pitchFamily="34" charset="-120"/>
              </a:rPr>
              <a:t>Overall accuracy may be high, but that number alone is not enough.</a:t>
            </a:r>
            <a:endParaRPr lang="en-US" sz="2100" dirty="0"/>
          </a:p>
          <a:p>
            <a:r>
              <a:rPr lang="en-US" sz="2100" dirty="0">
                <a:solidFill>
                  <a:srgbClr val="17364A"/>
                </a:solidFill>
                <a:latin typeface="Aptos" pitchFamily="34" charset="0"/>
                <a:ea typeface="Aptos" pitchFamily="34" charset="-122"/>
                <a:cs typeface="Aptos" pitchFamily="34" charset="-120"/>
              </a:rPr>
              <a:t>Staff need to know whether the model misses rare but severe conditions, whether it performs differently.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test a model that identifies incoming case reports likely to require.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may test a model that identifies incoming case reports likely to.</a:t>
            </a:r>
            <a:endParaRPr lang="en-US" sz="1380" dirty="0"/>
          </a:p>
          <a:p>
            <a:r>
              <a:rPr lang="en-US" sz="1380" dirty="0">
                <a:solidFill>
                  <a:srgbClr val="17364A"/>
                </a:solidFill>
                <a:latin typeface="Aptos" pitchFamily="34" charset="0"/>
                <a:ea typeface="Aptos" pitchFamily="34" charset="-122"/>
                <a:cs typeface="Aptos" pitchFamily="34" charset="-120"/>
              </a:rPr>
              <a:t>Staff need to know whether the model misses rare but severe conditions, whether it.</a:t>
            </a:r>
            <a:endParaRPr lang="en-US" sz="1380" dirty="0"/>
          </a:p>
          <a:p>
            <a:r>
              <a:rPr lang="en-US" sz="1380" dirty="0">
                <a:solidFill>
                  <a:srgbClr val="17364A"/>
                </a:solidFill>
                <a:latin typeface="Aptos" pitchFamily="34" charset="0"/>
                <a:ea typeface="Aptos" pitchFamily="34" charset="-122"/>
                <a:cs typeface="Aptos" pitchFamily="34" charset="-120"/>
              </a:rPr>
              <a:t>The agency should validate the model on recent local data, review errors with.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2100" dirty="0"/>
          </a:p>
          <a:p>
            <a:r>
              <a:rPr lang="en-US" sz="2100" dirty="0">
                <a:solidFill>
                  <a:srgbClr val="17364A"/>
                </a:solidFill>
                <a:latin typeface="Aptos" pitchFamily="34" charset="0"/>
                <a:ea typeface="Aptos" pitchFamily="34" charset="-122"/>
                <a:cs typeface="Aptos" pitchFamily="34" charset="-120"/>
              </a:rPr>
              <a:t>Sensitivity may be prioritized when missing a true event is dangerous.</a:t>
            </a:r>
            <a:endParaRPr lang="en-US" sz="2100" dirty="0"/>
          </a:p>
          <a:p>
            <a:r>
              <a:rPr lang="en-US" sz="2100" dirty="0">
                <a:solidFill>
                  <a:srgbClr val="17364A"/>
                </a:solidFill>
                <a:latin typeface="Aptos" pitchFamily="34" charset="0"/>
                <a:ea typeface="Aptos" pitchFamily="34" charset="-122"/>
                <a:cs typeface="Aptos" pitchFamily="34" charset="-120"/>
              </a:rPr>
              <a:t>Specificity may be prioritized when false positives create substantial burden or unnecessary.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Specificity may be prioritized when false positives create substantial burden or.</a:t>
            </a:r>
            <a:endParaRPr lang="en-US" sz="1380" dirty="0"/>
          </a:p>
          <a:p>
            <a:r>
              <a:rPr lang="en-US" sz="1380" dirty="0">
                <a:solidFill>
                  <a:srgbClr val="17364A"/>
                </a:solidFill>
                <a:latin typeface="Aptos" pitchFamily="34" charset="0"/>
                <a:ea typeface="Aptos" pitchFamily="34" charset="-122"/>
                <a:cs typeface="Aptos" pitchFamily="34" charset="-120"/>
              </a:rPr>
              <a:t>Precision and positive predictive value matter when staff act on positive flags.</a:t>
            </a:r>
            <a:endParaRPr lang="en-US" sz="1380" dirty="0"/>
          </a:p>
          <a:p>
            <a:r>
              <a:rPr lang="en-US" sz="1380" dirty="0">
                <a:solidFill>
                  <a:srgbClr val="17364A"/>
                </a:solidFill>
                <a:latin typeface="Aptos" pitchFamily="34" charset="0"/>
                <a:ea typeface="Aptos" pitchFamily="34" charset="-122"/>
                <a:cs typeface="Aptos" pitchFamily="34" charset="-120"/>
              </a:rPr>
              <a:t>Calibration matters when scores are interpreted as probabilities.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validation examines whether the AI output is understandable, accessible, timely, actionable,.</a:t>
            </a:r>
            <a:endParaRPr lang="en-US" sz="2100" dirty="0"/>
          </a:p>
          <a:p>
            <a:r>
              <a:rPr lang="en-US" sz="2100" dirty="0">
                <a:solidFill>
                  <a:srgbClr val="17364A"/>
                </a:solidFill>
                <a:latin typeface="Aptos" pitchFamily="34" charset="0"/>
                <a:ea typeface="Aptos" pitchFamily="34" charset="-122"/>
                <a:cs typeface="Aptos" pitchFamily="34" charset="-120"/>
              </a:rPr>
              <a:t>A model can be statistically strong but operationally weak if staff do not trust it, cannot see.</a:t>
            </a:r>
            <a:endParaRPr lang="en-US" sz="2100" dirty="0"/>
          </a:p>
          <a:p>
            <a:r>
              <a:rPr lang="en-US" sz="2100" dirty="0">
                <a:solidFill>
                  <a:srgbClr val="17364A"/>
                </a:solidFill>
                <a:latin typeface="Aptos" pitchFamily="34" charset="0"/>
                <a:ea typeface="Aptos" pitchFamily="34" charset="-122"/>
                <a:cs typeface="Aptos" pitchFamily="34" charset="-120"/>
              </a:rPr>
              <a:t>Workflow validation should include usability testing, training, documentation, and feedback loops.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validation examines whether the AI output is understandable, accessible, timely, actionable,.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Workflow validation examines whether the AI output is understandable, accessible, timely,.</a:t>
            </a:r>
            <a:endParaRPr lang="en-US" sz="1380" dirty="0"/>
          </a:p>
          <a:p>
            <a:r>
              <a:rPr lang="en-US" sz="1380" dirty="0">
                <a:solidFill>
                  <a:srgbClr val="17364A"/>
                </a:solidFill>
                <a:latin typeface="Aptos" pitchFamily="34" charset="0"/>
                <a:ea typeface="Aptos" pitchFamily="34" charset="-122"/>
                <a:cs typeface="Aptos" pitchFamily="34" charset="-120"/>
              </a:rPr>
              <a:t>A model can be statistically strong but operationally weak if staff do not trust it,.</a:t>
            </a:r>
            <a:endParaRPr lang="en-US" sz="1380" dirty="0"/>
          </a:p>
          <a:p>
            <a:r>
              <a:rPr lang="en-US" sz="1380" dirty="0">
                <a:solidFill>
                  <a:srgbClr val="17364A"/>
                </a:solidFill>
                <a:latin typeface="Aptos" pitchFamily="34" charset="0"/>
                <a:ea typeface="Aptos" pitchFamily="34" charset="-122"/>
                <a:cs typeface="Aptos" pitchFamily="34" charset="-120"/>
              </a:rPr>
              <a:t>Post-deployment validation should be planned before launch.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Misleading aggregate performance.</a:t>
            </a:r>
            <a:endParaRPr lang="en-US" sz="2100" dirty="0"/>
          </a:p>
          <a:p>
            <a:r>
              <a:rPr lang="en-US" sz="2100" dirty="0">
                <a:solidFill>
                  <a:srgbClr val="17364A"/>
                </a:solidFill>
                <a:latin typeface="Aptos" pitchFamily="34" charset="0"/>
                <a:ea typeface="Aptos" pitchFamily="34" charset="-122"/>
                <a:cs typeface="Aptos" pitchFamily="34" charset="-120"/>
              </a:rPr>
              <a:t>Overall metrics may hide poor subgroup performance.</a:t>
            </a:r>
            <a:endParaRPr lang="en-US" sz="2100" dirty="0"/>
          </a:p>
          <a:p>
            <a:r>
              <a:rPr lang="en-US" sz="2100" dirty="0">
                <a:solidFill>
                  <a:srgbClr val="17364A"/>
                </a:solidFill>
                <a:latin typeface="Aptos" pitchFamily="34" charset="0"/>
                <a:ea typeface="Aptos" pitchFamily="34" charset="-122"/>
                <a:cs typeface="Aptos" pitchFamily="34" charset="-120"/>
              </a:rPr>
              <a:t>Guardrails include subgroup testing and equity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Misleading aggregate performance.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Metric mismatch.</a:t>
            </a:r>
            <a:endParaRPr lang="en-US" sz="1380" dirty="0"/>
          </a:p>
          <a:p>
            <a:r>
              <a:rPr lang="en-US" sz="1380" dirty="0">
                <a:solidFill>
                  <a:srgbClr val="17364A"/>
                </a:solidFill>
                <a:latin typeface="Aptos" pitchFamily="34" charset="0"/>
                <a:ea typeface="Aptos" pitchFamily="34" charset="-122"/>
                <a:cs typeface="Aptos" pitchFamily="34" charset="-120"/>
              </a:rPr>
              <a:t>The selected metric may not match the public health consequence.</a:t>
            </a:r>
            <a:endParaRPr lang="en-US" sz="1380" dirty="0"/>
          </a:p>
          <a:p>
            <a:r>
              <a:rPr lang="en-US" sz="1380" dirty="0">
                <a:solidFill>
                  <a:srgbClr val="17364A"/>
                </a:solidFill>
                <a:latin typeface="Aptos" pitchFamily="34" charset="0"/>
                <a:ea typeface="Aptos" pitchFamily="34" charset="-122"/>
                <a:cs typeface="Aptos" pitchFamily="34" charset="-120"/>
              </a:rPr>
              <a:t>Guardrails include metric selection tied to intended use and error consequences.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failure.</a:t>
            </a:r>
            <a:endParaRPr lang="en-US" sz="2100" dirty="0"/>
          </a:p>
          <a:p>
            <a:r>
              <a:rPr lang="en-US" sz="2100" dirty="0">
                <a:solidFill>
                  <a:srgbClr val="17364A"/>
                </a:solidFill>
                <a:latin typeface="Aptos" pitchFamily="34" charset="0"/>
                <a:ea typeface="Aptos" pitchFamily="34" charset="-122"/>
                <a:cs typeface="Aptos" pitchFamily="34" charset="-120"/>
              </a:rPr>
              <a:t>A technically accurate model may be unusable or misused.</a:t>
            </a:r>
            <a:endParaRPr lang="en-US" sz="2100" dirty="0"/>
          </a:p>
          <a:p>
            <a:r>
              <a:rPr lang="en-US" sz="2100" dirty="0">
                <a:solidFill>
                  <a:srgbClr val="17364A"/>
                </a:solidFill>
                <a:latin typeface="Aptos" pitchFamily="34" charset="0"/>
                <a:ea typeface="Aptos" pitchFamily="34" charset="-122"/>
                <a:cs typeface="Aptos" pitchFamily="34" charset="-120"/>
              </a:rPr>
              <a:t>Guardrails include usability testing, training, source visibility, and override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failure.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Workflow failure.</a:t>
            </a:r>
            <a:endParaRPr lang="en-US" sz="1380" dirty="0"/>
          </a:p>
          <a:p>
            <a:r>
              <a:rPr lang="en-US" sz="1380" dirty="0">
                <a:solidFill>
                  <a:srgbClr val="17364A"/>
                </a:solidFill>
                <a:latin typeface="Aptos" pitchFamily="34" charset="0"/>
                <a:ea typeface="Aptos" pitchFamily="34" charset="-122"/>
                <a:cs typeface="Aptos" pitchFamily="34" charset="-120"/>
              </a:rPr>
              <a:t>A technically accurate model may be unusable or misused.</a:t>
            </a:r>
            <a:endParaRPr lang="en-US" sz="1380" dirty="0"/>
          </a:p>
          <a:p>
            <a:r>
              <a:rPr lang="en-US" sz="1380" dirty="0">
                <a:solidFill>
                  <a:srgbClr val="17364A"/>
                </a:solidFill>
                <a:latin typeface="Aptos" pitchFamily="34" charset="0"/>
                <a:ea typeface="Aptos" pitchFamily="34" charset="-122"/>
                <a:cs typeface="Aptos" pitchFamily="34" charset="-120"/>
              </a:rPr>
              <a:t>Guardrails include usability testing, training, source visibility, and override.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Advanced validation applies to predictive models, NLP tools, generative summaries, RAG outputs, and.</a:t>
            </a:r>
            <a:endParaRPr lang="en-US" sz="2100" dirty="0"/>
          </a:p>
          <a:p>
            <a:r>
              <a:rPr lang="en-US" sz="2100" dirty="0">
                <a:solidFill>
                  <a:srgbClr val="17364A"/>
                </a:solidFill>
                <a:latin typeface="Aptos" pitchFamily="34" charset="0"/>
                <a:ea typeface="Aptos" pitchFamily="34" charset="-122"/>
                <a:cs typeface="Aptos" pitchFamily="34" charset="-120"/>
              </a:rPr>
              <a:t>For generative AI, validation may include factuality, completeness, source grounding, omissions, and.</a:t>
            </a:r>
            <a:endParaRPr lang="en-US" sz="2100" dirty="0"/>
          </a:p>
          <a:p>
            <a:r>
              <a:rPr lang="en-US" sz="2100" dirty="0">
                <a:solidFill>
                  <a:srgbClr val="17364A"/>
                </a:solidFill>
                <a:latin typeface="Aptos" pitchFamily="34" charset="0"/>
                <a:ea typeface="Aptos" pitchFamily="34" charset="-122"/>
                <a:cs typeface="Aptos" pitchFamily="34" charset="-120"/>
              </a:rPr>
              <a:t>For RAG, validation should test retrieval quality and citation accuracy.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Advanced validation applies to predictive models, NLP tools, generative summaries, RAG outputs,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Advanced validation applies to predictive models, NLP tools, generative summaries, RAG.</a:t>
            </a:r>
            <a:endParaRPr lang="en-US" sz="1380" dirty="0"/>
          </a:p>
          <a:p>
            <a:r>
              <a:rPr lang="en-US" sz="1380" dirty="0">
                <a:solidFill>
                  <a:srgbClr val="17364A"/>
                </a:solidFill>
                <a:latin typeface="Aptos" pitchFamily="34" charset="0"/>
                <a:ea typeface="Aptos" pitchFamily="34" charset="-122"/>
                <a:cs typeface="Aptos" pitchFamily="34" charset="-120"/>
              </a:rPr>
              <a:t>For generative AI, validation may include factuality, completeness, source grounding,.</a:t>
            </a:r>
            <a:endParaRPr lang="en-US" sz="1380" dirty="0"/>
          </a:p>
          <a:p>
            <a:r>
              <a:rPr lang="en-US" sz="1380" dirty="0">
                <a:solidFill>
                  <a:srgbClr val="17364A"/>
                </a:solidFill>
                <a:latin typeface="Aptos" pitchFamily="34" charset="0"/>
                <a:ea typeface="Aptos" pitchFamily="34" charset="-122"/>
                <a:cs typeface="Aptos" pitchFamily="34" charset="-120"/>
              </a:rPr>
              <a:t>For agentic workflows, validation should include action safety, permission boundaries,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decision or action will the AI output support?</a:t>
            </a:r>
            <a:endParaRPr lang="en-US" sz="2100" dirty="0"/>
          </a:p>
          <a:p>
            <a:r>
              <a:rPr lang="en-US" sz="2100" dirty="0">
                <a:solidFill>
                  <a:srgbClr val="17364A"/>
                </a:solidFill>
                <a:latin typeface="Aptos" pitchFamily="34" charset="0"/>
                <a:ea typeface="Aptos" pitchFamily="34" charset="-122"/>
                <a:cs typeface="Aptos" pitchFamily="34" charset="-120"/>
              </a:rPr>
              <a:t>Which performance metrics match the consequences of error?</a:t>
            </a:r>
            <a:endParaRPr lang="en-US" sz="2100" dirty="0"/>
          </a:p>
          <a:p>
            <a:r>
              <a:rPr lang="en-US" sz="2100" dirty="0">
                <a:solidFill>
                  <a:srgbClr val="17364A"/>
                </a:solidFill>
                <a:latin typeface="Aptos" pitchFamily="34" charset="0"/>
                <a:ea typeface="Aptos" pitchFamily="34" charset="-122"/>
                <a:cs typeface="Aptos" pitchFamily="34" charset="-120"/>
              </a:rPr>
              <a:t>Which subgroups, data sources, or settings require separate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decision or action will the AI output support?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decision or action will the AI output support?</a:t>
            </a:r>
            <a:endParaRPr lang="en-US" sz="1380" dirty="0"/>
          </a:p>
          <a:p>
            <a:r>
              <a:rPr lang="en-US" sz="1380" dirty="0">
                <a:solidFill>
                  <a:srgbClr val="17364A"/>
                </a:solidFill>
                <a:latin typeface="Aptos" pitchFamily="34" charset="0"/>
                <a:ea typeface="Aptos" pitchFamily="34" charset="-122"/>
                <a:cs typeface="Aptos" pitchFamily="34" charset="-120"/>
              </a:rPr>
              <a:t>Which performance metrics match the consequences of error?</a:t>
            </a:r>
            <a:endParaRPr lang="en-US" sz="1380" dirty="0"/>
          </a:p>
          <a:p>
            <a:r>
              <a:rPr lang="en-US" sz="1380" dirty="0">
                <a:solidFill>
                  <a:srgbClr val="17364A"/>
                </a:solidFill>
                <a:latin typeface="Aptos" pitchFamily="34" charset="0"/>
                <a:ea typeface="Aptos" pitchFamily="34" charset="-122"/>
                <a:cs typeface="Aptos" pitchFamily="34" charset="-120"/>
              </a:rPr>
              <a:t>Which subgroups, data sources, or settings require separate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would make performance unacceptable for this use case?</a:t>
            </a:r>
            <a:endParaRPr lang="en-US" sz="2100" dirty="0"/>
          </a:p>
          <a:p>
            <a:r>
              <a:rPr lang="en-US" sz="2100" dirty="0">
                <a:solidFill>
                  <a:srgbClr val="17364A"/>
                </a:solidFill>
                <a:latin typeface="Aptos" pitchFamily="34" charset="0"/>
                <a:ea typeface="Aptos" pitchFamily="34" charset="-122"/>
                <a:cs typeface="Aptos" pitchFamily="34" charset="-120"/>
              </a:rPr>
              <a:t>How will the agency monitor performance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would make performance unacceptable for this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would make performance unacceptable for this use case?</a:t>
            </a:r>
            <a:endParaRPr lang="en-US" sz="1380" dirty="0"/>
          </a:p>
          <a:p>
            <a:r>
              <a:rPr lang="en-US" sz="1380" dirty="0">
                <a:solidFill>
                  <a:srgbClr val="17364A"/>
                </a:solidFill>
                <a:latin typeface="Aptos" pitchFamily="34" charset="0"/>
                <a:ea typeface="Aptos" pitchFamily="34" charset="-122"/>
                <a:cs typeface="Aptos" pitchFamily="34" charset="-120"/>
              </a:rPr>
              <a:t>How will the agency monitor performance after deployment?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advanced validation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intended use, validation dataset, comparison standard, performance metrics, subgroup analysis,.</a:t>
            </a:r>
            <a:endParaRPr lang="en-US" sz="2100" dirty="0"/>
          </a:p>
          <a:p>
            <a:r>
              <a:rPr lang="en-US" sz="2100" dirty="0">
                <a:solidFill>
                  <a:srgbClr val="17364A"/>
                </a:solidFill>
                <a:latin typeface="Aptos" pitchFamily="34" charset="0"/>
                <a:ea typeface="Aptos" pitchFamily="34" charset="-122"/>
                <a:cs typeface="Aptos" pitchFamily="34" charset="-120"/>
              </a:rPr>
              <a:t>The plan should clearly explain how validation results will be interpreted and who has authority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advanced validation plan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Include intended use, validation dataset, comparison standard, performance metrics,.</a:t>
            </a:r>
            <a:endParaRPr lang="en-US" sz="1380" dirty="0"/>
          </a:p>
          <a:p>
            <a:r>
              <a:rPr lang="en-US" sz="1380" dirty="0">
                <a:solidFill>
                  <a:srgbClr val="17364A"/>
                </a:solidFill>
                <a:latin typeface="Aptos" pitchFamily="34" charset="0"/>
                <a:ea typeface="Aptos" pitchFamily="34" charset="-122"/>
                <a:cs typeface="Aptos" pitchFamily="34" charset="-120"/>
              </a:rPr>
              <a:t>The plan should clearly explain how validation results will be interpreted and who has.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Advanced validation plan</a:t>
            </a:r>
            <a:endParaRPr lang="en-US" sz="2100" dirty="0"/>
          </a:p>
          <a:p>
            <a:r>
              <a:rPr lang="en-US" sz="2100" dirty="0">
                <a:solidFill>
                  <a:srgbClr val="17364A"/>
                </a:solidFill>
                <a:latin typeface="Aptos" pitchFamily="34" charset="0"/>
                <a:ea typeface="Aptos" pitchFamily="34" charset="-122"/>
                <a:cs typeface="Aptos" pitchFamily="34" charset="-120"/>
              </a:rPr>
              <a:t>Metric and error-consequence table</a:t>
            </a:r>
            <a:endParaRPr lang="en-US" sz="2100" dirty="0"/>
          </a:p>
          <a:p>
            <a:r>
              <a:rPr lang="en-US" sz="2100" dirty="0">
                <a:solidFill>
                  <a:srgbClr val="17364A"/>
                </a:solidFill>
                <a:latin typeface="Aptos" pitchFamily="34" charset="0"/>
                <a:ea typeface="Aptos" pitchFamily="34" charset="-122"/>
                <a:cs typeface="Aptos" pitchFamily="34" charset="-120"/>
              </a:rPr>
              <a:t>Subgroup performance review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Advanced validation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Advanced validation plan</a:t>
            </a:r>
            <a:endParaRPr lang="en-US" sz="1380" dirty="0"/>
          </a:p>
          <a:p>
            <a:r>
              <a:rPr lang="en-US" sz="1380" dirty="0">
                <a:solidFill>
                  <a:srgbClr val="17364A"/>
                </a:solidFill>
                <a:latin typeface="Aptos" pitchFamily="34" charset="0"/>
                <a:ea typeface="Aptos" pitchFamily="34" charset="-122"/>
                <a:cs typeface="Aptos" pitchFamily="34" charset="-120"/>
              </a:rPr>
              <a:t>Metric and error-consequence table</a:t>
            </a:r>
            <a:endParaRPr lang="en-US" sz="1380" dirty="0"/>
          </a:p>
          <a:p>
            <a:r>
              <a:rPr lang="en-US" sz="1380" dirty="0">
                <a:solidFill>
                  <a:srgbClr val="17364A"/>
                </a:solidFill>
                <a:latin typeface="Aptos" pitchFamily="34" charset="0"/>
                <a:ea typeface="Aptos" pitchFamily="34" charset="-122"/>
                <a:cs typeface="Aptos" pitchFamily="34" charset="-120"/>
              </a:rPr>
              <a:t>Subgroup performance review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Post-deployment monitoring schedule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Post-deployment monitoring schedule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Post-deployment monitoring schedule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Advanced validation plan</a:t>
            </a:r>
            <a:endParaRPr lang="en-US" sz="2100" dirty="0"/>
          </a:p>
          <a:p>
            <a:r>
              <a:rPr lang="en-US" sz="2100" dirty="0">
                <a:solidFill>
                  <a:srgbClr val="17364A"/>
                </a:solidFill>
                <a:latin typeface="Aptos" pitchFamily="34" charset="0"/>
                <a:ea typeface="Aptos" pitchFamily="34" charset="-122"/>
                <a:cs typeface="Aptos" pitchFamily="34" charset="-120"/>
              </a:rPr>
              <a:t>Metric and error-consequence table</a:t>
            </a:r>
            <a:endParaRPr lang="en-US" sz="2100" dirty="0"/>
          </a:p>
          <a:p>
            <a:r>
              <a:rPr lang="en-US" sz="2100" dirty="0">
                <a:solidFill>
                  <a:srgbClr val="17364A"/>
                </a:solidFill>
                <a:latin typeface="Aptos" pitchFamily="34" charset="0"/>
                <a:ea typeface="Aptos" pitchFamily="34" charset="-122"/>
                <a:cs typeface="Aptos" pitchFamily="34" charset="-120"/>
              </a:rPr>
              <a:t>Subgroup performance review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Advanced validation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Advanced validation plan</a:t>
            </a:r>
            <a:endParaRPr lang="en-US" sz="1380" dirty="0"/>
          </a:p>
          <a:p>
            <a:r>
              <a:rPr lang="en-US" sz="1380" dirty="0">
                <a:solidFill>
                  <a:srgbClr val="17364A"/>
                </a:solidFill>
                <a:latin typeface="Aptos" pitchFamily="34" charset="0"/>
                <a:ea typeface="Aptos" pitchFamily="34" charset="-122"/>
                <a:cs typeface="Aptos" pitchFamily="34" charset="-120"/>
              </a:rPr>
              <a:t>Metric and error-consequence table</a:t>
            </a:r>
            <a:endParaRPr lang="en-US" sz="1380" dirty="0"/>
          </a:p>
          <a:p>
            <a:r>
              <a:rPr lang="en-US" sz="1380" dirty="0">
                <a:solidFill>
                  <a:srgbClr val="17364A"/>
                </a:solidFill>
                <a:latin typeface="Aptos" pitchFamily="34" charset="0"/>
                <a:ea typeface="Aptos" pitchFamily="34" charset="-122"/>
                <a:cs typeface="Aptos" pitchFamily="34" charset="-120"/>
              </a:rPr>
              <a:t>Subgroup performance review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can overall accuracy be misleading?</a:t>
            </a:r>
            <a:endParaRPr lang="en-US" sz="2100" dirty="0"/>
          </a:p>
          <a:p>
            <a:r>
              <a:rPr lang="en-US" sz="2100" dirty="0">
                <a:solidFill>
                  <a:srgbClr val="17364A"/>
                </a:solidFill>
                <a:latin typeface="Aptos" pitchFamily="34" charset="0"/>
                <a:ea typeface="Aptos" pitchFamily="34" charset="-122"/>
                <a:cs typeface="Aptos" pitchFamily="34" charset="-120"/>
              </a:rPr>
              <a:t>2. What is workflow validation?</a:t>
            </a:r>
            <a:endParaRPr lang="en-US" sz="2100" dirty="0"/>
          </a:p>
          <a:p>
            <a:r>
              <a:rPr lang="en-US" sz="2100" dirty="0">
                <a:solidFill>
                  <a:srgbClr val="17364A"/>
                </a:solidFill>
                <a:latin typeface="Aptos" pitchFamily="34" charset="0"/>
                <a:ea typeface="Aptos" pitchFamily="34" charset="-122"/>
                <a:cs typeface="Aptos" pitchFamily="34" charset="-120"/>
              </a:rPr>
              <a:t>3. Which metric is especially important when missed true events could cause harm?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can overall accuracy be misleading?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Why can overall accuracy be misleading?</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WHO Guidance on Large Multi-Modal Models:.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Model Validation and Evaluation for Public Health AI</dc:title>
  <dc:subject>Advanced Model Validation and Evaluation for Public Health AI learning module</dc:subject>
  <dc:creator>Paula Soper</dc:creator>
  <cp:lastModifiedBy>Paula Soper</cp:lastModifiedBy>
  <cp:revision>1</cp:revision>
  <dcterms:created xsi:type="dcterms:W3CDTF">2026-07-13T02:11:42Z</dcterms:created>
  <dcterms:modified xsi:type="dcterms:W3CDTF">2026-07-13T02:11:42Z</dcterms:modified>
</cp:coreProperties>
</file>