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 retrieved.</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retrieval-augmented generation in plain language.</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 RAG system, including document ingestion, chunking, embeddings,.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use cases where RAG may improve knowledge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retrieval-augmented generation in plain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Describe the major components of a RAG system, including document ingestion, chunking,.</a:t>
            </a:r>
            <a:endParaRPr lang="en-US" sz="1380" dirty="0"/>
          </a:p>
          <a:p>
            <a:r>
              <a:rPr lang="en-US" sz="1380" dirty="0">
                <a:solidFill>
                  <a:srgbClr val="17364A"/>
                </a:solidFill>
                <a:latin typeface="Aptos" pitchFamily="34" charset="0"/>
                <a:ea typeface="Aptos" pitchFamily="34" charset="-122"/>
                <a:cs typeface="Aptos" pitchFamily="34" charset="-120"/>
              </a:rPr>
              <a:t>Assess risks related to stale content, access control, retrieval quality, hallucination,.</a:t>
            </a:r>
            <a:endParaRPr lang="en-US" sz="1380" dirty="0"/>
          </a:p>
          <a:p>
            <a:r>
              <a:rPr lang="en-US" sz="1380" dirty="0">
                <a:solidFill>
                  <a:srgbClr val="17364A"/>
                </a:solidFill>
                <a:latin typeface="Aptos" pitchFamily="34" charset="0"/>
                <a:ea typeface="Aptos" pitchFamily="34" charset="-122"/>
                <a:cs typeface="Aptos" pitchFamily="34" charset="-120"/>
              </a:rPr>
              <a:t>Design governance and monitoring requirements for agency RAG systems.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Retrieval-augmented generation, often called RAG, combines generative AI with retrieval.</a:t>
            </a:r>
            <a:endParaRPr lang="en-US" sz="1380" dirty="0"/>
          </a:p>
          <a:p>
            <a:r>
              <a:rPr lang="en-US" sz="1380" dirty="0">
                <a:solidFill>
                  <a:srgbClr val="17364A"/>
                </a:solidFill>
                <a:latin typeface="Aptos" pitchFamily="34" charset="0"/>
                <a:ea typeface="Aptos" pitchFamily="34" charset="-122"/>
                <a:cs typeface="Aptos" pitchFamily="34" charset="-120"/>
              </a:rPr>
              <a:t>Instead of relying only on a model’s general training, a RAG system searches approved.</a:t>
            </a:r>
            <a:endParaRPr lang="en-US" sz="1380" dirty="0"/>
          </a:p>
          <a:p>
            <a:r>
              <a:rPr lang="en-US" sz="1380" dirty="0">
                <a:solidFill>
                  <a:srgbClr val="17364A"/>
                </a:solidFill>
                <a:latin typeface="Aptos" pitchFamily="34" charset="0"/>
                <a:ea typeface="Aptos" pitchFamily="34" charset="-122"/>
                <a:cs typeface="Aptos" pitchFamily="34" charset="-120"/>
              </a:rPr>
              <a:t>In public health, RAG may support policy lookup, protocol interpretation, internal help.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2100" dirty="0"/>
          </a:p>
          <a:p>
            <a:r>
              <a:rPr lang="en-US" sz="2100" dirty="0">
                <a:solidFill>
                  <a:srgbClr val="17364A"/>
                </a:solidFill>
                <a:latin typeface="Aptos" pitchFamily="34" charset="0"/>
                <a:ea typeface="Aptos" pitchFamily="34" charset="-122"/>
                <a:cs typeface="Aptos" pitchFamily="34" charset="-120"/>
              </a:rPr>
              <a:t>Staff may spend substantial time searching for answers across shared drives, websites, portals, and.</a:t>
            </a:r>
            <a:endParaRPr lang="en-US" sz="2100" dirty="0"/>
          </a:p>
          <a:p>
            <a:r>
              <a:rPr lang="en-US" sz="2100" dirty="0">
                <a:solidFill>
                  <a:srgbClr val="17364A"/>
                </a:solidFill>
                <a:latin typeface="Aptos" pitchFamily="34" charset="0"/>
                <a:ea typeface="Aptos" pitchFamily="34" charset="-122"/>
                <a:cs typeface="Aptos" pitchFamily="34" charset="-120"/>
              </a:rPr>
              <a:t>A well-designed RAG system can help users find relevant guidance and produce concise, source-linked.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RAG matters because public health agencies manage large collections of guidance,.</a:t>
            </a:r>
            <a:endParaRPr lang="en-US" sz="1380" dirty="0"/>
          </a:p>
          <a:p>
            <a:r>
              <a:rPr lang="en-US" sz="1380" dirty="0">
                <a:solidFill>
                  <a:srgbClr val="17364A"/>
                </a:solidFill>
                <a:latin typeface="Aptos" pitchFamily="34" charset="0"/>
                <a:ea typeface="Aptos" pitchFamily="34" charset="-122"/>
                <a:cs typeface="Aptos" pitchFamily="34" charset="-120"/>
              </a:rPr>
              <a:t>Staff may spend substantial time searching for answers across shared drives, websites,.</a:t>
            </a:r>
            <a:endParaRPr lang="en-US" sz="1380" dirty="0"/>
          </a:p>
          <a:p>
            <a:r>
              <a:rPr lang="en-US" sz="1380" dirty="0">
                <a:solidFill>
                  <a:srgbClr val="17364A"/>
                </a:solidFill>
                <a:latin typeface="Aptos" pitchFamily="34" charset="0"/>
                <a:ea typeface="Aptos" pitchFamily="34" charset="-122"/>
                <a:cs typeface="Aptos" pitchFamily="34" charset="-120"/>
              </a:rPr>
              <a:t>A well-designed RAG system can help users find relevant guidance and produce concise,.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2100" dirty="0"/>
          </a:p>
          <a:p>
            <a:r>
              <a:rPr lang="en-US" sz="2100" dirty="0">
                <a:solidFill>
                  <a:srgbClr val="17364A"/>
                </a:solidFill>
                <a:latin typeface="Aptos" pitchFamily="34" charset="0"/>
                <a:ea typeface="Aptos" pitchFamily="34" charset="-122"/>
                <a:cs typeface="Aptos" pitchFamily="34" charset="-120"/>
              </a:rPr>
              <a:t>The assistant could search approved protocols, case definitions, reporting rules, and escalation.</a:t>
            </a:r>
            <a:endParaRPr lang="en-US" sz="2100" dirty="0"/>
          </a:p>
          <a:p>
            <a:r>
              <a:rPr lang="en-US" sz="2100" dirty="0">
                <a:solidFill>
                  <a:srgbClr val="17364A"/>
                </a:solidFill>
                <a:latin typeface="Aptos" pitchFamily="34" charset="0"/>
                <a:ea typeface="Aptos" pitchFamily="34" charset="-122"/>
                <a:cs typeface="Aptos" pitchFamily="34" charset="-120"/>
              </a:rPr>
              <a:t>When a user asks what steps to take for a suspected condition, the system could summarize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state health department may create an internal RAG assistant to help staff find current.</a:t>
            </a:r>
            <a:endParaRPr lang="en-US" sz="1380" dirty="0"/>
          </a:p>
          <a:p>
            <a:r>
              <a:rPr lang="en-US" sz="1380" dirty="0">
                <a:solidFill>
                  <a:srgbClr val="17364A"/>
                </a:solidFill>
                <a:latin typeface="Aptos" pitchFamily="34" charset="0"/>
                <a:ea typeface="Aptos" pitchFamily="34" charset="-122"/>
                <a:cs typeface="Aptos" pitchFamily="34" charset="-120"/>
              </a:rPr>
              <a:t>The assistant could search approved protocols, case definitions, reporting rules, and.</a:t>
            </a:r>
            <a:endParaRPr lang="en-US" sz="1380" dirty="0"/>
          </a:p>
          <a:p>
            <a:r>
              <a:rPr lang="en-US" sz="1380" dirty="0">
                <a:solidFill>
                  <a:srgbClr val="17364A"/>
                </a:solidFill>
                <a:latin typeface="Aptos" pitchFamily="34" charset="0"/>
                <a:ea typeface="Aptos" pitchFamily="34" charset="-122"/>
                <a:cs typeface="Aptos" pitchFamily="34" charset="-120"/>
              </a:rPr>
              <a:t>When a user asks what steps to take for a suspected condition, the system could summarize.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RAG system begins with content selection.</a:t>
            </a:r>
            <a:endParaRPr lang="en-US" sz="2100" dirty="0"/>
          </a:p>
          <a:p>
            <a:r>
              <a:rPr lang="en-US" sz="2100" dirty="0">
                <a:solidFill>
                  <a:srgbClr val="17364A"/>
                </a:solidFill>
                <a:latin typeface="Aptos" pitchFamily="34" charset="0"/>
                <a:ea typeface="Aptos" pitchFamily="34" charset="-122"/>
                <a:cs typeface="Aptos" pitchFamily="34" charset="-120"/>
              </a:rPr>
              <a:t>Agencies should decide which documents are authoritative, current, approved for the use case, and.</a:t>
            </a:r>
            <a:endParaRPr lang="en-US" sz="2100" dirty="0"/>
          </a:p>
          <a:p>
            <a:r>
              <a:rPr lang="en-US" sz="2100" dirty="0">
                <a:solidFill>
                  <a:srgbClr val="17364A"/>
                </a:solidFill>
                <a:latin typeface="Aptos" pitchFamily="34" charset="0"/>
                <a:ea typeface="Aptos" pitchFamily="34" charset="-122"/>
                <a:cs typeface="Aptos" pitchFamily="34" charset="-120"/>
              </a:rPr>
              <a:t>Content inventories should include owner, version, effective date, review date, sensitivity level,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RAG system begins with content selection.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should decide which documents are authoritative, current, approved for the use.</a:t>
            </a:r>
            <a:endParaRPr lang="en-US" sz="1380" dirty="0"/>
          </a:p>
          <a:p>
            <a:r>
              <a:rPr lang="en-US" sz="1380" dirty="0">
                <a:solidFill>
                  <a:srgbClr val="17364A"/>
                </a:solidFill>
                <a:latin typeface="Aptos" pitchFamily="34" charset="0"/>
                <a:ea typeface="Aptos" pitchFamily="34" charset="-122"/>
                <a:cs typeface="Aptos" pitchFamily="34" charset="-120"/>
              </a:rPr>
              <a:t>Content inventories should include owner, version, effective date, review date,.</a:t>
            </a:r>
            <a:endParaRPr lang="en-US" sz="1380" dirty="0"/>
          </a:p>
          <a:p>
            <a:r>
              <a:rPr lang="en-US" sz="1380" dirty="0">
                <a:solidFill>
                  <a:srgbClr val="17364A"/>
                </a:solidFill>
                <a:latin typeface="Aptos" pitchFamily="34" charset="0"/>
                <a:ea typeface="Aptos" pitchFamily="34" charset="-122"/>
                <a:cs typeface="Aptos" pitchFamily="34" charset="-120"/>
              </a:rPr>
              <a:t>Without this foundation, retrieval can surface obsolete or unauthorized material.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Generation should be constrained by retrieved material.</a:t>
            </a:r>
            <a:endParaRPr lang="en-US" sz="2100" dirty="0"/>
          </a:p>
          <a:p>
            <a:r>
              <a:rPr lang="en-US" sz="2100" dirty="0">
                <a:solidFill>
                  <a:srgbClr val="17364A"/>
                </a:solidFill>
                <a:latin typeface="Aptos" pitchFamily="34" charset="0"/>
                <a:ea typeface="Aptos" pitchFamily="34" charset="-122"/>
                <a:cs typeface="Aptos" pitchFamily="34" charset="-120"/>
              </a:rPr>
              <a:t>The system should be instructed to answer from sources, cite them, identify uncertainty, and avoid.</a:t>
            </a:r>
            <a:endParaRPr lang="en-US" sz="2100" dirty="0"/>
          </a:p>
          <a:p>
            <a:r>
              <a:rPr lang="en-US" sz="2100" dirty="0">
                <a:solidFill>
                  <a:srgbClr val="17364A"/>
                </a:solidFill>
                <a:latin typeface="Aptos" pitchFamily="34" charset="0"/>
                <a:ea typeface="Aptos" pitchFamily="34" charset="-122"/>
                <a:cs typeface="Aptos" pitchFamily="34" charset="-120"/>
              </a:rPr>
              <a:t>It should also explain when guidance conflicts or when source material is insufficient.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Generation should be constrained by retrieved material.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system should be instructed to answer from sources, cite them, identify uncertainty,.</a:t>
            </a:r>
            <a:endParaRPr lang="en-US" sz="1380" dirty="0"/>
          </a:p>
          <a:p>
            <a:r>
              <a:rPr lang="en-US" sz="1380" dirty="0">
                <a:solidFill>
                  <a:srgbClr val="17364A"/>
                </a:solidFill>
                <a:latin typeface="Aptos" pitchFamily="34" charset="0"/>
                <a:ea typeface="Aptos" pitchFamily="34" charset="-122"/>
                <a:cs typeface="Aptos" pitchFamily="34" charset="-120"/>
              </a:rPr>
              <a:t>Users should be able to open the cited source and verify key statements.</a:t>
            </a:r>
            <a:endParaRPr lang="en-US" sz="1380" dirty="0"/>
          </a:p>
          <a:p>
            <a:r>
              <a:rPr lang="en-US" sz="1380" dirty="0">
                <a:solidFill>
                  <a:srgbClr val="17364A"/>
                </a:solidFill>
                <a:latin typeface="Aptos" pitchFamily="34" charset="0"/>
                <a:ea typeface="Aptos" pitchFamily="34" charset="-122"/>
                <a:cs typeface="Aptos" pitchFamily="34" charset="-120"/>
              </a:rPr>
              <a:t>Monitoring should include retrieval failures, unsupported answers, stale content, user.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Stale or conflicting content.</a:t>
            </a:r>
            <a:endParaRPr lang="en-US" sz="2100" dirty="0"/>
          </a:p>
          <a:p>
            <a:r>
              <a:rPr lang="en-US" sz="2100" dirty="0">
                <a:solidFill>
                  <a:srgbClr val="17364A"/>
                </a:solidFill>
                <a:latin typeface="Aptos" pitchFamily="34" charset="0"/>
                <a:ea typeface="Aptos" pitchFamily="34" charset="-122"/>
                <a:cs typeface="Aptos" pitchFamily="34" charset="-120"/>
              </a:rPr>
              <a:t>Outdated or inconsistent documents can produce wrong answers.</a:t>
            </a:r>
            <a:endParaRPr lang="en-US" sz="2100" dirty="0"/>
          </a:p>
          <a:p>
            <a:r>
              <a:rPr lang="en-US" sz="2100" dirty="0">
                <a:solidFill>
                  <a:srgbClr val="17364A"/>
                </a:solidFill>
                <a:latin typeface="Aptos" pitchFamily="34" charset="0"/>
                <a:ea typeface="Aptos" pitchFamily="34" charset="-122"/>
                <a:cs typeface="Aptos" pitchFamily="34" charset="-120"/>
              </a:rPr>
              <a:t>Guardrails include content ownership, version control, review dates, and archival rules.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Stale or conflicting content.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Permission leakage.</a:t>
            </a:r>
            <a:endParaRPr lang="en-US" sz="1380" dirty="0"/>
          </a:p>
          <a:p>
            <a:r>
              <a:rPr lang="en-US" sz="1380" dirty="0">
                <a:solidFill>
                  <a:srgbClr val="17364A"/>
                </a:solidFill>
                <a:latin typeface="Aptos" pitchFamily="34" charset="0"/>
                <a:ea typeface="Aptos" pitchFamily="34" charset="-122"/>
                <a:cs typeface="Aptos" pitchFamily="34" charset="-120"/>
              </a:rPr>
              <a:t>RAG may retrieve content a user should not see.</a:t>
            </a:r>
            <a:endParaRPr lang="en-US" sz="1380" dirty="0"/>
          </a:p>
          <a:p>
            <a:r>
              <a:rPr lang="en-US" sz="1380" dirty="0">
                <a:solidFill>
                  <a:srgbClr val="17364A"/>
                </a:solidFill>
                <a:latin typeface="Aptos" pitchFamily="34" charset="0"/>
                <a:ea typeface="Aptos" pitchFamily="34" charset="-122"/>
                <a:cs typeface="Aptos" pitchFamily="34" charset="-120"/>
              </a:rPr>
              <a:t>Guardrails include role-based access, document-level permissions, and audit logs.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generation.</a:t>
            </a:r>
            <a:endParaRPr lang="en-US" sz="2100" dirty="0"/>
          </a:p>
          <a:p>
            <a:r>
              <a:rPr lang="en-US" sz="2100" dirty="0">
                <a:solidFill>
                  <a:srgbClr val="17364A"/>
                </a:solidFill>
                <a:latin typeface="Aptos" pitchFamily="34" charset="0"/>
                <a:ea typeface="Aptos" pitchFamily="34" charset="-122"/>
                <a:cs typeface="Aptos" pitchFamily="34" charset="-120"/>
              </a:rPr>
              <a:t>The model may add claims beyond retrieved sources.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source-only instructions, citation requirements, and reviewer verification.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generation.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Unsupported generation.</a:t>
            </a:r>
            <a:endParaRPr lang="en-US" sz="1380" dirty="0"/>
          </a:p>
          <a:p>
            <a:r>
              <a:rPr lang="en-US" sz="1380" dirty="0">
                <a:solidFill>
                  <a:srgbClr val="17364A"/>
                </a:solidFill>
                <a:latin typeface="Aptos" pitchFamily="34" charset="0"/>
                <a:ea typeface="Aptos" pitchFamily="34" charset="-122"/>
                <a:cs typeface="Aptos" pitchFamily="34" charset="-120"/>
              </a:rPr>
              <a:t>The model may add claims beyond retrieved sources.</a:t>
            </a:r>
            <a:endParaRPr lang="en-US" sz="1380" dirty="0"/>
          </a:p>
          <a:p>
            <a:r>
              <a:rPr lang="en-US" sz="1380" dirty="0">
                <a:solidFill>
                  <a:srgbClr val="17364A"/>
                </a:solidFill>
                <a:latin typeface="Aptos" pitchFamily="34" charset="0"/>
                <a:ea typeface="Aptos" pitchFamily="34" charset="-122"/>
                <a:cs typeface="Aptos" pitchFamily="34" charset="-120"/>
              </a:rPr>
              <a:t>Guardrails include source-only instructions, citation requirements, and reviewer.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2100" dirty="0"/>
          </a:p>
          <a:p>
            <a:r>
              <a:rPr lang="en-US" sz="2100" dirty="0">
                <a:solidFill>
                  <a:srgbClr val="17364A"/>
                </a:solidFill>
                <a:latin typeface="Aptos" pitchFamily="34" charset="0"/>
                <a:ea typeface="Aptos" pitchFamily="34" charset="-122"/>
                <a:cs typeface="Aptos" pitchFamily="34" charset="-120"/>
              </a:rPr>
              <a:t>It may be used in chat assistants, training tools, policy support, emergency operations, procurement.</a:t>
            </a:r>
            <a:endParaRPr lang="en-US" sz="2100" dirty="0"/>
          </a:p>
          <a:p>
            <a:r>
              <a:rPr lang="en-US" sz="2100" dirty="0">
                <a:solidFill>
                  <a:srgbClr val="17364A"/>
                </a:solidFill>
                <a:latin typeface="Aptos" pitchFamily="34" charset="0"/>
                <a:ea typeface="Aptos" pitchFamily="34" charset="-122"/>
                <a:cs typeface="Aptos" pitchFamily="34" charset="-120"/>
              </a:rPr>
              <a:t>It can also support agentic workflows by giving agents access to approved guidance, but actions based.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may be used in chat assistants, training tools, policy support, emergency operations,.</a:t>
            </a:r>
            <a:endParaRPr lang="en-US" sz="1380" dirty="0"/>
          </a:p>
          <a:p>
            <a:r>
              <a:rPr lang="en-US" sz="1380" dirty="0">
                <a:solidFill>
                  <a:srgbClr val="17364A"/>
                </a:solidFill>
                <a:latin typeface="Aptos" pitchFamily="34" charset="0"/>
                <a:ea typeface="Aptos" pitchFamily="34" charset="-122"/>
                <a:cs typeface="Aptos" pitchFamily="34" charset="-120"/>
              </a:rPr>
              <a:t>It can also support agentic workflows by giving agents access to approved guidance, but.</a:t>
            </a:r>
            <a:endParaRPr lang="en-US" sz="1380" dirty="0"/>
          </a:p>
          <a:p>
            <a:r>
              <a:rPr lang="en-US" sz="1380" dirty="0">
                <a:solidFill>
                  <a:srgbClr val="17364A"/>
                </a:solidFill>
                <a:latin typeface="Aptos" pitchFamily="34" charset="0"/>
                <a:ea typeface="Aptos" pitchFamily="34" charset="-122"/>
                <a:cs typeface="Aptos" pitchFamily="34" charset="-120"/>
              </a:rPr>
              <a:t>Public health RAG systems should be built around trust.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content collection would the RAG system use?</a:t>
            </a:r>
            <a:endParaRPr lang="en-US" sz="2100" dirty="0"/>
          </a:p>
          <a:p>
            <a:r>
              <a:rPr lang="en-US" sz="2100" dirty="0">
                <a:solidFill>
                  <a:srgbClr val="17364A"/>
                </a:solidFill>
                <a:latin typeface="Aptos" pitchFamily="34" charset="0"/>
                <a:ea typeface="Aptos" pitchFamily="34" charset="-122"/>
                <a:cs typeface="Aptos" pitchFamily="34" charset="-120"/>
              </a:rPr>
              <a:t>Who owns and updates each source document?</a:t>
            </a:r>
            <a:endParaRPr lang="en-US" sz="2100" dirty="0"/>
          </a:p>
          <a:p>
            <a:r>
              <a:rPr lang="en-US" sz="2100" dirty="0">
                <a:solidFill>
                  <a:srgbClr val="17364A"/>
                </a:solidFill>
                <a:latin typeface="Aptos" pitchFamily="34" charset="0"/>
                <a:ea typeface="Aptos" pitchFamily="34" charset="-122"/>
                <a:cs typeface="Aptos" pitchFamily="34" charset="-120"/>
              </a:rPr>
              <a:t>How will access permissions be enforced?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content collection would the RAG system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content collection would the RAG system use?</a:t>
            </a:r>
            <a:endParaRPr lang="en-US" sz="1380" dirty="0"/>
          </a:p>
          <a:p>
            <a:r>
              <a:rPr lang="en-US" sz="1380" dirty="0">
                <a:solidFill>
                  <a:srgbClr val="17364A"/>
                </a:solidFill>
                <a:latin typeface="Aptos" pitchFamily="34" charset="0"/>
                <a:ea typeface="Aptos" pitchFamily="34" charset="-122"/>
                <a:cs typeface="Aptos" pitchFamily="34" charset="-120"/>
              </a:rPr>
              <a:t>Who owns and updates each source document?</a:t>
            </a:r>
            <a:endParaRPr lang="en-US" sz="1380" dirty="0"/>
          </a:p>
          <a:p>
            <a:r>
              <a:rPr lang="en-US" sz="1380" dirty="0">
                <a:solidFill>
                  <a:srgbClr val="17364A"/>
                </a:solidFill>
                <a:latin typeface="Aptos" pitchFamily="34" charset="0"/>
                <a:ea typeface="Aptos" pitchFamily="34" charset="-122"/>
                <a:cs typeface="Aptos" pitchFamily="34" charset="-120"/>
              </a:rPr>
              <a:t>How will access permissions be enforced?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retrieval quality and citation accuracy be tested?</a:t>
            </a:r>
            <a:endParaRPr lang="en-US" sz="2100" dirty="0"/>
          </a:p>
          <a:p>
            <a:r>
              <a:rPr lang="en-US" sz="2100" dirty="0">
                <a:solidFill>
                  <a:srgbClr val="17364A"/>
                </a:solidFill>
                <a:latin typeface="Aptos" pitchFamily="34" charset="0"/>
                <a:ea typeface="Aptos" pitchFamily="34" charset="-122"/>
                <a:cs typeface="Aptos" pitchFamily="34" charset="-120"/>
              </a:rPr>
              <a:t>What should the system do when sources are missing, outdated, or conflicting?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retrieval quality and citation accuracy be tested?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How will retrieval quality and citation accuracy be tested?</a:t>
            </a:r>
            <a:endParaRPr lang="en-US" sz="1380" dirty="0"/>
          </a:p>
          <a:p>
            <a:r>
              <a:rPr lang="en-US" sz="1380" dirty="0">
                <a:solidFill>
                  <a:srgbClr val="17364A"/>
                </a:solidFill>
                <a:latin typeface="Aptos" pitchFamily="34" charset="0"/>
                <a:ea typeface="Aptos" pitchFamily="34" charset="-122"/>
                <a:cs typeface="Aptos" pitchFamily="34" charset="-120"/>
              </a:rPr>
              <a:t>What should the system do when sources are missing, outdated, or conflicting?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2100" dirty="0"/>
          </a:p>
          <a:p>
            <a:r>
              <a:rPr lang="en-US" sz="2100" dirty="0">
                <a:solidFill>
                  <a:srgbClr val="17364A"/>
                </a:solidFill>
                <a:latin typeface="Aptos" pitchFamily="34" charset="0"/>
                <a:ea typeface="Aptos" pitchFamily="34" charset="-122"/>
                <a:cs typeface="Aptos" pitchFamily="34" charset="-120"/>
              </a:rPr>
              <a:t>Include content inventory, source authority, document owners, update schedule, sensitivity level,.</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at least three “do not answer” or escalation situations, such as missing.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Include content inventory, source authority, document owners, update schedule, sensitivity.</a:t>
            </a:r>
            <a:endParaRPr lang="en-US" sz="1380" dirty="0"/>
          </a:p>
          <a:p>
            <a:r>
              <a:rPr lang="en-US" sz="1380" dirty="0">
                <a:solidFill>
                  <a:srgbClr val="17364A"/>
                </a:solidFill>
                <a:latin typeface="Aptos" pitchFamily="34" charset="0"/>
                <a:ea typeface="Aptos" pitchFamily="34" charset="-122"/>
                <a:cs typeface="Aptos" pitchFamily="34" charset="-120"/>
              </a:rPr>
              <a:t>The checklist should identify at least three “do not answer” or escalation situations,.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RAG readiness checklist</a:t>
            </a:r>
            <a:endParaRPr lang="en-US" sz="1380" dirty="0"/>
          </a:p>
          <a:p>
            <a:r>
              <a:rPr lang="en-US" sz="1380" dirty="0">
                <a:solidFill>
                  <a:srgbClr val="17364A"/>
                </a:solidFill>
                <a:latin typeface="Aptos" pitchFamily="34" charset="0"/>
                <a:ea typeface="Aptos" pitchFamily="34" charset="-122"/>
                <a:cs typeface="Aptos" pitchFamily="34" charset="-120"/>
              </a:rPr>
              <a:t>Content inventory and ownership table</a:t>
            </a:r>
            <a:endParaRPr lang="en-US" sz="1380" dirty="0"/>
          </a:p>
          <a:p>
            <a:r>
              <a:rPr lang="en-US" sz="1380" dirty="0">
                <a:solidFill>
                  <a:srgbClr val="17364A"/>
                </a:solidFill>
                <a:latin typeface="Aptos" pitchFamily="34" charset="0"/>
                <a:ea typeface="Aptos" pitchFamily="34" charset="-122"/>
                <a:cs typeface="Aptos" pitchFamily="34" charset="-120"/>
              </a:rPr>
              <a:t>Retrieval test question set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Citation and source verification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Citation and source verification protocol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Citation and source verification protocol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RAG readiness checklist</a:t>
            </a:r>
            <a:endParaRPr lang="en-US" sz="1380" dirty="0"/>
          </a:p>
          <a:p>
            <a:r>
              <a:rPr lang="en-US" sz="1380" dirty="0">
                <a:solidFill>
                  <a:srgbClr val="17364A"/>
                </a:solidFill>
                <a:latin typeface="Aptos" pitchFamily="34" charset="0"/>
                <a:ea typeface="Aptos" pitchFamily="34" charset="-122"/>
                <a:cs typeface="Aptos" pitchFamily="34" charset="-120"/>
              </a:rPr>
              <a:t>Content inventory and ownership table</a:t>
            </a:r>
            <a:endParaRPr lang="en-US" sz="1380" dirty="0"/>
          </a:p>
          <a:p>
            <a:r>
              <a:rPr lang="en-US" sz="1380" dirty="0">
                <a:solidFill>
                  <a:srgbClr val="17364A"/>
                </a:solidFill>
                <a:latin typeface="Aptos" pitchFamily="34" charset="0"/>
                <a:ea typeface="Aptos" pitchFamily="34" charset="-122"/>
                <a:cs typeface="Aptos" pitchFamily="34" charset="-120"/>
              </a:rPr>
              <a:t>Retrieval test question set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RAG?</a:t>
            </a:r>
            <a:endParaRPr lang="en-US" sz="2100" dirty="0"/>
          </a:p>
          <a:p>
            <a:r>
              <a:rPr lang="en-US" sz="2100" dirty="0">
                <a:solidFill>
                  <a:srgbClr val="17364A"/>
                </a:solidFill>
                <a:latin typeface="Aptos" pitchFamily="34" charset="0"/>
                <a:ea typeface="Aptos" pitchFamily="34" charset="-122"/>
                <a:cs typeface="Aptos" pitchFamily="34" charset="-120"/>
              </a:rPr>
              <a:t>2. Why does chunking matter?</a:t>
            </a:r>
            <a:endParaRPr lang="en-US" sz="2100" dirty="0"/>
          </a:p>
          <a:p>
            <a:r>
              <a:rPr lang="en-US" sz="2100" dirty="0">
                <a:solidFill>
                  <a:srgbClr val="17364A"/>
                </a:solidFill>
                <a:latin typeface="Aptos" pitchFamily="34" charset="0"/>
                <a:ea typeface="Aptos" pitchFamily="34" charset="-122"/>
                <a:cs typeface="Aptos" pitchFamily="34" charset="-120"/>
              </a:rPr>
              <a:t>3. What is a major RAG governance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RAG?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RAG?</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ONC USCDI: https://isp.healthit.gov/united-states-core-data-interoperability-uscdi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2026-07-13T02:11:42Z</dcterms:created>
  <dcterms:modified xsi:type="dcterms:W3CDTF">2026-07-13T02:11:42Z</dcterms:modified>
</cp:coreProperties>
</file>