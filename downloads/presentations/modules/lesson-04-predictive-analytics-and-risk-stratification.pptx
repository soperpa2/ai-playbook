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1700" dirty="0"/>
          </a:p>
          <a:p>
            <a:r>
              <a:rPr lang="en-US" sz="1700" dirty="0">
                <a:solidFill>
                  <a:srgbClr val="17364A"/>
                </a:solidFill>
                <a:latin typeface="Aptos" pitchFamily="34" charset="0"/>
                <a:ea typeface="Aptos" pitchFamily="34" charset="-122"/>
                <a:cs typeface="Aptos" pitchFamily="34" charset="-120"/>
              </a:rPr>
              <a:t>In public health, predictive models may be used to anticipate disease burden, identify populations at higher risk, prioritize outreach, allocate.</a:t>
            </a:r>
            <a:endParaRPr lang="en-US" sz="1700" dirty="0"/>
          </a:p>
          <a:p>
            <a:r>
              <a:rPr lang="en-US" sz="1700" dirty="0">
                <a:solidFill>
                  <a:srgbClr val="17364A"/>
                </a:solidFill>
                <a:latin typeface="Aptos" pitchFamily="34" charset="0"/>
                <a:ea typeface="Aptos" pitchFamily="34" charset="-122"/>
                <a:cs typeface="Aptos" pitchFamily="34" charset="-120"/>
              </a:rPr>
              <a:t>Risk stratification is the practice of grouping individuals, facilities, areas, events, or populations into categories based on estimated risk.</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distinguish prediction from diagnosis, causation, eligibility determination, and public health judgment.</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Analytics and Modeling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analytics-modeling</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700" dirty="0"/>
          </a:p>
          <a:p>
            <a:r>
              <a:rPr lang="en-US" sz="1700" dirty="0">
                <a:solidFill>
                  <a:srgbClr val="17364A"/>
                </a:solidFill>
                <a:latin typeface="Aptos" pitchFamily="34" charset="0"/>
                <a:ea typeface="Aptos" pitchFamily="34" charset="-122"/>
                <a:cs typeface="Aptos" pitchFamily="34" charset="-120"/>
              </a:rPr>
              <a:t>Distinguish prediction from causation, diagnosis, and eligibility determination.</a:t>
            </a:r>
            <a:endParaRPr lang="en-US" sz="1700" dirty="0"/>
          </a:p>
          <a:p>
            <a:r>
              <a:rPr lang="en-US" sz="1700" dirty="0">
                <a:solidFill>
                  <a:srgbClr val="17364A"/>
                </a:solidFill>
                <a:latin typeface="Aptos" pitchFamily="34" charset="0"/>
                <a:ea typeface="Aptos" pitchFamily="34" charset="-122"/>
                <a:cs typeface="Aptos" pitchFamily="34" charset="-120"/>
              </a:rPr>
              <a:t>Interpret basic risk categories, thresholds, calibration, and error tradeoffs.</a:t>
            </a:r>
            <a:endParaRPr lang="en-US" sz="1700" dirty="0"/>
          </a:p>
          <a:p>
            <a:r>
              <a:rPr lang="en-US" sz="1700" dirty="0">
                <a:solidFill>
                  <a:srgbClr val="17364A"/>
                </a:solidFill>
                <a:latin typeface="Aptos" pitchFamily="34" charset="0"/>
                <a:ea typeface="Aptos" pitchFamily="34" charset="-122"/>
                <a:cs typeface="Aptos" pitchFamily="34" charset="-120"/>
              </a:rPr>
              <a:t>Identify equity and operational risks associated with risk scores.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1700" dirty="0"/>
          </a:p>
          <a:p>
            <a:r>
              <a:rPr lang="en-US" sz="1700" dirty="0">
                <a:solidFill>
                  <a:srgbClr val="17364A"/>
                </a:solidFill>
                <a:latin typeface="Aptos" pitchFamily="34" charset="0"/>
                <a:ea typeface="Aptos" pitchFamily="34" charset="-122"/>
                <a:cs typeface="Aptos" pitchFamily="34" charset="-120"/>
              </a:rPr>
              <a:t>In public health, predictive models may be used to anticipate disease burden, identify populations at higher risk,.</a:t>
            </a:r>
            <a:endParaRPr lang="en-US" sz="1700" dirty="0"/>
          </a:p>
          <a:p>
            <a:r>
              <a:rPr lang="en-US" sz="1700" dirty="0">
                <a:solidFill>
                  <a:srgbClr val="17364A"/>
                </a:solidFill>
                <a:latin typeface="Aptos" pitchFamily="34" charset="0"/>
                <a:ea typeface="Aptos" pitchFamily="34" charset="-122"/>
                <a:cs typeface="Aptos" pitchFamily="34" charset="-120"/>
              </a:rPr>
              <a:t>Risk stratification is the practice of grouping individuals, facilities, areas, events, or populations into categories.</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distinguish prediction from diagnosis, causation, eligibility determination, 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 available.</a:t>
            </a:r>
            <a:endParaRPr lang="en-US" sz="1700" dirty="0"/>
          </a:p>
          <a:p>
            <a:r>
              <a:rPr lang="en-US" sz="1700" dirty="0">
                <a:solidFill>
                  <a:srgbClr val="17364A"/>
                </a:solidFill>
                <a:latin typeface="Aptos" pitchFamily="34" charset="0"/>
                <a:ea typeface="Aptos" pitchFamily="34" charset="-122"/>
                <a:cs typeface="Aptos" pitchFamily="34" charset="-120"/>
              </a:rPr>
              <a:t>During outbreaks, emergencies, or resource-constrained programs, agencies may need to decide where to send staff, which.</a:t>
            </a:r>
            <a:endParaRPr lang="en-US" sz="1700" dirty="0"/>
          </a:p>
          <a:p>
            <a:r>
              <a:rPr lang="en-US" sz="1700" dirty="0">
                <a:solidFill>
                  <a:srgbClr val="17364A"/>
                </a:solidFill>
                <a:latin typeface="Aptos" pitchFamily="34" charset="0"/>
                <a:ea typeface="Aptos" pitchFamily="34" charset="-122"/>
                <a:cs typeface="Aptos" pitchFamily="34" charset="-120"/>
              </a:rPr>
              <a:t>Prediction can help organize uncertainty, but it cannot remove uncertainty.</a:t>
            </a:r>
            <a:endParaRPr lang="en-US" sz="1700" dirty="0"/>
          </a:p>
          <a:p>
            <a:r>
              <a:rPr lang="en-US" sz="1700" dirty="0">
                <a:solidFill>
                  <a:srgbClr val="17364A"/>
                </a:solidFill>
                <a:latin typeface="Aptos" pitchFamily="34" charset="0"/>
                <a:ea typeface="Aptos" pitchFamily="34" charset="-122"/>
                <a:cs typeface="Aptos" pitchFamily="34" charset="-120"/>
              </a:rPr>
              <a:t>Risk stratification can also create harm if used carelessly.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 available.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 vaccination coverage before.</a:t>
            </a:r>
            <a:endParaRPr lang="en-US" sz="1700" dirty="0"/>
          </a:p>
          <a:p>
            <a:r>
              <a:rPr lang="en-US" sz="1700" dirty="0">
                <a:solidFill>
                  <a:srgbClr val="17364A"/>
                </a:solidFill>
                <a:latin typeface="Aptos" pitchFamily="34" charset="0"/>
                <a:ea typeface="Aptos" pitchFamily="34" charset="-122"/>
                <a:cs typeface="Aptos" pitchFamily="34" charset="-120"/>
              </a:rPr>
              <a:t>The model could use prior immunization data, school enrollment patterns, appointment availability, language access.</a:t>
            </a:r>
            <a:endParaRPr lang="en-US" sz="1700" dirty="0"/>
          </a:p>
          <a:p>
            <a:r>
              <a:rPr lang="en-US" sz="1700" dirty="0">
                <a:solidFill>
                  <a:srgbClr val="17364A"/>
                </a:solidFill>
                <a:latin typeface="Aptos" pitchFamily="34" charset="0"/>
                <a:ea typeface="Aptos" pitchFamily="34" charset="-122"/>
                <a:cs typeface="Aptos" pitchFamily="34" charset="-120"/>
              </a:rPr>
              <a:t>The output might help prioritize community outreach and mobile clinics.</a:t>
            </a:r>
            <a:endParaRPr lang="en-US" sz="1700" dirty="0"/>
          </a:p>
          <a:p>
            <a:r>
              <a:rPr lang="en-US" sz="1700" dirty="0">
                <a:solidFill>
                  <a:srgbClr val="17364A"/>
                </a:solidFill>
                <a:latin typeface="Aptos" pitchFamily="34" charset="0"/>
                <a:ea typeface="Aptos" pitchFamily="34" charset="-122"/>
                <a:cs typeface="Aptos" pitchFamily="34" charset="-120"/>
              </a:rPr>
              <a:t>This use can support equity if it directs resources toward communities facing access barriers.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 vaccination coverage before.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predictive workflow begins with the outcome.</a:t>
            </a:r>
            <a:endParaRPr lang="en-US" sz="1700" dirty="0"/>
          </a:p>
          <a:p>
            <a:r>
              <a:rPr lang="en-US" sz="1700" dirty="0">
                <a:solidFill>
                  <a:srgbClr val="17364A"/>
                </a:solidFill>
                <a:latin typeface="Aptos" pitchFamily="34" charset="0"/>
                <a:ea typeface="Aptos" pitchFamily="34" charset="-122"/>
                <a:cs typeface="Aptos" pitchFamily="34" charset="-120"/>
              </a:rPr>
              <a:t>The outcome must be specific, measurable, and aligned with a public health action.</a:t>
            </a:r>
            <a:endParaRPr lang="en-US" sz="1700" dirty="0"/>
          </a:p>
          <a:p>
            <a:r>
              <a:rPr lang="en-US" sz="1700" dirty="0">
                <a:solidFill>
                  <a:srgbClr val="17364A"/>
                </a:solidFill>
                <a:latin typeface="Aptos" pitchFamily="34" charset="0"/>
                <a:ea typeface="Aptos" pitchFamily="34" charset="-122"/>
                <a:cs typeface="Aptos" pitchFamily="34" charset="-120"/>
              </a:rPr>
              <a:t>Predicting “risk” is not enough.</a:t>
            </a:r>
            <a:endParaRPr lang="en-US" sz="1700" dirty="0"/>
          </a:p>
          <a:p>
            <a:r>
              <a:rPr lang="en-US" sz="1700" dirty="0">
                <a:solidFill>
                  <a:srgbClr val="17364A"/>
                </a:solidFill>
                <a:latin typeface="Aptos" pitchFamily="34" charset="0"/>
                <a:ea typeface="Aptos" pitchFamily="34" charset="-122"/>
                <a:cs typeface="Aptos" pitchFamily="34" charset="-120"/>
              </a:rPr>
              <a:t>Staff must define risk of what, during what time period, for which population, and for what purpose.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predictive workflow begins with the outcome.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700" dirty="0"/>
          </a:p>
          <a:p>
            <a:r>
              <a:rPr lang="en-US" sz="1700" dirty="0">
                <a:solidFill>
                  <a:srgbClr val="17364A"/>
                </a:solidFill>
                <a:latin typeface="Aptos" pitchFamily="34" charset="0"/>
                <a:ea typeface="Aptos" pitchFamily="34" charset="-122"/>
                <a:cs typeface="Aptos" pitchFamily="34" charset="-120"/>
              </a:rPr>
              <a:t>A lower threshold may catch more true high-risk cases but create more false positives and burden staff.</a:t>
            </a:r>
            <a:endParaRPr lang="en-US" sz="1700" dirty="0"/>
          </a:p>
          <a:p>
            <a:r>
              <a:rPr lang="en-US" sz="1700" dirty="0">
                <a:solidFill>
                  <a:srgbClr val="17364A"/>
                </a:solidFill>
                <a:latin typeface="Aptos" pitchFamily="34" charset="0"/>
                <a:ea typeface="Aptos" pitchFamily="34" charset="-122"/>
                <a:cs typeface="Aptos" pitchFamily="34" charset="-120"/>
              </a:rPr>
              <a:t>A higher threshold may conserve resources but miss people or places needing support.</a:t>
            </a:r>
            <a:endParaRPr lang="en-US" sz="1700" dirty="0"/>
          </a:p>
          <a:p>
            <a:r>
              <a:rPr lang="en-US" sz="1700" dirty="0">
                <a:solidFill>
                  <a:srgbClr val="17364A"/>
                </a:solidFill>
                <a:latin typeface="Aptos" pitchFamily="34" charset="0"/>
                <a:ea typeface="Aptos" pitchFamily="34" charset="-122"/>
                <a:cs typeface="Aptos" pitchFamily="34" charset="-120"/>
              </a:rPr>
              <a:t>Threshold selection should consider staffing capacity, consequence severity, equity, and the availability of human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Prediction used as decision.</a:t>
            </a:r>
            <a:endParaRPr lang="en-US" sz="1700" dirty="0"/>
          </a:p>
          <a:p>
            <a:r>
              <a:rPr lang="en-US" sz="1700" dirty="0">
                <a:solidFill>
                  <a:srgbClr val="17364A"/>
                </a:solidFill>
                <a:latin typeface="Aptos" pitchFamily="34" charset="0"/>
                <a:ea typeface="Aptos" pitchFamily="34" charset="-122"/>
                <a:cs typeface="Aptos" pitchFamily="34" charset="-120"/>
              </a:rPr>
              <a:t>A risk score may be treated as a final decision rather than decision support.</a:t>
            </a:r>
            <a:endParaRPr lang="en-US" sz="1700" dirty="0"/>
          </a:p>
          <a:p>
            <a:r>
              <a:rPr lang="en-US" sz="1700" dirty="0">
                <a:solidFill>
                  <a:srgbClr val="17364A"/>
                </a:solidFill>
                <a:latin typeface="Aptos" pitchFamily="34" charset="0"/>
                <a:ea typeface="Aptos" pitchFamily="34" charset="-122"/>
                <a:cs typeface="Aptos" pitchFamily="34" charset="-120"/>
              </a:rPr>
              <a:t>Guardrails include role-based guidance, human review, and documentation of final decisions.</a:t>
            </a:r>
            <a:endParaRPr lang="en-US" sz="1700" dirty="0"/>
          </a:p>
          <a:p>
            <a:r>
              <a:rPr lang="en-US" sz="1700" dirty="0">
                <a:solidFill>
                  <a:srgbClr val="17364A"/>
                </a:solidFill>
                <a:latin typeface="Aptos" pitchFamily="34" charset="0"/>
                <a:ea typeface="Aptos" pitchFamily="34" charset="-122"/>
                <a:cs typeface="Aptos" pitchFamily="34" charset="-120"/>
              </a:rPr>
              <a:t>Equity distortion.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Prediction used as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Model drift.</a:t>
            </a:r>
            <a:endParaRPr lang="en-US" sz="1700" dirty="0"/>
          </a:p>
          <a:p>
            <a:r>
              <a:rPr lang="en-US" sz="1700" dirty="0">
                <a:solidFill>
                  <a:srgbClr val="17364A"/>
                </a:solidFill>
                <a:latin typeface="Aptos" pitchFamily="34" charset="0"/>
                <a:ea typeface="Aptos" pitchFamily="34" charset="-122"/>
                <a:cs typeface="Aptos" pitchFamily="34" charset="-120"/>
              </a:rPr>
              <a:t>Performance may change over time.</a:t>
            </a:r>
            <a:endParaRPr lang="en-US" sz="1700" dirty="0"/>
          </a:p>
          <a:p>
            <a:r>
              <a:rPr lang="en-US" sz="1700" dirty="0">
                <a:solidFill>
                  <a:srgbClr val="17364A"/>
                </a:solidFill>
                <a:latin typeface="Aptos" pitchFamily="34" charset="0"/>
                <a:ea typeface="Aptos" pitchFamily="34" charset="-122"/>
                <a:cs typeface="Aptos" pitchFamily="34" charset="-120"/>
              </a:rPr>
              <a:t>Guardrails include periodic recalibration, drift monitoring, and authority to pause or modify use.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Model drift.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 outreach lists, or.</a:t>
            </a:r>
            <a:endParaRPr lang="en-US" sz="1700" dirty="0"/>
          </a:p>
          <a:p>
            <a:r>
              <a:rPr lang="en-US" sz="1700" dirty="0">
                <a:solidFill>
                  <a:srgbClr val="17364A"/>
                </a:solidFill>
                <a:latin typeface="Aptos" pitchFamily="34" charset="0"/>
                <a:ea typeface="Aptos" pitchFamily="34" charset="-122"/>
                <a:cs typeface="Aptos" pitchFamily="34" charset="-120"/>
              </a:rPr>
              <a:t>Generative AI may explain or summarize predictive outputs, but those explanations must not imply certainty that the model.</a:t>
            </a:r>
            <a:endParaRPr lang="en-US" sz="1700" dirty="0"/>
          </a:p>
          <a:p>
            <a:r>
              <a:rPr lang="en-US" sz="1700" dirty="0">
                <a:solidFill>
                  <a:srgbClr val="17364A"/>
                </a:solidFill>
                <a:latin typeface="Aptos" pitchFamily="34" charset="0"/>
                <a:ea typeface="Aptos" pitchFamily="34" charset="-122"/>
                <a:cs typeface="Aptos" pitchFamily="34" charset="-120"/>
              </a:rPr>
              <a:t>RAG systems may combine risk results with policy guidance, while agentic workflows may trigger tasks or notifications based.</a:t>
            </a:r>
            <a:endParaRPr lang="en-US" sz="1700" dirty="0"/>
          </a:p>
          <a:p>
            <a:r>
              <a:rPr lang="en-US" sz="1700" dirty="0">
                <a:solidFill>
                  <a:srgbClr val="17364A"/>
                </a:solidFill>
                <a:latin typeface="Aptos" pitchFamily="34" charset="0"/>
                <a:ea typeface="Aptos" pitchFamily="34" charset="-122"/>
                <a:cs typeface="Aptos" pitchFamily="34" charset="-120"/>
              </a:rPr>
              <a:t>When prediction supports public health action, the workflow should make the score, its limitations, and the source data.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 outreach lists, or.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outcome is being predicted, and over what time period?</a:t>
            </a:r>
            <a:endParaRPr lang="en-US" sz="1700" dirty="0"/>
          </a:p>
          <a:p>
            <a:r>
              <a:rPr lang="en-US" sz="1700" dirty="0">
                <a:solidFill>
                  <a:srgbClr val="17364A"/>
                </a:solidFill>
                <a:latin typeface="Aptos" pitchFamily="34" charset="0"/>
                <a:ea typeface="Aptos" pitchFamily="34" charset="-122"/>
                <a:cs typeface="Aptos" pitchFamily="34" charset="-120"/>
              </a:rPr>
              <a:t>What public health action will follow a high-risk score?</a:t>
            </a:r>
            <a:endParaRPr lang="en-US" sz="1700" dirty="0"/>
          </a:p>
          <a:p>
            <a:r>
              <a:rPr lang="en-US" sz="1700" dirty="0">
                <a:solidFill>
                  <a:srgbClr val="17364A"/>
                </a:solidFill>
                <a:latin typeface="Aptos" pitchFamily="34" charset="0"/>
                <a:ea typeface="Aptos" pitchFamily="34" charset="-122"/>
                <a:cs typeface="Aptos" pitchFamily="34" charset="-120"/>
              </a:rPr>
              <a:t>Which data sources may underrepresent some populations?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outcome is being predicted, and over what time period?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700" dirty="0"/>
          </a:p>
          <a:p>
            <a:r>
              <a:rPr lang="en-US" sz="1700" dirty="0">
                <a:solidFill>
                  <a:srgbClr val="17364A"/>
                </a:solidFill>
                <a:latin typeface="Aptos" pitchFamily="34" charset="0"/>
                <a:ea typeface="Aptos" pitchFamily="34" charset="-122"/>
                <a:cs typeface="Aptos" pitchFamily="34" charset="-120"/>
              </a:rPr>
              <a:t>How will thresholds, calibration, and subgroup performance be monitored?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700" dirty="0"/>
          </a:p>
          <a:p>
            <a:r>
              <a:rPr lang="en-US" sz="1700" dirty="0">
                <a:solidFill>
                  <a:srgbClr val="17364A"/>
                </a:solidFill>
                <a:latin typeface="Aptos" pitchFamily="34" charset="0"/>
                <a:ea typeface="Aptos" pitchFamily="34" charset="-122"/>
                <a:cs typeface="Aptos" pitchFamily="34" charset="-120"/>
              </a:rPr>
              <a:t>Include the outcome, population, time horizon, data sources, candidate features, risk categories, thresholds, performance.</a:t>
            </a:r>
            <a:endParaRPr lang="en-US" sz="1700" dirty="0"/>
          </a:p>
          <a:p>
            <a:r>
              <a:rPr lang="en-US" sz="1700" dirty="0">
                <a:solidFill>
                  <a:srgbClr val="17364A"/>
                </a:solidFill>
                <a:latin typeface="Aptos" pitchFamily="34" charset="0"/>
                <a:ea typeface="Aptos" pitchFamily="34" charset="-122"/>
                <a:cs typeface="Aptos" pitchFamily="34" charset="-120"/>
              </a:rPr>
              <a:t>The plan should also identify whether the use is supportive, restrictive, or consequential.</a:t>
            </a:r>
            <a:endParaRPr lang="en-US" sz="1700" dirty="0"/>
          </a:p>
          <a:p>
            <a:r>
              <a:rPr lang="en-US" sz="1700" dirty="0">
                <a:solidFill>
                  <a:srgbClr val="17364A"/>
                </a:solidFill>
                <a:latin typeface="Aptos" pitchFamily="34" charset="0"/>
                <a:ea typeface="Aptos" pitchFamily="34" charset="-122"/>
                <a:cs typeface="Aptos" pitchFamily="34" charset="-120"/>
              </a:rPr>
              <a:t>Predictive tools used to allocate supportive resources have different risk profiles than tools used to deny, delay, or.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Predictive model review plan</a:t>
            </a:r>
            <a:endParaRPr lang="en-US" sz="1700" dirty="0"/>
          </a:p>
          <a:p>
            <a:r>
              <a:rPr lang="en-US" sz="1700" dirty="0">
                <a:solidFill>
                  <a:srgbClr val="17364A"/>
                </a:solidFill>
                <a:latin typeface="Aptos" pitchFamily="34" charset="0"/>
                <a:ea typeface="Aptos" pitchFamily="34" charset="-122"/>
                <a:cs typeface="Aptos" pitchFamily="34" charset="-120"/>
              </a:rPr>
              <a:t>Risk score interpretation guide</a:t>
            </a:r>
            <a:endParaRPr lang="en-US" sz="1700" dirty="0"/>
          </a:p>
          <a:p>
            <a:r>
              <a:rPr lang="en-US" sz="1700" dirty="0">
                <a:solidFill>
                  <a:srgbClr val="17364A"/>
                </a:solidFill>
                <a:latin typeface="Aptos" pitchFamily="34" charset="0"/>
                <a:ea typeface="Aptos" pitchFamily="34" charset="-122"/>
                <a:cs typeface="Aptos" pitchFamily="34" charset="-120"/>
              </a:rPr>
              <a:t>Threshold and error tradeoff memo</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Predictive model review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Subgroup monitoring plan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Subgroup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Predictive model review plan</a:t>
            </a:r>
            <a:endParaRPr lang="en-US" sz="1700" dirty="0"/>
          </a:p>
          <a:p>
            <a:r>
              <a:rPr lang="en-US" sz="1700" dirty="0">
                <a:solidFill>
                  <a:srgbClr val="17364A"/>
                </a:solidFill>
                <a:latin typeface="Aptos" pitchFamily="34" charset="0"/>
                <a:ea typeface="Aptos" pitchFamily="34" charset="-122"/>
                <a:cs typeface="Aptos" pitchFamily="34" charset="-120"/>
              </a:rPr>
              <a:t>Risk score interpretation guide</a:t>
            </a:r>
            <a:endParaRPr lang="en-US" sz="1700" dirty="0"/>
          </a:p>
          <a:p>
            <a:r>
              <a:rPr lang="en-US" sz="1700" dirty="0">
                <a:solidFill>
                  <a:srgbClr val="17364A"/>
                </a:solidFill>
                <a:latin typeface="Aptos" pitchFamily="34" charset="0"/>
                <a:ea typeface="Aptos" pitchFamily="34" charset="-122"/>
                <a:cs typeface="Aptos" pitchFamily="34" charset="-120"/>
              </a:rPr>
              <a:t>Threshold and error tradeoff memo</a:t>
            </a:r>
            <a:endParaRPr lang="en-US" sz="1700" dirty="0"/>
          </a:p>
          <a:p>
            <a:r>
              <a:rPr lang="en-US" sz="1700" dirty="0">
                <a:solidFill>
                  <a:srgbClr val="17364A"/>
                </a:solidFill>
                <a:latin typeface="Aptos" pitchFamily="34" charset="0"/>
                <a:ea typeface="Aptos" pitchFamily="34" charset="-122"/>
                <a:cs typeface="Aptos" pitchFamily="34" charset="-120"/>
              </a:rPr>
              <a:t>Subgroup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Predictive model review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calibration?</a:t>
            </a:r>
            <a:endParaRPr lang="en-US" sz="1700" dirty="0"/>
          </a:p>
          <a:p>
            <a:r>
              <a:rPr lang="en-US" sz="1700" dirty="0">
                <a:solidFill>
                  <a:srgbClr val="17364A"/>
                </a:solidFill>
                <a:latin typeface="Aptos" pitchFamily="34" charset="0"/>
                <a:ea typeface="Aptos" pitchFamily="34" charset="-122"/>
                <a:cs typeface="Aptos" pitchFamily="34" charset="-120"/>
              </a:rPr>
              <a:t>2. Why should thresholds be reviewed by public health staff?</a:t>
            </a:r>
            <a:endParaRPr lang="en-US" sz="1700" dirty="0"/>
          </a:p>
          <a:p>
            <a:r>
              <a:rPr lang="en-US" sz="1700" dirty="0">
                <a:solidFill>
                  <a:srgbClr val="17364A"/>
                </a:solidFill>
                <a:latin typeface="Aptos" pitchFamily="34" charset="0"/>
                <a:ea typeface="Aptos" pitchFamily="34" charset="-122"/>
                <a:cs typeface="Aptos" pitchFamily="34" charset="-120"/>
              </a:rPr>
              <a:t>3. Which use of a risk score is most concerning without additional safeguards?</a:t>
            </a:r>
            <a:endParaRPr lang="en-US" sz="1700" dirty="0"/>
          </a:p>
          <a:p>
            <a:r>
              <a:rPr lang="en-US" sz="1700" dirty="0">
                <a:solidFill>
                  <a:srgbClr val="17364A"/>
                </a:solidFill>
                <a:latin typeface="Aptos" pitchFamily="34" charset="0"/>
                <a:ea typeface="Aptos" pitchFamily="34" charset="-122"/>
                <a:cs typeface="Aptos" pitchFamily="34" charset="-120"/>
              </a:rPr>
              <a:t>4. What is a false negative in a predictive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calibration?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AI RMF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Evaluation Framework: https://www.cdc.gov/evaluation/</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2026-07-12T18:54:57Z</dcterms:created>
  <dcterms:modified xsi:type="dcterms:W3CDTF">2026-07-12T18:54:57Z</dcterms:modified>
</cp:coreProperties>
</file>