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43753550e84436" /><Relationship Type="http://schemas.openxmlformats.org/officeDocument/2006/relationships/extended-properties" Target="/docProps/app.xml" Id="R2ad52abd82d54fd6" /><Relationship Type="http://schemas.openxmlformats.org/officeDocument/2006/relationships/officeDocument" Target="/ppt/presentation.xml" Id="Rdbc96af6b37c4bd7" /></Relationships>
</file>

<file path=ppt/presentation.xml><?xml version="1.0" encoding="utf-8"?>
<p:presentation xmlns:p="http://schemas.openxmlformats.org/presentationml/2006/main">
  <p:sldMasterIdLst>
    <p:sldMasterId xmlns:r="http://schemas.openxmlformats.org/officeDocument/2006/relationships" id="2147483648" r:id="R0bd4e0df02ce4a94"/>
  </p:sldMasterIdLst>
  <p:notesMasterIdLst>
    <p:notesMasterId xmlns:r="http://schemas.openxmlformats.org/officeDocument/2006/relationships" r:id="R7ab5e91f54544865"/>
  </p:notesMasterIdLst>
  <p:sldIdLst>
    <p:sldId xmlns:r="http://schemas.openxmlformats.org/officeDocument/2006/relationships" id="256" r:id="Rbef2c5101fbf4393"/>
    <p:sldId xmlns:r="http://schemas.openxmlformats.org/officeDocument/2006/relationships" id="257" r:id="Rccc10c0b23c04ceb"/>
    <p:sldId xmlns:r="http://schemas.openxmlformats.org/officeDocument/2006/relationships" id="258" r:id="Rfa56bc622139442e"/>
    <p:sldId xmlns:r="http://schemas.openxmlformats.org/officeDocument/2006/relationships" id="259" r:id="Rb47d918e8b984eba"/>
    <p:sldId xmlns:r="http://schemas.openxmlformats.org/officeDocument/2006/relationships" id="260" r:id="R274fca54e2354e6a"/>
    <p:sldId xmlns:r="http://schemas.openxmlformats.org/officeDocument/2006/relationships" id="261" r:id="Ra371b7ebdb7240f2"/>
    <p:sldId xmlns:r="http://schemas.openxmlformats.org/officeDocument/2006/relationships" id="262" r:id="Rb2f2347345c24a08"/>
    <p:sldId xmlns:r="http://schemas.openxmlformats.org/officeDocument/2006/relationships" id="263" r:id="Rc8c2d01190fb413c"/>
    <p:sldId xmlns:r="http://schemas.openxmlformats.org/officeDocument/2006/relationships" id="264" r:id="Ra5bd8f3efb3d4e20"/>
    <p:sldId xmlns:r="http://schemas.openxmlformats.org/officeDocument/2006/relationships" id="265" r:id="R45491a1247fc44e6"/>
    <p:sldId xmlns:r="http://schemas.openxmlformats.org/officeDocument/2006/relationships" id="266" r:id="Rf5f3a943ff984a4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a13429dc0646b2" /><Relationship Type="http://schemas.openxmlformats.org/officeDocument/2006/relationships/slideMaster" Target="/ppt/slideMasters/slideMaster1.xml" Id="R0bd4e0df02ce4a94" /><Relationship Type="http://schemas.openxmlformats.org/officeDocument/2006/relationships/notesMaster" Target="/ppt/notesMasters/notesMaster1.xml" Id="R7ab5e91f54544865" /><Relationship Type="http://schemas.openxmlformats.org/officeDocument/2006/relationships/presProps" Target="/ppt/presProps.xml" Id="R8831171a66254036" /><Relationship Type="http://schemas.openxmlformats.org/officeDocument/2006/relationships/tableStyles" Target="/ppt/tableStyles.xml" Id="Rb0c5484fe85146ab" /><Relationship Type="http://schemas.openxmlformats.org/officeDocument/2006/relationships/slide" Target="/ppt/slides/slide1.xml" Id="Rbef2c5101fbf4393" /><Relationship Type="http://schemas.openxmlformats.org/officeDocument/2006/relationships/slide" Target="/ppt/slides/slide2.xml" Id="Rccc10c0b23c04ceb" /><Relationship Type="http://schemas.openxmlformats.org/officeDocument/2006/relationships/slide" Target="/ppt/slides/slide3.xml" Id="Rfa56bc622139442e" /><Relationship Type="http://schemas.openxmlformats.org/officeDocument/2006/relationships/slide" Target="/ppt/slides/slide4.xml" Id="Rb47d918e8b984eba" /><Relationship Type="http://schemas.openxmlformats.org/officeDocument/2006/relationships/slide" Target="/ppt/slides/slide5.xml" Id="R274fca54e2354e6a" /><Relationship Type="http://schemas.openxmlformats.org/officeDocument/2006/relationships/slide" Target="/ppt/slides/slide6.xml" Id="Ra371b7ebdb7240f2" /><Relationship Type="http://schemas.openxmlformats.org/officeDocument/2006/relationships/slide" Target="/ppt/slides/slide7.xml" Id="Rb2f2347345c24a08" /><Relationship Type="http://schemas.openxmlformats.org/officeDocument/2006/relationships/slide" Target="/ppt/slides/slide8.xml" Id="Rc8c2d01190fb413c" /><Relationship Type="http://schemas.openxmlformats.org/officeDocument/2006/relationships/slide" Target="/ppt/slides/slide9.xml" Id="Ra5bd8f3efb3d4e20" /><Relationship Type="http://schemas.openxmlformats.org/officeDocument/2006/relationships/slide" Target="/ppt/slides/slide10.xml" Id="R45491a1247fc44e6" /><Relationship Type="http://schemas.openxmlformats.org/officeDocument/2006/relationships/slide" Target="/ppt/slides/slide11.xml" Id="Rf5f3a943ff984a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70eaef844946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17bcd0868e47e2" /><Relationship Type="http://schemas.openxmlformats.org/officeDocument/2006/relationships/notesMaster" Target="/ppt/notesMasters/notesMaster1.xml" Id="Rcb6c9a900bae4c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fb1605f4094c57" /><Relationship Type="http://schemas.openxmlformats.org/officeDocument/2006/relationships/notesMaster" Target="/ppt/notesMasters/notesMaster1.xml" Id="R41ea4a3fff9b4f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3c626b735046fc" /><Relationship Type="http://schemas.openxmlformats.org/officeDocument/2006/relationships/notesMaster" Target="/ppt/notesMasters/notesMaster1.xml" Id="Rda40402d696044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a1a341ae954554" /><Relationship Type="http://schemas.openxmlformats.org/officeDocument/2006/relationships/notesMaster" Target="/ppt/notesMasters/notesMaster1.xml" Id="R4f44e961b00841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bf4aac77ed4632" /><Relationship Type="http://schemas.openxmlformats.org/officeDocument/2006/relationships/notesMaster" Target="/ppt/notesMasters/notesMaster1.xml" Id="Re251835c03aa43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93e29926a04c66" /><Relationship Type="http://schemas.openxmlformats.org/officeDocument/2006/relationships/notesMaster" Target="/ppt/notesMasters/notesMaster1.xml" Id="R5815e159ea7547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c39cb12109475e" /><Relationship Type="http://schemas.openxmlformats.org/officeDocument/2006/relationships/notesMaster" Target="/ppt/notesMasters/notesMaster1.xml" Id="R0e38500b106747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6c3462dfc349e2" /><Relationship Type="http://schemas.openxmlformats.org/officeDocument/2006/relationships/notesMaster" Target="/ppt/notesMasters/notesMaster1.xml" Id="Rf91b2d6ba7d246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08e552c05d4f21" /><Relationship Type="http://schemas.openxmlformats.org/officeDocument/2006/relationships/notesMaster" Target="/ppt/notesMasters/notesMaster1.xml" Id="Rf51fd1d137ab43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a4bdf81d544936" /><Relationship Type="http://schemas.openxmlformats.org/officeDocument/2006/relationships/notesMaster" Target="/ppt/notesMasters/notesMaster1.xml" Id="R5c86c72d22684d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5033187f294fc1" /><Relationship Type="http://schemas.openxmlformats.org/officeDocument/2006/relationships/notesMaster" Target="/ppt/notesMasters/notesMaster1.xml" Id="R109f66a77d9948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59bdc1e03146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b3295fb624418e" /><Relationship Type="http://schemas.openxmlformats.org/officeDocument/2006/relationships/slideLayout" Target="/ppt/slideLayouts/slideLayout1.xml" Id="R6d4256c3144543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4256c3144543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2f2d6e87d254f5d" /><Relationship Type="http://schemas.openxmlformats.org/officeDocument/2006/relationships/image" Target="/ppt/media/image.png" Id="R95c5c525bc8046cd" /><Relationship Type="http://schemas.openxmlformats.org/officeDocument/2006/relationships/notesSlide" Target="/ppt/notesSlides/notesSlide1.xml" Id="Rcc8f0125cee14b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33343193614891" /><Relationship Type="http://schemas.openxmlformats.org/officeDocument/2006/relationships/notesSlide" Target="/ppt/notesSlides/notesSlide2.xml" Id="R09cf0544d02b4e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477138c38c4ea2" /><Relationship Type="http://schemas.openxmlformats.org/officeDocument/2006/relationships/notesSlide" Target="/ppt/notesSlides/notesSlide3.xml" Id="R373cf63fbdc846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4f2819663c4214" /><Relationship Type="http://schemas.openxmlformats.org/officeDocument/2006/relationships/notesSlide" Target="/ppt/notesSlides/notesSlide4.xml" Id="Re259b9109b404d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2f6d989a104821" /><Relationship Type="http://schemas.openxmlformats.org/officeDocument/2006/relationships/notesSlide" Target="/ppt/notesSlides/notesSlide5.xml" Id="Rca028569d6a54f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7af65d99a540dc" /><Relationship Type="http://schemas.openxmlformats.org/officeDocument/2006/relationships/notesSlide" Target="/ppt/notesSlides/notesSlide6.xml" Id="Rb935f8410b5e4d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65b23df8d848a5" /><Relationship Type="http://schemas.openxmlformats.org/officeDocument/2006/relationships/notesSlide" Target="/ppt/notesSlides/notesSlide7.xml" Id="R664662f6b55246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83ccff2406040f8" /><Relationship Type="http://schemas.openxmlformats.org/officeDocument/2006/relationships/notesSlide" Target="/ppt/notesSlides/notesSlide8.xml" Id="R766694bb966f44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0a07a224dd044ca" /><Relationship Type="http://schemas.openxmlformats.org/officeDocument/2006/relationships/notesSlide" Target="/ppt/notesSlides/notesSlide9.xml" Id="Re79e81142e1341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02b5c6c16f74e24" /><Relationship Type="http://schemas.openxmlformats.org/officeDocument/2006/relationships/notesSlide" Target="/ppt/notesSlides/notesSlide10.xml" Id="R99641f334f074d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254484b3b849bf" /><Relationship Type="http://schemas.openxmlformats.org/officeDocument/2006/relationships/notesSlide" Target="/ppt/notesSlides/notesSlide11.xml" Id="R3d21bfa9bd3b4f63"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5c5c525bc8046cd"/>
          <a:stretch xmlns:a="http://schemas.openxmlformats.org/drawingml/2006/main"/>
        </p:blipFill>
        <p:spPr>
          <a:xfrm xmlns:a="http://schemas.openxmlformats.org/drawingml/2006/main">
            <a:off x="704850" y="549799"/>
            <a:ext cx="1428750" cy="1395952"/>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628D3F-8B4E-44D5-B3D1-4CB33054AB0B}"/>
              </a:ext>
            </a:extLst>
          </p:cNvPr>
          <p:cNvSpPr>
            <a:spLocks xmlns:a="http://schemas.openxmlformats.org/drawingml/2006/main" noGrp="1"/>
          </p:cNvSpPr>
          <p:nvPr/>
        </p:nvSpPr>
        <p:spPr>
          <a:xfrm xmlns:a="http://schemas.openxmlformats.org/drawingml/2006/main">
            <a:off x="2476500" y="876300"/>
            <a:ext cx="8096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003B70"/>
                </a:solidFill>
              </a:defRPr>
            </a:pPr>
            <a:r>
              <a:rPr sz="4050" b="1">
                <a:solidFill>
                  <a:srgbClr val="003B70"/>
                </a:solidFill>
              </a:rPr>
              <a:t>Understanding Artificial Intelligence</a:t>
            </a:r>
          </a:p>
        </p:txBody>
      </p:sp>
      <p:sp>
        <p:nvSpPr>
          <p:cNvPr id="3" name="">
            <a:extLst xmlns:a="http://schemas.openxmlformats.org/drawingml/2006/main">
              <a:ext uri="{FF2B5EF4-FFF2-40B4-BE49-F238E27FC236}">
                <a16:creationId xmlns:a16="http://schemas.microsoft.com/office/drawing/2014/main" id="{A40189FA-792C-4F60-A85F-6086D43FA699}"/>
              </a:ext>
            </a:extLst>
          </p:cNvPr>
          <p:cNvSpPr>
            <a:spLocks xmlns:a="http://schemas.openxmlformats.org/drawingml/2006/main" noGrp="1"/>
          </p:cNvSpPr>
          <p:nvPr/>
        </p:nvSpPr>
        <p:spPr>
          <a:xfrm xmlns:a="http://schemas.openxmlformats.org/drawingml/2006/main">
            <a:off x="2514600" y="209550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05DAA"/>
                </a:solidFill>
              </a:defRPr>
            </a:pPr>
            <a:r>
              <a:rPr sz="1875" b="1">
                <a:solidFill>
                  <a:srgbClr val="005DAA"/>
                </a:solidFill>
              </a:rPr>
              <a:t>A staff training module for public health departments</a:t>
            </a:r>
          </a:p>
        </p:txBody>
      </p:sp>
      <p:sp>
        <p:nvSpPr>
          <p:cNvPr id="4" name="">
            <a:extLst xmlns:a="http://schemas.openxmlformats.org/drawingml/2006/main">
              <a:ext uri="{FF2B5EF4-FFF2-40B4-BE49-F238E27FC236}">
                <a16:creationId xmlns:a16="http://schemas.microsoft.com/office/drawing/2014/main" id="{CCD924D6-9E34-4BE3-BB65-8C7C45B0B855}"/>
              </a:ext>
            </a:extLst>
          </p:cNvPr>
          <p:cNvSpPr>
            <a:spLocks xmlns:a="http://schemas.openxmlformats.org/drawingml/2006/main" noGrp="1"/>
          </p:cNvSpPr>
          <p:nvPr/>
        </p:nvSpPr>
        <p:spPr>
          <a:xfrm xmlns:a="http://schemas.openxmlformats.org/drawingml/2006/main">
            <a:off x="2514600" y="2905125"/>
            <a:ext cx="762000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942FEB1-296B-4DAE-A353-9F63F7CCB4A8}"/>
              </a:ext>
            </a:extLst>
          </p:cNvPr>
          <p:cNvSpPr>
            <a:spLocks xmlns:a="http://schemas.openxmlformats.org/drawingml/2006/main" noGrp="1"/>
          </p:cNvSpPr>
          <p:nvPr/>
        </p:nvSpPr>
        <p:spPr>
          <a:xfrm xmlns:a="http://schemas.openxmlformats.org/drawingml/2006/main">
            <a:off x="2895600" y="3200400"/>
            <a:ext cx="685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Use this lesson to build a shared vocabulary before teams select tools, approve pilots, review vendors, or use AI in public health workflows.</a:t>
            </a:r>
          </a:p>
        </p:txBody>
      </p:sp>
      <p:sp>
        <p:nvSpPr>
          <p:cNvPr id="6" name="">
            <a:extLst xmlns:a="http://schemas.openxmlformats.org/drawingml/2006/main">
              <a:ext uri="{FF2B5EF4-FFF2-40B4-BE49-F238E27FC236}">
                <a16:creationId xmlns:a16="http://schemas.microsoft.com/office/drawing/2014/main" id="{9ED054EE-9586-445F-928D-E12CA5A84949}"/>
              </a:ext>
            </a:extLst>
          </p:cNvPr>
          <p:cNvSpPr>
            <a:spLocks xmlns:a="http://schemas.openxmlformats.org/drawingml/2006/main" noGrp="1"/>
          </p:cNvSpPr>
          <p:nvPr/>
        </p:nvSpPr>
        <p:spPr>
          <a:xfrm xmlns:a="http://schemas.openxmlformats.org/drawingml/2006/main">
            <a:off x="704850" y="619125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87320"/>
                </a:solidFill>
              </a:defRPr>
            </a:pPr>
            <a:r>
              <a:rPr sz="1275" b="1">
                <a:solidFill>
                  <a:srgbClr val="287320"/>
                </a:solidFill>
              </a:rPr>
              <a:t>AI Playbook and Toolkit for Public Health Departments</a:t>
            </a:r>
          </a:p>
        </p:txBody>
      </p:sp>
    </p:spTree>
    <p:extLst>
      <p:ext uri="{BB962C8B-B14F-4D97-AF65-F5344CB8AC3E}">
        <p14:creationId xmlns:p14="http://schemas.microsoft.com/office/powerpoint/2010/main" val="21179103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102CA2-4082-4ED3-8D05-65F2DD42392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2F6485D-D321-4592-AD04-2FFD69DF383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Why this lesson comes first</a:t>
            </a:r>
          </a:p>
        </p:txBody>
      </p:sp>
      <p:sp>
        <p:nvSpPr>
          <p:cNvPr id="3" name="">
            <a:extLst xmlns:a="http://schemas.openxmlformats.org/drawingml/2006/main">
              <a:ext uri="{FF2B5EF4-FFF2-40B4-BE49-F238E27FC236}">
                <a16:creationId xmlns:a16="http://schemas.microsoft.com/office/drawing/2014/main" id="{2F5C2381-61B5-4913-B3FC-7ECFD39BEEC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C19D117-C6F1-4878-BD41-872E5644499F}"/>
              </a:ext>
            </a:extLst>
          </p:cNvPr>
          <p:cNvSpPr>
            <a:spLocks xmlns:a="http://schemas.openxmlformats.org/drawingml/2006/main" noGrp="1"/>
          </p:cNvSpPr>
          <p:nvPr/>
        </p:nvSpPr>
        <p:spPr>
          <a:xfrm xmlns:a="http://schemas.openxmlformats.org/drawingml/2006/main">
            <a:off x="685800" y="1638300"/>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2324A"/>
                </a:solidFill>
              </a:defRPr>
            </a:pPr>
            <a:r>
              <a:rPr sz="2100" b="1">
                <a:solidFill>
                  <a:srgbClr val="12324A"/>
                </a:solidFill>
              </a:rPr>
              <a:t>Teams need a shared vocabulary before they can make responsible AI decisions.</a:t>
            </a:r>
          </a:p>
        </p:txBody>
      </p:sp>
      <p:sp>
        <p:nvSpPr>
          <p:cNvPr id="5" name="">
            <a:extLst xmlns:a="http://schemas.openxmlformats.org/drawingml/2006/main">
              <a:ext uri="{FF2B5EF4-FFF2-40B4-BE49-F238E27FC236}">
                <a16:creationId xmlns:a16="http://schemas.microsoft.com/office/drawing/2014/main" id="{CA2ED013-97C6-4C32-82F7-0E0EECC23F9F}"/>
              </a:ext>
            </a:extLst>
          </p:cNvPr>
          <p:cNvSpPr>
            <a:spLocks xmlns:a="http://schemas.openxmlformats.org/drawingml/2006/main" noGrp="1"/>
          </p:cNvSpPr>
          <p:nvPr/>
        </p:nvSpPr>
        <p:spPr>
          <a:xfrm xmlns:a="http://schemas.openxmlformats.org/drawingml/2006/main">
            <a:off x="685800" y="2476500"/>
            <a:ext cx="49530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9BC841B0-8BD0-4048-A713-0455E347DED1}"/>
              </a:ext>
            </a:extLst>
          </p:cNvPr>
          <p:cNvSpPr>
            <a:spLocks xmlns:a="http://schemas.openxmlformats.org/drawingml/2006/main" noGrp="1"/>
          </p:cNvSpPr>
          <p:nvPr/>
        </p:nvSpPr>
        <p:spPr>
          <a:xfrm xmlns:a="http://schemas.openxmlformats.org/drawingml/2006/main">
            <a:off x="685800" y="2476500"/>
            <a:ext cx="66675" cy="2381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74EB9C5C-6FD0-4D4F-990B-38813AA83D99}"/>
              </a:ext>
            </a:extLst>
          </p:cNvPr>
          <p:cNvSpPr>
            <a:spLocks xmlns:a="http://schemas.openxmlformats.org/drawingml/2006/main" noGrp="1"/>
          </p:cNvSpPr>
          <p:nvPr/>
        </p:nvSpPr>
        <p:spPr>
          <a:xfrm xmlns:a="http://schemas.openxmlformats.org/drawingml/2006/main">
            <a:off x="914400" y="2667000"/>
            <a:ext cx="449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Without shared language</a:t>
            </a:r>
          </a:p>
        </p:txBody>
      </p:sp>
      <p:sp>
        <p:nvSpPr>
          <p:cNvPr id="8" name="">
            <a:extLst xmlns:a="http://schemas.openxmlformats.org/drawingml/2006/main">
              <a:ext uri="{FF2B5EF4-FFF2-40B4-BE49-F238E27FC236}">
                <a16:creationId xmlns:a16="http://schemas.microsoft.com/office/drawing/2014/main" id="{4169F888-055E-41B0-8773-989BDA4A97E6}"/>
              </a:ext>
            </a:extLst>
          </p:cNvPr>
          <p:cNvSpPr>
            <a:spLocks xmlns:a="http://schemas.openxmlformats.org/drawingml/2006/main" noGrp="1"/>
          </p:cNvSpPr>
          <p:nvPr/>
        </p:nvSpPr>
        <p:spPr>
          <a:xfrm xmlns:a="http://schemas.openxmlformats.org/drawingml/2006/main">
            <a:off x="914400" y="3124200"/>
            <a:ext cx="4495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AI conversations can jump straight to vendors, tools, and pilots before staff agree on what the technology does, what risks it creates, and where humans remain accountable.</a:t>
            </a:r>
          </a:p>
        </p:txBody>
      </p:sp>
      <p:sp>
        <p:nvSpPr>
          <p:cNvPr id="9" name="">
            <a:extLst xmlns:a="http://schemas.openxmlformats.org/drawingml/2006/main">
              <a:ext uri="{FF2B5EF4-FFF2-40B4-BE49-F238E27FC236}">
                <a16:creationId xmlns:a16="http://schemas.microsoft.com/office/drawing/2014/main" id="{E82C3396-BCC2-48FF-B13F-FC6AD851083F}"/>
              </a:ext>
            </a:extLst>
          </p:cNvPr>
          <p:cNvSpPr>
            <a:spLocks xmlns:a="http://schemas.openxmlformats.org/drawingml/2006/main" noGrp="1"/>
          </p:cNvSpPr>
          <p:nvPr/>
        </p:nvSpPr>
        <p:spPr>
          <a:xfrm xmlns:a="http://schemas.openxmlformats.org/drawingml/2006/main">
            <a:off x="6057900" y="2476500"/>
            <a:ext cx="49530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69527F04-4808-4FE3-B97F-47A4C75E5D67}"/>
              </a:ext>
            </a:extLst>
          </p:cNvPr>
          <p:cNvSpPr>
            <a:spLocks xmlns:a="http://schemas.openxmlformats.org/drawingml/2006/main" noGrp="1"/>
          </p:cNvSpPr>
          <p:nvPr/>
        </p:nvSpPr>
        <p:spPr>
          <a:xfrm xmlns:a="http://schemas.openxmlformats.org/drawingml/2006/main">
            <a:off x="6057900" y="2476500"/>
            <a:ext cx="66675" cy="2381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D7284898-4755-44C6-BB32-8B2821F20C98}"/>
              </a:ext>
            </a:extLst>
          </p:cNvPr>
          <p:cNvSpPr>
            <a:spLocks xmlns:a="http://schemas.openxmlformats.org/drawingml/2006/main" noGrp="1"/>
          </p:cNvSpPr>
          <p:nvPr/>
        </p:nvSpPr>
        <p:spPr>
          <a:xfrm xmlns:a="http://schemas.openxmlformats.org/drawingml/2006/main">
            <a:off x="6286500" y="2667000"/>
            <a:ext cx="449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With shared language</a:t>
            </a:r>
          </a:p>
        </p:txBody>
      </p:sp>
      <p:sp>
        <p:nvSpPr>
          <p:cNvPr id="12" name="">
            <a:extLst xmlns:a="http://schemas.openxmlformats.org/drawingml/2006/main">
              <a:ext uri="{FF2B5EF4-FFF2-40B4-BE49-F238E27FC236}">
                <a16:creationId xmlns:a16="http://schemas.microsoft.com/office/drawing/2014/main" id="{E615A800-87E9-4F44-B6C9-0DFF391505E9}"/>
              </a:ext>
            </a:extLst>
          </p:cNvPr>
          <p:cNvSpPr>
            <a:spLocks xmlns:a="http://schemas.openxmlformats.org/drawingml/2006/main" noGrp="1"/>
          </p:cNvSpPr>
          <p:nvPr/>
        </p:nvSpPr>
        <p:spPr>
          <a:xfrm xmlns:a="http://schemas.openxmlformats.org/drawingml/2006/main">
            <a:off x="6286500" y="3124200"/>
            <a:ext cx="4495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Public health teams can set guardrails, review use cases, ask better vendor questions, and explain AI-supported workflows to staff, partners, and communities.</a:t>
            </a:r>
          </a:p>
        </p:txBody>
      </p:sp>
      <p:sp>
        <p:nvSpPr>
          <p:cNvPr id="13" name="">
            <a:extLst xmlns:a="http://schemas.openxmlformats.org/drawingml/2006/main">
              <a:ext uri="{FF2B5EF4-FFF2-40B4-BE49-F238E27FC236}">
                <a16:creationId xmlns:a16="http://schemas.microsoft.com/office/drawing/2014/main" id="{1BD9BCBA-589C-4EB3-8AE1-F1F617657306}"/>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4" name="">
            <a:extLst xmlns:a="http://schemas.openxmlformats.org/drawingml/2006/main">
              <a:ext uri="{FF2B5EF4-FFF2-40B4-BE49-F238E27FC236}">
                <a16:creationId xmlns:a16="http://schemas.microsoft.com/office/drawing/2014/main" id="{5B38C50E-CD8B-4193-A320-C19CFEFBC1B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89274237"/>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43D3DE-BFC0-4A7D-A0D7-9E5DC5A8DB8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18A80E7-D97A-4C21-9703-DF50A81FD14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4C5A52DF-3240-4DEB-AEE9-C02149EA8A3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E3140D5-F8B6-4EB5-A4AB-E2FCA26329DF}"/>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74D89DF7-FCBB-43D8-99B1-55D710846BF9}"/>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 Define artificial intelligence in plain language.</a:t>
            </a:r>
          </a:p>
          <a:p xmlns:a="http://schemas.openxmlformats.org/drawingml/2006/main">
            <a:pPr algn="l">
              <a:defRPr sz="1800" b="0">
                <a:solidFill>
                  <a:srgbClr val="24394A"/>
                </a:solidFill>
              </a:defRPr>
            </a:pPr>
            <a:r>
              <a:rPr sz="1800" b="0">
                <a:solidFill>
                  <a:srgbClr val="24394A"/>
                </a:solidFill>
              </a:rPr>
              <a:t>• Distinguish generative AI, predictive AI, and agentic AI.</a:t>
            </a:r>
          </a:p>
          <a:p xmlns:a="http://schemas.openxmlformats.org/drawingml/2006/main">
            <a:pPr algn="l">
              <a:defRPr sz="1800" b="0">
                <a:solidFill>
                  <a:srgbClr val="24394A"/>
                </a:solidFill>
              </a:defRPr>
            </a:pPr>
            <a:r>
              <a:rPr sz="1800" b="0">
                <a:solidFill>
                  <a:srgbClr val="24394A"/>
                </a:solidFill>
              </a:rPr>
              <a:t>• Identify where AI can support public health work without replacing human judgment.</a:t>
            </a:r>
          </a:p>
          <a:p xmlns:a="http://schemas.openxmlformats.org/drawingml/2006/main">
            <a:pPr algn="l">
              <a:defRPr sz="1800" b="0">
                <a:solidFill>
                  <a:srgbClr val="24394A"/>
                </a:solidFill>
              </a:defRPr>
            </a:pPr>
            <a:r>
              <a:rPr sz="1800" b="0">
                <a:solidFill>
                  <a:srgbClr val="24394A"/>
                </a:solidFill>
              </a:rPr>
              <a:t>• Recognize why privacy, equity, transparency, validation, and monitoring must be planned early.</a:t>
            </a:r>
          </a:p>
          <a:p xmlns:a="http://schemas.openxmlformats.org/drawingml/2006/main">
            <a:pPr algn="l">
              <a:defRPr sz="1800" b="0">
                <a:solidFill>
                  <a:srgbClr val="24394A"/>
                </a:solidFill>
              </a:defRPr>
            </a:pPr>
            <a:r>
              <a:rPr sz="1800" b="0">
                <a:solidFill>
                  <a:srgbClr val="24394A"/>
                </a:solidFill>
              </a:rPr>
              <a:t>• Connect AI concepts to the playbook’s readiness, governance, and use case review steps.</a:t>
            </a:r>
          </a:p>
        </p:txBody>
      </p:sp>
      <p:sp>
        <p:nvSpPr>
          <p:cNvPr id="6" name="">
            <a:extLst xmlns:a="http://schemas.openxmlformats.org/drawingml/2006/main">
              <a:ext uri="{FF2B5EF4-FFF2-40B4-BE49-F238E27FC236}">
                <a16:creationId xmlns:a16="http://schemas.microsoft.com/office/drawing/2014/main" id="{8995629B-27D9-4606-96E1-2B830AD3631C}"/>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7" name="">
            <a:extLst xmlns:a="http://schemas.openxmlformats.org/drawingml/2006/main">
              <a:ext uri="{FF2B5EF4-FFF2-40B4-BE49-F238E27FC236}">
                <a16:creationId xmlns:a16="http://schemas.microsoft.com/office/drawing/2014/main" id="{A2607B08-9275-48E1-8F88-FAAB9969F4C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6658514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83CB20-0EB7-4E52-AB0B-4AB16B2CEE0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9485722-386A-4F22-A25B-E514DDAA390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DF98EA40-4642-4922-95FC-4A8CCF47DD6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F5E0499-4F39-4B20-AA94-D9ED2C7C41C5}"/>
              </a:ext>
            </a:extLst>
          </p:cNvPr>
          <p:cNvSpPr>
            <a:spLocks xmlns:a="http://schemas.openxmlformats.org/drawingml/2006/main" noGrp="1"/>
          </p:cNvSpPr>
          <p:nvPr/>
        </p:nvSpPr>
        <p:spPr>
          <a:xfrm xmlns:a="http://schemas.openxmlformats.org/drawingml/2006/main">
            <a:off x="685800" y="163830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2324A"/>
                </a:solidFill>
              </a:defRPr>
            </a:pPr>
            <a:r>
              <a:rPr sz="2175" b="1">
                <a:solidFill>
                  <a:srgbClr val="12324A"/>
                </a:solidFill>
              </a:rPr>
              <a:t>Artificial intelligence is not one product or one capability.</a:t>
            </a:r>
          </a:p>
        </p:txBody>
      </p:sp>
      <p:sp>
        <p:nvSpPr>
          <p:cNvPr id="5" name="">
            <a:extLst xmlns:a="http://schemas.openxmlformats.org/drawingml/2006/main">
              <a:ext uri="{FF2B5EF4-FFF2-40B4-BE49-F238E27FC236}">
                <a16:creationId xmlns:a16="http://schemas.microsoft.com/office/drawing/2014/main" id="{7CAE1183-D865-4458-93F0-00A65A940518}"/>
              </a:ext>
            </a:extLst>
          </p:cNvPr>
          <p:cNvSpPr>
            <a:spLocks xmlns:a="http://schemas.openxmlformats.org/drawingml/2006/main" noGrp="1"/>
          </p:cNvSpPr>
          <p:nvPr/>
        </p:nvSpPr>
        <p:spPr>
          <a:xfrm xmlns:a="http://schemas.openxmlformats.org/drawingml/2006/main">
            <a:off x="685800" y="2238375"/>
            <a:ext cx="101917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AI is a family of methods that enable computer systems to learn from data, recognize patterns, generate new content, and support action toward defined goals. In public health, AI should be understood as an operational capability that needs governance, data safeguards, staff training, and monitoring.</a:t>
            </a:r>
          </a:p>
        </p:txBody>
      </p:sp>
      <p:sp>
        <p:nvSpPr>
          <p:cNvPr id="6" name="">
            <a:extLst xmlns:a="http://schemas.openxmlformats.org/drawingml/2006/main">
              <a:ext uri="{FF2B5EF4-FFF2-40B4-BE49-F238E27FC236}">
                <a16:creationId xmlns:a16="http://schemas.microsoft.com/office/drawing/2014/main" id="{93D82851-2D91-453C-8BAA-A6AD9E86345A}"/>
              </a:ext>
            </a:extLst>
          </p:cNvPr>
          <p:cNvSpPr>
            <a:spLocks xmlns:a="http://schemas.openxmlformats.org/drawingml/2006/main" noGrp="1"/>
          </p:cNvSpPr>
          <p:nvPr/>
        </p:nvSpPr>
        <p:spPr>
          <a:xfrm xmlns:a="http://schemas.openxmlformats.org/drawingml/2006/main">
            <a:off x="685800" y="4000500"/>
            <a:ext cx="476250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A39D0F4-DB51-4448-B52F-7068B99242C7}"/>
              </a:ext>
            </a:extLst>
          </p:cNvPr>
          <p:cNvSpPr>
            <a:spLocks xmlns:a="http://schemas.openxmlformats.org/drawingml/2006/main" noGrp="1"/>
          </p:cNvSpPr>
          <p:nvPr/>
        </p:nvSpPr>
        <p:spPr>
          <a:xfrm xmlns:a="http://schemas.openxmlformats.org/drawingml/2006/main">
            <a:off x="685800" y="4000500"/>
            <a:ext cx="66675" cy="1524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8" name="">
            <a:extLst xmlns:a="http://schemas.openxmlformats.org/drawingml/2006/main">
              <a:ext uri="{FF2B5EF4-FFF2-40B4-BE49-F238E27FC236}">
                <a16:creationId xmlns:a16="http://schemas.microsoft.com/office/drawing/2014/main" id="{50389086-1FAA-47B9-9508-2113763FA6FA}"/>
              </a:ext>
            </a:extLst>
          </p:cNvPr>
          <p:cNvSpPr>
            <a:spLocks xmlns:a="http://schemas.openxmlformats.org/drawingml/2006/main" noGrp="1"/>
          </p:cNvSpPr>
          <p:nvPr/>
        </p:nvSpPr>
        <p:spPr>
          <a:xfrm xmlns:a="http://schemas.openxmlformats.org/drawingml/2006/main">
            <a:off x="914400" y="419100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Definition</a:t>
            </a:r>
          </a:p>
        </p:txBody>
      </p:sp>
      <p:sp>
        <p:nvSpPr>
          <p:cNvPr id="9" name="">
            <a:extLst xmlns:a="http://schemas.openxmlformats.org/drawingml/2006/main">
              <a:ext uri="{FF2B5EF4-FFF2-40B4-BE49-F238E27FC236}">
                <a16:creationId xmlns:a16="http://schemas.microsoft.com/office/drawing/2014/main" id="{3D762804-8AF0-4995-9B4B-9ED9F9F41F18}"/>
              </a:ext>
            </a:extLst>
          </p:cNvPr>
          <p:cNvSpPr>
            <a:spLocks xmlns:a="http://schemas.openxmlformats.org/drawingml/2006/main" noGrp="1"/>
          </p:cNvSpPr>
          <p:nvPr/>
        </p:nvSpPr>
        <p:spPr>
          <a:xfrm xmlns:a="http://schemas.openxmlformats.org/drawingml/2006/main">
            <a:off x="914400" y="4648200"/>
            <a:ext cx="4305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Artificial intelligence enables systems to perform tasks that normally require human-like pattern recognition, language understanding, prediction, generation, or decision support.</a:t>
            </a:r>
          </a:p>
        </p:txBody>
      </p:sp>
      <p:sp>
        <p:nvSpPr>
          <p:cNvPr id="10" name="">
            <a:extLst xmlns:a="http://schemas.openxmlformats.org/drawingml/2006/main">
              <a:ext uri="{FF2B5EF4-FFF2-40B4-BE49-F238E27FC236}">
                <a16:creationId xmlns:a16="http://schemas.microsoft.com/office/drawing/2014/main" id="{9B9A0FA8-AFBB-471C-8C95-8F3F406EC2C4}"/>
              </a:ext>
            </a:extLst>
          </p:cNvPr>
          <p:cNvSpPr>
            <a:spLocks xmlns:a="http://schemas.openxmlformats.org/drawingml/2006/main" noGrp="1"/>
          </p:cNvSpPr>
          <p:nvPr/>
        </p:nvSpPr>
        <p:spPr>
          <a:xfrm xmlns:a="http://schemas.openxmlformats.org/drawingml/2006/main">
            <a:off x="5905500" y="4000500"/>
            <a:ext cx="476250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F00DC01-2855-4451-8EC8-B5F886AD0BFF}"/>
              </a:ext>
            </a:extLst>
          </p:cNvPr>
          <p:cNvSpPr>
            <a:spLocks xmlns:a="http://schemas.openxmlformats.org/drawingml/2006/main" noGrp="1"/>
          </p:cNvSpPr>
          <p:nvPr/>
        </p:nvSpPr>
        <p:spPr>
          <a:xfrm xmlns:a="http://schemas.openxmlformats.org/drawingml/2006/main">
            <a:off x="5905500" y="4000500"/>
            <a:ext cx="66675" cy="15240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2" name="">
            <a:extLst xmlns:a="http://schemas.openxmlformats.org/drawingml/2006/main">
              <a:ext uri="{FF2B5EF4-FFF2-40B4-BE49-F238E27FC236}">
                <a16:creationId xmlns:a16="http://schemas.microsoft.com/office/drawing/2014/main" id="{F33DE7F6-0905-4F2F-A8B1-93E42989C284}"/>
              </a:ext>
            </a:extLst>
          </p:cNvPr>
          <p:cNvSpPr>
            <a:spLocks xmlns:a="http://schemas.openxmlformats.org/drawingml/2006/main" noGrp="1"/>
          </p:cNvSpPr>
          <p:nvPr/>
        </p:nvSpPr>
        <p:spPr>
          <a:xfrm xmlns:a="http://schemas.openxmlformats.org/drawingml/2006/main">
            <a:off x="6134100" y="419100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Public health framing</a:t>
            </a:r>
          </a:p>
        </p:txBody>
      </p:sp>
      <p:sp>
        <p:nvSpPr>
          <p:cNvPr id="13" name="">
            <a:extLst xmlns:a="http://schemas.openxmlformats.org/drawingml/2006/main">
              <a:ext uri="{FF2B5EF4-FFF2-40B4-BE49-F238E27FC236}">
                <a16:creationId xmlns:a16="http://schemas.microsoft.com/office/drawing/2014/main" id="{8C3CF60E-988E-4FD0-8D80-C3CAEDE664F0}"/>
              </a:ext>
            </a:extLst>
          </p:cNvPr>
          <p:cNvSpPr>
            <a:spLocks xmlns:a="http://schemas.openxmlformats.org/drawingml/2006/main" noGrp="1"/>
          </p:cNvSpPr>
          <p:nvPr/>
        </p:nvSpPr>
        <p:spPr>
          <a:xfrm xmlns:a="http://schemas.openxmlformats.org/drawingml/2006/main">
            <a:off x="6134100" y="4648200"/>
            <a:ext cx="4305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AI should support public health professionals, not quietly replace accountability, community relationships, or final decisions in consequential workflows.</a:t>
            </a:r>
          </a:p>
        </p:txBody>
      </p:sp>
      <p:sp>
        <p:nvSpPr>
          <p:cNvPr id="14" name="">
            <a:extLst xmlns:a="http://schemas.openxmlformats.org/drawingml/2006/main">
              <a:ext uri="{FF2B5EF4-FFF2-40B4-BE49-F238E27FC236}">
                <a16:creationId xmlns:a16="http://schemas.microsoft.com/office/drawing/2014/main" id="{4EA3A879-9968-4A22-AB6F-46267D972C36}"/>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5" name="">
            <a:extLst xmlns:a="http://schemas.openxmlformats.org/drawingml/2006/main">
              <a:ext uri="{FF2B5EF4-FFF2-40B4-BE49-F238E27FC236}">
                <a16:creationId xmlns:a16="http://schemas.microsoft.com/office/drawing/2014/main" id="{BA1ADE3D-A742-4F3A-B211-C8298974847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278099027"/>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BCB86F-53B0-46CD-8A00-95E024A5339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8165B5B-291B-4478-8880-F6825A1AD4B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The most relevant AI categories are different</a:t>
            </a:r>
          </a:p>
        </p:txBody>
      </p:sp>
      <p:sp>
        <p:nvSpPr>
          <p:cNvPr id="3" name="">
            <a:extLst xmlns:a="http://schemas.openxmlformats.org/drawingml/2006/main">
              <a:ext uri="{FF2B5EF4-FFF2-40B4-BE49-F238E27FC236}">
                <a16:creationId xmlns:a16="http://schemas.microsoft.com/office/drawing/2014/main" id="{15B8F118-1E49-403C-8956-9FDB52A7243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E92024B-66AD-4DBC-8671-60ABC751DB96}"/>
              </a:ext>
            </a:extLst>
          </p:cNvPr>
          <p:cNvSpPr>
            <a:spLocks xmlns:a="http://schemas.openxmlformats.org/drawingml/2006/main" noGrp="1"/>
          </p:cNvSpPr>
          <p:nvPr/>
        </p:nvSpPr>
        <p:spPr>
          <a:xfrm xmlns:a="http://schemas.openxmlformats.org/drawingml/2006/main">
            <a:off x="685800" y="1762125"/>
            <a:ext cx="32385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8E0414BB-3455-43DC-80A7-07EB453B8EF7}"/>
              </a:ext>
            </a:extLst>
          </p:cNvPr>
          <p:cNvSpPr>
            <a:spLocks xmlns:a="http://schemas.openxmlformats.org/drawingml/2006/main" noGrp="1"/>
          </p:cNvSpPr>
          <p:nvPr/>
        </p:nvSpPr>
        <p:spPr>
          <a:xfrm xmlns:a="http://schemas.openxmlformats.org/drawingml/2006/main">
            <a:off x="685800" y="1762125"/>
            <a:ext cx="66675" cy="2381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0CA06F61-80E6-4118-BAA2-896B8FB185BC}"/>
              </a:ext>
            </a:extLst>
          </p:cNvPr>
          <p:cNvSpPr>
            <a:spLocks xmlns:a="http://schemas.openxmlformats.org/drawingml/2006/main" noGrp="1"/>
          </p:cNvSpPr>
          <p:nvPr/>
        </p:nvSpPr>
        <p:spPr>
          <a:xfrm xmlns:a="http://schemas.openxmlformats.org/drawingml/2006/main">
            <a:off x="914400" y="1952625"/>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Generative AI</a:t>
            </a:r>
          </a:p>
        </p:txBody>
      </p:sp>
      <p:sp>
        <p:nvSpPr>
          <p:cNvPr id="7" name="">
            <a:extLst xmlns:a="http://schemas.openxmlformats.org/drawingml/2006/main">
              <a:ext uri="{FF2B5EF4-FFF2-40B4-BE49-F238E27FC236}">
                <a16:creationId xmlns:a16="http://schemas.microsoft.com/office/drawing/2014/main" id="{96328211-103A-4118-BFEE-07E548B42E63}"/>
              </a:ext>
            </a:extLst>
          </p:cNvPr>
          <p:cNvSpPr>
            <a:spLocks xmlns:a="http://schemas.openxmlformats.org/drawingml/2006/main" noGrp="1"/>
          </p:cNvSpPr>
          <p:nvPr/>
        </p:nvSpPr>
        <p:spPr>
          <a:xfrm xmlns:a="http://schemas.openxmlformats.org/drawingml/2006/main">
            <a:off x="914400" y="2409825"/>
            <a:ext cx="27813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Produces new text, images, code, summaries, translations, or synthetic data from prompts and source material.</a:t>
            </a:r>
          </a:p>
        </p:txBody>
      </p:sp>
      <p:sp>
        <p:nvSpPr>
          <p:cNvPr id="8" name="">
            <a:extLst xmlns:a="http://schemas.openxmlformats.org/drawingml/2006/main">
              <a:ext uri="{FF2B5EF4-FFF2-40B4-BE49-F238E27FC236}">
                <a16:creationId xmlns:a16="http://schemas.microsoft.com/office/drawing/2014/main" id="{64B94405-788F-4167-9A00-0C377A7A561F}"/>
              </a:ext>
            </a:extLst>
          </p:cNvPr>
          <p:cNvSpPr>
            <a:spLocks xmlns:a="http://schemas.openxmlformats.org/drawingml/2006/main" noGrp="1"/>
          </p:cNvSpPr>
          <p:nvPr/>
        </p:nvSpPr>
        <p:spPr>
          <a:xfrm xmlns:a="http://schemas.openxmlformats.org/drawingml/2006/main">
            <a:off x="4476750" y="1762125"/>
            <a:ext cx="32385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1D8FDA1-DECA-4765-845D-B13FB3BAAE54}"/>
              </a:ext>
            </a:extLst>
          </p:cNvPr>
          <p:cNvSpPr>
            <a:spLocks xmlns:a="http://schemas.openxmlformats.org/drawingml/2006/main" noGrp="1"/>
          </p:cNvSpPr>
          <p:nvPr/>
        </p:nvSpPr>
        <p:spPr>
          <a:xfrm xmlns:a="http://schemas.openxmlformats.org/drawingml/2006/main">
            <a:off x="4476750" y="1762125"/>
            <a:ext cx="66675" cy="2381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99D406B6-21A3-4E0B-B50B-A1DE02BA3056}"/>
              </a:ext>
            </a:extLst>
          </p:cNvPr>
          <p:cNvSpPr>
            <a:spLocks xmlns:a="http://schemas.openxmlformats.org/drawingml/2006/main" noGrp="1"/>
          </p:cNvSpPr>
          <p:nvPr/>
        </p:nvSpPr>
        <p:spPr>
          <a:xfrm xmlns:a="http://schemas.openxmlformats.org/drawingml/2006/main">
            <a:off x="4705350" y="1952625"/>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Predictive AI</a:t>
            </a:r>
          </a:p>
        </p:txBody>
      </p:sp>
      <p:sp>
        <p:nvSpPr>
          <p:cNvPr id="11" name="">
            <a:extLst xmlns:a="http://schemas.openxmlformats.org/drawingml/2006/main">
              <a:ext uri="{FF2B5EF4-FFF2-40B4-BE49-F238E27FC236}">
                <a16:creationId xmlns:a16="http://schemas.microsoft.com/office/drawing/2014/main" id="{51FA4ADF-16E8-4790-B169-A7143863AB80}"/>
              </a:ext>
            </a:extLst>
          </p:cNvPr>
          <p:cNvSpPr>
            <a:spLocks xmlns:a="http://schemas.openxmlformats.org/drawingml/2006/main" noGrp="1"/>
          </p:cNvSpPr>
          <p:nvPr/>
        </p:nvSpPr>
        <p:spPr>
          <a:xfrm xmlns:a="http://schemas.openxmlformats.org/drawingml/2006/main">
            <a:off x="4705350" y="2409825"/>
            <a:ext cx="27813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Uses patterns in data to estimate risk, classify records, forecast trends, or detect anomalies.</a:t>
            </a:r>
          </a:p>
        </p:txBody>
      </p:sp>
      <p:sp>
        <p:nvSpPr>
          <p:cNvPr id="12" name="">
            <a:extLst xmlns:a="http://schemas.openxmlformats.org/drawingml/2006/main">
              <a:ext uri="{FF2B5EF4-FFF2-40B4-BE49-F238E27FC236}">
                <a16:creationId xmlns:a16="http://schemas.microsoft.com/office/drawing/2014/main" id="{73FBFECA-8E50-4FCA-87D1-D36DECC05C07}"/>
              </a:ext>
            </a:extLst>
          </p:cNvPr>
          <p:cNvSpPr>
            <a:spLocks xmlns:a="http://schemas.openxmlformats.org/drawingml/2006/main" noGrp="1"/>
          </p:cNvSpPr>
          <p:nvPr/>
        </p:nvSpPr>
        <p:spPr>
          <a:xfrm xmlns:a="http://schemas.openxmlformats.org/drawingml/2006/main">
            <a:off x="8267700" y="1762125"/>
            <a:ext cx="32385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EB0A6967-4FC1-4CE5-97BB-E52D81B175D9}"/>
              </a:ext>
            </a:extLst>
          </p:cNvPr>
          <p:cNvSpPr>
            <a:spLocks xmlns:a="http://schemas.openxmlformats.org/drawingml/2006/main" noGrp="1"/>
          </p:cNvSpPr>
          <p:nvPr/>
        </p:nvSpPr>
        <p:spPr>
          <a:xfrm xmlns:a="http://schemas.openxmlformats.org/drawingml/2006/main">
            <a:off x="8267700" y="1762125"/>
            <a:ext cx="66675" cy="2381250"/>
          </a:xfrm>
          <a:prstGeom xmlns:a="http://schemas.openxmlformats.org/drawingml/2006/main" prst="rect">
            <a:avLst/>
          </a:prstGeom>
          <a:solidFill xmlns:a="http://schemas.openxmlformats.org/drawingml/2006/main">
            <a:srgbClr val="003B70"/>
          </a:solidFill>
          <a:ln xmlns:a="http://schemas.openxmlformats.org/drawingml/2006/main" w="0">
            <a:solidFill>
              <a:srgbClr val="003B70"/>
            </a:solidFill>
            <a:prstDash val="solid"/>
          </a:ln>
        </p:spPr>
      </p:sp>
      <p:sp>
        <p:nvSpPr>
          <p:cNvPr id="14" name="">
            <a:extLst xmlns:a="http://schemas.openxmlformats.org/drawingml/2006/main">
              <a:ext uri="{FF2B5EF4-FFF2-40B4-BE49-F238E27FC236}">
                <a16:creationId xmlns:a16="http://schemas.microsoft.com/office/drawing/2014/main" id="{95242E90-613C-47DC-B2EC-DBCDEA6F4CEB}"/>
              </a:ext>
            </a:extLst>
          </p:cNvPr>
          <p:cNvSpPr>
            <a:spLocks xmlns:a="http://schemas.openxmlformats.org/drawingml/2006/main" noGrp="1"/>
          </p:cNvSpPr>
          <p:nvPr/>
        </p:nvSpPr>
        <p:spPr>
          <a:xfrm xmlns:a="http://schemas.openxmlformats.org/drawingml/2006/main">
            <a:off x="8496300" y="1952625"/>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Agentic AI</a:t>
            </a:r>
          </a:p>
        </p:txBody>
      </p:sp>
      <p:sp>
        <p:nvSpPr>
          <p:cNvPr id="15" name="">
            <a:extLst xmlns:a="http://schemas.openxmlformats.org/drawingml/2006/main">
              <a:ext uri="{FF2B5EF4-FFF2-40B4-BE49-F238E27FC236}">
                <a16:creationId xmlns:a16="http://schemas.microsoft.com/office/drawing/2014/main" id="{9FEAF2C9-49EB-4A64-9126-3BC568063B68}"/>
              </a:ext>
            </a:extLst>
          </p:cNvPr>
          <p:cNvSpPr>
            <a:spLocks xmlns:a="http://schemas.openxmlformats.org/drawingml/2006/main" noGrp="1"/>
          </p:cNvSpPr>
          <p:nvPr/>
        </p:nvSpPr>
        <p:spPr>
          <a:xfrm xmlns:a="http://schemas.openxmlformats.org/drawingml/2006/main">
            <a:off x="8496300" y="2409825"/>
            <a:ext cx="27813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Coordinates multi-step workflows across systems under rules, approvals, and audit logs.</a:t>
            </a:r>
          </a:p>
        </p:txBody>
      </p:sp>
      <p:sp>
        <p:nvSpPr>
          <p:cNvPr id="16" name="">
            <a:extLst xmlns:a="http://schemas.openxmlformats.org/drawingml/2006/main">
              <a:ext uri="{FF2B5EF4-FFF2-40B4-BE49-F238E27FC236}">
                <a16:creationId xmlns:a16="http://schemas.microsoft.com/office/drawing/2014/main" id="{80417373-CCC2-4572-B7A2-36D9FCBE90F2}"/>
              </a:ext>
            </a:extLst>
          </p:cNvPr>
          <p:cNvSpPr>
            <a:spLocks xmlns:a="http://schemas.openxmlformats.org/drawingml/2006/main" noGrp="1"/>
          </p:cNvSpPr>
          <p:nvPr/>
        </p:nvSpPr>
        <p:spPr>
          <a:xfrm xmlns:a="http://schemas.openxmlformats.org/drawingml/2006/main">
            <a:off x="1123950" y="4762500"/>
            <a:ext cx="962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2324A"/>
                </a:solidFill>
              </a:defRPr>
            </a:pPr>
            <a:r>
              <a:rPr sz="1875" b="1">
                <a:solidFill>
                  <a:srgbClr val="12324A"/>
                </a:solidFill>
              </a:rPr>
              <a:t>The category matters because each one creates different review questions, data needs, staffing requirements, and safeguards.</a:t>
            </a:r>
          </a:p>
        </p:txBody>
      </p:sp>
      <p:sp>
        <p:nvSpPr>
          <p:cNvPr id="17" name="">
            <a:extLst xmlns:a="http://schemas.openxmlformats.org/drawingml/2006/main">
              <a:ext uri="{FF2B5EF4-FFF2-40B4-BE49-F238E27FC236}">
                <a16:creationId xmlns:a16="http://schemas.microsoft.com/office/drawing/2014/main" id="{890372C3-02E8-4FB2-950D-3A201D435E26}"/>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8" name="">
            <a:extLst xmlns:a="http://schemas.openxmlformats.org/drawingml/2006/main">
              <a:ext uri="{FF2B5EF4-FFF2-40B4-BE49-F238E27FC236}">
                <a16:creationId xmlns:a16="http://schemas.microsoft.com/office/drawing/2014/main" id="{A4FC93B4-FC0D-4EA3-A1A6-CD490A16AA9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3822568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992B0C-5962-4BFC-93C8-6753105809D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83CD31B-92E5-423D-82F9-EC5D0BD4E67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Generative AI drafts, summarizes, and translates</a:t>
            </a:r>
          </a:p>
        </p:txBody>
      </p:sp>
      <p:sp>
        <p:nvSpPr>
          <p:cNvPr id="3" name="">
            <a:extLst xmlns:a="http://schemas.openxmlformats.org/drawingml/2006/main">
              <a:ext uri="{FF2B5EF4-FFF2-40B4-BE49-F238E27FC236}">
                <a16:creationId xmlns:a16="http://schemas.microsoft.com/office/drawing/2014/main" id="{8F1D9AA1-74C9-4588-A96F-79B52B80C7E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64F03B9-9683-4F74-B060-F29C1C63B6C3}"/>
              </a:ext>
            </a:extLst>
          </p:cNvPr>
          <p:cNvSpPr>
            <a:spLocks xmlns:a="http://schemas.openxmlformats.org/drawingml/2006/main" noGrp="1"/>
          </p:cNvSpPr>
          <p:nvPr/>
        </p:nvSpPr>
        <p:spPr>
          <a:xfrm xmlns:a="http://schemas.openxmlformats.org/drawingml/2006/main">
            <a:off x="685800" y="16383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Generative AI is useful when the task involves language, structure, synthesis, or first-draft support.</a:t>
            </a:r>
          </a:p>
        </p:txBody>
      </p:sp>
      <p:sp>
        <p:nvSpPr>
          <p:cNvPr id="5" name="">
            <a:extLst xmlns:a="http://schemas.openxmlformats.org/drawingml/2006/main">
              <a:ext uri="{FF2B5EF4-FFF2-40B4-BE49-F238E27FC236}">
                <a16:creationId xmlns:a16="http://schemas.microsoft.com/office/drawing/2014/main" id="{C24BD92D-00C6-4A0D-B201-36035C6DCD92}"/>
              </a:ext>
            </a:extLst>
          </p:cNvPr>
          <p:cNvSpPr>
            <a:spLocks xmlns:a="http://schemas.openxmlformats.org/drawingml/2006/main" noGrp="1"/>
          </p:cNvSpPr>
          <p:nvPr/>
        </p:nvSpPr>
        <p:spPr>
          <a:xfrm xmlns:a="http://schemas.openxmlformats.org/drawingml/2006/main">
            <a:off x="857250" y="2333625"/>
            <a:ext cx="62865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24394A"/>
                </a:solidFill>
              </a:defRPr>
            </a:pPr>
            <a:r>
              <a:rPr sz="1650" b="0">
                <a:solidFill>
                  <a:srgbClr val="24394A"/>
                </a:solidFill>
              </a:rPr>
              <a:t>• Draft health education materials, FAQs, grant narratives, and internal briefings.</a:t>
            </a:r>
          </a:p>
          <a:p xmlns:a="http://schemas.openxmlformats.org/drawingml/2006/main">
            <a:pPr algn="l">
              <a:defRPr sz="1650" b="0">
                <a:solidFill>
                  <a:srgbClr val="24394A"/>
                </a:solidFill>
              </a:defRPr>
            </a:pPr>
            <a:r>
              <a:rPr sz="1650" b="0">
                <a:solidFill>
                  <a:srgbClr val="24394A"/>
                </a:solidFill>
              </a:rPr>
              <a:t>• Summarize long guidance, reports, policies, or literature for expert review.</a:t>
            </a:r>
          </a:p>
          <a:p xmlns:a="http://schemas.openxmlformats.org/drawingml/2006/main">
            <a:pPr algn="l">
              <a:defRPr sz="1650" b="0">
                <a:solidFill>
                  <a:srgbClr val="24394A"/>
                </a:solidFill>
              </a:defRPr>
            </a:pPr>
            <a:r>
              <a:rPr sz="1650" b="0">
                <a:solidFill>
                  <a:srgbClr val="24394A"/>
                </a:solidFill>
              </a:rPr>
              <a:t>• Translate technical findings into plain language for different audiences.</a:t>
            </a:r>
          </a:p>
          <a:p xmlns:a="http://schemas.openxmlformats.org/drawingml/2006/main">
            <a:pPr algn="l">
              <a:defRPr sz="1650" b="0">
                <a:solidFill>
                  <a:srgbClr val="24394A"/>
                </a:solidFill>
              </a:defRPr>
            </a:pPr>
            <a:r>
              <a:rPr sz="1650" b="0">
                <a:solidFill>
                  <a:srgbClr val="24394A"/>
                </a:solidFill>
              </a:rPr>
              <a:t>• Help staff organize evidence, but not certify that the evidence is correct.</a:t>
            </a:r>
          </a:p>
        </p:txBody>
      </p:sp>
      <p:sp>
        <p:nvSpPr>
          <p:cNvPr id="6" name="">
            <a:extLst xmlns:a="http://schemas.openxmlformats.org/drawingml/2006/main">
              <a:ext uri="{FF2B5EF4-FFF2-40B4-BE49-F238E27FC236}">
                <a16:creationId xmlns:a16="http://schemas.microsoft.com/office/drawing/2014/main" id="{A20C4953-9161-4C39-BB1D-D27FAF9D43A5}"/>
              </a:ext>
            </a:extLst>
          </p:cNvPr>
          <p:cNvSpPr>
            <a:spLocks xmlns:a="http://schemas.openxmlformats.org/drawingml/2006/main" noGrp="1"/>
          </p:cNvSpPr>
          <p:nvPr/>
        </p:nvSpPr>
        <p:spPr>
          <a:xfrm xmlns:a="http://schemas.openxmlformats.org/drawingml/2006/main">
            <a:off x="7524750" y="2333625"/>
            <a:ext cx="3238500" cy="2428875"/>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DA75CA4-9AFC-4A27-88C6-4E631DB56A3D}"/>
              </a:ext>
            </a:extLst>
          </p:cNvPr>
          <p:cNvSpPr>
            <a:spLocks xmlns:a="http://schemas.openxmlformats.org/drawingml/2006/main" noGrp="1"/>
          </p:cNvSpPr>
          <p:nvPr/>
        </p:nvSpPr>
        <p:spPr>
          <a:xfrm xmlns:a="http://schemas.openxmlformats.org/drawingml/2006/main">
            <a:off x="7524750" y="2333625"/>
            <a:ext cx="66675" cy="24288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8" name="">
            <a:extLst xmlns:a="http://schemas.openxmlformats.org/drawingml/2006/main">
              <a:ext uri="{FF2B5EF4-FFF2-40B4-BE49-F238E27FC236}">
                <a16:creationId xmlns:a16="http://schemas.microsoft.com/office/drawing/2014/main" id="{E5C858CC-891C-4CC6-8A3B-5A4D008E780C}"/>
              </a:ext>
            </a:extLst>
          </p:cNvPr>
          <p:cNvSpPr>
            <a:spLocks xmlns:a="http://schemas.openxmlformats.org/drawingml/2006/main" noGrp="1"/>
          </p:cNvSpPr>
          <p:nvPr/>
        </p:nvSpPr>
        <p:spPr>
          <a:xfrm xmlns:a="http://schemas.openxmlformats.org/drawingml/2006/main">
            <a:off x="7753350" y="2524125"/>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Training point</a:t>
            </a:r>
          </a:p>
        </p:txBody>
      </p:sp>
      <p:sp>
        <p:nvSpPr>
          <p:cNvPr id="9" name="">
            <a:extLst xmlns:a="http://schemas.openxmlformats.org/drawingml/2006/main">
              <a:ext uri="{FF2B5EF4-FFF2-40B4-BE49-F238E27FC236}">
                <a16:creationId xmlns:a16="http://schemas.microsoft.com/office/drawing/2014/main" id="{840DCF4D-4063-4C4C-96D6-17BADB117701}"/>
              </a:ext>
            </a:extLst>
          </p:cNvPr>
          <p:cNvSpPr>
            <a:spLocks xmlns:a="http://schemas.openxmlformats.org/drawingml/2006/main" noGrp="1"/>
          </p:cNvSpPr>
          <p:nvPr/>
        </p:nvSpPr>
        <p:spPr>
          <a:xfrm xmlns:a="http://schemas.openxmlformats.org/drawingml/2006/main">
            <a:off x="7753350" y="2981325"/>
            <a:ext cx="2781300" cy="1628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Generated content can sound fluent while being incomplete, unsupported, or wrong. Public-facing and consequential outputs require source checking and subject matter review.</a:t>
            </a:r>
          </a:p>
        </p:txBody>
      </p:sp>
      <p:sp>
        <p:nvSpPr>
          <p:cNvPr id="10" name="">
            <a:extLst xmlns:a="http://schemas.openxmlformats.org/drawingml/2006/main">
              <a:ext uri="{FF2B5EF4-FFF2-40B4-BE49-F238E27FC236}">
                <a16:creationId xmlns:a16="http://schemas.microsoft.com/office/drawing/2014/main" id="{FF151E61-90E9-4F6D-A874-ED621129E8A1}"/>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1" name="">
            <a:extLst xmlns:a="http://schemas.openxmlformats.org/drawingml/2006/main">
              <a:ext uri="{FF2B5EF4-FFF2-40B4-BE49-F238E27FC236}">
                <a16:creationId xmlns:a16="http://schemas.microsoft.com/office/drawing/2014/main" id="{97DA2AA8-4816-4A41-93EC-794A800193A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137170362"/>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6086C8C-B05C-4C9B-91DC-D8D9ECA8DBE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647357F-43F5-4122-BD2F-8A464801ADD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Agentic AI can act across workflow steps</a:t>
            </a:r>
          </a:p>
        </p:txBody>
      </p:sp>
      <p:sp>
        <p:nvSpPr>
          <p:cNvPr id="3" name="">
            <a:extLst xmlns:a="http://schemas.openxmlformats.org/drawingml/2006/main">
              <a:ext uri="{FF2B5EF4-FFF2-40B4-BE49-F238E27FC236}">
                <a16:creationId xmlns:a16="http://schemas.microsoft.com/office/drawing/2014/main" id="{53E5C3CE-7DF8-40FE-861D-5610FB22FD0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6E360AE-0F0F-4376-AFD9-2DC46648916B}"/>
              </a:ext>
            </a:extLst>
          </p:cNvPr>
          <p:cNvSpPr>
            <a:spLocks xmlns:a="http://schemas.openxmlformats.org/drawingml/2006/main" noGrp="1"/>
          </p:cNvSpPr>
          <p:nvPr/>
        </p:nvSpPr>
        <p:spPr>
          <a:xfrm xmlns:a="http://schemas.openxmlformats.org/drawingml/2006/main">
            <a:off x="685800" y="1638300"/>
            <a:ext cx="1009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Agentic AI can monitor inputs, gather information, prepare outputs, update task queues, and route work. That makes boundaries and oversight essential.</a:t>
            </a:r>
          </a:p>
        </p:txBody>
      </p:sp>
      <p:sp>
        <p:nvSpPr>
          <p:cNvPr id="5" name="">
            <a:extLst xmlns:a="http://schemas.openxmlformats.org/drawingml/2006/main">
              <a:ext uri="{FF2B5EF4-FFF2-40B4-BE49-F238E27FC236}">
                <a16:creationId xmlns:a16="http://schemas.microsoft.com/office/drawing/2014/main" id="{D7F2777D-31D5-4600-96E1-907C0241B676}"/>
              </a:ext>
            </a:extLst>
          </p:cNvPr>
          <p:cNvSpPr>
            <a:spLocks xmlns:a="http://schemas.openxmlformats.org/drawingml/2006/main" noGrp="1"/>
          </p:cNvSpPr>
          <p:nvPr/>
        </p:nvSpPr>
        <p:spPr>
          <a:xfrm xmlns:a="http://schemas.openxmlformats.org/drawingml/2006/main">
            <a:off x="685800" y="2714625"/>
            <a:ext cx="476250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9B1C9389-335A-408D-BF2D-8DECC8B04837}"/>
              </a:ext>
            </a:extLst>
          </p:cNvPr>
          <p:cNvSpPr>
            <a:spLocks xmlns:a="http://schemas.openxmlformats.org/drawingml/2006/main" noGrp="1"/>
          </p:cNvSpPr>
          <p:nvPr/>
        </p:nvSpPr>
        <p:spPr>
          <a:xfrm xmlns:a="http://schemas.openxmlformats.org/drawingml/2006/main">
            <a:off x="685800" y="2714625"/>
            <a:ext cx="66675" cy="1762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C7FFDB98-3108-4499-B399-36AF5281CFE8}"/>
              </a:ext>
            </a:extLst>
          </p:cNvPr>
          <p:cNvSpPr>
            <a:spLocks xmlns:a="http://schemas.openxmlformats.org/drawingml/2006/main" noGrp="1"/>
          </p:cNvSpPr>
          <p:nvPr/>
        </p:nvSpPr>
        <p:spPr>
          <a:xfrm xmlns:a="http://schemas.openxmlformats.org/drawingml/2006/main">
            <a:off x="914400" y="29051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Appropriate support</a:t>
            </a:r>
          </a:p>
        </p:txBody>
      </p:sp>
      <p:sp>
        <p:nvSpPr>
          <p:cNvPr id="8" name="">
            <a:extLst xmlns:a="http://schemas.openxmlformats.org/drawingml/2006/main">
              <a:ext uri="{FF2B5EF4-FFF2-40B4-BE49-F238E27FC236}">
                <a16:creationId xmlns:a16="http://schemas.microsoft.com/office/drawing/2014/main" id="{F0D42DFC-EEFE-4AD5-A61C-BEA5FAFD4143}"/>
              </a:ext>
            </a:extLst>
          </p:cNvPr>
          <p:cNvSpPr>
            <a:spLocks xmlns:a="http://schemas.openxmlformats.org/drawingml/2006/main" noGrp="1"/>
          </p:cNvSpPr>
          <p:nvPr/>
        </p:nvSpPr>
        <p:spPr>
          <a:xfrm xmlns:a="http://schemas.openxmlformats.org/drawingml/2006/main">
            <a:off x="914400" y="3362325"/>
            <a:ext cx="43053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Assemble an evidence packet, draft a situation brief, flag a dashboard threshold, or route a task for human review.</a:t>
            </a:r>
          </a:p>
        </p:txBody>
      </p:sp>
      <p:sp>
        <p:nvSpPr>
          <p:cNvPr id="9" name="">
            <a:extLst xmlns:a="http://schemas.openxmlformats.org/drawingml/2006/main">
              <a:ext uri="{FF2B5EF4-FFF2-40B4-BE49-F238E27FC236}">
                <a16:creationId xmlns:a16="http://schemas.microsoft.com/office/drawing/2014/main" id="{597CBF1F-D610-4DF0-B4AB-9C9BDC81C1BE}"/>
              </a:ext>
            </a:extLst>
          </p:cNvPr>
          <p:cNvSpPr>
            <a:spLocks xmlns:a="http://schemas.openxmlformats.org/drawingml/2006/main" noGrp="1"/>
          </p:cNvSpPr>
          <p:nvPr/>
        </p:nvSpPr>
        <p:spPr>
          <a:xfrm xmlns:a="http://schemas.openxmlformats.org/drawingml/2006/main">
            <a:off x="5905500" y="2714625"/>
            <a:ext cx="476250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C03660D3-3782-4CDC-B28D-FE2046597880}"/>
              </a:ext>
            </a:extLst>
          </p:cNvPr>
          <p:cNvSpPr>
            <a:spLocks xmlns:a="http://schemas.openxmlformats.org/drawingml/2006/main" noGrp="1"/>
          </p:cNvSpPr>
          <p:nvPr/>
        </p:nvSpPr>
        <p:spPr>
          <a:xfrm xmlns:a="http://schemas.openxmlformats.org/drawingml/2006/main">
            <a:off x="5905500" y="2714625"/>
            <a:ext cx="66675" cy="176212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BEF730B1-EE9B-4CD3-8BF8-A4B453F6B276}"/>
              </a:ext>
            </a:extLst>
          </p:cNvPr>
          <p:cNvSpPr>
            <a:spLocks xmlns:a="http://schemas.openxmlformats.org/drawingml/2006/main" noGrp="1"/>
          </p:cNvSpPr>
          <p:nvPr/>
        </p:nvSpPr>
        <p:spPr>
          <a:xfrm xmlns:a="http://schemas.openxmlformats.org/drawingml/2006/main">
            <a:off x="6134100" y="29051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Required controls</a:t>
            </a:r>
          </a:p>
        </p:txBody>
      </p:sp>
      <p:sp>
        <p:nvSpPr>
          <p:cNvPr id="12" name="">
            <a:extLst xmlns:a="http://schemas.openxmlformats.org/drawingml/2006/main">
              <a:ext uri="{FF2B5EF4-FFF2-40B4-BE49-F238E27FC236}">
                <a16:creationId xmlns:a16="http://schemas.microsoft.com/office/drawing/2014/main" id="{087B42DF-337E-4205-A109-6F985AC2AD3F}"/>
              </a:ext>
            </a:extLst>
          </p:cNvPr>
          <p:cNvSpPr>
            <a:spLocks xmlns:a="http://schemas.openxmlformats.org/drawingml/2006/main" noGrp="1"/>
          </p:cNvSpPr>
          <p:nvPr/>
        </p:nvSpPr>
        <p:spPr>
          <a:xfrm xmlns:a="http://schemas.openxmlformats.org/drawingml/2006/main">
            <a:off x="6134100" y="3362325"/>
            <a:ext cx="43053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Use role-based permissions, audit logs, approved data sources, escalation rules, and human approval before external communication or public health action.</a:t>
            </a:r>
          </a:p>
        </p:txBody>
      </p:sp>
      <p:sp>
        <p:nvSpPr>
          <p:cNvPr id="13" name="">
            <a:extLst xmlns:a="http://schemas.openxmlformats.org/drawingml/2006/main">
              <a:ext uri="{FF2B5EF4-FFF2-40B4-BE49-F238E27FC236}">
                <a16:creationId xmlns:a16="http://schemas.microsoft.com/office/drawing/2014/main" id="{AA482D99-219D-41C7-A44C-80C65B074F4F}"/>
              </a:ext>
            </a:extLst>
          </p:cNvPr>
          <p:cNvSpPr>
            <a:spLocks xmlns:a="http://schemas.openxmlformats.org/drawingml/2006/main" noGrp="1"/>
          </p:cNvSpPr>
          <p:nvPr/>
        </p:nvSpPr>
        <p:spPr>
          <a:xfrm xmlns:a="http://schemas.openxmlformats.org/drawingml/2006/main">
            <a:off x="1381125" y="5000625"/>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3B70"/>
                </a:solidFill>
              </a:defRPr>
            </a:pPr>
            <a:r>
              <a:rPr sz="2025" b="1">
                <a:solidFill>
                  <a:srgbClr val="003B70"/>
                </a:solidFill>
              </a:rPr>
              <a:t>Agentic systems should never quietly expand from support tasks into unapproved decisions.</a:t>
            </a:r>
          </a:p>
        </p:txBody>
      </p:sp>
      <p:sp>
        <p:nvSpPr>
          <p:cNvPr id="14" name="">
            <a:extLst xmlns:a="http://schemas.openxmlformats.org/drawingml/2006/main">
              <a:ext uri="{FF2B5EF4-FFF2-40B4-BE49-F238E27FC236}">
                <a16:creationId xmlns:a16="http://schemas.microsoft.com/office/drawing/2014/main" id="{FE70F2B6-EB2C-40AE-9E51-53B38406E5EA}"/>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5" name="">
            <a:extLst xmlns:a="http://schemas.openxmlformats.org/drawingml/2006/main">
              <a:ext uri="{FF2B5EF4-FFF2-40B4-BE49-F238E27FC236}">
                <a16:creationId xmlns:a16="http://schemas.microsoft.com/office/drawing/2014/main" id="{58602D5A-47FA-4F43-9C72-DD446FB9187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5815133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9960E0-DB25-477A-B7F6-2290DA1F020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D264934-8D1C-462F-9B8B-E1386C2E410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Public health AI use should be bounded and reviewable</a:t>
            </a:r>
          </a:p>
        </p:txBody>
      </p:sp>
      <p:sp>
        <p:nvSpPr>
          <p:cNvPr id="3" name="">
            <a:extLst xmlns:a="http://schemas.openxmlformats.org/drawingml/2006/main">
              <a:ext uri="{FF2B5EF4-FFF2-40B4-BE49-F238E27FC236}">
                <a16:creationId xmlns:a16="http://schemas.microsoft.com/office/drawing/2014/main" id="{C2DF78E4-B416-44C4-8966-C5681CE7030C}"/>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4130545-9ACA-4F50-8BC8-CD1D379136A2}"/>
              </a:ext>
            </a:extLst>
          </p:cNvPr>
          <p:cNvSpPr>
            <a:spLocks xmlns:a="http://schemas.openxmlformats.org/drawingml/2006/main" noGrp="1"/>
          </p:cNvSpPr>
          <p:nvPr/>
        </p:nvSpPr>
        <p:spPr>
          <a:xfrm xmlns:a="http://schemas.openxmlformats.org/drawingml/2006/main">
            <a:off x="781050" y="1809750"/>
            <a:ext cx="10001250" cy="952500"/>
          </a:xfrm>
          <a:prstGeom xmlns:a="http://schemas.openxmlformats.org/drawingml/2006/main" prst="roundRect">
            <a:avLst>
              <a:gd name="adj" fmla="val 12000"/>
            </a:avLst>
          </a:prstGeom>
          <a:solidFill xmlns:a="http://schemas.openxmlformats.org/drawingml/2006/main">
            <a:srgbClr val="EAF5FB"/>
          </a:solidFill>
          <a:ln xmlns:a="http://schemas.openxmlformats.org/drawingml/2006/main" w="9525">
            <a:solidFill>
              <a:srgbClr val="ABD1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987E2585-14DD-4C29-B3C7-DAB1740B68A5}"/>
              </a:ext>
            </a:extLst>
          </p:cNvPr>
          <p:cNvSpPr>
            <a:spLocks xmlns:a="http://schemas.openxmlformats.org/drawingml/2006/main" noGrp="1"/>
          </p:cNvSpPr>
          <p:nvPr/>
        </p:nvSpPr>
        <p:spPr>
          <a:xfrm xmlns:a="http://schemas.openxmlformats.org/drawingml/2006/main">
            <a:off x="1095375" y="2095500"/>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3B70"/>
                </a:solidFill>
              </a:defRPr>
            </a:pPr>
            <a:r>
              <a:rPr sz="2025" b="1">
                <a:solidFill>
                  <a:srgbClr val="003B70"/>
                </a:solidFill>
              </a:rPr>
              <a:t>A good AI use case has a clear public health purpose, known data sources, named human owners, documented limits, and a monitoring plan.</a:t>
            </a:r>
          </a:p>
        </p:txBody>
      </p:sp>
      <p:sp>
        <p:nvSpPr>
          <p:cNvPr id="6" name="">
            <a:extLst xmlns:a="http://schemas.openxmlformats.org/drawingml/2006/main">
              <a:ext uri="{FF2B5EF4-FFF2-40B4-BE49-F238E27FC236}">
                <a16:creationId xmlns:a16="http://schemas.microsoft.com/office/drawing/2014/main" id="{AB8AD216-B660-431A-A8B7-652D2AB12514}"/>
              </a:ext>
            </a:extLst>
          </p:cNvPr>
          <p:cNvSpPr>
            <a:spLocks xmlns:a="http://schemas.openxmlformats.org/drawingml/2006/main" noGrp="1"/>
          </p:cNvSpPr>
          <p:nvPr/>
        </p:nvSpPr>
        <p:spPr>
          <a:xfrm xmlns:a="http://schemas.openxmlformats.org/drawingml/2006/main">
            <a:off x="685800" y="3238500"/>
            <a:ext cx="314325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645CC47-076C-4512-BB20-DEB7D39DD53E}"/>
              </a:ext>
            </a:extLst>
          </p:cNvPr>
          <p:cNvSpPr>
            <a:spLocks xmlns:a="http://schemas.openxmlformats.org/drawingml/2006/main" noGrp="1"/>
          </p:cNvSpPr>
          <p:nvPr/>
        </p:nvSpPr>
        <p:spPr>
          <a:xfrm xmlns:a="http://schemas.openxmlformats.org/drawingml/2006/main">
            <a:off x="685800" y="3238500"/>
            <a:ext cx="66675" cy="17145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8" name="">
            <a:extLst xmlns:a="http://schemas.openxmlformats.org/drawingml/2006/main">
              <a:ext uri="{FF2B5EF4-FFF2-40B4-BE49-F238E27FC236}">
                <a16:creationId xmlns:a16="http://schemas.microsoft.com/office/drawing/2014/main" id="{60FDBFDB-3C5A-4443-95C1-5F00BABDB6F0}"/>
              </a:ext>
            </a:extLst>
          </p:cNvPr>
          <p:cNvSpPr>
            <a:spLocks xmlns:a="http://schemas.openxmlformats.org/drawingml/2006/main" noGrp="1"/>
          </p:cNvSpPr>
          <p:nvPr/>
        </p:nvSpPr>
        <p:spPr>
          <a:xfrm xmlns:a="http://schemas.openxmlformats.org/drawingml/2006/main">
            <a:off x="914400" y="34290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Before use</a:t>
            </a:r>
          </a:p>
        </p:txBody>
      </p:sp>
      <p:sp>
        <p:nvSpPr>
          <p:cNvPr id="9" name="">
            <a:extLst xmlns:a="http://schemas.openxmlformats.org/drawingml/2006/main">
              <a:ext uri="{FF2B5EF4-FFF2-40B4-BE49-F238E27FC236}">
                <a16:creationId xmlns:a16="http://schemas.microsoft.com/office/drawing/2014/main" id="{83BF2118-EDCB-43F8-9D82-3DFF44CA13F6}"/>
              </a:ext>
            </a:extLst>
          </p:cNvPr>
          <p:cNvSpPr>
            <a:spLocks xmlns:a="http://schemas.openxmlformats.org/drawingml/2006/main" noGrp="1"/>
          </p:cNvSpPr>
          <p:nvPr/>
        </p:nvSpPr>
        <p:spPr>
          <a:xfrm xmlns:a="http://schemas.openxmlformats.org/drawingml/2006/main">
            <a:off x="914400" y="3886200"/>
            <a:ext cx="26860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Assess readiness, classify data, establish governance, and define what the AI may and may not do.</a:t>
            </a:r>
          </a:p>
        </p:txBody>
      </p:sp>
      <p:sp>
        <p:nvSpPr>
          <p:cNvPr id="10" name="">
            <a:extLst xmlns:a="http://schemas.openxmlformats.org/drawingml/2006/main">
              <a:ext uri="{FF2B5EF4-FFF2-40B4-BE49-F238E27FC236}">
                <a16:creationId xmlns:a16="http://schemas.microsoft.com/office/drawing/2014/main" id="{859C525A-7529-43DD-864A-B2A4151F4328}"/>
              </a:ext>
            </a:extLst>
          </p:cNvPr>
          <p:cNvSpPr>
            <a:spLocks xmlns:a="http://schemas.openxmlformats.org/drawingml/2006/main" noGrp="1"/>
          </p:cNvSpPr>
          <p:nvPr/>
        </p:nvSpPr>
        <p:spPr>
          <a:xfrm xmlns:a="http://schemas.openxmlformats.org/drawingml/2006/main">
            <a:off x="4524375" y="3238500"/>
            <a:ext cx="314325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4E7A272F-8FD0-4478-A976-6A190BB5D5DC}"/>
              </a:ext>
            </a:extLst>
          </p:cNvPr>
          <p:cNvSpPr>
            <a:spLocks xmlns:a="http://schemas.openxmlformats.org/drawingml/2006/main" noGrp="1"/>
          </p:cNvSpPr>
          <p:nvPr/>
        </p:nvSpPr>
        <p:spPr>
          <a:xfrm xmlns:a="http://schemas.openxmlformats.org/drawingml/2006/main">
            <a:off x="4524375" y="3238500"/>
            <a:ext cx="66675" cy="1714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2" name="">
            <a:extLst xmlns:a="http://schemas.openxmlformats.org/drawingml/2006/main">
              <a:ext uri="{FF2B5EF4-FFF2-40B4-BE49-F238E27FC236}">
                <a16:creationId xmlns:a16="http://schemas.microsoft.com/office/drawing/2014/main" id="{B278D55C-2806-4BEE-81EC-25B4721E7331}"/>
              </a:ext>
            </a:extLst>
          </p:cNvPr>
          <p:cNvSpPr>
            <a:spLocks xmlns:a="http://schemas.openxmlformats.org/drawingml/2006/main" noGrp="1"/>
          </p:cNvSpPr>
          <p:nvPr/>
        </p:nvSpPr>
        <p:spPr>
          <a:xfrm xmlns:a="http://schemas.openxmlformats.org/drawingml/2006/main">
            <a:off x="4752975" y="34290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During use</a:t>
            </a:r>
          </a:p>
        </p:txBody>
      </p:sp>
      <p:sp>
        <p:nvSpPr>
          <p:cNvPr id="13" name="">
            <a:extLst xmlns:a="http://schemas.openxmlformats.org/drawingml/2006/main">
              <a:ext uri="{FF2B5EF4-FFF2-40B4-BE49-F238E27FC236}">
                <a16:creationId xmlns:a16="http://schemas.microsoft.com/office/drawing/2014/main" id="{C31377F4-5FDE-4136-A940-DCF84DD55DF5}"/>
              </a:ext>
            </a:extLst>
          </p:cNvPr>
          <p:cNvSpPr>
            <a:spLocks xmlns:a="http://schemas.openxmlformats.org/drawingml/2006/main" noGrp="1"/>
          </p:cNvSpPr>
          <p:nvPr/>
        </p:nvSpPr>
        <p:spPr>
          <a:xfrm xmlns:a="http://schemas.openxmlformats.org/drawingml/2006/main">
            <a:off x="4752975" y="3886200"/>
            <a:ext cx="26860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Require human review, document decisions, track concerns, and monitor performance across groups.</a:t>
            </a:r>
          </a:p>
        </p:txBody>
      </p:sp>
      <p:sp>
        <p:nvSpPr>
          <p:cNvPr id="14" name="">
            <a:extLst xmlns:a="http://schemas.openxmlformats.org/drawingml/2006/main">
              <a:ext uri="{FF2B5EF4-FFF2-40B4-BE49-F238E27FC236}">
                <a16:creationId xmlns:a16="http://schemas.microsoft.com/office/drawing/2014/main" id="{33ECEAFA-94AB-4192-B93F-86AA7A8709B1}"/>
              </a:ext>
            </a:extLst>
          </p:cNvPr>
          <p:cNvSpPr>
            <a:spLocks xmlns:a="http://schemas.openxmlformats.org/drawingml/2006/main" noGrp="1"/>
          </p:cNvSpPr>
          <p:nvPr/>
        </p:nvSpPr>
        <p:spPr>
          <a:xfrm xmlns:a="http://schemas.openxmlformats.org/drawingml/2006/main">
            <a:off x="8362950" y="3238500"/>
            <a:ext cx="314325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DAD3E7F4-9ED4-412A-977B-4F3BDC45239D}"/>
              </a:ext>
            </a:extLst>
          </p:cNvPr>
          <p:cNvSpPr>
            <a:spLocks xmlns:a="http://schemas.openxmlformats.org/drawingml/2006/main" noGrp="1"/>
          </p:cNvSpPr>
          <p:nvPr/>
        </p:nvSpPr>
        <p:spPr>
          <a:xfrm xmlns:a="http://schemas.openxmlformats.org/drawingml/2006/main">
            <a:off x="8362950" y="3238500"/>
            <a:ext cx="66675" cy="1714500"/>
          </a:xfrm>
          <a:prstGeom xmlns:a="http://schemas.openxmlformats.org/drawingml/2006/main" prst="rect">
            <a:avLst/>
          </a:prstGeom>
          <a:solidFill xmlns:a="http://schemas.openxmlformats.org/drawingml/2006/main">
            <a:srgbClr val="003B70"/>
          </a:solidFill>
          <a:ln xmlns:a="http://schemas.openxmlformats.org/drawingml/2006/main" w="0">
            <a:solidFill>
              <a:srgbClr val="003B70"/>
            </a:solidFill>
            <a:prstDash val="solid"/>
          </a:ln>
        </p:spPr>
      </p:sp>
      <p:sp>
        <p:nvSpPr>
          <p:cNvPr id="16" name="">
            <a:extLst xmlns:a="http://schemas.openxmlformats.org/drawingml/2006/main">
              <a:ext uri="{FF2B5EF4-FFF2-40B4-BE49-F238E27FC236}">
                <a16:creationId xmlns:a16="http://schemas.microsoft.com/office/drawing/2014/main" id="{D8C8B3F0-C986-4496-A0D8-E5F9F6BCA7E1}"/>
              </a:ext>
            </a:extLst>
          </p:cNvPr>
          <p:cNvSpPr>
            <a:spLocks xmlns:a="http://schemas.openxmlformats.org/drawingml/2006/main" noGrp="1"/>
          </p:cNvSpPr>
          <p:nvPr/>
        </p:nvSpPr>
        <p:spPr>
          <a:xfrm xmlns:a="http://schemas.openxmlformats.org/drawingml/2006/main">
            <a:off x="8591550" y="34290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After use</a:t>
            </a:r>
          </a:p>
        </p:txBody>
      </p:sp>
      <p:sp>
        <p:nvSpPr>
          <p:cNvPr id="17" name="">
            <a:extLst xmlns:a="http://schemas.openxmlformats.org/drawingml/2006/main">
              <a:ext uri="{FF2B5EF4-FFF2-40B4-BE49-F238E27FC236}">
                <a16:creationId xmlns:a16="http://schemas.microsoft.com/office/drawing/2014/main" id="{F74F8684-6EEE-44EA-AFE1-38111ACA712D}"/>
              </a:ext>
            </a:extLst>
          </p:cNvPr>
          <p:cNvSpPr>
            <a:spLocks xmlns:a="http://schemas.openxmlformats.org/drawingml/2006/main" noGrp="1"/>
          </p:cNvSpPr>
          <p:nvPr/>
        </p:nvSpPr>
        <p:spPr>
          <a:xfrm xmlns:a="http://schemas.openxmlformats.org/drawingml/2006/main">
            <a:off x="8591550" y="3886200"/>
            <a:ext cx="26860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Review results, incidents, drift, equity impacts, and whether the system should be changed, scaled, paused, or retired.</a:t>
            </a:r>
          </a:p>
        </p:txBody>
      </p:sp>
      <p:sp>
        <p:nvSpPr>
          <p:cNvPr id="18" name="">
            <a:extLst xmlns:a="http://schemas.openxmlformats.org/drawingml/2006/main">
              <a:ext uri="{FF2B5EF4-FFF2-40B4-BE49-F238E27FC236}">
                <a16:creationId xmlns:a16="http://schemas.microsoft.com/office/drawing/2014/main" id="{80ACB1E6-352D-4F2B-A1C5-F0FB7210396E}"/>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9" name="">
            <a:extLst xmlns:a="http://schemas.openxmlformats.org/drawingml/2006/main">
              <a:ext uri="{FF2B5EF4-FFF2-40B4-BE49-F238E27FC236}">
                <a16:creationId xmlns:a16="http://schemas.microsoft.com/office/drawing/2014/main" id="{93477FE1-EBB7-4575-99F1-445B84A6AD7E}"/>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2048648142"/>
      </p:ext>
    </p:extLst>
  </p:cSld>
</p:sld>
</file>

<file path=ppt/slides/slide9.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583FCF-0578-44B1-8A87-2CAEA057216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D8972BD-33DA-4F9C-B1F9-FE359FBE38E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Training exercise</a:t>
            </a:r>
          </a:p>
        </p:txBody>
      </p:sp>
      <p:sp>
        <p:nvSpPr>
          <p:cNvPr id="3" name="">
            <a:extLst xmlns:a="http://schemas.openxmlformats.org/drawingml/2006/main">
              <a:ext uri="{FF2B5EF4-FFF2-40B4-BE49-F238E27FC236}">
                <a16:creationId xmlns:a16="http://schemas.microsoft.com/office/drawing/2014/main" id="{9DD99313-15F4-4B91-803A-2BAC08458AB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19BF0D5-2C4A-4CF3-8D2F-315453A69290}"/>
              </a:ext>
            </a:extLst>
          </p:cNvPr>
          <p:cNvSpPr>
            <a:spLocks xmlns:a="http://schemas.openxmlformats.org/drawingml/2006/main" noGrp="1"/>
          </p:cNvSpPr>
          <p:nvPr/>
        </p:nvSpPr>
        <p:spPr>
          <a:xfrm xmlns:a="http://schemas.openxmlformats.org/drawingml/2006/main">
            <a:off x="685800" y="16192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2324A"/>
                </a:solidFill>
              </a:defRPr>
            </a:pPr>
            <a:r>
              <a:rPr sz="2100" b="1">
                <a:solidFill>
                  <a:srgbClr val="12324A"/>
                </a:solidFill>
              </a:rPr>
              <a:t>Apply the lesson to one workflow in your department.</a:t>
            </a:r>
          </a:p>
        </p:txBody>
      </p:sp>
      <p:sp>
        <p:nvSpPr>
          <p:cNvPr id="5" name="">
            <a:extLst xmlns:a="http://schemas.openxmlformats.org/drawingml/2006/main">
              <a:ext uri="{FF2B5EF4-FFF2-40B4-BE49-F238E27FC236}">
                <a16:creationId xmlns:a16="http://schemas.microsoft.com/office/drawing/2014/main" id="{C17E22D2-4B28-4994-B943-4DE9099F5EDE}"/>
              </a:ext>
            </a:extLst>
          </p:cNvPr>
          <p:cNvSpPr>
            <a:spLocks xmlns:a="http://schemas.openxmlformats.org/drawingml/2006/main" noGrp="1"/>
          </p:cNvSpPr>
          <p:nvPr/>
        </p:nvSpPr>
        <p:spPr>
          <a:xfrm xmlns:a="http://schemas.openxmlformats.org/drawingml/2006/main">
            <a:off x="1000125" y="2333625"/>
            <a:ext cx="7239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Choose one workflow where staff are curious about AI support.</a:t>
            </a:r>
          </a:p>
          <a:p xmlns:a="http://schemas.openxmlformats.org/drawingml/2006/main">
            <a:pPr algn="l">
              <a:defRPr sz="1725" b="0">
                <a:solidFill>
                  <a:srgbClr val="24394A"/>
                </a:solidFill>
              </a:defRPr>
            </a:pPr>
            <a:r>
              <a:rPr sz="1725" b="0">
                <a:solidFill>
                  <a:srgbClr val="24394A"/>
                </a:solidFill>
              </a:rPr>
              <a:t>• Identify whether the idea is generative, predictive, agentic, or a combination.</a:t>
            </a:r>
          </a:p>
          <a:p xmlns:a="http://schemas.openxmlformats.org/drawingml/2006/main">
            <a:pPr algn="l">
              <a:defRPr sz="1725" b="0">
                <a:solidFill>
                  <a:srgbClr val="24394A"/>
                </a:solidFill>
              </a:defRPr>
            </a:pPr>
            <a:r>
              <a:rPr sz="1725" b="0">
                <a:solidFill>
                  <a:srgbClr val="24394A"/>
                </a:solidFill>
              </a:rPr>
              <a:t>• Write what AI may support and what humans must still decide.</a:t>
            </a:r>
          </a:p>
          <a:p xmlns:a="http://schemas.openxmlformats.org/drawingml/2006/main">
            <a:pPr algn="l">
              <a:defRPr sz="1725" b="0">
                <a:solidFill>
                  <a:srgbClr val="24394A"/>
                </a:solidFill>
              </a:defRPr>
            </a:pPr>
            <a:r>
              <a:rPr sz="1725" b="0">
                <a:solidFill>
                  <a:srgbClr val="24394A"/>
                </a:solidFill>
              </a:rPr>
              <a:t>• List the data involved, review steps, and likely risks.</a:t>
            </a:r>
          </a:p>
          <a:p xmlns:a="http://schemas.openxmlformats.org/drawingml/2006/main">
            <a:pPr algn="l">
              <a:defRPr sz="1725" b="0">
                <a:solidFill>
                  <a:srgbClr val="24394A"/>
                </a:solidFill>
              </a:defRPr>
            </a:pPr>
            <a:r>
              <a:rPr sz="1725" b="0">
                <a:solidFill>
                  <a:srgbClr val="24394A"/>
                </a:solidFill>
              </a:rPr>
              <a:t>• Name the playbook play or tool that should be completed next.</a:t>
            </a:r>
          </a:p>
        </p:txBody>
      </p:sp>
      <p:sp>
        <p:nvSpPr>
          <p:cNvPr id="6" name="">
            <a:extLst xmlns:a="http://schemas.openxmlformats.org/drawingml/2006/main">
              <a:ext uri="{FF2B5EF4-FFF2-40B4-BE49-F238E27FC236}">
                <a16:creationId xmlns:a16="http://schemas.microsoft.com/office/drawing/2014/main" id="{6A9D2C75-E693-47C8-9743-858ED14183F5}"/>
              </a:ext>
            </a:extLst>
          </p:cNvPr>
          <p:cNvSpPr>
            <a:spLocks xmlns:a="http://schemas.openxmlformats.org/drawingml/2006/main" noGrp="1"/>
          </p:cNvSpPr>
          <p:nvPr/>
        </p:nvSpPr>
        <p:spPr>
          <a:xfrm xmlns:a="http://schemas.openxmlformats.org/drawingml/2006/main">
            <a:off x="8667750" y="2428875"/>
            <a:ext cx="2476500" cy="247650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F933324-DA86-49BA-9F90-407DC821F33D}"/>
              </a:ext>
            </a:extLst>
          </p:cNvPr>
          <p:cNvSpPr>
            <a:spLocks xmlns:a="http://schemas.openxmlformats.org/drawingml/2006/main" noGrp="1"/>
          </p:cNvSpPr>
          <p:nvPr/>
        </p:nvSpPr>
        <p:spPr>
          <a:xfrm xmlns:a="http://schemas.openxmlformats.org/drawingml/2006/main">
            <a:off x="8667750" y="2428875"/>
            <a:ext cx="66675" cy="2476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8" name="">
            <a:extLst xmlns:a="http://schemas.openxmlformats.org/drawingml/2006/main">
              <a:ext uri="{FF2B5EF4-FFF2-40B4-BE49-F238E27FC236}">
                <a16:creationId xmlns:a16="http://schemas.microsoft.com/office/drawing/2014/main" id="{E2537718-4A82-49FB-8720-1F28CD1ED59A}"/>
              </a:ext>
            </a:extLst>
          </p:cNvPr>
          <p:cNvSpPr>
            <a:spLocks xmlns:a="http://schemas.openxmlformats.org/drawingml/2006/main" noGrp="1"/>
          </p:cNvSpPr>
          <p:nvPr/>
        </p:nvSpPr>
        <p:spPr>
          <a:xfrm xmlns:a="http://schemas.openxmlformats.org/drawingml/2006/main">
            <a:off x="8896350" y="2619375"/>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Expected output</a:t>
            </a:r>
          </a:p>
        </p:txBody>
      </p:sp>
      <p:sp>
        <p:nvSpPr>
          <p:cNvPr id="9" name="">
            <a:extLst xmlns:a="http://schemas.openxmlformats.org/drawingml/2006/main">
              <a:ext uri="{FF2B5EF4-FFF2-40B4-BE49-F238E27FC236}">
                <a16:creationId xmlns:a16="http://schemas.microsoft.com/office/drawing/2014/main" id="{8EE964ED-622F-47C0-B6BE-0FF99A89A2D9}"/>
              </a:ext>
            </a:extLst>
          </p:cNvPr>
          <p:cNvSpPr>
            <a:spLocks xmlns:a="http://schemas.openxmlformats.org/drawingml/2006/main" noGrp="1"/>
          </p:cNvSpPr>
          <p:nvPr/>
        </p:nvSpPr>
        <p:spPr>
          <a:xfrm xmlns:a="http://schemas.openxmlformats.org/drawingml/2006/main">
            <a:off x="8896350" y="3076575"/>
            <a:ext cx="20193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 short AI concept note that can feed into readiness assessment, governance review, or use case prioritization.</a:t>
            </a:r>
          </a:p>
        </p:txBody>
      </p:sp>
      <p:sp>
        <p:nvSpPr>
          <p:cNvPr id="10" name="">
            <a:extLst xmlns:a="http://schemas.openxmlformats.org/drawingml/2006/main">
              <a:ext uri="{FF2B5EF4-FFF2-40B4-BE49-F238E27FC236}">
                <a16:creationId xmlns:a16="http://schemas.microsoft.com/office/drawing/2014/main" id="{8C5D7CD4-9BAB-4C7A-8596-CC74A85E0C39}"/>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1" name="">
            <a:extLst xmlns:a="http://schemas.openxmlformats.org/drawingml/2006/main">
              <a:ext uri="{FF2B5EF4-FFF2-40B4-BE49-F238E27FC236}">
                <a16:creationId xmlns:a16="http://schemas.microsoft.com/office/drawing/2014/main" id="{7BA10E6F-21A3-470A-9156-4D86648037B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09</a:t>
            </a:r>
          </a:p>
        </p:txBody>
      </p:sp>
    </p:spTree>
    <p:extLst>
      <p:ext uri="{BB962C8B-B14F-4D97-AF65-F5344CB8AC3E}">
        <p14:creationId xmlns:p14="http://schemas.microsoft.com/office/powerpoint/2010/main" val="19936938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55489C-B2E4-4279-9B29-D72431179D9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64C788B-48F0-494A-AFC4-C4C62F4A406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What staff should take away</a:t>
            </a:r>
          </a:p>
        </p:txBody>
      </p:sp>
      <p:sp>
        <p:nvSpPr>
          <p:cNvPr id="3" name="">
            <a:extLst xmlns:a="http://schemas.openxmlformats.org/drawingml/2006/main">
              <a:ext uri="{FF2B5EF4-FFF2-40B4-BE49-F238E27FC236}">
                <a16:creationId xmlns:a16="http://schemas.microsoft.com/office/drawing/2014/main" id="{4D9611CE-BB25-495E-9C8A-33F9C383149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0A3F875-C611-464F-AF03-EBAE14E6F79F}"/>
              </a:ext>
            </a:extLst>
          </p:cNvPr>
          <p:cNvSpPr>
            <a:spLocks xmlns:a="http://schemas.openxmlformats.org/drawingml/2006/main" noGrp="1"/>
          </p:cNvSpPr>
          <p:nvPr/>
        </p:nvSpPr>
        <p:spPr>
          <a:xfrm xmlns:a="http://schemas.openxmlformats.org/drawingml/2006/main">
            <a:off x="685800" y="163830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2324A"/>
                </a:solidFill>
              </a:defRPr>
            </a:pPr>
            <a:r>
              <a:rPr sz="2175" b="1">
                <a:solidFill>
                  <a:srgbClr val="12324A"/>
                </a:solidFill>
              </a:rPr>
              <a:t>AI can support public health work, but responsible use starts with shared understanding.</a:t>
            </a:r>
          </a:p>
        </p:txBody>
      </p:sp>
      <p:sp>
        <p:nvSpPr>
          <p:cNvPr id="5" name="">
            <a:extLst xmlns:a="http://schemas.openxmlformats.org/drawingml/2006/main">
              <a:ext uri="{FF2B5EF4-FFF2-40B4-BE49-F238E27FC236}">
                <a16:creationId xmlns:a16="http://schemas.microsoft.com/office/drawing/2014/main" id="{B620212F-9D0C-487C-BD9C-11767505780B}"/>
              </a:ext>
            </a:extLst>
          </p:cNvPr>
          <p:cNvSpPr>
            <a:spLocks xmlns:a="http://schemas.openxmlformats.org/drawingml/2006/main" noGrp="1"/>
          </p:cNvSpPr>
          <p:nvPr/>
        </p:nvSpPr>
        <p:spPr>
          <a:xfrm xmlns:a="http://schemas.openxmlformats.org/drawingml/2006/main">
            <a:off x="857250" y="2476500"/>
            <a:ext cx="285750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BB17EE5F-7FB2-48DD-A742-94B6D55F81EB}"/>
              </a:ext>
            </a:extLst>
          </p:cNvPr>
          <p:cNvSpPr>
            <a:spLocks xmlns:a="http://schemas.openxmlformats.org/drawingml/2006/main" noGrp="1"/>
          </p:cNvSpPr>
          <p:nvPr/>
        </p:nvSpPr>
        <p:spPr>
          <a:xfrm xmlns:a="http://schemas.openxmlformats.org/drawingml/2006/main">
            <a:off x="857250" y="2476500"/>
            <a:ext cx="66675" cy="1524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47117CC1-D23C-4414-BB48-00FA018B7447}"/>
              </a:ext>
            </a:extLst>
          </p:cNvPr>
          <p:cNvSpPr>
            <a:spLocks xmlns:a="http://schemas.openxmlformats.org/drawingml/2006/main" noGrp="1"/>
          </p:cNvSpPr>
          <p:nvPr/>
        </p:nvSpPr>
        <p:spPr>
          <a:xfrm xmlns:a="http://schemas.openxmlformats.org/drawingml/2006/main">
            <a:off x="1085850" y="26670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1</a:t>
            </a:r>
          </a:p>
        </p:txBody>
      </p:sp>
      <p:sp>
        <p:nvSpPr>
          <p:cNvPr id="8" name="">
            <a:extLst xmlns:a="http://schemas.openxmlformats.org/drawingml/2006/main">
              <a:ext uri="{FF2B5EF4-FFF2-40B4-BE49-F238E27FC236}">
                <a16:creationId xmlns:a16="http://schemas.microsoft.com/office/drawing/2014/main" id="{BAAFAEB0-7644-4F4D-9A0C-539748A6146B}"/>
              </a:ext>
            </a:extLst>
          </p:cNvPr>
          <p:cNvSpPr>
            <a:spLocks xmlns:a="http://schemas.openxmlformats.org/drawingml/2006/main" noGrp="1"/>
          </p:cNvSpPr>
          <p:nvPr/>
        </p:nvSpPr>
        <p:spPr>
          <a:xfrm xmlns:a="http://schemas.openxmlformats.org/drawingml/2006/main">
            <a:off x="1085850" y="31242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AI is a family of capabilities, not one tool.</a:t>
            </a:r>
          </a:p>
        </p:txBody>
      </p:sp>
      <p:sp>
        <p:nvSpPr>
          <p:cNvPr id="9" name="">
            <a:extLst xmlns:a="http://schemas.openxmlformats.org/drawingml/2006/main">
              <a:ext uri="{FF2B5EF4-FFF2-40B4-BE49-F238E27FC236}">
                <a16:creationId xmlns:a16="http://schemas.microsoft.com/office/drawing/2014/main" id="{B7A19F35-D44A-40B1-A352-2E2CA265FE78}"/>
              </a:ext>
            </a:extLst>
          </p:cNvPr>
          <p:cNvSpPr>
            <a:spLocks xmlns:a="http://schemas.openxmlformats.org/drawingml/2006/main" noGrp="1"/>
          </p:cNvSpPr>
          <p:nvPr/>
        </p:nvSpPr>
        <p:spPr>
          <a:xfrm xmlns:a="http://schemas.openxmlformats.org/drawingml/2006/main">
            <a:off x="4667250" y="2476500"/>
            <a:ext cx="285750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6D5B0ADB-B473-44CE-9A9A-4BE8CB8C0E69}"/>
              </a:ext>
            </a:extLst>
          </p:cNvPr>
          <p:cNvSpPr>
            <a:spLocks xmlns:a="http://schemas.openxmlformats.org/drawingml/2006/main" noGrp="1"/>
          </p:cNvSpPr>
          <p:nvPr/>
        </p:nvSpPr>
        <p:spPr>
          <a:xfrm xmlns:a="http://schemas.openxmlformats.org/drawingml/2006/main">
            <a:off x="4667250" y="2476500"/>
            <a:ext cx="66675" cy="15240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D02A5CB1-3BA2-4307-AD7C-9C9C669AB607}"/>
              </a:ext>
            </a:extLst>
          </p:cNvPr>
          <p:cNvSpPr>
            <a:spLocks xmlns:a="http://schemas.openxmlformats.org/drawingml/2006/main" noGrp="1"/>
          </p:cNvSpPr>
          <p:nvPr/>
        </p:nvSpPr>
        <p:spPr>
          <a:xfrm xmlns:a="http://schemas.openxmlformats.org/drawingml/2006/main">
            <a:off x="4895850" y="26670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2</a:t>
            </a:r>
          </a:p>
        </p:txBody>
      </p:sp>
      <p:sp>
        <p:nvSpPr>
          <p:cNvPr id="12" name="">
            <a:extLst xmlns:a="http://schemas.openxmlformats.org/drawingml/2006/main">
              <a:ext uri="{FF2B5EF4-FFF2-40B4-BE49-F238E27FC236}">
                <a16:creationId xmlns:a16="http://schemas.microsoft.com/office/drawing/2014/main" id="{4AF108DA-D746-4192-8731-8CDF613EDF94}"/>
              </a:ext>
            </a:extLst>
          </p:cNvPr>
          <p:cNvSpPr>
            <a:spLocks xmlns:a="http://schemas.openxmlformats.org/drawingml/2006/main" noGrp="1"/>
          </p:cNvSpPr>
          <p:nvPr/>
        </p:nvSpPr>
        <p:spPr>
          <a:xfrm xmlns:a="http://schemas.openxmlformats.org/drawingml/2006/main">
            <a:off x="4895850" y="31242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Different AI categories need different safeguards.</a:t>
            </a:r>
          </a:p>
        </p:txBody>
      </p:sp>
      <p:sp>
        <p:nvSpPr>
          <p:cNvPr id="13" name="">
            <a:extLst xmlns:a="http://schemas.openxmlformats.org/drawingml/2006/main">
              <a:ext uri="{FF2B5EF4-FFF2-40B4-BE49-F238E27FC236}">
                <a16:creationId xmlns:a16="http://schemas.microsoft.com/office/drawing/2014/main" id="{73288904-CF15-4199-ACF1-2989309AFC66}"/>
              </a:ext>
            </a:extLst>
          </p:cNvPr>
          <p:cNvSpPr>
            <a:spLocks xmlns:a="http://schemas.openxmlformats.org/drawingml/2006/main" noGrp="1"/>
          </p:cNvSpPr>
          <p:nvPr/>
        </p:nvSpPr>
        <p:spPr>
          <a:xfrm xmlns:a="http://schemas.openxmlformats.org/drawingml/2006/main">
            <a:off x="8477250" y="2476500"/>
            <a:ext cx="285750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A0C22D92-2411-4B69-9799-000D65D59C61}"/>
              </a:ext>
            </a:extLst>
          </p:cNvPr>
          <p:cNvSpPr>
            <a:spLocks xmlns:a="http://schemas.openxmlformats.org/drawingml/2006/main" noGrp="1"/>
          </p:cNvSpPr>
          <p:nvPr/>
        </p:nvSpPr>
        <p:spPr>
          <a:xfrm xmlns:a="http://schemas.openxmlformats.org/drawingml/2006/main">
            <a:off x="8477250" y="2476500"/>
            <a:ext cx="66675" cy="1524000"/>
          </a:xfrm>
          <a:prstGeom xmlns:a="http://schemas.openxmlformats.org/drawingml/2006/main" prst="rect">
            <a:avLst/>
          </a:prstGeom>
          <a:solidFill xmlns:a="http://schemas.openxmlformats.org/drawingml/2006/main">
            <a:srgbClr val="003B70"/>
          </a:solidFill>
          <a:ln xmlns:a="http://schemas.openxmlformats.org/drawingml/2006/main" w="0">
            <a:solidFill>
              <a:srgbClr val="003B70"/>
            </a:solidFill>
            <a:prstDash val="solid"/>
          </a:ln>
        </p:spPr>
      </p:sp>
      <p:sp>
        <p:nvSpPr>
          <p:cNvPr id="15" name="">
            <a:extLst xmlns:a="http://schemas.openxmlformats.org/drawingml/2006/main">
              <a:ext uri="{FF2B5EF4-FFF2-40B4-BE49-F238E27FC236}">
                <a16:creationId xmlns:a16="http://schemas.microsoft.com/office/drawing/2014/main" id="{0E93F941-C5E7-4127-9D3E-095E27342B13}"/>
              </a:ext>
            </a:extLst>
          </p:cNvPr>
          <p:cNvSpPr>
            <a:spLocks xmlns:a="http://schemas.openxmlformats.org/drawingml/2006/main" noGrp="1"/>
          </p:cNvSpPr>
          <p:nvPr/>
        </p:nvSpPr>
        <p:spPr>
          <a:xfrm xmlns:a="http://schemas.openxmlformats.org/drawingml/2006/main">
            <a:off x="8705850" y="26670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3B70"/>
                </a:solidFill>
              </a:defRPr>
            </a:pPr>
            <a:r>
              <a:rPr sz="1725" b="1">
                <a:solidFill>
                  <a:srgbClr val="003B70"/>
                </a:solidFill>
              </a:rPr>
              <a:t>3</a:t>
            </a:r>
          </a:p>
        </p:txBody>
      </p:sp>
      <p:sp>
        <p:nvSpPr>
          <p:cNvPr id="16" name="">
            <a:extLst xmlns:a="http://schemas.openxmlformats.org/drawingml/2006/main">
              <a:ext uri="{FF2B5EF4-FFF2-40B4-BE49-F238E27FC236}">
                <a16:creationId xmlns:a16="http://schemas.microsoft.com/office/drawing/2014/main" id="{3C76D712-CC9B-4243-A38E-7EAE087C0F0C}"/>
              </a:ext>
            </a:extLst>
          </p:cNvPr>
          <p:cNvSpPr>
            <a:spLocks xmlns:a="http://schemas.openxmlformats.org/drawingml/2006/main" noGrp="1"/>
          </p:cNvSpPr>
          <p:nvPr/>
        </p:nvSpPr>
        <p:spPr>
          <a:xfrm xmlns:a="http://schemas.openxmlformats.org/drawingml/2006/main">
            <a:off x="8705850" y="31242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4394A"/>
                </a:solidFill>
              </a:defRPr>
            </a:pPr>
            <a:r>
              <a:rPr sz="1350" b="0">
                <a:solidFill>
                  <a:srgbClr val="24394A"/>
                </a:solidFill>
              </a:rPr>
              <a:t>Governance, readiness, and human accountability come before deployment.</a:t>
            </a:r>
          </a:p>
        </p:txBody>
      </p:sp>
      <p:sp>
        <p:nvSpPr>
          <p:cNvPr id="17" name="">
            <a:extLst xmlns:a="http://schemas.openxmlformats.org/drawingml/2006/main">
              <a:ext uri="{FF2B5EF4-FFF2-40B4-BE49-F238E27FC236}">
                <a16:creationId xmlns:a16="http://schemas.microsoft.com/office/drawing/2014/main" id="{E2082301-A597-4B9B-93B9-08807E59EFF0}"/>
              </a:ext>
            </a:extLst>
          </p:cNvPr>
          <p:cNvSpPr>
            <a:spLocks xmlns:a="http://schemas.openxmlformats.org/drawingml/2006/main" noGrp="1"/>
          </p:cNvSpPr>
          <p:nvPr/>
        </p:nvSpPr>
        <p:spPr>
          <a:xfrm xmlns:a="http://schemas.openxmlformats.org/drawingml/2006/main">
            <a:off x="1238250" y="4810125"/>
            <a:ext cx="942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003B70"/>
                </a:solidFill>
              </a:defRPr>
            </a:pPr>
            <a:r>
              <a:rPr sz="1875" b="1">
                <a:solidFill>
                  <a:srgbClr val="003B70"/>
                </a:solidFill>
              </a:rPr>
              <a:t>Next step: use this lesson before Play 1, Play 2, and Play 3 discussions so staff share a practical vocabulary for AI decisions.</a:t>
            </a:r>
          </a:p>
        </p:txBody>
      </p:sp>
      <p:sp>
        <p:nvSpPr>
          <p:cNvPr id="18" name="">
            <a:extLst xmlns:a="http://schemas.openxmlformats.org/drawingml/2006/main">
              <a:ext uri="{FF2B5EF4-FFF2-40B4-BE49-F238E27FC236}">
                <a16:creationId xmlns:a16="http://schemas.microsoft.com/office/drawing/2014/main" id="{4ED5DE25-DE2B-41C5-B1C4-EC077C212878}"/>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19" name="">
            <a:extLst xmlns:a="http://schemas.openxmlformats.org/drawingml/2006/main">
              <a:ext uri="{FF2B5EF4-FFF2-40B4-BE49-F238E27FC236}">
                <a16:creationId xmlns:a16="http://schemas.microsoft.com/office/drawing/2014/main" id="{95B1F31C-3463-419C-949F-214A258E106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10</a:t>
            </a:r>
          </a:p>
        </p:txBody>
      </p:sp>
    </p:spTree>
    <p:extLst>
      <p:ext uri="{BB962C8B-B14F-4D97-AF65-F5344CB8AC3E}">
        <p14:creationId xmlns:p14="http://schemas.microsoft.com/office/powerpoint/2010/main" val="1266762126"/>
      </p:ext>
    </p:extLst>
  </p:cSld>
</p:sld>
</file>

<file path=ppt/slides/slide1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F2B5DA-3D2B-4D21-A66D-8C2A5A46565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A68ECDE-1D7A-4A69-823F-92E41304EF4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003B70"/>
                </a:solidFill>
              </a:defRPr>
            </a:pPr>
            <a:r>
              <a:rPr sz="2775" b="1">
                <a:solidFill>
                  <a:srgbClr val="003B70"/>
                </a:solidFill>
              </a:rPr>
              <a:t>References and resources</a:t>
            </a:r>
          </a:p>
        </p:txBody>
      </p:sp>
      <p:sp>
        <p:nvSpPr>
          <p:cNvPr id="3" name="">
            <a:extLst xmlns:a="http://schemas.openxmlformats.org/drawingml/2006/main">
              <a:ext uri="{FF2B5EF4-FFF2-40B4-BE49-F238E27FC236}">
                <a16:creationId xmlns:a16="http://schemas.microsoft.com/office/drawing/2014/main" id="{B8E06853-3368-4F63-A584-AAC6CD54E03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10C89A7-51B8-4815-A98F-65C7016C1C16}"/>
              </a:ext>
            </a:extLst>
          </p:cNvPr>
          <p:cNvSpPr>
            <a:spLocks xmlns:a="http://schemas.openxmlformats.org/drawingml/2006/main" noGrp="1"/>
          </p:cNvSpPr>
          <p:nvPr/>
        </p:nvSpPr>
        <p:spPr>
          <a:xfrm xmlns:a="http://schemas.openxmlformats.org/drawingml/2006/main">
            <a:off x="685800" y="165735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2324A"/>
                </a:solidFill>
              </a:defRPr>
            </a:pPr>
            <a:r>
              <a:rPr sz="1800" b="1">
                <a:solidFill>
                  <a:srgbClr val="12324A"/>
                </a:solidFill>
              </a:rPr>
              <a:t>Use these resources to support staff learning and governance conversations.</a:t>
            </a:r>
          </a:p>
        </p:txBody>
      </p:sp>
      <p:sp>
        <p:nvSpPr>
          <p:cNvPr id="5" name="">
            <a:extLst xmlns:a="http://schemas.openxmlformats.org/drawingml/2006/main">
              <a:ext uri="{FF2B5EF4-FFF2-40B4-BE49-F238E27FC236}">
                <a16:creationId xmlns:a16="http://schemas.microsoft.com/office/drawing/2014/main" id="{9A29428E-B59F-4BFA-960F-91609503B670}"/>
              </a:ext>
            </a:extLst>
          </p:cNvPr>
          <p:cNvSpPr>
            <a:spLocks xmlns:a="http://schemas.openxmlformats.org/drawingml/2006/main" noGrp="1"/>
          </p:cNvSpPr>
          <p:nvPr/>
        </p:nvSpPr>
        <p:spPr>
          <a:xfrm xmlns:a="http://schemas.openxmlformats.org/drawingml/2006/main">
            <a:off x="952500" y="2381250"/>
            <a:ext cx="9715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24394A"/>
                </a:solidFill>
              </a:defRPr>
            </a:pPr>
            <a:r>
              <a:rPr sz="1650" b="0">
                <a:solidFill>
                  <a:srgbClr val="24394A"/>
                </a:solidFill>
              </a:rPr>
              <a:t>• NIST AI Risk Management Framework: risk, governance, mapping, measurement, and management.</a:t>
            </a:r>
          </a:p>
          <a:p xmlns:a="http://schemas.openxmlformats.org/drawingml/2006/main">
            <a:pPr algn="l">
              <a:defRPr sz="1650" b="0">
                <a:solidFill>
                  <a:srgbClr val="24394A"/>
                </a:solidFill>
              </a:defRPr>
            </a:pPr>
            <a:r>
              <a:rPr sz="1650" b="0">
                <a:solidFill>
                  <a:srgbClr val="24394A"/>
                </a:solidFill>
              </a:rPr>
              <a:t>• World Health Organization guidance on ethics and governance of AI for health.</a:t>
            </a:r>
          </a:p>
          <a:p xmlns:a="http://schemas.openxmlformats.org/drawingml/2006/main">
            <a:pPr algn="l">
              <a:defRPr sz="1650" b="0">
                <a:solidFill>
                  <a:srgbClr val="24394A"/>
                </a:solidFill>
              </a:defRPr>
            </a:pPr>
            <a:r>
              <a:rPr sz="1650" b="0">
                <a:solidFill>
                  <a:srgbClr val="24394A"/>
                </a:solidFill>
              </a:rPr>
              <a:t>• HHS resources on civil rights, privacy, and responsible AI use in health contexts.</a:t>
            </a:r>
          </a:p>
          <a:p xmlns:a="http://schemas.openxmlformats.org/drawingml/2006/main">
            <a:pPr algn="l">
              <a:defRPr sz="1650" b="0">
                <a:solidFill>
                  <a:srgbClr val="24394A"/>
                </a:solidFill>
              </a:defRPr>
            </a:pPr>
            <a:r>
              <a:rPr sz="1650" b="0">
                <a:solidFill>
                  <a:srgbClr val="24394A"/>
                </a:solidFill>
              </a:rPr>
              <a:t>• AI Playbook and Toolkit pages for Readiness Assessment, Governance, and Use Case Prioritization.</a:t>
            </a:r>
          </a:p>
        </p:txBody>
      </p:sp>
      <p:sp>
        <p:nvSpPr>
          <p:cNvPr id="6" name="">
            <a:extLst xmlns:a="http://schemas.openxmlformats.org/drawingml/2006/main">
              <a:ext uri="{FF2B5EF4-FFF2-40B4-BE49-F238E27FC236}">
                <a16:creationId xmlns:a16="http://schemas.microsoft.com/office/drawing/2014/main" id="{8A9B3686-CE4B-4537-A183-47878E0CDF74}"/>
              </a:ext>
            </a:extLst>
          </p:cNvPr>
          <p:cNvSpPr>
            <a:spLocks xmlns:a="http://schemas.openxmlformats.org/drawingml/2006/main" noGrp="1"/>
          </p:cNvSpPr>
          <p:nvPr/>
        </p:nvSpPr>
        <p:spPr>
          <a:xfrm xmlns:a="http://schemas.openxmlformats.org/drawingml/2006/main">
            <a:off x="1000125" y="5381625"/>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4394A"/>
                </a:solidFill>
              </a:defRPr>
            </a:pPr>
            <a:r>
              <a:rPr sz="1650" b="1">
                <a:solidFill>
                  <a:srgbClr val="24394A"/>
                </a:solidFill>
              </a:rPr>
              <a:t>For training use: adapt discussion questions and exercises to local policies, data systems, community context, and approved AI tools.</a:t>
            </a:r>
          </a:p>
        </p:txBody>
      </p:sp>
      <p:sp>
        <p:nvSpPr>
          <p:cNvPr id="7" name="">
            <a:extLst xmlns:a="http://schemas.openxmlformats.org/drawingml/2006/main">
              <a:ext uri="{FF2B5EF4-FFF2-40B4-BE49-F238E27FC236}">
                <a16:creationId xmlns:a16="http://schemas.microsoft.com/office/drawing/2014/main" id="{E842D0E5-D596-4E6E-ADF1-A0A9A94DBD42}"/>
              </a:ext>
            </a:extLst>
          </p:cNvPr>
          <p:cNvSpPr>
            <a:spLocks xmlns:a="http://schemas.openxmlformats.org/drawingml/2006/main" noGrp="1"/>
          </p:cNvSpPr>
          <p:nvPr/>
        </p:nvSpPr>
        <p:spPr>
          <a:xfrm xmlns:a="http://schemas.openxmlformats.org/drawingml/2006/main">
            <a:off x="685800" y="6429375"/>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Lesson 1: Understanding Artificial Intelligence</a:t>
            </a:r>
          </a:p>
        </p:txBody>
      </p:sp>
      <p:sp>
        <p:nvSpPr>
          <p:cNvPr id="8" name="">
            <a:extLst xmlns:a="http://schemas.openxmlformats.org/drawingml/2006/main">
              <a:ext uri="{FF2B5EF4-FFF2-40B4-BE49-F238E27FC236}">
                <a16:creationId xmlns:a16="http://schemas.microsoft.com/office/drawing/2014/main" id="{FC1DD0B1-854D-4BEC-A038-8D774948EBD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11</a:t>
            </a:r>
          </a:p>
        </p:txBody>
      </p:sp>
    </p:spTree>
    <p:extLst>
      <p:ext uri="{BB962C8B-B14F-4D97-AF65-F5344CB8AC3E}">
        <p14:creationId xmlns:p14="http://schemas.microsoft.com/office/powerpoint/2010/main" val="7451704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2026-07-02T15:22:26.4770000Z</dcterms:created>
  <dcterms:modified xsi:type="dcterms:W3CDTF">2026-07-02T15:22:26.4770000Z</dcterms:modified>
</coreProperties>
</file>