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3f61f47fc054a11" /><Relationship Type="http://schemas.openxmlformats.org/officeDocument/2006/relationships/extended-properties" Target="/docProps/app.xml" Id="R6d45661b888d474b" /><Relationship Type="http://schemas.openxmlformats.org/officeDocument/2006/relationships/officeDocument" Target="/ppt/presentation.xml" Id="R2c2a0900af314a1a" /></Relationships>
</file>

<file path=ppt/presentation.xml><?xml version="1.0" encoding="utf-8"?>
<p:presentation xmlns:p="http://schemas.openxmlformats.org/presentationml/2006/main">
  <p:sldMasterIdLst>
    <p:sldMasterId xmlns:r="http://schemas.openxmlformats.org/officeDocument/2006/relationships" id="2147483648" r:id="R2dbe0e2214574a4c"/>
  </p:sldMasterIdLst>
  <p:notesMasterIdLst>
    <p:notesMasterId xmlns:r="http://schemas.openxmlformats.org/officeDocument/2006/relationships" r:id="R27b3603b0b25409a"/>
  </p:notesMasterIdLst>
  <p:sldIdLst>
    <p:sldId xmlns:r="http://schemas.openxmlformats.org/officeDocument/2006/relationships" id="256" r:id="Rb4667da4c53b4246"/>
    <p:sldId xmlns:r="http://schemas.openxmlformats.org/officeDocument/2006/relationships" id="257" r:id="Reed753db39184554"/>
    <p:sldId xmlns:r="http://schemas.openxmlformats.org/officeDocument/2006/relationships" id="258" r:id="R4875f3ebd4b24bb2"/>
    <p:sldId xmlns:r="http://schemas.openxmlformats.org/officeDocument/2006/relationships" id="259" r:id="Ra38636cc9dea4756"/>
    <p:sldId xmlns:r="http://schemas.openxmlformats.org/officeDocument/2006/relationships" id="260" r:id="R2d0a8207c9b949d3"/>
    <p:sldId xmlns:r="http://schemas.openxmlformats.org/officeDocument/2006/relationships" id="261" r:id="Rbed7fd8eae364c66"/>
    <p:sldId xmlns:r="http://schemas.openxmlformats.org/officeDocument/2006/relationships" id="262" r:id="R1085fbdf649548a1"/>
    <p:sldId xmlns:r="http://schemas.openxmlformats.org/officeDocument/2006/relationships" id="263" r:id="Rd77d0c9140c84f44"/>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7175214ed8d454d" /><Relationship Type="http://schemas.openxmlformats.org/officeDocument/2006/relationships/slideMaster" Target="/ppt/slideMasters/slideMaster1.xml" Id="R2dbe0e2214574a4c" /><Relationship Type="http://schemas.openxmlformats.org/officeDocument/2006/relationships/notesMaster" Target="/ppt/notesMasters/notesMaster1.xml" Id="R27b3603b0b25409a" /><Relationship Type="http://schemas.openxmlformats.org/officeDocument/2006/relationships/presProps" Target="/ppt/presProps.xml" Id="Rb6792ea3ea284974" /><Relationship Type="http://schemas.openxmlformats.org/officeDocument/2006/relationships/tableStyles" Target="/ppt/tableStyles.xml" Id="R53d3128fdca04cc6" /><Relationship Type="http://schemas.openxmlformats.org/officeDocument/2006/relationships/slide" Target="/ppt/slides/slide1.xml" Id="Rb4667da4c53b4246" /><Relationship Type="http://schemas.openxmlformats.org/officeDocument/2006/relationships/slide" Target="/ppt/slides/slide2.xml" Id="Reed753db39184554" /><Relationship Type="http://schemas.openxmlformats.org/officeDocument/2006/relationships/slide" Target="/ppt/slides/slide3.xml" Id="R4875f3ebd4b24bb2" /><Relationship Type="http://schemas.openxmlformats.org/officeDocument/2006/relationships/slide" Target="/ppt/slides/slide4.xml" Id="Ra38636cc9dea4756" /><Relationship Type="http://schemas.openxmlformats.org/officeDocument/2006/relationships/slide" Target="/ppt/slides/slide5.xml" Id="R2d0a8207c9b949d3" /><Relationship Type="http://schemas.openxmlformats.org/officeDocument/2006/relationships/slide" Target="/ppt/slides/slide6.xml" Id="Rbed7fd8eae364c66" /><Relationship Type="http://schemas.openxmlformats.org/officeDocument/2006/relationships/slide" Target="/ppt/slides/slide7.xml" Id="R1085fbdf649548a1" /><Relationship Type="http://schemas.openxmlformats.org/officeDocument/2006/relationships/slide" Target="/ppt/slides/slide8.xml" Id="Rd77d0c9140c84f4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eafc7445b8b4c6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b1b63c0d49a4776" /><Relationship Type="http://schemas.openxmlformats.org/officeDocument/2006/relationships/notesMaster" Target="/ppt/notesMasters/notesMaster1.xml" Id="R839324b170db4725" /></Relationships>
</file>

<file path=ppt/notesSlides/_rels/notesSlide2.xml.rels>&#65279;<?xml version="1.0" encoding="utf-8"?><Relationships xmlns="http://schemas.openxmlformats.org/package/2006/relationships"><Relationship Type="http://schemas.openxmlformats.org/officeDocument/2006/relationships/slide" Target="/ppt/slides/slide2.xml" Id="R61d95abd11604389" /><Relationship Type="http://schemas.openxmlformats.org/officeDocument/2006/relationships/notesMaster" Target="/ppt/notesMasters/notesMaster1.xml" Id="R3846c176038144f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5f86eb7d5f249cd" /><Relationship Type="http://schemas.openxmlformats.org/officeDocument/2006/relationships/notesMaster" Target="/ppt/notesMasters/notesMaster1.xml" Id="R8cb510a5310d47d8" /></Relationships>
</file>

<file path=ppt/notesSlides/_rels/notesSlide4.xml.rels>&#65279;<?xml version="1.0" encoding="utf-8"?><Relationships xmlns="http://schemas.openxmlformats.org/package/2006/relationships"><Relationship Type="http://schemas.openxmlformats.org/officeDocument/2006/relationships/slide" Target="/ppt/slides/slide4.xml" Id="Rd046703d26d346c3" /><Relationship Type="http://schemas.openxmlformats.org/officeDocument/2006/relationships/notesMaster" Target="/ppt/notesMasters/notesMaster1.xml" Id="R466603656c5f4b82" /></Relationships>
</file>

<file path=ppt/notesSlides/_rels/notesSlide5.xml.rels>&#65279;<?xml version="1.0" encoding="utf-8"?><Relationships xmlns="http://schemas.openxmlformats.org/package/2006/relationships"><Relationship Type="http://schemas.openxmlformats.org/officeDocument/2006/relationships/slide" Target="/ppt/slides/slide5.xml" Id="Rff57ef75e5984cf0" /><Relationship Type="http://schemas.openxmlformats.org/officeDocument/2006/relationships/notesMaster" Target="/ppt/notesMasters/notesMaster1.xml" Id="R7b0db9d99c6b42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4f801855edf5409d" /><Relationship Type="http://schemas.openxmlformats.org/officeDocument/2006/relationships/notesMaster" Target="/ppt/notesMasters/notesMaster1.xml" Id="R0628e4e0bcfb4833" /></Relationships>
</file>

<file path=ppt/notesSlides/_rels/notesSlide7.xml.rels>&#65279;<?xml version="1.0" encoding="utf-8"?><Relationships xmlns="http://schemas.openxmlformats.org/package/2006/relationships"><Relationship Type="http://schemas.openxmlformats.org/officeDocument/2006/relationships/slide" Target="/ppt/slides/slide7.xml" Id="R3eadd3d29a504358" /><Relationship Type="http://schemas.openxmlformats.org/officeDocument/2006/relationships/notesMaster" Target="/ppt/notesMasters/notesMaster1.xml" Id="Rf8d22fb1caa04a04" /></Relationships>
</file>

<file path=ppt/notesSlides/_rels/notesSlide8.xml.rels>&#65279;<?xml version="1.0" encoding="utf-8"?><Relationships xmlns="http://schemas.openxmlformats.org/package/2006/relationships"><Relationship Type="http://schemas.openxmlformats.org/officeDocument/2006/relationships/slide" Target="/ppt/slides/slide8.xml" Id="R7168eca2b0964fde" /><Relationship Type="http://schemas.openxmlformats.org/officeDocument/2006/relationships/notesMaster" Target="/ppt/notesMasters/notesMaster1.xml" Id="Rf1965f61477041b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to the Agentic AI lesson.</a:t>
            </a:r>
          </a:p>
          <a:p xmlns:a="http://schemas.openxmlformats.org/drawingml/2006/main">
            <a:r>
              <a:t>Explain that this deck is designed for staff training, leadership orientation, governance preparation, or cross-program discussion.</a:t>
            </a:r>
          </a:p>
          <a:p xmlns:a="http://schemas.openxmlformats.org/drawingml/2006/main">
            <a:r>
              <a:t>Frame the topic in plain language: Agentic AI can coordinate multi-step workflows across systems under explicit rules and human oversight.</a:t>
            </a:r>
          </a:p>
          <a:p xmlns:a="http://schemas.openxmlformats.org/drawingml/2006/main">
            <a:r>
              <a:t>Invite participants to think about where this topic already appears in their department's workflows, vendor tools, data systems, communications, or planning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Agentic AI training module.</a:t>
            </a:r>
          </a:p>
          <a:p xmlns:a="http://schemas.openxmlformats.org/drawingml/2006/main">
            <a:r>
              <a:t>Use this slide to explain the practical public health reason for learning this topic before AI tools are approved or deployed.</a:t>
            </a:r>
          </a:p>
          <a:p xmlns:a="http://schemas.openxmlformats.org/drawingml/2006/main">
            <a:r>
              <a:t>Connect the discussion back to the playbook: this topic supports Plays 3, 11, 12, 13 and Tools 12, 14, 39, 17.</a:t>
            </a:r>
          </a:p>
          <a:p xmlns:a="http://schemas.openxmlformats.org/drawingml/2006/main">
            <a:r>
              <a:t>Emphasize the core guardrail: Agentic systems need strict boundaries, audit logs, and escalation paths.</a:t>
            </a:r>
          </a:p>
          <a:p xmlns:a="http://schemas.openxmlformats.org/drawingml/2006/main">
            <a:r>
              <a:t>Ask participants how this topic could affect their own program area, staff roles, community relationships, data, or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Agentic AI training module.</a:t>
            </a:r>
          </a:p>
          <a:p xmlns:a="http://schemas.openxmlformats.org/drawingml/2006/main">
            <a:r>
              <a:t>Walk through the objectives and connect each one to a practical implementation decision.</a:t>
            </a:r>
          </a:p>
          <a:p xmlns:a="http://schemas.openxmlformats.org/drawingml/2006/main">
            <a:r>
              <a:t>Connect the discussion back to the playbook: this topic supports Plays 3, 11, 12, 13 and Tools 12, 14, 39, 17.</a:t>
            </a:r>
          </a:p>
          <a:p xmlns:a="http://schemas.openxmlformats.org/drawingml/2006/main">
            <a:r>
              <a:t>Explain that participants do not need technical expertise to use this material. The goal is enough shared understanding to participate in governance, readiness assessment, use case review, procurement, deployment, or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Agentic AI training module.</a:t>
            </a:r>
          </a:p>
          <a:p xmlns:a="http://schemas.openxmlformats.org/drawingml/2006/main">
            <a:r>
              <a:t>Use this slide to provide the narrative overview and definition before moving into detailed application.</a:t>
            </a:r>
          </a:p>
          <a:p xmlns:a="http://schemas.openxmlformats.org/drawingml/2006/main">
            <a:r>
              <a:t>Connect the discussion back to the playbook: this topic supports Plays 3, 11, 12, 13 and Tools 12, 14, 39, 17.</a:t>
            </a:r>
          </a:p>
          <a:p xmlns:a="http://schemas.openxmlformats.org/drawingml/2006/main">
            <a:r>
              <a:t>Reinforce this definition: Definition: Agentic AI systems can analyze information, generate outputs, and take a sequence of actions toward a defined goal across multiple systems while following explicit rules and retaining human oversight.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Agentic AI training module.</a:t>
            </a:r>
          </a:p>
          <a:p xmlns:a="http://schemas.openxmlformats.org/drawingml/2006/main">
            <a:r>
              <a:t>Use this slide to turn the concept into practical behaviors, decisions, and safeguards.</a:t>
            </a:r>
          </a:p>
          <a:p xmlns:a="http://schemas.openxmlformats.org/drawingml/2006/main">
            <a:r>
              <a:t>Connect the discussion back to the playbook: this topic supports Plays 3, 11, 12, 13 and Tools 12, 14, 39, 17.</a:t>
            </a:r>
          </a:p>
          <a:p xmlns:a="http://schemas.openxmlformats.org/drawingml/2006/main">
            <a:r>
              <a:t>Invite participants to identify where these practices would need to be documented in their own department.</a:t>
            </a:r>
          </a:p>
          <a:p xmlns:a="http://schemas.openxmlformats.org/drawingml/2006/main">
            <a:r>
              <a:t>Start with Appropriate Starting Points, then compare it with the other practice areas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Agentic AI training module.</a:t>
            </a:r>
          </a:p>
          <a:p xmlns:a="http://schemas.openxmlformats.org/drawingml/2006/main">
            <a:r>
              <a:t>Use this slide to make the topic concrete through public health workflow examples.</a:t>
            </a:r>
          </a:p>
          <a:p xmlns:a="http://schemas.openxmlformats.org/drawingml/2006/main">
            <a:r>
              <a:t>Connect the discussion back to the playbook: this topic supports Plays 3, 11, 12, 13 and Tools 12, 14, 39, 17.</a:t>
            </a:r>
          </a:p>
          <a:p xmlns:a="http://schemas.openxmlformats.org/drawingml/2006/main">
            <a:r>
              <a:t>For each example, ask: What problem is being solved? What data would be used? Who reviews the AI output? What decision remains human? What could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Agentic AI training module.</a:t>
            </a:r>
          </a:p>
          <a:p xmlns:a="http://schemas.openxmlformats.org/drawingml/2006/main">
            <a:r>
              <a:t>Use this slide for a facilitated activity near the end of the lesson.</a:t>
            </a:r>
          </a:p>
          <a:p xmlns:a="http://schemas.openxmlformats.org/drawingml/2006/main">
            <a:r>
              <a:t>Connect the discussion back to the playbook: this topic supports Plays 3, 11, 12, 13 and Tools 12, 14, 39, 17.</a:t>
            </a:r>
          </a:p>
          <a:p xmlns:a="http://schemas.openxmlformats.org/drawingml/2006/main">
            <a:r>
              <a:t>Give participants time to work individually or in small groups. Ask them to produce a practical artifact that can feed into readiness assessment, governance review, use case prioritization, or implementation planning.</a:t>
            </a:r>
          </a:p>
          <a:p xmlns:a="http://schemas.openxmlformats.org/drawingml/2006/main">
            <a:r>
              <a:t>Expected takeaways include: Agentic workflow boundary statement, Human approval and escalation map, Audit log and monitoring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Agentic AI training module.</a:t>
            </a:r>
          </a:p>
          <a:p xmlns:a="http://schemas.openxmlformats.org/drawingml/2006/main">
            <a:r>
              <a:t>Close by connecting the lesson to next actions and resources.</a:t>
            </a:r>
          </a:p>
          <a:p xmlns:a="http://schemas.openxmlformats.org/drawingml/2006/main">
            <a:r>
              <a:t>Connect the discussion back to the playbook: this topic supports Plays 3, 11, 12, 13 and Tools 12, 14, 39, 17.</a:t>
            </a:r>
          </a:p>
          <a:p xmlns:a="http://schemas.openxmlformats.org/drawingml/2006/main">
            <a:r>
              <a:t>Point participants to the first resource: NIST AI Risk Management Framework.</a:t>
            </a:r>
          </a:p>
          <a:p xmlns:a="http://schemas.openxmlformats.org/drawingml/2006/main">
            <a:r>
              <a:t>End by asking each participant or team to name one follow-up action they will take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92bbfa0cf374e2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28520b4078e4b8e" /><Relationship Type="http://schemas.openxmlformats.org/officeDocument/2006/relationships/slideLayout" Target="/ppt/slideLayouts/slideLayout1.xml" Id="Rfd8b70730fcc411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d8b70730fcc411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fd7214c2ffe44b9" /><Relationship Type="http://schemas.openxmlformats.org/officeDocument/2006/relationships/image" Target="/ppt/media/image.png" Id="Re74a0c48b978490c" /><Relationship Type="http://schemas.openxmlformats.org/officeDocument/2006/relationships/notesSlide" Target="/ppt/notesSlides/notesSlide1.xml" Id="Rdd8611d3316c4c3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d56ee535f7e4c50" /><Relationship Type="http://schemas.openxmlformats.org/officeDocument/2006/relationships/notesSlide" Target="/ppt/notesSlides/notesSlide2.xml" Id="Rbd19d0c54cc24e7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cd8d425616b4ab4" /><Relationship Type="http://schemas.openxmlformats.org/officeDocument/2006/relationships/notesSlide" Target="/ppt/notesSlides/notesSlide3.xml" Id="R7dec6fe9cab740c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0fe9d3438404bb5" /><Relationship Type="http://schemas.openxmlformats.org/officeDocument/2006/relationships/notesSlide" Target="/ppt/notesSlides/notesSlide4.xml" Id="Rf1684d4d9632485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b4eabe92c504dfe" /><Relationship Type="http://schemas.openxmlformats.org/officeDocument/2006/relationships/notesSlide" Target="/ppt/notesSlides/notesSlide5.xml" Id="R34548beb0e734dd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80b4975de464dd1" /><Relationship Type="http://schemas.openxmlformats.org/officeDocument/2006/relationships/notesSlide" Target="/ppt/notesSlides/notesSlide6.xml" Id="R5c246aaa637b444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392948dae7f42e2" /><Relationship Type="http://schemas.openxmlformats.org/officeDocument/2006/relationships/notesSlide" Target="/ppt/notesSlides/notesSlide7.xml" Id="R8a77af0eb24c46b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d07b13be8994a9b" /><Relationship Type="http://schemas.openxmlformats.org/officeDocument/2006/relationships/notesSlide" Target="/ppt/notesSlides/notesSlide8.xml" Id="R4e79767d720348dc"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74a0c48b978490c"/>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F1B74FE-D1B5-48DF-A5DF-406A3DDBAEDC}"/>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3</a:t>
            </a:r>
          </a:p>
        </p:txBody>
      </p:sp>
      <p:sp>
        <p:nvSpPr>
          <p:cNvPr id="3" name="">
            <a:extLst xmlns:a="http://schemas.openxmlformats.org/drawingml/2006/main">
              <a:ext uri="{FF2B5EF4-FFF2-40B4-BE49-F238E27FC236}">
                <a16:creationId xmlns:a16="http://schemas.microsoft.com/office/drawing/2014/main" id="{DD627C88-2CC9-42AD-8D5B-AA490254F8B8}"/>
              </a:ext>
            </a:extLst>
          </p:cNvPr>
          <p:cNvSpPr>
            <a:spLocks xmlns:a="http://schemas.openxmlformats.org/drawingml/2006/main" noGrp="1"/>
          </p:cNvSpPr>
          <p:nvPr/>
        </p:nvSpPr>
        <p:spPr>
          <a:xfrm xmlns:a="http://schemas.openxmlformats.org/drawingml/2006/main">
            <a:off x="1333500" y="2781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003B70"/>
                </a:solidFill>
              </a:defRPr>
            </a:pPr>
            <a:r>
              <a:rPr sz="3900" b="1">
                <a:solidFill>
                  <a:srgbClr val="003B70"/>
                </a:solidFill>
              </a:rPr>
              <a:t>Agentic AI</a:t>
            </a:r>
          </a:p>
        </p:txBody>
      </p:sp>
      <p:sp>
        <p:nvSpPr>
          <p:cNvPr id="4" name="">
            <a:extLst xmlns:a="http://schemas.openxmlformats.org/drawingml/2006/main">
              <a:ext uri="{FF2B5EF4-FFF2-40B4-BE49-F238E27FC236}">
                <a16:creationId xmlns:a16="http://schemas.microsoft.com/office/drawing/2014/main" id="{EB8896B3-FF24-4022-853A-4F0840BAB1AB}"/>
              </a:ext>
            </a:extLst>
          </p:cNvPr>
          <p:cNvSpPr>
            <a:spLocks xmlns:a="http://schemas.openxmlformats.org/drawingml/2006/main" noGrp="1"/>
          </p:cNvSpPr>
          <p:nvPr/>
        </p:nvSpPr>
        <p:spPr>
          <a:xfrm xmlns:a="http://schemas.openxmlformats.org/drawingml/2006/main">
            <a:off x="3714750" y="3857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6DC1A662-A845-42DC-A865-57267EA373A8}"/>
              </a:ext>
            </a:extLst>
          </p:cNvPr>
          <p:cNvSpPr>
            <a:spLocks xmlns:a="http://schemas.openxmlformats.org/drawingml/2006/main" noGrp="1"/>
          </p:cNvSpPr>
          <p:nvPr/>
        </p:nvSpPr>
        <p:spPr>
          <a:xfrm xmlns:a="http://schemas.openxmlformats.org/drawingml/2006/main">
            <a:off x="3429000" y="449580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37EF621F-0075-42A8-A455-A29112C7EC84}"/>
              </a:ext>
            </a:extLst>
          </p:cNvPr>
          <p:cNvSpPr>
            <a:spLocks xmlns:a="http://schemas.openxmlformats.org/drawingml/2006/main" noGrp="1"/>
          </p:cNvSpPr>
          <p:nvPr/>
        </p:nvSpPr>
        <p:spPr>
          <a:xfrm xmlns:a="http://schemas.openxmlformats.org/drawingml/2006/main">
            <a:off x="2286000" y="49053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Tree>
    <p:extLst>
      <p:ext uri="{BB962C8B-B14F-4D97-AF65-F5344CB8AC3E}">
        <p14:creationId xmlns:p14="http://schemas.microsoft.com/office/powerpoint/2010/main" val="74441332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92EE0EC-CE1E-41DC-AEA2-1D2EA86BE7FB}"/>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76AC98F1-09D9-45CF-A3ED-24E46B0D000A}"/>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Why this topic matters</a:t>
            </a:r>
          </a:p>
        </p:txBody>
      </p:sp>
      <p:sp>
        <p:nvSpPr>
          <p:cNvPr id="3" name="">
            <a:extLst xmlns:a="http://schemas.openxmlformats.org/drawingml/2006/main">
              <a:ext uri="{FF2B5EF4-FFF2-40B4-BE49-F238E27FC236}">
                <a16:creationId xmlns:a16="http://schemas.microsoft.com/office/drawing/2014/main" id="{304F3152-EF2A-4E79-8131-D8E2C47D2849}"/>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E0E2742E-5725-4C16-92C7-3F00471B6C62}"/>
              </a:ext>
            </a:extLst>
          </p:cNvPr>
          <p:cNvSpPr>
            <a:spLocks xmlns:a="http://schemas.openxmlformats.org/drawingml/2006/main" noGrp="1"/>
          </p:cNvSpPr>
          <p:nvPr/>
        </p:nvSpPr>
        <p:spPr>
          <a:xfrm xmlns:a="http://schemas.openxmlformats.org/drawingml/2006/main">
            <a:off x="685800" y="17145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Agentic AI can coordinate multi-step workflows across systems under explicit rules and human oversight.</a:t>
            </a:r>
          </a:p>
        </p:txBody>
      </p:sp>
      <p:sp>
        <p:nvSpPr>
          <p:cNvPr id="5" name="">
            <a:extLst xmlns:a="http://schemas.openxmlformats.org/drawingml/2006/main">
              <a:ext uri="{FF2B5EF4-FFF2-40B4-BE49-F238E27FC236}">
                <a16:creationId xmlns:a16="http://schemas.microsoft.com/office/drawing/2014/main" id="{1C490269-D2F1-4FAA-A103-DBC8575DA2E5}"/>
              </a:ext>
            </a:extLst>
          </p:cNvPr>
          <p:cNvSpPr>
            <a:spLocks xmlns:a="http://schemas.openxmlformats.org/drawingml/2006/main" noGrp="1"/>
          </p:cNvSpPr>
          <p:nvPr/>
        </p:nvSpPr>
        <p:spPr>
          <a:xfrm xmlns:a="http://schemas.openxmlformats.org/drawingml/2006/main">
            <a:off x="685800"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3338E459-C1CC-4547-AB27-924A0DA85D19}"/>
              </a:ext>
            </a:extLst>
          </p:cNvPr>
          <p:cNvSpPr>
            <a:spLocks xmlns:a="http://schemas.openxmlformats.org/drawingml/2006/main" noGrp="1"/>
          </p:cNvSpPr>
          <p:nvPr/>
        </p:nvSpPr>
        <p:spPr>
          <a:xfrm xmlns:a="http://schemas.openxmlformats.org/drawingml/2006/main">
            <a:off x="685800" y="2905125"/>
            <a:ext cx="66675" cy="2190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E72EC2CB-B94B-4693-B4A5-553B9D58CE13}"/>
              </a:ext>
            </a:extLst>
          </p:cNvPr>
          <p:cNvSpPr>
            <a:spLocks xmlns:a="http://schemas.openxmlformats.org/drawingml/2006/main" noGrp="1"/>
          </p:cNvSpPr>
          <p:nvPr/>
        </p:nvSpPr>
        <p:spPr>
          <a:xfrm xmlns:a="http://schemas.openxmlformats.org/drawingml/2006/main">
            <a:off x="914400"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value</a:t>
            </a:r>
          </a:p>
        </p:txBody>
      </p:sp>
      <p:sp>
        <p:nvSpPr>
          <p:cNvPr id="8" name="">
            <a:extLst xmlns:a="http://schemas.openxmlformats.org/drawingml/2006/main">
              <a:ext uri="{FF2B5EF4-FFF2-40B4-BE49-F238E27FC236}">
                <a16:creationId xmlns:a16="http://schemas.microsoft.com/office/drawing/2014/main" id="{F51A6E7F-4C7A-4D9D-A2E7-731810D8478C}"/>
              </a:ext>
            </a:extLst>
          </p:cNvPr>
          <p:cNvSpPr>
            <a:spLocks xmlns:a="http://schemas.openxmlformats.org/drawingml/2006/main" noGrp="1"/>
          </p:cNvSpPr>
          <p:nvPr/>
        </p:nvSpPr>
        <p:spPr>
          <a:xfrm xmlns:a="http://schemas.openxmlformats.org/drawingml/2006/main">
            <a:off x="914400"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Agentic AI can coordinate work across systems, but that makes it higher risk than simple drafting. In public health operations, even routing a task, prioritizing a signal, or preparing an outreach list can affect response time, workload,.</a:t>
            </a:r>
          </a:p>
        </p:txBody>
      </p:sp>
      <p:sp>
        <p:nvSpPr>
          <p:cNvPr id="9" name="">
            <a:extLst xmlns:a="http://schemas.openxmlformats.org/drawingml/2006/main">
              <a:ext uri="{FF2B5EF4-FFF2-40B4-BE49-F238E27FC236}">
                <a16:creationId xmlns:a16="http://schemas.microsoft.com/office/drawing/2014/main" id="{32F46A2D-1961-420A-8444-A510C4CCF779}"/>
              </a:ext>
            </a:extLst>
          </p:cNvPr>
          <p:cNvSpPr>
            <a:spLocks xmlns:a="http://schemas.openxmlformats.org/drawingml/2006/main" noGrp="1"/>
          </p:cNvSpPr>
          <p:nvPr/>
        </p:nvSpPr>
        <p:spPr>
          <a:xfrm xmlns:a="http://schemas.openxmlformats.org/drawingml/2006/main">
            <a:off x="5953125"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20AA9D48-A4D4-4C67-A367-E27835CFACFD}"/>
              </a:ext>
            </a:extLst>
          </p:cNvPr>
          <p:cNvSpPr>
            <a:spLocks xmlns:a="http://schemas.openxmlformats.org/drawingml/2006/main" noGrp="1"/>
          </p:cNvSpPr>
          <p:nvPr/>
        </p:nvSpPr>
        <p:spPr>
          <a:xfrm xmlns:a="http://schemas.openxmlformats.org/drawingml/2006/main">
            <a:off x="5953125" y="2905125"/>
            <a:ext cx="66675" cy="2190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E8DC340B-2953-4AA7-9C6F-D599C4A2B1FB}"/>
              </a:ext>
            </a:extLst>
          </p:cNvPr>
          <p:cNvSpPr>
            <a:spLocks xmlns:a="http://schemas.openxmlformats.org/drawingml/2006/main" noGrp="1"/>
          </p:cNvSpPr>
          <p:nvPr/>
        </p:nvSpPr>
        <p:spPr>
          <a:xfrm xmlns:a="http://schemas.openxmlformats.org/drawingml/2006/main">
            <a:off x="6181725"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Guardrail</a:t>
            </a:r>
          </a:p>
        </p:txBody>
      </p:sp>
      <p:sp>
        <p:nvSpPr>
          <p:cNvPr id="12" name="">
            <a:extLst xmlns:a="http://schemas.openxmlformats.org/drawingml/2006/main">
              <a:ext uri="{FF2B5EF4-FFF2-40B4-BE49-F238E27FC236}">
                <a16:creationId xmlns:a16="http://schemas.microsoft.com/office/drawing/2014/main" id="{E5E8AABF-1118-4B6E-97A4-748ABC88174F}"/>
              </a:ext>
            </a:extLst>
          </p:cNvPr>
          <p:cNvSpPr>
            <a:spLocks xmlns:a="http://schemas.openxmlformats.org/drawingml/2006/main" noGrp="1"/>
          </p:cNvSpPr>
          <p:nvPr/>
        </p:nvSpPr>
        <p:spPr>
          <a:xfrm xmlns:a="http://schemas.openxmlformats.org/drawingml/2006/main">
            <a:off x="6181725"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Agentic systems need strict boundaries, audit logs, and escalation paths.</a:t>
            </a:r>
          </a:p>
        </p:txBody>
      </p:sp>
      <p:sp>
        <p:nvSpPr>
          <p:cNvPr id="13" name="">
            <a:extLst xmlns:a="http://schemas.openxmlformats.org/drawingml/2006/main">
              <a:ext uri="{FF2B5EF4-FFF2-40B4-BE49-F238E27FC236}">
                <a16:creationId xmlns:a16="http://schemas.microsoft.com/office/drawing/2014/main" id="{6EFE9E49-7E7F-468D-9C5B-EC1F92B38A37}"/>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Agentic AI</a:t>
            </a:r>
          </a:p>
        </p:txBody>
      </p:sp>
      <p:sp>
        <p:nvSpPr>
          <p:cNvPr id="14" name="">
            <a:extLst xmlns:a="http://schemas.openxmlformats.org/drawingml/2006/main">
              <a:ext uri="{FF2B5EF4-FFF2-40B4-BE49-F238E27FC236}">
                <a16:creationId xmlns:a16="http://schemas.microsoft.com/office/drawing/2014/main" id="{97536191-153E-484A-A3F6-774C3B8C59DA}"/>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1369354040"/>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1434D1D-82A4-49B5-9B15-81C3B6C49EAA}"/>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E7F9DA1D-7279-455C-B6DF-CFDF2D41B806}"/>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8C6DABA2-052C-45BF-A383-3E498FA8C899}"/>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927B3AA2-8AE3-4F86-A771-9077938C51A0}"/>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3910D943-D82D-4525-9FD7-FD1FF5698E79}"/>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Explain Agentic AI in plain language.</a:t>
            </a:r>
          </a:p>
          <a:p xmlns:a="http://schemas.openxmlformats.org/drawingml/2006/main">
            <a:pPr algn="l">
              <a:defRPr sz="1725" b="0">
                <a:solidFill>
                  <a:srgbClr val="24394A"/>
                </a:solidFill>
              </a:defRPr>
            </a:pPr>
            <a:r>
              <a:rPr sz="1725" b="0">
                <a:solidFill>
                  <a:srgbClr val="24394A"/>
                </a:solidFill>
              </a:rPr>
              <a:t>• Identify appropriate public health uses and limits.</a:t>
            </a:r>
          </a:p>
          <a:p xmlns:a="http://schemas.openxmlformats.org/drawingml/2006/main">
            <a:pPr algn="l">
              <a:defRPr sz="1725" b="0">
                <a:solidFill>
                  <a:srgbClr val="24394A"/>
                </a:solidFill>
              </a:defRPr>
            </a:pPr>
            <a:r>
              <a:rPr sz="1725" b="0">
                <a:solidFill>
                  <a:srgbClr val="24394A"/>
                </a:solidFill>
              </a:rPr>
              <a:t>• Describe human review, governance, equity, privacy, and monitoring expectations.</a:t>
            </a:r>
          </a:p>
          <a:p xmlns:a="http://schemas.openxmlformats.org/drawingml/2006/main">
            <a:pPr algn="l">
              <a:defRPr sz="1725" b="0">
                <a:solidFill>
                  <a:srgbClr val="24394A"/>
                </a:solidFill>
              </a:defRPr>
            </a:pPr>
            <a:r>
              <a:rPr sz="1725" b="0">
                <a:solidFill>
                  <a:srgbClr val="24394A"/>
                </a:solidFill>
              </a:rPr>
              <a:t>• Connect the topic to the related plays and tools.</a:t>
            </a:r>
          </a:p>
        </p:txBody>
      </p:sp>
      <p:sp>
        <p:nvSpPr>
          <p:cNvPr id="6" name="">
            <a:extLst xmlns:a="http://schemas.openxmlformats.org/drawingml/2006/main">
              <a:ext uri="{FF2B5EF4-FFF2-40B4-BE49-F238E27FC236}">
                <a16:creationId xmlns:a16="http://schemas.microsoft.com/office/drawing/2014/main" id="{19918E7A-C339-485A-8A8F-8225C3ECB5CF}"/>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Agentic AI</a:t>
            </a:r>
          </a:p>
        </p:txBody>
      </p:sp>
      <p:sp>
        <p:nvSpPr>
          <p:cNvPr id="7" name="">
            <a:extLst xmlns:a="http://schemas.openxmlformats.org/drawingml/2006/main">
              <a:ext uri="{FF2B5EF4-FFF2-40B4-BE49-F238E27FC236}">
                <a16:creationId xmlns:a16="http://schemas.microsoft.com/office/drawing/2014/main" id="{584B67CF-99A2-4C1B-9200-5878365D0019}"/>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70902289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6DCA9C7-1079-47E7-A89E-A350DC23B3AE}"/>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2E4FB3D4-7CA2-4A5A-B6BC-592F40F9698A}"/>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45DD67C5-9B2C-4DCB-9574-24C1917CE042}"/>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D23A238D-D4AE-486B-A68C-51DC674A47DE}"/>
              </a:ext>
            </a:extLst>
          </p:cNvPr>
          <p:cNvSpPr>
            <a:spLocks xmlns:a="http://schemas.openxmlformats.org/drawingml/2006/main" noGrp="1"/>
          </p:cNvSpPr>
          <p:nvPr/>
        </p:nvSpPr>
        <p:spPr>
          <a:xfrm xmlns:a="http://schemas.openxmlformats.org/drawingml/2006/main">
            <a:off x="685800" y="1695450"/>
            <a:ext cx="1019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Agentic AI moves beyond drafting and summarizing by coordinating multiple steps toward a defined goal. In public health, this might mean monitoring incoming reports, gathering relevant data, preparing a draft brief, routing it to the right team, and updating a task queue. Because agentic systems can initiate actions, they require tighter boundaries, audit logs, role-based access, and human approval before consequential steps occur.</a:t>
            </a:r>
          </a:p>
        </p:txBody>
      </p:sp>
      <p:sp>
        <p:nvSpPr>
          <p:cNvPr id="5" name="">
            <a:extLst xmlns:a="http://schemas.openxmlformats.org/drawingml/2006/main">
              <a:ext uri="{FF2B5EF4-FFF2-40B4-BE49-F238E27FC236}">
                <a16:creationId xmlns:a16="http://schemas.microsoft.com/office/drawing/2014/main" id="{40201FA9-CE85-48C5-87DC-CC6DCF2FC40D}"/>
              </a:ext>
            </a:extLst>
          </p:cNvPr>
          <p:cNvSpPr>
            <a:spLocks xmlns:a="http://schemas.openxmlformats.org/drawingml/2006/main" noGrp="1"/>
          </p:cNvSpPr>
          <p:nvPr/>
        </p:nvSpPr>
        <p:spPr>
          <a:xfrm xmlns:a="http://schemas.openxmlformats.org/drawingml/2006/main">
            <a:off x="685800" y="3524250"/>
            <a:ext cx="99536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DFA1C797-68C0-4907-802B-233F7D67ED83}"/>
              </a:ext>
            </a:extLst>
          </p:cNvPr>
          <p:cNvSpPr>
            <a:spLocks xmlns:a="http://schemas.openxmlformats.org/drawingml/2006/main" noGrp="1"/>
          </p:cNvSpPr>
          <p:nvPr/>
        </p:nvSpPr>
        <p:spPr>
          <a:xfrm xmlns:a="http://schemas.openxmlformats.org/drawingml/2006/main">
            <a:off x="685800" y="3524250"/>
            <a:ext cx="66675" cy="1381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4F06D858-912D-4615-AFAD-6B5CE36C706F}"/>
              </a:ext>
            </a:extLst>
          </p:cNvPr>
          <p:cNvSpPr>
            <a:spLocks xmlns:a="http://schemas.openxmlformats.org/drawingml/2006/main" noGrp="1"/>
          </p:cNvSpPr>
          <p:nvPr/>
        </p:nvSpPr>
        <p:spPr>
          <a:xfrm xmlns:a="http://schemas.openxmlformats.org/drawingml/2006/main">
            <a:off x="914400" y="3714750"/>
            <a:ext cx="949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Key definition</a:t>
            </a:r>
          </a:p>
        </p:txBody>
      </p:sp>
      <p:sp>
        <p:nvSpPr>
          <p:cNvPr id="8" name="">
            <a:extLst xmlns:a="http://schemas.openxmlformats.org/drawingml/2006/main">
              <a:ext uri="{FF2B5EF4-FFF2-40B4-BE49-F238E27FC236}">
                <a16:creationId xmlns:a16="http://schemas.microsoft.com/office/drawing/2014/main" id="{EC4FA8F4-0935-4B62-8E9E-4772A24E5FDE}"/>
              </a:ext>
            </a:extLst>
          </p:cNvPr>
          <p:cNvSpPr>
            <a:spLocks xmlns:a="http://schemas.openxmlformats.org/drawingml/2006/main" noGrp="1"/>
          </p:cNvSpPr>
          <p:nvPr/>
        </p:nvSpPr>
        <p:spPr>
          <a:xfrm xmlns:a="http://schemas.openxmlformats.org/drawingml/2006/main">
            <a:off x="914400" y="4171950"/>
            <a:ext cx="94964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Definition: Agentic AI systems can analyze information, generate outputs, and take a sequence of actions toward a defined goal across multiple systems while following explicit rules and retaining human oversight.</a:t>
            </a:r>
          </a:p>
        </p:txBody>
      </p:sp>
      <p:sp>
        <p:nvSpPr>
          <p:cNvPr id="9" name="">
            <a:extLst xmlns:a="http://schemas.openxmlformats.org/drawingml/2006/main">
              <a:ext uri="{FF2B5EF4-FFF2-40B4-BE49-F238E27FC236}">
                <a16:creationId xmlns:a16="http://schemas.microsoft.com/office/drawing/2014/main" id="{4F355A4A-DFB3-4709-A8B3-603CDD5C3B29}"/>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Agentic AI</a:t>
            </a:r>
          </a:p>
        </p:txBody>
      </p:sp>
      <p:sp>
        <p:nvSpPr>
          <p:cNvPr id="10" name="">
            <a:extLst xmlns:a="http://schemas.openxmlformats.org/drawingml/2006/main">
              <a:ext uri="{FF2B5EF4-FFF2-40B4-BE49-F238E27FC236}">
                <a16:creationId xmlns:a16="http://schemas.microsoft.com/office/drawing/2014/main" id="{FC5B47B9-238C-4601-AD65-6E3E10DA7C4C}"/>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1598173768"/>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29529E0-2AA6-472D-8771-DFBCD505F38D}"/>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80CD12D2-62C4-436E-A024-1EF3733FE07D}"/>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What this means in practice</a:t>
            </a:r>
          </a:p>
        </p:txBody>
      </p:sp>
      <p:sp>
        <p:nvSpPr>
          <p:cNvPr id="3" name="">
            <a:extLst xmlns:a="http://schemas.openxmlformats.org/drawingml/2006/main">
              <a:ext uri="{FF2B5EF4-FFF2-40B4-BE49-F238E27FC236}">
                <a16:creationId xmlns:a16="http://schemas.microsoft.com/office/drawing/2014/main" id="{B7ABF50C-21C7-4D9A-B190-59A4D2AA242B}"/>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0D76391E-D34C-42A7-94B8-7489BB8907D6}"/>
              </a:ext>
            </a:extLst>
          </p:cNvPr>
          <p:cNvSpPr>
            <a:spLocks xmlns:a="http://schemas.openxmlformats.org/drawingml/2006/main" noGrp="1"/>
          </p:cNvSpPr>
          <p:nvPr/>
        </p:nvSpPr>
        <p:spPr>
          <a:xfrm xmlns:a="http://schemas.openxmlformats.org/drawingml/2006/main">
            <a:off x="68580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0BF158B6-8ABF-4C6D-BB91-35FA3C18F140}"/>
              </a:ext>
            </a:extLst>
          </p:cNvPr>
          <p:cNvSpPr>
            <a:spLocks xmlns:a="http://schemas.openxmlformats.org/drawingml/2006/main" noGrp="1"/>
          </p:cNvSpPr>
          <p:nvPr/>
        </p:nvSpPr>
        <p:spPr>
          <a:xfrm xmlns:a="http://schemas.openxmlformats.org/drawingml/2006/main">
            <a:off x="68580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76018FD4-C35F-409E-BE53-0EB61FBAADA1}"/>
              </a:ext>
            </a:extLst>
          </p:cNvPr>
          <p:cNvSpPr>
            <a:spLocks xmlns:a="http://schemas.openxmlformats.org/drawingml/2006/main" noGrp="1"/>
          </p:cNvSpPr>
          <p:nvPr/>
        </p:nvSpPr>
        <p:spPr>
          <a:xfrm xmlns:a="http://schemas.openxmlformats.org/drawingml/2006/main">
            <a:off x="91440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Appropriate Starting Points</a:t>
            </a:r>
          </a:p>
        </p:txBody>
      </p:sp>
      <p:sp>
        <p:nvSpPr>
          <p:cNvPr id="7" name="">
            <a:extLst xmlns:a="http://schemas.openxmlformats.org/drawingml/2006/main">
              <a:ext uri="{FF2B5EF4-FFF2-40B4-BE49-F238E27FC236}">
                <a16:creationId xmlns:a16="http://schemas.microsoft.com/office/drawing/2014/main" id="{2976D90A-9878-4620-9D46-BAD16FA95DFC}"/>
              </a:ext>
            </a:extLst>
          </p:cNvPr>
          <p:cNvSpPr>
            <a:spLocks xmlns:a="http://schemas.openxmlformats.org/drawingml/2006/main" noGrp="1"/>
          </p:cNvSpPr>
          <p:nvPr/>
        </p:nvSpPr>
        <p:spPr>
          <a:xfrm xmlns:a="http://schemas.openxmlformats.org/drawingml/2006/main">
            <a:off x="91440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Internal workflows where the AI can gather, organize, and route information without contacting the public or making final decisions. Surveillance support tasks such as clustering incoming signals, preparing evidence packets, or flagging items.</a:t>
            </a:r>
          </a:p>
        </p:txBody>
      </p:sp>
      <p:sp>
        <p:nvSpPr>
          <p:cNvPr id="8" name="">
            <a:extLst xmlns:a="http://schemas.openxmlformats.org/drawingml/2006/main">
              <a:ext uri="{FF2B5EF4-FFF2-40B4-BE49-F238E27FC236}">
                <a16:creationId xmlns:a16="http://schemas.microsoft.com/office/drawing/2014/main" id="{074C20D3-02A2-48B6-9323-EB1B009D2BBB}"/>
              </a:ext>
            </a:extLst>
          </p:cNvPr>
          <p:cNvSpPr>
            <a:spLocks xmlns:a="http://schemas.openxmlformats.org/drawingml/2006/main" noGrp="1"/>
          </p:cNvSpPr>
          <p:nvPr/>
        </p:nvSpPr>
        <p:spPr>
          <a:xfrm xmlns:a="http://schemas.openxmlformats.org/drawingml/2006/main">
            <a:off x="4257675"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530F43C2-5094-4FC1-BEAA-7762C28F8A2E}"/>
              </a:ext>
            </a:extLst>
          </p:cNvPr>
          <p:cNvSpPr>
            <a:spLocks xmlns:a="http://schemas.openxmlformats.org/drawingml/2006/main" noGrp="1"/>
          </p:cNvSpPr>
          <p:nvPr/>
        </p:nvSpPr>
        <p:spPr>
          <a:xfrm xmlns:a="http://schemas.openxmlformats.org/drawingml/2006/main">
            <a:off x="4257675" y="1809750"/>
            <a:ext cx="66675" cy="3143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53A9E812-3EC2-47E2-8DC8-322FB1EDA454}"/>
              </a:ext>
            </a:extLst>
          </p:cNvPr>
          <p:cNvSpPr>
            <a:spLocks xmlns:a="http://schemas.openxmlformats.org/drawingml/2006/main" noGrp="1"/>
          </p:cNvSpPr>
          <p:nvPr/>
        </p:nvSpPr>
        <p:spPr>
          <a:xfrm xmlns:a="http://schemas.openxmlformats.org/drawingml/2006/main">
            <a:off x="4486275"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Required Controls</a:t>
            </a:r>
          </a:p>
        </p:txBody>
      </p:sp>
      <p:sp>
        <p:nvSpPr>
          <p:cNvPr id="11" name="">
            <a:extLst xmlns:a="http://schemas.openxmlformats.org/drawingml/2006/main">
              <a:ext uri="{FF2B5EF4-FFF2-40B4-BE49-F238E27FC236}">
                <a16:creationId xmlns:a16="http://schemas.microsoft.com/office/drawing/2014/main" id="{B34CF12C-9BAD-465A-900C-0AD37940DA8D}"/>
              </a:ext>
            </a:extLst>
          </p:cNvPr>
          <p:cNvSpPr>
            <a:spLocks xmlns:a="http://schemas.openxmlformats.org/drawingml/2006/main" noGrp="1"/>
          </p:cNvSpPr>
          <p:nvPr/>
        </p:nvSpPr>
        <p:spPr>
          <a:xfrm xmlns:a="http://schemas.openxmlformats.org/drawingml/2006/main">
            <a:off x="4486275"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Define allowable actions, prohibited actions, required human approvals, and emergency shutoff procedures. Maintain audit logs showing what the AI accessed, generated, changed, routed, or recommended. Limit access to the minimum systems and.</a:t>
            </a:r>
          </a:p>
        </p:txBody>
      </p:sp>
      <p:sp>
        <p:nvSpPr>
          <p:cNvPr id="12" name="">
            <a:extLst xmlns:a="http://schemas.openxmlformats.org/drawingml/2006/main">
              <a:ext uri="{FF2B5EF4-FFF2-40B4-BE49-F238E27FC236}">
                <a16:creationId xmlns:a16="http://schemas.microsoft.com/office/drawing/2014/main" id="{F9984BE2-EC06-48E4-88EF-5F1B7B26CC75}"/>
              </a:ext>
            </a:extLst>
          </p:cNvPr>
          <p:cNvSpPr>
            <a:spLocks xmlns:a="http://schemas.openxmlformats.org/drawingml/2006/main" noGrp="1"/>
          </p:cNvSpPr>
          <p:nvPr/>
        </p:nvSpPr>
        <p:spPr>
          <a:xfrm xmlns:a="http://schemas.openxmlformats.org/drawingml/2006/main">
            <a:off x="782955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D9DF127C-2560-4081-B33A-DE5D0C213699}"/>
              </a:ext>
            </a:extLst>
          </p:cNvPr>
          <p:cNvSpPr>
            <a:spLocks xmlns:a="http://schemas.openxmlformats.org/drawingml/2006/main" noGrp="1"/>
          </p:cNvSpPr>
          <p:nvPr/>
        </p:nvSpPr>
        <p:spPr>
          <a:xfrm xmlns:a="http://schemas.openxmlformats.org/drawingml/2006/main">
            <a:off x="782955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4" name="">
            <a:extLst xmlns:a="http://schemas.openxmlformats.org/drawingml/2006/main">
              <a:ext uri="{FF2B5EF4-FFF2-40B4-BE49-F238E27FC236}">
                <a16:creationId xmlns:a16="http://schemas.microsoft.com/office/drawing/2014/main" id="{7CA52D81-570F-4DDB-9930-865AC6BA58D0}"/>
              </a:ext>
            </a:extLst>
          </p:cNvPr>
          <p:cNvSpPr>
            <a:spLocks xmlns:a="http://schemas.openxmlformats.org/drawingml/2006/main" noGrp="1"/>
          </p:cNvSpPr>
          <p:nvPr/>
        </p:nvSpPr>
        <p:spPr>
          <a:xfrm xmlns:a="http://schemas.openxmlformats.org/drawingml/2006/main">
            <a:off x="805815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Accountability</a:t>
            </a:r>
          </a:p>
        </p:txBody>
      </p:sp>
      <p:sp>
        <p:nvSpPr>
          <p:cNvPr id="15" name="">
            <a:extLst xmlns:a="http://schemas.openxmlformats.org/drawingml/2006/main">
              <a:ext uri="{FF2B5EF4-FFF2-40B4-BE49-F238E27FC236}">
                <a16:creationId xmlns:a16="http://schemas.microsoft.com/office/drawing/2014/main" id="{7DC1ED51-36A2-4B03-BBC3-47322FD69405}"/>
              </a:ext>
            </a:extLst>
          </p:cNvPr>
          <p:cNvSpPr>
            <a:spLocks xmlns:a="http://schemas.openxmlformats.org/drawingml/2006/main" noGrp="1"/>
          </p:cNvSpPr>
          <p:nvPr/>
        </p:nvSpPr>
        <p:spPr>
          <a:xfrm xmlns:a="http://schemas.openxmlformats.org/drawingml/2006/main">
            <a:off x="805815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 named program or operational owner should remain accountable for the workflow. The AI should never obscure who made a public health decision or why a particular action was taken. Governance should approve agentic workflows before deployment.</a:t>
            </a:r>
          </a:p>
        </p:txBody>
      </p:sp>
      <p:sp>
        <p:nvSpPr>
          <p:cNvPr id="16" name="">
            <a:extLst xmlns:a="http://schemas.openxmlformats.org/drawingml/2006/main">
              <a:ext uri="{FF2B5EF4-FFF2-40B4-BE49-F238E27FC236}">
                <a16:creationId xmlns:a16="http://schemas.microsoft.com/office/drawing/2014/main" id="{4FE8FBC4-C0CC-4313-A1C0-16030B91AABD}"/>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Agentic AI</a:t>
            </a:r>
          </a:p>
        </p:txBody>
      </p:sp>
      <p:sp>
        <p:nvSpPr>
          <p:cNvPr id="17" name="">
            <a:extLst xmlns:a="http://schemas.openxmlformats.org/drawingml/2006/main">
              <a:ext uri="{FF2B5EF4-FFF2-40B4-BE49-F238E27FC236}">
                <a16:creationId xmlns:a16="http://schemas.microsoft.com/office/drawing/2014/main" id="{2C08FE69-8A0F-489E-90F3-066DF3909291}"/>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83446567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CFCBAFF-52C5-472D-B08E-BFE4E724AAB7}"/>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C04541EB-C6E2-470D-8115-08497EC07DB0}"/>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Public health application</a:t>
            </a:r>
          </a:p>
        </p:txBody>
      </p:sp>
      <p:sp>
        <p:nvSpPr>
          <p:cNvPr id="3" name="">
            <a:extLst xmlns:a="http://schemas.openxmlformats.org/drawingml/2006/main">
              <a:ext uri="{FF2B5EF4-FFF2-40B4-BE49-F238E27FC236}">
                <a16:creationId xmlns:a16="http://schemas.microsoft.com/office/drawing/2014/main" id="{B3E3AFC2-091A-4340-BE69-AFB69847FA95}"/>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D803CA70-5D97-434A-AD5C-BC3BC9153B14}"/>
              </a:ext>
            </a:extLst>
          </p:cNvPr>
          <p:cNvSpPr>
            <a:spLocks xmlns:a="http://schemas.openxmlformats.org/drawingml/2006/main" noGrp="1"/>
          </p:cNvSpPr>
          <p:nvPr/>
        </p:nvSpPr>
        <p:spPr>
          <a:xfrm xmlns:a="http://schemas.openxmlformats.org/drawingml/2006/main">
            <a:off x="685800" y="171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 topic to examine real workflows, not abstract technology.</a:t>
            </a:r>
          </a:p>
        </p:txBody>
      </p:sp>
      <p:sp>
        <p:nvSpPr>
          <p:cNvPr id="5" name="">
            <a:extLst xmlns:a="http://schemas.openxmlformats.org/drawingml/2006/main">
              <a:ext uri="{FF2B5EF4-FFF2-40B4-BE49-F238E27FC236}">
                <a16:creationId xmlns:a16="http://schemas.microsoft.com/office/drawing/2014/main" id="{6F54AE2A-A7B0-4DF3-8A0D-742C16F8993F}"/>
              </a:ext>
            </a:extLst>
          </p:cNvPr>
          <p:cNvSpPr>
            <a:spLocks xmlns:a="http://schemas.openxmlformats.org/drawingml/2006/main" noGrp="1"/>
          </p:cNvSpPr>
          <p:nvPr/>
        </p:nvSpPr>
        <p:spPr>
          <a:xfrm xmlns:a="http://schemas.openxmlformats.org/drawingml/2006/main">
            <a:off x="68580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521EAE9B-B34E-4A6E-972A-4AC3AAF98B1F}"/>
              </a:ext>
            </a:extLst>
          </p:cNvPr>
          <p:cNvSpPr>
            <a:spLocks xmlns:a="http://schemas.openxmlformats.org/drawingml/2006/main" noGrp="1"/>
          </p:cNvSpPr>
          <p:nvPr/>
        </p:nvSpPr>
        <p:spPr>
          <a:xfrm xmlns:a="http://schemas.openxmlformats.org/drawingml/2006/main">
            <a:off x="68580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B2635A56-C4A5-413B-9512-D27C92BA37FC}"/>
              </a:ext>
            </a:extLst>
          </p:cNvPr>
          <p:cNvSpPr>
            <a:spLocks xmlns:a="http://schemas.openxmlformats.org/drawingml/2006/main" noGrp="1"/>
          </p:cNvSpPr>
          <p:nvPr/>
        </p:nvSpPr>
        <p:spPr>
          <a:xfrm xmlns:a="http://schemas.openxmlformats.org/drawingml/2006/main">
            <a:off x="91440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Route high-priority surveillance signals</a:t>
            </a:r>
          </a:p>
        </p:txBody>
      </p:sp>
      <p:sp>
        <p:nvSpPr>
          <p:cNvPr id="8" name="">
            <a:extLst xmlns:a="http://schemas.openxmlformats.org/drawingml/2006/main">
              <a:ext uri="{FF2B5EF4-FFF2-40B4-BE49-F238E27FC236}">
                <a16:creationId xmlns:a16="http://schemas.microsoft.com/office/drawing/2014/main" id="{77F2615A-8AEE-4E63-A143-3471D14D8333}"/>
              </a:ext>
            </a:extLst>
          </p:cNvPr>
          <p:cNvSpPr>
            <a:spLocks xmlns:a="http://schemas.openxmlformats.org/drawingml/2006/main" noGrp="1"/>
          </p:cNvSpPr>
          <p:nvPr/>
        </p:nvSpPr>
        <p:spPr>
          <a:xfrm xmlns:a="http://schemas.openxmlformats.org/drawingml/2006/main">
            <a:off x="91440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Classify incoming reports or alerts by urgency, topic, geography, and required response path, then route them to staff for confirmation.</a:t>
            </a:r>
          </a:p>
        </p:txBody>
      </p:sp>
      <p:sp>
        <p:nvSpPr>
          <p:cNvPr id="9" name="">
            <a:extLst xmlns:a="http://schemas.openxmlformats.org/drawingml/2006/main">
              <a:ext uri="{FF2B5EF4-FFF2-40B4-BE49-F238E27FC236}">
                <a16:creationId xmlns:a16="http://schemas.microsoft.com/office/drawing/2014/main" id="{712B6134-E135-4958-BB17-E9143432729C}"/>
              </a:ext>
            </a:extLst>
          </p:cNvPr>
          <p:cNvSpPr>
            <a:spLocks xmlns:a="http://schemas.openxmlformats.org/drawingml/2006/main" noGrp="1"/>
          </p:cNvSpPr>
          <p:nvPr/>
        </p:nvSpPr>
        <p:spPr>
          <a:xfrm xmlns:a="http://schemas.openxmlformats.org/drawingml/2006/main">
            <a:off x="4257675"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FCB1082F-3DF8-42EE-9C46-D68F5C011EB2}"/>
              </a:ext>
            </a:extLst>
          </p:cNvPr>
          <p:cNvSpPr>
            <a:spLocks xmlns:a="http://schemas.openxmlformats.org/drawingml/2006/main" noGrp="1"/>
          </p:cNvSpPr>
          <p:nvPr/>
        </p:nvSpPr>
        <p:spPr>
          <a:xfrm xmlns:a="http://schemas.openxmlformats.org/drawingml/2006/main">
            <a:off x="4257675" y="2571750"/>
            <a:ext cx="66675" cy="22383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613ED9EB-84BD-49BC-B86A-1F832F1257D4}"/>
              </a:ext>
            </a:extLst>
          </p:cNvPr>
          <p:cNvSpPr>
            <a:spLocks xmlns:a="http://schemas.openxmlformats.org/drawingml/2006/main" noGrp="1"/>
          </p:cNvSpPr>
          <p:nvPr/>
        </p:nvSpPr>
        <p:spPr>
          <a:xfrm xmlns:a="http://schemas.openxmlformats.org/drawingml/2006/main">
            <a:off x="4486275"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Create task queues from incoming reports</a:t>
            </a:r>
          </a:p>
        </p:txBody>
      </p:sp>
      <p:sp>
        <p:nvSpPr>
          <p:cNvPr id="12" name="">
            <a:extLst xmlns:a="http://schemas.openxmlformats.org/drawingml/2006/main">
              <a:ext uri="{FF2B5EF4-FFF2-40B4-BE49-F238E27FC236}">
                <a16:creationId xmlns:a16="http://schemas.microsoft.com/office/drawing/2014/main" id="{7EFBEF42-7D93-479B-9A36-7C7627DCCFAD}"/>
              </a:ext>
            </a:extLst>
          </p:cNvPr>
          <p:cNvSpPr>
            <a:spLocks xmlns:a="http://schemas.openxmlformats.org/drawingml/2006/main" noGrp="1"/>
          </p:cNvSpPr>
          <p:nvPr/>
        </p:nvSpPr>
        <p:spPr>
          <a:xfrm xmlns:a="http://schemas.openxmlformats.org/drawingml/2006/main">
            <a:off x="4486275"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Transform email, forms, or case updates into structured follow-up tasks with owners, due dates, and escalation flags.</a:t>
            </a:r>
          </a:p>
        </p:txBody>
      </p:sp>
      <p:sp>
        <p:nvSpPr>
          <p:cNvPr id="13" name="">
            <a:extLst xmlns:a="http://schemas.openxmlformats.org/drawingml/2006/main">
              <a:ext uri="{FF2B5EF4-FFF2-40B4-BE49-F238E27FC236}">
                <a16:creationId xmlns:a16="http://schemas.microsoft.com/office/drawing/2014/main" id="{D3FCC4AD-11A9-4133-98D0-80D4C12866D0}"/>
              </a:ext>
            </a:extLst>
          </p:cNvPr>
          <p:cNvSpPr>
            <a:spLocks xmlns:a="http://schemas.openxmlformats.org/drawingml/2006/main" noGrp="1"/>
          </p:cNvSpPr>
          <p:nvPr/>
        </p:nvSpPr>
        <p:spPr>
          <a:xfrm xmlns:a="http://schemas.openxmlformats.org/drawingml/2006/main">
            <a:off x="782955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D54015FE-3790-4AFC-A257-10F7D150F71A}"/>
              </a:ext>
            </a:extLst>
          </p:cNvPr>
          <p:cNvSpPr>
            <a:spLocks xmlns:a="http://schemas.openxmlformats.org/drawingml/2006/main" noGrp="1"/>
          </p:cNvSpPr>
          <p:nvPr/>
        </p:nvSpPr>
        <p:spPr>
          <a:xfrm xmlns:a="http://schemas.openxmlformats.org/drawingml/2006/main">
            <a:off x="782955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5" name="">
            <a:extLst xmlns:a="http://schemas.openxmlformats.org/drawingml/2006/main">
              <a:ext uri="{FF2B5EF4-FFF2-40B4-BE49-F238E27FC236}">
                <a16:creationId xmlns:a16="http://schemas.microsoft.com/office/drawing/2014/main" id="{0FB837F3-2E0A-4D08-897A-A709E0A0C5C3}"/>
              </a:ext>
            </a:extLst>
          </p:cNvPr>
          <p:cNvSpPr>
            <a:spLocks xmlns:a="http://schemas.openxmlformats.org/drawingml/2006/main" noGrp="1"/>
          </p:cNvSpPr>
          <p:nvPr/>
        </p:nvSpPr>
        <p:spPr>
          <a:xfrm xmlns:a="http://schemas.openxmlformats.org/drawingml/2006/main">
            <a:off x="805815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Assemble evidence packets for review</a:t>
            </a:r>
          </a:p>
        </p:txBody>
      </p:sp>
      <p:sp>
        <p:nvSpPr>
          <p:cNvPr id="16" name="">
            <a:extLst xmlns:a="http://schemas.openxmlformats.org/drawingml/2006/main">
              <a:ext uri="{FF2B5EF4-FFF2-40B4-BE49-F238E27FC236}">
                <a16:creationId xmlns:a16="http://schemas.microsoft.com/office/drawing/2014/main" id="{84695BA0-2A74-455C-BF3F-B8A7A923EFAD}"/>
              </a:ext>
            </a:extLst>
          </p:cNvPr>
          <p:cNvSpPr>
            <a:spLocks xmlns:a="http://schemas.openxmlformats.org/drawingml/2006/main" noGrp="1"/>
          </p:cNvSpPr>
          <p:nvPr/>
        </p:nvSpPr>
        <p:spPr>
          <a:xfrm xmlns:a="http://schemas.openxmlformats.org/drawingml/2006/main">
            <a:off x="805815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Gather relevant reports, data extracts, literature, and prior decisions into a review packet before staff make a recommendation.</a:t>
            </a:r>
          </a:p>
        </p:txBody>
      </p:sp>
      <p:sp>
        <p:nvSpPr>
          <p:cNvPr id="17" name="">
            <a:extLst xmlns:a="http://schemas.openxmlformats.org/drawingml/2006/main">
              <a:ext uri="{FF2B5EF4-FFF2-40B4-BE49-F238E27FC236}">
                <a16:creationId xmlns:a16="http://schemas.microsoft.com/office/drawing/2014/main" id="{D5E99B4B-64EB-4071-B68D-5917B7442E5F}"/>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Agentic AI</a:t>
            </a:r>
          </a:p>
        </p:txBody>
      </p:sp>
      <p:sp>
        <p:nvSpPr>
          <p:cNvPr id="18" name="">
            <a:extLst xmlns:a="http://schemas.openxmlformats.org/drawingml/2006/main">
              <a:ext uri="{FF2B5EF4-FFF2-40B4-BE49-F238E27FC236}">
                <a16:creationId xmlns:a16="http://schemas.microsoft.com/office/drawing/2014/main" id="{35183FA4-4ADB-4FEC-9510-1D7E42AD760E}"/>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1165769814"/>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90249DA-C9B8-4D51-8400-CD892FFE8C75}"/>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6922FD5F-3CFD-4A3E-B400-BBA592323778}"/>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Facilitated discussion and exercise</a:t>
            </a:r>
          </a:p>
        </p:txBody>
      </p:sp>
      <p:sp>
        <p:nvSpPr>
          <p:cNvPr id="3" name="">
            <a:extLst xmlns:a="http://schemas.openxmlformats.org/drawingml/2006/main">
              <a:ext uri="{FF2B5EF4-FFF2-40B4-BE49-F238E27FC236}">
                <a16:creationId xmlns:a16="http://schemas.microsoft.com/office/drawing/2014/main" id="{CB82BBB0-348C-4F88-B0E7-468A57B42D49}"/>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6CCF794A-3AC9-4DDE-A378-4CD28F2256A2}"/>
              </a:ext>
            </a:extLst>
          </p:cNvPr>
          <p:cNvSpPr>
            <a:spLocks xmlns:a="http://schemas.openxmlformats.org/drawingml/2006/main" noGrp="1"/>
          </p:cNvSpPr>
          <p:nvPr/>
        </p:nvSpPr>
        <p:spPr>
          <a:xfrm xmlns:a="http://schemas.openxmlformats.org/drawingml/2006/main">
            <a:off x="685800"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D0BCFB4D-86EC-4911-8C41-D04BF276631C}"/>
              </a:ext>
            </a:extLst>
          </p:cNvPr>
          <p:cNvSpPr>
            <a:spLocks xmlns:a="http://schemas.openxmlformats.org/drawingml/2006/main" noGrp="1"/>
          </p:cNvSpPr>
          <p:nvPr/>
        </p:nvSpPr>
        <p:spPr>
          <a:xfrm xmlns:a="http://schemas.openxmlformats.org/drawingml/2006/main">
            <a:off x="685800" y="1809750"/>
            <a:ext cx="66675" cy="2952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CA2B8D8B-6C9C-4348-9CF2-F4326F1C643E}"/>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Discussion questions</a:t>
            </a:r>
          </a:p>
        </p:txBody>
      </p:sp>
      <p:sp>
        <p:nvSpPr>
          <p:cNvPr id="7" name="">
            <a:extLst xmlns:a="http://schemas.openxmlformats.org/drawingml/2006/main">
              <a:ext uri="{FF2B5EF4-FFF2-40B4-BE49-F238E27FC236}">
                <a16:creationId xmlns:a16="http://schemas.microsoft.com/office/drawing/2014/main" id="{58624809-A43F-49A3-8485-3F27FD422145}"/>
              </a:ext>
            </a:extLst>
          </p:cNvPr>
          <p:cNvSpPr>
            <a:spLocks xmlns:a="http://schemas.openxmlformats.org/drawingml/2006/main" noGrp="1"/>
          </p:cNvSpPr>
          <p:nvPr/>
        </p:nvSpPr>
        <p:spPr>
          <a:xfrm xmlns:a="http://schemas.openxmlformats.org/drawingml/2006/main">
            <a:off x="914400"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What actions may the AI take without approval, and what actions require human approval? What audit logs are needed to reconstruct what happened? How will staff pause, override, or escalate an agentic workflow?</a:t>
            </a:r>
          </a:p>
        </p:txBody>
      </p:sp>
      <p:sp>
        <p:nvSpPr>
          <p:cNvPr id="8" name="">
            <a:extLst xmlns:a="http://schemas.openxmlformats.org/drawingml/2006/main">
              <a:ext uri="{FF2B5EF4-FFF2-40B4-BE49-F238E27FC236}">
                <a16:creationId xmlns:a16="http://schemas.microsoft.com/office/drawing/2014/main" id="{846C886B-52C1-485D-9738-BA3FA726218B}"/>
              </a:ext>
            </a:extLst>
          </p:cNvPr>
          <p:cNvSpPr>
            <a:spLocks xmlns:a="http://schemas.openxmlformats.org/drawingml/2006/main" noGrp="1"/>
          </p:cNvSpPr>
          <p:nvPr/>
        </p:nvSpPr>
        <p:spPr>
          <a:xfrm xmlns:a="http://schemas.openxmlformats.org/drawingml/2006/main">
            <a:off x="5953125"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6EE35EB7-957F-4D36-971B-BEDC55F94866}"/>
              </a:ext>
            </a:extLst>
          </p:cNvPr>
          <p:cNvSpPr>
            <a:spLocks xmlns:a="http://schemas.openxmlformats.org/drawingml/2006/main" noGrp="1"/>
          </p:cNvSpPr>
          <p:nvPr/>
        </p:nvSpPr>
        <p:spPr>
          <a:xfrm xmlns:a="http://schemas.openxmlformats.org/drawingml/2006/main">
            <a:off x="5953125" y="1809750"/>
            <a:ext cx="66675" cy="2952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B5FDC4A1-A670-42CF-8F52-693E0C1B600D}"/>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exercise</a:t>
            </a:r>
          </a:p>
        </p:txBody>
      </p:sp>
      <p:sp>
        <p:nvSpPr>
          <p:cNvPr id="11" name="">
            <a:extLst xmlns:a="http://schemas.openxmlformats.org/drawingml/2006/main">
              <a:ext uri="{FF2B5EF4-FFF2-40B4-BE49-F238E27FC236}">
                <a16:creationId xmlns:a16="http://schemas.microsoft.com/office/drawing/2014/main" id="{8E5167F0-67B3-4415-8E41-32723FA3B166}"/>
              </a:ext>
            </a:extLst>
          </p:cNvPr>
          <p:cNvSpPr>
            <a:spLocks xmlns:a="http://schemas.openxmlformats.org/drawingml/2006/main" noGrp="1"/>
          </p:cNvSpPr>
          <p:nvPr/>
        </p:nvSpPr>
        <p:spPr>
          <a:xfrm xmlns:a="http://schemas.openxmlformats.org/drawingml/2006/main">
            <a:off x="6181725"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Map a multi-step workflow such as outbreak signal review, inspection report preparation, or care coordination outreach. Mark which steps the AI may support, which steps require human approval, and which steps are prohibited.</a:t>
            </a:r>
          </a:p>
        </p:txBody>
      </p:sp>
      <p:sp>
        <p:nvSpPr>
          <p:cNvPr id="12" name="">
            <a:extLst xmlns:a="http://schemas.openxmlformats.org/drawingml/2006/main">
              <a:ext uri="{FF2B5EF4-FFF2-40B4-BE49-F238E27FC236}">
                <a16:creationId xmlns:a16="http://schemas.microsoft.com/office/drawing/2014/main" id="{D938AB48-BA08-4156-93C0-03F6001A03D1}"/>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Agentic AI</a:t>
            </a:r>
          </a:p>
        </p:txBody>
      </p:sp>
      <p:sp>
        <p:nvSpPr>
          <p:cNvPr id="13" name="">
            <a:extLst xmlns:a="http://schemas.openxmlformats.org/drawingml/2006/main">
              <a:ext uri="{FF2B5EF4-FFF2-40B4-BE49-F238E27FC236}">
                <a16:creationId xmlns:a16="http://schemas.microsoft.com/office/drawing/2014/main" id="{91099606-4915-40D6-BC8A-CA3186C82A97}"/>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4271332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6109D78-3129-45E5-88E6-180C4359C4D3}"/>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378A7118-3157-4AFA-9C13-A9CEFA82A61A}"/>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Next steps and resources</a:t>
            </a:r>
          </a:p>
        </p:txBody>
      </p:sp>
      <p:sp>
        <p:nvSpPr>
          <p:cNvPr id="3" name="">
            <a:extLst xmlns:a="http://schemas.openxmlformats.org/drawingml/2006/main">
              <a:ext uri="{FF2B5EF4-FFF2-40B4-BE49-F238E27FC236}">
                <a16:creationId xmlns:a16="http://schemas.microsoft.com/office/drawing/2014/main" id="{9F72A408-2054-495E-B5E3-E8754AADF684}"/>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9BE827F3-A93B-4777-A618-2FE537AB8A39}"/>
              </a:ext>
            </a:extLst>
          </p:cNvPr>
          <p:cNvSpPr>
            <a:spLocks xmlns:a="http://schemas.openxmlformats.org/drawingml/2006/main" noGrp="1"/>
          </p:cNvSpPr>
          <p:nvPr/>
        </p:nvSpPr>
        <p:spPr>
          <a:xfrm xmlns:a="http://schemas.openxmlformats.org/drawingml/2006/main">
            <a:off x="685800" y="1809750"/>
            <a:ext cx="4762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7C011166-CB05-4937-8C86-D9F8CFE0776B}"/>
              </a:ext>
            </a:extLst>
          </p:cNvPr>
          <p:cNvSpPr>
            <a:spLocks xmlns:a="http://schemas.openxmlformats.org/drawingml/2006/main" noGrp="1"/>
          </p:cNvSpPr>
          <p:nvPr/>
        </p:nvSpPr>
        <p:spPr>
          <a:xfrm xmlns:a="http://schemas.openxmlformats.org/drawingml/2006/main">
            <a:off x="685800" y="1809750"/>
            <a:ext cx="66675" cy="2095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6B434DDD-58BF-44DB-95B1-EFB0F48CE639}"/>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Apply the lesson</a:t>
            </a:r>
          </a:p>
        </p:txBody>
      </p:sp>
      <p:sp>
        <p:nvSpPr>
          <p:cNvPr id="7" name="">
            <a:extLst xmlns:a="http://schemas.openxmlformats.org/drawingml/2006/main">
              <a:ext uri="{FF2B5EF4-FFF2-40B4-BE49-F238E27FC236}">
                <a16:creationId xmlns:a16="http://schemas.microsoft.com/office/drawing/2014/main" id="{D10DD5A5-6666-4004-8B86-36407A72977A}"/>
              </a:ext>
            </a:extLst>
          </p:cNvPr>
          <p:cNvSpPr>
            <a:spLocks xmlns:a="http://schemas.openxmlformats.org/drawingml/2006/main" noGrp="1"/>
          </p:cNvSpPr>
          <p:nvPr/>
        </p:nvSpPr>
        <p:spPr>
          <a:xfrm xmlns:a="http://schemas.openxmlformats.org/drawingml/2006/main">
            <a:off x="914400" y="2457450"/>
            <a:ext cx="43053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this topic with Plays 3, 11, 12, 13 and Tools 12, 14, 39, 17. Turn the discussion into a documented question, decision, gap, or implementation artifact.</a:t>
            </a:r>
          </a:p>
        </p:txBody>
      </p:sp>
      <p:sp>
        <p:nvSpPr>
          <p:cNvPr id="8" name="">
            <a:extLst xmlns:a="http://schemas.openxmlformats.org/drawingml/2006/main">
              <a:ext uri="{FF2B5EF4-FFF2-40B4-BE49-F238E27FC236}">
                <a16:creationId xmlns:a16="http://schemas.microsoft.com/office/drawing/2014/main" id="{8E6553F2-1551-409E-9F7B-26C21B7AF106}"/>
              </a:ext>
            </a:extLst>
          </p:cNvPr>
          <p:cNvSpPr>
            <a:spLocks xmlns:a="http://schemas.openxmlformats.org/drawingml/2006/main" noGrp="1"/>
          </p:cNvSpPr>
          <p:nvPr/>
        </p:nvSpPr>
        <p:spPr>
          <a:xfrm xmlns:a="http://schemas.openxmlformats.org/drawingml/2006/main">
            <a:off x="5953125" y="1809750"/>
            <a:ext cx="4762500" cy="3048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4F754356-7E7E-4269-992E-1AC1EFA9C080}"/>
              </a:ext>
            </a:extLst>
          </p:cNvPr>
          <p:cNvSpPr>
            <a:spLocks xmlns:a="http://schemas.openxmlformats.org/drawingml/2006/main" noGrp="1"/>
          </p:cNvSpPr>
          <p:nvPr/>
        </p:nvSpPr>
        <p:spPr>
          <a:xfrm xmlns:a="http://schemas.openxmlformats.org/drawingml/2006/main">
            <a:off x="5953125" y="1809750"/>
            <a:ext cx="66675" cy="3048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F09B8318-1A8C-4D34-9885-034DF73B299A}"/>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References and resources</a:t>
            </a:r>
          </a:p>
        </p:txBody>
      </p:sp>
      <p:sp>
        <p:nvSpPr>
          <p:cNvPr id="11" name="">
            <a:extLst xmlns:a="http://schemas.openxmlformats.org/drawingml/2006/main">
              <a:ext uri="{FF2B5EF4-FFF2-40B4-BE49-F238E27FC236}">
                <a16:creationId xmlns:a16="http://schemas.microsoft.com/office/drawing/2014/main" id="{F3A9220E-8C9F-4254-B0F9-EAA623D19D92}"/>
              </a:ext>
            </a:extLst>
          </p:cNvPr>
          <p:cNvSpPr>
            <a:spLocks xmlns:a="http://schemas.openxmlformats.org/drawingml/2006/main" noGrp="1"/>
          </p:cNvSpPr>
          <p:nvPr/>
        </p:nvSpPr>
        <p:spPr>
          <a:xfrm xmlns:a="http://schemas.openxmlformats.org/drawingml/2006/main">
            <a:off x="6181725" y="2457450"/>
            <a:ext cx="43053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NIST AI Risk Management Framework: Useful for defining boundaries, oversight, monitoring, and accountability for agentic systems. WHO: Ethics and governance of artificial intelligence for health: Health-sector governance principles for systems.</a:t>
            </a:r>
          </a:p>
        </p:txBody>
      </p:sp>
      <p:sp>
        <p:nvSpPr>
          <p:cNvPr id="12" name="">
            <a:extLst xmlns:a="http://schemas.openxmlformats.org/drawingml/2006/main">
              <a:ext uri="{FF2B5EF4-FFF2-40B4-BE49-F238E27FC236}">
                <a16:creationId xmlns:a16="http://schemas.microsoft.com/office/drawing/2014/main" id="{B32ABB16-9E6C-47B5-925C-271A03AA3277}"/>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Agentic AI</a:t>
            </a:r>
          </a:p>
        </p:txBody>
      </p:sp>
      <p:sp>
        <p:nvSpPr>
          <p:cNvPr id="13" name="">
            <a:extLst xmlns:a="http://schemas.openxmlformats.org/drawingml/2006/main">
              <a:ext uri="{FF2B5EF4-FFF2-40B4-BE49-F238E27FC236}">
                <a16:creationId xmlns:a16="http://schemas.microsoft.com/office/drawing/2014/main" id="{0CFFB5C8-F71E-4620-A3BC-2CEF26F7E4C8}"/>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17140320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2026-07-02T17:47:01.5860000Z</dcterms:created>
  <dcterms:modified xsi:type="dcterms:W3CDTF">2026-07-02T17:47:01.5860000Z</dcterms:modified>
</coreProperties>
</file>