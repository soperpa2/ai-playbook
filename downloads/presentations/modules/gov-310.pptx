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 extracted, shared,.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 use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Distinguish between identifiable data, de-identified data, aggregated data, limited datasets, and.</a:t>
            </a:r>
            <a:endParaRPr lang="en-US" sz="2100" dirty="0"/>
          </a:p>
          <a:p>
            <a:r>
              <a:rPr lang="en-US" sz="2100" dirty="0">
                <a:solidFill>
                  <a:srgbClr val="17364A"/>
                </a:solidFill>
                <a:latin typeface="Aptos" pitchFamily="34" charset="0"/>
                <a:ea typeface="Aptos" pitchFamily="34" charset="-122"/>
                <a:cs typeface="Aptos" pitchFamily="34" charset="-120"/>
              </a:rPr>
              <a:t>Identify technical and operational safeguards that reduce privacy risk, including data minimization,.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2100" dirty="0"/>
          </a:p>
          <a:p>
            <a:r>
              <a:rPr lang="en-US" sz="2100" dirty="0">
                <a:solidFill>
                  <a:srgbClr val="17364A"/>
                </a:solidFill>
                <a:latin typeface="Aptos" pitchFamily="34" charset="0"/>
                <a:ea typeface="Aptos" pitchFamily="34" charset="-122"/>
                <a:cs typeface="Aptos" pitchFamily="34" charset="-120"/>
              </a:rPr>
              <a:t>A dataset that seems low risk in one context may become more sensitive when linked to geospatial.</a:t>
            </a:r>
            <a:endParaRPr lang="en-US" sz="2100" dirty="0"/>
          </a:p>
          <a:p>
            <a:r>
              <a:rPr lang="en-US" sz="2100" dirty="0">
                <a:solidFill>
                  <a:srgbClr val="17364A"/>
                </a:solidFill>
                <a:latin typeface="Aptos" pitchFamily="34" charset="0"/>
                <a:ea typeface="Aptos" pitchFamily="34" charset="-122"/>
                <a:cs typeface="Aptos" pitchFamily="34" charset="-120"/>
              </a:rPr>
              <a:t>Generative AI and retrieval systems can also reveal sensitive details through summaries, citations,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2100" dirty="0"/>
          </a:p>
          <a:p>
            <a:r>
              <a:rPr lang="en-US" sz="2100" dirty="0">
                <a:solidFill>
                  <a:srgbClr val="17364A"/>
                </a:solidFill>
                <a:latin typeface="Aptos" pitchFamily="34" charset="0"/>
                <a:ea typeface="Aptos" pitchFamily="34" charset="-122"/>
                <a:cs typeface="Aptos" pitchFamily="34" charset="-120"/>
              </a:rPr>
              <a:t>In public health practice, de-identification must be interpreted carefully because rare diseases, small.</a:t>
            </a:r>
            <a:endParaRPr lang="en-US" sz="2100" dirty="0"/>
          </a:p>
          <a:p>
            <a:r>
              <a:rPr lang="en-US" sz="2100" dirty="0">
                <a:solidFill>
                  <a:srgbClr val="17364A"/>
                </a:solidFill>
                <a:latin typeface="Aptos" pitchFamily="34" charset="0"/>
                <a:ea typeface="Aptos" pitchFamily="34" charset="-122"/>
                <a:cs typeface="Aptos" pitchFamily="34" charset="-120"/>
              </a:rPr>
              <a:t>A dataset can appear anonymous but still be linkable to individuals when combined with other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2100" dirty="0"/>
          </a:p>
          <a:p>
            <a:r>
              <a:rPr lang="en-US" sz="2100" dirty="0">
                <a:solidFill>
                  <a:srgbClr val="17364A"/>
                </a:solidFill>
                <a:latin typeface="Aptos" pitchFamily="34" charset="0"/>
                <a:ea typeface="Aptos" pitchFamily="34" charset="-122"/>
                <a:cs typeface="Aptos" pitchFamily="34" charset="-120"/>
              </a:rPr>
              <a:t>It can be useful for public reporting or statistical release, but it does not solve all privacy problems.</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understand that differential privacy involves tradeoffs between privacy.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2100" dirty="0"/>
          </a:p>
          <a:p>
            <a:r>
              <a:rPr lang="en-US" sz="2100" dirty="0">
                <a:solidFill>
                  <a:srgbClr val="17364A"/>
                </a:solidFill>
                <a:latin typeface="Aptos" pitchFamily="34" charset="0"/>
                <a:ea typeface="Aptos" pitchFamily="34" charset="-122"/>
                <a:cs typeface="Aptos" pitchFamily="34" charset="-120"/>
              </a:rPr>
              <a:t>The notes may include symptoms, dates, employer names, schools, shelters, correctional facilities,.</a:t>
            </a:r>
            <a:endParaRPr lang="en-US" sz="2100" dirty="0"/>
          </a:p>
          <a:p>
            <a:r>
              <a:rPr lang="en-US" sz="2100" dirty="0">
                <a:solidFill>
                  <a:srgbClr val="17364A"/>
                </a:solidFill>
                <a:latin typeface="Aptos" pitchFamily="34" charset="0"/>
                <a:ea typeface="Aptos" pitchFamily="34" charset="-122"/>
                <a:cs typeface="Aptos" pitchFamily="34" charset="-120"/>
              </a:rPr>
              <a:t>Even if the AI system is internal, the agency must define who can access the notes, whether the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begins with data classification.</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whether the workflow uses protected health information, personally identifiable.</a:t>
            </a:r>
            <a:endParaRPr lang="en-US" sz="2100" dirty="0"/>
          </a:p>
          <a:p>
            <a:r>
              <a:rPr lang="en-US" sz="2100" dirty="0">
                <a:solidFill>
                  <a:srgbClr val="17364A"/>
                </a:solidFill>
                <a:latin typeface="Aptos" pitchFamily="34" charset="0"/>
                <a:ea typeface="Aptos" pitchFamily="34" charset="-122"/>
                <a:cs typeface="Aptos" pitchFamily="34" charset="-120"/>
              </a:rPr>
              <a:t>Classification should be tied to rules for storage, access, sharing, retention, and approved AI tools.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begins with data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controls must also apply to outputs.</a:t>
            </a:r>
            <a:endParaRPr lang="en-US" sz="2100" dirty="0"/>
          </a:p>
          <a:p>
            <a:r>
              <a:rPr lang="en-US" sz="2100" dirty="0">
                <a:solidFill>
                  <a:srgbClr val="17364A"/>
                </a:solidFill>
                <a:latin typeface="Aptos" pitchFamily="34" charset="0"/>
                <a:ea typeface="Aptos" pitchFamily="34" charset="-122"/>
                <a:cs typeface="Aptos" pitchFamily="34" charset="-120"/>
              </a:rPr>
              <a:t>An AI-generated summary, risk score, cluster report, or dashboard can reveal sensitive information even.</a:t>
            </a:r>
            <a:endParaRPr lang="en-US" sz="2100" dirty="0"/>
          </a:p>
          <a:p>
            <a:r>
              <a:rPr lang="en-US" sz="2100" dirty="0">
                <a:solidFill>
                  <a:srgbClr val="17364A"/>
                </a:solidFill>
                <a:latin typeface="Aptos" pitchFamily="34" charset="0"/>
                <a:ea typeface="Aptos" pitchFamily="34" charset="-122"/>
                <a:cs typeface="Aptos" pitchFamily="34" charset="-120"/>
              </a:rPr>
              <a:t>Output review should consider small cells, unusual combinations of attributes, identifiable narratives,.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controls must also apply to outputs.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2100" dirty="0"/>
          </a:p>
          <a:p>
            <a:r>
              <a:rPr lang="en-US" sz="2100" dirty="0">
                <a:solidFill>
                  <a:srgbClr val="17364A"/>
                </a:solidFill>
                <a:latin typeface="Aptos" pitchFamily="34" charset="0"/>
                <a:ea typeface="Aptos" pitchFamily="34" charset="-122"/>
                <a:cs typeface="Aptos" pitchFamily="34" charset="-120"/>
              </a:rPr>
              <a:t>Data that are de-identified for one purpose may be re-identifiable in another context, especially when.</a:t>
            </a:r>
            <a:endParaRPr lang="en-US" sz="2100" dirty="0"/>
          </a:p>
          <a:p>
            <a:r>
              <a:rPr lang="en-US" sz="2100" dirty="0">
                <a:solidFill>
                  <a:srgbClr val="17364A"/>
                </a:solidFill>
                <a:latin typeface="Aptos" pitchFamily="34" charset="0"/>
                <a:ea typeface="Aptos" pitchFamily="34" charset="-122"/>
                <a:cs typeface="Aptos" pitchFamily="34" charset="-120"/>
              </a:rPr>
              <a:t>A guardrail is to perform use-case-specific privacy review and to document assumptions about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risk can also arise from vendor relationships.</a:t>
            </a:r>
            <a:endParaRPr lang="en-US" sz="2100" dirty="0"/>
          </a:p>
          <a:p>
            <a:r>
              <a:rPr lang="en-US" sz="2100" dirty="0">
                <a:solidFill>
                  <a:srgbClr val="17364A"/>
                </a:solidFill>
                <a:latin typeface="Aptos" pitchFamily="34" charset="0"/>
                <a:ea typeface="Aptos" pitchFamily="34" charset="-122"/>
                <a:cs typeface="Aptos" pitchFamily="34" charset="-120"/>
              </a:rPr>
              <a:t>Vendors may request sample data for testing or model tuning.</a:t>
            </a:r>
            <a:endParaRPr lang="en-US" sz="2100" dirty="0"/>
          </a:p>
          <a:p>
            <a:r>
              <a:rPr lang="en-US" sz="2100" dirty="0">
                <a:solidFill>
                  <a:srgbClr val="17364A"/>
                </a:solidFill>
                <a:latin typeface="Aptos" pitchFamily="34" charset="0"/>
                <a:ea typeface="Aptos" pitchFamily="34" charset="-122"/>
                <a:cs typeface="Aptos" pitchFamily="34" charset="-120"/>
              </a:rPr>
              <a:t>Agencies should use synthetic, masked, or minimized data whenever possible and should require.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risk can also arise from vendor relationships.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2100" dirty="0"/>
          </a:p>
          <a:p>
            <a:r>
              <a:rPr lang="en-US" sz="2100" dirty="0">
                <a:solidFill>
                  <a:srgbClr val="17364A"/>
                </a:solidFill>
                <a:latin typeface="Aptos" pitchFamily="34" charset="0"/>
                <a:ea typeface="Aptos" pitchFamily="34" charset="-122"/>
                <a:cs typeface="Aptos" pitchFamily="34" charset="-120"/>
              </a:rPr>
              <a:t>Prompt templates should make prohibited content clear and should encourage use of de-identified or.</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privacy concerns include which features are used, whether sensitive.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2100" dirty="0"/>
          </a:p>
          <a:p>
            <a:r>
              <a:rPr lang="en-US" sz="2100" dirty="0">
                <a:solidFill>
                  <a:srgbClr val="17364A"/>
                </a:solidFill>
                <a:latin typeface="Aptos" pitchFamily="34" charset="0"/>
                <a:ea typeface="Aptos" pitchFamily="34" charset="-122"/>
                <a:cs typeface="Aptos" pitchFamily="34" charset="-120"/>
              </a:rPr>
              <a:t>What data elements create the greatest re-identification risk in your context?</a:t>
            </a:r>
            <a:endParaRPr lang="en-US" sz="2100" dirty="0"/>
          </a:p>
          <a:p>
            <a:r>
              <a:rPr lang="en-US" sz="2100" dirty="0">
                <a:solidFill>
                  <a:srgbClr val="17364A"/>
                </a:solidFill>
                <a:latin typeface="Aptos" pitchFamily="34" charset="0"/>
                <a:ea typeface="Aptos" pitchFamily="34" charset="-122"/>
                <a:cs typeface="Aptos" pitchFamily="34" charset="-120"/>
              </a:rPr>
              <a:t>How are free-text fields reviewed before they are used in AI-supported workflows?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privacy-preserving AI controls for a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the data involved, the sensitivity level, the minimum necessary fields,.</a:t>
            </a:r>
            <a:endParaRPr lang="en-US" sz="2100" dirty="0"/>
          </a:p>
          <a:p>
            <a:r>
              <a:rPr lang="en-US" sz="2100" dirty="0">
                <a:solidFill>
                  <a:srgbClr val="17364A"/>
                </a:solidFill>
                <a:latin typeface="Aptos" pitchFamily="34" charset="0"/>
                <a:ea typeface="Aptos" pitchFamily="34" charset="-122"/>
                <a:cs typeface="Aptos" pitchFamily="34" charset="-120"/>
              </a:rPr>
              <a:t>The exercise should also identify residual risks and questions that need privacy, legal, security,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2. Why can AI increase re-identification risk?</a:t>
            </a:r>
            <a:endParaRPr lang="en-US" sz="2100" dirty="0"/>
          </a:p>
          <a:p>
            <a:r>
              <a:rPr lang="en-US" sz="2100" dirty="0">
                <a:solidFill>
                  <a:srgbClr val="17364A"/>
                </a:solidFill>
                <a:latin typeface="Aptos" pitchFamily="34" charset="0"/>
                <a:ea typeface="Aptos" pitchFamily="34" charset="-122"/>
                <a:cs typeface="Aptos" pitchFamily="34" charset="-120"/>
              </a:rPr>
              <a:t>3. What is a strong privacy guardrail for an AI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Privacy Framework</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HHS HIPAA de-identification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Privacy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2026-07-12T20:16:00Z</dcterms:created>
  <dcterms:modified xsi:type="dcterms:W3CDTF">2026-07-12T20:16:00Z</dcterms:modified>
</cp:coreProperties>
</file>