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234a05627a4a4d" /><Relationship Type="http://schemas.openxmlformats.org/officeDocument/2006/relationships/extended-properties" Target="/docProps/app.xml" Id="Rebd432d278b349ef" /><Relationship Type="http://schemas.openxmlformats.org/officeDocument/2006/relationships/officeDocument" Target="/ppt/presentation.xml" Id="Rdedc40926d714fa8" /></Relationships>
</file>

<file path=ppt/presentation.xml><?xml version="1.0" encoding="utf-8"?>
<p:presentation xmlns:p="http://schemas.openxmlformats.org/presentationml/2006/main">
  <p:sldMasterIdLst>
    <p:sldMasterId xmlns:r="http://schemas.openxmlformats.org/officeDocument/2006/relationships" id="2147483648" r:id="Rf5d60edd65cf4043"/>
  </p:sldMasterIdLst>
  <p:notesMasterIdLst>
    <p:notesMasterId xmlns:r="http://schemas.openxmlformats.org/officeDocument/2006/relationships" r:id="R9dcd120193df4c30"/>
  </p:notesMasterIdLst>
  <p:sldIdLst>
    <p:sldId xmlns:r="http://schemas.openxmlformats.org/officeDocument/2006/relationships" id="256" r:id="R02ac5d5ae51c41ed"/>
    <p:sldId xmlns:r="http://schemas.openxmlformats.org/officeDocument/2006/relationships" id="257" r:id="R1c1f549592954f9c"/>
    <p:sldId xmlns:r="http://schemas.openxmlformats.org/officeDocument/2006/relationships" id="258" r:id="R952141862cfb4915"/>
    <p:sldId xmlns:r="http://schemas.openxmlformats.org/officeDocument/2006/relationships" id="259" r:id="R874540fcc8654232"/>
    <p:sldId xmlns:r="http://schemas.openxmlformats.org/officeDocument/2006/relationships" id="260" r:id="R08df00544f6e4234"/>
    <p:sldId xmlns:r="http://schemas.openxmlformats.org/officeDocument/2006/relationships" id="261" r:id="Rb1ed8af773094ee2"/>
    <p:sldId xmlns:r="http://schemas.openxmlformats.org/officeDocument/2006/relationships" id="262" r:id="R43d659ee864f450e"/>
    <p:sldId xmlns:r="http://schemas.openxmlformats.org/officeDocument/2006/relationships" id="263" r:id="Rcfa1c24d9901491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80d03018da45c5" /><Relationship Type="http://schemas.openxmlformats.org/officeDocument/2006/relationships/slideMaster" Target="/ppt/slideMasters/slideMaster1.xml" Id="Rf5d60edd65cf4043" /><Relationship Type="http://schemas.openxmlformats.org/officeDocument/2006/relationships/notesMaster" Target="/ppt/notesMasters/notesMaster1.xml" Id="R9dcd120193df4c30" /><Relationship Type="http://schemas.openxmlformats.org/officeDocument/2006/relationships/presProps" Target="/ppt/presProps.xml" Id="R09687da3c16548af" /><Relationship Type="http://schemas.openxmlformats.org/officeDocument/2006/relationships/tableStyles" Target="/ppt/tableStyles.xml" Id="Rfaa5bf9612ec40b8" /><Relationship Type="http://schemas.openxmlformats.org/officeDocument/2006/relationships/slide" Target="/ppt/slides/slide1.xml" Id="R02ac5d5ae51c41ed" /><Relationship Type="http://schemas.openxmlformats.org/officeDocument/2006/relationships/slide" Target="/ppt/slides/slide2.xml" Id="R1c1f549592954f9c" /><Relationship Type="http://schemas.openxmlformats.org/officeDocument/2006/relationships/slide" Target="/ppt/slides/slide3.xml" Id="R952141862cfb4915" /><Relationship Type="http://schemas.openxmlformats.org/officeDocument/2006/relationships/slide" Target="/ppt/slides/slide4.xml" Id="R874540fcc8654232" /><Relationship Type="http://schemas.openxmlformats.org/officeDocument/2006/relationships/slide" Target="/ppt/slides/slide5.xml" Id="R08df00544f6e4234" /><Relationship Type="http://schemas.openxmlformats.org/officeDocument/2006/relationships/slide" Target="/ppt/slides/slide6.xml" Id="Rb1ed8af773094ee2" /><Relationship Type="http://schemas.openxmlformats.org/officeDocument/2006/relationships/slide" Target="/ppt/slides/slide7.xml" Id="R43d659ee864f450e" /><Relationship Type="http://schemas.openxmlformats.org/officeDocument/2006/relationships/slide" Target="/ppt/slides/slide8.xml" Id="Rcfa1c24d990149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58ba24308246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912a21a990469d" /><Relationship Type="http://schemas.openxmlformats.org/officeDocument/2006/relationships/notesMaster" Target="/ppt/notesMasters/notesMaster1.xml" Id="R1472e17e81d942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4771b9a7614415" /><Relationship Type="http://schemas.openxmlformats.org/officeDocument/2006/relationships/notesMaster" Target="/ppt/notesMasters/notesMaster1.xml" Id="R6c0940bbd3b549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71f7d8fb504003" /><Relationship Type="http://schemas.openxmlformats.org/officeDocument/2006/relationships/notesMaster" Target="/ppt/notesMasters/notesMaster1.xml" Id="R75421db476ef4e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4c32e35bad46f9" /><Relationship Type="http://schemas.openxmlformats.org/officeDocument/2006/relationships/notesMaster" Target="/ppt/notesMasters/notesMaster1.xml" Id="R59dc2d55ef7448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c70694e1c146d6" /><Relationship Type="http://schemas.openxmlformats.org/officeDocument/2006/relationships/notesMaster" Target="/ppt/notesMasters/notesMaster1.xml" Id="R0a2dabb869584c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6d8cbe8d954052" /><Relationship Type="http://schemas.openxmlformats.org/officeDocument/2006/relationships/notesMaster" Target="/ppt/notesMasters/notesMaster1.xml" Id="R0be5827535e74e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3cb480d7794be5" /><Relationship Type="http://schemas.openxmlformats.org/officeDocument/2006/relationships/notesMaster" Target="/ppt/notesMasters/notesMaster1.xml" Id="Ref1a20244e5949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3f4a7300644ec5" /><Relationship Type="http://schemas.openxmlformats.org/officeDocument/2006/relationships/notesMaster" Target="/ppt/notesMasters/notesMaster1.xml" Id="Rdf54dc8a60624c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AI Incident Response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AI incident response defines how staff report, triage, investigate, correct, communicate, and document problems involving AI-supported systems or outputs.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Incident Response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3, 10, 11, 12, 13 and Tools 17, 18, 38, 44, 45, 46.</a:t>
            </a:r>
          </a:p>
          <a:p xmlns:a="http://schemas.openxmlformats.org/drawingml/2006/main">
            <a:r>
              <a:t>Emphasize the core guardrail: Without an incident pathway, errors, bias concerns, privacy exposures, and unsafe outputs may be handled inconsistently or too late.</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Incident Response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3, 10, 11, 12, 13 and Tools 17, 18, 38, 44, 45, 46.</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Incident Response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3, 10, 11, 12, 13 and Tools 17, 18, 38, 44, 45, 46.</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Incident Response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3, 10, 11, 12, 13 and Tools 17, 18, 38, 44, 45, 46.</a:t>
            </a:r>
          </a:p>
          <a:p xmlns:a="http://schemas.openxmlformats.org/drawingml/2006/main">
            <a:r>
              <a:t>Invite participants to identify where these practices would need to be documented in their own department.</a:t>
            </a:r>
          </a:p>
          <a:p xmlns:a="http://schemas.openxmlformats.org/drawingml/2006/main">
            <a:r>
              <a:t>Start with Incident Types,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Incident Response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3, 10, 11, 12, 13 and Tools 17, 18, 38, 44, 45, 46.</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Incident Response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3, 10, 11, 12, 13 and Tools 17, 18, 38, 44, 45, 46.</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AI incident scenario response, Escalation pathway, Corrective action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Incident Response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3, 10, 11, 12, 13 and Tools 17, 18, 38, 44, 45, 46.</a:t>
            </a:r>
          </a:p>
          <a:p xmlns:a="http://schemas.openxmlformats.org/drawingml/2006/main">
            <a:r>
              <a:t>Point participants to the first resource: NIST AI Risk Management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67071616a648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01e6e124d3466b" /><Relationship Type="http://schemas.openxmlformats.org/officeDocument/2006/relationships/slideLayout" Target="/ppt/slideLayouts/slideLayout1.xml" Id="R9f62f2b18c034e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62f2b18c034e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f44d6b758b493f" /><Relationship Type="http://schemas.openxmlformats.org/officeDocument/2006/relationships/image" Target="/ppt/media/image.png" Id="R4a777556f57a477a" /><Relationship Type="http://schemas.openxmlformats.org/officeDocument/2006/relationships/notesSlide" Target="/ppt/notesSlides/notesSlide1.xml" Id="Rba9887c765d447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a213ee73194e2e" /><Relationship Type="http://schemas.openxmlformats.org/officeDocument/2006/relationships/notesSlide" Target="/ppt/notesSlides/notesSlide2.xml" Id="Rc3e38c7ca67245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4037a7fc60483c" /><Relationship Type="http://schemas.openxmlformats.org/officeDocument/2006/relationships/notesSlide" Target="/ppt/notesSlides/notesSlide3.xml" Id="Rc9d49583eba342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ff85ba77034e67" /><Relationship Type="http://schemas.openxmlformats.org/officeDocument/2006/relationships/notesSlide" Target="/ppt/notesSlides/notesSlide4.xml" Id="Rc79750bb90ec48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362b45dfe3476f" /><Relationship Type="http://schemas.openxmlformats.org/officeDocument/2006/relationships/notesSlide" Target="/ppt/notesSlides/notesSlide5.xml" Id="Rdcf55d38458d49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99a3abc2ef42b6" /><Relationship Type="http://schemas.openxmlformats.org/officeDocument/2006/relationships/notesSlide" Target="/ppt/notesSlides/notesSlide6.xml" Id="R36446e9bbab240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02572084514f25" /><Relationship Type="http://schemas.openxmlformats.org/officeDocument/2006/relationships/notesSlide" Target="/ppt/notesSlides/notesSlide7.xml" Id="Rbf2ba0f98ff941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bcffc92f964a6d" /><Relationship Type="http://schemas.openxmlformats.org/officeDocument/2006/relationships/notesSlide" Target="/ppt/notesSlides/notesSlide8.xml" Id="Reb03b25c2c624d16"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a777556f57a477a"/>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46027C-EA1F-42EC-9367-A1D4E6A0F48B}"/>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21</a:t>
            </a:r>
          </a:p>
        </p:txBody>
      </p:sp>
      <p:sp>
        <p:nvSpPr>
          <p:cNvPr id="3" name="">
            <a:extLst xmlns:a="http://schemas.openxmlformats.org/drawingml/2006/main">
              <a:ext uri="{FF2B5EF4-FFF2-40B4-BE49-F238E27FC236}">
                <a16:creationId xmlns:a16="http://schemas.microsoft.com/office/drawing/2014/main" id="{B6E3C272-498F-4C4D-8111-EC9609CF8040}"/>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AI Incident Response</a:t>
            </a:r>
          </a:p>
        </p:txBody>
      </p:sp>
      <p:sp>
        <p:nvSpPr>
          <p:cNvPr id="4" name="">
            <a:extLst xmlns:a="http://schemas.openxmlformats.org/drawingml/2006/main">
              <a:ext uri="{FF2B5EF4-FFF2-40B4-BE49-F238E27FC236}">
                <a16:creationId xmlns:a16="http://schemas.microsoft.com/office/drawing/2014/main" id="{21F5F668-0420-40FE-82B0-FCB301430FAD}"/>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75690F20-C2A2-40D5-A99F-C942689BD1BE}"/>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B93AADAF-4333-4B95-8F1B-5BFD1885B134}"/>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7854489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76D467-A96A-447E-B980-B59F40D5167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B4F0062-E53D-43F2-8D10-AD4D79B0176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D4984E72-92A2-4179-8EDF-24ED67FDECE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4E196E3-F2E4-4685-9920-7E58BC0730B3}"/>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AI incident response defines how staff report, triage, investigate, correct, communicate, and document problems involving AI-supported systems or outputs.</a:t>
            </a:r>
          </a:p>
        </p:txBody>
      </p:sp>
      <p:sp>
        <p:nvSpPr>
          <p:cNvPr id="5" name="">
            <a:extLst xmlns:a="http://schemas.openxmlformats.org/drawingml/2006/main">
              <a:ext uri="{FF2B5EF4-FFF2-40B4-BE49-F238E27FC236}">
                <a16:creationId xmlns:a16="http://schemas.microsoft.com/office/drawing/2014/main" id="{F4B98353-6350-466B-82B0-4DD695840060}"/>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AD744239-1919-4C9C-AF6A-F23B63D112E5}"/>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2BE47380-B771-4950-A220-E7689BFBBC9D}"/>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43A0D9FF-DFF5-4F0E-B133-B38A80945C2C}"/>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incidents can affect privacy, public trust, legal compliance, staff confidence, equity, and operational safety. A clear response pathway reduces harm and improves governance.</a:t>
            </a:r>
          </a:p>
        </p:txBody>
      </p:sp>
      <p:sp>
        <p:nvSpPr>
          <p:cNvPr id="9" name="">
            <a:extLst xmlns:a="http://schemas.openxmlformats.org/drawingml/2006/main">
              <a:ext uri="{FF2B5EF4-FFF2-40B4-BE49-F238E27FC236}">
                <a16:creationId xmlns:a16="http://schemas.microsoft.com/office/drawing/2014/main" id="{5F0D8D26-0F14-4CD4-AF9D-3EFD1CBC40BE}"/>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F5AB9FE-18D5-4F40-B552-093169CCE387}"/>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EC5EB7A7-E2E2-4182-8A3F-FF35607FC290}"/>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6533EB92-5CFF-41D3-9AAE-70CC7D20C133}"/>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Without an incident pathway, errors, bias concerns, privacy exposures, and unsafe outputs may be handled inconsistently or too late.</a:t>
            </a:r>
          </a:p>
        </p:txBody>
      </p:sp>
      <p:sp>
        <p:nvSpPr>
          <p:cNvPr id="13" name="">
            <a:extLst xmlns:a="http://schemas.openxmlformats.org/drawingml/2006/main">
              <a:ext uri="{FF2B5EF4-FFF2-40B4-BE49-F238E27FC236}">
                <a16:creationId xmlns:a16="http://schemas.microsoft.com/office/drawing/2014/main" id="{02CC82CF-3ACE-4D46-AB06-7DF8BA39D59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Incident Response</a:t>
            </a:r>
          </a:p>
        </p:txBody>
      </p:sp>
      <p:sp>
        <p:nvSpPr>
          <p:cNvPr id="14" name="">
            <a:extLst xmlns:a="http://schemas.openxmlformats.org/drawingml/2006/main">
              <a:ext uri="{FF2B5EF4-FFF2-40B4-BE49-F238E27FC236}">
                <a16:creationId xmlns:a16="http://schemas.microsoft.com/office/drawing/2014/main" id="{8EF1F31A-E7BD-4B7E-810F-2EC1A0E5CAA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084533440"/>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C0F06E0-3EEC-4308-AB73-7B3428F7243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E71DE35-A372-47C0-A5A8-0A139CB1BA7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125092C6-0624-4002-84C6-BF7F942675D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079646C-DA4A-49FE-8DF8-B1979F92FECB}"/>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F757F6E5-60FE-4273-9614-AE3C827F2CB6}"/>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AI Incident Response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4BBD1B0E-70D6-4DF3-967C-BF8203DF511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Incident Response</a:t>
            </a:r>
          </a:p>
        </p:txBody>
      </p:sp>
      <p:sp>
        <p:nvSpPr>
          <p:cNvPr id="7" name="">
            <a:extLst xmlns:a="http://schemas.openxmlformats.org/drawingml/2006/main">
              <a:ext uri="{FF2B5EF4-FFF2-40B4-BE49-F238E27FC236}">
                <a16:creationId xmlns:a16="http://schemas.microsoft.com/office/drawing/2014/main" id="{8CF7BCF0-5220-416F-BACF-BC9FE139DA2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9960238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AF75B2-7A37-4683-B7EF-F78153ED6C9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0C7498E-6CCE-4404-A1E2-43D2CA5A1A2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22C47AB2-60D7-4DD1-A4FF-796E2A96EA2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3C64BD9-31A9-4F7B-BE3C-3579F05CBF9A}"/>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incidents can involve incorrect outputs, privacy exposure, biased results, unsafe recommendations, unauthorized use, vendor failure, staff over-reliance, public misinformation, or model performance drift. Staff need to know what to report and what happens next.</a:t>
            </a:r>
          </a:p>
        </p:txBody>
      </p:sp>
      <p:sp>
        <p:nvSpPr>
          <p:cNvPr id="5" name="">
            <a:extLst xmlns:a="http://schemas.openxmlformats.org/drawingml/2006/main">
              <a:ext uri="{FF2B5EF4-FFF2-40B4-BE49-F238E27FC236}">
                <a16:creationId xmlns:a16="http://schemas.microsoft.com/office/drawing/2014/main" id="{FB0999B0-2424-4D6F-9AEF-CC87E9E9A069}"/>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D58E9C34-B760-4235-B520-6E1B13585E98}"/>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4E3700C-25F6-451D-84D5-6D1D49C2E3E0}"/>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1A2B7EB0-ECFB-486E-9F98-C2E620F1DB47}"/>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incident response defines how staff report, triage, investigate, correct, communicate, and document problems involving AI-supported systems or outputs.</a:t>
            </a:r>
          </a:p>
        </p:txBody>
      </p:sp>
      <p:sp>
        <p:nvSpPr>
          <p:cNvPr id="9" name="">
            <a:extLst xmlns:a="http://schemas.openxmlformats.org/drawingml/2006/main">
              <a:ext uri="{FF2B5EF4-FFF2-40B4-BE49-F238E27FC236}">
                <a16:creationId xmlns:a16="http://schemas.microsoft.com/office/drawing/2014/main" id="{FE85732F-AA10-4CCB-807D-2454570F16D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Incident Response</a:t>
            </a:r>
          </a:p>
        </p:txBody>
      </p:sp>
      <p:sp>
        <p:nvSpPr>
          <p:cNvPr id="10" name="">
            <a:extLst xmlns:a="http://schemas.openxmlformats.org/drawingml/2006/main">
              <a:ext uri="{FF2B5EF4-FFF2-40B4-BE49-F238E27FC236}">
                <a16:creationId xmlns:a16="http://schemas.microsoft.com/office/drawing/2014/main" id="{2BC84831-CE81-4D5D-8401-5075A0CB12D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949268766"/>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5C224A-5435-464E-B184-6E78CAA1510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91E9DE8-0893-47FD-9AA4-5128D2465B9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7A9B62B3-3E8E-491E-B405-748AE8E7192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EDD9B05-930E-468C-B52E-2E0BF722D6B4}"/>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1BB6A4B-4274-41D8-A801-280708A6781F}"/>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37DBBA37-88A3-4502-9C27-4BF4C806D188}"/>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Incident Types</a:t>
            </a:r>
          </a:p>
        </p:txBody>
      </p:sp>
      <p:sp>
        <p:nvSpPr>
          <p:cNvPr id="7" name="">
            <a:extLst xmlns:a="http://schemas.openxmlformats.org/drawingml/2006/main">
              <a:ext uri="{FF2B5EF4-FFF2-40B4-BE49-F238E27FC236}">
                <a16:creationId xmlns:a16="http://schemas.microsoft.com/office/drawing/2014/main" id="{5B3D496E-1390-4562-9D3B-105A6C7BF2E0}"/>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Harmful or inaccurate output used in a public health workflow. Sensitive data entered into an unapproved AI tool or exposed through a vendor system. Bias or disparate impact concern raised by staff, partners, or community members. Model drift,.</a:t>
            </a:r>
          </a:p>
        </p:txBody>
      </p:sp>
      <p:sp>
        <p:nvSpPr>
          <p:cNvPr id="8" name="">
            <a:extLst xmlns:a="http://schemas.openxmlformats.org/drawingml/2006/main">
              <a:ext uri="{FF2B5EF4-FFF2-40B4-BE49-F238E27FC236}">
                <a16:creationId xmlns:a16="http://schemas.microsoft.com/office/drawing/2014/main" id="{D9C682D8-D61D-4A5B-A62E-5C0846AB95E0}"/>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835B56F-9F2D-4DF7-9199-9A3AA6138C5F}"/>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074744A9-B5EB-45B3-ACD6-956A37E4E106}"/>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Response Steps</a:t>
            </a:r>
          </a:p>
        </p:txBody>
      </p:sp>
      <p:sp>
        <p:nvSpPr>
          <p:cNvPr id="11" name="">
            <a:extLst xmlns:a="http://schemas.openxmlformats.org/drawingml/2006/main">
              <a:ext uri="{FF2B5EF4-FFF2-40B4-BE49-F238E27FC236}">
                <a16:creationId xmlns:a16="http://schemas.microsoft.com/office/drawing/2014/main" id="{534EA2DA-800C-46F8-AF19-692BE1EC1A92}"/>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Capture the issue, system, date, user, output, data involved, and immediate risk. Triage severity and determine whether the system should continue, be limited, paused, or shut off. Notify privacy, security, legal, program leadership,.</a:t>
            </a:r>
          </a:p>
        </p:txBody>
      </p:sp>
      <p:sp>
        <p:nvSpPr>
          <p:cNvPr id="12" name="">
            <a:extLst xmlns:a="http://schemas.openxmlformats.org/drawingml/2006/main">
              <a:ext uri="{FF2B5EF4-FFF2-40B4-BE49-F238E27FC236}">
                <a16:creationId xmlns:a16="http://schemas.microsoft.com/office/drawing/2014/main" id="{EEFA6851-2345-4F11-A600-A760E7273358}"/>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98A56A7A-23ED-409C-B547-AF4F5DD57B03}"/>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7CF979C1-C9BB-4475-BE66-C4C30C0D12F9}"/>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Implementation Check</a:t>
            </a:r>
          </a:p>
        </p:txBody>
      </p:sp>
      <p:sp>
        <p:nvSpPr>
          <p:cNvPr id="15" name="">
            <a:extLst xmlns:a="http://schemas.openxmlformats.org/drawingml/2006/main">
              <a:ext uri="{FF2B5EF4-FFF2-40B4-BE49-F238E27FC236}">
                <a16:creationId xmlns:a16="http://schemas.microsoft.com/office/drawing/2014/main" id="{AD6DBCC2-4287-4B8D-B4CE-6771B5B03D6F}"/>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Train staff to report concerns without blame. Define emergency contacts and pause authority before deployment. Review incidents regularly through governance and continuous improvement.</a:t>
            </a:r>
          </a:p>
        </p:txBody>
      </p:sp>
      <p:sp>
        <p:nvSpPr>
          <p:cNvPr id="16" name="">
            <a:extLst xmlns:a="http://schemas.openxmlformats.org/drawingml/2006/main">
              <a:ext uri="{FF2B5EF4-FFF2-40B4-BE49-F238E27FC236}">
                <a16:creationId xmlns:a16="http://schemas.microsoft.com/office/drawing/2014/main" id="{E30846A6-0B33-4504-8A85-05CE3F7B005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Incident Response</a:t>
            </a:r>
          </a:p>
        </p:txBody>
      </p:sp>
      <p:sp>
        <p:nvSpPr>
          <p:cNvPr id="17" name="">
            <a:extLst xmlns:a="http://schemas.openxmlformats.org/drawingml/2006/main">
              <a:ext uri="{FF2B5EF4-FFF2-40B4-BE49-F238E27FC236}">
                <a16:creationId xmlns:a16="http://schemas.microsoft.com/office/drawing/2014/main" id="{397BBB4C-E780-4F63-B9B6-D9C21CA7217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6827913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5FF1C9C-CDBF-443F-ABB2-A4130364186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2855DA3-3245-4AF3-ABE8-428AD602FC7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C7A5CF05-C977-430E-A08E-1E15CB0BD8F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2BD95B2-8BC1-4DA7-B213-7BE5870357BA}"/>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608C4848-8F8A-4761-9F4C-95B7AA5EB648}"/>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7CEA275-5584-49D0-AC9A-E02A888C72E9}"/>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CED6D8AF-C89B-458B-BEE9-5B0AE8343E66}"/>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Report harmful AI output</a:t>
            </a:r>
          </a:p>
        </p:txBody>
      </p:sp>
      <p:sp>
        <p:nvSpPr>
          <p:cNvPr id="8" name="">
            <a:extLst xmlns:a="http://schemas.openxmlformats.org/drawingml/2006/main">
              <a:ext uri="{FF2B5EF4-FFF2-40B4-BE49-F238E27FC236}">
                <a16:creationId xmlns:a16="http://schemas.microsoft.com/office/drawing/2014/main" id="{D98DA9E0-E96D-44B9-9283-E74ECE494C83}"/>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7B8B89A2-40AF-41DE-838D-BC3C63AA9284}"/>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484EF26-9173-4A34-9C4D-47791137DE23}"/>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FCBBC685-DB40-4ECE-8583-957CA16F99EC}"/>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Escalate privacy exposure</a:t>
            </a:r>
          </a:p>
        </p:txBody>
      </p:sp>
      <p:sp>
        <p:nvSpPr>
          <p:cNvPr id="12" name="">
            <a:extLst xmlns:a="http://schemas.openxmlformats.org/drawingml/2006/main">
              <a:ext uri="{FF2B5EF4-FFF2-40B4-BE49-F238E27FC236}">
                <a16:creationId xmlns:a16="http://schemas.microsoft.com/office/drawing/2014/main" id="{5E5B4420-B4C3-4278-ADDF-1674A4BC83CC}"/>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63FFE0B8-BFA5-4F1B-82D3-7F0EF24BF540}"/>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3821EF74-BF18-49AF-8312-5F927988A29E}"/>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D3ECB6DB-2EE1-46EF-BB58-2C4D33B896D4}"/>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Pause a drifting model</a:t>
            </a:r>
          </a:p>
        </p:txBody>
      </p:sp>
      <p:sp>
        <p:nvSpPr>
          <p:cNvPr id="16" name="">
            <a:extLst xmlns:a="http://schemas.openxmlformats.org/drawingml/2006/main">
              <a:ext uri="{FF2B5EF4-FFF2-40B4-BE49-F238E27FC236}">
                <a16:creationId xmlns:a16="http://schemas.microsoft.com/office/drawing/2014/main" id="{942EB53D-60A8-44BC-91C6-392B50BA42ED}"/>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DE239696-9335-4134-8135-6D690BC24F8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Incident Response</a:t>
            </a:r>
          </a:p>
        </p:txBody>
      </p:sp>
      <p:sp>
        <p:nvSpPr>
          <p:cNvPr id="18" name="">
            <a:extLst xmlns:a="http://schemas.openxmlformats.org/drawingml/2006/main">
              <a:ext uri="{FF2B5EF4-FFF2-40B4-BE49-F238E27FC236}">
                <a16:creationId xmlns:a16="http://schemas.microsoft.com/office/drawing/2014/main" id="{E8F23B27-7072-439C-99B6-B5D92EBBA5A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973484748"/>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10BD92-0FA9-483E-AC46-DBC1F8AC429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E7746BA-AA97-4E08-AFE1-210CCA36FFB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E17450E0-C081-4955-B41E-F84FA65045C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C595D2C-97CD-4CA9-8E75-E4DD372656C6}"/>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B77E5572-5A85-42D4-AC15-0369DD1BC327}"/>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A268C78D-D509-4127-B9B6-7CDF006D1395}"/>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E17D5405-CF05-4570-B5C3-E78A2CA5A78A}"/>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AI-related problems should staff be required to report? Who has authority to pause an AI-supported workflow? How will lessons from incidents update training, policy, and monitoring?</a:t>
            </a:r>
          </a:p>
        </p:txBody>
      </p:sp>
      <p:sp>
        <p:nvSpPr>
          <p:cNvPr id="8" name="">
            <a:extLst xmlns:a="http://schemas.openxmlformats.org/drawingml/2006/main">
              <a:ext uri="{FF2B5EF4-FFF2-40B4-BE49-F238E27FC236}">
                <a16:creationId xmlns:a16="http://schemas.microsoft.com/office/drawing/2014/main" id="{B3C0731E-E36D-45CA-8900-ECDD2FFD214C}"/>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0C7AB2CF-8CFB-4739-BCF0-942AC5692C78}"/>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3A715F9D-F804-4359-990F-BD2B291C4AFC}"/>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595E3CB5-7AE8-450E-8569-A723F5EB54F9}"/>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Walk through a tabletop scenario involving an incorrect AI-generated public message or privacy exposure, then document reporting steps, escalation contacts, communications needs, corrective actions, and governance review.</a:t>
            </a:r>
          </a:p>
        </p:txBody>
      </p:sp>
      <p:sp>
        <p:nvSpPr>
          <p:cNvPr id="12" name="">
            <a:extLst xmlns:a="http://schemas.openxmlformats.org/drawingml/2006/main">
              <a:ext uri="{FF2B5EF4-FFF2-40B4-BE49-F238E27FC236}">
                <a16:creationId xmlns:a16="http://schemas.microsoft.com/office/drawing/2014/main" id="{3704C6A9-ED20-4529-BB98-DA1E2F3443E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Incident Response</a:t>
            </a:r>
          </a:p>
        </p:txBody>
      </p:sp>
      <p:sp>
        <p:nvSpPr>
          <p:cNvPr id="13" name="">
            <a:extLst xmlns:a="http://schemas.openxmlformats.org/drawingml/2006/main">
              <a:ext uri="{FF2B5EF4-FFF2-40B4-BE49-F238E27FC236}">
                <a16:creationId xmlns:a16="http://schemas.microsoft.com/office/drawing/2014/main" id="{6D7E2B7B-A80C-40A5-96D6-DE02F894F12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5844466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2CB15C-89BA-4D33-9A66-F310158E401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EAA5F4A-4B63-47CD-AEDA-31756D8A19C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19EAB44C-B632-4137-8DED-7885A678BA7C}"/>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6ABCC41-ED8C-44A3-A627-11504BF499F3}"/>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130E0619-8AAE-4ECF-819A-2D761D353C06}"/>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E56AFDB7-18A5-4D4C-9D7E-63676A229554}"/>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17AC0E67-C75F-417D-BA15-D2EACE377766}"/>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3, 10, 11, 12, 13 and Tools 17, 18, 38, 44, 45, 46.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A763C469-E59B-43E5-9041-05FB9E0CB598}"/>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DFECFE58-544D-4EC4-A4B6-98925452F6C9}"/>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D00CE23E-850E-4765-94C1-62D5435E2E03}"/>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FB854504-64ED-45D7-A045-0E7D06158996}"/>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AI Risk Management Framework: Governance and response structure for AI-related harms and failures. WHO: Ethics and governance of artificial intelligence for health: Health AI accountability, safety, and oversight principles. HHS Office.</a:t>
            </a:r>
          </a:p>
        </p:txBody>
      </p:sp>
      <p:sp>
        <p:nvSpPr>
          <p:cNvPr id="12" name="">
            <a:extLst xmlns:a="http://schemas.openxmlformats.org/drawingml/2006/main">
              <a:ext uri="{FF2B5EF4-FFF2-40B4-BE49-F238E27FC236}">
                <a16:creationId xmlns:a16="http://schemas.microsoft.com/office/drawing/2014/main" id="{41180478-533F-4527-BF77-0B964EDC850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Incident Response</a:t>
            </a:r>
          </a:p>
        </p:txBody>
      </p:sp>
      <p:sp>
        <p:nvSpPr>
          <p:cNvPr id="13" name="">
            <a:extLst xmlns:a="http://schemas.openxmlformats.org/drawingml/2006/main">
              <a:ext uri="{FF2B5EF4-FFF2-40B4-BE49-F238E27FC236}">
                <a16:creationId xmlns:a16="http://schemas.microsoft.com/office/drawing/2014/main" id="{14C7713F-8333-4F64-BDB8-E76CB300EB2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433818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2026-07-02T17:47:04.5340000Z</dcterms:created>
  <dcterms:modified xsi:type="dcterms:W3CDTF">2026-07-02T17:47:04.5340000Z</dcterms:modified>
</coreProperties>
</file>