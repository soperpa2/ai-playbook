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330 Equity Evaluation for AI Models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analytics-and-modeling, governance-and-security, epidemiology, policy, communications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overall model performance can mask inequitable performance.
Identify relevant subgroups and contextual factors for equity evaluation in public health.
Assess data representativeness, missingness, and measurement bias before model use.
Define subgroup performance measures and review thresholds for AI-supported workflows.
Produce an equity evaluation plan for a model or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model predicts which clients are most likely to miss follow-up care after a public health referral. Overall performance appears acceptable, but subgroup review shows lower sensitivity for rural clients and people with missing phone numbers. The model may under-prioritize people who face transportation, broadband, housing, or communication barriers. Equity evaluation would require additional analysis, workflow changes, and monitoring before the tool is used for outreach prioritization.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begins with the intended use. A model used for internal workload planning has different equity implications than a model used to prioritize field response or determine which communities receive outreach. Evaluators should identify who is affected by the model output, what action follows, and what harms may occur from false positives, false negatives, or delayed review.
Data assessment is the next step. Public health datasets often reflect uneven healthcare access, reporting patterns, documentation practices, language access, and program reach. Missing race, ethnicity, language, disability, address, housing, or contact information may not be random. It may reflect structural barriers or data collection practices that affect some communities more than others.
Subgroup performance should be measured when data allow. This may include sensitivity, specificity, false positive rates, false negative rates, calibration, timeliness, or user override rates by race, ethnicity, age, sex, gender, geography, language, disability, rurality, payer, facility type, or other relevant factors. Subgroups should be chosen based on public health relevance, not simply data convenience.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should lead to action. Mitigations may include changing thresholds, improving data collection, adding human review, limiting the intended use, creating separate workflows, improving language access, consulting community partners, adding uncertainty warnings, or declining to deploy the model. Equity monitoring should continue after launch because data patterns and workflow use can change.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Relying on average performance while ignoring subgroup harms.
Using datasets that underrepresent communities with limited healthcare access.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Treating missing data as neutral when missingness reflects structural inequities.
Using AI prioritization to allocate scarce resources without equity review.
Failing to monitor equity impacts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equity evaluation for AI uses that affect prioritization, eligibility, outreach, response, or public communication.
Assess representativeness and missingness before model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Measure subgroup performance where feasible and document limitations where not feasible.
Include community, equity, and program reviewers in governance decisions.
Monitor equity indicators and user overrides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equity evaluation plan for one AI model or AI-supported workflow. Include intended use, affected populations, relevant subgroups, data representativeness concerns, missingness concerns, subgroup performance measures, potential harms, mitigation options, monitoring indicators, and decision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evaluation plan
Subgroup and data representativeness review
Potential harm and mitigation table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monitoring indicators
Governance recommendation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Equity evaluation plan
Subgroup and data representativeness review
Potential harm and mitigation table
Equity monitoring indicators
Governance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overall model performance insufficient for public health equity review?
2. What is measurement bias?
3. Which use most clearly requires equity evaluation?
4. What should happen if subgroup performance is poor for a population affected by the workflow?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Equity Evaluation for AI Models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examines whether an AI model performs differently across populations, places, languages,.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have a responsibility to evaluate not only average model performance but also who.</a:t>
            </a:r>
            <a:endParaRPr lang="en-US" sz="2100" dirty="0"/>
          </a:p>
          <a:p>
            <a:r>
              <a:rPr lang="en-US" sz="2100" dirty="0">
                <a:solidFill>
                  <a:srgbClr val="17364A"/>
                </a:solidFill>
                <a:latin typeface="Aptos" pitchFamily="34" charset="0"/>
                <a:ea typeface="Aptos" pitchFamily="34" charset="-122"/>
                <a:cs typeface="Aptos" pitchFamily="34" charset="-120"/>
              </a:rPr>
              <a:t>This is especially important when AI is used to prioritize cases, allocate services, detect risk, summarize.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analytics-and-modeling, governance-and-security, epidemiology, policy, communications</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overall model performance can mask inequitable performance.</a:t>
            </a:r>
            <a:endParaRPr lang="en-US" sz="2100" dirty="0"/>
          </a:p>
          <a:p>
            <a:r>
              <a:rPr lang="en-US" sz="2100" dirty="0">
                <a:solidFill>
                  <a:srgbClr val="17364A"/>
                </a:solidFill>
                <a:latin typeface="Aptos" pitchFamily="34" charset="0"/>
                <a:ea typeface="Aptos" pitchFamily="34" charset="-122"/>
                <a:cs typeface="Aptos" pitchFamily="34" charset="-120"/>
              </a:rPr>
              <a:t>Identify relevant subgroups and contextual factors for equity evaluation in public health.</a:t>
            </a:r>
            <a:endParaRPr lang="en-US" sz="2100" dirty="0"/>
          </a:p>
          <a:p>
            <a:r>
              <a:rPr lang="en-US" sz="2100" dirty="0">
                <a:solidFill>
                  <a:srgbClr val="17364A"/>
                </a:solidFill>
                <a:latin typeface="Aptos" pitchFamily="34" charset="0"/>
                <a:ea typeface="Aptos" pitchFamily="34" charset="-122"/>
                <a:cs typeface="Aptos" pitchFamily="34" charset="-120"/>
              </a:rPr>
              <a:t>Assess data representativeness, missingness, and measurement bias before model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overall model performance can mask inequitable performance.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Define subgroup performance measures and review thresholds for AI-supported workflows.</a:t>
            </a:r>
            <a:endParaRPr lang="en-US" sz="1380" dirty="0"/>
          </a:p>
          <a:p>
            <a:r>
              <a:rPr lang="en-US" sz="1380" dirty="0">
                <a:solidFill>
                  <a:srgbClr val="17364A"/>
                </a:solidFill>
                <a:latin typeface="Aptos" pitchFamily="34" charset="0"/>
                <a:ea typeface="Aptos" pitchFamily="34" charset="-122"/>
                <a:cs typeface="Aptos" pitchFamily="34" charset="-120"/>
              </a:rPr>
              <a:t>Produce an equity evaluation plan for a model or AI-supported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examines whether an AI model performs differently across populations, places,.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have a responsibility to evaluate not only average model performance but also.</a:t>
            </a:r>
            <a:endParaRPr lang="en-US" sz="2100" dirty="0"/>
          </a:p>
          <a:p>
            <a:r>
              <a:rPr lang="en-US" sz="2100" dirty="0">
                <a:solidFill>
                  <a:srgbClr val="17364A"/>
                </a:solidFill>
                <a:latin typeface="Aptos" pitchFamily="34" charset="0"/>
                <a:ea typeface="Aptos" pitchFamily="34" charset="-122"/>
                <a:cs typeface="Aptos" pitchFamily="34" charset="-120"/>
              </a:rPr>
              <a:t>This is especially important when AI is used to prioritize cases, allocate services, detect 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evaluation examines whether an AI model performs differently across populations, places,.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Equity evaluation examines whether an AI model performs differently across populations,.</a:t>
            </a:r>
            <a:endParaRPr lang="en-US" sz="1380" dirty="0"/>
          </a:p>
          <a:p>
            <a:r>
              <a:rPr lang="en-US" sz="1380" dirty="0">
                <a:solidFill>
                  <a:srgbClr val="17364A"/>
                </a:solidFill>
                <a:latin typeface="Aptos" pitchFamily="34" charset="0"/>
                <a:ea typeface="Aptos" pitchFamily="34" charset="-122"/>
                <a:cs typeface="Aptos" pitchFamily="34" charset="-120"/>
              </a:rPr>
              <a:t>Public health agencies have a responsibility to evaluate not only average model.</a:t>
            </a:r>
            <a:endParaRPr lang="en-US" sz="1380" dirty="0"/>
          </a:p>
          <a:p>
            <a:r>
              <a:rPr lang="en-US" sz="1380" dirty="0">
                <a:solidFill>
                  <a:srgbClr val="17364A"/>
                </a:solidFill>
                <a:latin typeface="Aptos" pitchFamily="34" charset="0"/>
                <a:ea typeface="Aptos" pitchFamily="34" charset="-122"/>
                <a:cs typeface="Aptos" pitchFamily="34" charset="-120"/>
              </a:rPr>
              <a:t>This is especially important when AI is used to prioritize cases, allocate services,.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model predicts which clients are most likely to miss follow-up care after a public health referral.</a:t>
            </a:r>
            <a:endParaRPr lang="en-US" sz="2100" dirty="0"/>
          </a:p>
          <a:p>
            <a:r>
              <a:rPr lang="en-US" sz="2100" dirty="0">
                <a:solidFill>
                  <a:srgbClr val="17364A"/>
                </a:solidFill>
                <a:latin typeface="Aptos" pitchFamily="34" charset="0"/>
                <a:ea typeface="Aptos" pitchFamily="34" charset="-122"/>
                <a:cs typeface="Aptos" pitchFamily="34" charset="-120"/>
              </a:rPr>
              <a:t>Overall performance appears acceptable, but subgroup review shows lower sensitivity for rural clients.</a:t>
            </a:r>
            <a:endParaRPr lang="en-US" sz="2100" dirty="0"/>
          </a:p>
          <a:p>
            <a:r>
              <a:rPr lang="en-US" sz="2100" dirty="0">
                <a:solidFill>
                  <a:srgbClr val="17364A"/>
                </a:solidFill>
                <a:latin typeface="Aptos" pitchFamily="34" charset="0"/>
                <a:ea typeface="Aptos" pitchFamily="34" charset="-122"/>
                <a:cs typeface="Aptos" pitchFamily="34" charset="-120"/>
              </a:rPr>
              <a:t>The model may under-prioritize people who face transportation, broadband, housing, or communication.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model predicts which clients are most likely to miss follow-up care after a public health referral.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Overall performance appears acceptable, but subgroup review shows lower sensitivity for.</a:t>
            </a:r>
            <a:endParaRPr lang="en-US" sz="1380" dirty="0"/>
          </a:p>
          <a:p>
            <a:r>
              <a:rPr lang="en-US" sz="1380" dirty="0">
                <a:solidFill>
                  <a:srgbClr val="17364A"/>
                </a:solidFill>
                <a:latin typeface="Aptos" pitchFamily="34" charset="0"/>
                <a:ea typeface="Aptos" pitchFamily="34" charset="-122"/>
                <a:cs typeface="Aptos" pitchFamily="34" charset="-120"/>
              </a:rPr>
              <a:t>The model may under-prioritize people who face transportation, broadband, housing, or.</a:t>
            </a:r>
            <a:endParaRPr lang="en-US" sz="1380" dirty="0"/>
          </a:p>
          <a:p>
            <a:r>
              <a:rPr lang="en-US" sz="1380" dirty="0">
                <a:solidFill>
                  <a:srgbClr val="17364A"/>
                </a:solidFill>
                <a:latin typeface="Aptos" pitchFamily="34" charset="0"/>
                <a:ea typeface="Aptos" pitchFamily="34" charset="-122"/>
                <a:cs typeface="Aptos" pitchFamily="34" charset="-120"/>
              </a:rPr>
              <a:t>Equity evaluation would require additional analysis, workflow changes, and monitoring.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begins with the intended use.</a:t>
            </a:r>
            <a:endParaRPr lang="en-US" sz="2100" dirty="0"/>
          </a:p>
          <a:p>
            <a:r>
              <a:rPr lang="en-US" sz="2100" dirty="0">
                <a:solidFill>
                  <a:srgbClr val="17364A"/>
                </a:solidFill>
                <a:latin typeface="Aptos" pitchFamily="34" charset="0"/>
                <a:ea typeface="Aptos" pitchFamily="34" charset="-122"/>
                <a:cs typeface="Aptos" pitchFamily="34" charset="-120"/>
              </a:rPr>
              <a:t>A model used for internal workload planning has different equity implications than a model used to.</a:t>
            </a:r>
            <a:endParaRPr lang="en-US" sz="2100" dirty="0"/>
          </a:p>
          <a:p>
            <a:r>
              <a:rPr lang="en-US" sz="2100" dirty="0">
                <a:solidFill>
                  <a:srgbClr val="17364A"/>
                </a:solidFill>
                <a:latin typeface="Aptos" pitchFamily="34" charset="0"/>
                <a:ea typeface="Aptos" pitchFamily="34" charset="-122"/>
                <a:cs typeface="Aptos" pitchFamily="34" charset="-120"/>
              </a:rPr>
              <a:t>Evaluators should identify who is affected by the model output, what action follows, and what harms may.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evaluation begins with the intended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model used for internal workload planning has different equity implications than a model.</a:t>
            </a:r>
            <a:endParaRPr lang="en-US" sz="1380" dirty="0"/>
          </a:p>
          <a:p>
            <a:r>
              <a:rPr lang="en-US" sz="1380" dirty="0">
                <a:solidFill>
                  <a:srgbClr val="17364A"/>
                </a:solidFill>
                <a:latin typeface="Aptos" pitchFamily="34" charset="0"/>
                <a:ea typeface="Aptos" pitchFamily="34" charset="-122"/>
                <a:cs typeface="Aptos" pitchFamily="34" charset="-120"/>
              </a:rPr>
              <a:t>Evaluators should identify who is affected by the model output, what action follows, and.</a:t>
            </a:r>
            <a:endParaRPr lang="en-US" sz="1380" dirty="0"/>
          </a:p>
          <a:p>
            <a:r>
              <a:rPr lang="en-US" sz="1380" dirty="0">
                <a:solidFill>
                  <a:srgbClr val="17364A"/>
                </a:solidFill>
                <a:latin typeface="Aptos" pitchFamily="34" charset="0"/>
                <a:ea typeface="Aptos" pitchFamily="34" charset="-122"/>
                <a:cs typeface="Aptos" pitchFamily="34" charset="-120"/>
              </a:rPr>
              <a:t>Data assessment is the next step.</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should lead to action.</a:t>
            </a:r>
            <a:endParaRPr lang="en-US" sz="2100" dirty="0"/>
          </a:p>
          <a:p>
            <a:r>
              <a:rPr lang="en-US" sz="2100" dirty="0">
                <a:solidFill>
                  <a:srgbClr val="17364A"/>
                </a:solidFill>
                <a:latin typeface="Aptos" pitchFamily="34" charset="0"/>
                <a:ea typeface="Aptos" pitchFamily="34" charset="-122"/>
                <a:cs typeface="Aptos" pitchFamily="34" charset="-120"/>
              </a:rPr>
              <a:t>Mitigations may include changing thresholds, improving data collection, adding human review, limiting.</a:t>
            </a:r>
            <a:endParaRPr lang="en-US" sz="2100" dirty="0"/>
          </a:p>
          <a:p>
            <a:r>
              <a:rPr lang="en-US" sz="2100" dirty="0">
                <a:solidFill>
                  <a:srgbClr val="17364A"/>
                </a:solidFill>
                <a:latin typeface="Aptos" pitchFamily="34" charset="0"/>
                <a:ea typeface="Aptos" pitchFamily="34" charset="-122"/>
                <a:cs typeface="Aptos" pitchFamily="34" charset="-120"/>
              </a:rPr>
              <a:t>Equity monitoring should continue after launch because data patterns and workflow use can change.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evaluation should lead to action.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Equity evaluation should lead to action.</a:t>
            </a:r>
            <a:endParaRPr lang="en-US" sz="1380" dirty="0"/>
          </a:p>
          <a:p>
            <a:r>
              <a:rPr lang="en-US" sz="1380" dirty="0">
                <a:solidFill>
                  <a:srgbClr val="17364A"/>
                </a:solidFill>
                <a:latin typeface="Aptos" pitchFamily="34" charset="0"/>
                <a:ea typeface="Aptos" pitchFamily="34" charset="-122"/>
                <a:cs typeface="Aptos" pitchFamily="34" charset="-120"/>
              </a:rPr>
              <a:t>Mitigations may include changing thresholds, improving data collection, adding human.</a:t>
            </a:r>
            <a:endParaRPr lang="en-US" sz="1380" dirty="0"/>
          </a:p>
          <a:p>
            <a:r>
              <a:rPr lang="en-US" sz="1380" dirty="0">
                <a:solidFill>
                  <a:srgbClr val="17364A"/>
                </a:solidFill>
                <a:latin typeface="Aptos" pitchFamily="34" charset="0"/>
                <a:ea typeface="Aptos" pitchFamily="34" charset="-122"/>
                <a:cs typeface="Aptos" pitchFamily="34" charset="-120"/>
              </a:rPr>
              <a:t>Equity monitoring should continue after launch because data patterns and workflow use can.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Relying on average performance while ignoring subgroup harms.</a:t>
            </a:r>
            <a:endParaRPr lang="en-US" sz="2100" dirty="0"/>
          </a:p>
          <a:p>
            <a:r>
              <a:rPr lang="en-US" sz="2100" dirty="0">
                <a:solidFill>
                  <a:srgbClr val="17364A"/>
                </a:solidFill>
                <a:latin typeface="Aptos" pitchFamily="34" charset="0"/>
                <a:ea typeface="Aptos" pitchFamily="34" charset="-122"/>
                <a:cs typeface="Aptos" pitchFamily="34" charset="-120"/>
              </a:rPr>
              <a:t>Using datasets that underrepresent communities with limited healthcare access.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Risks and failure modes include the following:</a:t>
            </a:r>
            <a:endParaRPr lang="en-US" sz="1380" dirty="0"/>
          </a:p>
          <a:p>
            <a:r>
              <a:rPr lang="en-US" sz="1380" dirty="0">
                <a:solidFill>
                  <a:srgbClr val="17364A"/>
                </a:solidFill>
                <a:latin typeface="Aptos" pitchFamily="34" charset="0"/>
                <a:ea typeface="Aptos" pitchFamily="34" charset="-122"/>
                <a:cs typeface="Aptos" pitchFamily="34" charset="-120"/>
              </a:rPr>
              <a:t>Relying on average performance while ignoring subgroup harms.</a:t>
            </a:r>
            <a:endParaRPr lang="en-US" sz="1380" dirty="0"/>
          </a:p>
          <a:p>
            <a:r>
              <a:rPr lang="en-US" sz="1380" dirty="0">
                <a:solidFill>
                  <a:srgbClr val="17364A"/>
                </a:solidFill>
                <a:latin typeface="Aptos" pitchFamily="34" charset="0"/>
                <a:ea typeface="Aptos" pitchFamily="34" charset="-122"/>
                <a:cs typeface="Aptos" pitchFamily="34" charset="-120"/>
              </a:rPr>
              <a:t>Using datasets that underrepresent communities with limited healthcare access.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Treating missing data as neutral when missingness reflects structural inequities.</a:t>
            </a:r>
            <a:endParaRPr lang="en-US" sz="2100" dirty="0"/>
          </a:p>
          <a:p>
            <a:r>
              <a:rPr lang="en-US" sz="2100" dirty="0">
                <a:solidFill>
                  <a:srgbClr val="17364A"/>
                </a:solidFill>
                <a:latin typeface="Aptos" pitchFamily="34" charset="0"/>
                <a:ea typeface="Aptos" pitchFamily="34" charset="-122"/>
                <a:cs typeface="Aptos" pitchFamily="34" charset="-120"/>
              </a:rPr>
              <a:t>Using AI prioritization to allocate scarce resources without equity review.</a:t>
            </a:r>
            <a:endParaRPr lang="en-US" sz="2100" dirty="0"/>
          </a:p>
          <a:p>
            <a:r>
              <a:rPr lang="en-US" sz="2100" dirty="0">
                <a:solidFill>
                  <a:srgbClr val="17364A"/>
                </a:solidFill>
                <a:latin typeface="Aptos" pitchFamily="34" charset="0"/>
                <a:ea typeface="Aptos" pitchFamily="34" charset="-122"/>
                <a:cs typeface="Aptos" pitchFamily="34" charset="-120"/>
              </a:rPr>
              <a:t>Failing to monitor equity impacts after deployment.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Treating missing data as neutral when missingness reflects structural inequities.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Treating missing data as neutral when missingness reflects structural inequities.</a:t>
            </a:r>
            <a:endParaRPr lang="en-US" sz="1380" dirty="0"/>
          </a:p>
          <a:p>
            <a:r>
              <a:rPr lang="en-US" sz="1380" dirty="0">
                <a:solidFill>
                  <a:srgbClr val="17364A"/>
                </a:solidFill>
                <a:latin typeface="Aptos" pitchFamily="34" charset="0"/>
                <a:ea typeface="Aptos" pitchFamily="34" charset="-122"/>
                <a:cs typeface="Aptos" pitchFamily="34" charset="-120"/>
              </a:rPr>
              <a:t>Using AI prioritization to allocate scarce resources without equity review.</a:t>
            </a:r>
            <a:endParaRPr lang="en-US" sz="1380" dirty="0"/>
          </a:p>
          <a:p>
            <a:r>
              <a:rPr lang="en-US" sz="1380" dirty="0">
                <a:solidFill>
                  <a:srgbClr val="17364A"/>
                </a:solidFill>
                <a:latin typeface="Aptos" pitchFamily="34" charset="0"/>
                <a:ea typeface="Aptos" pitchFamily="34" charset="-122"/>
                <a:cs typeface="Aptos" pitchFamily="34" charset="-120"/>
              </a:rPr>
              <a:t>Failing to monitor equity impacts after deployment.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Require equity evaluation for AI uses that affect prioritization, eligibility, outreach, response, or.</a:t>
            </a:r>
            <a:endParaRPr lang="en-US" sz="2100" dirty="0"/>
          </a:p>
          <a:p>
            <a:r>
              <a:rPr lang="en-US" sz="2100" dirty="0">
                <a:solidFill>
                  <a:srgbClr val="17364A"/>
                </a:solidFill>
                <a:latin typeface="Aptos" pitchFamily="34" charset="0"/>
                <a:ea typeface="Aptos" pitchFamily="34" charset="-122"/>
                <a:cs typeface="Aptos" pitchFamily="34" charset="-120"/>
              </a:rPr>
              <a:t>Assess representativeness and missingness before model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Recommended guardrails include the following:</a:t>
            </a:r>
            <a:endParaRPr lang="en-US" sz="1380" dirty="0"/>
          </a:p>
          <a:p>
            <a:r>
              <a:rPr lang="en-US" sz="1380" dirty="0">
                <a:solidFill>
                  <a:srgbClr val="17364A"/>
                </a:solidFill>
                <a:latin typeface="Aptos" pitchFamily="34" charset="0"/>
                <a:ea typeface="Aptos" pitchFamily="34" charset="-122"/>
                <a:cs typeface="Aptos" pitchFamily="34" charset="-120"/>
              </a:rPr>
              <a:t>Require equity evaluation for AI uses that affect prioritization, eligibility, outreach,.</a:t>
            </a:r>
            <a:endParaRPr lang="en-US" sz="1380" dirty="0"/>
          </a:p>
          <a:p>
            <a:r>
              <a:rPr lang="en-US" sz="1380" dirty="0">
                <a:solidFill>
                  <a:srgbClr val="17364A"/>
                </a:solidFill>
                <a:latin typeface="Aptos" pitchFamily="34" charset="0"/>
                <a:ea typeface="Aptos" pitchFamily="34" charset="-122"/>
                <a:cs typeface="Aptos" pitchFamily="34" charset="-120"/>
              </a:rPr>
              <a:t>Assess representativeness and missingness before model use.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Measure subgroup performance where feasible and document limitations where not feasible.</a:t>
            </a:r>
            <a:endParaRPr lang="en-US" sz="2100" dirty="0"/>
          </a:p>
          <a:p>
            <a:r>
              <a:rPr lang="en-US" sz="2100" dirty="0">
                <a:solidFill>
                  <a:srgbClr val="17364A"/>
                </a:solidFill>
                <a:latin typeface="Aptos" pitchFamily="34" charset="0"/>
                <a:ea typeface="Aptos" pitchFamily="34" charset="-122"/>
                <a:cs typeface="Aptos" pitchFamily="34" charset="-120"/>
              </a:rPr>
              <a:t>Include community, equity, and program reviewers in governance decisions.</a:t>
            </a:r>
            <a:endParaRPr lang="en-US" sz="2100" dirty="0"/>
          </a:p>
          <a:p>
            <a:r>
              <a:rPr lang="en-US" sz="2100" dirty="0">
                <a:solidFill>
                  <a:srgbClr val="17364A"/>
                </a:solidFill>
                <a:latin typeface="Aptos" pitchFamily="34" charset="0"/>
                <a:ea typeface="Aptos" pitchFamily="34" charset="-122"/>
                <a:cs typeface="Aptos" pitchFamily="34" charset="-120"/>
              </a:rPr>
              <a:t>Monitor equity indicators and user overrides after deployment.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Measure subgroup performance where feasible and document limitations where not feasible.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Measure subgroup performance where feasible and document limitations where not feasible.</a:t>
            </a:r>
            <a:endParaRPr lang="en-US" sz="1380" dirty="0"/>
          </a:p>
          <a:p>
            <a:r>
              <a:rPr lang="en-US" sz="1380" dirty="0">
                <a:solidFill>
                  <a:srgbClr val="17364A"/>
                </a:solidFill>
                <a:latin typeface="Aptos" pitchFamily="34" charset="0"/>
                <a:ea typeface="Aptos" pitchFamily="34" charset="-122"/>
                <a:cs typeface="Aptos" pitchFamily="34" charset="-120"/>
              </a:rPr>
              <a:t>Include community, equity, and program reviewers in governance decisions.</a:t>
            </a:r>
            <a:endParaRPr lang="en-US" sz="1380" dirty="0"/>
          </a:p>
          <a:p>
            <a:r>
              <a:rPr lang="en-US" sz="1380" dirty="0">
                <a:solidFill>
                  <a:srgbClr val="17364A"/>
                </a:solidFill>
                <a:latin typeface="Aptos" pitchFamily="34" charset="0"/>
                <a:ea typeface="Aptos" pitchFamily="34" charset="-122"/>
                <a:cs typeface="Aptos" pitchFamily="34" charset="-120"/>
              </a:rPr>
              <a:t>Monitor equity indicators and user overrides after deployment.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80" dirty="0"/>
          </a:p>
          <a:p>
            <a:r>
              <a:rPr lang="en-US" sz="138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380" dirty="0"/>
          </a:p>
          <a:p>
            <a:r>
              <a:rPr lang="en-US" sz="138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80" dirty="0"/>
          </a:p>
          <a:p>
            <a:r>
              <a:rPr lang="en-US" sz="138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equity evaluation plan for one AI model or AI-supported workflow.</a:t>
            </a:r>
            <a:endParaRPr lang="en-US" sz="2100" dirty="0"/>
          </a:p>
          <a:p>
            <a:r>
              <a:rPr lang="en-US" sz="2100" dirty="0">
                <a:solidFill>
                  <a:srgbClr val="17364A"/>
                </a:solidFill>
                <a:latin typeface="Aptos" pitchFamily="34" charset="0"/>
                <a:ea typeface="Aptos" pitchFamily="34" charset="-122"/>
                <a:cs typeface="Aptos" pitchFamily="34" charset="-120"/>
              </a:rPr>
              <a:t>Include intended use, affected populations, relevant subgroups, data representativeness concerns,.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equity evaluation plan for one AI model or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an equity evaluation plan for one AI model or AI-supported workflow.</a:t>
            </a:r>
            <a:endParaRPr lang="en-US" sz="1380" dirty="0"/>
          </a:p>
          <a:p>
            <a:r>
              <a:rPr lang="en-US" sz="1380" dirty="0">
                <a:solidFill>
                  <a:srgbClr val="17364A"/>
                </a:solidFill>
                <a:latin typeface="Aptos" pitchFamily="34" charset="0"/>
                <a:ea typeface="Aptos" pitchFamily="34" charset="-122"/>
                <a:cs typeface="Aptos" pitchFamily="34" charset="-120"/>
              </a:rPr>
              <a:t>Include intended use, affected populations, relevant subgroups, data representativeness.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plan</a:t>
            </a:r>
            <a:endParaRPr lang="en-US" sz="2100" dirty="0"/>
          </a:p>
          <a:p>
            <a:r>
              <a:rPr lang="en-US" sz="2100" dirty="0">
                <a:solidFill>
                  <a:srgbClr val="17364A"/>
                </a:solidFill>
                <a:latin typeface="Aptos" pitchFamily="34" charset="0"/>
                <a:ea typeface="Aptos" pitchFamily="34" charset="-122"/>
                <a:cs typeface="Aptos" pitchFamily="34" charset="-120"/>
              </a:rPr>
              <a:t>Subgroup and data representativeness review</a:t>
            </a:r>
            <a:endParaRPr lang="en-US" sz="2100" dirty="0"/>
          </a:p>
          <a:p>
            <a:r>
              <a:rPr lang="en-US" sz="2100" dirty="0">
                <a:solidFill>
                  <a:srgbClr val="17364A"/>
                </a:solidFill>
                <a:latin typeface="Aptos" pitchFamily="34" charset="0"/>
                <a:ea typeface="Aptos" pitchFamily="34" charset="-122"/>
                <a:cs typeface="Aptos" pitchFamily="34" charset="-120"/>
              </a:rPr>
              <a:t>Potential harm and mitigation table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evaluation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Equity evaluation plan</a:t>
            </a:r>
            <a:endParaRPr lang="en-US" sz="1380" dirty="0"/>
          </a:p>
          <a:p>
            <a:r>
              <a:rPr lang="en-US" sz="1380" dirty="0">
                <a:solidFill>
                  <a:srgbClr val="17364A"/>
                </a:solidFill>
                <a:latin typeface="Aptos" pitchFamily="34" charset="0"/>
                <a:ea typeface="Aptos" pitchFamily="34" charset="-122"/>
                <a:cs typeface="Aptos" pitchFamily="34" charset="-120"/>
              </a:rPr>
              <a:t>Subgroup and data representativeness review</a:t>
            </a:r>
            <a:endParaRPr lang="en-US" sz="1380" dirty="0"/>
          </a:p>
          <a:p>
            <a:r>
              <a:rPr lang="en-US" sz="1380" dirty="0">
                <a:solidFill>
                  <a:srgbClr val="17364A"/>
                </a:solidFill>
                <a:latin typeface="Aptos" pitchFamily="34" charset="0"/>
                <a:ea typeface="Aptos" pitchFamily="34" charset="-122"/>
                <a:cs typeface="Aptos" pitchFamily="34" charset="-120"/>
              </a:rPr>
              <a:t>Potential harm and mitigation table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monitoring indicators</a:t>
            </a:r>
            <a:endParaRPr lang="en-US" sz="2100" dirty="0"/>
          </a:p>
          <a:p>
            <a:r>
              <a:rPr lang="en-US" sz="2100" dirty="0">
                <a:solidFill>
                  <a:srgbClr val="17364A"/>
                </a:solidFill>
                <a:latin typeface="Aptos" pitchFamily="34" charset="0"/>
                <a:ea typeface="Aptos" pitchFamily="34" charset="-122"/>
                <a:cs typeface="Aptos" pitchFamily="34" charset="-120"/>
              </a:rPr>
              <a:t>Governance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monitoring indicators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Equity monitoring indicators</a:t>
            </a:r>
            <a:endParaRPr lang="en-US" sz="1380" dirty="0"/>
          </a:p>
          <a:p>
            <a:r>
              <a:rPr lang="en-US" sz="1380" dirty="0">
                <a:solidFill>
                  <a:srgbClr val="17364A"/>
                </a:solidFill>
                <a:latin typeface="Aptos" pitchFamily="34" charset="0"/>
                <a:ea typeface="Aptos" pitchFamily="34" charset="-122"/>
                <a:cs typeface="Aptos" pitchFamily="34" charset="-120"/>
              </a:rPr>
              <a:t>Governance recommendation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plan</a:t>
            </a:r>
            <a:endParaRPr lang="en-US" sz="2100" dirty="0"/>
          </a:p>
          <a:p>
            <a:r>
              <a:rPr lang="en-US" sz="2100" dirty="0">
                <a:solidFill>
                  <a:srgbClr val="17364A"/>
                </a:solidFill>
                <a:latin typeface="Aptos" pitchFamily="34" charset="0"/>
                <a:ea typeface="Aptos" pitchFamily="34" charset="-122"/>
                <a:cs typeface="Aptos" pitchFamily="34" charset="-120"/>
              </a:rPr>
              <a:t>Subgroup and data representativeness review</a:t>
            </a:r>
            <a:endParaRPr lang="en-US" sz="2100" dirty="0"/>
          </a:p>
          <a:p>
            <a:r>
              <a:rPr lang="en-US" sz="2100" dirty="0">
                <a:solidFill>
                  <a:srgbClr val="17364A"/>
                </a:solidFill>
                <a:latin typeface="Aptos" pitchFamily="34" charset="0"/>
                <a:ea typeface="Aptos" pitchFamily="34" charset="-122"/>
                <a:cs typeface="Aptos" pitchFamily="34" charset="-120"/>
              </a:rPr>
              <a:t>Potential harm and mitigation table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evaluation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Equity monitoring indicators</a:t>
            </a:r>
            <a:endParaRPr lang="en-US" sz="1380" dirty="0"/>
          </a:p>
          <a:p>
            <a:r>
              <a:rPr lang="en-US" sz="1380" dirty="0">
                <a:solidFill>
                  <a:srgbClr val="17364A"/>
                </a:solidFill>
                <a:latin typeface="Aptos" pitchFamily="34" charset="0"/>
                <a:ea typeface="Aptos" pitchFamily="34" charset="-122"/>
                <a:cs typeface="Aptos" pitchFamily="34" charset="-120"/>
              </a:rPr>
              <a:t>Governance recommendation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is overall model performance insufficient for public health equity review?</a:t>
            </a:r>
            <a:endParaRPr lang="en-US" sz="2100" dirty="0"/>
          </a:p>
          <a:p>
            <a:r>
              <a:rPr lang="en-US" sz="2100" dirty="0">
                <a:solidFill>
                  <a:srgbClr val="17364A"/>
                </a:solidFill>
                <a:latin typeface="Aptos" pitchFamily="34" charset="0"/>
                <a:ea typeface="Aptos" pitchFamily="34" charset="-122"/>
                <a:cs typeface="Aptos" pitchFamily="34" charset="-120"/>
              </a:rPr>
              <a:t>2. What is measurement bias?</a:t>
            </a:r>
            <a:endParaRPr lang="en-US" sz="2100" dirty="0"/>
          </a:p>
          <a:p>
            <a:r>
              <a:rPr lang="en-US" sz="2100" dirty="0">
                <a:solidFill>
                  <a:srgbClr val="17364A"/>
                </a:solidFill>
                <a:latin typeface="Aptos" pitchFamily="34" charset="0"/>
                <a:ea typeface="Aptos" pitchFamily="34" charset="-122"/>
                <a:cs typeface="Aptos" pitchFamily="34" charset="-120"/>
              </a:rPr>
              <a:t>3. Which use most clearly requires equity evaluation?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is overall model performance insufficient for public health equity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Why is overall model performance insufficient for public health equity review?</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OWASP guidance for LLM application security</a:t>
            </a:r>
            <a:endParaRPr lang="en-US" sz="1380" dirty="0"/>
          </a:p>
          <a:p>
            <a:r>
              <a:rPr lang="en-US" sz="1380" dirty="0">
                <a:solidFill>
                  <a:srgbClr val="17364A"/>
                </a:solidFill>
                <a:latin typeface="Aptos" pitchFamily="34" charset="0"/>
                <a:ea typeface="Aptos" pitchFamily="34" charset="-122"/>
                <a:cs typeface="Aptos" pitchFamily="34" charset="-120"/>
              </a:rPr>
              <a:t>Agency policies for privacy, cybersecurity, records, procurement, accessibility,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Equity Evaluation for AI Models</dc:title>
  <dc:subject>Equity Evaluation for AI Models learning module</dc:subject>
  <dc:creator>Paula Soper</dc:creator>
  <cp:lastModifiedBy>Paula Soper</cp:lastModifiedBy>
  <cp:revision>1</cp:revision>
  <dcterms:created xsi:type="dcterms:W3CDTF">2026-07-13T02:11:42Z</dcterms:created>
  <dcterms:modified xsi:type="dcterms:W3CDTF">2026-07-13T02:11:42Z</dcterms:modified>
</cp:coreProperties>
</file>