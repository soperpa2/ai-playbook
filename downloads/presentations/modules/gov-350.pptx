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Lst>
  <p:notesMasterIdLst>
    <p:notesMasterId r:id="rId2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notesMaster" Target="notesMasters/notesMaster1.xml"/><Relationship Id="rId26" Type="http://schemas.openxmlformats.org/officeDocument/2006/relationships/presProps" Target="presProps.xml"/><Relationship Id="rId27" Type="http://schemas.openxmlformats.org/officeDocument/2006/relationships/viewProps" Target="viewProps.xml"/><Relationship Id="rId28" Type="http://schemas.openxmlformats.org/officeDocument/2006/relationships/theme" Target="theme/theme1.xml"/><Relationship Id="rId29"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GOV 350 Identity, Access, and Permissions for AI Workflows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Context
Level: intermediate/practitioner
Primary track: Governance and Security Track
Appears in tracks: technical-architecture, governance-and-security, operations-and-data-quality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Playbook Plays
Play 11: Build and Deploy AI Solutions - This lesson informs Play 11 by helping learners connect the lesson topic to build and deploy ai solutions work in the AI Playbook.
Play 1: Vision &amp; Guardrails - This lesson informs Play 1 by helping learners connect the lesson topic to vision &amp; guardrails work in the AI Playbook sequence.
Play 2: Readiness Assessment - This lesson informs Play 2 by helping learners connect the lesson topic to readiness assessment work in the AI Playbook sequence.
Play 3: Establish AI Governance - This lesson informs Play 3 by helping learners connect the lesson topic to establish ai governance work in the AI Playbook sequence.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Related Toolkit Resources
Tool 4: AI Policy Landscape Scan (Worksheet) - Use AI Policy Landscape Scan to translate this lesson into a documented public health AI planning, governance, implementation,.
Tool 5: AI Environmental and Resource Impact Review (Checklist) - Use AI Environmental and Resource Impact Review to translate this lesson into a documented public health AI planning,.
Tool 6: Human-Centered AI Decision Rule Checklist (Checklist) - Use Human-Centered AI Decision Rule Checklist to translate this lesson into a documented public health AI planning, governance,.
Tool 8: AI Project Charter (Planning) - Use AI Project Charter to translate this lesson into a documented public health AI planning, governance, implementation, or.
Tool 9: Data Quality Assessment Checklist (Checklist) - Use this tool to complete or strengthen the practical exercise for the module using fictional, de-identified, or generalized.
Tool 10: Tiered Data Classification for AI Use (Worksheet) - Use this tool to complete or strengthen the practical exercise for the module using fictional, de-identified, or generalized.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Learning Objectives
Explain the difference between user identity, service identity, authentication, authorization, and permissions.
Apply least-privilege principles to AI-supported public health workflows.
Identify access risks for read-only, retrieval, summarization, and write-back AI functions.
Define audit log and approval requirements for AI tools that access sensitive systems or data.
Create an access and permissions review for an AI workflow.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Module Overview
Identity, access, and permissions determine who or what can use data, systems, tools, and actions in an AI-supported workflow. Public health AI workflows may involve staff users, service accounts, APIs, vendors, plugins, agents, dashboards, and systems of record. Without clear access controls, an AI tool may retrieve sensitive data, expose information to unauthorized users, or take actions beyond the approved workflow.
This module teaches technical, governance, and operational staff how to think about access control for AI. It goes beyond general cybersecurity by focusing on how permissions should be designed for AI-supported tasks, especially when tools retrieve data, summarize records, generate outputs, or write back to systems.
Access design should follow least privilege, role-based permissions, auditability, and separation of duties. The goal is to give users and AI services enough access to perform approved tasks while preventing unnecessary exposure, unauthorized action, and hidden data flows.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Jurisdiction and Agency Policy Note
This module provides national-level training guidance for public health agencies and partners. It is not legal advice and does not replace review by agency legal counsel, privacy officers, procurement officials, civil rights staff, records officers, or other authorized decision-makers. Requirements may vary by state, locality, territory, Tribe, agency, funding source, data-sharing agreement, emergency authority, and organizational policy. Learners should use this module to identify the issues that require review and should confirm applicable requirements before approving, procuring, deploying, or publicly communicating about AI-supported work.
Application guidance: Translate this concept into clear decision rights, review steps, documentation expectations, and escalation paths before an AI-supported workflow is approved.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Public Health Example
An AI assistant is approved to summarize case records for authorized disease investigators. The access review determines that the assistant may retrieve only records assigned to the investigator’s program, may not access unrelated program data, may not export records to unapproved systems, and may not write final case notes without human approval. Logs must show which user requested the summary, which record was accessed, and whether the output was saved or discarded.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AI workflows may involve multiple identities. A staff member may log in through single sign-on, an AI service may use a service account to retrieve data, and a vendor system may process a request through an API. Each identity should be documented and tied to specific permissions. Agencies should avoid shared accounts or overly broad service accounts because they make accountability and incident investigation difficult.
Authentication verifies who or what is using the system, but authorization defines what that identity can do. For AI workflows, authorization should be granular enough to distinguish reading data, retrieving documents, generating summaries, creating tasks, sending notifications, and updating records. Write-back permissions should receive stronger review than read-only functions because they can change official records or trigger action.
Least privilege is especially important for AI because tools may process data at scale. A human user may look at one record at a time, but an AI integration may retrieve many records quickly. Permissions should limit data by role, program, jurisdiction, purpose, and workflow where possible. Sensitive data should not be accessible simply because it is technically available.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Technical and Operational Deep Dive
Audit logs should make AI access visible. Logs should capture user identity, service identity, data accessed, action taken, time, output generated, approval status, and errors or exceptions. For agentic workflows, logs should also show tool calls, attempted actions, blocked actions, and human approvals.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Risks and failure modes include the following:
Service accounts with broad access to sensitive data.
AI tools retrieving data unrelated to the approved use case.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Write-back actions occurring without human approval.
Shared accounts preventing accountability.
Insufficient logs to investigate data access or output generation.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Recommended guardrails include the following:
Use role-based and purpose-based access controls.
Apply least privilege to users, service accounts, APIs, and agents.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Risks, Failure Modes, and Guardrails
Require stronger approval for write-back, external transmission, and automated actions.
Avoid shared accounts and undocumented service identities.
Maintain detailed audit logs for AI access and actions.
Application guidance: Identify what could go wrong, who could be affected, what safeguards are needed, and what evidence should be reviewed before use expands.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Where does this topic appear in your agency, program, or workflow?
Which staff roles would need to understand or apply this concept before AI use is approved?
What could go wrong if this topic is not addressed before implementation?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Reflection Questions
What evidence would governance, leadership, or operations staff need before moving forward?
Which policy, data, equity, privacy, security, or workflow questions remain unresolved?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Practical Exercise
Create an identity, access, and permissions review for one AI-supported workflow. Identify users, service accounts, systems, data accessed, read/write permissions, approval points, prohibited actions, audit log requirements, and escalation triggers.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Access and permissions review
List of user and service identities
Least-privilege recommendation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Artifact or Evidence
Write-back approval rules
Audit log requirements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Expected Assignment
Access and permissions review
List of user and service identities
Least-privilege recommendation
Write-back approval rules
Audit log requirements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Knowledge Check
1. What is authorization?
2. Why are service accounts important in AI workflows?
3. What does least privilege mean?
4. Which AI function generally requires stronger safeguards?
5. What is strong completion evidence?
Application guidance: Use the assignment to test whether you can explain the concept, apply it to a realistic public health situation, and identify what would need review before the work moves forward.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NIST Artificial Intelligence Risk Management Framework: https://www.nist.gov/itl/ai-risk-management-framework
NIST Generative AI Profile: https://www.nist.gov/publications/artificial-intelligence-risk-management-framework-generative-artificial-intelligence
CDC Public Health Data Strategy and Data Modernization resources: https://www.cdc.gov/public-health-data-strategy/php/about/index.html
OWASP guidance for LLM application security
Agency policies for privacy, cybersecurity, records, procurement, accessibility, and public communications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References and Resources
Relevant public health program SOPs, data governance documentation, and implementation plans
Application guidance: Use the concept to clarify workflow changes, dependencies, staffing, procurement requirements, training needs, and implementation checkpoints.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FFFFFF"/>
        </a:solidFill>
      </p:bgPr>
    </p:bg>
    <p:spTree>
      <p:nvGrpSpPr>
        <p:cNvPr id="1" name=""/>
        <p:cNvGrpSpPr/>
        <p:nvPr/>
      </p:nvGrpSpPr>
      <p:grpSpPr>
        <a:xfrm>
          <a:off x="0" y="0"/>
          <a:ext cx="0" cy="0"/>
          <a:chOff x="0" y="0"/>
          <a:chExt cx="0" cy="0"/>
        </a:xfrm>
      </p:grpSpPr>
      <p:sp>
        <p:nvSpPr>
          <p:cNvPr id="2" name="Shape 0"/>
          <p:cNvSpPr/>
          <p:nvPr/>
        </p:nvSpPr>
        <p:spPr>
          <a:xfrm>
            <a:off x="0" y="0"/>
            <a:ext cx="12191695" cy="6858000"/>
          </a:xfrm>
          <a:prstGeom prst="rect">
            <a:avLst/>
          </a:prstGeom>
          <a:solidFill>
            <a:srgbClr val="F7FBFD"/>
          </a:solidFill>
          <a:ln w="12700">
            <a:solidFill>
              <a:srgbClr val="F7FBFD"/>
            </a:solidFill>
            <a:prstDash val="solid"/>
          </a:ln>
        </p:spPr>
      </p:sp>
      <p:pic>
        <p:nvPicPr>
          <p:cNvPr id="3" name="Image 0" descr="C:\Users\paula\Documents\Codex\2026-06-30\files-mentioned-by-the-user-ai\outputs\ai-playbook-site\assets\ai-playbook-logo-public-health.png">    </p:cNvPr>
          <p:cNvPicPr>
            <a:picLocks noChangeAspect="1"/>
          </p:cNvPicPr>
          <p:nvPr/>
        </p:nvPicPr>
        <p:blipFill>
          <a:blip r:embed="rId1"/>
          <a:stretch>
            <a:fillRect/>
          </a:stretch>
        </p:blipFill>
        <p:spPr>
          <a:xfrm>
            <a:off x="713232" y="566928"/>
            <a:ext cx="1353312" cy="1353312"/>
          </a:xfrm>
          <a:prstGeom prst="rect">
            <a:avLst/>
          </a:prstGeom>
        </p:spPr>
      </p:pic>
      <p:sp>
        <p:nvSpPr>
          <p:cNvPr id="4" name="Shape 1"/>
          <p:cNvSpPr/>
          <p:nvPr/>
        </p:nvSpPr>
        <p:spPr>
          <a:xfrm>
            <a:off x="713232" y="2240280"/>
            <a:ext cx="10698480" cy="0"/>
          </a:xfrm>
          <a:prstGeom prst="line">
            <a:avLst/>
          </a:prstGeom>
          <a:noFill/>
          <a:ln w="25400">
            <a:solidFill>
              <a:srgbClr val="2F8A28"/>
            </a:solidFill>
            <a:prstDash val="solid"/>
          </a:ln>
        </p:spPr>
      </p:sp>
      <p:sp>
        <p:nvSpPr>
          <p:cNvPr id="5" name="Text 2"/>
          <p:cNvSpPr/>
          <p:nvPr/>
        </p:nvSpPr>
        <p:spPr>
          <a:xfrm>
            <a:off x="749808" y="2487168"/>
            <a:ext cx="2926080" cy="274320"/>
          </a:xfrm>
          <a:prstGeom prst="rect">
            <a:avLst/>
          </a:prstGeom>
          <a:noFill/>
          <a:ln/>
        </p:spPr>
        <p:txBody>
          <a:bodyPr wrap="square" lIns="0" tIns="0" rIns="0" bIns="0" rtlCol="0" anchor="ctr"/>
          <a:lstStyle/>
          <a:p>
            <a:pPr indent="0" marL="0">
              <a:buNone/>
            </a:pPr>
            <a:r>
              <a:rPr lang="en-US" sz="1400" b="1" dirty="0">
                <a:solidFill>
                  <a:srgbClr val="2F8A28"/>
                </a:solidFill>
                <a:latin typeface="Aptos" pitchFamily="34" charset="0"/>
                <a:ea typeface="Aptos" pitchFamily="34" charset="-122"/>
                <a:cs typeface="Aptos" pitchFamily="34" charset="-120"/>
              </a:rPr>
              <a:t>GOV 350</a:t>
            </a:r>
            <a:endParaRPr lang="en-US" sz="1400" dirty="0"/>
          </a:p>
        </p:txBody>
      </p:sp>
      <p:sp>
        <p:nvSpPr>
          <p:cNvPr id="6" name="Text 3"/>
          <p:cNvSpPr/>
          <p:nvPr/>
        </p:nvSpPr>
        <p:spPr>
          <a:xfrm>
            <a:off x="713232" y="2816352"/>
            <a:ext cx="10607040" cy="868680"/>
          </a:xfrm>
          <a:prstGeom prst="rect">
            <a:avLst/>
          </a:prstGeom>
          <a:noFill/>
          <a:ln/>
        </p:spPr>
        <p:txBody>
          <a:bodyPr wrap="square" lIns="0" tIns="0" rIns="0" bIns="0" rtlCol="0" anchor="ctr">
            <a:normAutofit/>
          </a:bodyPr>
          <a:lstStyle/>
          <a:p>
            <a:pPr indent="0" marL="0">
              <a:buNone/>
            </a:pPr>
            <a:r>
              <a:rPr lang="en-US" sz="3200" b="1" dirty="0">
                <a:solidFill>
                  <a:srgbClr val="003A63"/>
                </a:solidFill>
                <a:latin typeface="Aptos Display" pitchFamily="34" charset="0"/>
                <a:ea typeface="Aptos Display" pitchFamily="34" charset="-122"/>
                <a:cs typeface="Aptos Display" pitchFamily="34" charset="-120"/>
              </a:rPr>
              <a:t>Identity, Access, and Permissions for AI Workflows</a:t>
            </a:r>
            <a:endParaRPr lang="en-US" sz="3200" dirty="0"/>
          </a:p>
        </p:txBody>
      </p:sp>
      <p:sp>
        <p:nvSpPr>
          <p:cNvPr id="7" name="Text 4"/>
          <p:cNvSpPr/>
          <p:nvPr/>
        </p:nvSpPr>
        <p:spPr>
          <a:xfrm>
            <a:off x="749808" y="3968496"/>
            <a:ext cx="8686800" cy="320040"/>
          </a:xfrm>
          <a:prstGeom prst="rect">
            <a:avLst/>
          </a:prstGeom>
          <a:noFill/>
          <a:ln/>
        </p:spPr>
        <p:txBody>
          <a:bodyPr wrap="square" lIns="0" tIns="0" rIns="0" bIns="0" rtlCol="0" anchor="ctr"/>
          <a:lstStyle/>
          <a:p>
            <a:pPr indent="0" marL="0">
              <a:buNone/>
            </a:pPr>
            <a:r>
              <a:rPr lang="en-US" sz="1800" dirty="0">
                <a:solidFill>
                  <a:srgbClr val="17364A"/>
                </a:solidFill>
                <a:latin typeface="Aptos" pitchFamily="34" charset="0"/>
                <a:ea typeface="Aptos" pitchFamily="34" charset="-122"/>
                <a:cs typeface="Aptos" pitchFamily="34" charset="-120"/>
              </a:rPr>
              <a:t>AI Playbook and Toolkit for Public Health Departments</a:t>
            </a:r>
            <a:endParaRPr lang="en-US" sz="1800" dirty="0"/>
          </a:p>
        </p:txBody>
      </p:sp>
      <p:sp>
        <p:nvSpPr>
          <p:cNvPr id="8"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a:t>
            </a:r>
            <a:endParaRPr lang="en-US" sz="9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What this module helps you do</a:t>
            </a:r>
            <a:endParaRPr lang="en-US" sz="3400" dirty="0"/>
          </a:p>
        </p:txBody>
      </p:sp>
      <p:sp>
        <p:nvSpPr>
          <p:cNvPr id="9" name="Text 7"/>
          <p:cNvSpPr/>
          <p:nvPr/>
        </p:nvSpPr>
        <p:spPr>
          <a:xfrm>
            <a:off x="868680" y="1508760"/>
            <a:ext cx="6446520" cy="292608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 systems, tools,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 vendors, plugins,.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 expose information to.</a:t>
            </a:r>
            <a:endParaRPr lang="en-US" sz="2100" dirty="0"/>
          </a:p>
        </p:txBody>
      </p:sp>
      <p:sp>
        <p:nvSpPr>
          <p:cNvPr id="10" name="Shape 8"/>
          <p:cNvSpPr/>
          <p:nvPr/>
        </p:nvSpPr>
        <p:spPr>
          <a:xfrm>
            <a:off x="7909560" y="1417320"/>
            <a:ext cx="3154680" cy="1920240"/>
          </a:xfrm>
          <a:prstGeom prst="roundRect">
            <a:avLst>
              <a:gd name="adj" fmla="val 5714"/>
            </a:avLst>
          </a:prstGeom>
          <a:solidFill>
            <a:srgbClr val="EAF6F8"/>
          </a:solidFill>
          <a:ln w="12700">
            <a:solidFill>
              <a:srgbClr val="B9D7E6"/>
            </a:solidFill>
            <a:prstDash val="solid"/>
          </a:ln>
        </p:spPr>
      </p:sp>
      <p:sp>
        <p:nvSpPr>
          <p:cNvPr id="11" name="Text 9"/>
          <p:cNvSpPr/>
          <p:nvPr/>
        </p:nvSpPr>
        <p:spPr>
          <a:xfrm>
            <a:off x="8074152" y="1563624"/>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Module details</a:t>
            </a:r>
            <a:endParaRPr lang="en-US" sz="1300" dirty="0"/>
          </a:p>
        </p:txBody>
      </p:sp>
      <p:sp>
        <p:nvSpPr>
          <p:cNvPr id="12" name="Text 10"/>
          <p:cNvSpPr/>
          <p:nvPr/>
        </p:nvSpPr>
        <p:spPr>
          <a:xfrm>
            <a:off x="8074152" y="1892808"/>
            <a:ext cx="2825496" cy="135331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Level: intermediate/practitioner Primary track: Governance and Security Track Appears in tracks: technical-architecture, governance-and-security, operations-and-data-quality</a:t>
            </a:r>
            <a:endParaRPr lang="en-US" sz="1320" dirty="0"/>
          </a:p>
        </p:txBody>
      </p:sp>
      <p:sp>
        <p:nvSpPr>
          <p:cNvPr id="13" name="Shape 11"/>
          <p:cNvSpPr/>
          <p:nvPr/>
        </p:nvSpPr>
        <p:spPr>
          <a:xfrm>
            <a:off x="7909560" y="3675888"/>
            <a:ext cx="3154680" cy="1691640"/>
          </a:xfrm>
          <a:prstGeom prst="roundRect">
            <a:avLst>
              <a:gd name="adj" fmla="val 6486"/>
            </a:avLst>
          </a:prstGeom>
          <a:solidFill>
            <a:srgbClr val="FFFFFF"/>
          </a:solidFill>
          <a:ln w="12700">
            <a:solidFill>
              <a:srgbClr val="B9D7E6"/>
            </a:solidFill>
            <a:prstDash val="solid"/>
          </a:ln>
        </p:spPr>
      </p:sp>
      <p:sp>
        <p:nvSpPr>
          <p:cNvPr id="14" name="Text 12"/>
          <p:cNvSpPr/>
          <p:nvPr/>
        </p:nvSpPr>
        <p:spPr>
          <a:xfrm>
            <a:off x="8074152" y="3822192"/>
            <a:ext cx="282549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Learning sequence</a:t>
            </a:r>
            <a:endParaRPr lang="en-US" sz="1300" dirty="0"/>
          </a:p>
        </p:txBody>
      </p:sp>
      <p:sp>
        <p:nvSpPr>
          <p:cNvPr id="15" name="Text 13"/>
          <p:cNvSpPr/>
          <p:nvPr/>
        </p:nvSpPr>
        <p:spPr>
          <a:xfrm>
            <a:off x="8092440" y="4187952"/>
            <a:ext cx="2770632" cy="103327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Read the module for shared vocabulary and context.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Complete the practical exercise to apply the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the notes and references for deeper review.</a:t>
            </a:r>
            <a:endParaRPr lang="en-US" sz="122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How this module connects to the playbook</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900" dirty="0">
                <a:solidFill>
                  <a:srgbClr val="003A63"/>
                </a:solidFill>
                <a:latin typeface="Aptos" pitchFamily="34" charset="0"/>
                <a:ea typeface="Aptos" pitchFamily="34" charset="-122"/>
                <a:cs typeface="Aptos" pitchFamily="34" charset="-120"/>
              </a:rPr>
              <a:t>• Play 11: Build and Deploy AI Solutions - This lesson informs Play 11 by helping learners.</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1: Vision &amp; Guardrails - This lesson informs Play 1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2: Readiness Assessment - This lesson informs Play 2 by helping learners connect the.</a:t>
            </a:r>
            <a:endParaRPr lang="en-US" sz="1900" dirty="0"/>
          </a:p>
          <a:p>
            <a:pPr indent="0" marL="0">
              <a:buNone/>
            </a:pPr>
            <a:r>
              <a:rPr lang="en-US" sz="1900" dirty="0">
                <a:solidFill>
                  <a:srgbClr val="003A63"/>
                </a:solidFill>
                <a:latin typeface="Aptos" pitchFamily="34" charset="0"/>
                <a:ea typeface="Aptos" pitchFamily="34" charset="-122"/>
                <a:cs typeface="Aptos" pitchFamily="34" charset="-120"/>
              </a:rPr>
              <a:t>• Play 3: Establish AI Governance - This lesson informs Play 3 by helping learners connect the.</a:t>
            </a:r>
            <a:endParaRPr lang="en-US" sz="1900" dirty="0"/>
          </a:p>
        </p:txBody>
      </p:sp>
      <p:sp>
        <p:nvSpPr>
          <p:cNvPr id="10" name="Shape 8"/>
          <p:cNvSpPr/>
          <p:nvPr/>
        </p:nvSpPr>
        <p:spPr>
          <a:xfrm>
            <a:off x="8046720" y="1417320"/>
            <a:ext cx="3063240" cy="2103120"/>
          </a:xfrm>
          <a:prstGeom prst="roundRect">
            <a:avLst>
              <a:gd name="adj" fmla="val 5217"/>
            </a:avLst>
          </a:prstGeom>
          <a:solidFill>
            <a:srgbClr val="EEF8ED"/>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Apply the lesson</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related plays to identify decisions, participants, timing, approvals, and documentation needed for responsible implementation.</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play links to</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Locate the decision point in the playbook sequence.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who should participate in the 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Document the review, approval, or implementation step.</a:t>
            </a:r>
            <a:endParaRPr lang="en-US" sz="122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Related toolkit resources</a:t>
            </a:r>
            <a:endParaRPr lang="en-US" sz="3400" dirty="0"/>
          </a:p>
        </p:txBody>
      </p:sp>
      <p:sp>
        <p:nvSpPr>
          <p:cNvPr id="9" name="Text 7"/>
          <p:cNvSpPr/>
          <p:nvPr/>
        </p:nvSpPr>
        <p:spPr>
          <a:xfrm>
            <a:off x="868680" y="1508760"/>
            <a:ext cx="6812280" cy="3977640"/>
          </a:xfrm>
          <a:prstGeom prst="rect">
            <a:avLst/>
          </a:prstGeom>
          <a:noFill/>
          <a:ln/>
        </p:spPr>
        <p:txBody>
          <a:bodyPr wrap="square" lIns="1016" tIns="1016" rIns="1016" bIns="1016" rtlCol="0" anchor="t">
            <a:normAutofit/>
          </a:bodyPr>
          <a:lstStyle/>
          <a:p>
            <a:pPr indent="0" marL="0">
              <a:buNone/>
            </a:pPr>
            <a:r>
              <a:rPr lang="en-US" sz="1850" dirty="0">
                <a:solidFill>
                  <a:srgbClr val="003A63"/>
                </a:solidFill>
                <a:latin typeface="Aptos" pitchFamily="34" charset="0"/>
                <a:ea typeface="Aptos" pitchFamily="34" charset="-122"/>
                <a:cs typeface="Aptos" pitchFamily="34" charset="-120"/>
              </a:rPr>
              <a:t>• Tool 4: AI Policy Landscape Scan (Worksheet) - Use AI Policy Landscape Scan to translate this.</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5: AI Environmental and Resource Impact Review (Checklist) - Use AI Environmental and.</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6: Human-Centered AI Decision Rule Checklist (Checklist) - Use Human-Centered AI Decision.</a:t>
            </a:r>
            <a:endParaRPr lang="en-US" sz="1850" dirty="0"/>
          </a:p>
          <a:p>
            <a:pPr indent="0" marL="0">
              <a:buNone/>
            </a:pPr>
            <a:r>
              <a:rPr lang="en-US" sz="1850" dirty="0">
                <a:solidFill>
                  <a:srgbClr val="003A63"/>
                </a:solidFill>
                <a:latin typeface="Aptos" pitchFamily="34" charset="0"/>
                <a:ea typeface="Aptos" pitchFamily="34" charset="-122"/>
                <a:cs typeface="Aptos" pitchFamily="34" charset="-120"/>
              </a:rPr>
              <a:t>• Tool 8: AI Project Charter (Planning) - Use AI Project Charter to translate this lesson into a.</a:t>
            </a:r>
            <a:endParaRPr lang="en-US" sz="1850" dirty="0"/>
          </a:p>
        </p:txBody>
      </p:sp>
      <p:sp>
        <p:nvSpPr>
          <p:cNvPr id="10" name="Shape 8"/>
          <p:cNvSpPr/>
          <p:nvPr/>
        </p:nvSpPr>
        <p:spPr>
          <a:xfrm>
            <a:off x="8046720" y="1417320"/>
            <a:ext cx="3063240" cy="2103120"/>
          </a:xfrm>
          <a:prstGeom prst="roundRect">
            <a:avLst>
              <a:gd name="adj" fmla="val 5217"/>
            </a:avLst>
          </a:prstGeom>
          <a:solidFill>
            <a:srgbClr val="EAF6F8"/>
          </a:solidFill>
          <a:ln w="12700">
            <a:solidFill>
              <a:srgbClr val="B9D7E6"/>
            </a:solidFill>
            <a:prstDash val="solid"/>
          </a:ln>
        </p:spPr>
      </p:sp>
      <p:sp>
        <p:nvSpPr>
          <p:cNvPr id="11" name="Text 9"/>
          <p:cNvSpPr/>
          <p:nvPr/>
        </p:nvSpPr>
        <p:spPr>
          <a:xfrm>
            <a:off x="8211312" y="156362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Use the tools</a:t>
            </a:r>
            <a:endParaRPr lang="en-US" sz="1300" dirty="0"/>
          </a:p>
        </p:txBody>
      </p:sp>
      <p:sp>
        <p:nvSpPr>
          <p:cNvPr id="12" name="Text 10"/>
          <p:cNvSpPr/>
          <p:nvPr/>
        </p:nvSpPr>
        <p:spPr>
          <a:xfrm>
            <a:off x="8211312" y="1892808"/>
            <a:ext cx="2734056" cy="1536192"/>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linked tools when your department needs a structured worksheet, template, checklist, review process, or documentation artifact.</a:t>
            </a:r>
            <a:endParaRPr lang="en-US" sz="1320" dirty="0"/>
          </a:p>
        </p:txBody>
      </p:sp>
      <p:sp>
        <p:nvSpPr>
          <p:cNvPr id="13" name="Shape 11"/>
          <p:cNvSpPr/>
          <p:nvPr/>
        </p:nvSpPr>
        <p:spPr>
          <a:xfrm>
            <a:off x="8046720" y="3794760"/>
            <a:ext cx="3063240" cy="1600200"/>
          </a:xfrm>
          <a:prstGeom prst="roundRect">
            <a:avLst>
              <a:gd name="adj" fmla="val 6857"/>
            </a:avLst>
          </a:prstGeom>
          <a:solidFill>
            <a:srgbClr val="FFFFFF"/>
          </a:solidFill>
          <a:ln w="12700">
            <a:solidFill>
              <a:srgbClr val="B9D7E6"/>
            </a:solidFill>
            <a:prstDash val="solid"/>
          </a:ln>
        </p:spPr>
      </p:sp>
      <p:sp>
        <p:nvSpPr>
          <p:cNvPr id="14" name="Text 12"/>
          <p:cNvSpPr/>
          <p:nvPr/>
        </p:nvSpPr>
        <p:spPr>
          <a:xfrm>
            <a:off x="8211312" y="3941064"/>
            <a:ext cx="273405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Tool selection cues</a:t>
            </a:r>
            <a:endParaRPr lang="en-US" sz="1300" dirty="0"/>
          </a:p>
        </p:txBody>
      </p:sp>
      <p:sp>
        <p:nvSpPr>
          <p:cNvPr id="15" name="Text 13"/>
          <p:cNvSpPr/>
          <p:nvPr/>
        </p:nvSpPr>
        <p:spPr>
          <a:xfrm>
            <a:off x="8229600" y="4306824"/>
            <a:ext cx="2679192" cy="941832"/>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Use a tool when no comparable local process exists.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Adapt existing department templates when they already fit the.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Save the completed artifact as evidence of the decision.</a:t>
            </a:r>
            <a:endParaRPr lang="en-US" sz="122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Learning Objectives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Explain the difference between user identity, service identity, authentication, authorization,.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least-privilege principles to AI-supported public health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access risks for read-only, retrieval, summarization, and write-back AI functions.</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Explain the difference between user identity, service identity, authentication, authorization, and.</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64815"/>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230575"/>
            <a:ext cx="3090672" cy="670255"/>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Explain the difference between user identity, service identity,.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Define audit log and approval requirements for AI tools that.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Create an access and permissions review for an AI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Module Overview</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Identity, access, and permissions determine who or what can use data, systems, tools, and.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Public health AI workflows may involve staff users, service accounts, APIs, vendors, plugins,.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Without clear access controls, an AI tool may retrieve sensitive data, expose information to.</a:t>
            </a:r>
            <a:endParaRPr lang="en-US" sz="2100" dirty="0"/>
          </a:p>
        </p:txBody>
      </p:sp>
      <p:sp>
        <p:nvSpPr>
          <p:cNvPr id="10" name="Shape 8"/>
          <p:cNvSpPr/>
          <p:nvPr/>
        </p:nvSpPr>
        <p:spPr>
          <a:xfrm>
            <a:off x="7635240" y="1325880"/>
            <a:ext cx="3474720" cy="1255471"/>
          </a:xfrm>
          <a:prstGeom prst="roundRect">
            <a:avLst>
              <a:gd name="adj" fmla="val 8740"/>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Identity, access, and permissions determine who or what can use data, systems, tools, and actions in an.</a:t>
            </a:r>
            <a:endParaRPr lang="en-US" sz="1320" dirty="0"/>
          </a:p>
        </p:txBody>
      </p:sp>
      <p:sp>
        <p:nvSpPr>
          <p:cNvPr id="13" name="Shape 11"/>
          <p:cNvSpPr/>
          <p:nvPr/>
        </p:nvSpPr>
        <p:spPr>
          <a:xfrm>
            <a:off x="7635240" y="2718511"/>
            <a:ext cx="3474720" cy="1328623"/>
          </a:xfrm>
          <a:prstGeom prst="roundRect">
            <a:avLst>
              <a:gd name="adj" fmla="val 8259"/>
            </a:avLst>
          </a:prstGeom>
          <a:solidFill>
            <a:srgbClr val="FFFFFF"/>
          </a:solidFill>
          <a:ln w="12700">
            <a:solidFill>
              <a:srgbClr val="B9D7E6"/>
            </a:solidFill>
            <a:prstDash val="solid"/>
          </a:ln>
        </p:spPr>
      </p:sp>
      <p:sp>
        <p:nvSpPr>
          <p:cNvPr id="14" name="Text 12"/>
          <p:cNvSpPr/>
          <p:nvPr/>
        </p:nvSpPr>
        <p:spPr>
          <a:xfrm>
            <a:off x="7799832" y="2846527"/>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99739"/>
            <a:ext cx="164592" cy="0"/>
          </a:xfrm>
          <a:prstGeom prst="line">
            <a:avLst/>
          </a:prstGeom>
          <a:noFill/>
          <a:ln w="15240">
            <a:solidFill>
              <a:srgbClr val="8ABBD8"/>
            </a:solidFill>
            <a:prstDash val="solid"/>
          </a:ln>
        </p:spPr>
      </p:sp>
      <p:sp>
        <p:nvSpPr>
          <p:cNvPr id="16" name="Shape 14"/>
          <p:cNvSpPr/>
          <p:nvPr/>
        </p:nvSpPr>
        <p:spPr>
          <a:xfrm>
            <a:off x="7872984" y="3248863"/>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99739"/>
            <a:ext cx="164592" cy="0"/>
          </a:xfrm>
          <a:prstGeom prst="line">
            <a:avLst/>
          </a:prstGeom>
          <a:noFill/>
          <a:ln w="15240">
            <a:solidFill>
              <a:srgbClr val="8ABBD8"/>
            </a:solidFill>
            <a:prstDash val="solid"/>
          </a:ln>
        </p:spPr>
      </p:sp>
      <p:sp>
        <p:nvSpPr>
          <p:cNvPr id="19" name="Shape 17"/>
          <p:cNvSpPr/>
          <p:nvPr/>
        </p:nvSpPr>
        <p:spPr>
          <a:xfrm>
            <a:off x="8927592" y="3248863"/>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48863"/>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322015"/>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742639"/>
            <a:ext cx="3035808" cy="158191"/>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Jurisdiction and Agency Policy Note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This module provides national-level training guidance for public health agencies and partners.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It is not legal advice and does not replace review by agency legal counsel, privacy officers,.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Requirements may vary by state, locality, territory, Tribe, agency, funding source,.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Governance lens</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This module provides national-level training guidance for public health agencies and.</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Governance pathway</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Submit</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Review</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Oversee</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A proposed AI use should move through documented review before it becomes an operational workflow.</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What to document</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Translate this concept into clear decision rights, review steps, documentation expectations, and escalation paths before an AI-supported workflow is approved.</a:t>
            </a:r>
            <a:endParaRPr lang="en-US" sz="132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Public Health Example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An AI assistant is approved to summarize case records for authorized disease investigators.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The access review determines that the assistant may retrieve only records assigned to the.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Logs must show which user requested the summary, which record was accessed, and whether the.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An AI assistant is approved to summarize case records for authorized disease.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The access review determines that the assistant may retrieve only.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Logs must show which user requested the summary, which record was.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AI workflows may involve multiple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 staff member may log in through single sign-on, an AI service may use a service account to.</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Each identity should be documented and tied to specific permissions.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AI workflows may involve multiple identities.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798064"/>
            <a:ext cx="3145536" cy="237744"/>
          </a:xfrm>
          <a:prstGeom prst="rect">
            <a:avLst/>
          </a:prstGeom>
          <a:noFill/>
          <a:ln/>
        </p:spPr>
        <p:txBody>
          <a:bodyPr wrap="square" lIns="0" tIns="0" rIns="0" bIns="0" rtlCol="0" anchor="ctr"/>
          <a:lstStyle/>
          <a:p>
            <a:pPr indent="0" marL="0">
              <a:buNone/>
            </a:pPr>
            <a:r>
              <a:rPr lang="en-US" sz="1250" b="1" dirty="0">
                <a:solidFill>
                  <a:srgbClr val="0068B7"/>
                </a:solidFill>
                <a:latin typeface="Aptos" pitchFamily="34" charset="0"/>
                <a:ea typeface="Aptos" pitchFamily="34" charset="-122"/>
                <a:cs typeface="Aptos" pitchFamily="34" charset="-120"/>
              </a:rPr>
              <a:t>Implementation path</a:t>
            </a:r>
            <a:endParaRPr lang="en-US" sz="1250" dirty="0"/>
          </a:p>
        </p:txBody>
      </p:sp>
      <p:sp>
        <p:nvSpPr>
          <p:cNvPr id="15" name="Shape 13"/>
          <p:cNvSpPr/>
          <p:nvPr/>
        </p:nvSpPr>
        <p:spPr>
          <a:xfrm>
            <a:off x="8763000" y="3351276"/>
            <a:ext cx="164592" cy="0"/>
          </a:xfrm>
          <a:prstGeom prst="line">
            <a:avLst/>
          </a:prstGeom>
          <a:noFill/>
          <a:ln w="15240">
            <a:solidFill>
              <a:srgbClr val="8ABBD8"/>
            </a:solidFill>
            <a:prstDash val="solid"/>
          </a:ln>
        </p:spPr>
      </p:sp>
      <p:sp>
        <p:nvSpPr>
          <p:cNvPr id="16" name="Shape 14"/>
          <p:cNvSpPr/>
          <p:nvPr/>
        </p:nvSpPr>
        <p:spPr>
          <a:xfrm>
            <a:off x="7872984" y="3200400"/>
            <a:ext cx="890016" cy="301752"/>
          </a:xfrm>
          <a:prstGeom prst="roundRect">
            <a:avLst>
              <a:gd name="adj" fmla="val 24242"/>
            </a:avLst>
          </a:prstGeom>
          <a:solidFill>
            <a:srgbClr val="0068B7"/>
          </a:solidFill>
          <a:ln w="12700">
            <a:solidFill>
              <a:srgbClr val="0068B7"/>
            </a:solidFill>
            <a:prstDash val="solid"/>
          </a:ln>
        </p:spPr>
      </p:sp>
      <p:sp>
        <p:nvSpPr>
          <p:cNvPr id="17" name="Text 15"/>
          <p:cNvSpPr/>
          <p:nvPr/>
        </p:nvSpPr>
        <p:spPr>
          <a:xfrm>
            <a:off x="7909560"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Need</a:t>
            </a:r>
            <a:endParaRPr lang="en-US" sz="880" dirty="0"/>
          </a:p>
        </p:txBody>
      </p:sp>
      <p:sp>
        <p:nvSpPr>
          <p:cNvPr id="18" name="Shape 16"/>
          <p:cNvSpPr/>
          <p:nvPr/>
        </p:nvSpPr>
        <p:spPr>
          <a:xfrm>
            <a:off x="9817608" y="3351276"/>
            <a:ext cx="164592" cy="0"/>
          </a:xfrm>
          <a:prstGeom prst="line">
            <a:avLst/>
          </a:prstGeom>
          <a:noFill/>
          <a:ln w="15240">
            <a:solidFill>
              <a:srgbClr val="8ABBD8"/>
            </a:solidFill>
            <a:prstDash val="solid"/>
          </a:ln>
        </p:spPr>
      </p:sp>
      <p:sp>
        <p:nvSpPr>
          <p:cNvPr id="19" name="Shape 17"/>
          <p:cNvSpPr/>
          <p:nvPr/>
        </p:nvSpPr>
        <p:spPr>
          <a:xfrm>
            <a:off x="8927592" y="3200400"/>
            <a:ext cx="890016" cy="301752"/>
          </a:xfrm>
          <a:prstGeom prst="roundRect">
            <a:avLst>
              <a:gd name="adj" fmla="val 24242"/>
            </a:avLst>
          </a:prstGeom>
          <a:solidFill>
            <a:srgbClr val="2F8A28"/>
          </a:solidFill>
          <a:ln w="12700">
            <a:solidFill>
              <a:srgbClr val="2F8A28"/>
            </a:solidFill>
            <a:prstDash val="solid"/>
          </a:ln>
        </p:spPr>
      </p:sp>
      <p:sp>
        <p:nvSpPr>
          <p:cNvPr id="20" name="Text 18"/>
          <p:cNvSpPr/>
          <p:nvPr/>
        </p:nvSpPr>
        <p:spPr>
          <a:xfrm>
            <a:off x="8964168"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Build</a:t>
            </a:r>
            <a:endParaRPr lang="en-US" sz="880" dirty="0"/>
          </a:p>
        </p:txBody>
      </p:sp>
      <p:sp>
        <p:nvSpPr>
          <p:cNvPr id="21" name="Shape 19"/>
          <p:cNvSpPr/>
          <p:nvPr/>
        </p:nvSpPr>
        <p:spPr>
          <a:xfrm>
            <a:off x="9982200" y="3200400"/>
            <a:ext cx="890016" cy="301752"/>
          </a:xfrm>
          <a:prstGeom prst="roundRect">
            <a:avLst>
              <a:gd name="adj" fmla="val 24242"/>
            </a:avLst>
          </a:prstGeom>
          <a:solidFill>
            <a:srgbClr val="6A4CA3"/>
          </a:solidFill>
          <a:ln w="12700">
            <a:solidFill>
              <a:srgbClr val="6A4CA3"/>
            </a:solidFill>
            <a:prstDash val="solid"/>
          </a:ln>
        </p:spPr>
      </p:sp>
      <p:sp>
        <p:nvSpPr>
          <p:cNvPr id="22" name="Text 20"/>
          <p:cNvSpPr/>
          <p:nvPr/>
        </p:nvSpPr>
        <p:spPr>
          <a:xfrm>
            <a:off x="10018776" y="3273552"/>
            <a:ext cx="816864" cy="146304"/>
          </a:xfrm>
          <a:prstGeom prst="rect">
            <a:avLst/>
          </a:prstGeom>
          <a:noFill/>
          <a:ln/>
        </p:spPr>
        <p:txBody>
          <a:bodyPr wrap="square" lIns="0" tIns="0" rIns="0" bIns="0" rtlCol="0" anchor="ctr">
            <a:normAutofit/>
          </a:bodyPr>
          <a:lstStyle/>
          <a:p>
            <a:pPr algn="ctr" indent="0" marL="0">
              <a:buNone/>
            </a:pPr>
            <a:r>
              <a:rPr lang="en-US" sz="880" b="1" dirty="0">
                <a:solidFill>
                  <a:srgbClr val="FFFFFF"/>
                </a:solidFill>
                <a:latin typeface="Aptos" pitchFamily="34" charset="0"/>
                <a:ea typeface="Aptos" pitchFamily="34" charset="-122"/>
                <a:cs typeface="Aptos" pitchFamily="34" charset="-120"/>
              </a:rPr>
              <a:t>Adopt</a:t>
            </a:r>
            <a:endParaRPr lang="en-US" sz="880" dirty="0"/>
          </a:p>
        </p:txBody>
      </p:sp>
      <p:sp>
        <p:nvSpPr>
          <p:cNvPr id="23" name="Text 21"/>
          <p:cNvSpPr/>
          <p:nvPr/>
        </p:nvSpPr>
        <p:spPr>
          <a:xfrm>
            <a:off x="7854696" y="3694176"/>
            <a:ext cx="3035808" cy="206654"/>
          </a:xfrm>
          <a:prstGeom prst="rect">
            <a:avLst/>
          </a:prstGeom>
          <a:noFill/>
          <a:ln/>
        </p:spPr>
        <p:txBody>
          <a:bodyPr wrap="square" lIns="254" tIns="254" rIns="254" bIns="254" rtlCol="0" anchor="t">
            <a:normAutofit/>
          </a:bodyPr>
          <a:lstStyle/>
          <a:p>
            <a:pPr indent="0" marL="0">
              <a:buNone/>
            </a:pPr>
            <a:r>
              <a:rPr lang="en-US" sz="1120" dirty="0">
                <a:solidFill>
                  <a:srgbClr val="17364A"/>
                </a:solidFill>
                <a:latin typeface="Aptos" pitchFamily="34" charset="0"/>
                <a:ea typeface="Aptos" pitchFamily="34" charset="-122"/>
                <a:cs typeface="Aptos" pitchFamily="34" charset="-120"/>
              </a:rPr>
              <a:t>Implementation work should make dependencies, approvals, training, and sustainment visible before launch.</a:t>
            </a:r>
            <a:endParaRPr lang="en-US" sz="1120" dirty="0"/>
          </a:p>
        </p:txBody>
      </p:sp>
      <p:sp>
        <p:nvSpPr>
          <p:cNvPr id="24" name="Shape 22"/>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25" name="Text 23"/>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26" name="Text 24"/>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Technical and Operational Deep Dive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Audit logs should make AI access visible.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Logs should capture user identity, service identity, data accessed, action taken, time, output.</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For agentic workflows, logs should also show tool calls, attempted actions, blocked actions,.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Audit logs should make AI access visible.</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Logs should capture user identity, service identity,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For agentic workflows, logs should also show tool calls, attempted.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Risks and failure modes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Service accounts with broad access to sensitive data.</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AI tools retrieving data unrelated to the approved use case.</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Risks and failure modes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Risks and failure modes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Service accounts with broad access to sensitive data.</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AI tools retrieving data unrelated to the approved use case.</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actions occurring without human approval.</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Shared accounts preventing accountability.</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Insufficient logs to investigate data access or output generation.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actions occurring without human approval.</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actions occurring without human approval.</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Shared accounts preventing accountability.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Insufficient logs to investigate data access or output generation.</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Recommended guardrails include the following:</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Use role-based and purpose-based access controls.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Apply least privilege to users, service accounts, APIs, and agents.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Recommended guardrails include the following:</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Recommended guardrails include the following:</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Use role-based and purpose-based access controls.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Apply least privilege to users, service accounts, APIs, and agents.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14</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Risks, Failure Modes, and Guardrails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Require stronger approval for write-back, external transmission, and automated actions.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Avoid shared accounts and undocumented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Maintain detailed audit logs for AI access and actions.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Risk check</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Require stronger approval for write-back, external transmission, and automated actions.</a:t>
            </a:r>
            <a:endParaRPr lang="en-US" sz="1320" dirty="0"/>
          </a:p>
        </p:txBody>
      </p:sp>
      <p:sp>
        <p:nvSpPr>
          <p:cNvPr id="13" name="Shape 11"/>
          <p:cNvSpPr/>
          <p:nvPr/>
        </p:nvSpPr>
        <p:spPr>
          <a:xfrm>
            <a:off x="7635240" y="2670048"/>
            <a:ext cx="3474720" cy="1536192"/>
          </a:xfrm>
          <a:prstGeom prst="roundRect">
            <a:avLst>
              <a:gd name="adj" fmla="val 7143"/>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877824"/>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Require stronger approval for write-back, external transmission,.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Avoid shared accounts and undocumented service identities.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Maintain detailed audit logs for AI access and actions.</a:t>
            </a:r>
            <a:endParaRPr lang="en-US" sz="1220" dirty="0"/>
          </a:p>
        </p:txBody>
      </p:sp>
      <p:sp>
        <p:nvSpPr>
          <p:cNvPr id="16" name="Shape 14"/>
          <p:cNvSpPr/>
          <p:nvPr/>
        </p:nvSpPr>
        <p:spPr>
          <a:xfrm>
            <a:off x="7635240" y="4343400"/>
            <a:ext cx="3474720" cy="1255471"/>
          </a:xfrm>
          <a:prstGeom prst="roundRect">
            <a:avLst>
              <a:gd name="adj" fmla="val 8740"/>
            </a:avLst>
          </a:prstGeom>
          <a:solidFill>
            <a:srgbClr val="EAF6F8"/>
          </a:solidFill>
          <a:ln w="12700">
            <a:solidFill>
              <a:srgbClr val="B9D7E6"/>
            </a:solidFill>
            <a:prstDash val="solid"/>
          </a:ln>
        </p:spPr>
      </p:sp>
      <p:sp>
        <p:nvSpPr>
          <p:cNvPr id="17" name="Text 15"/>
          <p:cNvSpPr/>
          <p:nvPr/>
        </p:nvSpPr>
        <p:spPr>
          <a:xfrm>
            <a:off x="7799832" y="448970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Safeguard to plan</a:t>
            </a:r>
            <a:endParaRPr lang="en-US" sz="1300" dirty="0"/>
          </a:p>
        </p:txBody>
      </p:sp>
      <p:sp>
        <p:nvSpPr>
          <p:cNvPr id="18" name="Text 16"/>
          <p:cNvSpPr/>
          <p:nvPr/>
        </p:nvSpPr>
        <p:spPr>
          <a:xfrm>
            <a:off x="7799832" y="4818888"/>
            <a:ext cx="3145536" cy="688543"/>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Identify what could go wrong, who could be affected, what safeguards are needed, and what evidence should be reviewed before use.</a:t>
            </a:r>
            <a:endParaRPr lang="en-US" sz="132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15</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Where does this topic appear in your agency, program, or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staff roles would need to understand or apply this concept before AI use is approved?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What could go wrong if this topic is not addressed before implementation?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Where does this topic appear in your agency, program, or workflow?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staff roles would need to understand or apply this concept.</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could go wrong if this topic is not addressed before.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16</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Reflection Questions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What evidence would governance, leadership, or operations staff need before moving forward?</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Which policy, data, equity, privacy, security, or workflow questions remain unresolved?</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What evidence would governance, leadership, or operations staff need before moving.</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What evidence would governance, leadership, or operations staff.</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Which policy, data, equity, privacy, security, or workflow.</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17</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Practical Exercise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Create an identity, access, and permissions review for one AI-supported workflow.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Identify users, service accounts, systems, data accessed, read/write permissions, approval.</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Create an identity, access, and permissions review for one AI-supported workflow.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Create an identity, access, and permissions review for one.</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Identify users, service accounts, systems, data accessed,.</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18</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Access and permissions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user and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Least-privilege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Access and permissions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Access and permissions review</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List of user and service identities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Least-privilege recommendation</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19</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Artifact or Evidence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Write-back approval rules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Audit log requirements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Write-back approval rules</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20</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Expected Assignment</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Access and permissions review</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List of user and service identities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Least-privilege recommendation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Access and permissions review</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Write-back approval rules</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Audit log requirements</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21</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Knowledge Check</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1. What is authorization?</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2. Why are service accounts important in AI workflows?</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3. What does least privilege mean?</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1. What is authorization?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1.</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What is authorization?</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2.</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assignment to test whether you can explain the concept, apply it to a realistic public health situation, and identify what would need review before the work moves forward.</a:t>
            </a:r>
            <a:endParaRPr lang="en-US" sz="132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22</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NIST Artificial Intelligence Risk Management Framework:.</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NIST Generative AI Profile:.</a:t>
            </a:r>
            <a:endParaRPr lang="en-US" sz="2100" dirty="0"/>
          </a:p>
          <a:p>
            <a:pPr indent="0" marL="0">
              <a:buNone/>
            </a:pPr>
            <a:r>
              <a:rPr lang="en-US" sz="2100" dirty="0">
                <a:solidFill>
                  <a:srgbClr val="003A63"/>
                </a:solidFill>
                <a:latin typeface="Aptos" pitchFamily="34" charset="0"/>
                <a:ea typeface="Aptos" pitchFamily="34" charset="-122"/>
                <a:cs typeface="Aptos" pitchFamily="34" charset="-120"/>
              </a:rPr>
              <a:t>• CDC Public Health Data Strategy and Data Modernization resources:.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NIST Artificial Intelligence Risk Management Framework:.</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NIST Artificial Intelligence Risk Management Framework:.</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OWASP guidance for LLM application security</a:t>
            </a:r>
            <a:endParaRPr lang="en-US" sz="1220" dirty="0"/>
          </a:p>
          <a:p>
            <a:pPr indent="0" marL="0">
              <a:buNone/>
            </a:pPr>
            <a:r>
              <a:rPr lang="en-US" sz="1220" dirty="0">
                <a:solidFill>
                  <a:srgbClr val="17364A"/>
                </a:solidFill>
                <a:latin typeface="Aptos" pitchFamily="34" charset="0"/>
                <a:ea typeface="Aptos" pitchFamily="34" charset="-122"/>
                <a:cs typeface="Aptos" pitchFamily="34" charset="-120"/>
              </a:rPr>
              <a:t>Agency policies for privacy, cybersecurity, records, procurement,.</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7FBFD"/>
        </a:solidFill>
      </p:bgPr>
    </p:bg>
    <p:spTree>
      <p:nvGrpSpPr>
        <p:cNvPr id="1" name=""/>
        <p:cNvGrpSpPr/>
        <p:nvPr/>
      </p:nvGrpSpPr>
      <p:grpSpPr>
        <a:xfrm>
          <a:off x="0" y="0"/>
          <a:ext cx="0" cy="0"/>
          <a:chOff x="0" y="0"/>
          <a:chExt cx="0" cy="0"/>
        </a:xfrm>
      </p:grpSpPr>
      <p:sp>
        <p:nvSpPr>
          <p:cNvPr id="2" name="Shape 0"/>
          <p:cNvSpPr/>
          <p:nvPr/>
        </p:nvSpPr>
        <p:spPr>
          <a:xfrm>
            <a:off x="0" y="0"/>
            <a:ext cx="12191695" cy="164592"/>
          </a:xfrm>
          <a:prstGeom prst="rect">
            <a:avLst/>
          </a:prstGeom>
          <a:solidFill>
            <a:srgbClr val="0068B7"/>
          </a:solidFill>
          <a:ln w="12700">
            <a:solidFill>
              <a:srgbClr val="0068B7"/>
            </a:solidFill>
            <a:prstDash val="solid"/>
          </a:ln>
        </p:spPr>
      </p:sp>
      <p:sp>
        <p:nvSpPr>
          <p:cNvPr id="3" name="Shape 1"/>
          <p:cNvSpPr/>
          <p:nvPr/>
        </p:nvSpPr>
        <p:spPr>
          <a:xfrm>
            <a:off x="0" y="164592"/>
            <a:ext cx="146304" cy="6693408"/>
          </a:xfrm>
          <a:prstGeom prst="rect">
            <a:avLst/>
          </a:prstGeom>
          <a:solidFill>
            <a:srgbClr val="2F8A28"/>
          </a:solidFill>
          <a:ln w="12700">
            <a:solidFill>
              <a:srgbClr val="2F8A28"/>
            </a:solidFill>
            <a:prstDash val="solid"/>
          </a:ln>
        </p:spPr>
      </p:sp>
      <p:sp>
        <p:nvSpPr>
          <p:cNvPr id="4" name="Text 2"/>
          <p:cNvSpPr/>
          <p:nvPr/>
        </p:nvSpPr>
        <p:spPr>
          <a:xfrm>
            <a:off x="502920" y="292608"/>
            <a:ext cx="10149840" cy="256032"/>
          </a:xfrm>
          <a:prstGeom prst="rect">
            <a:avLst/>
          </a:prstGeom>
          <a:noFill/>
          <a:ln/>
        </p:spPr>
        <p:txBody>
          <a:bodyPr wrap="square" lIns="0" tIns="0" rIns="0" bIns="0" rtlCol="0" anchor="ctr"/>
          <a:lstStyle/>
          <a:p>
            <a:pPr indent="0" marL="0">
              <a:buNone/>
            </a:pPr>
            <a:r>
              <a:rPr lang="en-US" sz="900" b="1" dirty="0">
                <a:solidFill>
                  <a:srgbClr val="5F7181"/>
                </a:solidFill>
                <a:latin typeface="Aptos" pitchFamily="34" charset="0"/>
                <a:ea typeface="Aptos" pitchFamily="34" charset="-122"/>
                <a:cs typeface="Aptos" pitchFamily="34" charset="-120"/>
              </a:rPr>
              <a:t>Identity, Access, and Permissions for AI Workflows</a:t>
            </a:r>
            <a:endParaRPr lang="en-US" sz="900" dirty="0"/>
          </a:p>
        </p:txBody>
      </p:sp>
      <p:sp>
        <p:nvSpPr>
          <p:cNvPr id="5" name="Text 3"/>
          <p:cNvSpPr/>
          <p:nvPr/>
        </p:nvSpPr>
        <p:spPr>
          <a:xfrm>
            <a:off x="502920" y="6537960"/>
            <a:ext cx="7772400" cy="201168"/>
          </a:xfrm>
          <a:prstGeom prst="rect">
            <a:avLst/>
          </a:prstGeom>
          <a:noFill/>
          <a:ln/>
        </p:spPr>
        <p:txBody>
          <a:bodyPr wrap="square" lIns="0" tIns="0" rIns="0" bIns="0" rtlCol="0" anchor="ctr"/>
          <a:lstStyle/>
          <a:p>
            <a:pPr indent="0" marL="0">
              <a:buNone/>
            </a:pPr>
            <a:r>
              <a:rPr lang="en-US" sz="800" dirty="0">
                <a:solidFill>
                  <a:srgbClr val="5F7181"/>
                </a:solidFill>
                <a:latin typeface="Aptos" pitchFamily="34" charset="0"/>
                <a:ea typeface="Aptos" pitchFamily="34" charset="-122"/>
                <a:cs typeface="Aptos" pitchFamily="34" charset="-120"/>
              </a:rPr>
              <a:t>AI Playbook and Toolkit for Public Health Departments</a:t>
            </a:r>
            <a:endParaRPr lang="en-US" sz="800" dirty="0"/>
          </a:p>
        </p:txBody>
      </p:sp>
      <p:sp>
        <p:nvSpPr>
          <p:cNvPr id="6" name="Text 4"/>
          <p:cNvSpPr/>
          <p:nvPr/>
        </p:nvSpPr>
        <p:spPr>
          <a:xfrm>
            <a:off x="9646920" y="6537960"/>
            <a:ext cx="1965960" cy="201168"/>
          </a:xfrm>
          <a:prstGeom prst="rect">
            <a:avLst/>
          </a:prstGeom>
          <a:noFill/>
          <a:ln/>
        </p:spPr>
        <p:txBody>
          <a:bodyPr wrap="square" lIns="0" tIns="0" rIns="0" bIns="0" rtlCol="0" anchor="ctr"/>
          <a:lstStyle/>
          <a:p>
            <a:pPr algn="r" indent="0" marL="0">
              <a:buNone/>
            </a:pPr>
            <a:r>
              <a:rPr lang="en-US" sz="800" dirty="0">
                <a:solidFill>
                  <a:srgbClr val="5F7181"/>
                </a:solidFill>
                <a:latin typeface="Aptos" pitchFamily="34" charset="0"/>
                <a:ea typeface="Aptos" pitchFamily="34" charset="-122"/>
                <a:cs typeface="Aptos" pitchFamily="34" charset="-120"/>
              </a:rPr>
              <a:t>Copyright Paula Soper</a:t>
            </a:r>
            <a:endParaRPr lang="en-US" sz="800" dirty="0"/>
          </a:p>
        </p:txBody>
      </p:sp>
      <p:sp>
        <p:nvSpPr>
          <p:cNvPr id="7" name="Text 5"/>
          <p:cNvSpPr/>
          <p:nvPr/>
        </p:nvSpPr>
        <p:spPr>
          <a:xfrm>
            <a:off x="11137392" y="6510528"/>
            <a:ext cx="411480" cy="201168"/>
          </a:xfrm>
          <a:prstGeom prst="rect">
            <a:avLst/>
          </a:prstGeom>
          <a:noFill/>
          <a:ln/>
        </p:spPr>
        <p:txBody>
          <a:bodyPr wrap="square" lIns="0" tIns="0" rIns="0" bIns="0" rtlCol="0" anchor="ctr"/>
          <a:lstStyle/>
          <a:p>
            <a:pPr algn="r" indent="0" marL="0">
              <a:buNone/>
            </a:pPr>
            <a:r>
              <a:rPr lang="en-US" sz="900" dirty="0">
                <a:solidFill>
                  <a:srgbClr val="5F7181"/>
                </a:solidFill>
                <a:latin typeface="Aptos" pitchFamily="34" charset="0"/>
                <a:ea typeface="Aptos" pitchFamily="34" charset="-122"/>
                <a:cs typeface="Aptos" pitchFamily="34" charset="-120"/>
              </a:rPr>
              <a:t>23</a:t>
            </a:r>
            <a:endParaRPr lang="en-US" sz="900" dirty="0"/>
          </a:p>
        </p:txBody>
      </p:sp>
      <p:sp>
        <p:nvSpPr>
          <p:cNvPr id="8" name="Text 6"/>
          <p:cNvSpPr/>
          <p:nvPr/>
        </p:nvSpPr>
        <p:spPr>
          <a:xfrm>
            <a:off x="640080" y="658368"/>
            <a:ext cx="10881360" cy="713232"/>
          </a:xfrm>
          <a:prstGeom prst="rect">
            <a:avLst/>
          </a:prstGeom>
          <a:noFill/>
          <a:ln/>
        </p:spPr>
        <p:txBody>
          <a:bodyPr wrap="square" lIns="0" tIns="0" rIns="0" bIns="0" rtlCol="0" anchor="ctr">
            <a:normAutofit/>
          </a:bodyPr>
          <a:lstStyle/>
          <a:p>
            <a:pPr indent="0" marL="0">
              <a:buNone/>
            </a:pPr>
            <a:r>
              <a:rPr lang="en-US" sz="3400" b="1" dirty="0">
                <a:solidFill>
                  <a:srgbClr val="003A63"/>
                </a:solidFill>
                <a:latin typeface="Aptos Display" pitchFamily="34" charset="0"/>
                <a:ea typeface="Aptos Display" pitchFamily="34" charset="-122"/>
                <a:cs typeface="Aptos Display" pitchFamily="34" charset="-120"/>
              </a:rPr>
              <a:t>References and Resources Continued</a:t>
            </a:r>
            <a:endParaRPr lang="en-US" sz="3400" dirty="0"/>
          </a:p>
        </p:txBody>
      </p:sp>
      <p:sp>
        <p:nvSpPr>
          <p:cNvPr id="9" name="Text 7"/>
          <p:cNvSpPr/>
          <p:nvPr/>
        </p:nvSpPr>
        <p:spPr>
          <a:xfrm>
            <a:off x="868680" y="1508760"/>
            <a:ext cx="6309360" cy="4160520"/>
          </a:xfrm>
          <a:prstGeom prst="rect">
            <a:avLst/>
          </a:prstGeom>
          <a:noFill/>
          <a:ln/>
        </p:spPr>
        <p:txBody>
          <a:bodyPr wrap="square" lIns="1016" tIns="1016" rIns="1016" bIns="1016" rtlCol="0" anchor="t">
            <a:normAutofit/>
          </a:bodyPr>
          <a:lstStyle/>
          <a:p>
            <a:pPr indent="0" marL="0">
              <a:buNone/>
            </a:pPr>
            <a:r>
              <a:rPr lang="en-US" sz="2100" dirty="0">
                <a:solidFill>
                  <a:srgbClr val="003A63"/>
                </a:solidFill>
                <a:latin typeface="Aptos" pitchFamily="34" charset="0"/>
                <a:ea typeface="Aptos" pitchFamily="34" charset="-122"/>
                <a:cs typeface="Aptos" pitchFamily="34" charset="-120"/>
              </a:rPr>
              <a:t>• Relevant public health program SOPs, data governance documentation, and implementation plans</a:t>
            </a:r>
            <a:endParaRPr lang="en-US" sz="2100" dirty="0"/>
          </a:p>
        </p:txBody>
      </p:sp>
      <p:sp>
        <p:nvSpPr>
          <p:cNvPr id="10" name="Shape 8"/>
          <p:cNvSpPr/>
          <p:nvPr/>
        </p:nvSpPr>
        <p:spPr>
          <a:xfrm>
            <a:off x="7635240" y="1325880"/>
            <a:ext cx="3474720" cy="1207008"/>
          </a:xfrm>
          <a:prstGeom prst="roundRect">
            <a:avLst>
              <a:gd name="adj" fmla="val 9091"/>
            </a:avLst>
          </a:prstGeom>
          <a:solidFill>
            <a:srgbClr val="EEF8ED"/>
          </a:solidFill>
          <a:ln w="12700">
            <a:solidFill>
              <a:srgbClr val="B9D7E6"/>
            </a:solidFill>
            <a:prstDash val="solid"/>
          </a:ln>
        </p:spPr>
      </p:sp>
      <p:sp>
        <p:nvSpPr>
          <p:cNvPr id="11" name="Text 9"/>
          <p:cNvSpPr/>
          <p:nvPr/>
        </p:nvSpPr>
        <p:spPr>
          <a:xfrm>
            <a:off x="7799832" y="1472184"/>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Implementation cue</a:t>
            </a:r>
            <a:endParaRPr lang="en-US" sz="1300" dirty="0"/>
          </a:p>
        </p:txBody>
      </p:sp>
      <p:sp>
        <p:nvSpPr>
          <p:cNvPr id="12" name="Text 10"/>
          <p:cNvSpPr/>
          <p:nvPr/>
        </p:nvSpPr>
        <p:spPr>
          <a:xfrm>
            <a:off x="7799832" y="1801368"/>
            <a:ext cx="3145536" cy="64008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Relevant public health program SOPs, data governance documentation, and implementation.</a:t>
            </a:r>
            <a:endParaRPr lang="en-US" sz="1320" dirty="0"/>
          </a:p>
        </p:txBody>
      </p:sp>
      <p:sp>
        <p:nvSpPr>
          <p:cNvPr id="13" name="Shape 11"/>
          <p:cNvSpPr/>
          <p:nvPr/>
        </p:nvSpPr>
        <p:spPr>
          <a:xfrm>
            <a:off x="7635240" y="2670048"/>
            <a:ext cx="3474720" cy="1377086"/>
          </a:xfrm>
          <a:prstGeom prst="roundRect">
            <a:avLst>
              <a:gd name="adj" fmla="val 7968"/>
            </a:avLst>
          </a:prstGeom>
          <a:solidFill>
            <a:srgbClr val="FFFFFF"/>
          </a:solidFill>
          <a:ln w="12700">
            <a:solidFill>
              <a:srgbClr val="B9D7E6"/>
            </a:solidFill>
            <a:prstDash val="solid"/>
          </a:ln>
        </p:spPr>
      </p:sp>
      <p:sp>
        <p:nvSpPr>
          <p:cNvPr id="14" name="Text 12"/>
          <p:cNvSpPr/>
          <p:nvPr/>
        </p:nvSpPr>
        <p:spPr>
          <a:xfrm>
            <a:off x="7799832" y="2816352"/>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Concept checkpoints</a:t>
            </a:r>
            <a:endParaRPr lang="en-US" sz="1300" dirty="0"/>
          </a:p>
        </p:txBody>
      </p:sp>
      <p:sp>
        <p:nvSpPr>
          <p:cNvPr id="15" name="Text 13"/>
          <p:cNvSpPr/>
          <p:nvPr/>
        </p:nvSpPr>
        <p:spPr>
          <a:xfrm>
            <a:off x="7818120" y="3182112"/>
            <a:ext cx="3090672" cy="718718"/>
          </a:xfrm>
          <a:prstGeom prst="rect">
            <a:avLst/>
          </a:prstGeom>
          <a:noFill/>
          <a:ln/>
        </p:spPr>
        <p:txBody>
          <a:bodyPr wrap="square" lIns="508" tIns="508" rIns="508" bIns="508" rtlCol="0" anchor="t">
            <a:normAutofit/>
          </a:bodyPr>
          <a:lstStyle/>
          <a:p>
            <a:pPr indent="0" marL="0">
              <a:buNone/>
            </a:pPr>
            <a:r>
              <a:rPr lang="en-US" sz="1220" dirty="0">
                <a:solidFill>
                  <a:srgbClr val="17364A"/>
                </a:solidFill>
                <a:latin typeface="Aptos" pitchFamily="34" charset="0"/>
                <a:ea typeface="Aptos" pitchFamily="34" charset="-122"/>
                <a:cs typeface="Aptos" pitchFamily="34" charset="-120"/>
              </a:rPr>
              <a:t>Relevant public health program SOPs, data governance.</a:t>
            </a:r>
            <a:endParaRPr lang="en-US" sz="1220" dirty="0"/>
          </a:p>
        </p:txBody>
      </p:sp>
      <p:sp>
        <p:nvSpPr>
          <p:cNvPr id="16" name="Shape 14"/>
          <p:cNvSpPr/>
          <p:nvPr/>
        </p:nvSpPr>
        <p:spPr>
          <a:xfrm>
            <a:off x="7635240" y="4184294"/>
            <a:ext cx="3474720" cy="1466698"/>
          </a:xfrm>
          <a:prstGeom prst="roundRect">
            <a:avLst>
              <a:gd name="adj" fmla="val 7481"/>
            </a:avLst>
          </a:prstGeom>
          <a:solidFill>
            <a:srgbClr val="EAF6F8"/>
          </a:solidFill>
          <a:ln w="12700">
            <a:solidFill>
              <a:srgbClr val="B9D7E6"/>
            </a:solidFill>
            <a:prstDash val="solid"/>
          </a:ln>
        </p:spPr>
      </p:sp>
      <p:sp>
        <p:nvSpPr>
          <p:cNvPr id="17" name="Text 15"/>
          <p:cNvSpPr/>
          <p:nvPr/>
        </p:nvSpPr>
        <p:spPr>
          <a:xfrm>
            <a:off x="7799832" y="4330598"/>
            <a:ext cx="3145536" cy="256032"/>
          </a:xfrm>
          <a:prstGeom prst="rect">
            <a:avLst/>
          </a:prstGeom>
          <a:noFill/>
          <a:ln/>
        </p:spPr>
        <p:txBody>
          <a:bodyPr wrap="square" lIns="0" tIns="0" rIns="0" bIns="0" rtlCol="0" anchor="ctr"/>
          <a:lstStyle/>
          <a:p>
            <a:pPr indent="0" marL="0">
              <a:buNone/>
            </a:pPr>
            <a:r>
              <a:rPr lang="en-US" sz="1300" b="1" dirty="0">
                <a:solidFill>
                  <a:srgbClr val="0068B7"/>
                </a:solidFill>
                <a:latin typeface="Aptos" pitchFamily="34" charset="0"/>
                <a:ea typeface="Aptos" pitchFamily="34" charset="-122"/>
                <a:cs typeface="Aptos" pitchFamily="34" charset="-120"/>
              </a:rPr>
              <a:t>Next action</a:t>
            </a:r>
            <a:endParaRPr lang="en-US" sz="1300" dirty="0"/>
          </a:p>
        </p:txBody>
      </p:sp>
      <p:sp>
        <p:nvSpPr>
          <p:cNvPr id="18" name="Text 16"/>
          <p:cNvSpPr/>
          <p:nvPr/>
        </p:nvSpPr>
        <p:spPr>
          <a:xfrm>
            <a:off x="7799832" y="4659782"/>
            <a:ext cx="3145536" cy="899770"/>
          </a:xfrm>
          <a:prstGeom prst="rect">
            <a:avLst/>
          </a:prstGeom>
          <a:noFill/>
          <a:ln/>
        </p:spPr>
        <p:txBody>
          <a:bodyPr wrap="square" lIns="254" tIns="254" rIns="254" bIns="254" rtlCol="0" anchor="t">
            <a:normAutofit/>
          </a:bodyPr>
          <a:lstStyle/>
          <a:p>
            <a:pPr indent="0" marL="0">
              <a:buNone/>
            </a:pPr>
            <a:r>
              <a:rPr lang="en-US" sz="1320" dirty="0">
                <a:solidFill>
                  <a:srgbClr val="17364A"/>
                </a:solidFill>
                <a:latin typeface="Aptos" pitchFamily="34" charset="0"/>
                <a:ea typeface="Aptos" pitchFamily="34" charset="-122"/>
                <a:cs typeface="Aptos" pitchFamily="34" charset="-120"/>
              </a:rPr>
              <a:t>Use the concept to clarify workflow changes, dependencies, staffing, procurement requirements, training needs, and implementation checkpoints.</a:t>
            </a:r>
            <a:endParaRPr lang="en-US" sz="132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Aptos Display"/>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23</Slides>
  <Notes>23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23</vt:i4>
      </vt:variant>
    </vt:vector>
  </HeadingPairs>
  <TitlesOfParts>
    <vt:vector size="2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vector>
  </TitlesOfParts>
  <Company>AI Playbook for Public Health</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Identity, Access, and Permissions for AI Workflows</dc:title>
  <dc:subject>Identity, Access, and Permissions for AI Workflows learning module</dc:subject>
  <dc:creator>Paula Soper</dc:creator>
  <cp:lastModifiedBy>Paula Soper</cp:lastModifiedBy>
  <cp:revision>1</cp:revision>
  <dcterms:created xsi:type="dcterms:W3CDTF">2026-07-13T02:33:45Z</dcterms:created>
  <dcterms:modified xsi:type="dcterms:W3CDTF">2026-07-13T02:33:45Z</dcterms:modified>
</cp:coreProperties>
</file>