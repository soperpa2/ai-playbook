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240 User Acceptance Testing for AI-Supported Workflows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operations-and-data-quality, program-management, technical-architecture, analytics-and-modeling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UAT for AI-supported workflows.
Develop role-based UAT scenarios and test scripts.
Include routine cases, edge cases, failure cases, and equity-sensitive scenarios in UAT.
Define acceptance criteria for usability, safety, documentation, human review, and workflow fit.
Produce a UAT plan and sign-off recommendation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Before launching an AI tool that summarizes case investigation notes, investigators complete UAT scenarios using routine cases, incomplete records, conflicting notes, language access needs, and cases with sensitive information. Testers verify whether the summary is understandable, source information is visible, errors can be corrected, outputs can be documented properly, and escalation steps are clear. The tool does not launch until high-priority issues are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UAT should be designed around real users and real work. Testers should include the roles that will actually use or supervise the AI-supported workflow, such as epidemiologists, investigators, program staff, supervisors, data quality staff, communications staff, or support staff. If only technical staff test the tool, usability and workflow problems may be missed.
Test scenarios should include more than ideal cases. AI-supported workflows should be tested with incomplete data, conflicting information, duplicate records, unusual cases, sensitive data, ambiguous outputs, language access issues, accessibility needs, high-volume periods, system downtime, and outputs that should be overridden. Edge cases reveal whether the workflow is safe when conditions are imperfect.
Acceptance criteria should be defined before testing begins. Criteria may include whether users can complete the workflow, understand the AI output, inspect source information, identify unsupported statements, correct errors, document decisions, override outputs, and escalate concerns. Criteria should also address workflow burden, accessibility, performance, and user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UAT results should lead to a launch decision. Issues should be categorized by severity, assigned to owners, and resolved or accepted with documented rationale. A launch should not proceed simply because testing occurred. It should proceed only if acceptance criteria are met and unresolved issues do not create unacceptable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Testing only ideal scenarios and missing high-risk workflow failures.
Excluding real end users from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Launching despite unresolved issues that affect safety, equity, or documentation.
Treating model validation as a substitute for workflow acceptance testing.
Failing to test override, escalation, fallback, and accessibility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Develop role-based UAT scripts before launch.
Include routine, edge, failure, and equity-sensitive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Define acceptance criteria before testing.
Track issues by severity, owner, and resolution status.
Require documented sign-off or remediation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UAT plan for one AI-supported workflow. Include user roles, test scenarios, edge cases, acceptance criteria, tester instructions, issue log fields, severity categories, sign-off criteria, and launch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UAT plan
Role-based test scripts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Issue log template
Sign-off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UAT plan
Role-based test scripts
Acceptance criteria
Issue log template
Sign-off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purpose of UAT for AI-supported workflows?
2. Who should participate in UAT?
3. Which scenario should be included in AI UAT?
4. What should happen to UAT issues?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NIST Artificial Intelligence Risk Management Framework: https://www.nist.gov/itl/ai-risk-management-framework
NIST AI RMF Generative AI Profile: https://www.nist.gov/publications/artificial-intelligence-risk-management-framework-generative-artificial-intelligence
CDC Public Health Data Strategy: https://www.cdc.gov/public-health-data-strategy/php/about/index.html
Agency user acceptance testing, quality assurance, accessibility, and implementation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User Acceptance Testing for AI-Supported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User acceptance testing is the process of determining whether an AI-supported workflow is usable, understandable,.</a:t>
            </a:r>
            <a:endParaRPr lang="en-US" sz="2100" dirty="0"/>
          </a:p>
          <a:p>
            <a:r>
              <a:rPr lang="en-US" sz="2100" dirty="0">
                <a:solidFill>
                  <a:srgbClr val="17364A"/>
                </a:solidFill>
                <a:latin typeface="Aptos" pitchFamily="34" charset="0"/>
                <a:ea typeface="Aptos" pitchFamily="34" charset="-122"/>
                <a:cs typeface="Aptos" pitchFamily="34" charset="-120"/>
              </a:rPr>
              <a:t>Technical testing may show that a tool runs, and model validation may show acceptable performance, but neither.</a:t>
            </a:r>
            <a:endParaRPr lang="en-US" sz="2100" dirty="0"/>
          </a:p>
          <a:p>
            <a:r>
              <a:rPr lang="en-US" sz="2100" dirty="0">
                <a:solidFill>
                  <a:srgbClr val="17364A"/>
                </a:solidFill>
                <a:latin typeface="Aptos" pitchFamily="34" charset="0"/>
                <a:ea typeface="Aptos" pitchFamily="34" charset="-122"/>
                <a:cs typeface="Aptos" pitchFamily="34" charset="-120"/>
              </a:rPr>
              <a:t>UAT fills that gap.</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operations-and-data-quality, program-management, technical-architecture, analytics-and-modeling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UAT for AI-supported workflows.</a:t>
            </a:r>
            <a:endParaRPr lang="en-US" sz="2100" dirty="0"/>
          </a:p>
          <a:p>
            <a:r>
              <a:rPr lang="en-US" sz="2100" dirty="0">
                <a:solidFill>
                  <a:srgbClr val="17364A"/>
                </a:solidFill>
                <a:latin typeface="Aptos" pitchFamily="34" charset="0"/>
                <a:ea typeface="Aptos" pitchFamily="34" charset="-122"/>
                <a:cs typeface="Aptos" pitchFamily="34" charset="-120"/>
              </a:rPr>
              <a:t>Develop role-based UAT scenarios and test scripts.</a:t>
            </a:r>
            <a:endParaRPr lang="en-US" sz="2100" dirty="0"/>
          </a:p>
          <a:p>
            <a:r>
              <a:rPr lang="en-US" sz="2100" dirty="0">
                <a:solidFill>
                  <a:srgbClr val="17364A"/>
                </a:solidFill>
                <a:latin typeface="Aptos" pitchFamily="34" charset="0"/>
                <a:ea typeface="Aptos" pitchFamily="34" charset="-122"/>
                <a:cs typeface="Aptos" pitchFamily="34" charset="-120"/>
              </a:rPr>
              <a:t>Include routine cases, edge cases, failure cases, and equity-sensitive scenarios in UAT.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UAT for AI-supported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User acceptance testing is the process of determining whether an AI-supported workflow is usable,.</a:t>
            </a:r>
            <a:endParaRPr lang="en-US" sz="2100" dirty="0"/>
          </a:p>
          <a:p>
            <a:r>
              <a:rPr lang="en-US" sz="2100" dirty="0">
                <a:solidFill>
                  <a:srgbClr val="17364A"/>
                </a:solidFill>
                <a:latin typeface="Aptos" pitchFamily="34" charset="0"/>
                <a:ea typeface="Aptos" pitchFamily="34" charset="-122"/>
                <a:cs typeface="Aptos" pitchFamily="34" charset="-120"/>
              </a:rPr>
              <a:t>Technical testing may show that a tool runs, and model validation may show acceptable performance, but.</a:t>
            </a:r>
            <a:endParaRPr lang="en-US" sz="2100" dirty="0"/>
          </a:p>
          <a:p>
            <a:r>
              <a:rPr lang="en-US" sz="2100" dirty="0">
                <a:solidFill>
                  <a:srgbClr val="17364A"/>
                </a:solidFill>
                <a:latin typeface="Aptos" pitchFamily="34" charset="0"/>
                <a:ea typeface="Aptos" pitchFamily="34" charset="-122"/>
                <a:cs typeface="Aptos" pitchFamily="34" charset="-120"/>
              </a:rPr>
              <a:t>UAT fills that gap.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User acceptance testing is the process of determining whether an AI-supported workflow is usable,.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Before launching an AI tool that summarizes case investigation notes, investigators complete UAT.</a:t>
            </a:r>
            <a:endParaRPr lang="en-US" sz="2100" dirty="0"/>
          </a:p>
          <a:p>
            <a:r>
              <a:rPr lang="en-US" sz="2100" dirty="0">
                <a:solidFill>
                  <a:srgbClr val="17364A"/>
                </a:solidFill>
                <a:latin typeface="Aptos" pitchFamily="34" charset="0"/>
                <a:ea typeface="Aptos" pitchFamily="34" charset="-122"/>
                <a:cs typeface="Aptos" pitchFamily="34" charset="-120"/>
              </a:rPr>
              <a:t>Testers verify whether the summary is understandable, source information is visible, errors can be.</a:t>
            </a:r>
            <a:endParaRPr lang="en-US" sz="2100" dirty="0"/>
          </a:p>
          <a:p>
            <a:r>
              <a:rPr lang="en-US" sz="2100" dirty="0">
                <a:solidFill>
                  <a:srgbClr val="17364A"/>
                </a:solidFill>
                <a:latin typeface="Aptos" pitchFamily="34" charset="0"/>
                <a:ea typeface="Aptos" pitchFamily="34" charset="-122"/>
                <a:cs typeface="Aptos" pitchFamily="34" charset="-120"/>
              </a:rPr>
              <a:t>The tool does not launch until high-priority issues are resolved.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Before launching an AI tool that summarizes case investigation notes, investigators complete UAT.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UAT should be designed around real users and real work.</a:t>
            </a:r>
            <a:endParaRPr lang="en-US" sz="2100" dirty="0"/>
          </a:p>
          <a:p>
            <a:r>
              <a:rPr lang="en-US" sz="2100" dirty="0">
                <a:solidFill>
                  <a:srgbClr val="17364A"/>
                </a:solidFill>
                <a:latin typeface="Aptos" pitchFamily="34" charset="0"/>
                <a:ea typeface="Aptos" pitchFamily="34" charset="-122"/>
                <a:cs typeface="Aptos" pitchFamily="34" charset="-120"/>
              </a:rPr>
              <a:t>Testers should include the roles that will actually use or supervise the AI-supported workflow, such as.</a:t>
            </a:r>
            <a:endParaRPr lang="en-US" sz="2100" dirty="0"/>
          </a:p>
          <a:p>
            <a:r>
              <a:rPr lang="en-US" sz="2100" dirty="0">
                <a:solidFill>
                  <a:srgbClr val="17364A"/>
                </a:solidFill>
                <a:latin typeface="Aptos" pitchFamily="34" charset="0"/>
                <a:ea typeface="Aptos" pitchFamily="34" charset="-122"/>
                <a:cs typeface="Aptos" pitchFamily="34" charset="-120"/>
              </a:rPr>
              <a:t>If only technical staff test the tool, usability and workflow problems may be missed.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UAT should be designed around real users and real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UAT results should lead to a launch decision.</a:t>
            </a:r>
            <a:endParaRPr lang="en-US" sz="2100" dirty="0"/>
          </a:p>
          <a:p>
            <a:r>
              <a:rPr lang="en-US" sz="2100" dirty="0">
                <a:solidFill>
                  <a:srgbClr val="17364A"/>
                </a:solidFill>
                <a:latin typeface="Aptos" pitchFamily="34" charset="0"/>
                <a:ea typeface="Aptos" pitchFamily="34" charset="-122"/>
                <a:cs typeface="Aptos" pitchFamily="34" charset="-120"/>
              </a:rPr>
              <a:t>Issues should be categorized by severity, assigned to owners, and resolved or accepted with documented.</a:t>
            </a:r>
            <a:endParaRPr lang="en-US" sz="2100" dirty="0"/>
          </a:p>
          <a:p>
            <a:r>
              <a:rPr lang="en-US" sz="2100" dirty="0">
                <a:solidFill>
                  <a:srgbClr val="17364A"/>
                </a:solidFill>
                <a:latin typeface="Aptos" pitchFamily="34" charset="0"/>
                <a:ea typeface="Aptos" pitchFamily="34" charset="-122"/>
                <a:cs typeface="Aptos" pitchFamily="34" charset="-120"/>
              </a:rPr>
              <a:t>A launch should not proceed simply because testing occurred.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UAT results should lead to a launch decision.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Testing only ideal scenarios and missing high-risk workflow failures.</a:t>
            </a:r>
            <a:endParaRPr lang="en-US" sz="2100" dirty="0"/>
          </a:p>
          <a:p>
            <a:r>
              <a:rPr lang="en-US" sz="2100" dirty="0">
                <a:solidFill>
                  <a:srgbClr val="17364A"/>
                </a:solidFill>
                <a:latin typeface="Aptos" pitchFamily="34" charset="0"/>
                <a:ea typeface="Aptos" pitchFamily="34" charset="-122"/>
                <a:cs typeface="Aptos" pitchFamily="34" charset="-120"/>
              </a:rPr>
              <a:t>Excluding real end users from testing.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Launching despite unresolved issues that affect safety, equity, or documentation.</a:t>
            </a:r>
            <a:endParaRPr lang="en-US" sz="2100" dirty="0"/>
          </a:p>
          <a:p>
            <a:r>
              <a:rPr lang="en-US" sz="2100" dirty="0">
                <a:solidFill>
                  <a:srgbClr val="17364A"/>
                </a:solidFill>
                <a:latin typeface="Aptos" pitchFamily="34" charset="0"/>
                <a:ea typeface="Aptos" pitchFamily="34" charset="-122"/>
                <a:cs typeface="Aptos" pitchFamily="34" charset="-120"/>
              </a:rPr>
              <a:t>Treating model validation as a substitute for workflow acceptance testing.</a:t>
            </a:r>
            <a:endParaRPr lang="en-US" sz="2100" dirty="0"/>
          </a:p>
          <a:p>
            <a:r>
              <a:rPr lang="en-US" sz="2100" dirty="0">
                <a:solidFill>
                  <a:srgbClr val="17364A"/>
                </a:solidFill>
                <a:latin typeface="Aptos" pitchFamily="34" charset="0"/>
                <a:ea typeface="Aptos" pitchFamily="34" charset="-122"/>
                <a:cs typeface="Aptos" pitchFamily="34" charset="-120"/>
              </a:rPr>
              <a:t>Failing to test override, escalation, fallback, and accessibility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Launching despite unresolved issues that affect safety, equity, or documentation.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Develop role-based UAT scripts before launch.</a:t>
            </a:r>
            <a:endParaRPr lang="en-US" sz="2100" dirty="0"/>
          </a:p>
          <a:p>
            <a:r>
              <a:rPr lang="en-US" sz="2100" dirty="0">
                <a:solidFill>
                  <a:srgbClr val="17364A"/>
                </a:solidFill>
                <a:latin typeface="Aptos" pitchFamily="34" charset="0"/>
                <a:ea typeface="Aptos" pitchFamily="34" charset="-122"/>
                <a:cs typeface="Aptos" pitchFamily="34" charset="-120"/>
              </a:rPr>
              <a:t>Include routine, edge, failure, and equity-sensitive cases.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acceptance criteria before testing.</a:t>
            </a:r>
            <a:endParaRPr lang="en-US" sz="2100" dirty="0"/>
          </a:p>
          <a:p>
            <a:r>
              <a:rPr lang="en-US" sz="2100" dirty="0">
                <a:solidFill>
                  <a:srgbClr val="17364A"/>
                </a:solidFill>
                <a:latin typeface="Aptos" pitchFamily="34" charset="0"/>
                <a:ea typeface="Aptos" pitchFamily="34" charset="-122"/>
                <a:cs typeface="Aptos" pitchFamily="34" charset="-120"/>
              </a:rPr>
              <a:t>Track issues by severity, owner, and resolution status.</a:t>
            </a:r>
            <a:endParaRPr lang="en-US" sz="2100" dirty="0"/>
          </a:p>
          <a:p>
            <a:r>
              <a:rPr lang="en-US" sz="2100" dirty="0">
                <a:solidFill>
                  <a:srgbClr val="17364A"/>
                </a:solidFill>
                <a:latin typeface="Aptos" pitchFamily="34" charset="0"/>
                <a:ea typeface="Aptos" pitchFamily="34" charset="-122"/>
                <a:cs typeface="Aptos" pitchFamily="34" charset="-120"/>
              </a:rPr>
              <a:t>Require documented sign-off or remediation before deployment.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acceptance criteria before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UAT plan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Include user roles, test scenarios, edge cases, acceptance criteria, tester instructions, issue log.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UAT plan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UAT plan</a:t>
            </a:r>
            <a:endParaRPr lang="en-US" sz="2100" dirty="0"/>
          </a:p>
          <a:p>
            <a:r>
              <a:rPr lang="en-US" sz="2100" dirty="0">
                <a:solidFill>
                  <a:srgbClr val="17364A"/>
                </a:solidFill>
                <a:latin typeface="Aptos" pitchFamily="34" charset="0"/>
                <a:ea typeface="Aptos" pitchFamily="34" charset="-122"/>
                <a:cs typeface="Aptos" pitchFamily="34" charset="-120"/>
              </a:rPr>
              <a:t>Role-based test scripts</a:t>
            </a:r>
            <a:endParaRPr lang="en-US" sz="2100" dirty="0"/>
          </a:p>
          <a:p>
            <a:r>
              <a:rPr lang="en-US" sz="2100" dirty="0">
                <a:solidFill>
                  <a:srgbClr val="17364A"/>
                </a:solidFill>
                <a:latin typeface="Aptos" pitchFamily="34" charset="0"/>
                <a:ea typeface="Aptos" pitchFamily="34" charset="-122"/>
                <a:cs typeface="Aptos" pitchFamily="34" charset="-120"/>
              </a:rPr>
              <a:t>Acceptance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UAT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Issue log template</a:t>
            </a:r>
            <a:endParaRPr lang="en-US" sz="2100" dirty="0"/>
          </a:p>
          <a:p>
            <a:r>
              <a:rPr lang="en-US" sz="2100" dirty="0">
                <a:solidFill>
                  <a:srgbClr val="17364A"/>
                </a:solidFill>
                <a:latin typeface="Aptos" pitchFamily="34" charset="0"/>
                <a:ea typeface="Aptos" pitchFamily="34" charset="-122"/>
                <a:cs typeface="Aptos" pitchFamily="34" charset="-120"/>
              </a:rPr>
              <a:t>Sign-off recommendation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Issue log template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UAT plan</a:t>
            </a:r>
            <a:endParaRPr lang="en-US" sz="2100" dirty="0"/>
          </a:p>
          <a:p>
            <a:r>
              <a:rPr lang="en-US" sz="2100" dirty="0">
                <a:solidFill>
                  <a:srgbClr val="17364A"/>
                </a:solidFill>
                <a:latin typeface="Aptos" pitchFamily="34" charset="0"/>
                <a:ea typeface="Aptos" pitchFamily="34" charset="-122"/>
                <a:cs typeface="Aptos" pitchFamily="34" charset="-120"/>
              </a:rPr>
              <a:t>Role-based test scripts</a:t>
            </a:r>
            <a:endParaRPr lang="en-US" sz="2100" dirty="0"/>
          </a:p>
          <a:p>
            <a:r>
              <a:rPr lang="en-US" sz="2100" dirty="0">
                <a:solidFill>
                  <a:srgbClr val="17364A"/>
                </a:solidFill>
                <a:latin typeface="Aptos" pitchFamily="34" charset="0"/>
                <a:ea typeface="Aptos" pitchFamily="34" charset="-122"/>
                <a:cs typeface="Aptos" pitchFamily="34" charset="-120"/>
              </a:rPr>
              <a:t>Acceptance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UAT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purpose of UAT for AI-supported workflows?</a:t>
            </a:r>
            <a:endParaRPr lang="en-US" sz="2100" dirty="0"/>
          </a:p>
          <a:p>
            <a:r>
              <a:rPr lang="en-US" sz="2100" dirty="0">
                <a:solidFill>
                  <a:srgbClr val="17364A"/>
                </a:solidFill>
                <a:latin typeface="Aptos" pitchFamily="34" charset="0"/>
                <a:ea typeface="Aptos" pitchFamily="34" charset="-122"/>
                <a:cs typeface="Aptos" pitchFamily="34" charset="-120"/>
              </a:rPr>
              <a:t>2. Who should participate in UAT?</a:t>
            </a:r>
            <a:endParaRPr lang="en-US" sz="2100" dirty="0"/>
          </a:p>
          <a:p>
            <a:r>
              <a:rPr lang="en-US" sz="2100" dirty="0">
                <a:solidFill>
                  <a:srgbClr val="17364A"/>
                </a:solidFill>
                <a:latin typeface="Aptos" pitchFamily="34" charset="0"/>
                <a:ea typeface="Aptos" pitchFamily="34" charset="-122"/>
                <a:cs typeface="Aptos" pitchFamily="34" charset="-120"/>
              </a:rPr>
              <a:t>3. Which scenario should be included in AI UAT?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purpose of UAT for AI-supported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Evaluation Framework: https://www.cdc.gov/evaluation/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Acceptance Testing for AI-Supported Workflows</dc:title>
  <dc:subject>User Acceptance Testing for AI-Supported Workflows learning module</dc:subject>
  <dc:creator>Paula Soper</dc:creator>
  <cp:lastModifiedBy>Paula Soper</cp:lastModifiedBy>
  <cp:revision>1</cp:revision>
  <dcterms:created xsi:type="dcterms:W3CDTF">2026-07-12T19:55:21Z</dcterms:created>
  <dcterms:modified xsi:type="dcterms:W3CDTF">2026-07-12T19:55:21Z</dcterms:modified>
</cp:coreProperties>
</file>