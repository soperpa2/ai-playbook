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 410 AI Portfolio Strategy and Use Case Prioritization
AI opportunities can quickly exceed an agency's capacity to evaluate, implement, and sustain them. Leaders need a portfolio strategy that helps distinguish high-value public health uses from attractive but low-impact experiments. A portfolio approach organizes AI opportunities across programs, risk levels, readiness, equity impact, technical feasibility, expected benefit, and sustainability needs. This module teaches leaders how to create an AI use case intake and prioritization process. The module emphasizes that prioritization should not be based only on novelty or vendor availability. It should be based on mission alignment, public health value, data readiness, workflow fit, risk, equity, staff capacity, cost, and the ability to monitor and sustain the use case over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advanced/leadership
Primary track: Public Health Executive Leadership Track
Appears in tracks: governance-security
AI opportunities can quickly exceed an agency's capacity to evaluate, implement, and sustain them. Leaders need a portfolio strategy that helps distinguish high-value public health uses from attractive but low-impact experiments. A portfolio approach organizes AI opportunities across programs, risk levels, readiness, equity impact, technical feasibility, expected benefit, and sustainability needs. This module teaches leaders how to create an AI use case intake and prioritization process. The module emphasizes that prioritization should not be based only on novelty or vendor availability. It should be based on mission alignment, public health value, data readiness, workflow fit, risk, equity, staff capacity, cost, and the ability to monitor and sustain the use case over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11: Build and Deploy AI Solutions - This lesson informs Play 11 by helping learners connect the lesson topic to build and deploy ai solutions work in the AI Playbook.
Play 7: Prioritize Use Cases - This lesson informs Play 7 by helping learners connect the lesson topic to prioritize use cases work in the AI Playbook sequence.
Play 8: Develop a Funding Strategy - This lesson informs Play 8 by helping learners connect the lesson topic to develop a funding strategy work in the AI Playbook sequence.
Play 1: Vision &amp; Guardrails - This lesson informs Play 1 by helping learners connect the lesson topic to vision &amp; guardrails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33: Funding Strategy Checklists (Checklist) - Use this tool to complete or strengthen the practical exercise for the module using fictional, de-identified, or generalized.
Tool 35: AI Total Cost of Ownership and Sustainability Worksheet (Worksheet) - Use this tool to complete or strengthen the practical exercise for the module using fictional, de-identified, or generalized.
Tool 4: AI Policy Landscape Scan (Worksheet) - Use AI Policy Landscape Scan to translate this lesson into a documented public health AI planning, governance, implementation,.
Tool 5: AI Environmental and Resource Impact Review (Checklist) - Use this tool to complete or strengthen the practical exercise for the module using fictional, de-identified, or generalized.
Tool 6: Human-Centered AI Decision Rule Checklist (Checklist) - Use Human-Centered AI Decision Rule Checklist to translate this lesson into a documented public health AI planning, governance,.
Tool 8: AI Project Charter (Planning) - Use AI Project Charter to translate this lesson into a documented public health AI planning, governance, implementation, 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Define the purpose of an AI portfolio strategy for public health agencies.
Develop criteria for prioritizing AI use cases based on public health value, readiness, risk, and sustainability.
Identify use cases that should be pursued, piloted, deferred, redesigned, or rejected.
Create a portfolio view that balances innovation, risk, equity, and operational capacity.
Produce a use case prioritization rubric for governance or leadership review.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AI opportunities can quickly exceed an agency's capacity to evaluate, implement, and sustain them. Leaders need a portfolio strategy that helps distinguish high-value public health uses from attractive but low-impact experiments. A portfolio approach organizes AI opportunities across programs, risk levels, readiness, equity impact, technical feasibility, expected benefit, and sustainability needs.
This module teaches leaders how to create an AI use case intake and prioritization process. The module emphasizes that prioritization should not be based only on novelty or vendor availability. It should be based on mission alignment, public health value, data readiness, workflow fit, risk, equity, staff capacity, cost, and the ability to monitor and sustain the use case over time.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and Agency Policy Note
This national-level module is intended for training and planning purposes. It does not replace legal, privacy, procurement, civil rights, records, or agency policy review. Learners should confirm applicable requirements in their own jurisdiction and organization before implementing AI-supported workflows.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Public health agencies have many possible AI use cases: summarizing case notes, analyzing call logs, drafting messages, identifying data quality gaps, forecasting demand, prioritizing inspections, supporting grants, and improving knowledge management. Without a portfolio strategy, agencies may choose projects because they are visible, easy to demonstrate, or championed by a strong vendor rather than because they advance the public health mission.
A portfolio strategy protects scarce capacity. Technical teams, privacy officers, legal counsel, procurement staff, program leaders, and data stewards cannot review every idea at the same intensity. Prioritization helps the agency focus deep review on use cases with meaningful benefit and material risk while creating faster pathways for low-risk internal productivity uses.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health department receives proposals for five AI uses: a public chatbot, a staff policy assistant, an outbreak signal detection model, a vendor tool to summarize eCRs, and an internal tool to draft grant narratives. Each proposal has different benefits and risks. A public chatbot may be visible but high-risk if it gives health advice. A staff policy assistant may be lower risk if it uses approved internal documents. An outbreak model may be valuable but require strong data quality and validation.
A portfolio review allows the agency to compare these proposals systematically. The agency may approve a low-risk internal pilot, defer the chatbot until public communication safeguards are developed, require validation planning for the outbreak model, and move the eCR summarization tool into deeper technical review. The result is a balanced portfolio rather than a series of disconnected decisions.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and Governance Deep Dive
A useful portfolio strategy begins with categories. Agencies can classify AI opportunities by function, such as internal productivity, knowledge management, surveillance support, decision support, communication, automation, research, or public-facing service. They can also classify by risk, such as low, moderate, high, or prohibited. These categories help leadership understand where AI activity is concentrated and whether the portfolio reflects agency priorities.
Prioritization criteria should include mission alignment, expected public health benefit, workflow burden reduction, data readiness, legal authority, privacy sensitivity, equity impact, technical feasibility, implementation complexity, vendor dependency, cost, sustainability, and monitoring feasibility. A use case with high potential benefit but weak data readiness may be deferred until modernization work improves. A use case with moderate benefit and low risk may be an appropriate early pilot.
Portfolio governance should include regular review. Some use cases should move from idea to pilot, from pilot to operational use, or from operational use to retirement. Others should be stopped because they lack value, create unacceptable risk, duplicate another effort, or depend on unsustainable funding. A living portfolio helps leadership make these decisions transparently.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A major risk is pilot proliferation. Agencies may launch many small AI pilots without a pathway to scale, evaluate, sustain, or retire them. A guardrail is to require every pilot to define success criteria, evaluation evidence, funding assumptions, and an end point.
Another risk is inequitable prioritization. Projects serving better-resourced programs may advance faster than projects addressing underserved communities. A guardrail is to include equity impact and community benefit in the prioritization rubric.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Generative AI projects may be prioritized for internal knowledge management before public-facing use. Predictive analytics projects may be prioritized only when data and validation plans are mature. Agentic workflows may be deferred until governance has defined decision rights, access controls, and rollback procedures. Portfolio strategy helps leaders sequence AI adoption responsibly.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Which current or proposed AI use case in your agency raises this leadership or governance issue most clearly?
Who currently has authority to make decisions about this issue, and is that authority documented?
What evidence would governance or leadership need before approving the use case?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Which staff, partners, or communities would be affected if this issue were handled poorly?
What policy, process, or artifact should be created or updated after this module?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Develop an AI use case prioritization rubric with criteria, scoring levels, required evidence, and decision categories such as pursue, pilot, redesign, defer, or reject.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You Begin
Choose a real or realistic public health AI use case. Document assumptions, unresolved questions, and which agency roles would need to review the artifact before it is adopted. The exercise should produce a work product that could support governance review, leadership discussion, implementation planning, or policy development.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Use case intake form; prioritization rubric; sample portfolio view; decision category definitions.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Use case intake form; prioritization rubric; sample portfolio view; decision category definitions.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the strongest reason this module topic belongs in AI leadership and governance training?
2. Which practice best supports accountable public health AI governance?
3. When should an AI use case be escalated for leadership or governance review?
4. What is weak evidence of completion for a leadership and governance module?
5. What should leaders do when an AI use case has meaningful benefits but unresolved risks?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NIST Artificial Intelligence Risk Management Framework (AI RMF 1.0): https://www.nist.gov/itl/ai-risk-management-framework
NIST Generative AI Profile: https://www.nist.gov/publications/artificial-intelligence-risk-management-framework-generative-artificial-intelligence
NIST Privacy Framework
CDC Public Health Data Strategy and Data Modernization resources: https://www.cdc.gov/public-health-data-strategy/php/about/index.html
WHO Ethics and Governance of Artificial Intelligence for Health: https://www.who.int/publications/i/item/9789240029200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OMB Memorandum M-24-10 on federal AI governance, risk management, and innovation, where relevant to public-sector governance models
Agency strategic plans, procurement policies, privacy policies, cybersecurity policies, records policies, and equity plans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EXE 410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AI Portfolio Strategy and Use Case Prioritization</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Portfolio Strategy and Use Case Prioritization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AI opportunities can quickly exceed an agency's capacity to evaluate,.</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Leaders need a portfolio strategy that helps distinguish high-value public.</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A portfolio approach organizes AI opportunities across programs, risk.</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45336"/>
            <a:ext cx="28254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Module details</a:t>
            </a:r>
            <a:endParaRPr lang="en-US" sz="1220" dirty="0"/>
          </a:p>
        </p:txBody>
      </p:sp>
      <p:sp>
        <p:nvSpPr>
          <p:cNvPr id="12" name="Text 10"/>
          <p:cNvSpPr/>
          <p:nvPr/>
        </p:nvSpPr>
        <p:spPr>
          <a:xfrm>
            <a:off x="8074152" y="1856232"/>
            <a:ext cx="2825496" cy="1408176"/>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Level: advanced/leadership Primary track: Public Health Executive Leadership.</a:t>
            </a:r>
            <a:endParaRPr lang="en-US" sz="1220" dirty="0"/>
          </a:p>
        </p:txBody>
      </p:sp>
      <p:sp>
        <p:nvSpPr>
          <p:cNvPr id="13" name="Shape 11"/>
          <p:cNvSpPr/>
          <p:nvPr/>
        </p:nvSpPr>
        <p:spPr>
          <a:xfrm>
            <a:off x="7909560" y="3675888"/>
            <a:ext cx="3154680" cy="1691640"/>
          </a:xfrm>
          <a:prstGeom prst="roundRect">
            <a:avLst>
              <a:gd name="adj" fmla="val 6486"/>
            </a:avLst>
          </a:prstGeom>
          <a:solidFill>
            <a:srgbClr val="FFFFFF"/>
          </a:solidFill>
          <a:ln w="12700">
            <a:solidFill>
              <a:srgbClr val="B9D7E6"/>
            </a:solidFill>
            <a:prstDash val="solid"/>
          </a:ln>
        </p:spPr>
      </p:sp>
      <p:sp>
        <p:nvSpPr>
          <p:cNvPr id="14" name="Text 12"/>
          <p:cNvSpPr/>
          <p:nvPr/>
        </p:nvSpPr>
        <p:spPr>
          <a:xfrm>
            <a:off x="8074152" y="3803904"/>
            <a:ext cx="28254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Learning sequence</a:t>
            </a:r>
            <a:endParaRPr lang="en-US" sz="1220" dirty="0"/>
          </a:p>
        </p:txBody>
      </p:sp>
      <p:sp>
        <p:nvSpPr>
          <p:cNvPr id="15" name="Text 13"/>
          <p:cNvSpPr/>
          <p:nvPr/>
        </p:nvSpPr>
        <p:spPr>
          <a:xfrm>
            <a:off x="8092440" y="4133088"/>
            <a:ext cx="2770632" cy="1124712"/>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Read the module for shared vocabulary and context.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Complete the practical exercise to apply the.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Use the notes and references for deeper review.</a:t>
            </a:r>
            <a:endParaRPr lang="en-US" sz="114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Portfolio Strategy and Use Case Prioritization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1016" tIns="1016" rIns="1016" bIns="1016" rtlCol="0" anchor="t">
            <a:normAutofit/>
          </a:bodyPr>
          <a:lstStyle/>
          <a:p>
            <a:pPr indent="0" marL="0">
              <a:buNone/>
            </a:pPr>
            <a:r>
              <a:rPr lang="en-US" sz="1900" dirty="0">
                <a:solidFill>
                  <a:srgbClr val="003A63"/>
                </a:solidFill>
                <a:latin typeface="Aptos" pitchFamily="34" charset="0"/>
                <a:ea typeface="Aptos" pitchFamily="34" charset="-122"/>
                <a:cs typeface="Aptos" pitchFamily="34" charset="-120"/>
              </a:rPr>
              <a:t>• Play 11: Build and Deploy AI Solutions - This lesson informs Play 11 by.</a:t>
            </a:r>
            <a:endParaRPr lang="en-US" sz="1900" dirty="0"/>
          </a:p>
          <a:p>
            <a:pPr indent="0" marL="0">
              <a:buNone/>
            </a:pPr>
            <a:r>
              <a:rPr lang="en-US" sz="1900" dirty="0">
                <a:solidFill>
                  <a:srgbClr val="003A63"/>
                </a:solidFill>
                <a:latin typeface="Aptos" pitchFamily="34" charset="0"/>
                <a:ea typeface="Aptos" pitchFamily="34" charset="-122"/>
                <a:cs typeface="Aptos" pitchFamily="34" charset="-120"/>
              </a:rPr>
              <a:t>• Play 7: Prioritize Use Cases - This lesson informs Play 7 by helping.</a:t>
            </a:r>
            <a:endParaRPr lang="en-US" sz="1900" dirty="0"/>
          </a:p>
          <a:p>
            <a:pPr indent="0" marL="0">
              <a:buNone/>
            </a:pPr>
            <a:r>
              <a:rPr lang="en-US" sz="1900" dirty="0">
                <a:solidFill>
                  <a:srgbClr val="003A63"/>
                </a:solidFill>
                <a:latin typeface="Aptos" pitchFamily="34" charset="0"/>
                <a:ea typeface="Aptos" pitchFamily="34" charset="-122"/>
                <a:cs typeface="Aptos" pitchFamily="34" charset="-120"/>
              </a:rPr>
              <a:t>• Play 8: Develop a Funding Strategy - This lesson informs Play 8 by helping.</a:t>
            </a:r>
            <a:endParaRPr lang="en-US" sz="1900" dirty="0"/>
          </a:p>
          <a:p>
            <a:pPr indent="0" marL="0">
              <a:buNone/>
            </a:pPr>
            <a:r>
              <a:rPr lang="en-US" sz="1900" dirty="0">
                <a:solidFill>
                  <a:srgbClr val="003A63"/>
                </a:solidFill>
                <a:latin typeface="Aptos" pitchFamily="34" charset="0"/>
                <a:ea typeface="Aptos" pitchFamily="34" charset="-122"/>
                <a:cs typeface="Aptos" pitchFamily="34" charset="-120"/>
              </a:rPr>
              <a:t>• Play 1: Vision &amp; Guardrails - This lesson informs Play 1 by helping learners.</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45336"/>
            <a:ext cx="273405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the lesson</a:t>
            </a:r>
            <a:endParaRPr lang="en-US" sz="1220" dirty="0"/>
          </a:p>
        </p:txBody>
      </p:sp>
      <p:sp>
        <p:nvSpPr>
          <p:cNvPr id="12" name="Text 10"/>
          <p:cNvSpPr/>
          <p:nvPr/>
        </p:nvSpPr>
        <p:spPr>
          <a:xfrm>
            <a:off x="8211312" y="1856232"/>
            <a:ext cx="2734056" cy="1591056"/>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related plays to identify decisions, participants, timing, approvals,.</a:t>
            </a:r>
            <a:endParaRPr lang="en-US" sz="1220" dirty="0"/>
          </a:p>
        </p:txBody>
      </p:sp>
      <p:sp>
        <p:nvSpPr>
          <p:cNvPr id="13" name="Shape 11"/>
          <p:cNvSpPr/>
          <p:nvPr/>
        </p:nvSpPr>
        <p:spPr>
          <a:xfrm>
            <a:off x="8046720" y="3794760"/>
            <a:ext cx="3063240" cy="1600200"/>
          </a:xfrm>
          <a:prstGeom prst="roundRect">
            <a:avLst>
              <a:gd name="adj" fmla="val 6857"/>
            </a:avLst>
          </a:prstGeom>
          <a:solidFill>
            <a:srgbClr val="FFFFFF"/>
          </a:solidFill>
          <a:ln w="12700">
            <a:solidFill>
              <a:srgbClr val="B9D7E6"/>
            </a:solidFill>
            <a:prstDash val="solid"/>
          </a:ln>
        </p:spPr>
      </p:sp>
      <p:sp>
        <p:nvSpPr>
          <p:cNvPr id="14" name="Text 12"/>
          <p:cNvSpPr/>
          <p:nvPr/>
        </p:nvSpPr>
        <p:spPr>
          <a:xfrm>
            <a:off x="8211312" y="3922776"/>
            <a:ext cx="273405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Use the play links to</a:t>
            </a:r>
            <a:endParaRPr lang="en-US" sz="1220" dirty="0"/>
          </a:p>
        </p:txBody>
      </p:sp>
      <p:sp>
        <p:nvSpPr>
          <p:cNvPr id="15" name="Text 13"/>
          <p:cNvSpPr/>
          <p:nvPr/>
        </p:nvSpPr>
        <p:spPr>
          <a:xfrm>
            <a:off x="8229600" y="4251960"/>
            <a:ext cx="2679192" cy="1033272"/>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Locate the decision point in the playbook sequence.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Identify who should participate in the work.</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Document the review, approval, or implementation.</a:t>
            </a:r>
            <a:endParaRPr lang="en-US" sz="114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Portfolio Strategy and Use Case Prioritization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1016" tIns="1016" rIns="1016" bIns="1016" rtlCol="0" anchor="t">
            <a:normAutofit/>
          </a:bodyPr>
          <a:lstStyle/>
          <a:p>
            <a:pPr indent="0" marL="0">
              <a:buNone/>
            </a:pPr>
            <a:r>
              <a:rPr lang="en-US" sz="1850" dirty="0">
                <a:solidFill>
                  <a:srgbClr val="003A63"/>
                </a:solidFill>
                <a:latin typeface="Aptos" pitchFamily="34" charset="0"/>
                <a:ea typeface="Aptos" pitchFamily="34" charset="-122"/>
                <a:cs typeface="Aptos" pitchFamily="34" charset="-120"/>
              </a:rPr>
              <a:t>• Tool 33: Funding Strategy Checklists (Checklist) - Use this tool to complete.</a:t>
            </a:r>
            <a:endParaRPr lang="en-US" sz="1850" dirty="0"/>
          </a:p>
          <a:p>
            <a:pPr indent="0" marL="0">
              <a:buNone/>
            </a:pPr>
            <a:r>
              <a:rPr lang="en-US" sz="1850" dirty="0">
                <a:solidFill>
                  <a:srgbClr val="003A63"/>
                </a:solidFill>
                <a:latin typeface="Aptos" pitchFamily="34" charset="0"/>
                <a:ea typeface="Aptos" pitchFamily="34" charset="-122"/>
                <a:cs typeface="Aptos" pitchFamily="34" charset="-120"/>
              </a:rPr>
              <a:t>• Tool 35: AI Total Cost of Ownership and Sustainability Worksheet (Worksheet).</a:t>
            </a:r>
            <a:endParaRPr lang="en-US" sz="1850" dirty="0"/>
          </a:p>
          <a:p>
            <a:pPr indent="0" marL="0">
              <a:buNone/>
            </a:pPr>
            <a:r>
              <a:rPr lang="en-US" sz="1850" dirty="0">
                <a:solidFill>
                  <a:srgbClr val="003A63"/>
                </a:solidFill>
                <a:latin typeface="Aptos" pitchFamily="34" charset="0"/>
                <a:ea typeface="Aptos" pitchFamily="34" charset="-122"/>
                <a:cs typeface="Aptos" pitchFamily="34" charset="-120"/>
              </a:rPr>
              <a:t>• Tool 4: AI Policy Landscape Scan (Worksheet) - Use AI Policy Landscape Scan.</a:t>
            </a:r>
            <a:endParaRPr lang="en-US" sz="1850" dirty="0"/>
          </a:p>
          <a:p>
            <a:pPr indent="0" marL="0">
              <a:buNone/>
            </a:pPr>
            <a:r>
              <a:rPr lang="en-US" sz="1850" dirty="0">
                <a:solidFill>
                  <a:srgbClr val="003A63"/>
                </a:solidFill>
                <a:latin typeface="Aptos" pitchFamily="34" charset="0"/>
                <a:ea typeface="Aptos" pitchFamily="34" charset="-122"/>
                <a:cs typeface="Aptos" pitchFamily="34" charset="-120"/>
              </a:rPr>
              <a:t>• Tool 5: AI Environmental and Resource Impact Review (Checklist) - Use this.</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45336"/>
            <a:ext cx="273405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Use the tools</a:t>
            </a:r>
            <a:endParaRPr lang="en-US" sz="1220" dirty="0"/>
          </a:p>
        </p:txBody>
      </p:sp>
      <p:sp>
        <p:nvSpPr>
          <p:cNvPr id="12" name="Text 10"/>
          <p:cNvSpPr/>
          <p:nvPr/>
        </p:nvSpPr>
        <p:spPr>
          <a:xfrm>
            <a:off x="8211312" y="1856232"/>
            <a:ext cx="2734056" cy="1591056"/>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linked tools when your department needs a structured worksheet, template,.</a:t>
            </a:r>
            <a:endParaRPr lang="en-US" sz="1220" dirty="0"/>
          </a:p>
        </p:txBody>
      </p:sp>
      <p:sp>
        <p:nvSpPr>
          <p:cNvPr id="13" name="Shape 11"/>
          <p:cNvSpPr/>
          <p:nvPr/>
        </p:nvSpPr>
        <p:spPr>
          <a:xfrm>
            <a:off x="8046720" y="3794760"/>
            <a:ext cx="3063240" cy="1600200"/>
          </a:xfrm>
          <a:prstGeom prst="roundRect">
            <a:avLst>
              <a:gd name="adj" fmla="val 6857"/>
            </a:avLst>
          </a:prstGeom>
          <a:solidFill>
            <a:srgbClr val="FFFFFF"/>
          </a:solidFill>
          <a:ln w="12700">
            <a:solidFill>
              <a:srgbClr val="B9D7E6"/>
            </a:solidFill>
            <a:prstDash val="solid"/>
          </a:ln>
        </p:spPr>
      </p:sp>
      <p:sp>
        <p:nvSpPr>
          <p:cNvPr id="14" name="Text 12"/>
          <p:cNvSpPr/>
          <p:nvPr/>
        </p:nvSpPr>
        <p:spPr>
          <a:xfrm>
            <a:off x="8211312" y="3922776"/>
            <a:ext cx="273405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Tool selection cues</a:t>
            </a:r>
            <a:endParaRPr lang="en-US" sz="1220" dirty="0"/>
          </a:p>
        </p:txBody>
      </p:sp>
      <p:sp>
        <p:nvSpPr>
          <p:cNvPr id="15" name="Text 13"/>
          <p:cNvSpPr/>
          <p:nvPr/>
        </p:nvSpPr>
        <p:spPr>
          <a:xfrm>
            <a:off x="8229600" y="4251960"/>
            <a:ext cx="2679192" cy="1033272"/>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Use a tool when no comparable local process exists.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Adapt existing department templates when they.</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Save the completed artifact as evidence of the.</a:t>
            </a:r>
            <a:endParaRPr lang="en-US" sz="114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Portfolio Strategy and Use Case Prioritization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Define the purpose of an AI portfolio strategy for public health agencies.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Develop criteria for prioritizing AI use cases based on public health value,.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Identify use cases that should be pursued, piloted, deferred, redesigned, or.</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Practice focus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Define the purpose of an AI portfolio strategy for public health agencies.</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Develop criteria for prioritizing AI use cases.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Create a portfolio view that balances innovation,.</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Produce a use case prioritization rubric for.</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produce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Portfolio Strategy and Use Case Prioritization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AI opportunities can quickly exceed an agency's capacity to evaluate,.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Leaders need a portfolio strategy that helps distinguish high-value public.</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 portfolio approach organizes AI opportunities across programs, risk.</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AI opportunities can quickly exceed an agency's capacity to evaluate, implement,.</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Leaders need a portfolio strategy that helps.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 portfolio approach organizes AI opportunities.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This module teaches leaders how to create an AI.</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Portfolio Strategy and Use Case Prioritization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Jurisdiction and Agency Policy Note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This national-level module is intended for training and planning purposes.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It does not replace legal, privacy, procurement, civil rights, records, or.</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Learners should confirm applicable requirements in their own jurisdiction.</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Governance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This national-level module is intended for training and planning purposes.</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19456"/>
          </a:xfrm>
          <a:prstGeom prst="rect">
            <a:avLst/>
          </a:prstGeom>
          <a:noFill/>
          <a:ln/>
        </p:spPr>
        <p:txBody>
          <a:bodyPr wrap="square" lIns="0" tIns="0" rIns="0" bIns="0" rtlCol="0" anchor="ctr">
            <a:normAutofit/>
          </a:bodyPr>
          <a:lstStyle/>
          <a:p>
            <a:pPr indent="0" marL="0">
              <a:buNone/>
            </a:pPr>
            <a:r>
              <a:rPr lang="en-US" sz="1160" b="1" dirty="0">
                <a:solidFill>
                  <a:srgbClr val="0068B7"/>
                </a:solidFill>
                <a:latin typeface="Aptos" pitchFamily="34" charset="0"/>
                <a:ea typeface="Aptos" pitchFamily="34" charset="-122"/>
                <a:cs typeface="Aptos" pitchFamily="34" charset="-120"/>
              </a:rPr>
              <a:t>Governance pathway</a:t>
            </a:r>
            <a:endParaRPr lang="en-US" sz="1160" dirty="0"/>
          </a:p>
        </p:txBody>
      </p:sp>
      <p:sp>
        <p:nvSpPr>
          <p:cNvPr id="15" name="Shape 13"/>
          <p:cNvSpPr/>
          <p:nvPr/>
        </p:nvSpPr>
        <p:spPr>
          <a:xfrm>
            <a:off x="8717280" y="3406140"/>
            <a:ext cx="164592" cy="0"/>
          </a:xfrm>
          <a:prstGeom prst="line">
            <a:avLst/>
          </a:prstGeom>
          <a:noFill/>
          <a:ln w="15240">
            <a:solidFill>
              <a:srgbClr val="8ABBD8"/>
            </a:solidFill>
            <a:prstDash val="solid"/>
          </a:ln>
        </p:spPr>
      </p:sp>
      <p:sp>
        <p:nvSpPr>
          <p:cNvPr id="16" name="Shape 14"/>
          <p:cNvSpPr/>
          <p:nvPr/>
        </p:nvSpPr>
        <p:spPr>
          <a:xfrm>
            <a:off x="7781544" y="3255264"/>
            <a:ext cx="93573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818120"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Submit</a:t>
            </a:r>
            <a:endParaRPr lang="en-US" sz="880" dirty="0"/>
          </a:p>
        </p:txBody>
      </p:sp>
      <p:sp>
        <p:nvSpPr>
          <p:cNvPr id="18" name="Shape 16"/>
          <p:cNvSpPr/>
          <p:nvPr/>
        </p:nvSpPr>
        <p:spPr>
          <a:xfrm>
            <a:off x="9817608" y="3406140"/>
            <a:ext cx="164592" cy="0"/>
          </a:xfrm>
          <a:prstGeom prst="line">
            <a:avLst/>
          </a:prstGeom>
          <a:noFill/>
          <a:ln w="15240">
            <a:solidFill>
              <a:srgbClr val="8ABBD8"/>
            </a:solidFill>
            <a:prstDash val="solid"/>
          </a:ln>
        </p:spPr>
      </p:sp>
      <p:sp>
        <p:nvSpPr>
          <p:cNvPr id="19" name="Shape 17"/>
          <p:cNvSpPr/>
          <p:nvPr/>
        </p:nvSpPr>
        <p:spPr>
          <a:xfrm>
            <a:off x="8881872" y="3255264"/>
            <a:ext cx="93573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18448"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Review</a:t>
            </a:r>
            <a:endParaRPr lang="en-US" sz="880" dirty="0"/>
          </a:p>
        </p:txBody>
      </p:sp>
      <p:sp>
        <p:nvSpPr>
          <p:cNvPr id="21" name="Shape 19"/>
          <p:cNvSpPr/>
          <p:nvPr/>
        </p:nvSpPr>
        <p:spPr>
          <a:xfrm>
            <a:off x="9982200" y="3255264"/>
            <a:ext cx="93573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Oversee</a:t>
            </a:r>
            <a:endParaRPr lang="en-US" sz="880" dirty="0"/>
          </a:p>
        </p:txBody>
      </p:sp>
      <p:sp>
        <p:nvSpPr>
          <p:cNvPr id="23" name="Text 21"/>
          <p:cNvSpPr/>
          <p:nvPr/>
        </p:nvSpPr>
        <p:spPr>
          <a:xfrm>
            <a:off x="7763256" y="3749040"/>
            <a:ext cx="3172968" cy="356616"/>
          </a:xfrm>
          <a:prstGeom prst="rect">
            <a:avLst/>
          </a:prstGeom>
          <a:noFill/>
          <a:ln/>
        </p:spPr>
        <p:txBody>
          <a:bodyPr wrap="square" lIns="254" tIns="254" rIns="254" bIns="254" rtlCol="0" anchor="t">
            <a:normAutofit/>
          </a:bodyPr>
          <a:lstStyle/>
          <a:p>
            <a:pPr indent="0" marL="0">
              <a:buNone/>
            </a:pPr>
            <a:r>
              <a:rPr lang="en-US" sz="1040" dirty="0">
                <a:solidFill>
                  <a:srgbClr val="17364A"/>
                </a:solidFill>
                <a:latin typeface="Aptos" pitchFamily="34" charset="0"/>
                <a:ea typeface="Aptos" pitchFamily="34" charset="-122"/>
                <a:cs typeface="Aptos" pitchFamily="34" charset="-120"/>
              </a:rPr>
              <a:t>A proposed AI use should move through documented review before it.</a:t>
            </a:r>
            <a:endParaRPr lang="en-US" sz="1040" dirty="0"/>
          </a:p>
        </p:txBody>
      </p:sp>
      <p:sp>
        <p:nvSpPr>
          <p:cNvPr id="24" name="Shape 22"/>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25" name="Text 23"/>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document</a:t>
            </a:r>
            <a:endParaRPr lang="en-US" sz="1220" dirty="0"/>
          </a:p>
        </p:txBody>
      </p:sp>
      <p:sp>
        <p:nvSpPr>
          <p:cNvPr id="26" name="Text 24"/>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Translate this concept into clear decision rights, review steps, documentation.</a:t>
            </a:r>
            <a:endParaRPr lang="en-US" sz="12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Portfolio Strategy and Use Case Prioritization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Public health agencies have many possible AI use cases: summarizing case.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Without a portfolio strategy, agencies may choose projects because they are.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 portfolio strategy protects scarce capacity.</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Public health agencies have many possible AI use cases: summarizing case notes,.</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Public health agencies have many possible AI use.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Without a portfolio strategy, agencies may choose.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Technical teams, privacy officers, legal counsel,.</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Portfolio Strategy and Use Case Prioritization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 health department receives proposals for five AI uses: a public chatbot, a.</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Each proposal has different benefits and risks.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 public chatbot may be visible but high-risk if it gives health advice.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 health department receives proposals for five AI uses: a public chatbot, a.</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A health department receives proposals for five AI.</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 staff policy assistant may be lower risk if it.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An outbreak model may be valuable but require.</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Portfolio Strategy and Use Case Prioritization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and Governance Deep Dive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 useful portfolio strategy begins with categories.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Agencies can classify AI opportunities by function, such as internal.</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They can also classify by risk, such as low, moderate, high, or prohibited.</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Governance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 useful portfolio strategy begins with categories.</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19456"/>
          </a:xfrm>
          <a:prstGeom prst="rect">
            <a:avLst/>
          </a:prstGeom>
          <a:noFill/>
          <a:ln/>
        </p:spPr>
        <p:txBody>
          <a:bodyPr wrap="square" lIns="0" tIns="0" rIns="0" bIns="0" rtlCol="0" anchor="ctr">
            <a:normAutofit/>
          </a:bodyPr>
          <a:lstStyle/>
          <a:p>
            <a:pPr indent="0" marL="0">
              <a:buNone/>
            </a:pPr>
            <a:r>
              <a:rPr lang="en-US" sz="1160" b="1" dirty="0">
                <a:solidFill>
                  <a:srgbClr val="0068B7"/>
                </a:solidFill>
                <a:latin typeface="Aptos" pitchFamily="34" charset="0"/>
                <a:ea typeface="Aptos" pitchFamily="34" charset="-122"/>
                <a:cs typeface="Aptos" pitchFamily="34" charset="-120"/>
              </a:rPr>
              <a:t>Governance pathway</a:t>
            </a:r>
            <a:endParaRPr lang="en-US" sz="1160" dirty="0"/>
          </a:p>
        </p:txBody>
      </p:sp>
      <p:sp>
        <p:nvSpPr>
          <p:cNvPr id="15" name="Shape 13"/>
          <p:cNvSpPr/>
          <p:nvPr/>
        </p:nvSpPr>
        <p:spPr>
          <a:xfrm>
            <a:off x="8717280" y="3406140"/>
            <a:ext cx="164592" cy="0"/>
          </a:xfrm>
          <a:prstGeom prst="line">
            <a:avLst/>
          </a:prstGeom>
          <a:noFill/>
          <a:ln w="15240">
            <a:solidFill>
              <a:srgbClr val="8ABBD8"/>
            </a:solidFill>
            <a:prstDash val="solid"/>
          </a:ln>
        </p:spPr>
      </p:sp>
      <p:sp>
        <p:nvSpPr>
          <p:cNvPr id="16" name="Shape 14"/>
          <p:cNvSpPr/>
          <p:nvPr/>
        </p:nvSpPr>
        <p:spPr>
          <a:xfrm>
            <a:off x="7781544" y="3255264"/>
            <a:ext cx="93573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818120"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Submit</a:t>
            </a:r>
            <a:endParaRPr lang="en-US" sz="880" dirty="0"/>
          </a:p>
        </p:txBody>
      </p:sp>
      <p:sp>
        <p:nvSpPr>
          <p:cNvPr id="18" name="Shape 16"/>
          <p:cNvSpPr/>
          <p:nvPr/>
        </p:nvSpPr>
        <p:spPr>
          <a:xfrm>
            <a:off x="9817608" y="3406140"/>
            <a:ext cx="164592" cy="0"/>
          </a:xfrm>
          <a:prstGeom prst="line">
            <a:avLst/>
          </a:prstGeom>
          <a:noFill/>
          <a:ln w="15240">
            <a:solidFill>
              <a:srgbClr val="8ABBD8"/>
            </a:solidFill>
            <a:prstDash val="solid"/>
          </a:ln>
        </p:spPr>
      </p:sp>
      <p:sp>
        <p:nvSpPr>
          <p:cNvPr id="19" name="Shape 17"/>
          <p:cNvSpPr/>
          <p:nvPr/>
        </p:nvSpPr>
        <p:spPr>
          <a:xfrm>
            <a:off x="8881872" y="3255264"/>
            <a:ext cx="93573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18448"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Review</a:t>
            </a:r>
            <a:endParaRPr lang="en-US" sz="880" dirty="0"/>
          </a:p>
        </p:txBody>
      </p:sp>
      <p:sp>
        <p:nvSpPr>
          <p:cNvPr id="21" name="Shape 19"/>
          <p:cNvSpPr/>
          <p:nvPr/>
        </p:nvSpPr>
        <p:spPr>
          <a:xfrm>
            <a:off x="9982200" y="3255264"/>
            <a:ext cx="93573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Oversee</a:t>
            </a:r>
            <a:endParaRPr lang="en-US" sz="880" dirty="0"/>
          </a:p>
        </p:txBody>
      </p:sp>
      <p:sp>
        <p:nvSpPr>
          <p:cNvPr id="23" name="Text 21"/>
          <p:cNvSpPr/>
          <p:nvPr/>
        </p:nvSpPr>
        <p:spPr>
          <a:xfrm>
            <a:off x="7763256" y="3749040"/>
            <a:ext cx="3172968" cy="356616"/>
          </a:xfrm>
          <a:prstGeom prst="rect">
            <a:avLst/>
          </a:prstGeom>
          <a:noFill/>
          <a:ln/>
        </p:spPr>
        <p:txBody>
          <a:bodyPr wrap="square" lIns="254" tIns="254" rIns="254" bIns="254" rtlCol="0" anchor="t">
            <a:normAutofit/>
          </a:bodyPr>
          <a:lstStyle/>
          <a:p>
            <a:pPr indent="0" marL="0">
              <a:buNone/>
            </a:pPr>
            <a:r>
              <a:rPr lang="en-US" sz="1040" dirty="0">
                <a:solidFill>
                  <a:srgbClr val="17364A"/>
                </a:solidFill>
                <a:latin typeface="Aptos" pitchFamily="34" charset="0"/>
                <a:ea typeface="Aptos" pitchFamily="34" charset="-122"/>
                <a:cs typeface="Aptos" pitchFamily="34" charset="-120"/>
              </a:rPr>
              <a:t>A proposed AI use should move through documented review before it.</a:t>
            </a:r>
            <a:endParaRPr lang="en-US" sz="1040" dirty="0"/>
          </a:p>
        </p:txBody>
      </p:sp>
      <p:sp>
        <p:nvSpPr>
          <p:cNvPr id="24" name="Shape 22"/>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25" name="Text 23"/>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document</a:t>
            </a:r>
            <a:endParaRPr lang="en-US" sz="1220" dirty="0"/>
          </a:p>
        </p:txBody>
      </p:sp>
      <p:sp>
        <p:nvSpPr>
          <p:cNvPr id="26" name="Text 24"/>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Translate this concept into clear decision rights, review steps, documentation.</a:t>
            </a:r>
            <a:endParaRPr lang="en-US" sz="12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Portfolio Strategy and Use Case Prioritization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 major risk is pilot proliferation.</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Agencies may launch many small AI pilots without a pathway to scale,.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 guardrail is to require every pilot to define success criteria, evaluation.</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Risk check</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 major risk is pilot proliferation.</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19456"/>
          </a:xfrm>
          <a:prstGeom prst="rect">
            <a:avLst/>
          </a:prstGeom>
          <a:noFill/>
          <a:ln/>
        </p:spPr>
        <p:txBody>
          <a:bodyPr wrap="square" lIns="0" tIns="0" rIns="0" bIns="0" rtlCol="0" anchor="ctr">
            <a:normAutofit/>
          </a:bodyPr>
          <a:lstStyle/>
          <a:p>
            <a:pPr indent="0" marL="0">
              <a:buNone/>
            </a:pPr>
            <a:r>
              <a:rPr lang="en-US" sz="1160" b="1" dirty="0">
                <a:solidFill>
                  <a:srgbClr val="0068B7"/>
                </a:solidFill>
                <a:latin typeface="Aptos" pitchFamily="34" charset="0"/>
                <a:ea typeface="Aptos" pitchFamily="34" charset="-122"/>
                <a:cs typeface="Aptos" pitchFamily="34" charset="-120"/>
              </a:rPr>
              <a:t>Risk control loop</a:t>
            </a:r>
            <a:endParaRPr lang="en-US" sz="1160" dirty="0"/>
          </a:p>
        </p:txBody>
      </p:sp>
      <p:sp>
        <p:nvSpPr>
          <p:cNvPr id="15" name="Shape 13"/>
          <p:cNvSpPr/>
          <p:nvPr/>
        </p:nvSpPr>
        <p:spPr>
          <a:xfrm>
            <a:off x="8717280" y="3406140"/>
            <a:ext cx="164592" cy="0"/>
          </a:xfrm>
          <a:prstGeom prst="line">
            <a:avLst/>
          </a:prstGeom>
          <a:noFill/>
          <a:ln w="15240">
            <a:solidFill>
              <a:srgbClr val="8ABBD8"/>
            </a:solidFill>
            <a:prstDash val="solid"/>
          </a:ln>
        </p:spPr>
      </p:sp>
      <p:sp>
        <p:nvSpPr>
          <p:cNvPr id="16" name="Shape 14"/>
          <p:cNvSpPr/>
          <p:nvPr/>
        </p:nvSpPr>
        <p:spPr>
          <a:xfrm>
            <a:off x="7781544" y="3255264"/>
            <a:ext cx="93573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818120"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Identify</a:t>
            </a:r>
            <a:endParaRPr lang="en-US" sz="880" dirty="0"/>
          </a:p>
        </p:txBody>
      </p:sp>
      <p:sp>
        <p:nvSpPr>
          <p:cNvPr id="18" name="Shape 16"/>
          <p:cNvSpPr/>
          <p:nvPr/>
        </p:nvSpPr>
        <p:spPr>
          <a:xfrm>
            <a:off x="9817608" y="3406140"/>
            <a:ext cx="164592" cy="0"/>
          </a:xfrm>
          <a:prstGeom prst="line">
            <a:avLst/>
          </a:prstGeom>
          <a:noFill/>
          <a:ln w="15240">
            <a:solidFill>
              <a:srgbClr val="8ABBD8"/>
            </a:solidFill>
            <a:prstDash val="solid"/>
          </a:ln>
        </p:spPr>
      </p:sp>
      <p:sp>
        <p:nvSpPr>
          <p:cNvPr id="19" name="Shape 17"/>
          <p:cNvSpPr/>
          <p:nvPr/>
        </p:nvSpPr>
        <p:spPr>
          <a:xfrm>
            <a:off x="8881872" y="3255264"/>
            <a:ext cx="93573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18448"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Control</a:t>
            </a:r>
            <a:endParaRPr lang="en-US" sz="880" dirty="0"/>
          </a:p>
        </p:txBody>
      </p:sp>
      <p:sp>
        <p:nvSpPr>
          <p:cNvPr id="21" name="Shape 19"/>
          <p:cNvSpPr/>
          <p:nvPr/>
        </p:nvSpPr>
        <p:spPr>
          <a:xfrm>
            <a:off x="9982200" y="3255264"/>
            <a:ext cx="93573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Monitor</a:t>
            </a:r>
            <a:endParaRPr lang="en-US" sz="880" dirty="0"/>
          </a:p>
        </p:txBody>
      </p:sp>
      <p:sp>
        <p:nvSpPr>
          <p:cNvPr id="23" name="Text 21"/>
          <p:cNvSpPr/>
          <p:nvPr/>
        </p:nvSpPr>
        <p:spPr>
          <a:xfrm>
            <a:off x="7763256" y="3749040"/>
            <a:ext cx="3172968" cy="356616"/>
          </a:xfrm>
          <a:prstGeom prst="rect">
            <a:avLst/>
          </a:prstGeom>
          <a:noFill/>
          <a:ln/>
        </p:spPr>
        <p:txBody>
          <a:bodyPr wrap="square" lIns="254" tIns="254" rIns="254" bIns="254" rtlCol="0" anchor="t">
            <a:normAutofit/>
          </a:bodyPr>
          <a:lstStyle/>
          <a:p>
            <a:pPr indent="0" marL="0">
              <a:buNone/>
            </a:pPr>
            <a:r>
              <a:rPr lang="en-US" sz="1040" dirty="0">
                <a:solidFill>
                  <a:srgbClr val="17364A"/>
                </a:solidFill>
                <a:latin typeface="Aptos" pitchFamily="34" charset="0"/>
                <a:ea typeface="Aptos" pitchFamily="34" charset="-122"/>
                <a:cs typeface="Aptos" pitchFamily="34" charset="-120"/>
              </a:rPr>
              <a:t>Responsible use depends on finding risks early, applying safeguards,.</a:t>
            </a:r>
            <a:endParaRPr lang="en-US" sz="1040" dirty="0"/>
          </a:p>
        </p:txBody>
      </p:sp>
      <p:sp>
        <p:nvSpPr>
          <p:cNvPr id="24" name="Shape 22"/>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25" name="Text 23"/>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Safeguard to plan</a:t>
            </a:r>
            <a:endParaRPr lang="en-US" sz="1220" dirty="0"/>
          </a:p>
        </p:txBody>
      </p:sp>
      <p:sp>
        <p:nvSpPr>
          <p:cNvPr id="26" name="Text 24"/>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Identify what could go wrong, who could be affected, what safeguards are needed,.</a:t>
            </a:r>
            <a:endParaRPr lang="en-US" sz="12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Portfolio Strategy and Use Case Prioritization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Generative AI projects may be prioritized for internal knowledge management.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Predictive analytics projects may be prioritized only when data and.</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Agentic workflows may be deferred until governance has defined decision.</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Generative AI projects may be prioritized for internal knowledge management.</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Agentic workflows may be deferred until governance.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Portfolio strategy helps leaders sequence AI.</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clarify workflow changes, dependencies, staffing, procurement.</a:t>
            </a:r>
            <a:endParaRPr lang="en-US" sz="12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Portfolio Strategy and Use Case Prioritization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Which current or proposed AI use case in your agency raises this leadership.</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Who currently has authority to make decisions about this issue, and is that.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What evidence would governance or leadership need before approving the use.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Which current or proposed AI use case in your agency raises this leadership or.</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Which current or proposed AI use case in your.</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Who currently has authority to make decisions.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What evidence would governance or leadership need.</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Portfolio Strategy and Use Case Prioritization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Which staff, partners, or communities would be affected if this issue were.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What policy, process, or artifact should be created or updated after this.</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Which staff, partners, or communities would be affected if this issue were.</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Which staff, partners, or communities would be.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What policy, process, or artifact should be.</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Portfolio Strategy and Use Case Prioritization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Develop an AI use case prioritization rubric with criteria, scoring levels,.</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Practice focus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Develop an AI use case prioritization rubric with criteria, scoring levels,.</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Develop an AI use case prioritization rubric with.</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produce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Portfolio Strategy and Use Case Prioritization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Before You Begin</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Choose a real or realistic public health AI use case.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Document assumptions, unresolved questions, and which agency roles would.</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exercise should produce a work product that could support governance.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Choose a real or realistic public health AI use case.</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Document assumptions, unresolved questions, and.</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The exercise should produce a work product that.</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Portfolio Strategy and Use Case Prioritization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Use case intake form; prioritization rubric; sample portfolio view; decision.</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case intake form; prioritization rubric; sample portfolio view; decision.</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Use case intake form; prioritization rubric;.</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Portfolio Strategy and Use Case Prioritization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Use case intake form; prioritization rubric; sample portfolio view; decision.</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Practice focus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case intake form; prioritization rubric; sample portfolio view; decision.</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Use case intake form; prioritization rubric;.</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produce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Portfolio Strategy and Use Case Prioritization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1. What is the strongest reason this module topic belongs in AI leadership.</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2. Which practice best supports accountable public health AI governance?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3. When should an AI use case be escalated for leadership or governance.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Practice focus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What is the strongest reason this module topic belongs in AI leadership and.</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What is the strongest reason this module topic.</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produce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Portfolio Strategy and Use Case Prioritization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NIST Artificial Intelligence Risk Management Framework (AI RMF 1.0):.</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NIST Generative AI Profile:.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NIST Privacy Framework</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NIST Artificial Intelligence Risk Management Framework (AI RMF 1.0):.</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NIST Artificial Intelligence Risk Management.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CDC Public Health Data Strategy and Data.</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WHO Ethics and Governance of Artificial.</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Portfolio Strategy and Use Case Prioritization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 Continued</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OMB Memorandum M-24-10 on federal AI governance, risk management, and.</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Agency strategic plans, procurement policies, privacy policies,.</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OMB Memorandum M-24-10 on federal AI governance, risk management, and.</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OMB Memorandum M-24-10 on federal AI governance,.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Agency strategic plans, procurement policies,.</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Portfolio Strategy and Use Case Prioritization</dc:title>
  <dc:subject>AI Portfolio Strategy and Use Case Prioritization learning module</dc:subject>
  <dc:creator>Paula Soper</dc:creator>
  <cp:lastModifiedBy>Paula Soper</cp:lastModifiedBy>
  <cp:revision>1</cp:revision>
  <dcterms:created xsi:type="dcterms:W3CDTF">2026-07-14T04:35:31Z</dcterms:created>
  <dcterms:modified xsi:type="dcterms:W3CDTF">2026-07-14T04:35:31Z</dcterms:modified>
</cp:coreProperties>
</file>