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220 Human Factors, Workflow Integration, and Usability Testing
AI tools succeed or fail inside real public health workflows. Human factors and usability testing help agencies understand how staff actually use systems, where errors may occur, how cognitive load changes, and whether AI outputs support or distort decision-making. This module teaches learners to evaluate workflow fit, interface design, alert burden, documentation burden, and human review practices before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operations-data-quality
AI tools succeed or fail inside real public health workflows. Human factors and usability testing help agencies understand how staff actually use systems, where errors may occur, how cognitive load changes, and whether AI outputs support or distort decision-making. This module teaches learners to evaluate workflow fit, interface design, alert burden, documentation burden, and human review practices before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human factors, workflow integration, and usability testing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workflow usability test plan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tools succeed or fail inside real public health workflows. Human factors and usability testing help agencies understand how staff actually use systems, where errors may occur, how cognitive load changes, and whether AI outputs support or distort decision-making. This module teaches learners to evaluate workflow fit, interface design, alert burden, documentation burden, and human review practices before deployment.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Human Factors, Workflow Integration, and Usability Testing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Human factors is the discipline of designing systems around human abilities, limits, environments, and tasks. In AI-supported public health work, human factors help agencies ensure that AI outputs are understandable, actionable, and reviewed appropriately.
Usability testing is structured observation of how users interact with a tool or workflow. It can reveal confusion, workarounds, over-trust, alert fatigue, documentation burden, or steps that are inconsistent with actual practice. Usability testing is a safety activity, not simply a design preference.
Cognitive load refers to the mental effort required to complete a task. AI can reduce burden by summarizing information, but it can also increase burden if staff must verify unclear outputs, interpret unexplained scores, or resolve conflicting recommendations.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disease investigator may receive an AI-generated case summary in the surveillance system. If the summary hides uncertainty or makes unsupported claims look official, the investigator may over-trust it. If the summary is too long, poorly organized, or disconnected from source fields, it may not reduce burden. Usability testing would observe investigators using the summary and identify changes needed before launch.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Workflow integration begins with current-state mapping. Agencies should document how work happens today, including informal workarounds, duplicate entry, handoffs, delays, and decision points. AI should be introduced only after the team understands which step is being improved and how the change affects users.
Future-state design should define how staff will see, review, correct, accept, reject, or escalate AI outputs. The user interface should make source information available, show uncertainty when appropriate, and avoid presenting AI outputs as final decisions. Good design supports human judgment rather than bypassing it.
Usability testing should include realistic users, realistic tasks, and realistic data. Testing should evaluate not only whether users can complete a task, but also whether they understand the AI output, recognize limitations, know when to escalate, and can document their final decision.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workflow usability test plan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workflow usability test plan. It should be specific to a public health workflow and should include technical dependencies, governance questions, human review expectations, monitoring indicators, and unresolved risks.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workflow usability test plan.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human factors, workflow integration, and usability testing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AHRQ human factors and usability resources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Human Factors, Workflow Integration, and Usability Testing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tools succeed or fail inside real public health workflows.</a:t>
            </a:r>
            <a:endParaRPr lang="en-US" sz="2100" dirty="0"/>
          </a:p>
          <a:p>
            <a:r>
              <a:rPr lang="en-US" sz="2100" dirty="0">
                <a:solidFill>
                  <a:srgbClr val="17364A"/>
                </a:solidFill>
                <a:latin typeface="Aptos" pitchFamily="34" charset="0"/>
                <a:ea typeface="Aptos" pitchFamily="34" charset="-122"/>
                <a:cs typeface="Aptos" pitchFamily="34" charset="-120"/>
              </a:rPr>
              <a:t>Human factors and usability testing help agencies understand how staff actually use systems, where errors may.</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to evaluate workflow fit, interface design, alert burden, documentation burden, and.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Operations and Data Quality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human factors, workflow integration, and usability testing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human factors, workflow integration, and usability testing in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Explain the purpose of human factors, workflow integration, and usability testing in.</a:t>
            </a:r>
            <a:endParaRPr lang="en-US" sz="1380" dirty="0"/>
          </a:p>
          <a:p>
            <a:r>
              <a:rPr lang="en-US" sz="1380" dirty="0">
                <a:solidFill>
                  <a:srgbClr val="17364A"/>
                </a:solidFill>
                <a:latin typeface="Aptos" pitchFamily="34" charset="0"/>
                <a:ea typeface="Aptos" pitchFamily="34" charset="-122"/>
                <a:cs typeface="Aptos" pitchFamily="34" charset="-120"/>
              </a:rPr>
              <a:t>Identify the technical, operational, privacy, security, equity, and governance issues.</a:t>
            </a:r>
            <a:endParaRPr lang="en-US" sz="1380" dirty="0"/>
          </a:p>
          <a:p>
            <a:r>
              <a:rPr lang="en-US" sz="1380" dirty="0">
                <a:solidFill>
                  <a:srgbClr val="17364A"/>
                </a:solidFill>
                <a:latin typeface="Aptos" pitchFamily="34" charset="0"/>
                <a:ea typeface="Aptos" pitchFamily="34" charset="-122"/>
                <a:cs typeface="Aptos" pitchFamily="34" charset="-120"/>
              </a:rPr>
              <a:t>Recognize common failure modes that can affect safety, accuracy, trust, workflow fit, or.</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workflow usability test plan that can support readiness assessment,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workflow usability test plan that can support readiness assessment, governance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Produce a workflow usability test plan that can support readiness assessment, governance.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tools succeed or fail inside real public health workflows.</a:t>
            </a:r>
            <a:endParaRPr lang="en-US" sz="2100" dirty="0"/>
          </a:p>
          <a:p>
            <a:r>
              <a:rPr lang="en-US" sz="2100" dirty="0">
                <a:solidFill>
                  <a:srgbClr val="17364A"/>
                </a:solidFill>
                <a:latin typeface="Aptos" pitchFamily="34" charset="0"/>
                <a:ea typeface="Aptos" pitchFamily="34" charset="-122"/>
                <a:cs typeface="Aptos" pitchFamily="34" charset="-120"/>
              </a:rPr>
              <a:t>Human factors and usability testing help agencies understand how staff actually use systems, where.</a:t>
            </a:r>
            <a:endParaRPr lang="en-US" sz="2100" dirty="0"/>
          </a:p>
          <a:p>
            <a:r>
              <a:rPr lang="en-US" sz="2100" dirty="0">
                <a:solidFill>
                  <a:srgbClr val="17364A"/>
                </a:solidFill>
                <a:latin typeface="Aptos" pitchFamily="34" charset="0"/>
                <a:ea typeface="Aptos" pitchFamily="34" charset="-122"/>
                <a:cs typeface="Aptos" pitchFamily="34" charset="-120"/>
              </a:rPr>
              <a:t>This module teaches learners to evaluate workflow fit, interface design, alert burden,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tools succeed or fail inside real public health workflows.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Human factors and usability testing help agencies understand how staff actually use.</a:t>
            </a:r>
            <a:endParaRPr lang="en-US" sz="1380" dirty="0"/>
          </a:p>
          <a:p>
            <a:r>
              <a:rPr lang="en-US" sz="1380" dirty="0">
                <a:solidFill>
                  <a:srgbClr val="17364A"/>
                </a:solidFill>
                <a:latin typeface="Aptos" pitchFamily="34" charset="0"/>
                <a:ea typeface="Aptos" pitchFamily="34" charset="-122"/>
                <a:cs typeface="Aptos" pitchFamily="34" charset="-120"/>
              </a:rPr>
              <a:t>This module teaches learners to evaluate workflow fit, interface design, alert burden,.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Human Factors, Workflow Integration, and Usability Testing matters because AI systems are embedded in.</a:t>
            </a:r>
            <a:endParaRPr lang="en-US" sz="2100" dirty="0"/>
          </a:p>
          <a:p>
            <a:r>
              <a:rPr lang="en-US" sz="21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2100" dirty="0"/>
          </a:p>
          <a:p>
            <a:r>
              <a:rPr lang="en-US" sz="21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Human Factors, Workflow Integration, and Usability Testing matters because AI systems are embedded in.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Human Factors, Workflow Integration, and Usability Testing matters because AI systems are.</a:t>
            </a:r>
            <a:endParaRPr lang="en-US" sz="1380" dirty="0"/>
          </a:p>
          <a:p>
            <a:r>
              <a:rPr lang="en-US" sz="1380" dirty="0">
                <a:solidFill>
                  <a:srgbClr val="17364A"/>
                </a:solidFill>
                <a:latin typeface="Aptos" pitchFamily="34" charset="0"/>
                <a:ea typeface="Aptos" pitchFamily="34" charset="-122"/>
                <a:cs typeface="Aptos" pitchFamily="34" charset="-120"/>
              </a:rPr>
              <a:t>The topic also affects accountability.</a:t>
            </a:r>
            <a:endParaRPr lang="en-US" sz="1380" dirty="0"/>
          </a:p>
          <a:p>
            <a:r>
              <a:rPr lang="en-US" sz="1380" dirty="0">
                <a:solidFill>
                  <a:srgbClr val="17364A"/>
                </a:solidFill>
                <a:latin typeface="Aptos" pitchFamily="34" charset="0"/>
                <a:ea typeface="Aptos" pitchFamily="34" charset="-122"/>
                <a:cs typeface="Aptos" pitchFamily="34" charset="-120"/>
              </a:rPr>
              <a:t>Public health agencies must be able to explain how data are used, why a tool was approved,.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Human factors is the discipline of designing systems around human abilities, limits, environments, and.</a:t>
            </a:r>
            <a:endParaRPr lang="en-US" sz="2100" dirty="0"/>
          </a:p>
          <a:p>
            <a:r>
              <a:rPr lang="en-US" sz="2100" dirty="0">
                <a:solidFill>
                  <a:srgbClr val="17364A"/>
                </a:solidFill>
                <a:latin typeface="Aptos" pitchFamily="34" charset="0"/>
                <a:ea typeface="Aptos" pitchFamily="34" charset="-122"/>
                <a:cs typeface="Aptos" pitchFamily="34" charset="-120"/>
              </a:rPr>
              <a:t>In AI-supported public health work, human factors help agencies ensure that AI outputs are.</a:t>
            </a:r>
            <a:endParaRPr lang="en-US" sz="2100" dirty="0"/>
          </a:p>
          <a:p>
            <a:r>
              <a:rPr lang="en-US" sz="2100" dirty="0">
                <a:solidFill>
                  <a:srgbClr val="17364A"/>
                </a:solidFill>
                <a:latin typeface="Aptos" pitchFamily="34" charset="0"/>
                <a:ea typeface="Aptos" pitchFamily="34" charset="-122"/>
                <a:cs typeface="Aptos" pitchFamily="34" charset="-120"/>
              </a:rPr>
              <a:t>Usability testing is structured observation of how users interact with a tool or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Human factors is the discipline of designing systems around human abilities, limits, environments, and.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Human factors is the discipline of designing systems around human abilities, limits,.</a:t>
            </a:r>
            <a:endParaRPr lang="en-US" sz="1380" dirty="0"/>
          </a:p>
          <a:p>
            <a:r>
              <a:rPr lang="en-US" sz="1380" dirty="0">
                <a:solidFill>
                  <a:srgbClr val="17364A"/>
                </a:solidFill>
                <a:latin typeface="Aptos" pitchFamily="34" charset="0"/>
                <a:ea typeface="Aptos" pitchFamily="34" charset="-122"/>
                <a:cs typeface="Aptos" pitchFamily="34" charset="-120"/>
              </a:rPr>
              <a:t>In AI-supported public health work, human factors help agencies ensure that AI outputs are.</a:t>
            </a:r>
            <a:endParaRPr lang="en-US" sz="1380" dirty="0"/>
          </a:p>
          <a:p>
            <a:r>
              <a:rPr lang="en-US" sz="1380" dirty="0">
                <a:solidFill>
                  <a:srgbClr val="17364A"/>
                </a:solidFill>
                <a:latin typeface="Aptos" pitchFamily="34" charset="0"/>
                <a:ea typeface="Aptos" pitchFamily="34" charset="-122"/>
                <a:cs typeface="Aptos" pitchFamily="34" charset="-120"/>
              </a:rPr>
              <a:t>It can reveal confusion, workarounds, over-trust, alert fatigue, documentation burden, or.</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disease investigator may receive an AI-generated case summary in the surveillance system.</a:t>
            </a:r>
            <a:endParaRPr lang="en-US" sz="2100" dirty="0"/>
          </a:p>
          <a:p>
            <a:r>
              <a:rPr lang="en-US" sz="2100" dirty="0">
                <a:solidFill>
                  <a:srgbClr val="17364A"/>
                </a:solidFill>
                <a:latin typeface="Aptos" pitchFamily="34" charset="0"/>
                <a:ea typeface="Aptos" pitchFamily="34" charset="-122"/>
                <a:cs typeface="Aptos" pitchFamily="34" charset="-120"/>
              </a:rPr>
              <a:t>If the summary hides uncertainty or makes unsupported claims look official, the investigator may.</a:t>
            </a:r>
            <a:endParaRPr lang="en-US" sz="2100" dirty="0"/>
          </a:p>
          <a:p>
            <a:r>
              <a:rPr lang="en-US" sz="2100" dirty="0">
                <a:solidFill>
                  <a:srgbClr val="17364A"/>
                </a:solidFill>
                <a:latin typeface="Aptos" pitchFamily="34" charset="0"/>
                <a:ea typeface="Aptos" pitchFamily="34" charset="-122"/>
                <a:cs typeface="Aptos" pitchFamily="34" charset="-120"/>
              </a:rPr>
              <a:t>If the summary is too long, poorly organized, or disconnected from source fields, it may not reduce.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disease investigator may receive an AI-generated case summary in the surveillance system.</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If the summary hides uncertainty or makes unsupported claims look official, the.</a:t>
            </a:r>
            <a:endParaRPr lang="en-US" sz="1380" dirty="0"/>
          </a:p>
          <a:p>
            <a:r>
              <a:rPr lang="en-US" sz="1380" dirty="0">
                <a:solidFill>
                  <a:srgbClr val="17364A"/>
                </a:solidFill>
                <a:latin typeface="Aptos" pitchFamily="34" charset="0"/>
                <a:ea typeface="Aptos" pitchFamily="34" charset="-122"/>
                <a:cs typeface="Aptos" pitchFamily="34" charset="-120"/>
              </a:rPr>
              <a:t>If the summary is too long, poorly organized, or disconnected from source fields, it may.</a:t>
            </a:r>
            <a:endParaRPr lang="en-US" sz="1380" dirty="0"/>
          </a:p>
          <a:p>
            <a:r>
              <a:rPr lang="en-US" sz="1380" dirty="0">
                <a:solidFill>
                  <a:srgbClr val="17364A"/>
                </a:solidFill>
                <a:latin typeface="Aptos" pitchFamily="34" charset="0"/>
                <a:ea typeface="Aptos" pitchFamily="34" charset="-122"/>
                <a:cs typeface="Aptos" pitchFamily="34" charset="-120"/>
              </a:rPr>
              <a:t>Usability testing would observe investigators using the summary and identify changes.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Workflow integration begins with current-state mapping.</a:t>
            </a:r>
            <a:endParaRPr lang="en-US" sz="2100" dirty="0"/>
          </a:p>
          <a:p>
            <a:r>
              <a:rPr lang="en-US" sz="2100" dirty="0">
                <a:solidFill>
                  <a:srgbClr val="17364A"/>
                </a:solidFill>
                <a:latin typeface="Aptos" pitchFamily="34" charset="0"/>
                <a:ea typeface="Aptos" pitchFamily="34" charset="-122"/>
                <a:cs typeface="Aptos" pitchFamily="34" charset="-120"/>
              </a:rPr>
              <a:t>Agencies should document how work happens today, including informal workarounds, duplicate entry,.</a:t>
            </a:r>
            <a:endParaRPr lang="en-US" sz="2100" dirty="0"/>
          </a:p>
          <a:p>
            <a:r>
              <a:rPr lang="en-US" sz="2100" dirty="0">
                <a:solidFill>
                  <a:srgbClr val="17364A"/>
                </a:solidFill>
                <a:latin typeface="Aptos" pitchFamily="34" charset="0"/>
                <a:ea typeface="Aptos" pitchFamily="34" charset="-122"/>
                <a:cs typeface="Aptos" pitchFamily="34" charset="-120"/>
              </a:rPr>
              <a:t>AI should be introduced only after the team understands which step is being improved and how the change.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Workflow integration begins with current-state mapping.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Agencies should document how work happens today, including informal workarounds, duplicate.</a:t>
            </a:r>
            <a:endParaRPr lang="en-US" sz="1380" dirty="0"/>
          </a:p>
          <a:p>
            <a:r>
              <a:rPr lang="en-US" sz="1380" dirty="0">
                <a:solidFill>
                  <a:srgbClr val="17364A"/>
                </a:solidFill>
                <a:latin typeface="Aptos" pitchFamily="34" charset="0"/>
                <a:ea typeface="Aptos" pitchFamily="34" charset="-122"/>
                <a:cs typeface="Aptos" pitchFamily="34" charset="-120"/>
              </a:rPr>
              <a:t>AI should be introduced only after the team understands which step is being improved and.</a:t>
            </a:r>
            <a:endParaRPr lang="en-US" sz="1380" dirty="0"/>
          </a:p>
          <a:p>
            <a:r>
              <a:rPr lang="en-US" sz="1380" dirty="0">
                <a:solidFill>
                  <a:srgbClr val="17364A"/>
                </a:solidFill>
                <a:latin typeface="Aptos" pitchFamily="34" charset="0"/>
                <a:ea typeface="Aptos" pitchFamily="34" charset="-122"/>
                <a:cs typeface="Aptos" pitchFamily="34" charset="-120"/>
              </a:rPr>
              <a:t>Future-state design should define how staff will see, review, correct, accept, reject, or.</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2100" dirty="0"/>
          </a:p>
          <a:p>
            <a:r>
              <a:rPr lang="en-US" sz="21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a:t>
            </a:r>
            <a:endParaRPr lang="en-US" sz="2100" dirty="0"/>
          </a:p>
          <a:p>
            <a:r>
              <a:rPr lang="en-US" sz="21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When staff do not connect technical decisions to authority, workflow, equity, privacy,.</a:t>
            </a:r>
            <a:endParaRPr lang="en-US" sz="1380" dirty="0"/>
          </a:p>
          <a:p>
            <a:r>
              <a:rPr lang="en-US" sz="1380" dirty="0">
                <a:solidFill>
                  <a:srgbClr val="17364A"/>
                </a:solidFill>
                <a:latin typeface="Aptos" pitchFamily="34" charset="0"/>
                <a:ea typeface="Aptos" pitchFamily="34" charset="-122"/>
                <a:cs typeface="Aptos" pitchFamily="34" charset="-120"/>
              </a:rPr>
              <a:t>Vendors may provide demonstrations, dashboards, or summary metrics that do not match the.</a:t>
            </a:r>
            <a:endParaRPr lang="en-US" sz="1380" dirty="0"/>
          </a:p>
          <a:p>
            <a:r>
              <a:rPr lang="en-US" sz="1380" dirty="0">
                <a:solidFill>
                  <a:srgbClr val="17364A"/>
                </a:solidFill>
                <a:latin typeface="Aptos" pitchFamily="34" charset="0"/>
                <a:ea typeface="Aptos" pitchFamily="34" charset="-122"/>
                <a:cs typeface="Aptos" pitchFamily="34" charset="-120"/>
              </a:rPr>
              <a:t>A guardrail is to require documentation, test results, acceptance criteria, and.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2100" dirty="0"/>
          </a:p>
          <a:p>
            <a:r>
              <a:rPr lang="en-US" sz="2100" dirty="0">
                <a:solidFill>
                  <a:srgbClr val="17364A"/>
                </a:solidFill>
                <a:latin typeface="Aptos" pitchFamily="34" charset="0"/>
                <a:ea typeface="Aptos" pitchFamily="34" charset="-122"/>
                <a:cs typeface="Aptos" pitchFamily="34" charset="-120"/>
              </a:rPr>
              <a:t>The controls should be scaled to the risk of the use case.</a:t>
            </a:r>
            <a:endParaRPr lang="en-US" sz="2100" dirty="0"/>
          </a:p>
          <a:p>
            <a:r>
              <a:rPr lang="en-US" sz="21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Generative AI, predictive analytics, RAG, automation, and agentic workflows all depend on.</a:t>
            </a:r>
            <a:endParaRPr lang="en-US" sz="1380" dirty="0"/>
          </a:p>
          <a:p>
            <a:r>
              <a:rPr lang="en-US" sz="1380" dirty="0">
                <a:solidFill>
                  <a:srgbClr val="17364A"/>
                </a:solidFill>
                <a:latin typeface="Aptos" pitchFamily="34" charset="0"/>
                <a:ea typeface="Aptos" pitchFamily="34" charset="-122"/>
                <a:cs typeface="Aptos" pitchFamily="34" charset="-120"/>
              </a:rPr>
              <a:t>A tool that drafts internal training text may require lighter review than a tool that.</a:t>
            </a:r>
            <a:endParaRPr lang="en-US" sz="1380" dirty="0"/>
          </a:p>
          <a:p>
            <a:r>
              <a:rPr lang="en-US" sz="1380" dirty="0">
                <a:solidFill>
                  <a:srgbClr val="17364A"/>
                </a:solidFill>
                <a:latin typeface="Aptos" pitchFamily="34" charset="0"/>
                <a:ea typeface="Aptos" pitchFamily="34" charset="-122"/>
                <a:cs typeface="Aptos" pitchFamily="34" charset="-120"/>
              </a:rPr>
              <a:t>The module should be applied during readiness assessment, procurement,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2100" dirty="0"/>
          </a:p>
          <a:p>
            <a:r>
              <a:rPr lang="en-US" sz="21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380" dirty="0"/>
          </a:p>
          <a:p>
            <a:r>
              <a:rPr lang="en-US" sz="1380" dirty="0">
                <a:solidFill>
                  <a:srgbClr val="17364A"/>
                </a:solidFill>
                <a:latin typeface="Aptos" pitchFamily="34" charset="0"/>
                <a:ea typeface="Aptos" pitchFamily="34" charset="-122"/>
                <a:cs typeface="Aptos" pitchFamily="34" charset="-120"/>
              </a:rPr>
              <a:t>What decisions, data sources, users, or partners would be affected if this area is poorly.</a:t>
            </a:r>
            <a:endParaRPr lang="en-US" sz="1380" dirty="0"/>
          </a:p>
          <a:p>
            <a:r>
              <a:rPr lang="en-US" sz="138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safeguards should be required before pilot testing?</a:t>
            </a:r>
            <a:endParaRPr lang="en-US" sz="2100" dirty="0"/>
          </a:p>
          <a:p>
            <a:r>
              <a:rPr lang="en-US" sz="2100" dirty="0">
                <a:solidFill>
                  <a:srgbClr val="17364A"/>
                </a:solidFill>
                <a:latin typeface="Aptos" pitchFamily="34" charset="0"/>
                <a:ea typeface="Aptos" pitchFamily="34" charset="-122"/>
                <a:cs typeface="Aptos" pitchFamily="34" charset="-120"/>
              </a:rPr>
              <a:t>Who owns ongoing monitoring and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safeguards should be required before pilot testing?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safeguards should be required before pilot testing?</a:t>
            </a:r>
            <a:endParaRPr lang="en-US" sz="1380" dirty="0"/>
          </a:p>
          <a:p>
            <a:r>
              <a:rPr lang="en-US" sz="1380" dirty="0">
                <a:solidFill>
                  <a:srgbClr val="17364A"/>
                </a:solidFill>
                <a:latin typeface="Aptos" pitchFamily="34" charset="0"/>
                <a:ea typeface="Aptos" pitchFamily="34" charset="-122"/>
                <a:cs typeface="Aptos" pitchFamily="34" charset="-120"/>
              </a:rPr>
              <a:t>Who owns ongoing monitoring and review?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workflow usability test plan for one real or realistic public health AI workflow.</a:t>
            </a:r>
            <a:endParaRPr lang="en-US" sz="2100" dirty="0"/>
          </a:p>
          <a:p>
            <a:r>
              <a:rPr lang="en-US" sz="21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workflow usability test plan for one real or realistic public health AI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artifact should describe the use case, affected users, data sources, system.</a:t>
            </a:r>
            <a:endParaRPr lang="en-US" sz="1380" dirty="0"/>
          </a:p>
          <a:p>
            <a:r>
              <a:rPr lang="en-US" sz="1380" dirty="0">
                <a:solidFill>
                  <a:srgbClr val="17364A"/>
                </a:solidFill>
                <a:latin typeface="Aptos" pitchFamily="34" charset="0"/>
                <a:ea typeface="Aptos" pitchFamily="34" charset="-122"/>
                <a:cs typeface="Aptos" pitchFamily="34" charset="-120"/>
              </a:rPr>
              <a:t>The exercise should produce a work product that could be used in a governance meeting,.</a:t>
            </a:r>
            <a:endParaRPr lang="en-US" sz="1380" dirty="0"/>
          </a:p>
          <a:p>
            <a:r>
              <a:rPr lang="en-US" sz="1380" dirty="0">
                <a:solidFill>
                  <a:srgbClr val="17364A"/>
                </a:solidFill>
                <a:latin typeface="Aptos" pitchFamily="34" charset="0"/>
                <a:ea typeface="Aptos" pitchFamily="34" charset="-122"/>
                <a:cs typeface="Aptos" pitchFamily="34" charset="-120"/>
              </a:rPr>
              <a:t>Learners should document assumptions and identify which staff or partners need to be.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workflow usability test plan.</a:t>
            </a:r>
            <a:endParaRPr lang="en-US" sz="2100" dirty="0"/>
          </a:p>
          <a:p>
            <a:r>
              <a:rPr lang="en-US" sz="21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workflow usability test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expected artifact is a completed workflow usability test plan.</a:t>
            </a:r>
            <a:endParaRPr lang="en-US" sz="1380" dirty="0"/>
          </a:p>
          <a:p>
            <a:r>
              <a:rPr lang="en-US" sz="1380" dirty="0">
                <a:solidFill>
                  <a:srgbClr val="17364A"/>
                </a:solidFill>
                <a:latin typeface="Aptos" pitchFamily="34" charset="0"/>
                <a:ea typeface="Aptos" pitchFamily="34" charset="-122"/>
                <a:cs typeface="Aptos" pitchFamily="34" charset="-120"/>
              </a:rPr>
              <a:t>It should be specific to a public health workflow and should include technical.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workflow usability test plan. It should be specific to a public.</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workflow usability test plan. It should be specific to a public.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expected artifact is a completed workflow usability test plan.</a:t>
            </a:r>
            <a:endParaRPr lang="en-US" sz="1380" dirty="0"/>
          </a:p>
          <a:p>
            <a:r>
              <a:rPr lang="en-US" sz="1380" dirty="0">
                <a:solidFill>
                  <a:srgbClr val="17364A"/>
                </a:solidFill>
                <a:latin typeface="Aptos" pitchFamily="34" charset="0"/>
                <a:ea typeface="Aptos" pitchFamily="34" charset="-122"/>
                <a:cs typeface="Aptos" pitchFamily="34" charset="-120"/>
              </a:rPr>
              <a:t>It should be specific to a public health workflow and should include technical.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best reason to address human factors, workflow integration, and usability testing before.</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responsible implementation?</a:t>
            </a:r>
            <a:endParaRPr lang="en-US" sz="2100" dirty="0"/>
          </a:p>
          <a:p>
            <a:r>
              <a:rPr lang="en-US" sz="2100" dirty="0">
                <a:solidFill>
                  <a:srgbClr val="17364A"/>
                </a:solidFill>
                <a:latin typeface="Aptos" pitchFamily="34" charset="0"/>
                <a:ea typeface="Aptos" pitchFamily="34" charset="-122"/>
                <a:cs typeface="Aptos" pitchFamily="34" charset="-120"/>
              </a:rPr>
              <a:t>3. Which statement best describes a common failure mode?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best reason to address human factors, workflow integration, and usability testing before.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the best reason to address human factors, workflow integration, and usability.</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a:p>
            <a:r>
              <a:rPr lang="en-US" sz="2100" dirty="0">
                <a:solidFill>
                  <a:srgbClr val="17364A"/>
                </a:solidFill>
                <a:latin typeface="Aptos" pitchFamily="34" charset="0"/>
                <a:ea typeface="Aptos" pitchFamily="34" charset="-122"/>
                <a:cs typeface="Aptos" pitchFamily="34" charset="-120"/>
              </a:rPr>
              <a:t>AHRQ human factors and usability resources</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80" dirty="0"/>
          </a:p>
          <a:p>
            <a:r>
              <a:rPr lang="en-US" sz="1380" dirty="0">
                <a:solidFill>
                  <a:srgbClr val="17364A"/>
                </a:solidFill>
                <a:latin typeface="Aptos" pitchFamily="34" charset="0"/>
                <a:ea typeface="Aptos" pitchFamily="34" charset="-122"/>
                <a:cs typeface="Aptos" pitchFamily="34" charset="-120"/>
              </a:rPr>
              <a:t>OWASP Top 10 for LLM Applications, when security or AI integrations are relevant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 Factors, Workflow Integration, and Usability Testing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 Factors, Workflow Integration, and Usability Testing</dc:title>
  <dc:subject>Human Factors, Workflow Integration, and Usability Testing learning module</dc:subject>
  <dc:creator>Paula Soper</dc:creator>
  <cp:lastModifiedBy>Paula Soper</cp:lastModifiedBy>
  <cp:revision>1</cp:revision>
  <dcterms:created xsi:type="dcterms:W3CDTF">2026-07-13T02:11:44Z</dcterms:created>
  <dcterms:modified xsi:type="dcterms:W3CDTF">2026-07-13T02:11:44Z</dcterms:modified>
</cp:coreProperties>
</file>