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Automation Bias and Over-Trust is designed for an individual learner using the AI Playbook and Toolkit for Public Health Departments.
Automation bias occurs when people accept AI outputs too readily because they appear confident, precise, or authoritative.
Use the notes in this deck as additional reading and context. They are not written as presenter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the concept in plain language for colleagues, leaders, partners, and community-facing discussions.
Identify where the concept affects AI planning, governance, procurement, implementation, monitoring, public trust, or public health decision-making.
Apply the concept to a concrete public health workflow using the linked plays, tools, safeguards, and documentation expectations.
Complete a practical activity that produces an artifact you can use in readiness assessment, governance review, implementation planning, or monitoring.
Produce or contribute to: Automation bias review checklist.
Produce or contribute to: Decision owner sign-off process.
Produce or contribute to: Override and correction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Automation bias occurs when people give too much weight to AI output because it appears confident, precise, or authoritative. In public health, this can affect surveillance review, risk scoring, inspection documentation, prioritization, public messaging, or resource decisions. Deliberate review practices are needed so AI supports, rather than substitutes for, professional judgment.
Automation bias occurs when people accept AI outputs too readily because they appear confident, precise, or efficient. In public health, this can affect surveillance triage, inspection documentation, outreach prioritization, public messaging, or leadership briefings.
Your training should make critical review a normal part of AI-supported work. You should learn to look for missing context, unsupported claims, outdated assumptions, subgroup effects, and uncertainty that may not be obvious in a polished output.
Your department can reduce automation bias by requiring review prompts, second checks for high-impact outputs, decision-owner sign-off, override documentation, and periodic audits of AI-assisted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Automation bias: The tendency to over-trust an automated output because it appears objective, precise, or authoritative. Public health workflows should require deliberate review, documentation, and escalation when AI outputs are uncertain or consequential.
Explainability: The ability to describe how an AI system produced or contributed to an output in terms that decision-makers, staff, and affected communities can understand.
False negative: A case where an AI system fails to flag a true condition, risk, signal, or problem. False negatives matter in public health because they can delay action or leave people, facilities, or communities without needed review.
False positive: A case where an AI system flags a condition, risk, signal, or problem that is not actually present. False positives matter because they can waste staff time, create unnecessary concern, or burden people and communities unfairly.
Human-in-the-loop: A workflow design in which a person reviews, approves, corrects, or overrides AI outputs before they affect decisions, services, communications, or public health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Validation: The process of testing whether an AI system performs well enough for its intended public health use. Validation should include accuracy, reliability, subgroup performance, workflow fit, user review, and risk mitigation.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Automation bias is a core concept for this lesson because it turns automation bias and over-trust from an abstract AI topic into something you can recognize in daily public health work. Over-trusting an automated output because it seems objective, polished, or precise. When you encounter this concept, ask what data are involved, who is accountable for the result, what human review is required, and how the work should be documented. That habit helps you connect the lesson to concrete governance, privacy, equity, workforce, procurement, implementation, and monitoring decisions rather than treating AI as a stand-alone technology issue.
Uncertainty is a core concept for this lesson because it turns automation bias and over-trust from an abstract AI topic into something you can recognize in daily public health work. What is not known, not verified, or not reliable enough to support a decision. When you encounter this concept, ask what data are involved, who is accountable for the result, what human review is required, and how the work should be documented. That habit helps you connect the lesson to concrete governance, privacy, equity, workforce, procurement, implementation, and monitoring decisions rather than treating AI as a stand-alone technology issue.
Override log is a core concept for this lesson because it turns automation bias and over-trust from an abstract AI topic into something you can recognize in daily public health work. A record of when staff disagree with or correct an AI output and why. When you encounter this concept, ask what data are involved, who is accountable for the result, what human review is required, and how the work should be documented. That habit helps you connect the lesson to concrete governance, privacy, equity, workforce, procurement, implementation, and monitoring decisions rather than treating AI as a stand-alone technology issue.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Second-review requirements is a useful way to apply this lesson because it gives you a concrete workflow to test against the concept. This example should be examined as a workflow, not simply as a possible AI feature. Start by identifying the public health problem, the source information, the users, the people affected, and the decision that remains human. Then document the safeguards needed before the idea could become an approved use case. In practice, you should identify the expected public health value, the staff role responsible for review, the data sensitivity, and the point where governance approval is required. If those elements cannot be described clearly, the idea should remain in exploration rather than moving into procurement, piloting, or deployment.
Decision owner sign-off is a useful way to apply this lesson because it gives you a concrete workflow to test against the concept. This example should be examined as a workflow, not simply as a possible AI feature. Start by identifying the public health problem, the source information, the users, the people affected, and the decision that remains human. Then document the safeguards needed before the idea could become an approved use case. In practice, you should identify the expected public health value, the staff role responsible for review, the data sensitivity, and the point where governance approval is required. If those elements cannot be described clearly, the idea should remain in exploration rather than moving into procurement, piloting, or deployment.
Confidence and limitation notes in briefs is a useful way to apply this lesson because it gives you a concrete workflow to test against the concept. This example should be examined as a workflow, not simply as a possible AI feature. Start by identifying the public health problem, the source information, the users, the people affected, and the decision that remains human. Then document the safeguards needed before the idea could become an approved use case. In practice, you should identify the expected public health value, the staff role responsible for review, the data sensitivity, and the point where governance approval is required. If those elements cannot be described clearly, the idea should remain in exploration rather than moving into procurement, piloting, or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apply this module, begin with a real or realistic public health workflow and describe the task in plain language before naming an AI tool. Use the related plays (Play 3, Play 7, Play 11, Play 12, Play 13) to identify the decisions, approvals, people, and timing needed for responsible implementation. Use the related tools (Tool 14, Tool 40, Tool 46, Tool 6) to create documentation that can be reviewed, saved, revised, and used as evidence of readiness. The practical exercise asks you to produce evidence that can feed into that work: Take one AI-assisted output and design a review form that asks staff to check sources, uncertainty, missing context, subgroup impact, and whether the recommendation should be accepted, modified, or rejected.
The main guardrail for this lesson is that Repeated exposure to fluent AI outputs can reduce scrutiny unless workflows require deliberate review and documentation. Treat that guardrail as an operational requirement, not a warning label at the end of the lesson. Before using AI in this area, identify what could go wrong, who would notice the problem, how the concern would be escalated, and what authority exists to pause or change the work. That approach makes risk management part of routine public health practice rather than a separate technical review.
If your department already has a relevant process, such as data governance, technology governance, quality improvement, procurement review, privacy review, emergency response planning, or workforce development, use that process as the starting point. The playbook tools are meant to fill gaps where a method or documentation process does not already exist. There is no need to recreate the wheel when an existing process can be extended to include AI-specific questions, evidence, approval points, and monitoring expectations. This keeps AI governance connected to normal public health operations instead of creating a parallel paperwork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related plays help you decide where this topic fits in the planning and implementation sequence. The related tools help you convert the lesson into a documented artifact, such as a review checklist, inventory record, policy scan, implementation note, communication plan, training assignment, risk register, or monitoring record. Use the assessment results as a starting recommendation, but adjust the path based on what your department has already completed and what is most useful for your public health goals. When a play or tool is not needed, document why it was deferred so future reviewers understand the decision.
This matters for your practice because Automation bias is a practical operational risk. Staff may over-trust outputs that are fluent, precise, or repeated often. Public health workflows need review steps that make skepticism normal and expected. Use that purpose to decide how much documentation, governance review, stakeholder input, and monitoring are proportionate to the risk and public health impact of the work. A low-risk internal learning activity may need only basic documentation, while a public-facing or decision-support workflow may need formal review, validation, transparency, and ongoing oversight.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one AI-assisted output and design a review form that asks staff to check sources, uncertainty, missing context, subgroup impact, and whether the recommendation should be accepted, modified, or rejected.
Automation bias review checklist
Decision owner sign-off process
Override and correction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might staff accept AI output too quickly?
What second-review or sign-off is needed for high-impact outputs?
How will overrides, corrections, and disagreements be documented?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NIST AI Risk Management Framework: Risk controls for over-trust, human review, testing, and monitoring. https://www.nist.gov/itl/ai-risk-management-framework
HHS Civil Rights and AI: Equity and civil rights considerations when automated systems influence decisions. https://www.hhs.gov/civil-rights/for-individuals/special-topics/ai/index.html
WHO: Ethics and governance of artificial intelligence for health: Health AI ethics guidance addressing human autonomy and oversight. https://www.who.int/publications/i/item/9789240029200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13232" y="2542032"/>
            <a:ext cx="10607040" cy="777240"/>
          </a:xfrm>
          <a:prstGeom prst="rect">
            <a:avLst/>
          </a:prstGeom>
          <a:noFill/>
          <a:ln/>
        </p:spPr>
        <p:txBody>
          <a:bodyPr wrap="square" lIns="0" tIns="0" rIns="0" bIns="0" rtlCol="0" anchor="ct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Automation Bias and Over-Trust</a:t>
            </a:r>
            <a:endParaRPr lang="en-US" sz="3400" dirty="0"/>
          </a:p>
        </p:txBody>
      </p:sp>
      <p:sp>
        <p:nvSpPr>
          <p:cNvPr id="6" name="Text 3"/>
          <p:cNvSpPr/>
          <p:nvPr/>
        </p:nvSpPr>
        <p:spPr>
          <a:xfrm>
            <a:off x="749808" y="3456432"/>
            <a:ext cx="365760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Learning Module</a:t>
            </a:r>
            <a:endParaRPr lang="en-US" sz="1400" dirty="0"/>
          </a:p>
        </p:txBody>
      </p:sp>
      <p:sp>
        <p:nvSpPr>
          <p:cNvPr id="7" name="Text 4"/>
          <p:cNvSpPr/>
          <p:nvPr/>
        </p:nvSpPr>
        <p:spPr>
          <a:xfrm>
            <a:off x="749808" y="3886200"/>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Automation Bias and Over-Trust</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02920"/>
          </a:xfrm>
          <a:prstGeom prst="rect">
            <a:avLst/>
          </a:prstGeom>
          <a:noFill/>
          <a:ln/>
        </p:spPr>
        <p:txBody>
          <a:bodyPr wrap="square" lIns="0" tIns="0" rIns="0" bIns="0" rtlCol="0" anchor="ctr"/>
          <a:lstStyle/>
          <a:p>
            <a:pPr indent="0" marL="0">
              <a:buNone/>
            </a:pPr>
            <a:r>
              <a:rPr lang="en-US" sz="2800" b="1" dirty="0">
                <a:solidFill>
                  <a:srgbClr val="003A63"/>
                </a:solidFill>
                <a:latin typeface="Aptos Display" pitchFamily="34" charset="0"/>
                <a:ea typeface="Aptos Display" pitchFamily="34" charset="-122"/>
                <a:cs typeface="Aptos Display" pitchFamily="34" charset="-120"/>
              </a:rPr>
              <a:t>Learning Objectives</a:t>
            </a:r>
            <a:endParaRPr lang="en-US" sz="2800" dirty="0"/>
          </a:p>
        </p:txBody>
      </p:sp>
      <p:sp>
        <p:nvSpPr>
          <p:cNvPr id="7" name="Text 5"/>
          <p:cNvSpPr/>
          <p:nvPr/>
        </p:nvSpPr>
        <p:spPr>
          <a:xfrm>
            <a:off x="822960" y="1417320"/>
            <a:ext cx="10332720" cy="4480560"/>
          </a:xfrm>
          <a:prstGeom prst="rect">
            <a:avLst/>
          </a:prstGeom>
          <a:noFill/>
          <a:ln/>
        </p:spPr>
        <p:txBody>
          <a:bodyPr wrap="square" lIns="635" tIns="635" rIns="635" bIns="635" rtlCol="0" anchor="t">
            <a:normAutofit/>
          </a:bodyPr>
          <a:lstStyle/>
          <a:p>
            <a:r>
              <a:rPr lang="en-US" sz="1600" dirty="0">
                <a:solidFill>
                  <a:srgbClr val="17364A"/>
                </a:solidFill>
                <a:latin typeface="Aptos" pitchFamily="34" charset="0"/>
                <a:ea typeface="Aptos" pitchFamily="34" charset="-122"/>
                <a:cs typeface="Aptos" pitchFamily="34" charset="-120"/>
              </a:rPr>
              <a:t>Define the concept in plain language for colleagues, leaders, partners, and community-facing discussions.</a:t>
            </a:r>
            <a:endParaRPr lang="en-US" sz="1600" dirty="0"/>
          </a:p>
          <a:p>
            <a:r>
              <a:rPr lang="en-US" sz="1600" dirty="0">
                <a:solidFill>
                  <a:srgbClr val="17364A"/>
                </a:solidFill>
                <a:latin typeface="Aptos" pitchFamily="34" charset="0"/>
                <a:ea typeface="Aptos" pitchFamily="34" charset="-122"/>
                <a:cs typeface="Aptos" pitchFamily="34" charset="-120"/>
              </a:rPr>
              <a:t>Identify where the concept affects AI planning, governance, procurement, implementation, monitoring, public trust, or public health decision-making.</a:t>
            </a:r>
            <a:endParaRPr lang="en-US" sz="1600" dirty="0"/>
          </a:p>
          <a:p>
            <a:r>
              <a:rPr lang="en-US" sz="1600" dirty="0">
                <a:solidFill>
                  <a:srgbClr val="17364A"/>
                </a:solidFill>
                <a:latin typeface="Aptos" pitchFamily="34" charset="0"/>
                <a:ea typeface="Aptos" pitchFamily="34" charset="-122"/>
                <a:cs typeface="Aptos" pitchFamily="34" charset="-120"/>
              </a:rPr>
              <a:t>Apply the concept to a concrete public health workflow using the linked plays, tools, safeguards, and documentation expectations.</a:t>
            </a:r>
            <a:endParaRPr lang="en-US" sz="1600" dirty="0"/>
          </a:p>
          <a:p>
            <a:r>
              <a:rPr lang="en-US" sz="1600" dirty="0">
                <a:solidFill>
                  <a:srgbClr val="17364A"/>
                </a:solidFill>
                <a:latin typeface="Aptos" pitchFamily="34" charset="0"/>
                <a:ea typeface="Aptos" pitchFamily="34" charset="-122"/>
                <a:cs typeface="Aptos" pitchFamily="34" charset="-120"/>
              </a:rPr>
              <a:t>Complete a practical activity that produces an artifact you can use in readiness assessment, governance review, implementation planning, or monitoring.</a:t>
            </a:r>
            <a:endParaRPr lang="en-US" sz="1600" dirty="0"/>
          </a:p>
          <a:p>
            <a:r>
              <a:rPr lang="en-US" sz="1600" dirty="0">
                <a:solidFill>
                  <a:srgbClr val="17364A"/>
                </a:solidFill>
                <a:latin typeface="Aptos" pitchFamily="34" charset="0"/>
                <a:ea typeface="Aptos" pitchFamily="34" charset="-122"/>
                <a:cs typeface="Aptos" pitchFamily="34" charset="-120"/>
              </a:rPr>
              <a:t>Produce or contribute to: Automation bias review checklist.</a:t>
            </a:r>
            <a:endParaRPr lang="en-US" sz="1600" dirty="0"/>
          </a:p>
          <a:p>
            <a:r>
              <a:rPr lang="en-US" sz="1600" dirty="0">
                <a:solidFill>
                  <a:srgbClr val="17364A"/>
                </a:solidFill>
                <a:latin typeface="Aptos" pitchFamily="34" charset="0"/>
                <a:ea typeface="Aptos" pitchFamily="34" charset="-122"/>
                <a:cs typeface="Aptos" pitchFamily="34" charset="-120"/>
              </a:rPr>
              <a:t>Produce or contribute to: Decision owner sign-off process.</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Automation Bias and Over-Trust</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02920"/>
          </a:xfrm>
          <a:prstGeom prst="rect">
            <a:avLst/>
          </a:prstGeom>
          <a:noFill/>
          <a:ln/>
        </p:spPr>
        <p:txBody>
          <a:bodyPr wrap="square" lIns="0" tIns="0" rIns="0" bIns="0" rtlCol="0" anchor="ctr"/>
          <a:lstStyle/>
          <a:p>
            <a:pPr indent="0" marL="0">
              <a:buNone/>
            </a:pPr>
            <a:r>
              <a:rPr lang="en-US" sz="2800" b="1" dirty="0">
                <a:solidFill>
                  <a:srgbClr val="003A63"/>
                </a:solidFill>
                <a:latin typeface="Aptos Display" pitchFamily="34" charset="0"/>
                <a:ea typeface="Aptos Display" pitchFamily="34" charset="-122"/>
                <a:cs typeface="Aptos Display" pitchFamily="34" charset="-120"/>
              </a:rPr>
              <a:t>Module Overview</a:t>
            </a:r>
            <a:endParaRPr lang="en-US" sz="2800" dirty="0"/>
          </a:p>
        </p:txBody>
      </p:sp>
      <p:sp>
        <p:nvSpPr>
          <p:cNvPr id="7" name="Text 5"/>
          <p:cNvSpPr/>
          <p:nvPr/>
        </p:nvSpPr>
        <p:spPr>
          <a:xfrm>
            <a:off x="822960" y="1325880"/>
            <a:ext cx="10424160" cy="4434840"/>
          </a:xfrm>
          <a:prstGeom prst="rect">
            <a:avLst/>
          </a:prstGeom>
          <a:noFill/>
          <a:ln/>
        </p:spPr>
        <p:txBody>
          <a:bodyPr wrap="square" lIns="1016" tIns="1016" rIns="1016" bIns="1016" rtlCol="0" anchor="t">
            <a:normAutofit/>
          </a:bodyPr>
          <a:lstStyle/>
          <a:p>
            <a:pPr indent="0" marL="0">
              <a:buNone/>
            </a:pPr>
            <a:r>
              <a:rPr lang="en-US" sz="1600" dirty="0">
                <a:solidFill>
                  <a:srgbClr val="17364A"/>
                </a:solidFill>
                <a:latin typeface="Aptos" pitchFamily="34" charset="0"/>
                <a:ea typeface="Aptos" pitchFamily="34" charset="-122"/>
                <a:cs typeface="Aptos" pitchFamily="34" charset="-120"/>
              </a:rPr>
              <a:t>Automation bias occurs when people give too much weight to AI output because it appears confident, precise, or authoritative. In public health, this can affect surveillance review, risk scoring, inspection documentation, prioritization, public messaging, or resource decisions. Deliberate review practices are needed so AI supports, rather than substitutes for, professional judgment.</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Automation Bias and Over-Trust</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02920"/>
          </a:xfrm>
          <a:prstGeom prst="rect">
            <a:avLst/>
          </a:prstGeom>
          <a:noFill/>
          <a:ln/>
        </p:spPr>
        <p:txBody>
          <a:bodyPr wrap="square" lIns="0" tIns="0" rIns="0" bIns="0" rtlCol="0" anchor="ctr"/>
          <a:lstStyle/>
          <a:p>
            <a:pPr indent="0" marL="0">
              <a:buNone/>
            </a:pPr>
            <a:r>
              <a:rPr lang="en-US" sz="2800" b="1" dirty="0">
                <a:solidFill>
                  <a:srgbClr val="003A63"/>
                </a:solidFill>
                <a:latin typeface="Aptos Display" pitchFamily="34" charset="0"/>
                <a:ea typeface="Aptos Display" pitchFamily="34" charset="-122"/>
                <a:cs typeface="Aptos Display" pitchFamily="34" charset="-120"/>
              </a:rPr>
              <a:t>Definitions</a:t>
            </a:r>
            <a:endParaRPr lang="en-US" sz="2800" dirty="0"/>
          </a:p>
        </p:txBody>
      </p:sp>
      <p:sp>
        <p:nvSpPr>
          <p:cNvPr id="7" name="Text 5"/>
          <p:cNvSpPr/>
          <p:nvPr/>
        </p:nvSpPr>
        <p:spPr>
          <a:xfrm>
            <a:off x="822960" y="1325880"/>
            <a:ext cx="10378440" cy="4754880"/>
          </a:xfrm>
          <a:prstGeom prst="rect">
            <a:avLst/>
          </a:prstGeom>
          <a:noFill/>
          <a:ln/>
        </p:spPr>
        <p:txBody>
          <a:bodyPr wrap="square" lIns="635" tIns="635" rIns="635" bIns="635" rtlCol="0" anchor="t">
            <a:normAutofit/>
          </a:bodyPr>
          <a:lstStyle/>
          <a:p>
            <a:r>
              <a:rPr lang="en-US" sz="1320" dirty="0">
                <a:solidFill>
                  <a:srgbClr val="17364A"/>
                </a:solidFill>
                <a:latin typeface="Aptos" pitchFamily="34" charset="0"/>
                <a:ea typeface="Aptos" pitchFamily="34" charset="-122"/>
                <a:cs typeface="Aptos" pitchFamily="34" charset="-120"/>
              </a:rPr>
              <a:t>Automation bias: The tendency to over-trust an automated output because it appears objective, precise, or authoritative. Public health workflows should require deliberate review, documentation, and escalation when AI outputs.</a:t>
            </a:r>
            <a:endParaRPr lang="en-US" sz="1320" dirty="0"/>
          </a:p>
          <a:p>
            <a:r>
              <a:rPr lang="en-US" sz="1320" dirty="0">
                <a:solidFill>
                  <a:srgbClr val="17364A"/>
                </a:solidFill>
                <a:latin typeface="Aptos" pitchFamily="34" charset="0"/>
                <a:ea typeface="Aptos" pitchFamily="34" charset="-122"/>
                <a:cs typeface="Aptos" pitchFamily="34" charset="-120"/>
              </a:rPr>
              <a:t>Explainability: The ability to describe how an AI system produced or contributed to an output in terms that decision-makers, staff, and affected communities can understand.</a:t>
            </a:r>
            <a:endParaRPr lang="en-US" sz="1320" dirty="0"/>
          </a:p>
          <a:p>
            <a:r>
              <a:rPr lang="en-US" sz="1320" dirty="0">
                <a:solidFill>
                  <a:srgbClr val="17364A"/>
                </a:solidFill>
                <a:latin typeface="Aptos" pitchFamily="34" charset="0"/>
                <a:ea typeface="Aptos" pitchFamily="34" charset="-122"/>
                <a:cs typeface="Aptos" pitchFamily="34" charset="-120"/>
              </a:rPr>
              <a:t>False negative: A case where an AI system fails to flag a true condition, risk, signal, or problem. False negatives matter in public health because they can delay action or leave people, facilities, or communities without.</a:t>
            </a:r>
            <a:endParaRPr lang="en-US" sz="1320" dirty="0"/>
          </a:p>
          <a:p>
            <a:r>
              <a:rPr lang="en-US" sz="1320" dirty="0">
                <a:solidFill>
                  <a:srgbClr val="17364A"/>
                </a:solidFill>
                <a:latin typeface="Aptos" pitchFamily="34" charset="0"/>
                <a:ea typeface="Aptos" pitchFamily="34" charset="-122"/>
                <a:cs typeface="Aptos" pitchFamily="34" charset="-120"/>
              </a:rPr>
              <a:t>False positive: A case where an AI system flags a condition, risk, signal, or problem that is not actually present. False positives matter because they can waste staff time, create unnecessary concern, or burden people and.</a:t>
            </a:r>
            <a:endParaRPr lang="en-US" sz="1320" dirty="0"/>
          </a:p>
          <a:p>
            <a:r>
              <a:rPr lang="en-US" sz="1320" dirty="0">
                <a:solidFill>
                  <a:srgbClr val="17364A"/>
                </a:solidFill>
                <a:latin typeface="Aptos" pitchFamily="34" charset="0"/>
                <a:ea typeface="Aptos" pitchFamily="34" charset="-122"/>
                <a:cs typeface="Aptos" pitchFamily="34" charset="-120"/>
              </a:rPr>
              <a:t>Human-in-the-loop: A workflow design in which a person reviews, approves, corrects, or overrides AI outputs before they affect decisions, services, communications, or public health action.</a:t>
            </a:r>
            <a:endParaRPr lang="en-US" sz="13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Automation Bias and Over-Trust</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02920"/>
          </a:xfrm>
          <a:prstGeom prst="rect">
            <a:avLst/>
          </a:prstGeom>
          <a:noFill/>
          <a:ln/>
        </p:spPr>
        <p:txBody>
          <a:bodyPr wrap="square" lIns="0" tIns="0" rIns="0" bIns="0" rtlCol="0" anchor="ctr"/>
          <a:lstStyle/>
          <a:p>
            <a:pPr indent="0" marL="0">
              <a:buNone/>
            </a:pPr>
            <a:r>
              <a:rPr lang="en-US" sz="2800" b="1" dirty="0">
                <a:solidFill>
                  <a:srgbClr val="003A63"/>
                </a:solidFill>
                <a:latin typeface="Aptos Display" pitchFamily="34" charset="0"/>
                <a:ea typeface="Aptos Display" pitchFamily="34" charset="-122"/>
                <a:cs typeface="Aptos Display" pitchFamily="34" charset="-120"/>
              </a:rPr>
              <a:t>Definitions Continued</a:t>
            </a:r>
            <a:endParaRPr lang="en-US" sz="2800" dirty="0"/>
          </a:p>
        </p:txBody>
      </p:sp>
      <p:sp>
        <p:nvSpPr>
          <p:cNvPr id="7" name="Text 5"/>
          <p:cNvSpPr/>
          <p:nvPr/>
        </p:nvSpPr>
        <p:spPr>
          <a:xfrm>
            <a:off x="822960" y="1325880"/>
            <a:ext cx="10378440" cy="4754880"/>
          </a:xfrm>
          <a:prstGeom prst="rect">
            <a:avLst/>
          </a:prstGeom>
          <a:noFill/>
          <a:ln/>
        </p:spPr>
        <p:txBody>
          <a:bodyPr wrap="square" lIns="635" tIns="635" rIns="635" bIns="635" rtlCol="0" anchor="t">
            <a:normAutofit/>
          </a:bodyPr>
          <a:lstStyle/>
          <a:p>
            <a:r>
              <a:rPr lang="en-US" sz="1320" dirty="0">
                <a:solidFill>
                  <a:srgbClr val="17364A"/>
                </a:solidFill>
                <a:latin typeface="Aptos" pitchFamily="34" charset="0"/>
                <a:ea typeface="Aptos" pitchFamily="34" charset="-122"/>
                <a:cs typeface="Aptos" pitchFamily="34" charset="-120"/>
              </a:rPr>
              <a:t>Validation: The process of testing whether an AI system performs well enough for its intended public health use. Validation should include accuracy, reliability, subgroup performance, workflow fit, user review, and risk.</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Automation Bias and Over-Trust</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02920"/>
          </a:xfrm>
          <a:prstGeom prst="rect">
            <a:avLst/>
          </a:prstGeom>
          <a:noFill/>
          <a:ln/>
        </p:spPr>
        <p:txBody>
          <a:bodyPr wrap="square" lIns="0" tIns="0" rIns="0" bIns="0" rtlCol="0" anchor="ctr"/>
          <a:lstStyle/>
          <a:p>
            <a:pPr indent="0" marL="0">
              <a:buNone/>
            </a:pPr>
            <a:r>
              <a:rPr lang="en-US" sz="2800" b="1" dirty="0">
                <a:solidFill>
                  <a:srgbClr val="003A63"/>
                </a:solidFill>
                <a:latin typeface="Aptos Display" pitchFamily="34" charset="0"/>
                <a:ea typeface="Aptos Display" pitchFamily="34" charset="-122"/>
                <a:cs typeface="Aptos Display" pitchFamily="34" charset="-120"/>
              </a:rPr>
              <a:t>Core Concepts</a:t>
            </a:r>
            <a:endParaRPr lang="en-US" sz="28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380" dirty="0">
                <a:solidFill>
                  <a:srgbClr val="17364A"/>
                </a:solidFill>
                <a:latin typeface="Aptos" pitchFamily="34" charset="0"/>
                <a:ea typeface="Aptos" pitchFamily="34" charset="-122"/>
                <a:cs typeface="Aptos" pitchFamily="34" charset="-120"/>
              </a:rPr>
              <a:t>Automation bias is a core concept for this lesson because it turns automation bias and over-trust from an abstract AI topic into something you can recognize in daily public health work. Over-trusting an automated output because it seems objective, polished, or precise. When you encounter this concept, ask what data are involved, who is accountable for the result, what human review is required, and how the work should be documented. That habit helps you connect the lesson to concrete governance, privacy, equity, workforce, procurement, implementation, and monitoring decisions rather than treating AI as a stand-alone technology issue. Uncertainty is a core concept for this lesson because it turns automation bias and over-trust from an abstract AI topic into something you can recognize in daily public health work. What is not known, not verified, or not reliable enough to support a decision. When you encounter this concept, ask what data are involved, who is accountable for the result, what human review is required, and how the work should be documented. That habit helps you connect the lesson to concrete governance, privacy, equity, workforce, procurement, implementation, and monitoring decisions rather than treating AI as a stand-alone technology issue. Override log is a core concept for this lesson because it turns automation bias and over-trust from an abstract AI topic into something you can recognize in daily public health work. A record of when staff disagree with or correct an AI output and why. When you encounter this concept, ask what data are involved, who is accountable for the result, what human review is required, and how the work should be documented. That habit helps you connect the lesson to concrete governance, privacy, equity, workforce, procurement, implementation, and monitoring decisions rather than treating AI as a stand-alone technology issue.</a:t>
            </a:r>
            <a:endParaRPr lang="en-US" sz="13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Automation Bias and Over-Trust</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02920"/>
          </a:xfrm>
          <a:prstGeom prst="rect">
            <a:avLst/>
          </a:prstGeom>
          <a:noFill/>
          <a:ln/>
        </p:spPr>
        <p:txBody>
          <a:bodyPr wrap="square" lIns="0" tIns="0" rIns="0" bIns="0" rtlCol="0" anchor="ctr"/>
          <a:lstStyle/>
          <a:p>
            <a:pPr indent="0" marL="0">
              <a:buNone/>
            </a:pPr>
            <a:r>
              <a:rPr lang="en-US" sz="2800" b="1" dirty="0">
                <a:solidFill>
                  <a:srgbClr val="003A63"/>
                </a:solidFill>
                <a:latin typeface="Aptos Display" pitchFamily="34" charset="0"/>
                <a:ea typeface="Aptos Display" pitchFamily="34" charset="-122"/>
                <a:cs typeface="Aptos Display" pitchFamily="34" charset="-120"/>
              </a:rPr>
              <a:t>Public Health Application</a:t>
            </a:r>
            <a:endParaRPr lang="en-US" sz="28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380" dirty="0">
                <a:solidFill>
                  <a:srgbClr val="17364A"/>
                </a:solidFill>
                <a:latin typeface="Aptos" pitchFamily="34" charset="0"/>
                <a:ea typeface="Aptos" pitchFamily="34" charset="-122"/>
                <a:cs typeface="Aptos" pitchFamily="34" charset="-120"/>
              </a:rPr>
              <a:t>Second-review requirements is a useful way to apply this lesson because it gives you a concrete workflow to test against the concept. This example should be examined as a workflow, not simply as a possible AI feature. Start by identifying the public health problem, the source information, the users, the people affected, and the decision that remains human. Then document the safeguards needed before the idea could become an approved use case. In practice, you should identify the expected public health value, the staff role responsible for review, the data sensitivity, and the point where governance approval is required. If those elements cannot be described clearly, the idea should remain in exploration rather than moving into procurement, piloting, or deployment. Decision owner sign-off is a useful way to apply this lesson because it gives you a concrete workflow to test against the concept. This example should be examined as a workflow, not simply as a possible AI feature. Start by identifying the public health problem, the source information, the users, the people affected, and the decision that remains human. Then document the safeguards needed before the idea could become an approved use case. In practice, you should identify the expected public health value, the staff role responsible for review, the data sensitivity, and the point where governance approval is required. If those elements cannot be described clearly, the idea should remain in exploration rather than moving into procurement, piloting, or deployment. Confidence and limitation notes in briefs is a useful way to apply this lesson because it gives you a concrete workflow to test against the concept. This example should be examined as a workflow, not simply as a possible AI feature. Start by identifying the public health problem, the source information, the users, the people affected, and the decision that remains human. Then document the safeguards needed before the idea could become an approved use case. In practice, you should identify the expected public health value, the staff role responsible for review, the data sensitivity, and the point where governance approval is required. If those elements cannot be described clearly, the idea should remain in exploration rather than moving into procurement, piloting, or deployment.</a:t>
            </a:r>
            <a:endParaRPr lang="en-US" sz="13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Automation Bias and Over-Trust</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02920"/>
          </a:xfrm>
          <a:prstGeom prst="rect">
            <a:avLst/>
          </a:prstGeom>
          <a:noFill/>
          <a:ln/>
        </p:spPr>
        <p:txBody>
          <a:bodyPr wrap="square" lIns="0" tIns="0" rIns="0" bIns="0" rtlCol="0" anchor="ctr"/>
          <a:lstStyle/>
          <a:p>
            <a:pPr indent="0" marL="0">
              <a:buNone/>
            </a:pPr>
            <a:r>
              <a:rPr lang="en-US" sz="2800" b="1" dirty="0">
                <a:solidFill>
                  <a:srgbClr val="003A63"/>
                </a:solidFill>
                <a:latin typeface="Aptos Display" pitchFamily="34" charset="0"/>
                <a:ea typeface="Aptos Display" pitchFamily="34" charset="-122"/>
                <a:cs typeface="Aptos Display" pitchFamily="34" charset="-120"/>
              </a:rPr>
              <a:t>Implementation Guidance</a:t>
            </a:r>
            <a:endParaRPr lang="en-US" sz="28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380" dirty="0">
                <a:solidFill>
                  <a:srgbClr val="17364A"/>
                </a:solidFill>
                <a:latin typeface="Aptos" pitchFamily="34" charset="0"/>
                <a:ea typeface="Aptos" pitchFamily="34" charset="-122"/>
                <a:cs typeface="Aptos" pitchFamily="34" charset="-120"/>
              </a:rPr>
              <a:t>To apply this module, begin with a real or realistic public health workflow and describe the task in plain language before naming an AI tool. Use the related plays (Play 3, Play 7, Play 11, Play 12, Play 13) to identify the decisions, approvals, people, and timing needed for responsible implementation. Use the related tools (Tool 14, Tool 40, Tool 46, Tool 6) to create documentation that can be reviewed, saved, revised, and used as evidence of readiness. The practical exercise asks you to produce evidence that can feed into that work: Take one AI-assisted output and design a review form that asks staff to check sources, uncertainty, missing context, subgroup impact, and whether the recommendation should be accepted, modified, or rejected. The main guardrail for this lesson is that Repeated exposure to fluent AI outputs can reduce scrutiny unless workflows require deliberate review and documentation. Treat that guardrail as an operational requirement, not a warning label at the end of the lesson. Before using AI in this area, identify what could go wrong, who would notice the problem, how the concern would be escalated, and what authority exists to pause or change the work. That approach makes risk management part of routine public health practice rather than a separate technical review. If your department already has a relevant process, such as data governance, technology governance, quality improvement, procurement review, privacy review, emergency response planning, or workforce development, use that process as the starting point. The playbook tools are meant to fill gaps where a method or documentation process does not already exist. There is no need to recreate the wheel when an existing process can be extended to include AI-specific questions, evidence, approval points, and monitoring expectations. This keeps AI governance connected to normal public health operations instead of creating a parallel paperwork system.</a:t>
            </a:r>
            <a:endParaRPr lang="en-US" sz="13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Automation Bias and Over-Trust</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02920"/>
          </a:xfrm>
          <a:prstGeom prst="rect">
            <a:avLst/>
          </a:prstGeom>
          <a:noFill/>
          <a:ln/>
        </p:spPr>
        <p:txBody>
          <a:bodyPr wrap="square" lIns="0" tIns="0" rIns="0" bIns="0" rtlCol="0" anchor="ctr"/>
          <a:lstStyle/>
          <a:p>
            <a:pPr indent="0" marL="0">
              <a:buNone/>
            </a:pPr>
            <a:r>
              <a:rPr lang="en-US" sz="2800" b="1" dirty="0">
                <a:solidFill>
                  <a:srgbClr val="003A63"/>
                </a:solidFill>
                <a:latin typeface="Aptos Display" pitchFamily="34" charset="0"/>
                <a:ea typeface="Aptos Display" pitchFamily="34" charset="-122"/>
                <a:cs typeface="Aptos Display" pitchFamily="34" charset="-120"/>
              </a:rPr>
              <a:t>Using Plays and Tools</a:t>
            </a:r>
            <a:endParaRPr lang="en-US" sz="28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380" dirty="0">
                <a:solidFill>
                  <a:srgbClr val="17364A"/>
                </a:solidFill>
                <a:latin typeface="Aptos" pitchFamily="34" charset="0"/>
                <a:ea typeface="Aptos" pitchFamily="34" charset="-122"/>
                <a:cs typeface="Aptos" pitchFamily="34" charset="-120"/>
              </a:rPr>
              <a:t>The related plays help you decide where this topic fits in the planning and implementation sequence. The related tools help you convert the lesson into a documented artifact, such as a review checklist, inventory record, policy scan, implementation note, communication plan, training assignment, risk register, or monitoring record. Use the assessment results as a starting recommendation, but adjust the path based on what your department has already completed and what is most useful for your public health goals. When a play or tool is not needed, document why it was deferred so future reviewers understand the decision. This matters for your practice because Automation bias is a practical operational risk. Staff may over-trust outputs that are fluent, precise, or repeated often. Public health workflows need review steps that make skepticism normal and expected. Use that purpose to decide how much documentation, governance review, stakeholder input, and monitoring are proportionate to the risk and public health impact of the work. A low-risk internal learning activity may need only basic documentation, while a public-facing or decision-support workflow may need formal review, validation, transparency, and ongoing oversight.</a:t>
            </a:r>
            <a:endParaRPr lang="en-US" sz="13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Automation Bias and Over-Trust</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02920"/>
          </a:xfrm>
          <a:prstGeom prst="rect">
            <a:avLst/>
          </a:prstGeom>
          <a:noFill/>
          <a:ln/>
        </p:spPr>
        <p:txBody>
          <a:bodyPr wrap="square" lIns="0" tIns="0" rIns="0" bIns="0" rtlCol="0" anchor="ctr"/>
          <a:lstStyle/>
          <a:p>
            <a:pPr indent="0" marL="0">
              <a:buNone/>
            </a:pPr>
            <a:r>
              <a:rPr lang="en-US" sz="2800" b="1" dirty="0">
                <a:solidFill>
                  <a:srgbClr val="003A63"/>
                </a:solidFill>
                <a:latin typeface="Aptos Display" pitchFamily="34" charset="0"/>
                <a:ea typeface="Aptos Display" pitchFamily="34" charset="-122"/>
                <a:cs typeface="Aptos Display" pitchFamily="34" charset="-120"/>
              </a:rPr>
              <a:t>Practical Exercise</a:t>
            </a:r>
            <a:endParaRPr lang="en-US" sz="2800" dirty="0"/>
          </a:p>
        </p:txBody>
      </p:sp>
      <p:sp>
        <p:nvSpPr>
          <p:cNvPr id="7" name="Text 5"/>
          <p:cNvSpPr/>
          <p:nvPr/>
        </p:nvSpPr>
        <p:spPr>
          <a:xfrm>
            <a:off x="822960" y="1234440"/>
            <a:ext cx="10378440" cy="2011680"/>
          </a:xfrm>
          <a:prstGeom prst="rect">
            <a:avLst/>
          </a:prstGeom>
          <a:noFill/>
          <a:ln/>
        </p:spPr>
        <p:txBody>
          <a:bodyPr wrap="square" lIns="1016" tIns="1016" rIns="1016" bIns="1016" rtlCol="0" anchor="t">
            <a:normAutofit/>
          </a:bodyPr>
          <a:lstStyle/>
          <a:p>
            <a:pPr indent="0" marL="0">
              <a:buNone/>
            </a:pPr>
            <a:r>
              <a:rPr lang="en-US" sz="1520" dirty="0">
                <a:solidFill>
                  <a:srgbClr val="17364A"/>
                </a:solidFill>
                <a:latin typeface="Aptos" pitchFamily="34" charset="0"/>
                <a:ea typeface="Aptos" pitchFamily="34" charset="-122"/>
                <a:cs typeface="Aptos" pitchFamily="34" charset="-120"/>
              </a:rPr>
              <a:t>Take one AI-assisted output and design a review form that asks staff to check sources, uncertainty, missing context, subgroup impact, and whether the recommendation should be accepted, modified, or rejected.</a:t>
            </a:r>
            <a:endParaRPr lang="en-US" sz="1520" dirty="0"/>
          </a:p>
        </p:txBody>
      </p:sp>
      <p:sp>
        <p:nvSpPr>
          <p:cNvPr id="8" name="Text 6"/>
          <p:cNvSpPr/>
          <p:nvPr/>
        </p:nvSpPr>
        <p:spPr>
          <a:xfrm>
            <a:off x="822960" y="3520440"/>
            <a:ext cx="10378440" cy="1828800"/>
          </a:xfrm>
          <a:prstGeom prst="rect">
            <a:avLst/>
          </a:prstGeom>
          <a:noFill/>
          <a:ln/>
        </p:spPr>
        <p:txBody>
          <a:bodyPr wrap="square" lIns="635" tIns="635" rIns="635" bIns="635" rtlCol="0" anchor="t">
            <a:normAutofit/>
          </a:bodyPr>
          <a:lstStyle/>
          <a:p>
            <a:r>
              <a:rPr lang="en-US" sz="1400" dirty="0">
                <a:solidFill>
                  <a:srgbClr val="17364A"/>
                </a:solidFill>
                <a:latin typeface="Aptos" pitchFamily="34" charset="0"/>
                <a:ea typeface="Aptos" pitchFamily="34" charset="-122"/>
                <a:cs typeface="Aptos" pitchFamily="34" charset="-120"/>
              </a:rPr>
              <a:t>Expected artifact: Automation bias review checklist</a:t>
            </a:r>
            <a:endParaRPr lang="en-US" sz="1400" dirty="0"/>
          </a:p>
          <a:p>
            <a:r>
              <a:rPr lang="en-US" sz="1400" dirty="0">
                <a:solidFill>
                  <a:srgbClr val="17364A"/>
                </a:solidFill>
                <a:latin typeface="Aptos" pitchFamily="34" charset="0"/>
                <a:ea typeface="Aptos" pitchFamily="34" charset="-122"/>
                <a:cs typeface="Aptos" pitchFamily="34" charset="-120"/>
              </a:rPr>
              <a:t>Expected artifact: Decision owner sign-off process</a:t>
            </a:r>
            <a:endParaRPr lang="en-US" sz="1400" dirty="0"/>
          </a:p>
          <a:p>
            <a:r>
              <a:rPr lang="en-US" sz="1400" dirty="0">
                <a:solidFill>
                  <a:srgbClr val="17364A"/>
                </a:solidFill>
                <a:latin typeface="Aptos" pitchFamily="34" charset="0"/>
                <a:ea typeface="Aptos" pitchFamily="34" charset="-122"/>
                <a:cs typeface="Aptos" pitchFamily="34" charset="-120"/>
              </a:rPr>
              <a:t>Expected artifact: Override and correction log</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Automation Bias and Over-Trust</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02920"/>
          </a:xfrm>
          <a:prstGeom prst="rect">
            <a:avLst/>
          </a:prstGeom>
          <a:noFill/>
          <a:ln/>
        </p:spPr>
        <p:txBody>
          <a:bodyPr wrap="square" lIns="0" tIns="0" rIns="0" bIns="0" rtlCol="0" anchor="ctr"/>
          <a:lstStyle/>
          <a:p>
            <a:pPr indent="0" marL="0">
              <a:buNone/>
            </a:pPr>
            <a:r>
              <a:rPr lang="en-US" sz="2800" b="1" dirty="0">
                <a:solidFill>
                  <a:srgbClr val="003A63"/>
                </a:solidFill>
                <a:latin typeface="Aptos Display" pitchFamily="34" charset="0"/>
                <a:ea typeface="Aptos Display" pitchFamily="34" charset="-122"/>
                <a:cs typeface="Aptos Display" pitchFamily="34" charset="-120"/>
              </a:rPr>
              <a:t>Reflection Questions</a:t>
            </a:r>
            <a:endParaRPr lang="en-US" sz="2800" dirty="0"/>
          </a:p>
        </p:txBody>
      </p:sp>
      <p:sp>
        <p:nvSpPr>
          <p:cNvPr id="7" name="Text 5"/>
          <p:cNvSpPr/>
          <p:nvPr/>
        </p:nvSpPr>
        <p:spPr>
          <a:xfrm>
            <a:off x="822960" y="1325880"/>
            <a:ext cx="10378440" cy="4572000"/>
          </a:xfrm>
          <a:prstGeom prst="rect">
            <a:avLst/>
          </a:prstGeom>
          <a:noFill/>
          <a:ln/>
        </p:spPr>
        <p:txBody>
          <a:bodyPr wrap="square" lIns="635" tIns="635" rIns="635" bIns="635" rtlCol="0" anchor="t">
            <a:normAutofit/>
          </a:bodyPr>
          <a:lstStyle/>
          <a:p>
            <a:r>
              <a:rPr lang="en-US" sz="1500" dirty="0">
                <a:solidFill>
                  <a:srgbClr val="17364A"/>
                </a:solidFill>
                <a:latin typeface="Aptos" pitchFamily="34" charset="0"/>
                <a:ea typeface="Aptos" pitchFamily="34" charset="-122"/>
                <a:cs typeface="Aptos" pitchFamily="34" charset="-120"/>
              </a:rPr>
              <a:t>Where might staff accept AI output too quickly?</a:t>
            </a:r>
            <a:endParaRPr lang="en-US" sz="1500" dirty="0"/>
          </a:p>
          <a:p>
            <a:r>
              <a:rPr lang="en-US" sz="1500" dirty="0">
                <a:solidFill>
                  <a:srgbClr val="17364A"/>
                </a:solidFill>
                <a:latin typeface="Aptos" pitchFamily="34" charset="0"/>
                <a:ea typeface="Aptos" pitchFamily="34" charset="-122"/>
                <a:cs typeface="Aptos" pitchFamily="34" charset="-120"/>
              </a:rPr>
              <a:t>What second-review or sign-off is needed for high-impact outputs?</a:t>
            </a:r>
            <a:endParaRPr lang="en-US" sz="1500" dirty="0"/>
          </a:p>
          <a:p>
            <a:r>
              <a:rPr lang="en-US" sz="1500" dirty="0">
                <a:solidFill>
                  <a:srgbClr val="17364A"/>
                </a:solidFill>
                <a:latin typeface="Aptos" pitchFamily="34" charset="0"/>
                <a:ea typeface="Aptos" pitchFamily="34" charset="-122"/>
                <a:cs typeface="Aptos" pitchFamily="34" charset="-120"/>
              </a:rPr>
              <a:t>How will overrides, corrections, and disagreements be documented?</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Automation Bias and Over-Trust</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02920"/>
          </a:xfrm>
          <a:prstGeom prst="rect">
            <a:avLst/>
          </a:prstGeom>
          <a:noFill/>
          <a:ln/>
        </p:spPr>
        <p:txBody>
          <a:bodyPr wrap="square" lIns="0" tIns="0" rIns="0" bIns="0" rtlCol="0" anchor="ctr"/>
          <a:lstStyle/>
          <a:p>
            <a:pPr indent="0" marL="0">
              <a:buNone/>
            </a:pPr>
            <a:r>
              <a:rPr lang="en-US" sz="2800" b="1" dirty="0">
                <a:solidFill>
                  <a:srgbClr val="003A63"/>
                </a:solidFill>
                <a:latin typeface="Aptos Display" pitchFamily="34" charset="0"/>
                <a:ea typeface="Aptos Display" pitchFamily="34" charset="-122"/>
                <a:cs typeface="Aptos Display" pitchFamily="34" charset="-120"/>
              </a:rPr>
              <a:t>References and Resources</a:t>
            </a:r>
            <a:endParaRPr lang="en-US" sz="2800" dirty="0"/>
          </a:p>
        </p:txBody>
      </p:sp>
      <p:sp>
        <p:nvSpPr>
          <p:cNvPr id="7" name="Text 5"/>
          <p:cNvSpPr/>
          <p:nvPr/>
        </p:nvSpPr>
        <p:spPr>
          <a:xfrm>
            <a:off x="822960" y="1280160"/>
            <a:ext cx="10378440" cy="4800600"/>
          </a:xfrm>
          <a:prstGeom prst="rect">
            <a:avLst/>
          </a:prstGeom>
          <a:noFill/>
          <a:ln/>
        </p:spPr>
        <p:txBody>
          <a:bodyPr wrap="square" lIns="635" tIns="635" rIns="635" bIns="635" rtlCol="0" anchor="t">
            <a:normAutofit/>
          </a:bodyPr>
          <a:lstStyle/>
          <a:p>
            <a:r>
              <a:rPr lang="en-US" sz="1280" dirty="0">
                <a:solidFill>
                  <a:srgbClr val="17364A"/>
                </a:solidFill>
                <a:latin typeface="Aptos" pitchFamily="34" charset="0"/>
                <a:ea typeface="Aptos" pitchFamily="34" charset="-122"/>
                <a:cs typeface="Aptos" pitchFamily="34" charset="-120"/>
              </a:rPr>
              <a:t>NIST AI Risk Management Framework: Risk controls for over-trust, human review, testing, and monitoring.</a:t>
            </a:r>
            <a:endParaRPr lang="en-US" sz="1280" dirty="0"/>
          </a:p>
          <a:p>
            <a:r>
              <a:rPr lang="en-US" sz="1280" dirty="0">
                <a:solidFill>
                  <a:srgbClr val="17364A"/>
                </a:solidFill>
                <a:latin typeface="Aptos" pitchFamily="34" charset="0"/>
                <a:ea typeface="Aptos" pitchFamily="34" charset="-122"/>
                <a:cs typeface="Aptos" pitchFamily="34" charset="-120"/>
              </a:rPr>
              <a:t>HHS Civil Rights and AI: Equity and civil rights considerations when automated systems influence decisions.</a:t>
            </a:r>
            <a:endParaRPr lang="en-US" sz="1280" dirty="0"/>
          </a:p>
          <a:p>
            <a:r>
              <a:rPr lang="en-US" sz="1280" dirty="0">
                <a:solidFill>
                  <a:srgbClr val="17364A"/>
                </a:solidFill>
                <a:latin typeface="Aptos" pitchFamily="34" charset="0"/>
                <a:ea typeface="Aptos" pitchFamily="34" charset="-122"/>
                <a:cs typeface="Aptos" pitchFamily="34" charset="-120"/>
              </a:rPr>
              <a:t>WHO: Ethics and governance of artificial intelligence for health: Health AI ethics guidance addressing human autonomy and oversight.</a:t>
            </a:r>
            <a:endParaRPr lang="en-US" sz="12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Automation Bias and Over-Trust</dc:title>
  <dc:subject>Automation Bias and Over-Trust learning module</dc:subject>
  <dc:creator>Paula Soper</dc:creator>
  <cp:lastModifiedBy>Paula Soper</cp:lastModifiedBy>
  <cp:revision>1</cp:revision>
  <dcterms:created xsi:type="dcterms:W3CDTF">2026-07-09T20:18:52Z</dcterms:created>
  <dcterms:modified xsi:type="dcterms:W3CDTF">2026-07-09T20:18:52Z</dcterms:modified>
</cp:coreProperties>
</file>