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Validation and Evaluation Basics is designed for an individual learner using the AI Playbook and Toolkit for Public Health Departments.
Validation helps departments decide whether an AI system performs well enough, for the right users and populations, before it is piloted, scaled, or sustained.
Use the notes in this deck as additional reading and context. They are not written as presenter instructions.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the concept in plain language for colleagues, leaders, partners, and community-facing discussions.
Identify where the concept affects AI planning, governance, procurement, implementation, monitoring, public trust, or public health decision-making.
Apply the concept to a concrete public health workflow using the linked plays, tools, safeguards, and documentation expectations.
Complete a practical activity that produces an artifact you can use in readiness assessment, governance review, implementation planning, or monitoring.
Produce or contribute to: Validation plan outline.
Produce or contribute to: Evaluation metric list.
Produce or contribute to: Governance decision thresholds.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Validation is the disciplined process of checking whether an AI-supported workflow is accurate, reliable, safe, equitable, usable, and appropriate for its intended public health purpose. It should be understandable to nontechnical staff because validation results inform governance decisions.
Validation is not just a technical score. A technically impressive model may be inappropriate if it creates staff burden, performs poorly for certain communities, or cannot be explained well enough for public health accountability.
You should understand the difference between vendor validation, local validation, pilot evaluation, and ongoing monitoring. Vendor evidence may be useful, but the department still needs to know whether the system works in its own data, workflows, populations, and operating conditions.
This module helps you ask better questions of data scientists and vendors, and help governance groups interpret validation evidence before decisions are made.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Bias: Systematic error or unfairness that can produce different results for different groups. Bias can arise from data gaps, measurement choices, model design, deployment context, or unequal access to services.
False negative: A case where an AI system fails to flag a true condition, risk, signal, or problem. False negatives matter in public health because they can delay action or leave people, facilities, or communities without needed review.
False positive: A case where an AI system flags a condition, risk, signal, or problem that is not actually present. False positives matter because they can waste staff time, create unnecessary concern, or burden people and communities unfairly.
Model drift: A decline or change in AI performance over time because data, workflows, disease patterns, populations, vendor systems, or user behavior have changed. Drift is one reason monitoring must continue after deployment.
Subgroup monitoring: Checking whether AI performance, access, burden, errors, or outcomes differ across meaningful populations, geographies, languages, programs, facilities, or other relevant groups.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Validation: The process of testing whether an AI system performs well enough for its intended public health use. Validation should include accuracy, reliability, subgroup performance, workflow fit, user review, and risk mitigation.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Validation plan is a core concept for this lesson because it turns model validation and evaluation basics from an abstract AI topic into something you can recognize in daily public health work. A plan for testing whether an AI system is accurate, safe, equitable, useful, and appropriate for its intended workflow.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Go/no-go criteria is a core concept for this lesson because it turns model validation and evaluation basics from an abstract AI topic into something you can recognize in daily public health work. Predefined thresholds that determine whether a pilot can proceed, needs revision, must pause, or should stop.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Subgroup check is a core concept for this lesson because it turns model validation and evaluation basics from an abstract AI topic into something you can recognize in daily public health work. A review of whether performance differs across meaningful groups, locations, languages, or settings.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outputs against accepted standards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
Compare subgroup performance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
Set go/no-go thresholds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apply this module, begin with a real or realistic public health workflow and describe the task in plain language before naming an AI tool. Use the related plays (Play 7, Play 11, Play 12, Play 13) to identify the decisions, approvals, people, and timing needed for responsible implementation. Use the related tools (Tool 3, Tool 14, Tool 40, Tool 41, Tool 42, Tool 44, Tool 47) to create documentation that can be reviewed, saved, revised, and used as evidence of readiness. The practical exercise asks you to produce evidence that can feed into that work: Design a validation plan for one proposed AI use case, including test examples, performance measures, subgroup checks, human review expectations, and go/no-go criteria.
The main guardrail for this lesson is that A model that performs well in a demo can fail in local workflows, underrepresented groups, or changing conditions. Treat that guardrail as an operational requirement, not a warning label at the end of the lesson. Before using AI in this area, identify what could go wrong, who would notice the problem, how the concern would be escalated, and what authority exists to pause or change the work. That approach makes risk management part of routine public health practice rather than a separate technical review.
If your department already has a relevant process, such as data governance, technology governance, quality improvement, procurement review, privacy review, emergency response planning, or workforce development, use that process as the starting point. The playbook tools are meant to fill gaps where a method or documentation process does not already exist. There is no need to recreate the wheel when an existing process can be extended to include AI-specific questions, evidence, approval points, and monitoring expectations. This keeps AI governance connected to normal public health operations instead of creating a parallel paperwork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related plays help you decide where this topic fits in the planning and implementation sequence. The related tools help you convert the lesson into a documented artifact, such as a review checklist, inventory record, policy scan, implementation note, communication plan, training assignment, risk register, or monitoring record. Use the assessment results as a starting recommendation, but adjust the path based on what your department has already completed and what is most useful for your public health goals. When a play or tool is not needed, document why it was deferred so future reviewers understand the decision.
This matters for your practice because Validation protects agencies from scaling systems that are inaccurate, inequitable, poorly integrated, or untrusted by staff and communities. Use that purpose to decide how much documentation, governance review, stakeholder input, and monitoring are proportionate to the risk and public health impact of the work. A low-risk internal learning activity may need only basic documentation, while a public-facing or decision-support workflow may need formal review, validation, transparency, and ongoing oversight.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Design a validation plan for one proposed AI use case, including test examples, performance measures, subgroup checks, human review expectations, and go/no-go criteria.
Validation plan outline
Evaluation metric list
Governance decision thresholds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would count as acceptable performance for this workflow?
Which groups or locations need subgroup review?
What evidence should governance require before scale-up?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NIST AI Risk Management Framework: Risk and measurement framework for validation, monitoring, and governance. https://www.nist.gov/itl/ai-risk-management-framework
WHO: Regulatory considerations on artificial intelligence for health: Health AI validation, safety, transparency, and monitoring considerations. https://iris.who.int/handle/10665/373421
HHS Civil Rights and AI: Equity and nondiscrimination considerations when AI affects health and human services. https://www.hhs.gov/civil-rights/for-individuals/special-topics/ai/index.html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13232" y="2542032"/>
            <a:ext cx="10607040" cy="777240"/>
          </a:xfrm>
          <a:prstGeom prst="rect">
            <a:avLst/>
          </a:prstGeom>
          <a:noFill/>
          <a:ln/>
        </p:spPr>
        <p:txBody>
          <a:bodyPr wrap="square" lIns="0" tIns="0" rIns="0" bIns="0" rtlCol="0" anchor="ct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Model Validation and Evaluation Basics</a:t>
            </a:r>
            <a:endParaRPr lang="en-US" sz="3400" dirty="0"/>
          </a:p>
        </p:txBody>
      </p:sp>
      <p:sp>
        <p:nvSpPr>
          <p:cNvPr id="6" name="Text 3"/>
          <p:cNvSpPr/>
          <p:nvPr/>
        </p:nvSpPr>
        <p:spPr>
          <a:xfrm>
            <a:off x="749808" y="3456432"/>
            <a:ext cx="365760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Learning Module</a:t>
            </a:r>
            <a:endParaRPr lang="en-US" sz="1400" dirty="0"/>
          </a:p>
        </p:txBody>
      </p:sp>
      <p:sp>
        <p:nvSpPr>
          <p:cNvPr id="7" name="Text 4"/>
          <p:cNvSpPr/>
          <p:nvPr/>
        </p:nvSpPr>
        <p:spPr>
          <a:xfrm>
            <a:off x="749808" y="3886200"/>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Model Validation and Evaluation Basics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Learning Objectives</a:t>
            </a:r>
            <a:endParaRPr lang="en-US" sz="2800" dirty="0"/>
          </a:p>
        </p:txBody>
      </p:sp>
      <p:sp>
        <p:nvSpPr>
          <p:cNvPr id="7" name="Text 5"/>
          <p:cNvSpPr/>
          <p:nvPr/>
        </p:nvSpPr>
        <p:spPr>
          <a:xfrm>
            <a:off x="822960" y="1417320"/>
            <a:ext cx="10332720" cy="4480560"/>
          </a:xfrm>
          <a:prstGeom prst="rect">
            <a:avLst/>
          </a:prstGeom>
          <a:noFill/>
          <a:ln/>
        </p:spPr>
        <p:txBody>
          <a:bodyPr wrap="square" lIns="635" tIns="635" rIns="635" bIns="635" rtlCol="0" anchor="t">
            <a:normAutofit/>
          </a:bodyPr>
          <a:lstStyle/>
          <a:p>
            <a:r>
              <a:rPr lang="en-US" sz="1600" dirty="0">
                <a:solidFill>
                  <a:srgbClr val="17364A"/>
                </a:solidFill>
                <a:latin typeface="Aptos" pitchFamily="34" charset="0"/>
                <a:ea typeface="Aptos" pitchFamily="34" charset="-122"/>
                <a:cs typeface="Aptos" pitchFamily="34" charset="-120"/>
              </a:rPr>
              <a:t>Define the concept in plain language for colleagues, leaders, partners, and community-facing discussions.</a:t>
            </a:r>
            <a:endParaRPr lang="en-US" sz="1600" dirty="0"/>
          </a:p>
          <a:p>
            <a:r>
              <a:rPr lang="en-US" sz="1600" dirty="0">
                <a:solidFill>
                  <a:srgbClr val="17364A"/>
                </a:solidFill>
                <a:latin typeface="Aptos" pitchFamily="34" charset="0"/>
                <a:ea typeface="Aptos" pitchFamily="34" charset="-122"/>
                <a:cs typeface="Aptos" pitchFamily="34" charset="-120"/>
              </a:rPr>
              <a:t>Identify where the concept affects AI planning, governance, procurement, implementation, monitoring, public trust, or public health decision-making.</a:t>
            </a:r>
            <a:endParaRPr lang="en-US" sz="1600" dirty="0"/>
          </a:p>
          <a:p>
            <a:r>
              <a:rPr lang="en-US" sz="1600" dirty="0">
                <a:solidFill>
                  <a:srgbClr val="17364A"/>
                </a:solidFill>
                <a:latin typeface="Aptos" pitchFamily="34" charset="0"/>
                <a:ea typeface="Aptos" pitchFamily="34" charset="-122"/>
                <a:cs typeface="Aptos" pitchFamily="34" charset="-120"/>
              </a:rPr>
              <a:t>Apply the concept to a concrete public health workflow using the linked plays, tools, safeguards, and documentation expectations.</a:t>
            </a:r>
            <a:endParaRPr lang="en-US" sz="1600" dirty="0"/>
          </a:p>
          <a:p>
            <a:r>
              <a:rPr lang="en-US" sz="1600" dirty="0">
                <a:solidFill>
                  <a:srgbClr val="17364A"/>
                </a:solidFill>
                <a:latin typeface="Aptos" pitchFamily="34" charset="0"/>
                <a:ea typeface="Aptos" pitchFamily="34" charset="-122"/>
                <a:cs typeface="Aptos" pitchFamily="34" charset="-120"/>
              </a:rPr>
              <a:t>Complete a practical activity that produces an artifact you can use in readiness assessment, governance review, implementation planning, or monitoring.</a:t>
            </a:r>
            <a:endParaRPr lang="en-US" sz="1600" dirty="0"/>
          </a:p>
          <a:p>
            <a:r>
              <a:rPr lang="en-US" sz="1600" dirty="0">
                <a:solidFill>
                  <a:srgbClr val="17364A"/>
                </a:solidFill>
                <a:latin typeface="Aptos" pitchFamily="34" charset="0"/>
                <a:ea typeface="Aptos" pitchFamily="34" charset="-122"/>
                <a:cs typeface="Aptos" pitchFamily="34" charset="-120"/>
              </a:rPr>
              <a:t>Produce or contribute to: Validation plan outline.</a:t>
            </a:r>
            <a:endParaRPr lang="en-US" sz="1600" dirty="0"/>
          </a:p>
          <a:p>
            <a:r>
              <a:rPr lang="en-US" sz="1600" dirty="0">
                <a:solidFill>
                  <a:srgbClr val="17364A"/>
                </a:solidFill>
                <a:latin typeface="Aptos" pitchFamily="34" charset="0"/>
                <a:ea typeface="Aptos" pitchFamily="34" charset="-122"/>
                <a:cs typeface="Aptos" pitchFamily="34" charset="-120"/>
              </a:rPr>
              <a:t>Produce or contribute to: Evaluation metric list.</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Model Validation and Evaluation Basics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Module Overview</a:t>
            </a:r>
            <a:endParaRPr lang="en-US" sz="2800" dirty="0"/>
          </a:p>
        </p:txBody>
      </p:sp>
      <p:sp>
        <p:nvSpPr>
          <p:cNvPr id="7" name="Text 5"/>
          <p:cNvSpPr/>
          <p:nvPr/>
        </p:nvSpPr>
        <p:spPr>
          <a:xfrm>
            <a:off x="822960" y="1325880"/>
            <a:ext cx="10424160" cy="4434840"/>
          </a:xfrm>
          <a:prstGeom prst="rect">
            <a:avLst/>
          </a:prstGeom>
          <a:noFill/>
          <a:ln/>
        </p:spPr>
        <p:txBody>
          <a:bodyPr wrap="square" lIns="1016" tIns="1016" rIns="1016" bIns="1016" rtlCol="0" anchor="t">
            <a:normAutofit/>
          </a:bodyPr>
          <a:lstStyle/>
          <a:p>
            <a:pPr indent="0" marL="0">
              <a:buNone/>
            </a:pPr>
            <a:r>
              <a:rPr lang="en-US" sz="1600" dirty="0">
                <a:solidFill>
                  <a:srgbClr val="17364A"/>
                </a:solidFill>
                <a:latin typeface="Aptos" pitchFamily="34" charset="0"/>
                <a:ea typeface="Aptos" pitchFamily="34" charset="-122"/>
                <a:cs typeface="Aptos" pitchFamily="34" charset="-120"/>
              </a:rPr>
              <a:t>Validation is the disciplined process of checking whether an AI-supported workflow is accurate, reliable, safe, equitable, usable, and appropriate for its intended public health purpose. It should be understandable to nontechnical staff because validation results inform governance decisions.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Model Validation and Evaluation Basics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Definitions</a:t>
            </a:r>
            <a:endParaRPr lang="en-US" sz="2800" dirty="0"/>
          </a:p>
        </p:txBody>
      </p:sp>
      <p:sp>
        <p:nvSpPr>
          <p:cNvPr id="7" name="Text 5"/>
          <p:cNvSpPr/>
          <p:nvPr/>
        </p:nvSpPr>
        <p:spPr>
          <a:xfrm>
            <a:off x="822960" y="1325880"/>
            <a:ext cx="10378440" cy="4754880"/>
          </a:xfrm>
          <a:prstGeom prst="rect">
            <a:avLst/>
          </a:prstGeom>
          <a:noFill/>
          <a:ln/>
        </p:spPr>
        <p:txBody>
          <a:bodyPr wrap="square" lIns="635" tIns="635" rIns="635" bIns="635" rtlCol="0" anchor="t">
            <a:normAutofit/>
          </a:bodyPr>
          <a:lstStyle/>
          <a:p>
            <a:r>
              <a:rPr lang="en-US" sz="1320" dirty="0">
                <a:solidFill>
                  <a:srgbClr val="17364A"/>
                </a:solidFill>
                <a:latin typeface="Aptos" pitchFamily="34" charset="0"/>
                <a:ea typeface="Aptos" pitchFamily="34" charset="-122"/>
                <a:cs typeface="Aptos" pitchFamily="34" charset="-120"/>
              </a:rPr>
              <a:t>Bias: Systematic error or unfairness that can produce different results for different groups. Bias can arise from data gaps, measurement choices, model design, deployment context, or unequal access to services.</a:t>
            </a:r>
            <a:endParaRPr lang="en-US" sz="1320" dirty="0"/>
          </a:p>
          <a:p>
            <a:r>
              <a:rPr lang="en-US" sz="1320" dirty="0">
                <a:solidFill>
                  <a:srgbClr val="17364A"/>
                </a:solidFill>
                <a:latin typeface="Aptos" pitchFamily="34" charset="0"/>
                <a:ea typeface="Aptos" pitchFamily="34" charset="-122"/>
                <a:cs typeface="Aptos" pitchFamily="34" charset="-120"/>
              </a:rPr>
              <a:t>False negative: A case where an AI system fails to flag a true condition, risk, signal, or problem. False negatives matter in public health because they can delay action or leave people, facilities, or communities without.</a:t>
            </a:r>
            <a:endParaRPr lang="en-US" sz="1320" dirty="0"/>
          </a:p>
          <a:p>
            <a:r>
              <a:rPr lang="en-US" sz="1320" dirty="0">
                <a:solidFill>
                  <a:srgbClr val="17364A"/>
                </a:solidFill>
                <a:latin typeface="Aptos" pitchFamily="34" charset="0"/>
                <a:ea typeface="Aptos" pitchFamily="34" charset="-122"/>
                <a:cs typeface="Aptos" pitchFamily="34" charset="-120"/>
              </a:rPr>
              <a:t>False positive: A case where an AI system flags a condition, risk, signal, or problem that is not actually present. False positives matter because they can waste staff time, create unnecessary concern, or burden people and.</a:t>
            </a:r>
            <a:endParaRPr lang="en-US" sz="1320" dirty="0"/>
          </a:p>
          <a:p>
            <a:r>
              <a:rPr lang="en-US" sz="1320" dirty="0">
                <a:solidFill>
                  <a:srgbClr val="17364A"/>
                </a:solidFill>
                <a:latin typeface="Aptos" pitchFamily="34" charset="0"/>
                <a:ea typeface="Aptos" pitchFamily="34" charset="-122"/>
                <a:cs typeface="Aptos" pitchFamily="34" charset="-120"/>
              </a:rPr>
              <a:t>Model drift: A decline or change in AI performance over time because data, workflows, disease patterns, populations, vendor systems, or user behavior have changed. Drift is one reason monitoring must continue after.</a:t>
            </a:r>
            <a:endParaRPr lang="en-US" sz="1320" dirty="0"/>
          </a:p>
          <a:p>
            <a:r>
              <a:rPr lang="en-US" sz="1320" dirty="0">
                <a:solidFill>
                  <a:srgbClr val="17364A"/>
                </a:solidFill>
                <a:latin typeface="Aptos" pitchFamily="34" charset="0"/>
                <a:ea typeface="Aptos" pitchFamily="34" charset="-122"/>
                <a:cs typeface="Aptos" pitchFamily="34" charset="-120"/>
              </a:rPr>
              <a:t>Subgroup monitoring: Checking whether AI performance, access, burden, errors, or outcomes differ across meaningful populations, geographies, languages, programs, facilities, or other relevant groups.</a:t>
            </a:r>
            <a:endParaRPr lang="en-US" sz="13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Model Validation and Evaluation Basics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Definitions Continued</a:t>
            </a:r>
            <a:endParaRPr lang="en-US" sz="2800" dirty="0"/>
          </a:p>
        </p:txBody>
      </p:sp>
      <p:sp>
        <p:nvSpPr>
          <p:cNvPr id="7" name="Text 5"/>
          <p:cNvSpPr/>
          <p:nvPr/>
        </p:nvSpPr>
        <p:spPr>
          <a:xfrm>
            <a:off x="822960" y="1325880"/>
            <a:ext cx="10378440" cy="4754880"/>
          </a:xfrm>
          <a:prstGeom prst="rect">
            <a:avLst/>
          </a:prstGeom>
          <a:noFill/>
          <a:ln/>
        </p:spPr>
        <p:txBody>
          <a:bodyPr wrap="square" lIns="635" tIns="635" rIns="635" bIns="635" rtlCol="0" anchor="t">
            <a:normAutofit/>
          </a:bodyPr>
          <a:lstStyle/>
          <a:p>
            <a:r>
              <a:rPr lang="en-US" sz="1320" dirty="0">
                <a:solidFill>
                  <a:srgbClr val="17364A"/>
                </a:solidFill>
                <a:latin typeface="Aptos" pitchFamily="34" charset="0"/>
                <a:ea typeface="Aptos" pitchFamily="34" charset="-122"/>
                <a:cs typeface="Aptos" pitchFamily="34" charset="-120"/>
              </a:rPr>
              <a:t>Validation: The process of testing whether an AI system performs well enough for its intended public health use. Validation should include accuracy, reliability, subgroup performance, workflow fit, user review, and risk.</a:t>
            </a:r>
            <a:endParaRPr lang="en-US" sz="13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Model Validation and Evaluation Basics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Core Concepts</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Validation plan is a core concept for this lesson because it turns model validation and evaluation basics from an abstract AI topic into something you can recognize in daily public health work. A plan for testing whether an AI system is accurate, safe, equitable, useful, and appropriate for its intended workflow.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Go/no-go criteria is a core concept for this lesson because it turns model validation and evaluation basics from an abstract AI topic into something you can recognize in daily public health work. Predefined thresholds that determine whether a pilot can proceed, needs revision, must pause, or should stop.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Subgroup check is a core concept for this lesson because it turns model validation and evaluation basics from an abstract AI topic into something you can recognize in daily public health work. A review of whether performance differs across meaningful groups, locations, languages, or settings.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a:t>
            </a:r>
            <a:endParaRPr lang="en-US" sz="13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Model Validation and Evaluation Basics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Public Health Application</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Test outputs against accepted standards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 Compare subgroup performance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 Set go/no-go thresholds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a:t>
            </a:r>
            <a:endParaRPr lang="en-US" sz="13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Model Validation and Evaluation Basics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Implementation Guidance</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To apply this module, begin with a real or realistic public health workflow and describe the task in plain language before naming an AI tool. Use the related plays (Play 7, Play 11, Play 12, Play 13) to identify the decisions, approvals, people, and timing needed for responsible implementation. Use the related tools (Tool 3, Tool 14, Tool 40, Tool 41, Tool 42, Tool 44, Tool 47) to create documentation that can be reviewed, saved, revised, and used as evidence of readiness. The practical exercise asks you to produce evidence that can feed into that work: Design a validation plan for one proposed AI use case, including test examples, performance measures, subgroup checks, human review expectations, and go/no-go criteria. The main guardrail for this lesson is that A model that performs well in a demo can fail in local workflows, underrepresented groups, or changing conditions. Treat that guardrail as an operational requirement, not a warning label at the end of the lesson. Before using AI in this area, identify what could go wrong, who would notice the problem, how the concern would be escalated, and what authority exists to pause or change the work. That approach makes risk management part of routine public health practice rather than a separate technical review. If your department already has a relevant process, such as data governance, technology governance, quality improvement, procurement review, privacy review, emergency response planning, or workforce development, use that process as the starting point. The playbook tools are meant to fill gaps where a method or documentation process does not already exist. There is no need to recreate the wheel when an existing process can be extended to include AI-specific questions, evidence, approval points, and monitoring expectations. This keeps AI governance connected to normal public health operations instead of creating a parallel paperwork system.</a:t>
            </a:r>
            <a:endParaRPr lang="en-US" sz="13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Model Validation and Evaluation Basics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Using Plays and Tools</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The related plays help you decide where this topic fits in the planning and implementation sequence. The related tools help you convert the lesson into a documented artifact, such as a review checklist, inventory record, policy scan, implementation note, communication plan, training assignment, risk register, or monitoring record. Use the assessment results as a starting recommendation, but adjust the path based on what your department has already completed and what is most useful for your public health goals. When a play or tool is not needed, document why it was deferred so future reviewers understand the decision. This matters for your practice because Validation protects agencies from scaling systems that are inaccurate, inequitable, poorly integrated, or untrusted by staff and communities. Use that purpose to decide how much documentation, governance review, stakeholder input, and monitoring are proportionate to the risk and public health impact of the work. A low-risk internal learning activity may need only basic documentation, while a public-facing or decision-support workflow may need formal review, validation, transparency, and ongoing oversight.</a:t>
            </a:r>
            <a:endParaRPr lang="en-US" sz="13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Model Validation and Evaluation Basics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Practical Exercise</a:t>
            </a:r>
            <a:endParaRPr lang="en-US" sz="2800" dirty="0"/>
          </a:p>
        </p:txBody>
      </p:sp>
      <p:sp>
        <p:nvSpPr>
          <p:cNvPr id="7" name="Text 5"/>
          <p:cNvSpPr/>
          <p:nvPr/>
        </p:nvSpPr>
        <p:spPr>
          <a:xfrm>
            <a:off x="822960" y="1234440"/>
            <a:ext cx="10378440" cy="2011680"/>
          </a:xfrm>
          <a:prstGeom prst="rect">
            <a:avLst/>
          </a:prstGeom>
          <a:noFill/>
          <a:ln/>
        </p:spPr>
        <p:txBody>
          <a:bodyPr wrap="square" lIns="1016" tIns="1016" rIns="1016" bIns="1016" rtlCol="0" anchor="t">
            <a:normAutofit/>
          </a:bodyPr>
          <a:lstStyle/>
          <a:p>
            <a:pPr indent="0" marL="0">
              <a:buNone/>
            </a:pPr>
            <a:r>
              <a:rPr lang="en-US" sz="1520" dirty="0">
                <a:solidFill>
                  <a:srgbClr val="17364A"/>
                </a:solidFill>
                <a:latin typeface="Aptos" pitchFamily="34" charset="0"/>
                <a:ea typeface="Aptos" pitchFamily="34" charset="-122"/>
                <a:cs typeface="Aptos" pitchFamily="34" charset="-120"/>
              </a:rPr>
              <a:t>Design a validation plan for one proposed AI use case, including test examples, performance measures, subgroup checks, human review expectations, and go/no-go criteria.</a:t>
            </a:r>
            <a:endParaRPr lang="en-US" sz="1520" dirty="0"/>
          </a:p>
        </p:txBody>
      </p:sp>
      <p:sp>
        <p:nvSpPr>
          <p:cNvPr id="8" name="Text 6"/>
          <p:cNvSpPr/>
          <p:nvPr/>
        </p:nvSpPr>
        <p:spPr>
          <a:xfrm>
            <a:off x="822960" y="3520440"/>
            <a:ext cx="10378440" cy="1828800"/>
          </a:xfrm>
          <a:prstGeom prst="rect">
            <a:avLst/>
          </a:prstGeom>
          <a:noFill/>
          <a:ln/>
        </p:spPr>
        <p:txBody>
          <a:bodyPr wrap="square" lIns="635" tIns="635" rIns="635" bIns="635" rtlCol="0" anchor="t">
            <a:normAutofit/>
          </a:bodyPr>
          <a:lstStyle/>
          <a:p>
            <a:r>
              <a:rPr lang="en-US" sz="1400" dirty="0">
                <a:solidFill>
                  <a:srgbClr val="17364A"/>
                </a:solidFill>
                <a:latin typeface="Aptos" pitchFamily="34" charset="0"/>
                <a:ea typeface="Aptos" pitchFamily="34" charset="-122"/>
                <a:cs typeface="Aptos" pitchFamily="34" charset="-120"/>
              </a:rPr>
              <a:t>Expected artifact: Validation plan outline</a:t>
            </a:r>
            <a:endParaRPr lang="en-US" sz="1400" dirty="0"/>
          </a:p>
          <a:p>
            <a:r>
              <a:rPr lang="en-US" sz="1400" dirty="0">
                <a:solidFill>
                  <a:srgbClr val="17364A"/>
                </a:solidFill>
                <a:latin typeface="Aptos" pitchFamily="34" charset="0"/>
                <a:ea typeface="Aptos" pitchFamily="34" charset="-122"/>
                <a:cs typeface="Aptos" pitchFamily="34" charset="-120"/>
              </a:rPr>
              <a:t>Expected artifact: Evaluation metric list</a:t>
            </a:r>
            <a:endParaRPr lang="en-US" sz="1400" dirty="0"/>
          </a:p>
          <a:p>
            <a:r>
              <a:rPr lang="en-US" sz="1400" dirty="0">
                <a:solidFill>
                  <a:srgbClr val="17364A"/>
                </a:solidFill>
                <a:latin typeface="Aptos" pitchFamily="34" charset="0"/>
                <a:ea typeface="Aptos" pitchFamily="34" charset="-122"/>
                <a:cs typeface="Aptos" pitchFamily="34" charset="-120"/>
              </a:rPr>
              <a:t>Expected artifact: Governance decision thresholds</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Model Validation and Evaluation Basics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Reflection Questions</a:t>
            </a:r>
            <a:endParaRPr lang="en-US" sz="2800" dirty="0"/>
          </a:p>
        </p:txBody>
      </p:sp>
      <p:sp>
        <p:nvSpPr>
          <p:cNvPr id="7" name="Text 5"/>
          <p:cNvSpPr/>
          <p:nvPr/>
        </p:nvSpPr>
        <p:spPr>
          <a:xfrm>
            <a:off x="822960" y="1325880"/>
            <a:ext cx="10378440" cy="4572000"/>
          </a:xfrm>
          <a:prstGeom prst="rect">
            <a:avLst/>
          </a:prstGeom>
          <a:noFill/>
          <a:ln/>
        </p:spPr>
        <p:txBody>
          <a:bodyPr wrap="square" lIns="635" tIns="635" rIns="635" bIns="635" rtlCol="0" anchor="t">
            <a:normAutofit/>
          </a:bodyPr>
          <a:lstStyle/>
          <a:p>
            <a:r>
              <a:rPr lang="en-US" sz="1500" dirty="0">
                <a:solidFill>
                  <a:srgbClr val="17364A"/>
                </a:solidFill>
                <a:latin typeface="Aptos" pitchFamily="34" charset="0"/>
                <a:ea typeface="Aptos" pitchFamily="34" charset="-122"/>
                <a:cs typeface="Aptos" pitchFamily="34" charset="-120"/>
              </a:rPr>
              <a:t>What would count as acceptable performance for this workflow?</a:t>
            </a:r>
            <a:endParaRPr lang="en-US" sz="1500" dirty="0"/>
          </a:p>
          <a:p>
            <a:r>
              <a:rPr lang="en-US" sz="1500" dirty="0">
                <a:solidFill>
                  <a:srgbClr val="17364A"/>
                </a:solidFill>
                <a:latin typeface="Aptos" pitchFamily="34" charset="0"/>
                <a:ea typeface="Aptos" pitchFamily="34" charset="-122"/>
                <a:cs typeface="Aptos" pitchFamily="34" charset="-120"/>
              </a:rPr>
              <a:t>Which groups or locations need subgroup review?</a:t>
            </a:r>
            <a:endParaRPr lang="en-US" sz="1500" dirty="0"/>
          </a:p>
          <a:p>
            <a:r>
              <a:rPr lang="en-US" sz="1500" dirty="0">
                <a:solidFill>
                  <a:srgbClr val="17364A"/>
                </a:solidFill>
                <a:latin typeface="Aptos" pitchFamily="34" charset="0"/>
                <a:ea typeface="Aptos" pitchFamily="34" charset="-122"/>
                <a:cs typeface="Aptos" pitchFamily="34" charset="-120"/>
              </a:rPr>
              <a:t>What evidence should governance require before scale-up?</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Model Validation and Evaluation Basics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References and Resources</a:t>
            </a:r>
            <a:endParaRPr lang="en-US" sz="2800" dirty="0"/>
          </a:p>
        </p:txBody>
      </p:sp>
      <p:sp>
        <p:nvSpPr>
          <p:cNvPr id="7" name="Text 5"/>
          <p:cNvSpPr/>
          <p:nvPr/>
        </p:nvSpPr>
        <p:spPr>
          <a:xfrm>
            <a:off x="822960" y="1280160"/>
            <a:ext cx="10378440" cy="4800600"/>
          </a:xfrm>
          <a:prstGeom prst="rect">
            <a:avLst/>
          </a:prstGeom>
          <a:noFill/>
          <a:ln/>
        </p:spPr>
        <p:txBody>
          <a:bodyPr wrap="square" lIns="635" tIns="635" rIns="635" bIns="635" rtlCol="0" anchor="t">
            <a:normAutofit/>
          </a:bodyPr>
          <a:lstStyle/>
          <a:p>
            <a:r>
              <a:rPr lang="en-US" sz="1280" dirty="0">
                <a:solidFill>
                  <a:srgbClr val="17364A"/>
                </a:solidFill>
                <a:latin typeface="Aptos" pitchFamily="34" charset="0"/>
                <a:ea typeface="Aptos" pitchFamily="34" charset="-122"/>
                <a:cs typeface="Aptos" pitchFamily="34" charset="-120"/>
              </a:rPr>
              <a:t>NIST AI Risk Management Framework: Risk and measurement framework for validation, monitoring, and governance.</a:t>
            </a:r>
            <a:endParaRPr lang="en-US" sz="1280" dirty="0"/>
          </a:p>
          <a:p>
            <a:r>
              <a:rPr lang="en-US" sz="1280" dirty="0">
                <a:solidFill>
                  <a:srgbClr val="17364A"/>
                </a:solidFill>
                <a:latin typeface="Aptos" pitchFamily="34" charset="0"/>
                <a:ea typeface="Aptos" pitchFamily="34" charset="-122"/>
                <a:cs typeface="Aptos" pitchFamily="34" charset="-120"/>
              </a:rPr>
              <a:t>WHO: Regulatory considerations on artificial intelligence for health: Health AI validation, safety, transparency, and monitoring considerations.</a:t>
            </a:r>
            <a:endParaRPr lang="en-US" sz="1280" dirty="0"/>
          </a:p>
          <a:p>
            <a:r>
              <a:rPr lang="en-US" sz="1280" dirty="0">
                <a:solidFill>
                  <a:srgbClr val="17364A"/>
                </a:solidFill>
                <a:latin typeface="Aptos" pitchFamily="34" charset="0"/>
                <a:ea typeface="Aptos" pitchFamily="34" charset="-122"/>
                <a:cs typeface="Aptos" pitchFamily="34" charset="-120"/>
              </a:rPr>
              <a:t>HHS Civil Rights and AI: Equity and nondiscrimination considerations when AI affects health and human services.</a:t>
            </a:r>
            <a:endParaRPr lang="en-US" sz="12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 Validation and Evaluation Basics</dc:title>
  <dc:subject>Model Validation and Evaluation Basics learning module</dc:subject>
  <dc:creator>Paula Soper</dc:creator>
  <cp:lastModifiedBy>Paula Soper</cp:lastModifiedBy>
  <cp:revision>1</cp:revision>
  <dcterms:created xsi:type="dcterms:W3CDTF">2026-07-09T20:18:52Z</dcterms:created>
  <dcterms:modified xsi:type="dcterms:W3CDTF">2026-07-09T20:18:52Z</dcterms:modified>
</cp:coreProperties>
</file>