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 place.</a:t>
            </a:r>
            <a:endParaRPr lang="en-US" sz="2100" dirty="0"/>
          </a:p>
          <a:p>
            <a:r>
              <a:rPr lang="en-US" sz="21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 emergency.</a:t>
            </a:r>
            <a:endParaRPr lang="en-US" sz="2100" dirty="0"/>
          </a:p>
          <a:p>
            <a:r>
              <a:rPr lang="en-US" sz="21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 imagery,.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2100" dirty="0"/>
          </a:p>
          <a:p>
            <a:r>
              <a:rPr lang="en-US" sz="2100" dirty="0">
                <a:solidFill>
                  <a:srgbClr val="17364A"/>
                </a:solidFill>
                <a:latin typeface="Aptos" pitchFamily="34" charset="0"/>
                <a:ea typeface="Aptos" pitchFamily="34" charset="-122"/>
                <a:cs typeface="Aptos" pitchFamily="34" charset="-120"/>
              </a:rPr>
              <a:t>Explain how geocoding, aggregation, spatial scale, and data quality affect AI-supported maps and.</a:t>
            </a:r>
            <a:endParaRPr lang="en-US" sz="2100" dirty="0"/>
          </a:p>
          <a:p>
            <a:r>
              <a:rPr lang="en-US" sz="2100" dirty="0">
                <a:solidFill>
                  <a:srgbClr val="17364A"/>
                </a:solidFill>
                <a:latin typeface="Aptos" pitchFamily="34" charset="0"/>
                <a:ea typeface="Aptos" pitchFamily="34" charset="-122"/>
                <a:cs typeface="Aptos" pitchFamily="34" charset="-120"/>
              </a:rPr>
              <a:t>Identify privacy and re-identification risks related to location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2100" dirty="0"/>
          </a:p>
          <a:p>
            <a:r>
              <a:rPr lang="en-US" sz="21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a:t>
            </a:r>
            <a:endParaRPr lang="en-US" sz="2100" dirty="0"/>
          </a:p>
          <a:p>
            <a:r>
              <a:rPr lang="en-US" sz="21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2100" dirty="0"/>
          </a:p>
          <a:p>
            <a:r>
              <a:rPr lang="en-US" sz="2100" dirty="0">
                <a:solidFill>
                  <a:srgbClr val="17364A"/>
                </a:solidFill>
                <a:latin typeface="Aptos" pitchFamily="34" charset="0"/>
                <a:ea typeface="Aptos" pitchFamily="34" charset="-122"/>
                <a:cs typeface="Aptos" pitchFamily="34" charset="-120"/>
              </a:rPr>
              <a:t>Agencies decide where to conduct outreach, deploy mobile services, inspect facilities, respond to.</a:t>
            </a:r>
            <a:endParaRPr lang="en-US" sz="2100" dirty="0"/>
          </a:p>
          <a:p>
            <a:r>
              <a:rPr lang="en-US" sz="2100" dirty="0">
                <a:solidFill>
                  <a:srgbClr val="17364A"/>
                </a:solidFill>
                <a:latin typeface="Aptos" pitchFamily="34" charset="0"/>
                <a:ea typeface="Aptos" pitchFamily="34" charset="-122"/>
                <a:cs typeface="Aptos" pitchFamily="34" charset="-120"/>
              </a:rPr>
              <a:t>AI-supported spatial tools can help analyze large volumes of geographic information and identify.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2100" dirty="0"/>
          </a:p>
          <a:p>
            <a:r>
              <a:rPr lang="en-US" sz="2100" dirty="0">
                <a:solidFill>
                  <a:srgbClr val="17364A"/>
                </a:solidFill>
                <a:latin typeface="Aptos" pitchFamily="34" charset="0"/>
                <a:ea typeface="Aptos" pitchFamily="34" charset="-122"/>
                <a:cs typeface="Aptos" pitchFamily="34" charset="-120"/>
              </a:rPr>
              <a:t>The tool may combine immunization coverage, school locations, transportation routes, census variables,.</a:t>
            </a:r>
            <a:endParaRPr lang="en-US" sz="2100" dirty="0"/>
          </a:p>
          <a:p>
            <a:r>
              <a:rPr lang="en-US" sz="2100" dirty="0">
                <a:solidFill>
                  <a:srgbClr val="17364A"/>
                </a:solidFill>
                <a:latin typeface="Aptos" pitchFamily="34" charset="0"/>
                <a:ea typeface="Aptos" pitchFamily="34" charset="-122"/>
                <a:cs typeface="Aptos" pitchFamily="34" charset="-120"/>
              </a:rPr>
              <a:t>The output may recommend priority areas for outreach and clinic placement.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2100" dirty="0"/>
          </a:p>
          <a:p>
            <a:r>
              <a:rPr lang="en-US" sz="2100" dirty="0">
                <a:solidFill>
                  <a:srgbClr val="17364A"/>
                </a:solidFill>
                <a:latin typeface="Aptos" pitchFamily="34" charset="0"/>
                <a:ea typeface="Aptos" pitchFamily="34" charset="-122"/>
                <a:cs typeface="Aptos" pitchFamily="34" charset="-120"/>
              </a:rPr>
              <a:t>Addresses may be missing, misspelled, outdated, rural route-based, temporary, or unstable.</a:t>
            </a:r>
            <a:endParaRPr lang="en-US" sz="2100" dirty="0"/>
          </a:p>
          <a:p>
            <a:r>
              <a:rPr lang="en-US" sz="2100" dirty="0">
                <a:solidFill>
                  <a:srgbClr val="17364A"/>
                </a:solidFill>
                <a:latin typeface="Aptos" pitchFamily="34" charset="0"/>
                <a:ea typeface="Aptos" pitchFamily="34" charset="-122"/>
                <a:cs typeface="Aptos" pitchFamily="34" charset="-120"/>
              </a:rPr>
              <a:t>People experiencing homelessness, migration, displacement, incarceration, or housing instability may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models may use spatial proxies for social conditions.</a:t>
            </a:r>
            <a:endParaRPr lang="en-US" sz="2100" dirty="0"/>
          </a:p>
          <a:p>
            <a:r>
              <a:rPr lang="en-US" sz="2100" dirty="0">
                <a:solidFill>
                  <a:srgbClr val="17364A"/>
                </a:solidFill>
                <a:latin typeface="Aptos" pitchFamily="34" charset="0"/>
                <a:ea typeface="Aptos" pitchFamily="34" charset="-122"/>
                <a:cs typeface="Aptos" pitchFamily="34" charset="-120"/>
              </a:rPr>
              <a:t>Social vulnerability, deprivation, rurality, housing burden, transportation access, and environmental.</a:t>
            </a:r>
            <a:endParaRPr lang="en-US" sz="2100" dirty="0"/>
          </a:p>
          <a:p>
            <a:r>
              <a:rPr lang="en-US" sz="2100" dirty="0">
                <a:solidFill>
                  <a:srgbClr val="17364A"/>
                </a:solidFill>
                <a:latin typeface="Aptos" pitchFamily="34" charset="0"/>
                <a:ea typeface="Aptos" pitchFamily="34" charset="-122"/>
                <a:cs typeface="Aptos" pitchFamily="34" charset="-120"/>
              </a:rPr>
              <a:t>They can also be misused if they stigmatize communities or support restrictive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Geocoding bias.</a:t>
            </a:r>
            <a:endParaRPr lang="en-US" sz="2100" dirty="0"/>
          </a:p>
          <a:p>
            <a:r>
              <a:rPr lang="en-US" sz="2100" dirty="0">
                <a:solidFill>
                  <a:srgbClr val="17364A"/>
                </a:solidFill>
                <a:latin typeface="Aptos" pitchFamily="34" charset="0"/>
                <a:ea typeface="Aptos" pitchFamily="34" charset="-122"/>
                <a:cs typeface="Aptos" pitchFamily="34" charset="-120"/>
              </a:rPr>
              <a:t>Some populations and locations are harder to geocode accurately.</a:t>
            </a:r>
            <a:endParaRPr lang="en-US" sz="2100" dirty="0"/>
          </a:p>
          <a:p>
            <a:r>
              <a:rPr lang="en-US" sz="2100" dirty="0">
                <a:solidFill>
                  <a:srgbClr val="17364A"/>
                </a:solidFill>
                <a:latin typeface="Aptos" pitchFamily="34" charset="0"/>
                <a:ea typeface="Aptos" pitchFamily="34" charset="-122"/>
                <a:cs typeface="Aptos" pitchFamily="34" charset="-120"/>
              </a:rPr>
              <a:t>Guardrails include geocoding quality checks, manual review for unmatched records, and documentation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Geocoding bias.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Stigmatizing communities.</a:t>
            </a:r>
            <a:endParaRPr lang="en-US" sz="2100" dirty="0"/>
          </a:p>
          <a:p>
            <a:r>
              <a:rPr lang="en-US" sz="2100" dirty="0">
                <a:solidFill>
                  <a:srgbClr val="17364A"/>
                </a:solidFill>
                <a:latin typeface="Aptos" pitchFamily="34" charset="0"/>
                <a:ea typeface="Aptos" pitchFamily="34" charset="-122"/>
                <a:cs typeface="Aptos" pitchFamily="34" charset="-120"/>
              </a:rPr>
              <a:t>Maps can unintentionally label communities as problems.</a:t>
            </a:r>
            <a:endParaRPr lang="en-US" sz="2100" dirty="0"/>
          </a:p>
          <a:p>
            <a:r>
              <a:rPr lang="en-US" sz="2100" dirty="0">
                <a:solidFill>
                  <a:srgbClr val="17364A"/>
                </a:solidFill>
                <a:latin typeface="Aptos" pitchFamily="34" charset="0"/>
                <a:ea typeface="Aptos" pitchFamily="34" charset="-122"/>
                <a:cs typeface="Aptos" pitchFamily="34" charset="-120"/>
              </a:rPr>
              <a:t>Guardrails include equity framing, community engagement, careful language, and focus on structural.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Stigmatizing communities.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2100" dirty="0"/>
          </a:p>
          <a:p>
            <a:r>
              <a:rPr lang="en-US" sz="2100" dirty="0">
                <a:solidFill>
                  <a:srgbClr val="17364A"/>
                </a:solidFill>
                <a:latin typeface="Aptos" pitchFamily="34" charset="0"/>
                <a:ea typeface="Aptos" pitchFamily="34" charset="-122"/>
                <a:cs typeface="Aptos" pitchFamily="34" charset="-120"/>
              </a:rPr>
              <a:t>Generative AI may summarize spatial patterns for leaders, but it must not overstate certainty or ignore.</a:t>
            </a:r>
            <a:endParaRPr lang="en-US" sz="2100" dirty="0"/>
          </a:p>
          <a:p>
            <a:r>
              <a:rPr lang="en-US" sz="2100" dirty="0">
                <a:solidFill>
                  <a:srgbClr val="17364A"/>
                </a:solidFill>
                <a:latin typeface="Aptos" pitchFamily="34" charset="0"/>
                <a:ea typeface="Aptos" pitchFamily="34" charset="-122"/>
                <a:cs typeface="Aptos" pitchFamily="34" charset="-120"/>
              </a:rPr>
              <a:t>RAG tools may retrieve local plans, maps, and protocols, while agentic workflows may propose outreach.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2100" dirty="0"/>
          </a:p>
          <a:p>
            <a:r>
              <a:rPr lang="en-US" sz="2100" dirty="0">
                <a:solidFill>
                  <a:srgbClr val="17364A"/>
                </a:solidFill>
                <a:latin typeface="Aptos" pitchFamily="34" charset="0"/>
                <a:ea typeface="Aptos" pitchFamily="34" charset="-122"/>
                <a:cs typeface="Aptos" pitchFamily="34" charset="-120"/>
              </a:rPr>
              <a:t>Which geographic unit best matches the public health action?</a:t>
            </a:r>
            <a:endParaRPr lang="en-US" sz="2100" dirty="0"/>
          </a:p>
          <a:p>
            <a:r>
              <a:rPr lang="en-US" sz="2100" dirty="0">
                <a:solidFill>
                  <a:srgbClr val="17364A"/>
                </a:solidFill>
                <a:latin typeface="Aptos" pitchFamily="34" charset="0"/>
                <a:ea typeface="Aptos" pitchFamily="34" charset="-122"/>
                <a:cs typeface="Aptos" pitchFamily="34" charset="-120"/>
              </a:rPr>
              <a:t>Could missing or poor-quality location data affect certain populations more than others?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privacy safeguards are needed for internal and public maps?</a:t>
            </a:r>
            <a:endParaRPr lang="en-US" sz="2100" dirty="0"/>
          </a:p>
          <a:p>
            <a:r>
              <a:rPr lang="en-US" sz="2100" dirty="0">
                <a:solidFill>
                  <a:srgbClr val="17364A"/>
                </a:solidFill>
                <a:latin typeface="Aptos" pitchFamily="34" charset="0"/>
                <a:ea typeface="Aptos" pitchFamily="34" charset="-122"/>
                <a:cs typeface="Aptos" pitchFamily="34" charset="-120"/>
              </a:rPr>
              <a:t>How will community context be included before action is taken?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public health question, location data sources, geocoding method, geographic unit,.</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at least one way the map could be misinterpreted and one safeguard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readiness worksheet</a:t>
            </a:r>
            <a:endParaRPr lang="en-US" sz="2100" dirty="0"/>
          </a:p>
          <a:p>
            <a:r>
              <a:rPr lang="en-US" sz="2100" dirty="0">
                <a:solidFill>
                  <a:srgbClr val="17364A"/>
                </a:solidFill>
                <a:latin typeface="Aptos" pitchFamily="34" charset="0"/>
                <a:ea typeface="Aptos" pitchFamily="34" charset="-122"/>
                <a:cs typeface="Aptos" pitchFamily="34" charset="-120"/>
              </a:rPr>
              <a:t>Map interpretation and limitations memo</a:t>
            </a:r>
            <a:endParaRPr lang="en-US" sz="2100" dirty="0"/>
          </a:p>
          <a:p>
            <a:r>
              <a:rPr lang="en-US" sz="2100" dirty="0">
                <a:solidFill>
                  <a:srgbClr val="17364A"/>
                </a:solidFill>
                <a:latin typeface="Aptos" pitchFamily="34" charset="0"/>
                <a:ea typeface="Aptos" pitchFamily="34" charset="-122"/>
                <a:cs typeface="Aptos" pitchFamily="34" charset="-120"/>
              </a:rPr>
              <a:t>Privacy and suppression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readiness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Community context and action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Community context and action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readiness worksheet</a:t>
            </a:r>
            <a:endParaRPr lang="en-US" sz="2100" dirty="0"/>
          </a:p>
          <a:p>
            <a:r>
              <a:rPr lang="en-US" sz="2100" dirty="0">
                <a:solidFill>
                  <a:srgbClr val="17364A"/>
                </a:solidFill>
                <a:latin typeface="Aptos" pitchFamily="34" charset="0"/>
                <a:ea typeface="Aptos" pitchFamily="34" charset="-122"/>
                <a:cs typeface="Aptos" pitchFamily="34" charset="-120"/>
              </a:rPr>
              <a:t>Map interpretation and limitations memo</a:t>
            </a:r>
            <a:endParaRPr lang="en-US" sz="2100" dirty="0"/>
          </a:p>
          <a:p>
            <a:r>
              <a:rPr lang="en-US" sz="2100" dirty="0">
                <a:solidFill>
                  <a:srgbClr val="17364A"/>
                </a:solidFill>
                <a:latin typeface="Aptos" pitchFamily="34" charset="0"/>
                <a:ea typeface="Aptos" pitchFamily="34" charset="-122"/>
                <a:cs typeface="Aptos" pitchFamily="34" charset="-120"/>
              </a:rPr>
              <a:t>Privacy and suppression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readiness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geocoding?</a:t>
            </a:r>
            <a:endParaRPr lang="en-US" sz="2100" dirty="0"/>
          </a:p>
          <a:p>
            <a:r>
              <a:rPr lang="en-US" sz="2100" dirty="0">
                <a:solidFill>
                  <a:srgbClr val="17364A"/>
                </a:solidFill>
                <a:latin typeface="Aptos" pitchFamily="34" charset="0"/>
                <a:ea typeface="Aptos" pitchFamily="34" charset="-122"/>
                <a:cs typeface="Aptos" pitchFamily="34" charset="-120"/>
              </a:rPr>
              <a:t>2. Why can maps create misleading impressions?</a:t>
            </a:r>
            <a:endParaRPr lang="en-US" sz="2100" dirty="0"/>
          </a:p>
          <a:p>
            <a:r>
              <a:rPr lang="en-US" sz="2100" dirty="0">
                <a:solidFill>
                  <a:srgbClr val="17364A"/>
                </a:solidFill>
                <a:latin typeface="Aptos" pitchFamily="34" charset="0"/>
                <a:ea typeface="Aptos" pitchFamily="34" charset="-122"/>
                <a:cs typeface="Aptos" pitchFamily="34" charset="-120"/>
              </a:rPr>
              <a:t>3. What is the modifiable areal unit problem?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geocoding?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GIS and Public Health Resources: https://www.cdc.gov/gis/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Privacy Framework: https://www.nist.gov/privacy-framework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GIS and Public Health Resources: https://www.cdc.gov/gis/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2026-07-13T01:54:43Z</dcterms:created>
  <dcterms:modified xsi:type="dcterms:W3CDTF">2026-07-13T01:54:43Z</dcterms:modified>
</cp:coreProperties>
</file>