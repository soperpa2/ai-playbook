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 320 AI Authority, Liability, and Public Health Decision-Making
This module focuses on legal authority, delegated responsibility, accountability, and liability in AI-supported decisions.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intermediate/practitioner
Primary track: Policy Role-Based Track
Appears in tracks: policy, governance-security, public-health-executive-leadership
This module focuses on legal authority, delegated responsibility, accountability, and liability in AI-supported decisions.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1: Vision &amp; Guardrails - This lesson informs Play 1 by helping learners connect the lesson topic to vision &amp; guardrails work in the AI Playbook sequence.
Play 2: Readiness Assessment - This lesson informs Play 2 by helping learners connect the lesson topic to readiness assessment work in the AI Playbook sequence.
Play 3: Establish AI Governance - This lesson informs Play 3 by helping learners connect the lesson topic to establish ai governance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1: AI Vision &amp; Principles Workshop (Workshop) - Use AI Vision &amp; Principles Workshop to translate this lesson into a documented public health AI planning, governance,.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the purpose of ai authority, liability, and public health decision-making in public health AI.
Identify the roles, decisions, risks, and documentation needed for the topic.
Apply the topic to a real or realistic public health workflow or decision.
Recognize equity, privacy, security, legal, operational, and public trust implications.
Produce a practical artifact that supports readiness, governance, implementation, monitoring, or accountability.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This module focuses on legal authority, delegated responsibility, accountability, and liability in AI-supported decisions.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Definitions
Decision right: The authority to approve, deny, modify, pause, or escalate an AI use case or operational decision.
Evidence artifact: A document, log, checklist, test result, approval record, or review note that demonstrates responsible AI practice.
Escalation pathway: A defined route for raising concerns to the appropriate reviewer or decision-maker.
Accountability owner: The person or role responsible for ensuring that an AI use case is governed, monitored, and corrected when needed.
Operational safeguard: A procedure, control, or review step that reduces risk during day-to-day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module provides national-level training guidance for public health agencies and partners. It is not legal advice and does not replace review by agency legal counsel, privacy officers, procurement officials, civil rights staff, records officers, or other authorized decision-makers. Requirements may vary by state, locality, territory, Tribe, agency, funding source, data-sharing agreement, emergency authority, and organizational policy. Learners should use this module to identify the issues that require review and should confirm applicable requirements before approving, procuring, deploying, or publicly communicating about AI-supported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AI Authority, Liability, and Public Health Decision-Making matters because AI adoption changes how public health agencies make, document, communicate, and review decisions. Without a structured approach, staff may rely on informal practices, vendor assurances, or one-time approvals that do not match the operational consequences of AI-supported work.
Public health agencies operate under legal authorities, public accountability, resource constraints, and community trust obligations. A module on this topic helps agencies define repeatable expectations before urgent situations arise. It also helps staff distinguish low-risk administrative support from uses that affect surveillance, public communications, field response, resource allocation, civil rights, privacy, or official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public health agency is preparing to use AI in a workflow related to legal authority, delegated responsibility, accountability, and liability in AI-supported decisions. The project team initially treats the tool as a helpful efficiency aid, but governance reviewers recognize that the workflow may affect public trust, equity, official records, or public health action.
The agency responds by creating a clear artifact that defines intended use, prohibited use, responsible roles, review points, documentation expectations, escalation triggers, and monitoring measures. This converts a broad AI idea into a manageable public health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Deep Dive
The first step in this topic is to define the decision or workflow clearly. Staff should identify who is affected, what data are used, what AI output is produced, who reviews the output, and what action may follow. This prevents the module from becoming abstract and anchors the work in public health practice.
The second step is to assign responsibilities. AI-supported workflows often cross program, IT, legal, privacy, communications, procurement, and leadership boundaries. Responsibilities should be named by role rather than assumed. The artifact should specify who prepares materials, who reviews risks, who approves use, who monitors performance, and who can pause or revise the workflow.
The third step is to define evidence. Responsible AI depends on more than policy statements. Agencies need records that show what was reviewed, what decisions were made, what safeguards were applied, what incidents occurred, and how the workflow changed over time. Evidence also supports audits, public records review, quality improvement, and leadership accountability.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 common failure mode is treating the topic as a one-time checklist. AI risks can change when data sources, models, vendors, policies, users, or public expectations change. A guardrail is to define review intervals and change triggers.
Another failure mode is unclear ownership. When everyone is responsible in general, no one may be responsible in practice. A guardrail is to assign an accountability owner and name escalation pathways.
A third failure mode is relying on vendor claims or informal staff confidence without documentation. A guardrail is to require evidence artifacts that can be reviewed by governance, leadership, privacy, legal, equity, security, or program teams.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This topic applies across generative AI, predictive analytics, NLP, RAG, automation, and agentic workflows. The more sensitive the data, the more consequential the output, or the more automated the action, the stronger the documentation, review, and monitoring expectations should 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public health decision or workflow does this topic affect?
Who has authority to approve or pause the work?
What evidence would show that the workflow is responsible and effective?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equity, privacy, legal, security, or public trust risks require review?
How will the agency know when the workflow needs to be revised?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practical ai authority, liability, and public health decision-making artifact for one AI-supported public health use case. The artifact should define the use case, affected roles, review criteria, safeguards, documentation expectations, escalation triggers, monitoring indicators, and next review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AI Authority, Liability, and Public Health Decision-Making artifact
Role and responsibility table
Risk and safeguard summary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Escalation and monitoring plan
Approval or review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AI Authority, Liability, and Public Health Decision-Making artifact
Role and responsibility table
Risk and safeguard summary
Escalation and monitoring plan
Approval or review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strongest evidence that ai authority, liability, and public health decision-making has been applied responsibly?
2. What is the best reason to assign an accountability owner?
3. When should an AI-supported workflow be escalated for review?
4. Which practice best supports public accountability?
5. What should happen when data sources, policy, vendor configuration, or workflow use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CDC Public Health Data Strategy and Data Modernization resources: https://www.cdc.gov/public-health-data-strategy/php/about/index.html
NIST Artificial Intelligence Risk Management Framework and NIST Generative AI Profile: https://www.nist.gov/publications/artificial-intelligence-risk-management-framework-generative-artificial-intelligence
WHO Ethics and Governance of Artificial Intelligence for Health guidance: https://www.who.int/publications/i/item/9789240029200
OWASP Top 10 for Large Language Model Applications: https://owasp.org/www-project-top-10-for-large-language-model-applications/
ONC health IT, interoperability, and information blocking resources: https://www.healthit.gov/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Agency policies for privacy, public records, cybersecurity, procurement, civil rights, accessibility, language access, and emergency communications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POL 320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AI Authority, Liability, and Public Health Decision-Making</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Authority, Liability, and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module focuses on legal authority, delegated responsibility, accountability, and liability in AI-supported.</a:t>
            </a:r>
            <a:endParaRPr lang="en-US" sz="2100" dirty="0"/>
          </a:p>
          <a:p>
            <a:r>
              <a:rPr lang="en-US" sz="2100" dirty="0">
                <a:solidFill>
                  <a:srgbClr val="17364A"/>
                </a:solidFill>
                <a:latin typeface="Aptos" pitchFamily="34" charset="0"/>
                <a:ea typeface="Aptos" pitchFamily="34" charset="-122"/>
                <a:cs typeface="Aptos" pitchFamily="34" charset="-120"/>
              </a:rPr>
              <a:t>It is designed for public health staff who must translate responsible AI principles into repeatable decisions,.</a:t>
            </a:r>
            <a:endParaRPr lang="en-US" sz="2100" dirty="0"/>
          </a:p>
          <a:p>
            <a:r>
              <a:rPr lang="en-US" sz="2100" dirty="0">
                <a:solidFill>
                  <a:srgbClr val="17364A"/>
                </a:solidFill>
                <a:latin typeface="Aptos" pitchFamily="34" charset="0"/>
                <a:ea typeface="Aptos" pitchFamily="34" charset="-122"/>
                <a:cs typeface="Aptos" pitchFamily="34" charset="-120"/>
              </a:rPr>
              <a:t>The module helps learners move beyond general awareness by producing a practical artifact that can be used in.</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intermediate/practitioner</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Policy Role-Based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policy, governance-security, public-health-executive-leadership</a:t>
            </a:r>
            <a:endParaRPr lang="en-US" sz="1550" dirty="0"/>
          </a:p>
        </p:txBody>
      </p:sp>
      <p:sp>
        <p:nvSpPr>
          <p:cNvPr id="13" name="Shape 11"/>
          <p:cNvSpPr/>
          <p:nvPr/>
        </p:nvSpPr>
        <p:spPr>
          <a:xfrm>
            <a:off x="7635240" y="3730752"/>
            <a:ext cx="103327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708392"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Learn</a:t>
            </a:r>
            <a:endParaRPr lang="en-US" sz="1500" dirty="0"/>
          </a:p>
        </p:txBody>
      </p:sp>
      <p:sp>
        <p:nvSpPr>
          <p:cNvPr id="15" name="Text 13"/>
          <p:cNvSpPr/>
          <p:nvPr/>
        </p:nvSpPr>
        <p:spPr>
          <a:xfrm>
            <a:off x="8695944"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8924544" y="3730752"/>
            <a:ext cx="103327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8997696"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Apply</a:t>
            </a:r>
            <a:endParaRPr lang="en-US" sz="1500" dirty="0"/>
          </a:p>
        </p:txBody>
      </p:sp>
      <p:sp>
        <p:nvSpPr>
          <p:cNvPr id="18" name="Text 16"/>
          <p:cNvSpPr/>
          <p:nvPr/>
        </p:nvSpPr>
        <p:spPr>
          <a:xfrm>
            <a:off x="9985248"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13848" y="3730752"/>
            <a:ext cx="103327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287000"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Document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Authority, Liability, and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a:p>
            <a:r>
              <a:rPr lang="en-US" sz="190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2: Readiness Assessment - This lesson informs Play 2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3: Establish AI Governance - This lesson informs Play 3 by helping learners connect the lesson topic to.</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Lesson</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Plays</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Authority, Liability, and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1: AI Vision &amp; Principles Workshop (Workshop) - Use AI Vision &amp; Principles Workshop to translate this.</a:t>
            </a:r>
            <a:endParaRPr lang="en-US" sz="1850" dirty="0"/>
          </a:p>
          <a:p>
            <a:r>
              <a:rPr lang="en-US" sz="185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a:t>
            </a:r>
            <a:endParaRPr lang="en-US" sz="1850" dirty="0"/>
          </a:p>
          <a:p>
            <a:r>
              <a:rPr lang="en-US" sz="1850" dirty="0">
                <a:solidFill>
                  <a:srgbClr val="17364A"/>
                </a:solidFill>
                <a:latin typeface="Aptos" pitchFamily="34" charset="0"/>
                <a:ea typeface="Aptos" pitchFamily="34" charset="-122"/>
                <a:cs typeface="Aptos" pitchFamily="34" charset="-120"/>
              </a:rPr>
              <a:t>Tool 5: AI Environmental and Resource Impact Review (Checklist) - Use AI Environmental and Resource Impact.</a:t>
            </a:r>
            <a:endParaRPr lang="en-US" sz="1850" dirty="0"/>
          </a:p>
          <a:p>
            <a:r>
              <a:rPr lang="en-US" sz="1850" dirty="0">
                <a:solidFill>
                  <a:srgbClr val="17364A"/>
                </a:solidFill>
                <a:latin typeface="Aptos" pitchFamily="34" charset="0"/>
                <a:ea typeface="Aptos" pitchFamily="34" charset="-122"/>
                <a:cs typeface="Aptos" pitchFamily="34" charset="-120"/>
              </a:rPr>
              <a:t>Tool 6: Human-Centered AI Decision Rule Checklist (Checklist) - Use Human-Centered AI Decision Rule.</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Concept</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Tool</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D69A2D"/>
          </a:solidFill>
          <a:ln w="12700">
            <a:solidFill>
              <a:srgbClr val="D69A2D"/>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Artifact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Authority, Liability, and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Explain the purpose of ai authority, liability, and public health decision-making in public health AI.</a:t>
            </a:r>
            <a:endParaRPr lang="en-US" sz="2100" dirty="0"/>
          </a:p>
          <a:p>
            <a:r>
              <a:rPr lang="en-US" sz="2100" dirty="0">
                <a:solidFill>
                  <a:srgbClr val="17364A"/>
                </a:solidFill>
                <a:latin typeface="Aptos" pitchFamily="34" charset="0"/>
                <a:ea typeface="Aptos" pitchFamily="34" charset="-122"/>
                <a:cs typeface="Aptos" pitchFamily="34" charset="-120"/>
              </a:rPr>
              <a:t>Identify the roles, decisions, risks, and documentation needed for the topic.</a:t>
            </a:r>
            <a:endParaRPr lang="en-US" sz="2100" dirty="0"/>
          </a:p>
          <a:p>
            <a:r>
              <a:rPr lang="en-US" sz="2100" dirty="0">
                <a:solidFill>
                  <a:srgbClr val="17364A"/>
                </a:solidFill>
                <a:latin typeface="Aptos" pitchFamily="34" charset="0"/>
                <a:ea typeface="Aptos" pitchFamily="34" charset="-122"/>
                <a:cs typeface="Aptos" pitchFamily="34" charset="-120"/>
              </a:rPr>
              <a:t>Apply the topic to a real or realistic public health workflow or decision.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Explain the purpose of ai authority, liability, and public health decision-making in public health AI.</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Authority, Liability, and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module focuses on legal authority, delegated responsibility, accountability, and liability in.</a:t>
            </a:r>
            <a:endParaRPr lang="en-US" sz="2100" dirty="0"/>
          </a:p>
          <a:p>
            <a:r>
              <a:rPr lang="en-US" sz="2100" dirty="0">
                <a:solidFill>
                  <a:srgbClr val="17364A"/>
                </a:solidFill>
                <a:latin typeface="Aptos" pitchFamily="34" charset="0"/>
                <a:ea typeface="Aptos" pitchFamily="34" charset="-122"/>
                <a:cs typeface="Aptos" pitchFamily="34" charset="-120"/>
              </a:rPr>
              <a:t>It is designed for public health staff who must translate responsible AI principles into repeatable.</a:t>
            </a:r>
            <a:endParaRPr lang="en-US" sz="2100" dirty="0"/>
          </a:p>
          <a:p>
            <a:r>
              <a:rPr lang="en-US" sz="2100" dirty="0">
                <a:solidFill>
                  <a:srgbClr val="17364A"/>
                </a:solidFill>
                <a:latin typeface="Aptos" pitchFamily="34" charset="0"/>
                <a:ea typeface="Aptos" pitchFamily="34" charset="-122"/>
                <a:cs typeface="Aptos" pitchFamily="34" charset="-120"/>
              </a:rPr>
              <a:t>The module helps learners move beyond general awareness by producing a practical artifact that can be.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module focuses on legal authority, delegated responsibility, accountability, and liability in.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Authority, Liability, and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Definitions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Decision right: The authority to approve, deny, modify, pause, or escalate an AI use case or.</a:t>
            </a:r>
            <a:endParaRPr lang="en-US" sz="2100" dirty="0"/>
          </a:p>
          <a:p>
            <a:r>
              <a:rPr lang="en-US" sz="2100" dirty="0">
                <a:solidFill>
                  <a:srgbClr val="17364A"/>
                </a:solidFill>
                <a:latin typeface="Aptos" pitchFamily="34" charset="0"/>
                <a:ea typeface="Aptos" pitchFamily="34" charset="-122"/>
                <a:cs typeface="Aptos" pitchFamily="34" charset="-120"/>
              </a:rPr>
              <a:t>Evidence artifact: A document, log, checklist, test result, approval record, or review note that.</a:t>
            </a:r>
            <a:endParaRPr lang="en-US" sz="2100" dirty="0"/>
          </a:p>
          <a:p>
            <a:r>
              <a:rPr lang="en-US" sz="2100" dirty="0">
                <a:solidFill>
                  <a:srgbClr val="17364A"/>
                </a:solidFill>
                <a:latin typeface="Aptos" pitchFamily="34" charset="0"/>
                <a:ea typeface="Aptos" pitchFamily="34" charset="-122"/>
                <a:cs typeface="Aptos" pitchFamily="34" charset="-120"/>
              </a:rPr>
              <a:t>Escalation pathway: A defined route for raising concerns to the appropriate reviewer or decision-maker.</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Decision right: The authority to approve, deny, modify, pause, or escalate an AI use case or.</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Authority, Liability, and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2100" dirty="0"/>
          </a:p>
          <a:p>
            <a:r>
              <a:rPr lang="en-US" sz="2100" dirty="0">
                <a:solidFill>
                  <a:srgbClr val="17364A"/>
                </a:solidFill>
                <a:latin typeface="Aptos" pitchFamily="34" charset="0"/>
                <a:ea typeface="Aptos" pitchFamily="34" charset="-122"/>
                <a:cs typeface="Aptos" pitchFamily="34" charset="-120"/>
              </a:rPr>
              <a:t>It is not legal advice and does not replace review by agency legal counsel, privacy officers,.</a:t>
            </a:r>
            <a:endParaRPr lang="en-US" sz="2100" dirty="0"/>
          </a:p>
          <a:p>
            <a:r>
              <a:rPr lang="en-US" sz="2100" dirty="0">
                <a:solidFill>
                  <a:srgbClr val="17364A"/>
                </a:solidFill>
                <a:latin typeface="Aptos" pitchFamily="34" charset="0"/>
                <a:ea typeface="Aptos" pitchFamily="34" charset="-122"/>
                <a:cs typeface="Aptos" pitchFamily="34" charset="-120"/>
              </a:rPr>
              <a:t>Requirements may vary by state, locality, territory, Tribe, agency, funding source, data-sharing.</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Authority, Liability, and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Authority, Liability, and Public Health Decision-Making matters because AI adoption changes how.</a:t>
            </a:r>
            <a:endParaRPr lang="en-US" sz="2100" dirty="0"/>
          </a:p>
          <a:p>
            <a:r>
              <a:rPr lang="en-US" sz="2100" dirty="0">
                <a:solidFill>
                  <a:srgbClr val="17364A"/>
                </a:solidFill>
                <a:latin typeface="Aptos" pitchFamily="34" charset="0"/>
                <a:ea typeface="Aptos" pitchFamily="34" charset="-122"/>
                <a:cs typeface="Aptos" pitchFamily="34" charset="-120"/>
              </a:rPr>
              <a:t>Without a structured approach, staff may rely on informal practices, vendor assurances, or one-time.</a:t>
            </a:r>
            <a:endParaRPr lang="en-US" sz="2100" dirty="0"/>
          </a:p>
          <a:p>
            <a:r>
              <a:rPr lang="en-US" sz="2100" dirty="0">
                <a:solidFill>
                  <a:srgbClr val="17364A"/>
                </a:solidFill>
                <a:latin typeface="Aptos" pitchFamily="34" charset="0"/>
                <a:ea typeface="Aptos" pitchFamily="34" charset="-122"/>
                <a:cs typeface="Aptos" pitchFamily="34" charset="-120"/>
              </a:rPr>
              <a:t>Public health agencies operate under legal authorities, public accountability, resource constraints,.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Authority, Liability, and Public Health Decision-Making matters because AI adoption changes how.</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Authority, Liability, and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public health agency is preparing to use AI in a workflow related to legal authority, delegated.</a:t>
            </a:r>
            <a:endParaRPr lang="en-US" sz="2100" dirty="0"/>
          </a:p>
          <a:p>
            <a:r>
              <a:rPr lang="en-US" sz="2100" dirty="0">
                <a:solidFill>
                  <a:srgbClr val="17364A"/>
                </a:solidFill>
                <a:latin typeface="Aptos" pitchFamily="34" charset="0"/>
                <a:ea typeface="Aptos" pitchFamily="34" charset="-122"/>
                <a:cs typeface="Aptos" pitchFamily="34" charset="-120"/>
              </a:rPr>
              <a:t>The project team initially treats the tool as a helpful efficiency aid, but governance reviewers.</a:t>
            </a:r>
            <a:endParaRPr lang="en-US" sz="2100" dirty="0"/>
          </a:p>
          <a:p>
            <a:r>
              <a:rPr lang="en-US" sz="2100" dirty="0">
                <a:solidFill>
                  <a:srgbClr val="17364A"/>
                </a:solidFill>
                <a:latin typeface="Aptos" pitchFamily="34" charset="0"/>
                <a:ea typeface="Aptos" pitchFamily="34" charset="-122"/>
                <a:cs typeface="Aptos" pitchFamily="34" charset="-120"/>
              </a:rPr>
              <a:t>The agency responds by creating a clear artifact that defines intended use, prohibited use, responsible.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public health agency is preparing to use AI in a workflow related to legal authority, delegated.</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Authority, Liability, and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Topic Deep Dive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The first step in this topic is to define the decision or workflow clearly.</a:t>
            </a:r>
            <a:endParaRPr lang="en-US" sz="2100" dirty="0"/>
          </a:p>
          <a:p>
            <a:r>
              <a:rPr lang="en-US" sz="2100" dirty="0">
                <a:solidFill>
                  <a:srgbClr val="17364A"/>
                </a:solidFill>
                <a:latin typeface="Aptos" pitchFamily="34" charset="0"/>
                <a:ea typeface="Aptos" pitchFamily="34" charset="-122"/>
                <a:cs typeface="Aptos" pitchFamily="34" charset="-120"/>
              </a:rPr>
              <a:t>Staff should identify who is affected, what data are used, what AI output is produced, who reviews the.</a:t>
            </a:r>
            <a:endParaRPr lang="en-US" sz="2100" dirty="0"/>
          </a:p>
          <a:p>
            <a:r>
              <a:rPr lang="en-US" sz="2100" dirty="0">
                <a:solidFill>
                  <a:srgbClr val="17364A"/>
                </a:solidFill>
                <a:latin typeface="Aptos" pitchFamily="34" charset="0"/>
                <a:ea typeface="Aptos" pitchFamily="34" charset="-122"/>
                <a:cs typeface="Aptos" pitchFamily="34" charset="-120"/>
              </a:rPr>
              <a:t>This prevents the module from becoming abstract and anchors the work in public health practice.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The first step in this topic is to define the decision or workflow clearly.</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Authority, Liability, and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common failure mode is treating the topic as a one-time checklist.</a:t>
            </a:r>
            <a:endParaRPr lang="en-US" sz="2100" dirty="0"/>
          </a:p>
          <a:p>
            <a:r>
              <a:rPr lang="en-US" sz="2100" dirty="0">
                <a:solidFill>
                  <a:srgbClr val="17364A"/>
                </a:solidFill>
                <a:latin typeface="Aptos" pitchFamily="34" charset="0"/>
                <a:ea typeface="Aptos" pitchFamily="34" charset="-122"/>
                <a:cs typeface="Aptos" pitchFamily="34" charset="-120"/>
              </a:rPr>
              <a:t>AI risks can change when data sources, models, vendors, policies, users, or public expectations change.</a:t>
            </a:r>
            <a:endParaRPr lang="en-US" sz="2100" dirty="0"/>
          </a:p>
          <a:p>
            <a:r>
              <a:rPr lang="en-US" sz="2100" dirty="0">
                <a:solidFill>
                  <a:srgbClr val="17364A"/>
                </a:solidFill>
                <a:latin typeface="Aptos" pitchFamily="34" charset="0"/>
                <a:ea typeface="Aptos" pitchFamily="34" charset="-122"/>
                <a:cs typeface="Aptos" pitchFamily="34" charset="-120"/>
              </a:rPr>
              <a:t>A guardrail is to define review intervals and change triggers.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common failure mode is treating the topic as a one-time checklist.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Authority, Liability, and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topic applies across generative AI, predictive analytics, NLP, RAG, automation, and agentic.</a:t>
            </a:r>
            <a:endParaRPr lang="en-US" sz="2100" dirty="0"/>
          </a:p>
          <a:p>
            <a:r>
              <a:rPr lang="en-US" sz="2100" dirty="0">
                <a:solidFill>
                  <a:srgbClr val="17364A"/>
                </a:solidFill>
                <a:latin typeface="Aptos" pitchFamily="34" charset="0"/>
                <a:ea typeface="Aptos" pitchFamily="34" charset="-122"/>
                <a:cs typeface="Aptos" pitchFamily="34" charset="-120"/>
              </a:rPr>
              <a:t>The more sensitive the data, the more consequential the output, or the more automated the action, the.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topic applies across generative AI, predictive analytics, NLP, RAG, automation, and agentic.</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Authority, Liability, and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public health decision or workflow does this topic affect?</a:t>
            </a:r>
            <a:endParaRPr lang="en-US" sz="2100" dirty="0"/>
          </a:p>
          <a:p>
            <a:r>
              <a:rPr lang="en-US" sz="2100" dirty="0">
                <a:solidFill>
                  <a:srgbClr val="17364A"/>
                </a:solidFill>
                <a:latin typeface="Aptos" pitchFamily="34" charset="0"/>
                <a:ea typeface="Aptos" pitchFamily="34" charset="-122"/>
                <a:cs typeface="Aptos" pitchFamily="34" charset="-120"/>
              </a:rPr>
              <a:t>Who has authority to approve or pause the work?</a:t>
            </a:r>
            <a:endParaRPr lang="en-US" sz="2100" dirty="0"/>
          </a:p>
          <a:p>
            <a:r>
              <a:rPr lang="en-US" sz="2100" dirty="0">
                <a:solidFill>
                  <a:srgbClr val="17364A"/>
                </a:solidFill>
                <a:latin typeface="Aptos" pitchFamily="34" charset="0"/>
                <a:ea typeface="Aptos" pitchFamily="34" charset="-122"/>
                <a:cs typeface="Aptos" pitchFamily="34" charset="-120"/>
              </a:rPr>
              <a:t>What evidence would show that the workflow is responsible and effective?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public health decision or workflow does this topic affect?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Authority, Liability, and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equity, privacy, legal, security, or public trust risks require review?</a:t>
            </a:r>
            <a:endParaRPr lang="en-US" sz="2100" dirty="0"/>
          </a:p>
          <a:p>
            <a:r>
              <a:rPr lang="en-US" sz="2100" dirty="0">
                <a:solidFill>
                  <a:srgbClr val="17364A"/>
                </a:solidFill>
                <a:latin typeface="Aptos" pitchFamily="34" charset="0"/>
                <a:ea typeface="Aptos" pitchFamily="34" charset="-122"/>
                <a:cs typeface="Aptos" pitchFamily="34" charset="-120"/>
              </a:rPr>
              <a:t>How will the agency know when the workflow needs to be revised?</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equity, privacy, legal, security, or public trust risks require review?</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Authority, Liability, and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Create a practical ai authority, liability, and public health decision-making artifact for one.</a:t>
            </a:r>
            <a:endParaRPr lang="en-US" sz="2100" dirty="0"/>
          </a:p>
          <a:p>
            <a:r>
              <a:rPr lang="en-US" sz="2100" dirty="0">
                <a:solidFill>
                  <a:srgbClr val="17364A"/>
                </a:solidFill>
                <a:latin typeface="Aptos" pitchFamily="34" charset="0"/>
                <a:ea typeface="Aptos" pitchFamily="34" charset="-122"/>
                <a:cs typeface="Aptos" pitchFamily="34" charset="-120"/>
              </a:rPr>
              <a:t>The artifact should define the use case, affected roles, review criteria, safeguards, documentation.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Create a practical ai authority, liability, and public health decision-making artifact for one.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Authority, Liability, and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Authority, Liability, and Public Health Decision-Making artifact</a:t>
            </a:r>
            <a:endParaRPr lang="en-US" sz="2100" dirty="0"/>
          </a:p>
          <a:p>
            <a:r>
              <a:rPr lang="en-US" sz="2100" dirty="0">
                <a:solidFill>
                  <a:srgbClr val="17364A"/>
                </a:solidFill>
                <a:latin typeface="Aptos" pitchFamily="34" charset="0"/>
                <a:ea typeface="Aptos" pitchFamily="34" charset="-122"/>
                <a:cs typeface="Aptos" pitchFamily="34" charset="-120"/>
              </a:rPr>
              <a:t>Role and responsibility table</a:t>
            </a:r>
            <a:endParaRPr lang="en-US" sz="2100" dirty="0"/>
          </a:p>
          <a:p>
            <a:r>
              <a:rPr lang="en-US" sz="2100" dirty="0">
                <a:solidFill>
                  <a:srgbClr val="17364A"/>
                </a:solidFill>
                <a:latin typeface="Aptos" pitchFamily="34" charset="0"/>
                <a:ea typeface="Aptos" pitchFamily="34" charset="-122"/>
                <a:cs typeface="Aptos" pitchFamily="34" charset="-120"/>
              </a:rPr>
              <a:t>Risk and safeguard summary</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Authority, Liability, and Public Health Decision-Making artifact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Authority, Liability, and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Escalation and monitoring plan</a:t>
            </a:r>
            <a:endParaRPr lang="en-US" sz="2100" dirty="0"/>
          </a:p>
          <a:p>
            <a:r>
              <a:rPr lang="en-US" sz="2100" dirty="0">
                <a:solidFill>
                  <a:srgbClr val="17364A"/>
                </a:solidFill>
                <a:latin typeface="Aptos" pitchFamily="34" charset="0"/>
                <a:ea typeface="Aptos" pitchFamily="34" charset="-122"/>
                <a:cs typeface="Aptos" pitchFamily="34" charset="-120"/>
              </a:rPr>
              <a:t>Approval or review note</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Escalation and monitoring plan</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Authority, Liability, and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Authority, Liability, and Public Health Decision-Making artifact</a:t>
            </a:r>
            <a:endParaRPr lang="en-US" sz="2100" dirty="0"/>
          </a:p>
          <a:p>
            <a:r>
              <a:rPr lang="en-US" sz="2100" dirty="0">
                <a:solidFill>
                  <a:srgbClr val="17364A"/>
                </a:solidFill>
                <a:latin typeface="Aptos" pitchFamily="34" charset="0"/>
                <a:ea typeface="Aptos" pitchFamily="34" charset="-122"/>
                <a:cs typeface="Aptos" pitchFamily="34" charset="-120"/>
              </a:rPr>
              <a:t>Role and responsibility table</a:t>
            </a:r>
            <a:endParaRPr lang="en-US" sz="2100" dirty="0"/>
          </a:p>
          <a:p>
            <a:r>
              <a:rPr lang="en-US" sz="2100" dirty="0">
                <a:solidFill>
                  <a:srgbClr val="17364A"/>
                </a:solidFill>
                <a:latin typeface="Aptos" pitchFamily="34" charset="0"/>
                <a:ea typeface="Aptos" pitchFamily="34" charset="-122"/>
                <a:cs typeface="Aptos" pitchFamily="34" charset="-120"/>
              </a:rPr>
              <a:t>Risk and safeguard summary</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Authority, Liability, and Public Health Decision-Making artifact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Authority, Liability, and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What is the strongest evidence that ai authority, liability, and public health decision-making has.</a:t>
            </a:r>
            <a:endParaRPr lang="en-US" sz="2100" dirty="0"/>
          </a:p>
          <a:p>
            <a:r>
              <a:rPr lang="en-US" sz="2100" dirty="0">
                <a:solidFill>
                  <a:srgbClr val="17364A"/>
                </a:solidFill>
                <a:latin typeface="Aptos" pitchFamily="34" charset="0"/>
                <a:ea typeface="Aptos" pitchFamily="34" charset="-122"/>
                <a:cs typeface="Aptos" pitchFamily="34" charset="-120"/>
              </a:rPr>
              <a:t>2. What is the best reason to assign an accountability owner?</a:t>
            </a:r>
            <a:endParaRPr lang="en-US" sz="2100" dirty="0"/>
          </a:p>
          <a:p>
            <a:r>
              <a:rPr lang="en-US" sz="2100" dirty="0">
                <a:solidFill>
                  <a:srgbClr val="17364A"/>
                </a:solidFill>
                <a:latin typeface="Aptos" pitchFamily="34" charset="0"/>
                <a:ea typeface="Aptos" pitchFamily="34" charset="-122"/>
                <a:cs typeface="Aptos" pitchFamily="34" charset="-120"/>
              </a:rPr>
              <a:t>3. When should an AI-supported workflow be escalated for review?</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What is the strongest evidence that ai authority, liability, and public health decision-making has.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Authority, Liability, and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2100" dirty="0"/>
          </a:p>
          <a:p>
            <a:r>
              <a:rPr lang="en-US" sz="2100" dirty="0">
                <a:solidFill>
                  <a:srgbClr val="17364A"/>
                </a:solidFill>
                <a:latin typeface="Aptos" pitchFamily="34" charset="0"/>
                <a:ea typeface="Aptos" pitchFamily="34" charset="-122"/>
                <a:cs typeface="Aptos" pitchFamily="34" charset="-120"/>
              </a:rPr>
              <a:t>NIST Artificial Intelligence Risk Management Framework and NIST Generative AI Profile:.</a:t>
            </a:r>
            <a:endParaRPr lang="en-US" sz="2100" dirty="0"/>
          </a:p>
          <a:p>
            <a:r>
              <a:rPr lang="en-US" sz="2100" dirty="0">
                <a:solidFill>
                  <a:srgbClr val="17364A"/>
                </a:solidFill>
                <a:latin typeface="Aptos" pitchFamily="34" charset="0"/>
                <a:ea typeface="Aptos" pitchFamily="34" charset="-122"/>
                <a:cs typeface="Aptos" pitchFamily="34" charset="-120"/>
              </a:rPr>
              <a:t>WHO Ethics and Governance of Artificial Intelligence for Health guidance:.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Authority, Liability, and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Agency policies for privacy, public records, cybersecurity, procurement, civil rights, accessibility,.</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Agency policies for privacy, public records, cybersecurity, procurement, civil rights, accessibility,.</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Authority, Liability, and Public Health Decision-Making</dc:title>
  <dc:subject>AI Authority, Liability, and Public Health Decision-Making learning module</dc:subject>
  <dc:creator>Paula Soper</dc:creator>
  <cp:lastModifiedBy>Paula Soper</cp:lastModifiedBy>
  <cp:revision>1</cp:revision>
  <dcterms:created xsi:type="dcterms:W3CDTF">2026-07-12T19:55:21Z</dcterms:created>
  <dcterms:modified xsi:type="dcterms:W3CDTF">2026-07-12T19:55:21Z</dcterms:modified>
</cp:coreProperties>
</file>