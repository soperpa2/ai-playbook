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 accept for different types of use.</a:t>
            </a:r>
            <a:endParaRPr lang="en-US" sz="1700" dirty="0"/>
          </a:p>
          <a:p>
            <a:r>
              <a:rPr lang="en-US" sz="17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 mission.</a:t>
            </a:r>
            <a:endParaRPr lang="en-US" sz="1700" dirty="0"/>
          </a:p>
          <a:p>
            <a:r>
              <a:rPr lang="en-US" sz="17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 AI uses.</a:t>
            </a:r>
            <a:endParaRPr lang="en-US" sz="1700" dirty="0"/>
          </a:p>
          <a:p>
            <a:r>
              <a:rPr lang="en-US" sz="1700" dirty="0">
                <a:solidFill>
                  <a:srgbClr val="17364A"/>
                </a:solidFill>
                <a:latin typeface="Aptos" pitchFamily="34" charset="0"/>
                <a:ea typeface="Aptos" pitchFamily="34" charset="-122"/>
                <a:cs typeface="Aptos" pitchFamily="34" charset="-120"/>
              </a:rPr>
              <a:t>This module helps public health leaders define AI risk appetite in a way that reflects public health authority, community trust, legal obligations,.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advanced/leadership</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700" dirty="0"/>
          </a:p>
          <a:p>
            <a:r>
              <a:rPr lang="en-US" sz="1700" dirty="0">
                <a:solidFill>
                  <a:srgbClr val="17364A"/>
                </a:solidFill>
                <a:latin typeface="Aptos" pitchFamily="34" charset="0"/>
                <a:ea typeface="Aptos" pitchFamily="34" charset="-122"/>
                <a:cs typeface="Aptos" pitchFamily="34" charset="-120"/>
              </a:rPr>
              <a:t>Identify AI uses that may be low, moderate, high, or unacceptable risk in a public health context.</a:t>
            </a:r>
            <a:endParaRPr lang="en-US" sz="1700" dirty="0"/>
          </a:p>
          <a:p>
            <a:r>
              <a:rPr lang="en-US" sz="1700" dirty="0">
                <a:solidFill>
                  <a:srgbClr val="17364A"/>
                </a:solidFill>
                <a:latin typeface="Aptos" pitchFamily="34" charset="0"/>
                <a:ea typeface="Aptos" pitchFamily="34" charset="-122"/>
                <a:cs typeface="Aptos" pitchFamily="34" charset="-120"/>
              </a:rPr>
              <a:t>Develop risk tolerance statements for different AI use categories.</a:t>
            </a:r>
            <a:endParaRPr lang="en-US" sz="1700" dirty="0"/>
          </a:p>
          <a:p>
            <a:r>
              <a:rPr lang="en-US" sz="1700" dirty="0">
                <a:solidFill>
                  <a:srgbClr val="17364A"/>
                </a:solidFill>
                <a:latin typeface="Aptos" pitchFamily="34" charset="0"/>
                <a:ea typeface="Aptos" pitchFamily="34" charset="-122"/>
                <a:cs typeface="Aptos" pitchFamily="34" charset="-120"/>
              </a:rPr>
              <a:t>Connect risk tolerance to review level, safeguards, monitoring, and escalation.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 accept for different.</a:t>
            </a:r>
            <a:endParaRPr lang="en-US" sz="1700" dirty="0"/>
          </a:p>
          <a:p>
            <a:r>
              <a:rPr lang="en-US" sz="17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 mission.</a:t>
            </a:r>
            <a:endParaRPr lang="en-US" sz="1700" dirty="0"/>
          </a:p>
          <a:p>
            <a:r>
              <a:rPr lang="en-US" sz="17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 AI uses.</a:t>
            </a:r>
            <a:endParaRPr lang="en-US" sz="1700" dirty="0"/>
          </a:p>
          <a:p>
            <a:r>
              <a:rPr lang="en-US" sz="1700" dirty="0">
                <a:solidFill>
                  <a:srgbClr val="17364A"/>
                </a:solidFill>
                <a:latin typeface="Aptos" pitchFamily="34" charset="0"/>
                <a:ea typeface="Aptos" pitchFamily="34" charset="-122"/>
                <a:cs typeface="Aptos" pitchFamily="34" charset="-120"/>
              </a:rPr>
              <a:t>This module helps public health leaders define AI risk appetite in a way that reflects public health authority, community.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 accept for different.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1700" dirty="0"/>
          </a:p>
          <a:p>
            <a:r>
              <a:rPr lang="en-US" sz="1700" dirty="0">
                <a:solidFill>
                  <a:srgbClr val="17364A"/>
                </a:solidFill>
                <a:latin typeface="Aptos" pitchFamily="34" charset="0"/>
                <a:ea typeface="Aptos" pitchFamily="34" charset="-122"/>
                <a:cs typeface="Aptos" pitchFamily="34" charset="-120"/>
              </a:rPr>
              <a:t>A generative AI tool might be acceptable for drafting internal meeting notes but not for producing unsupervised public.</a:t>
            </a:r>
            <a:endParaRPr lang="en-US" sz="1700" dirty="0"/>
          </a:p>
          <a:p>
            <a:r>
              <a:rPr lang="en-US" sz="1700" dirty="0">
                <a:solidFill>
                  <a:srgbClr val="17364A"/>
                </a:solidFill>
                <a:latin typeface="Aptos" pitchFamily="34" charset="0"/>
                <a:ea typeface="Aptos" pitchFamily="34" charset="-122"/>
                <a:cs typeface="Aptos" pitchFamily="34" charset="-120"/>
              </a:rPr>
              <a:t>A predictive model might be acceptable for planning staffing levels but not for denying services.</a:t>
            </a:r>
            <a:endParaRPr lang="en-US" sz="1700" dirty="0"/>
          </a:p>
          <a:p>
            <a:r>
              <a:rPr lang="en-US" sz="1700" dirty="0">
                <a:solidFill>
                  <a:srgbClr val="17364A"/>
                </a:solidFill>
                <a:latin typeface="Aptos" pitchFamily="34" charset="0"/>
                <a:ea typeface="Aptos" pitchFamily="34" charset="-122"/>
                <a:cs typeface="Aptos" pitchFamily="34" charset="-120"/>
              </a:rPr>
              <a:t>An agentic workflow might be acceptable for creating a draft task but not for sending an enforcement notice without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 sensitive data, public.</a:t>
            </a:r>
            <a:endParaRPr lang="en-US" sz="1700" dirty="0"/>
          </a:p>
          <a:p>
            <a:r>
              <a:rPr lang="en-US" sz="1700" dirty="0">
                <a:solidFill>
                  <a:srgbClr val="17364A"/>
                </a:solidFill>
                <a:latin typeface="Aptos" pitchFamily="34" charset="0"/>
                <a:ea typeface="Aptos" pitchFamily="34" charset="-122"/>
                <a:cs typeface="Aptos" pitchFamily="34" charset="-120"/>
              </a:rPr>
              <a:t>It may define a moderate appetite for staff-facing decision support when human review, validation, and documentation are.</a:t>
            </a:r>
            <a:endParaRPr lang="en-US" sz="1700" dirty="0"/>
          </a:p>
          <a:p>
            <a:r>
              <a:rPr lang="en-US" sz="1700" dirty="0">
                <a:solidFill>
                  <a:srgbClr val="17364A"/>
                </a:solidFill>
                <a:latin typeface="Aptos" pitchFamily="34" charset="0"/>
                <a:ea typeface="Aptos" pitchFamily="34" charset="-122"/>
                <a:cs typeface="Aptos" pitchFamily="34" charset="-120"/>
              </a:rPr>
              <a:t>It may define a very low appetite for unsupervised public-facing advice, automated eligibility decisions, enforcement.</a:t>
            </a:r>
            <a:endParaRPr lang="en-US" sz="1700" dirty="0"/>
          </a:p>
          <a:p>
            <a:r>
              <a:rPr lang="en-US" sz="1700" dirty="0">
                <a:solidFill>
                  <a:srgbClr val="17364A"/>
                </a:solidFill>
                <a:latin typeface="Aptos" pitchFamily="34" charset="0"/>
                <a:ea typeface="Aptos" pitchFamily="34" charset="-122"/>
                <a:cs typeface="Aptos" pitchFamily="34" charset="-120"/>
              </a:rPr>
              <a:t>These statements help governance reviewers make consistent decisions.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 sensitive data, public.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1700" dirty="0"/>
          </a:p>
          <a:p>
            <a:r>
              <a:rPr lang="en-US" sz="1700" dirty="0">
                <a:solidFill>
                  <a:srgbClr val="17364A"/>
                </a:solidFill>
                <a:latin typeface="Aptos" pitchFamily="34" charset="0"/>
                <a:ea typeface="Aptos" pitchFamily="34" charset="-122"/>
                <a:cs typeface="Aptos" pitchFamily="34" charset="-120"/>
              </a:rPr>
              <a:t>For example, an agency might state that it encourages low-risk AI uses that reduce internal administrative burden when no.</a:t>
            </a:r>
            <a:endParaRPr lang="en-US" sz="1700" dirty="0"/>
          </a:p>
          <a:p>
            <a:r>
              <a:rPr lang="en-US" sz="1700" dirty="0">
                <a:solidFill>
                  <a:srgbClr val="17364A"/>
                </a:solidFill>
                <a:latin typeface="Aptos" pitchFamily="34" charset="0"/>
                <a:ea typeface="Aptos" pitchFamily="34" charset="-122"/>
                <a:cs typeface="Aptos" pitchFamily="34" charset="-120"/>
              </a:rPr>
              <a:t>It might state that it will consider moderate-risk uses involving operational data only with documented validation, access.</a:t>
            </a:r>
            <a:endParaRPr lang="en-US" sz="1700" dirty="0"/>
          </a:p>
          <a:p>
            <a:r>
              <a:rPr lang="en-US" sz="1700" dirty="0">
                <a:solidFill>
                  <a:srgbClr val="17364A"/>
                </a:solidFill>
                <a:latin typeface="Aptos" pitchFamily="34" charset="0"/>
                <a:ea typeface="Aptos" pitchFamily="34" charset="-122"/>
                <a:cs typeface="Aptos" pitchFamily="34" charset="-120"/>
              </a:rPr>
              <a:t>It might state that it does not permit AI to make final public health enforcement, eligibility, or legal decisions without.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vague risk language.</a:t>
            </a:r>
            <a:endParaRPr lang="en-US" sz="1700" dirty="0"/>
          </a:p>
          <a:p>
            <a:r>
              <a:rPr lang="en-US" sz="1700" dirty="0">
                <a:solidFill>
                  <a:srgbClr val="17364A"/>
                </a:solidFill>
                <a:latin typeface="Aptos" pitchFamily="34" charset="0"/>
                <a:ea typeface="Aptos" pitchFamily="34" charset="-122"/>
                <a:cs typeface="Aptos" pitchFamily="34" charset="-120"/>
              </a:rPr>
              <a:t>Phrases like 'use AI responsibly' do not help staff decide what is allowed.</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concrete examples of encouraged, conditional, restricted, and prohibited uses.</a:t>
            </a:r>
            <a:endParaRPr lang="en-US" sz="1700" dirty="0"/>
          </a:p>
          <a:p>
            <a:r>
              <a:rPr lang="en-US" sz="1700" dirty="0">
                <a:solidFill>
                  <a:srgbClr val="17364A"/>
                </a:solidFill>
                <a:latin typeface="Aptos" pitchFamily="34" charset="0"/>
                <a:ea typeface="Aptos" pitchFamily="34" charset="-122"/>
                <a:cs typeface="Aptos" pitchFamily="34" charset="-120"/>
              </a:rPr>
              <a:t>Another risk is risk appetite that ignores equity.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vague risk language.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 appetite applies differently across AI types.</a:t>
            </a:r>
            <a:endParaRPr lang="en-US" sz="1700" dirty="0"/>
          </a:p>
          <a:p>
            <a:r>
              <a:rPr lang="en-US" sz="1700" dirty="0">
                <a:solidFill>
                  <a:srgbClr val="17364A"/>
                </a:solidFill>
                <a:latin typeface="Aptos" pitchFamily="34" charset="0"/>
                <a:ea typeface="Aptos" pitchFamily="34" charset="-122"/>
                <a:cs typeface="Aptos" pitchFamily="34" charset="-120"/>
              </a:rPr>
              <a:t>Generative AI for internal drafting may fall into a lower-risk category when reviewed by humans.</a:t>
            </a:r>
            <a:endParaRPr lang="en-US" sz="1700" dirty="0"/>
          </a:p>
          <a:p>
            <a:r>
              <a:rPr lang="en-US" sz="1700" dirty="0">
                <a:solidFill>
                  <a:srgbClr val="17364A"/>
                </a:solidFill>
                <a:latin typeface="Aptos" pitchFamily="34" charset="0"/>
                <a:ea typeface="Aptos" pitchFamily="34" charset="-122"/>
                <a:cs typeface="Aptos" pitchFamily="34" charset="-120"/>
              </a:rPr>
              <a:t>Predictive models used for prioritization require stronger validation and monitoring.</a:t>
            </a:r>
            <a:endParaRPr lang="en-US" sz="1700" dirty="0"/>
          </a:p>
          <a:p>
            <a:r>
              <a:rPr lang="en-US" sz="1700" dirty="0">
                <a:solidFill>
                  <a:srgbClr val="17364A"/>
                </a:solidFill>
                <a:latin typeface="Aptos" pitchFamily="34" charset="0"/>
                <a:ea typeface="Aptos" pitchFamily="34" charset="-122"/>
                <a:cs typeface="Aptos" pitchFamily="34" charset="-120"/>
              </a:rPr>
              <a:t>Agentic tools that can take system actions require strict limits, stop authority, and auditability.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 appetite applies differently across AI types.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700" dirty="0"/>
          </a:p>
          <a:p>
            <a:r>
              <a:rPr lang="en-US" sz="17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700" dirty="0"/>
          </a:p>
          <a:p>
            <a:r>
              <a:rPr lang="en-US" sz="17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 internal productivity,.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 internal productivity,.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Choose a real or realistic public health AI use case.</a:t>
            </a:r>
            <a:endParaRPr lang="en-US" sz="1700" dirty="0"/>
          </a:p>
          <a:p>
            <a:r>
              <a:rPr lang="en-US" sz="17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 before it is adopted.</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Choose a real or realistic public health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 conditions.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 conditions.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 conditions.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 conditions.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700" dirty="0"/>
          </a:p>
          <a:p>
            <a:r>
              <a:rPr lang="en-US" sz="17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700" dirty="0"/>
          </a:p>
          <a:p>
            <a:r>
              <a:rPr lang="en-US" sz="170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Privacy 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700" dirty="0"/>
          </a:p>
          <a:p>
            <a:r>
              <a:rPr lang="en-US" sz="170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2026-07-12T18:54:58Z</dcterms:created>
  <dcterms:modified xsi:type="dcterms:W3CDTF">2026-07-12T18:54:58Z</dcterms:modified>
</cp:coreProperties>
</file>