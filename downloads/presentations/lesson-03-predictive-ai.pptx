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Predictive AI is designed for an individual learner using the AI Playbook and Toolkit for Public Health Departments.
Predictive AI uses data patterns to estimate the likelihood of future events, risks, needs, or outcomes. In public health, it can support forecasting, prioritization, planning, and early warning when it is validated, monitored, and kept under human oversight.
Use the notes in this deck as additional reading and context. They are not written as presenter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Predictive AI use case review note.
Produce or contribute to: Validation and monitoring question list.
Produce or contribute to: Human decision boundary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Predictive AI uses data patterns to estimate the likelihood of future events, risks, needs, or outcomes. In public health, it can support forecasting, prioritization, planning, and early warning when it is validated, monitored, and kept under human oversight.
Predictive AI can make public health work feel more proactive because it points attention toward possible future conditions. That can be useful for planning, staffing, outreach, inspections, and surveillance, but only when the prediction is connected to a clear public health action. A prediction without a defined response can create confusion, unnecessary work, or false confidence.
The most important distinction is between using a prediction to support review and using a prediction to make a decision. In responsible public health practice, predictive AI should help qualified people decide where to look, what to prepare, or what question to ask next. It should not silently determine eligibility, enforcement, service access, or public messaging without governance approval and human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Anomaly detection: A method for identifying unusual patterns, outliers, or signals in data. In public health, anomaly detection can support surveillance or operations when qualified staff review whether a signal is meaningful.
Bias: Systematic error or unfairness that can produce different results for different groups. Bias can arise from data gaps, measurement choices, model design, deployment context, or unequal access to services.
False negative: A case where an AI system fails to flag a true condition, risk, signal, or problem. False negatives matter in public health because they can delay action or leave people, facilities, or communities without needed review.
False positive: A case where an AI system flags a condition, risk, signal, or problem that is not actually present. False positives matter because they can waste staff time, create unnecessary concern, or burden people and communities unfairly.
Model drift: A decline or change in AI performance over time because data, workflows, disease patterns, populations, vendor systems, or user behavior have changed. Drift is one reason monitoring must continue after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Predictive AI: AI that uses data patterns to estimate future events, risks, needs, trends, or outcomes. Predictive AI can support forecasting, prioritization, anomaly detection, or planning, but its outputs should be validated, monitored, and reviewed by humans before affecting consequential public health actions.
Risk tiering: Classifying AI uses by potential harm, sensitivity, legal implications, public impact, and level of automation. Higher-risk uses require stronger documentation, review, monitoring, and approval before use.
Validation: The process of testing whether an AI system performs well enough for its intended public health use. Validation should include accuracy, reliability, subgroup performance, workflow fit, user review, and risk mitigation.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 target is a core concept for this lesson because it turns predictive ai from an abstract AI topic into something you can recognize in daily public health work. The event, need, risk, trend, or outcome the system is trying to estimate.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False positive is a core concept for this lesson because it turns predictive ai from an abstract AI topic into something you can recognize in daily public health work. A case where the system flags something that is not actually present.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False negative is a core concept for this lesson because it turns predictive ai from an abstract AI topic into something you can recognize in daily public health work. A case where the system misses something that is actually present.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drift is a core concept for this lesson because it turns predictive ai from an abstract AI topic into something you can recognize in daily public health work. A change in performance over time because data, populations, workflows, or conditions have changed.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Forecast disease or service demand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Prioritize records for human review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Identify populations that may benefit from outreach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 operational risk indicators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apply this module, begin with a real or realistic public health workflow and describe the task in plain language before naming an AI tool. Use the related plays (Play 2, Play 3, Play 7, Play 11, Play 13) to identify the decisions, approvals, people, and timing needed for responsible implementation. Use the related tools (Tool 7, Tool 13, Tool 14, Tool 40, Tool 44, Tool 47) to create documentation that can be reviewed, saved, revised, and used as evidence of readiness. The practical exercise asks you to produce evidence that can feed into that work: Select one possible predictive AI use case and document the prediction target, data sources, intended users, affected populations, human review points, validation needs, equity checks, and monitoring indicators.
The main guardrail for this lesson is that Predictive AI can reproduce historical bias, perform poorly when conditions change, or appear more certain than the evidence supports. Predictions should inform review and planning, not automatically determine services, enforcement, eligibility, or public health action.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Predictive AI is often attractive because it appears to make planning more proactive. It is only responsible when predictions are validated, interpreted by people who understand the public health context, and monitored for drift, bias, and unintended consequences.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 one possible predictive AI use case and document the prediction target, data sources, intended users, affected populations, human review points, validation needs, equity checks, and monitoring indicators.
Predictive AI use case review note
Validation and monitoring question list
Human decision boundary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decision or planning activity would the prediction inform?
What data were used to create the prediction, and who may be missing or misclassified?
How will false positives, false negatives, uncertainty, and subgroup performance be reviewed?
Who is accountable for acting on the prediction, and what actions are prohibited without human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NIST AI Risk Management Framework: Risk management language for predictive models, validation, measurement, monitoring, and governance. https://www.nist.gov/itl/ai-risk-management-framework
CDC Forecasting and Outbreak Analytics: Public health context for forecasting, outbreak analytics, and analytic modernization. https://www.cdc.gov/forecast-outbreak-analytics/index.html
Kahn et al. (2015): Transparent reporting of data quality: Data quality transparency for predictive and analytic systems that rely on distributed or secondary-use health data. https://doi.org/10.13063/2327-9214.1052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13232" y="2542032"/>
            <a:ext cx="10607040" cy="777240"/>
          </a:xfrm>
          <a:prstGeom prst="rect">
            <a:avLst/>
          </a:prstGeom>
          <a:noFill/>
          <a:ln/>
        </p:spPr>
        <p:txBody>
          <a:bodyPr wrap="square" lIns="0" tIns="0" rIns="0" bIns="0" rtlCol="0" anchor="ct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Predictive AI</a:t>
            </a:r>
            <a:endParaRPr lang="en-US" sz="3400" dirty="0"/>
          </a:p>
        </p:txBody>
      </p:sp>
      <p:sp>
        <p:nvSpPr>
          <p:cNvPr id="6" name="Text 3"/>
          <p:cNvSpPr/>
          <p:nvPr/>
        </p:nvSpPr>
        <p:spPr>
          <a:xfrm>
            <a:off x="749808" y="3456432"/>
            <a:ext cx="365760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Learning Module</a:t>
            </a:r>
            <a:endParaRPr lang="en-US" sz="1400" dirty="0"/>
          </a:p>
        </p:txBody>
      </p:sp>
      <p:sp>
        <p:nvSpPr>
          <p:cNvPr id="7" name="Text 4"/>
          <p:cNvSpPr/>
          <p:nvPr/>
        </p:nvSpPr>
        <p:spPr>
          <a:xfrm>
            <a:off x="749808" y="3886200"/>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Learning Objectives</a:t>
            </a:r>
            <a:endParaRPr lang="en-US" sz="2800" dirty="0"/>
          </a:p>
        </p:txBody>
      </p:sp>
      <p:sp>
        <p:nvSpPr>
          <p:cNvPr id="7" name="Text 5"/>
          <p:cNvSpPr/>
          <p:nvPr/>
        </p:nvSpPr>
        <p:spPr>
          <a:xfrm>
            <a:off x="822960" y="1417320"/>
            <a:ext cx="10332720" cy="448056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1600" dirty="0"/>
          </a:p>
          <a:p>
            <a:r>
              <a:rPr lang="en-US" sz="1600" dirty="0">
                <a:solidFill>
                  <a:srgbClr val="17364A"/>
                </a:solidFill>
                <a:latin typeface="Aptos" pitchFamily="34" charset="0"/>
                <a:ea typeface="Aptos" pitchFamily="34" charset="-122"/>
                <a:cs typeface="Aptos" pitchFamily="34" charset="-120"/>
              </a:rPr>
              <a:t>Identify where the concept affects AI planning, governance, procurement, implementation, monitoring, public trust, or public health decision-making.</a:t>
            </a:r>
            <a:endParaRPr lang="en-US" sz="1600" dirty="0"/>
          </a:p>
          <a:p>
            <a:r>
              <a:rPr lang="en-US" sz="1600" dirty="0">
                <a:solidFill>
                  <a:srgbClr val="17364A"/>
                </a:solidFill>
                <a:latin typeface="Aptos" pitchFamily="34" charset="0"/>
                <a:ea typeface="Aptos" pitchFamily="34" charset="-122"/>
                <a:cs typeface="Aptos" pitchFamily="34" charset="-120"/>
              </a:rPr>
              <a:t>Apply the concept to a concrete public health workflow using the linked plays, tools, safeguards, and documentation expectations.</a:t>
            </a:r>
            <a:endParaRPr lang="en-US" sz="1600" dirty="0"/>
          </a:p>
          <a:p>
            <a:r>
              <a:rPr lang="en-US" sz="1600" dirty="0">
                <a:solidFill>
                  <a:srgbClr val="17364A"/>
                </a:solidFill>
                <a:latin typeface="Aptos" pitchFamily="34" charset="0"/>
                <a:ea typeface="Aptos" pitchFamily="34" charset="-122"/>
                <a:cs typeface="Aptos" pitchFamily="34" charset="-120"/>
              </a:rPr>
              <a:t>Complete a practical activity that produces an artifact you can use in readiness assessment, governance review, implementation planning, or monitoring.</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Predictive AI use case review note.</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Validation and monitoring question list.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Module Overview</a:t>
            </a:r>
            <a:endParaRPr lang="en-US" sz="2800" dirty="0"/>
          </a:p>
        </p:txBody>
      </p:sp>
      <p:sp>
        <p:nvSpPr>
          <p:cNvPr id="7" name="Text 5"/>
          <p:cNvSpPr/>
          <p:nvPr/>
        </p:nvSpPr>
        <p:spPr>
          <a:xfrm>
            <a:off x="822960" y="1325880"/>
            <a:ext cx="10424160" cy="4434840"/>
          </a:xfrm>
          <a:prstGeom prst="rect">
            <a:avLst/>
          </a:prstGeom>
          <a:noFill/>
          <a:ln/>
        </p:spPr>
        <p:txBody>
          <a:bodyPr wrap="square" lIns="1016" tIns="1016" rIns="1016" bIns="1016" rtlCol="0" anchor="t">
            <a:normAutofit/>
          </a:bodyPr>
          <a:lstStyle/>
          <a:p>
            <a:pPr indent="0" marL="0">
              <a:buNone/>
            </a:pPr>
            <a:r>
              <a:rPr lang="en-US" sz="1600" dirty="0">
                <a:solidFill>
                  <a:srgbClr val="17364A"/>
                </a:solidFill>
                <a:latin typeface="Aptos" pitchFamily="34" charset="0"/>
                <a:ea typeface="Aptos" pitchFamily="34" charset="-122"/>
                <a:cs typeface="Aptos" pitchFamily="34" charset="-120"/>
              </a:rPr>
              <a:t>Predictive AI uses data patterns to estimate the likelihood of future events, risks, needs, or outcomes. In public health, it can support forecasting, prioritization, planning, and early warning when it is validated, monitored, and kept under human oversight.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Anomaly detection: A method for identifying unusual patterns, outliers, or signals in data. In public health, anomaly detection can support surveillance or operations when qualified staff review whether a signal is meaningful.</a:t>
            </a:r>
            <a:endParaRPr lang="en-US" sz="1320" dirty="0"/>
          </a:p>
          <a:p>
            <a:r>
              <a:rPr lang="en-US" sz="1320" dirty="0">
                <a:solidFill>
                  <a:srgbClr val="17364A"/>
                </a:solidFill>
                <a:latin typeface="Aptos" pitchFamily="34" charset="0"/>
                <a:ea typeface="Aptos" pitchFamily="34" charset="-122"/>
                <a:cs typeface="Aptos" pitchFamily="34" charset="-120"/>
              </a:rPr>
              <a:t>Bias: Systematic error or unfairness that can produce different results for different groups. Bias can arise from data gaps, measurement choices, model design, deployment context, or unequal access to services.</a:t>
            </a:r>
            <a:endParaRPr lang="en-US" sz="1320" dirty="0"/>
          </a:p>
          <a:p>
            <a:r>
              <a:rPr lang="en-US" sz="1320" dirty="0">
                <a:solidFill>
                  <a:srgbClr val="17364A"/>
                </a:solidFill>
                <a:latin typeface="Aptos" pitchFamily="34" charset="0"/>
                <a:ea typeface="Aptos" pitchFamily="34" charset="-122"/>
                <a:cs typeface="Aptos" pitchFamily="34" charset="-120"/>
              </a:rPr>
              <a:t>False negative: A case where an AI system fails to flag a true condition, risk, signal, or problem. False negatives matter in public health because they can delay action or leave people, facilities, or communities without.</a:t>
            </a:r>
            <a:endParaRPr lang="en-US" sz="1320" dirty="0"/>
          </a:p>
          <a:p>
            <a:r>
              <a:rPr lang="en-US" sz="1320" dirty="0">
                <a:solidFill>
                  <a:srgbClr val="17364A"/>
                </a:solidFill>
                <a:latin typeface="Aptos" pitchFamily="34" charset="0"/>
                <a:ea typeface="Aptos" pitchFamily="34" charset="-122"/>
                <a:cs typeface="Aptos" pitchFamily="34" charset="-120"/>
              </a:rPr>
              <a:t>False positive: A case where an AI system flags a condition, risk, signal, or problem that is not actually present. False positives matter because they can waste staff time, create unnecessary concern, or burden people and.</a:t>
            </a:r>
            <a:endParaRPr lang="en-US" sz="1320" dirty="0"/>
          </a:p>
          <a:p>
            <a:r>
              <a:rPr lang="en-US" sz="1320" dirty="0">
                <a:solidFill>
                  <a:srgbClr val="17364A"/>
                </a:solidFill>
                <a:latin typeface="Aptos" pitchFamily="34" charset="0"/>
                <a:ea typeface="Aptos" pitchFamily="34" charset="-122"/>
                <a:cs typeface="Aptos" pitchFamily="34" charset="-120"/>
              </a:rPr>
              <a:t>Model drift: A decline or change in AI performance over time because data, workflows, disease patterns, populations, vendor systems, or user behavior have changed. Drift is one reason monitoring must continue after.</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 Continued</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Predictive AI: AI that uses data patterns to estimate future events, risks, needs, trends, or outcomes. Predictive AI can support forecasting, prioritization, anomaly detection, or planning, but its outputs should be.</a:t>
            </a:r>
            <a:endParaRPr lang="en-US" sz="1320" dirty="0"/>
          </a:p>
          <a:p>
            <a:r>
              <a:rPr lang="en-US" sz="1320" dirty="0">
                <a:solidFill>
                  <a:srgbClr val="17364A"/>
                </a:solidFill>
                <a:latin typeface="Aptos" pitchFamily="34" charset="0"/>
                <a:ea typeface="Aptos" pitchFamily="34" charset="-122"/>
                <a:cs typeface="Aptos" pitchFamily="34" charset="-120"/>
              </a:rPr>
              <a:t>Risk tiering: Classifying AI uses by potential harm, sensitivity, legal implications, public impact, and level of automation. Higher-risk uses require stronger documentation, review, monitoring, and approval before use.</a:t>
            </a:r>
            <a:endParaRPr lang="en-US" sz="1320" dirty="0"/>
          </a:p>
          <a:p>
            <a:r>
              <a:rPr lang="en-US" sz="1320" dirty="0">
                <a:solidFill>
                  <a:srgbClr val="17364A"/>
                </a:solidFill>
                <a:latin typeface="Aptos" pitchFamily="34" charset="0"/>
                <a:ea typeface="Aptos" pitchFamily="34" charset="-122"/>
                <a:cs typeface="Aptos" pitchFamily="34" charset="-120"/>
              </a:rPr>
              <a:t>Validation: The process of testing whether an AI system performs well enough for its intended public health use. Validation should include accuracy, reliability, subgroup performance, workflow fit, user review, and risk.</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Core Concepts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Prediction target is a core concept for this lesson because it turns predictive ai from an abstract AI topic into something you can recognize in daily public health work. The event, need, risk, trend, or outcome the system is trying to estimate.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False positive is a core concept for this lesson because it turns predictive ai from an abstract AI topic into something you can recognize in daily public health work. A case where the system flags something that is not actually present.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False negative is a core concept for this lesson because it turns predictive ai from an abstract AI topic into something you can recognize in daily public health work. A case where the system misses something that is actually present.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Core Concepts Continued</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Model drift is a core concept for this lesson because it turns predictive ai from an abstract AI topic into something you can recognize in daily public health work. A change in performance over time because data, populations, workflows, or conditions have changed.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Public Health Application</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Forecast disease or service demand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Prioritize records for human review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Identify populations that may benefit from outreach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Public Health Application Continued</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Monitor operational risk indicators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sz="13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Implementation Guidance</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To apply this module, begin with a real or realistic public health workflow and describe the task in plain language before naming an AI tool. Use the related plays (Play 2, Play 3, Play 7, Play 11, Play 13) to identify the decisions, approvals, people, and timing needed for responsible implementation. Use the related tools (Tool 7, Tool 13, Tool 14, Tool 40, Tool 44, Tool 47) to create documentation that can be reviewed, saved, revised, and used as evidence of readiness. The practical exercise asks you to produce evidence that can feed into that work: Select one possible predictive AI use case and document the prediction target, data sources, intended users, affected populations, human review points, validation needs, equity checks, and monitoring indicators. The main guardrail for this lesson is that Predictive AI can reproduce historical bias, perform poorly when conditions change, or appear more certain than the evidence supports. Predictions should inform review and planning, not automatically determine services, enforcement, eligibility, or public health action.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sz="13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Using Plays and Tools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Predictive AI is often attractive because it appears to make planning more proactive. It is only responsible when predictions are validated, interpreted by people who understand the public health context, and monitored for drift, bias, and unintended consequences.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sz="13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Practical Exercise</a:t>
            </a:r>
            <a:endParaRPr lang="en-US" sz="2800" dirty="0"/>
          </a:p>
        </p:txBody>
      </p:sp>
      <p:sp>
        <p:nvSpPr>
          <p:cNvPr id="7" name="Text 5"/>
          <p:cNvSpPr/>
          <p:nvPr/>
        </p:nvSpPr>
        <p:spPr>
          <a:xfrm>
            <a:off x="822960" y="1234440"/>
            <a:ext cx="10378440" cy="2011680"/>
          </a:xfrm>
          <a:prstGeom prst="rect">
            <a:avLst/>
          </a:prstGeom>
          <a:noFill/>
          <a:ln/>
        </p:spPr>
        <p:txBody>
          <a:bodyPr wrap="square" lIns="1016" tIns="1016" rIns="1016" bIns="1016" rtlCol="0" anchor="t">
            <a:normAutofit/>
          </a:bodyPr>
          <a:lstStyle/>
          <a:p>
            <a:pPr indent="0" marL="0">
              <a:buNone/>
            </a:pPr>
            <a:r>
              <a:rPr lang="en-US" sz="1520" dirty="0">
                <a:solidFill>
                  <a:srgbClr val="17364A"/>
                </a:solidFill>
                <a:latin typeface="Aptos" pitchFamily="34" charset="0"/>
                <a:ea typeface="Aptos" pitchFamily="34" charset="-122"/>
                <a:cs typeface="Aptos" pitchFamily="34" charset="-120"/>
              </a:rPr>
              <a:t>Select one possible predictive AI use case and document the prediction target, data sources, intended users, affected populations, human review points, validation needs, equity checks, and monitoring indicators.</a:t>
            </a:r>
            <a:endParaRPr lang="en-US" sz="1520" dirty="0"/>
          </a:p>
        </p:txBody>
      </p:sp>
      <p:sp>
        <p:nvSpPr>
          <p:cNvPr id="8" name="Text 6"/>
          <p:cNvSpPr/>
          <p:nvPr/>
        </p:nvSpPr>
        <p:spPr>
          <a:xfrm>
            <a:off x="822960" y="3520440"/>
            <a:ext cx="10378440" cy="1828800"/>
          </a:xfrm>
          <a:prstGeom prst="rect">
            <a:avLst/>
          </a:prstGeom>
          <a:noFill/>
          <a:ln/>
        </p:spPr>
        <p:txBody>
          <a:bodyPr wrap="square" lIns="635" tIns="635" rIns="635" bIns="635" rtlCol="0" anchor="t">
            <a:normAutofit/>
          </a:bodyPr>
          <a:lstStyle/>
          <a:p>
            <a:r>
              <a:rPr lang="en-US" sz="1400" dirty="0">
                <a:solidFill>
                  <a:srgbClr val="17364A"/>
                </a:solidFill>
                <a:latin typeface="Aptos" pitchFamily="34" charset="0"/>
                <a:ea typeface="Aptos" pitchFamily="34" charset="-122"/>
                <a:cs typeface="Aptos" pitchFamily="34" charset="-120"/>
              </a:rPr>
              <a:t>Expected artifact: Predictive AI use case review note</a:t>
            </a:r>
            <a:endParaRPr lang="en-US" sz="1400" dirty="0"/>
          </a:p>
          <a:p>
            <a:r>
              <a:rPr lang="en-US" sz="1400" dirty="0">
                <a:solidFill>
                  <a:srgbClr val="17364A"/>
                </a:solidFill>
                <a:latin typeface="Aptos" pitchFamily="34" charset="0"/>
                <a:ea typeface="Aptos" pitchFamily="34" charset="-122"/>
                <a:cs typeface="Aptos" pitchFamily="34" charset="-120"/>
              </a:rPr>
              <a:t>Expected artifact: Validation and monitoring question list</a:t>
            </a:r>
            <a:endParaRPr lang="en-US" sz="1400" dirty="0"/>
          </a:p>
          <a:p>
            <a:r>
              <a:rPr lang="en-US" sz="1400" dirty="0">
                <a:solidFill>
                  <a:srgbClr val="17364A"/>
                </a:solidFill>
                <a:latin typeface="Aptos" pitchFamily="34" charset="0"/>
                <a:ea typeface="Aptos" pitchFamily="34" charset="-122"/>
                <a:cs typeface="Aptos" pitchFamily="34" charset="-120"/>
              </a:rPr>
              <a:t>Expected artifact: Human decision boundary statement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Reflection Questions</a:t>
            </a:r>
            <a:endParaRPr lang="en-US" sz="2800" dirty="0"/>
          </a:p>
        </p:txBody>
      </p:sp>
      <p:sp>
        <p:nvSpPr>
          <p:cNvPr id="7" name="Text 5"/>
          <p:cNvSpPr/>
          <p:nvPr/>
        </p:nvSpPr>
        <p:spPr>
          <a:xfrm>
            <a:off x="822960" y="1325880"/>
            <a:ext cx="10378440" cy="4572000"/>
          </a:xfrm>
          <a:prstGeom prst="rect">
            <a:avLst/>
          </a:prstGeom>
          <a:noFill/>
          <a:ln/>
        </p:spPr>
        <p:txBody>
          <a:bodyPr wrap="square" lIns="635" tIns="635" rIns="635" bIns="635" rtlCol="0" anchor="t">
            <a:normAutofit/>
          </a:bodyPr>
          <a:lstStyle/>
          <a:p>
            <a:r>
              <a:rPr lang="en-US" sz="1500" dirty="0">
                <a:solidFill>
                  <a:srgbClr val="17364A"/>
                </a:solidFill>
                <a:latin typeface="Aptos" pitchFamily="34" charset="0"/>
                <a:ea typeface="Aptos" pitchFamily="34" charset="-122"/>
                <a:cs typeface="Aptos" pitchFamily="34" charset="-120"/>
              </a:rPr>
              <a:t>What decision or planning activity would the prediction inform?</a:t>
            </a:r>
            <a:endParaRPr lang="en-US" sz="1500" dirty="0"/>
          </a:p>
          <a:p>
            <a:r>
              <a:rPr lang="en-US" sz="1500" dirty="0">
                <a:solidFill>
                  <a:srgbClr val="17364A"/>
                </a:solidFill>
                <a:latin typeface="Aptos" pitchFamily="34" charset="0"/>
                <a:ea typeface="Aptos" pitchFamily="34" charset="-122"/>
                <a:cs typeface="Aptos" pitchFamily="34" charset="-120"/>
              </a:rPr>
              <a:t>What data were used to create the prediction, and who may be missing or misclassified?</a:t>
            </a:r>
            <a:endParaRPr lang="en-US" sz="1500" dirty="0"/>
          </a:p>
          <a:p>
            <a:r>
              <a:rPr lang="en-US" sz="1500" dirty="0">
                <a:solidFill>
                  <a:srgbClr val="17364A"/>
                </a:solidFill>
                <a:latin typeface="Aptos" pitchFamily="34" charset="0"/>
                <a:ea typeface="Aptos" pitchFamily="34" charset="-122"/>
                <a:cs typeface="Aptos" pitchFamily="34" charset="-120"/>
              </a:rPr>
              <a:t>How will false positives, false negatives, uncertainty, and subgroup performance be reviewed?</a:t>
            </a:r>
            <a:endParaRPr lang="en-US" sz="1500" dirty="0"/>
          </a:p>
          <a:p>
            <a:r>
              <a:rPr lang="en-US" sz="1500" dirty="0">
                <a:solidFill>
                  <a:srgbClr val="17364A"/>
                </a:solidFill>
                <a:latin typeface="Aptos" pitchFamily="34" charset="0"/>
                <a:ea typeface="Aptos" pitchFamily="34" charset="-122"/>
                <a:cs typeface="Aptos" pitchFamily="34" charset="-120"/>
              </a:rPr>
              <a:t>Who is accountable for acting on the prediction, and what actions are prohibited without human approval?</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Predictive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References and Resources</a:t>
            </a:r>
            <a:endParaRPr lang="en-US" sz="2800" dirty="0"/>
          </a:p>
        </p:txBody>
      </p:sp>
      <p:sp>
        <p:nvSpPr>
          <p:cNvPr id="7" name="Text 5"/>
          <p:cNvSpPr/>
          <p:nvPr/>
        </p:nvSpPr>
        <p:spPr>
          <a:xfrm>
            <a:off x="822960" y="1280160"/>
            <a:ext cx="10378440" cy="4800600"/>
          </a:xfrm>
          <a:prstGeom prst="rect">
            <a:avLst/>
          </a:prstGeom>
          <a:noFill/>
          <a:ln/>
        </p:spPr>
        <p:txBody>
          <a:bodyPr wrap="square" lIns="635" tIns="635" rIns="635" bIns="635" rtlCol="0" anchor="t">
            <a:normAutofit/>
          </a:bodyPr>
          <a:lstStyle/>
          <a:p>
            <a:r>
              <a:rPr lang="en-US" sz="1280" dirty="0">
                <a:solidFill>
                  <a:srgbClr val="17364A"/>
                </a:solidFill>
                <a:latin typeface="Aptos" pitchFamily="34" charset="0"/>
                <a:ea typeface="Aptos" pitchFamily="34" charset="-122"/>
                <a:cs typeface="Aptos" pitchFamily="34" charset="-120"/>
              </a:rPr>
              <a:t>NIST AI Risk Management Framework: Risk management language for predictive models, validation, measurement, monitoring, and governance.</a:t>
            </a:r>
            <a:endParaRPr lang="en-US" sz="1280" dirty="0"/>
          </a:p>
          <a:p>
            <a:r>
              <a:rPr lang="en-US" sz="1280" dirty="0">
                <a:solidFill>
                  <a:srgbClr val="17364A"/>
                </a:solidFill>
                <a:latin typeface="Aptos" pitchFamily="34" charset="0"/>
                <a:ea typeface="Aptos" pitchFamily="34" charset="-122"/>
                <a:cs typeface="Aptos" pitchFamily="34" charset="-120"/>
              </a:rPr>
              <a:t>CDC Forecasting and Outbreak Analytics: Public health context for forecasting, outbreak analytics, and analytic modernization.</a:t>
            </a:r>
            <a:endParaRPr lang="en-US" sz="1280" dirty="0"/>
          </a:p>
          <a:p>
            <a:r>
              <a:rPr lang="en-US" sz="1280" dirty="0">
                <a:solidFill>
                  <a:srgbClr val="17364A"/>
                </a:solidFill>
                <a:latin typeface="Aptos" pitchFamily="34" charset="0"/>
                <a:ea typeface="Aptos" pitchFamily="34" charset="-122"/>
                <a:cs typeface="Aptos" pitchFamily="34" charset="-120"/>
              </a:rPr>
              <a:t>Kahn et al. (2015): Transparent reporting of data quality: Data quality transparency for predictive and analytic systems that rely on distributed or secondary-use health data.</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AI</dc:title>
  <dc:subject>Predictive AI learning module</dc:subject>
  <dc:creator>Paula Soper</dc:creator>
  <cp:lastModifiedBy>Paula Soper</cp:lastModifiedBy>
  <cp:revision>1</cp:revision>
  <dcterms:created xsi:type="dcterms:W3CDTF">2026-07-09T20:18:52Z</dcterms:created>
  <dcterms:modified xsi:type="dcterms:W3CDTF">2026-07-09T20:18:52Z</dcterms:modified>
</cp:coreProperties>
</file>