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 legal,.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2100" dirty="0"/>
          </a:p>
          <a:p>
            <a:r>
              <a:rPr lang="en-US" sz="2100" dirty="0">
                <a:solidFill>
                  <a:srgbClr val="17364A"/>
                </a:solidFill>
                <a:latin typeface="Aptos" pitchFamily="34" charset="0"/>
                <a:ea typeface="Aptos" pitchFamily="34" charset="-122"/>
                <a:cs typeface="Aptos" pitchFamily="34" charset="-120"/>
              </a:rPr>
              <a:t>Distinguish between AI users, reviewers, implementers, governance participants, and accountability.</a:t>
            </a:r>
            <a:endParaRPr lang="en-US" sz="2100" dirty="0"/>
          </a:p>
          <a:p>
            <a:r>
              <a:rPr lang="en-US" sz="2100" dirty="0">
                <a:solidFill>
                  <a:srgbClr val="17364A"/>
                </a:solidFill>
                <a:latin typeface="Aptos" pitchFamily="34" charset="0"/>
                <a:ea typeface="Aptos" pitchFamily="34" charset="-122"/>
                <a:cs typeface="Aptos" pitchFamily="34" charset="-120"/>
              </a:rPr>
              <a:t>Develop role-based competency expectations for AI-supported 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Distinguish between AI users, reviewers, implementers, governance participants, and.</a:t>
            </a:r>
            <a:endParaRPr lang="en-US" sz="1380" dirty="0"/>
          </a:p>
          <a:p>
            <a:r>
              <a:rPr lang="en-US" sz="1380" dirty="0">
                <a:solidFill>
                  <a:srgbClr val="17364A"/>
                </a:solidFill>
                <a:latin typeface="Aptos" pitchFamily="34" charset="0"/>
                <a:ea typeface="Aptos" pitchFamily="34" charset="-122"/>
                <a:cs typeface="Aptos" pitchFamily="34" charset="-120"/>
              </a:rPr>
              <a:t>Recognize workforce risks such as deskilling, uneven access to training, and unclear role.</a:t>
            </a:r>
            <a:endParaRPr lang="en-US" sz="1380" dirty="0"/>
          </a:p>
          <a:p>
            <a:r>
              <a:rPr lang="en-US" sz="1380" dirty="0">
                <a:solidFill>
                  <a:srgbClr val="17364A"/>
                </a:solidFill>
                <a:latin typeface="Aptos" pitchFamily="34" charset="0"/>
                <a:ea typeface="Aptos" pitchFamily="34" charset="-122"/>
                <a:cs typeface="Aptos" pitchFamily="34" charset="-120"/>
              </a:rPr>
              <a:t>Produce a workforce readiness and role design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Instead, it increases the need for staff who can translate across program, data,.</a:t>
            </a:r>
            <a:endParaRPr lang="en-US" sz="1380" dirty="0"/>
          </a:p>
          <a:p>
            <a:r>
              <a:rPr lang="en-US" sz="1380" dirty="0">
                <a:solidFill>
                  <a:srgbClr val="17364A"/>
                </a:solidFill>
                <a:latin typeface="Aptos" pitchFamily="34" charset="0"/>
                <a:ea typeface="Aptos" pitchFamily="34" charset="-122"/>
                <a:cs typeface="Aptos" pitchFamily="34" charset="-120"/>
              </a:rPr>
              <a:t>Leaders need a workforce strategy that prepares staff to use, review, govern, and improve.</a:t>
            </a:r>
            <a:endParaRPr lang="en-US" sz="1380" dirty="0"/>
          </a:p>
          <a:p>
            <a:r>
              <a:rPr lang="en-US" sz="1380" dirty="0">
                <a:solidFill>
                  <a:srgbClr val="17364A"/>
                </a:solidFill>
                <a:latin typeface="Aptos" pitchFamily="34" charset="0"/>
                <a:ea typeface="Aptos" pitchFamily="34" charset="-122"/>
                <a:cs typeface="Aptos" pitchFamily="34" charset="-120"/>
              </a:rPr>
              <a:t>This module helps leaders identify AI-related roles and competencies.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2100" dirty="0"/>
          </a:p>
          <a:p>
            <a:r>
              <a:rPr lang="en-US" sz="2100" dirty="0">
                <a:solidFill>
                  <a:srgbClr val="17364A"/>
                </a:solidFill>
                <a:latin typeface="Aptos" pitchFamily="34" charset="0"/>
                <a:ea typeface="Aptos" pitchFamily="34" charset="-122"/>
                <a:cs typeface="Aptos" pitchFamily="34" charset="-120"/>
              </a:rPr>
              <a:t>A model may generate a summary, but an epidemiologist must judge whether the summary is meaningful.</a:t>
            </a:r>
            <a:endParaRPr lang="en-US" sz="2100" dirty="0"/>
          </a:p>
          <a:p>
            <a:r>
              <a:rPr lang="en-US" sz="2100" dirty="0">
                <a:solidFill>
                  <a:srgbClr val="17364A"/>
                </a:solidFill>
                <a:latin typeface="Aptos" pitchFamily="34" charset="0"/>
                <a:ea typeface="Aptos" pitchFamily="34" charset="-122"/>
                <a:cs typeface="Aptos" pitchFamily="34" charset="-120"/>
              </a:rPr>
              <a:t>A vendor may describe a product, but an informatician must assess interoperability and data 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leader may approve a use case, but governance participants must ensure that privacy,.</a:t>
            </a:r>
            <a:endParaRPr lang="en-US" sz="1380" dirty="0"/>
          </a:p>
          <a:p>
            <a:r>
              <a:rPr lang="en-US" sz="1380" dirty="0">
                <a:solidFill>
                  <a:srgbClr val="17364A"/>
                </a:solidFill>
                <a:latin typeface="Aptos" pitchFamily="34" charset="0"/>
                <a:ea typeface="Aptos" pitchFamily="34" charset="-122"/>
                <a:cs typeface="Aptos" pitchFamily="34" charset="-120"/>
              </a:rPr>
              <a:t>Workforce strategy helps agencies move beyond ad hoc training.</a:t>
            </a:r>
            <a:endParaRPr lang="en-US" sz="1380" dirty="0"/>
          </a:p>
          <a:p>
            <a:r>
              <a:rPr lang="en-US" sz="1380" dirty="0">
                <a:solidFill>
                  <a:srgbClr val="17364A"/>
                </a:solidFill>
                <a:latin typeface="Aptos" pitchFamily="34" charset="0"/>
                <a:ea typeface="Aptos" pitchFamily="34" charset="-122"/>
                <a:cs typeface="Aptos" pitchFamily="34" charset="-120"/>
              </a:rPr>
              <a:t>It defines which staff need baseline literacy, which staff need deeper technical skills,.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2100" dirty="0"/>
          </a:p>
          <a:p>
            <a:r>
              <a:rPr lang="en-US" sz="2100" dirty="0">
                <a:solidFill>
                  <a:srgbClr val="17364A"/>
                </a:solidFill>
                <a:latin typeface="Aptos" pitchFamily="34" charset="0"/>
                <a:ea typeface="Aptos" pitchFamily="34" charset="-122"/>
                <a:cs typeface="Aptos" pitchFamily="34" charset="-120"/>
              </a:rPr>
              <a:t>Staff quickly discover that no single role owns all the knowledge needed.</a:t>
            </a:r>
            <a:endParaRPr lang="en-US" sz="2100" dirty="0"/>
          </a:p>
          <a:p>
            <a:r>
              <a:rPr lang="en-US" sz="2100" dirty="0">
                <a:solidFill>
                  <a:srgbClr val="17364A"/>
                </a:solidFill>
                <a:latin typeface="Aptos" pitchFamily="34" charset="0"/>
                <a:ea typeface="Aptos" pitchFamily="34" charset="-122"/>
                <a:cs typeface="Aptos" pitchFamily="34" charset="-120"/>
              </a:rPr>
              <a:t>Program staff understand workflow, IT understands integration, privacy understands data restrictions,.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implements several AI tools: a document assistant, a case.</a:t>
            </a:r>
            <a:endParaRPr lang="en-US" sz="1380" dirty="0"/>
          </a:p>
          <a:p>
            <a:r>
              <a:rPr lang="en-US" sz="1380" dirty="0">
                <a:solidFill>
                  <a:srgbClr val="17364A"/>
                </a:solidFill>
                <a:latin typeface="Aptos" pitchFamily="34" charset="0"/>
                <a:ea typeface="Aptos" pitchFamily="34" charset="-122"/>
                <a:cs typeface="Aptos" pitchFamily="34" charset="-120"/>
              </a:rPr>
              <a:t>Program staff understand workflow, IT understands integration, privacy understands data.</a:t>
            </a:r>
            <a:endParaRPr lang="en-US" sz="1380" dirty="0"/>
          </a:p>
          <a:p>
            <a:r>
              <a:rPr lang="en-US" sz="1380" dirty="0">
                <a:solidFill>
                  <a:srgbClr val="17364A"/>
                </a:solidFill>
                <a:latin typeface="Aptos" pitchFamily="34" charset="0"/>
                <a:ea typeface="Aptos" pitchFamily="34" charset="-122"/>
                <a:cs typeface="Aptos" pitchFamily="34" charset="-120"/>
              </a:rPr>
              <a:t>However, there is no role that connects these perspectives consistently.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workforce strategy should define role groups.</a:t>
            </a:r>
            <a:endParaRPr lang="en-US" sz="2100" dirty="0"/>
          </a:p>
          <a:p>
            <a:r>
              <a:rPr lang="en-US" sz="2100" dirty="0">
                <a:solidFill>
                  <a:srgbClr val="17364A"/>
                </a:solidFill>
                <a:latin typeface="Aptos" pitchFamily="34" charset="0"/>
                <a:ea typeface="Aptos" pitchFamily="34" charset="-122"/>
                <a:cs typeface="Aptos" pitchFamily="34" charset="-120"/>
              </a:rPr>
              <a:t>General staff may need baseline AI literacy, approved-use guidance, and prompt safety.</a:t>
            </a:r>
            <a:endParaRPr lang="en-US" sz="2100" dirty="0"/>
          </a:p>
          <a:p>
            <a:r>
              <a:rPr lang="en-US" sz="2100" dirty="0">
                <a:solidFill>
                  <a:srgbClr val="17364A"/>
                </a:solidFill>
                <a:latin typeface="Aptos" pitchFamily="34" charset="0"/>
                <a:ea typeface="Aptos" pitchFamily="34" charset="-122"/>
                <a:cs typeface="Aptos" pitchFamily="34" charset="-120"/>
              </a:rPr>
              <a:t>Frontline users need workflow-specific training and escalation expectations.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workforce strategy should define role groups.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Supervisors need to support review, feedback, and documentation.</a:t>
            </a:r>
            <a:endParaRPr lang="en-US" sz="1380" dirty="0"/>
          </a:p>
          <a:p>
            <a:r>
              <a:rPr lang="en-US" sz="1380" dirty="0">
                <a:solidFill>
                  <a:srgbClr val="17364A"/>
                </a:solidFill>
                <a:latin typeface="Aptos" pitchFamily="34" charset="0"/>
                <a:ea typeface="Aptos" pitchFamily="34" charset="-122"/>
                <a:cs typeface="Aptos" pitchFamily="34" charset="-120"/>
              </a:rPr>
              <a:t>Program owners need to understand accountability and performance monitoring.</a:t>
            </a:r>
            <a:endParaRPr lang="en-US" sz="1380" dirty="0"/>
          </a:p>
          <a:p>
            <a:r>
              <a:rPr lang="en-US" sz="1380" dirty="0">
                <a:solidFill>
                  <a:srgbClr val="17364A"/>
                </a:solidFill>
                <a:latin typeface="Aptos" pitchFamily="34" charset="0"/>
                <a:ea typeface="Aptos" pitchFamily="34" charset="-122"/>
                <a:cs typeface="Aptos" pitchFamily="34" charset="-120"/>
              </a:rPr>
              <a:t>Technical staff need deeper knowledge of data, architecture, validation, and security.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assuming that AI reduces workforce needs.</a:t>
            </a:r>
            <a:endParaRPr lang="en-US" sz="2100" dirty="0"/>
          </a:p>
          <a:p>
            <a:r>
              <a:rPr lang="en-US" sz="2100" dirty="0">
                <a:solidFill>
                  <a:srgbClr val="17364A"/>
                </a:solidFill>
                <a:latin typeface="Aptos" pitchFamily="34" charset="0"/>
                <a:ea typeface="Aptos" pitchFamily="34" charset="-122"/>
                <a:cs typeface="Aptos" pitchFamily="34" charset="-120"/>
              </a:rPr>
              <a:t>In practice, responsible AI often requires new review, training, documentation, and monitoring work.</a:t>
            </a:r>
            <a:endParaRPr lang="en-US" sz="2100" dirty="0"/>
          </a:p>
          <a:p>
            <a:r>
              <a:rPr lang="en-US" sz="2100" dirty="0">
                <a:solidFill>
                  <a:srgbClr val="17364A"/>
                </a:solidFill>
                <a:latin typeface="Aptos" pitchFamily="34" charset="0"/>
                <a:ea typeface="Aptos" pitchFamily="34" charset="-122"/>
                <a:cs typeface="Aptos" pitchFamily="34" charset="-120"/>
              </a:rPr>
              <a:t>A guardrail is to include workforce impact in every business case and implementation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assuming that AI reduces workforce needs.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risk is uneven access to AI skills.</a:t>
            </a:r>
            <a:endParaRPr lang="en-US" sz="1380" dirty="0"/>
          </a:p>
          <a:p>
            <a:r>
              <a:rPr lang="en-US" sz="1380" dirty="0">
                <a:solidFill>
                  <a:srgbClr val="17364A"/>
                </a:solidFill>
                <a:latin typeface="Aptos" pitchFamily="34" charset="0"/>
                <a:ea typeface="Aptos" pitchFamily="34" charset="-122"/>
                <a:cs typeface="Aptos" pitchFamily="34" charset="-120"/>
              </a:rPr>
              <a:t>Staff in better-resourced programs may receive training first, while others fall behind.</a:t>
            </a:r>
            <a:endParaRPr lang="en-US" sz="1380" dirty="0"/>
          </a:p>
          <a:p>
            <a:r>
              <a:rPr lang="en-US" sz="1380" dirty="0">
                <a:solidFill>
                  <a:srgbClr val="17364A"/>
                </a:solidFill>
                <a:latin typeface="Aptos" pitchFamily="34" charset="0"/>
                <a:ea typeface="Aptos" pitchFamily="34" charset="-122"/>
                <a:cs typeface="Aptos" pitchFamily="34" charset="-120"/>
              </a:rPr>
              <a:t>A guardrail is to create a role-based training plan that includes all relevant staff.</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2100" dirty="0"/>
          </a:p>
          <a:p>
            <a:r>
              <a:rPr lang="en-US" sz="2100" dirty="0">
                <a:solidFill>
                  <a:srgbClr val="17364A"/>
                </a:solidFill>
                <a:latin typeface="Aptos" pitchFamily="34" charset="0"/>
                <a:ea typeface="Aptos" pitchFamily="34" charset="-122"/>
                <a:cs typeface="Aptos" pitchFamily="34" charset="-120"/>
              </a:rPr>
              <a:t>Predictive analytics requires staff who can interpret performance and understand limitations.</a:t>
            </a:r>
            <a:endParaRPr lang="en-US" sz="2100" dirty="0"/>
          </a:p>
          <a:p>
            <a:r>
              <a:rPr lang="en-US" sz="2100" dirty="0">
                <a:solidFill>
                  <a:srgbClr val="17364A"/>
                </a:solidFill>
                <a:latin typeface="Aptos" pitchFamily="34" charset="0"/>
                <a:ea typeface="Aptos" pitchFamily="34" charset="-122"/>
                <a:cs typeface="Aptos" pitchFamily="34" charset="-120"/>
              </a:rPr>
              <a:t>Agentic workflows require staff who can oversee permissions, actions, escalation, and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380" dirty="0"/>
          </a:p>
          <a:p>
            <a:r>
              <a:rPr lang="en-US" sz="1380" dirty="0">
                <a:solidFill>
                  <a:srgbClr val="17364A"/>
                </a:solidFill>
                <a:latin typeface="Aptos" pitchFamily="34" charset="0"/>
                <a:ea typeface="Aptos" pitchFamily="34" charset="-122"/>
                <a:cs typeface="Aptos" pitchFamily="34" charset="-120"/>
              </a:rPr>
              <a:t>Predictive analytics requires staff who can interpret performance and understand.</a:t>
            </a:r>
            <a:endParaRPr lang="en-US" sz="1380" dirty="0"/>
          </a:p>
          <a:p>
            <a:r>
              <a:rPr lang="en-US" sz="1380" dirty="0">
                <a:solidFill>
                  <a:srgbClr val="17364A"/>
                </a:solidFill>
                <a:latin typeface="Aptos" pitchFamily="34" charset="0"/>
                <a:ea typeface="Aptos" pitchFamily="34" charset="-122"/>
                <a:cs typeface="Aptos" pitchFamily="34" charset="-120"/>
              </a:rPr>
              <a:t>Agentic workflows require staff who can oversee permissions, actions, escalation,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role-based AI workforce readiness plan.</a:t>
            </a:r>
            <a:endParaRPr lang="en-US" sz="2100" dirty="0"/>
          </a:p>
          <a:p>
            <a:r>
              <a:rPr lang="en-US" sz="2100" dirty="0">
                <a:solidFill>
                  <a:srgbClr val="17364A"/>
                </a:solidFill>
                <a:latin typeface="Aptos" pitchFamily="34" charset="0"/>
                <a:ea typeface="Aptos" pitchFamily="34" charset="-122"/>
                <a:cs typeface="Aptos" pitchFamily="34" charset="-120"/>
              </a:rPr>
              <a:t>Include role groups, competencies, required training, responsibilities, decision authority, and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role-based AI workforce readiness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role-based AI workforce readiness plan.</a:t>
            </a:r>
            <a:endParaRPr lang="en-US" sz="1380" dirty="0"/>
          </a:p>
          <a:p>
            <a:r>
              <a:rPr lang="en-US" sz="1380" dirty="0">
                <a:solidFill>
                  <a:srgbClr val="17364A"/>
                </a:solidFill>
                <a:latin typeface="Aptos" pitchFamily="34" charset="0"/>
                <a:ea typeface="Aptos" pitchFamily="34" charset="-122"/>
                <a:cs typeface="Aptos" pitchFamily="34" charset="-120"/>
              </a:rPr>
              <a:t>Include role groups, competencies, required training, responsibilities, decision.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Workforce readiness plan; role-based competency matrix; training assignment matrix; AI.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Workforce readiness plan; role-based competency matrix; training assignment matrix; AI.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2026-07-13T02:11:43Z</dcterms:created>
  <dcterms:modified xsi:type="dcterms:W3CDTF">2026-07-13T02:11:43Z</dcterms:modified>
</cp:coreProperties>
</file>