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340 AI Audit Readiness and Evidence Management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governance-and-security, policy, program-management, public-health-executive-leadership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11: Build and Deploy AI Solutions - This lesson informs Play 11 by helping learners connect the lesson topic to build and deploy ai solutions work in the AI Playbook.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this tool to complete or strengthen the practical exercise for the module using fictional, de-identified, or generalized.
Tool 17: Compliance Audit Checklist (Checklist) - Use this tool to complete or strengthen the practical exercise for the module using fictional, de-identified, or generalized.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systems require lifecycle evidence management.
Identify the core records that support AI audit readiness.
Distinguish between approval evidence, validation evidence, operational evidence, and incident evidence.
Create an AI evidence inventory for an approved or proposed use case.
Develop retention, ownership, and review expectations for AI governance artifacts.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an AI tool to help classify public inquiries. Six months later, a concern is raised that the tool may be misclassifying language access requests. Audit-ready evidence would include the approved use case, validation plan, subgroup review, SOP, training records, user override logs, incident reports, vendor documentation, and monitoring results. This evidence allows the agency to investigate the concern and decide whether to modify, pause, or retire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evidence begins at intake. The agency should preserve the use case description, risk triage, required reviewers, approval conditions, and rationale for the decision. If a use case is rejected or deferred, that decision should also be documented. These early records help explain why a tool exists and what limits were placed on its use.
Validation evidence should show how the agency determined whether the AI-supported workflow was fit for purpose. This may include test datasets, evaluation rubrics, accuracy measures, subgroup performance, user acceptance testing, security review, privacy review, accessibility review, and pilot findings. Validation evidence should be understandable to decision-makers, not only technical staff.
Operational evidence should show what happened after deployment. This may include monitoring dashboards, user override rates, error reports, support tickets, incident records, model or prompt changes, vendor updates, SOP revisions, training completion, and governance meeting minutes. Operational evidence is especially important because AI performance and workflow use can change over time.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Evidence management requires ownership and retention rules. Governance bodies should define who stores each artifact, where it is stored, how long it is retained, who can access it, and how evidence is updated when tools change. Audit readiness depends on consistent records, not scattered files and informal emails.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Approvals without records of conditions or rationale.
Validation results stored informally or not retained.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 documentation accepted without agency review or local evidence.
Incidents that cannot be reconstructed because logs or decisions were not preserved.
Public records or audit responses delayed because artifacts are scattered.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Maintain an AI evidence inventory for each approved AI use.
Use decision logs for approvals, deferrals, conditions, changes, and retirement.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Preserve validation, testing, monitoring, training, SOP, and incident records.
Assign artifact ownership and retention expectations.
Review evidence completeness during periodic governance review.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audit readiness evidence inventory for one AI use case. Identify required artifacts from intake through retirement, the owner of each artifact, storage location, retention expectation, update trigger, and current status.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evidence inventory
Decision log template
Artifact ownership and retention table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Gap list for missing evidence
Review schedule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evidence inventory
Decision log template
Artifact ownership and retention table
Gap list for missing evidence
Review schedule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AI audit readiness?
2. Which record should be preserved from AI governance review?
3. What is validation evidence?
4. Why is operational evidence important?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Audit Readiness and Evidence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 what data.</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 review,.</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 the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governance-and-security, policy, program-management, public-health-executive-leadership</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systems require lifecycle evidence management.</a:t>
            </a:r>
            <a:endParaRPr lang="en-US" sz="2100" dirty="0"/>
          </a:p>
          <a:p>
            <a:r>
              <a:rPr lang="en-US" sz="2100" dirty="0">
                <a:solidFill>
                  <a:srgbClr val="17364A"/>
                </a:solidFill>
                <a:latin typeface="Aptos" pitchFamily="34" charset="0"/>
                <a:ea typeface="Aptos" pitchFamily="34" charset="-122"/>
                <a:cs typeface="Aptos" pitchFamily="34" charset="-120"/>
              </a:rPr>
              <a:t>Identify the core records that support AI audit readiness.</a:t>
            </a:r>
            <a:endParaRPr lang="en-US" sz="2100" dirty="0"/>
          </a:p>
          <a:p>
            <a:r>
              <a:rPr lang="en-US" sz="2100" dirty="0">
                <a:solidFill>
                  <a:srgbClr val="17364A"/>
                </a:solidFill>
                <a:latin typeface="Aptos" pitchFamily="34" charset="0"/>
                <a:ea typeface="Aptos" pitchFamily="34" charset="-122"/>
                <a:cs typeface="Aptos" pitchFamily="34" charset="-120"/>
              </a:rPr>
              <a:t>Distinguish between approval evidence, validation evidence, operational evidence, and incident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systems require lifecycle evidence management.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Create an AI evidence inventory for an approved or proposed use case.</a:t>
            </a:r>
            <a:endParaRPr lang="en-US" sz="1380" dirty="0"/>
          </a:p>
          <a:p>
            <a:r>
              <a:rPr lang="en-US" sz="1380" dirty="0">
                <a:solidFill>
                  <a:srgbClr val="17364A"/>
                </a:solidFill>
                <a:latin typeface="Aptos" pitchFamily="34" charset="0"/>
                <a:ea typeface="Aptos" pitchFamily="34" charset="-122"/>
                <a:cs typeface="Aptos" pitchFamily="34" charset="-120"/>
              </a:rPr>
              <a:t>Develop retention, ownership, and review expectations for AI governance artifacts.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audit readiness is the agency’s ability to show what AI systems are used, why they were.</a:t>
            </a:r>
            <a:endParaRPr lang="en-US" sz="1380" dirty="0"/>
          </a:p>
          <a:p>
            <a:r>
              <a:rPr lang="en-US" sz="1380" dirty="0">
                <a:solidFill>
                  <a:srgbClr val="17364A"/>
                </a:solidFill>
                <a:latin typeface="Aptos" pitchFamily="34" charset="0"/>
                <a:ea typeface="Aptos" pitchFamily="34" charset="-122"/>
                <a:cs typeface="Aptos" pitchFamily="34" charset="-120"/>
              </a:rPr>
              <a:t>Public health agencies may need this evidence for internal oversight, public records.</a:t>
            </a:r>
            <a:endParaRPr lang="en-US" sz="1380" dirty="0"/>
          </a:p>
          <a:p>
            <a:r>
              <a:rPr lang="en-US" sz="1380" dirty="0">
                <a:solidFill>
                  <a:srgbClr val="17364A"/>
                </a:solidFill>
                <a:latin typeface="Aptos" pitchFamily="34" charset="0"/>
                <a:ea typeface="Aptos" pitchFamily="34" charset="-122"/>
                <a:cs typeface="Aptos" pitchFamily="34" charset="-120"/>
              </a:rPr>
              <a:t>This module teaches governance, compliance, program, and leadership staff how to manage.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It is not legal advice and does not replace review by agency legal counsel, privacy.</a:t>
            </a:r>
            <a:endParaRPr lang="en-US" sz="1380" dirty="0"/>
          </a:p>
          <a:p>
            <a:r>
              <a:rPr lang="en-US" sz="1380" dirty="0">
                <a:solidFill>
                  <a:srgbClr val="17364A"/>
                </a:solidFill>
                <a:latin typeface="Aptos" pitchFamily="34" charset="0"/>
                <a:ea typeface="Aptos" pitchFamily="34" charset="-122"/>
                <a:cs typeface="Aptos" pitchFamily="34" charset="-120"/>
              </a:rPr>
              <a:t>Requirements may vary by state, locality, territory, Tribe, agency, funding source,.</a:t>
            </a:r>
            <a:endParaRPr lang="en-US" sz="1380" dirty="0"/>
          </a:p>
          <a:p>
            <a:r>
              <a:rPr lang="en-US" sz="1380" dirty="0">
                <a:solidFill>
                  <a:srgbClr val="17364A"/>
                </a:solidFill>
                <a:latin typeface="Aptos" pitchFamily="34" charset="0"/>
                <a:ea typeface="Aptos" pitchFamily="34" charset="-122"/>
                <a:cs typeface="Aptos" pitchFamily="34" charset="-120"/>
              </a:rPr>
              <a:t>Learners should use this module to identify the issues that require review and should.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2100" dirty="0"/>
          </a:p>
          <a:p>
            <a:r>
              <a:rPr lang="en-US" sz="2100" dirty="0">
                <a:solidFill>
                  <a:srgbClr val="17364A"/>
                </a:solidFill>
                <a:latin typeface="Aptos" pitchFamily="34" charset="0"/>
                <a:ea typeface="Aptos" pitchFamily="34" charset="-122"/>
                <a:cs typeface="Aptos" pitchFamily="34" charset="-120"/>
              </a:rPr>
              <a:t>Six months later, a concern is raised that the tool may be misclassifying language access requests.</a:t>
            </a:r>
            <a:endParaRPr lang="en-US" sz="2100" dirty="0"/>
          </a:p>
          <a:p>
            <a:r>
              <a:rPr lang="en-US" sz="2100" dirty="0">
                <a:solidFill>
                  <a:srgbClr val="17364A"/>
                </a:solidFill>
                <a:latin typeface="Aptos" pitchFamily="34" charset="0"/>
                <a:ea typeface="Aptos" pitchFamily="34" charset="-122"/>
                <a:cs typeface="Aptos" pitchFamily="34" charset="-120"/>
              </a:rPr>
              <a:t>Audit-ready evidence would include the approved use case, validation plan, subgroup review, SOP,.</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Audit-ready evidence would include the approved use case, validation plan, subgroup.</a:t>
            </a:r>
            <a:endParaRPr lang="en-US" sz="1380" dirty="0"/>
          </a:p>
          <a:p>
            <a:r>
              <a:rPr lang="en-US" sz="1380" dirty="0">
                <a:solidFill>
                  <a:srgbClr val="17364A"/>
                </a:solidFill>
                <a:latin typeface="Aptos" pitchFamily="34" charset="0"/>
                <a:ea typeface="Aptos" pitchFamily="34" charset="-122"/>
                <a:cs typeface="Aptos" pitchFamily="34" charset="-120"/>
              </a:rPr>
              <a:t>This evidence allows the agency to investigate the concern and decide whether to modify,.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begins at intake.</a:t>
            </a:r>
            <a:endParaRPr lang="en-US" sz="2100" dirty="0"/>
          </a:p>
          <a:p>
            <a:r>
              <a:rPr lang="en-US" sz="2100" dirty="0">
                <a:solidFill>
                  <a:srgbClr val="17364A"/>
                </a:solidFill>
                <a:latin typeface="Aptos" pitchFamily="34" charset="0"/>
                <a:ea typeface="Aptos" pitchFamily="34" charset="-122"/>
                <a:cs typeface="Aptos" pitchFamily="34" charset="-120"/>
              </a:rPr>
              <a:t>The agency should preserve the use case description, risk triage, required reviewers, approval.</a:t>
            </a:r>
            <a:endParaRPr lang="en-US" sz="2100" dirty="0"/>
          </a:p>
          <a:p>
            <a:r>
              <a:rPr lang="en-US" sz="2100" dirty="0">
                <a:solidFill>
                  <a:srgbClr val="17364A"/>
                </a:solidFill>
                <a:latin typeface="Aptos" pitchFamily="34" charset="0"/>
                <a:ea typeface="Aptos" pitchFamily="34" charset="-122"/>
                <a:cs typeface="Aptos" pitchFamily="34" charset="-120"/>
              </a:rPr>
              <a:t>If a use case is rejected or deferred, that decision should also be documented.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begins at intake.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The agency should preserve the use case description, risk triage, required reviewers,.</a:t>
            </a:r>
            <a:endParaRPr lang="en-US" sz="1380" dirty="0"/>
          </a:p>
          <a:p>
            <a:r>
              <a:rPr lang="en-US" sz="1380" dirty="0">
                <a:solidFill>
                  <a:srgbClr val="17364A"/>
                </a:solidFill>
                <a:latin typeface="Aptos" pitchFamily="34" charset="0"/>
                <a:ea typeface="Aptos" pitchFamily="34" charset="-122"/>
                <a:cs typeface="Aptos" pitchFamily="34" charset="-120"/>
              </a:rPr>
              <a:t>These early records help explain why a tool exists and what limits were placed on its use.</a:t>
            </a:r>
            <a:endParaRPr lang="en-US" sz="1380" dirty="0"/>
          </a:p>
          <a:p>
            <a:r>
              <a:rPr lang="en-US" sz="1380" dirty="0">
                <a:solidFill>
                  <a:srgbClr val="17364A"/>
                </a:solidFill>
                <a:latin typeface="Aptos" pitchFamily="34" charset="0"/>
                <a:ea typeface="Aptos" pitchFamily="34" charset="-122"/>
                <a:cs typeface="Aptos" pitchFamily="34" charset="-120"/>
              </a:rPr>
              <a:t>Validation evidence should show how the agency determined whether the AI-supported.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Evidence management requires ownership and retention rules.</a:t>
            </a:r>
            <a:endParaRPr lang="en-US" sz="2100" dirty="0"/>
          </a:p>
          <a:p>
            <a:r>
              <a:rPr lang="en-US" sz="2100" dirty="0">
                <a:solidFill>
                  <a:srgbClr val="17364A"/>
                </a:solidFill>
                <a:latin typeface="Aptos" pitchFamily="34" charset="0"/>
                <a:ea typeface="Aptos" pitchFamily="34" charset="-122"/>
                <a:cs typeface="Aptos" pitchFamily="34" charset="-120"/>
              </a:rPr>
              <a:t>Governance bodies should define who stores each artifact, where it is stored, how long it is retained,.</a:t>
            </a:r>
            <a:endParaRPr lang="en-US" sz="2100" dirty="0"/>
          </a:p>
          <a:p>
            <a:r>
              <a:rPr lang="en-US" sz="2100" dirty="0">
                <a:solidFill>
                  <a:srgbClr val="17364A"/>
                </a:solidFill>
                <a:latin typeface="Aptos" pitchFamily="34" charset="0"/>
                <a:ea typeface="Aptos" pitchFamily="34" charset="-122"/>
                <a:cs typeface="Aptos" pitchFamily="34" charset="-120"/>
              </a:rPr>
              <a:t>Audit readiness depends on consistent records, not scattered files and informal emails.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Evidence management requires ownership and retention rules.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Evidence management requires ownership and retention rules.</a:t>
            </a:r>
            <a:endParaRPr lang="en-US" sz="1380" dirty="0"/>
          </a:p>
          <a:p>
            <a:r>
              <a:rPr lang="en-US" sz="1380" dirty="0">
                <a:solidFill>
                  <a:srgbClr val="17364A"/>
                </a:solidFill>
                <a:latin typeface="Aptos" pitchFamily="34" charset="0"/>
                <a:ea typeface="Aptos" pitchFamily="34" charset="-122"/>
                <a:cs typeface="Aptos" pitchFamily="34" charset="-120"/>
              </a:rPr>
              <a:t>Governance bodies should define who stores each artifact, where it is stored, how long it.</a:t>
            </a:r>
            <a:endParaRPr lang="en-US" sz="1380" dirty="0"/>
          </a:p>
          <a:p>
            <a:r>
              <a:rPr lang="en-US" sz="1380" dirty="0">
                <a:solidFill>
                  <a:srgbClr val="17364A"/>
                </a:solidFill>
                <a:latin typeface="Aptos" pitchFamily="34" charset="0"/>
                <a:ea typeface="Aptos" pitchFamily="34" charset="-122"/>
                <a:cs typeface="Aptos" pitchFamily="34" charset="-120"/>
              </a:rPr>
              <a:t>Audit readiness depends on consistent records, not scattered files and informal emails.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Approvals without records of conditions or rationale.</a:t>
            </a:r>
            <a:endParaRPr lang="en-US" sz="2100" dirty="0"/>
          </a:p>
          <a:p>
            <a:r>
              <a:rPr lang="en-US" sz="2100" dirty="0">
                <a:solidFill>
                  <a:srgbClr val="17364A"/>
                </a:solidFill>
                <a:latin typeface="Aptos" pitchFamily="34" charset="0"/>
                <a:ea typeface="Aptos" pitchFamily="34" charset="-122"/>
                <a:cs typeface="Aptos" pitchFamily="34" charset="-120"/>
              </a:rPr>
              <a:t>Validation results stored informally or not retained.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Risks and failure modes include the following:</a:t>
            </a:r>
            <a:endParaRPr lang="en-US" sz="1380" dirty="0"/>
          </a:p>
          <a:p>
            <a:r>
              <a:rPr lang="en-US" sz="1380" dirty="0">
                <a:solidFill>
                  <a:srgbClr val="17364A"/>
                </a:solidFill>
                <a:latin typeface="Aptos" pitchFamily="34" charset="0"/>
                <a:ea typeface="Aptos" pitchFamily="34" charset="-122"/>
                <a:cs typeface="Aptos" pitchFamily="34" charset="-120"/>
              </a:rPr>
              <a:t>Approvals without records of conditions or rationale.</a:t>
            </a:r>
            <a:endParaRPr lang="en-US" sz="1380" dirty="0"/>
          </a:p>
          <a:p>
            <a:r>
              <a:rPr lang="en-US" sz="1380" dirty="0">
                <a:solidFill>
                  <a:srgbClr val="17364A"/>
                </a:solidFill>
                <a:latin typeface="Aptos" pitchFamily="34" charset="0"/>
                <a:ea typeface="Aptos" pitchFamily="34" charset="-122"/>
                <a:cs typeface="Aptos" pitchFamily="34" charset="-120"/>
              </a:rPr>
              <a:t>Validation results stored informally or not retained.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2100" dirty="0"/>
          </a:p>
          <a:p>
            <a:r>
              <a:rPr lang="en-US" sz="2100" dirty="0">
                <a:solidFill>
                  <a:srgbClr val="17364A"/>
                </a:solidFill>
                <a:latin typeface="Aptos" pitchFamily="34" charset="0"/>
                <a:ea typeface="Aptos" pitchFamily="34" charset="-122"/>
                <a:cs typeface="Aptos" pitchFamily="34" charset="-120"/>
              </a:rPr>
              <a:t>Incidents that cannot be reconstructed because logs or decisions were not preserved.</a:t>
            </a:r>
            <a:endParaRPr lang="en-US" sz="2100" dirty="0"/>
          </a:p>
          <a:p>
            <a:r>
              <a:rPr lang="en-US" sz="2100" dirty="0">
                <a:solidFill>
                  <a:srgbClr val="17364A"/>
                </a:solidFill>
                <a:latin typeface="Aptos" pitchFamily="34" charset="0"/>
                <a:ea typeface="Aptos" pitchFamily="34" charset="-122"/>
                <a:cs typeface="Aptos" pitchFamily="34" charset="-120"/>
              </a:rPr>
              <a:t>Public records or audit responses delayed because artifacts are scattered.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1380" dirty="0"/>
          </a:p>
          <a:p>
            <a:r>
              <a:rPr lang="en-US" sz="1380" dirty="0">
                <a:solidFill>
                  <a:srgbClr val="17364A"/>
                </a:solidFill>
                <a:latin typeface="Aptos" pitchFamily="34" charset="0"/>
                <a:ea typeface="Aptos" pitchFamily="34" charset="-122"/>
                <a:cs typeface="Aptos" pitchFamily="34" charset="-120"/>
              </a:rPr>
              <a:t>Incidents that cannot be reconstructed because logs or decisions were not preserved.</a:t>
            </a:r>
            <a:endParaRPr lang="en-US" sz="1380" dirty="0"/>
          </a:p>
          <a:p>
            <a:r>
              <a:rPr lang="en-US" sz="1380" dirty="0">
                <a:solidFill>
                  <a:srgbClr val="17364A"/>
                </a:solidFill>
                <a:latin typeface="Aptos" pitchFamily="34" charset="0"/>
                <a:ea typeface="Aptos" pitchFamily="34" charset="-122"/>
                <a:cs typeface="Aptos" pitchFamily="34" charset="-120"/>
              </a:rPr>
              <a:t>Public records or audit responses delayed because artifacts are scattered.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Maintain an AI evidence inventory for each approved AI use.</a:t>
            </a:r>
            <a:endParaRPr lang="en-US" sz="2100" dirty="0"/>
          </a:p>
          <a:p>
            <a:r>
              <a:rPr lang="en-US" sz="2100" dirty="0">
                <a:solidFill>
                  <a:srgbClr val="17364A"/>
                </a:solidFill>
                <a:latin typeface="Aptos" pitchFamily="34" charset="0"/>
                <a:ea typeface="Aptos" pitchFamily="34" charset="-122"/>
                <a:cs typeface="Aptos" pitchFamily="34" charset="-120"/>
              </a:rPr>
              <a:t>Use decision logs for approvals, deferrals, conditions, changes, and retirement.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Recommended guardrails include the following:</a:t>
            </a:r>
            <a:endParaRPr lang="en-US" sz="1380" dirty="0"/>
          </a:p>
          <a:p>
            <a:r>
              <a:rPr lang="en-US" sz="1380" dirty="0">
                <a:solidFill>
                  <a:srgbClr val="17364A"/>
                </a:solidFill>
                <a:latin typeface="Aptos" pitchFamily="34" charset="0"/>
                <a:ea typeface="Aptos" pitchFamily="34" charset="-122"/>
                <a:cs typeface="Aptos" pitchFamily="34" charset="-120"/>
              </a:rPr>
              <a:t>Maintain an AI evidence inventory for each approved AI use.</a:t>
            </a:r>
            <a:endParaRPr lang="en-US" sz="1380" dirty="0"/>
          </a:p>
          <a:p>
            <a:r>
              <a:rPr lang="en-US" sz="1380" dirty="0">
                <a:solidFill>
                  <a:srgbClr val="17364A"/>
                </a:solidFill>
                <a:latin typeface="Aptos" pitchFamily="34" charset="0"/>
                <a:ea typeface="Aptos" pitchFamily="34" charset="-122"/>
                <a:cs typeface="Aptos" pitchFamily="34" charset="-120"/>
              </a:rPr>
              <a:t>Use decision logs for approvals, deferrals, conditions, changes, and retirement.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2100" dirty="0"/>
          </a:p>
          <a:p>
            <a:r>
              <a:rPr lang="en-US" sz="2100" dirty="0">
                <a:solidFill>
                  <a:srgbClr val="17364A"/>
                </a:solidFill>
                <a:latin typeface="Aptos" pitchFamily="34" charset="0"/>
                <a:ea typeface="Aptos" pitchFamily="34" charset="-122"/>
                <a:cs typeface="Aptos" pitchFamily="34" charset="-120"/>
              </a:rPr>
              <a:t>Assign artifact ownership and retention expectations.</a:t>
            </a:r>
            <a:endParaRPr lang="en-US" sz="2100" dirty="0"/>
          </a:p>
          <a:p>
            <a:r>
              <a:rPr lang="en-US" sz="2100" dirty="0">
                <a:solidFill>
                  <a:srgbClr val="17364A"/>
                </a:solidFill>
                <a:latin typeface="Aptos" pitchFamily="34" charset="0"/>
                <a:ea typeface="Aptos" pitchFamily="34" charset="-122"/>
                <a:cs typeface="Aptos" pitchFamily="34" charset="-120"/>
              </a:rPr>
              <a:t>Review evidence completeness during periodic governance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1380" dirty="0"/>
          </a:p>
          <a:p>
            <a:r>
              <a:rPr lang="en-US" sz="1380" dirty="0">
                <a:solidFill>
                  <a:srgbClr val="17364A"/>
                </a:solidFill>
                <a:latin typeface="Aptos" pitchFamily="34" charset="0"/>
                <a:ea typeface="Aptos" pitchFamily="34" charset="-122"/>
                <a:cs typeface="Aptos" pitchFamily="34" charset="-120"/>
              </a:rPr>
              <a:t>Assign artifact ownership and retention expectations.</a:t>
            </a:r>
            <a:endParaRPr lang="en-US" sz="1380" dirty="0"/>
          </a:p>
          <a:p>
            <a:r>
              <a:rPr lang="en-US" sz="1380" dirty="0">
                <a:solidFill>
                  <a:srgbClr val="17364A"/>
                </a:solidFill>
                <a:latin typeface="Aptos" pitchFamily="34" charset="0"/>
                <a:ea typeface="Aptos" pitchFamily="34" charset="-122"/>
                <a:cs typeface="Aptos" pitchFamily="34" charset="-120"/>
              </a:rPr>
              <a:t>Review evidence completeness during periodic governance review.</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380" dirty="0"/>
          </a:p>
          <a:p>
            <a:r>
              <a:rPr lang="en-US" sz="138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1380" dirty="0"/>
          </a:p>
          <a:p>
            <a:r>
              <a:rPr lang="en-US" sz="138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380" dirty="0"/>
          </a:p>
          <a:p>
            <a:r>
              <a:rPr lang="en-US" sz="138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2100" dirty="0"/>
          </a:p>
          <a:p>
            <a:r>
              <a:rPr lang="en-US" sz="2100" dirty="0">
                <a:solidFill>
                  <a:srgbClr val="17364A"/>
                </a:solidFill>
                <a:latin typeface="Aptos" pitchFamily="34" charset="0"/>
                <a:ea typeface="Aptos" pitchFamily="34" charset="-122"/>
                <a:cs typeface="Aptos" pitchFamily="34" charset="-120"/>
              </a:rPr>
              <a:t>Identify required artifacts from intake through retirement, the owner of each artifact, storage.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1380" dirty="0"/>
          </a:p>
          <a:p>
            <a:r>
              <a:rPr lang="en-US" sz="1380" dirty="0">
                <a:solidFill>
                  <a:srgbClr val="17364A"/>
                </a:solidFill>
                <a:latin typeface="Aptos" pitchFamily="34" charset="0"/>
                <a:ea typeface="Aptos" pitchFamily="34" charset="-122"/>
                <a:cs typeface="Aptos" pitchFamily="34" charset="-120"/>
              </a:rPr>
              <a:t>Identify required artifacts from intake through retirement, the owner of each artifact,.</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evidence inventory</a:t>
            </a:r>
            <a:endParaRPr lang="en-US" sz="1380" dirty="0"/>
          </a:p>
          <a:p>
            <a:r>
              <a:rPr lang="en-US" sz="1380" dirty="0">
                <a:solidFill>
                  <a:srgbClr val="17364A"/>
                </a:solidFill>
                <a:latin typeface="Aptos" pitchFamily="34" charset="0"/>
                <a:ea typeface="Aptos" pitchFamily="34" charset="-122"/>
                <a:cs typeface="Aptos" pitchFamily="34" charset="-120"/>
              </a:rPr>
              <a:t>Decision log template</a:t>
            </a:r>
            <a:endParaRPr lang="en-US" sz="1380" dirty="0"/>
          </a:p>
          <a:p>
            <a:r>
              <a:rPr lang="en-US" sz="1380" dirty="0">
                <a:solidFill>
                  <a:srgbClr val="17364A"/>
                </a:solidFill>
                <a:latin typeface="Aptos" pitchFamily="34" charset="0"/>
                <a:ea typeface="Aptos" pitchFamily="34" charset="-122"/>
                <a:cs typeface="Aptos" pitchFamily="34" charset="-120"/>
              </a:rPr>
              <a:t>Artifact ownership and retention table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Gap list for missing evidence</a:t>
            </a:r>
            <a:endParaRPr lang="en-US" sz="2100" dirty="0"/>
          </a:p>
          <a:p>
            <a:r>
              <a:rPr lang="en-US" sz="2100" dirty="0">
                <a:solidFill>
                  <a:srgbClr val="17364A"/>
                </a:solidFill>
                <a:latin typeface="Aptos" pitchFamily="34" charset="0"/>
                <a:ea typeface="Aptos" pitchFamily="34" charset="-122"/>
                <a:cs typeface="Aptos" pitchFamily="34" charset="-120"/>
              </a:rPr>
              <a:t>Review schedule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Gap list for missing evidence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Gap list for missing evidence</a:t>
            </a:r>
            <a:endParaRPr lang="en-US" sz="1380" dirty="0"/>
          </a:p>
          <a:p>
            <a:r>
              <a:rPr lang="en-US" sz="1380" dirty="0">
                <a:solidFill>
                  <a:srgbClr val="17364A"/>
                </a:solidFill>
                <a:latin typeface="Aptos" pitchFamily="34" charset="0"/>
                <a:ea typeface="Aptos" pitchFamily="34" charset="-122"/>
                <a:cs typeface="Aptos" pitchFamily="34" charset="-120"/>
              </a:rPr>
              <a:t>Review schedule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Gap list for missing evidence</a:t>
            </a:r>
            <a:endParaRPr lang="en-US" sz="1380" dirty="0"/>
          </a:p>
          <a:p>
            <a:r>
              <a:rPr lang="en-US" sz="1380" dirty="0">
                <a:solidFill>
                  <a:srgbClr val="17364A"/>
                </a:solidFill>
                <a:latin typeface="Aptos" pitchFamily="34" charset="0"/>
                <a:ea typeface="Aptos" pitchFamily="34" charset="-122"/>
                <a:cs typeface="Aptos" pitchFamily="34" charset="-120"/>
              </a:rPr>
              <a:t>Review schedule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AI audit readiness?</a:t>
            </a:r>
            <a:endParaRPr lang="en-US" sz="2100" dirty="0"/>
          </a:p>
          <a:p>
            <a:r>
              <a:rPr lang="en-US" sz="2100" dirty="0">
                <a:solidFill>
                  <a:srgbClr val="17364A"/>
                </a:solidFill>
                <a:latin typeface="Aptos" pitchFamily="34" charset="0"/>
                <a:ea typeface="Aptos" pitchFamily="34" charset="-122"/>
                <a:cs typeface="Aptos" pitchFamily="34" charset="-120"/>
              </a:rPr>
              <a:t>2. Which record should be preserved from AI governance review?</a:t>
            </a:r>
            <a:endParaRPr lang="en-US" sz="2100" dirty="0"/>
          </a:p>
          <a:p>
            <a:r>
              <a:rPr lang="en-US" sz="2100" dirty="0">
                <a:solidFill>
                  <a:srgbClr val="17364A"/>
                </a:solidFill>
                <a:latin typeface="Aptos" pitchFamily="34" charset="0"/>
                <a:ea typeface="Aptos" pitchFamily="34" charset="-122"/>
                <a:cs typeface="Aptos" pitchFamily="34" charset="-120"/>
              </a:rPr>
              <a:t>3. What is validation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AI audit readiness?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AI audit readiness?</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OWASP guidance for LLM application security</a:t>
            </a:r>
            <a:endParaRPr lang="en-US" sz="1380" dirty="0"/>
          </a:p>
          <a:p>
            <a:r>
              <a:rPr lang="en-US" sz="1380" dirty="0">
                <a:solidFill>
                  <a:srgbClr val="17364A"/>
                </a:solidFill>
                <a:latin typeface="Aptos" pitchFamily="34" charset="0"/>
                <a:ea typeface="Aptos" pitchFamily="34" charset="-122"/>
                <a:cs typeface="Aptos" pitchFamily="34" charset="-120"/>
              </a:rPr>
              <a:t>Agency policies for privacy, cybersecurity, records, procurement, accessibility, and.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Audit Readiness and Evidence Management</dc:title>
  <dc:subject>AI Audit Readiness and Evidence Management learning module</dc:subject>
  <dc:creator>Paula Soper</dc:creator>
  <cp:lastModifiedBy>Paula Soper</cp:lastModifiedBy>
  <cp:revision>1</cp:revision>
  <dcterms:created xsi:type="dcterms:W3CDTF">2026-07-13T02:11:43Z</dcterms:created>
  <dcterms:modified xsi:type="dcterms:W3CDTF">2026-07-13T02:11:43Z</dcterms:modified>
</cp:coreProperties>
</file>