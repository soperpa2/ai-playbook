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360 Third-Party AI Risk Management
This module focuses on ongoing oversight of vendors, subcontractors, data rights, model updates, and exit plans.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Governance and Security Track
Appears in tracks: governance-security, technical-architecture, program-management
This module focuses on ongoing oversight of vendors, subcontractors, data rights, model updates, and exit plans.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3: Establish AI Governance - This lesson informs Play 3 by helping learners connect the lesson topic to establish ai governance work in the AI Playbook sequence.
Play 8: Develop a Funding Strategy - This lesson informs Play 8 by helping learners connect the lesson topic to develop a funding strategy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32: Vendor Evaluation Checklist (Checklist) - Use this tool to complete or strengthen the practical exercise for the module using fictional, de-identified, or generalized.
Tool 34: STLT AI Procurement and Vendor Addendum (Checklist) - Use this tool to complete or strengthen the practical exercise for the module using fictional, de-identified, or generalized.
Tool 1: AI Vision &amp; Principles Workshop (Workshop) - Use AI Vision &amp; Principles Workshop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third-party ai risk management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ongoing oversight of vendors, subcontractors, data rights, model updates, and exit plans.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Third-Party AI Risk Management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ongoing oversight of vendors, subcontractors, data rights, model updates, and exit plans.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third-party ai risk management artifact for one AI-supported public health use case. The artifact should define the use case, affected roles, review criteria, safeguards, documentation expectations, escalation triggers, monitoring indicators, and next review date.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Third-Party AI Risk Management artifact
Role and responsibility table
Risk and safeguard summary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Third-Party AI Risk Management artifact
Role and responsibility table
Risk and safeguard summary
Escalation and monitoring plan
Approval or review note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third-party ai risk management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360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Third-Party AI Risk Management</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focuses on ongoing oversight of vendors, subcontractors, data rights, model updates, and exit plans.</a:t>
            </a:r>
            <a:endParaRPr lang="en-US" sz="2100" dirty="0"/>
          </a:p>
          <a:p>
            <a:r>
              <a:rPr lang="en-US" sz="21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 decisions,.</a:t>
            </a:r>
            <a:endParaRPr lang="en-US" sz="2100" dirty="0"/>
          </a:p>
          <a:p>
            <a:r>
              <a:rPr lang="en-US" sz="21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 used in.</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intermediate/practitioner</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Governance and Security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governance-security, technical-architecture, program-management</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Shape 13"/>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7" name="Shape 15"/>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8: Develop a Funding Strategy - This lesson informs Play 8 by helping learners connect the lesson topic.</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7" name="Shape 15"/>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32: Vendor Evaluation Checklist (Checklist) - Use this tool to complete or strengthen the practical.</a:t>
            </a:r>
            <a:endParaRPr lang="en-US" sz="1850" dirty="0"/>
          </a:p>
          <a:p>
            <a:r>
              <a:rPr lang="en-US" sz="1850" dirty="0">
                <a:solidFill>
                  <a:srgbClr val="17364A"/>
                </a:solidFill>
                <a:latin typeface="Aptos" pitchFamily="34" charset="0"/>
                <a:ea typeface="Aptos" pitchFamily="34" charset="-122"/>
                <a:cs typeface="Aptos" pitchFamily="34" charset="-120"/>
              </a:rPr>
              <a:t>Tool 34: STLT AI Procurement and Vendor Addendum (Checklist)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1: AI Vision &amp; Principles Workshop (Workshop) - Use AI Vision &amp; Principles Workshop to translate this.</a:t>
            </a:r>
            <a:endParaRPr lang="en-US" sz="1850" dirty="0"/>
          </a:p>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7" name="Shape 15"/>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the purpose of third-party ai risk management in public health AI.</a:t>
            </a:r>
            <a:endParaRPr lang="en-US" sz="2100" dirty="0"/>
          </a:p>
          <a:p>
            <a:r>
              <a:rPr lang="en-US" sz="2100" dirty="0">
                <a:solidFill>
                  <a:srgbClr val="17364A"/>
                </a:solidFill>
                <a:latin typeface="Aptos" pitchFamily="34" charset="0"/>
                <a:ea typeface="Aptos" pitchFamily="34" charset="-122"/>
                <a:cs typeface="Aptos" pitchFamily="34" charset="-120"/>
              </a:rPr>
              <a:t>Identify the roles, decisions, risks, and documentation needed for the topic.</a:t>
            </a:r>
            <a:endParaRPr lang="en-US" sz="2100" dirty="0"/>
          </a:p>
          <a:p>
            <a:r>
              <a:rPr lang="en-US" sz="2100" dirty="0">
                <a:solidFill>
                  <a:srgbClr val="17364A"/>
                </a:solidFill>
                <a:latin typeface="Aptos" pitchFamily="34" charset="0"/>
                <a:ea typeface="Aptos" pitchFamily="34" charset="-122"/>
                <a:cs typeface="Aptos" pitchFamily="34" charset="-120"/>
              </a:rPr>
              <a:t>Apply the topic to a real or realistic public health workflow or decision.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the purpose of third-party ai risk management in public health AI.</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focuses on ongoing oversight of vendors, subcontractors, data rights, model updates, and.</a:t>
            </a:r>
            <a:endParaRPr lang="en-US" sz="2100" dirty="0"/>
          </a:p>
          <a:p>
            <a:r>
              <a:rPr lang="en-US" sz="21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a:t>
            </a:r>
            <a:endParaRPr lang="en-US" sz="2100" dirty="0"/>
          </a:p>
          <a:p>
            <a:r>
              <a:rPr lang="en-US" sz="21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focuses on ongoing oversight of vendors, subcontractors, data rights, model updates, and.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Decision right: The authority to approve, deny, modify, pause, or escalate an AI use case or.</a:t>
            </a:r>
            <a:endParaRPr lang="en-US" sz="2100" dirty="0"/>
          </a:p>
          <a:p>
            <a:r>
              <a:rPr lang="en-US" sz="2100" dirty="0">
                <a:solidFill>
                  <a:srgbClr val="17364A"/>
                </a:solidFill>
                <a:latin typeface="Aptos" pitchFamily="34" charset="0"/>
                <a:ea typeface="Aptos" pitchFamily="34" charset="-122"/>
                <a:cs typeface="Aptos" pitchFamily="34" charset="-120"/>
              </a:rPr>
              <a:t>Evidence artifact: A document, log, checklist, test result, approval record, or review note that.</a:t>
            </a:r>
            <a:endParaRPr lang="en-US" sz="2100" dirty="0"/>
          </a:p>
          <a:p>
            <a:r>
              <a:rPr lang="en-US" sz="2100" dirty="0">
                <a:solidFill>
                  <a:srgbClr val="17364A"/>
                </a:solidFill>
                <a:latin typeface="Aptos" pitchFamily="34" charset="0"/>
                <a:ea typeface="Aptos" pitchFamily="34" charset="-122"/>
                <a:cs typeface="Aptos" pitchFamily="34" charset="-120"/>
              </a:rPr>
              <a:t>Escalation pathway: A defined route for raising concerns to the appropriate reviewer or decision-maker.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Decision right: The authority to approve, deny, modify, pause, or escalate an AI use case or.</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2100" dirty="0"/>
          </a:p>
          <a:p>
            <a:r>
              <a:rPr lang="en-US" sz="2100" dirty="0">
                <a:solidFill>
                  <a:srgbClr val="17364A"/>
                </a:solidFill>
                <a:latin typeface="Aptos" pitchFamily="34" charset="0"/>
                <a:ea typeface="Aptos" pitchFamily="34" charset="-122"/>
                <a:cs typeface="Aptos" pitchFamily="34" charset="-120"/>
              </a:rPr>
              <a:t>It is not legal advice and does not replace review by agency legal counsel, privacy officers,.</a:t>
            </a:r>
            <a:endParaRPr lang="en-US" sz="2100" dirty="0"/>
          </a:p>
          <a:p>
            <a:r>
              <a:rPr lang="en-US" sz="2100" dirty="0">
                <a:solidFill>
                  <a:srgbClr val="17364A"/>
                </a:solidFill>
                <a:latin typeface="Aptos" pitchFamily="34" charset="0"/>
                <a:ea typeface="Aptos" pitchFamily="34" charset="-122"/>
                <a:cs typeface="Aptos" pitchFamily="34" charset="-120"/>
              </a:rPr>
              <a:t>Requirements may vary by state, locality, territory, Tribe, agency, funding source, data-sharing.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Third-Party AI Risk Management matters because AI adoption changes how public health agencies make,.</a:t>
            </a:r>
            <a:endParaRPr lang="en-US" sz="2100" dirty="0"/>
          </a:p>
          <a:p>
            <a:r>
              <a:rPr lang="en-US" sz="2100" dirty="0">
                <a:solidFill>
                  <a:srgbClr val="17364A"/>
                </a:solidFill>
                <a:latin typeface="Aptos" pitchFamily="34" charset="0"/>
                <a:ea typeface="Aptos" pitchFamily="34" charset="-122"/>
                <a:cs typeface="Aptos" pitchFamily="34" charset="-120"/>
              </a:rPr>
              <a:t>Without a structured approach, staff may rely on informal practices, vendor assurances, or one-time.</a:t>
            </a:r>
            <a:endParaRPr lang="en-US" sz="2100" dirty="0"/>
          </a:p>
          <a:p>
            <a:r>
              <a:rPr lang="en-US" sz="2100" dirty="0">
                <a:solidFill>
                  <a:srgbClr val="17364A"/>
                </a:solidFill>
                <a:latin typeface="Aptos" pitchFamily="34" charset="0"/>
                <a:ea typeface="Aptos" pitchFamily="34" charset="-122"/>
                <a:cs typeface="Aptos" pitchFamily="34" charset="-120"/>
              </a:rPr>
              <a:t>Public health agencies operate under legal authorities, public accountability, resource constraints,.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Third-Party AI Risk Management matters because AI adoption changes how public health agencies make,.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public health agency is preparing to use AI in a workflow related to ongoing oversight of vendors,.</a:t>
            </a:r>
            <a:endParaRPr lang="en-US" sz="2100" dirty="0"/>
          </a:p>
          <a:p>
            <a:r>
              <a:rPr lang="en-US" sz="2100" dirty="0">
                <a:solidFill>
                  <a:srgbClr val="17364A"/>
                </a:solidFill>
                <a:latin typeface="Aptos" pitchFamily="34" charset="0"/>
                <a:ea typeface="Aptos" pitchFamily="34" charset="-122"/>
                <a:cs typeface="Aptos" pitchFamily="34" charset="-120"/>
              </a:rPr>
              <a:t>The project team initially treats the tool as a helpful efficiency aid, but governance reviewers.</a:t>
            </a:r>
            <a:endParaRPr lang="en-US" sz="2100" dirty="0"/>
          </a:p>
          <a:p>
            <a:r>
              <a:rPr lang="en-US" sz="2100" dirty="0">
                <a:solidFill>
                  <a:srgbClr val="17364A"/>
                </a:solidFill>
                <a:latin typeface="Aptos" pitchFamily="34" charset="0"/>
                <a:ea typeface="Aptos" pitchFamily="34" charset="-122"/>
                <a:cs typeface="Aptos" pitchFamily="34" charset="-120"/>
              </a:rPr>
              <a:t>The agency responds by creating a clear artifact that defines intended use, prohibited use, responsible.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public health agency is preparing to use AI in a workflow related to ongoing oversight of vendors,.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2100" dirty="0"/>
          </a:p>
          <a:p>
            <a:r>
              <a:rPr lang="en-US" sz="2100" dirty="0">
                <a:solidFill>
                  <a:srgbClr val="17364A"/>
                </a:solidFill>
                <a:latin typeface="Aptos" pitchFamily="34" charset="0"/>
                <a:ea typeface="Aptos" pitchFamily="34" charset="-122"/>
                <a:cs typeface="Aptos" pitchFamily="34" charset="-120"/>
              </a:rPr>
              <a:t>Staff should identify who is affected, what data are used, what AI output is produced, who reviews the.</a:t>
            </a:r>
            <a:endParaRPr lang="en-US" sz="2100" dirty="0"/>
          </a:p>
          <a:p>
            <a:r>
              <a:rPr lang="en-US" sz="2100" dirty="0">
                <a:solidFill>
                  <a:srgbClr val="17364A"/>
                </a:solidFill>
                <a:latin typeface="Aptos" pitchFamily="34" charset="0"/>
                <a:ea typeface="Aptos" pitchFamily="34" charset="-122"/>
                <a:cs typeface="Aptos" pitchFamily="34" charset="-120"/>
              </a:rPr>
              <a:t>This prevents the module from becoming abstract and anchors the work in public health practice.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2100" dirty="0"/>
          </a:p>
          <a:p>
            <a:r>
              <a:rPr lang="en-US" sz="2100" dirty="0">
                <a:solidFill>
                  <a:srgbClr val="17364A"/>
                </a:solidFill>
                <a:latin typeface="Aptos" pitchFamily="34" charset="0"/>
                <a:ea typeface="Aptos" pitchFamily="34" charset="-122"/>
                <a:cs typeface="Aptos" pitchFamily="34" charset="-120"/>
              </a:rPr>
              <a:t>AI risks can change when data sources, models, vendors, policies, users, or public expectations change.</a:t>
            </a:r>
            <a:endParaRPr lang="en-US" sz="2100" dirty="0"/>
          </a:p>
          <a:p>
            <a:r>
              <a:rPr lang="en-US" sz="2100" dirty="0">
                <a:solidFill>
                  <a:srgbClr val="17364A"/>
                </a:solidFill>
                <a:latin typeface="Aptos" pitchFamily="34" charset="0"/>
                <a:ea typeface="Aptos" pitchFamily="34" charset="-122"/>
                <a:cs typeface="Aptos" pitchFamily="34" charset="-120"/>
              </a:rPr>
              <a:t>A guardrail is to define review intervals and change triggers.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2100" dirty="0"/>
          </a:p>
          <a:p>
            <a:r>
              <a:rPr lang="en-US" sz="2100" dirty="0">
                <a:solidFill>
                  <a:srgbClr val="17364A"/>
                </a:solidFill>
                <a:latin typeface="Aptos" pitchFamily="34" charset="0"/>
                <a:ea typeface="Aptos" pitchFamily="34" charset="-122"/>
                <a:cs typeface="Aptos" pitchFamily="34" charset="-120"/>
              </a:rPr>
              <a:t>The more sensitive the data, the more consequential the output, or the more automated the action, the.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public health decision or workflow does this topic affect?</a:t>
            </a:r>
            <a:endParaRPr lang="en-US" sz="2100" dirty="0"/>
          </a:p>
          <a:p>
            <a:r>
              <a:rPr lang="en-US" sz="2100" dirty="0">
                <a:solidFill>
                  <a:srgbClr val="17364A"/>
                </a:solidFill>
                <a:latin typeface="Aptos" pitchFamily="34" charset="0"/>
                <a:ea typeface="Aptos" pitchFamily="34" charset="-122"/>
                <a:cs typeface="Aptos" pitchFamily="34" charset="-120"/>
              </a:rPr>
              <a:t>Who has authority to approve or pause the work?</a:t>
            </a:r>
            <a:endParaRPr lang="en-US" sz="2100" dirty="0"/>
          </a:p>
          <a:p>
            <a:r>
              <a:rPr lang="en-US" sz="2100" dirty="0">
                <a:solidFill>
                  <a:srgbClr val="17364A"/>
                </a:solidFill>
                <a:latin typeface="Aptos" pitchFamily="34" charset="0"/>
                <a:ea typeface="Aptos" pitchFamily="34" charset="-122"/>
                <a:cs typeface="Aptos" pitchFamily="34" charset="-120"/>
              </a:rPr>
              <a:t>What evidence would show that the workflow is responsible and effective?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public health decision or workflow does this topic affect?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2100" dirty="0"/>
          </a:p>
          <a:p>
            <a:r>
              <a:rPr lang="en-US" sz="2100" dirty="0">
                <a:solidFill>
                  <a:srgbClr val="17364A"/>
                </a:solidFill>
                <a:latin typeface="Aptos" pitchFamily="34" charset="0"/>
                <a:ea typeface="Aptos" pitchFamily="34" charset="-122"/>
                <a:cs typeface="Aptos" pitchFamily="34" charset="-120"/>
              </a:rPr>
              <a:t>How will the agency know when the workflow needs to be revised?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practical third-party ai risk management artifact for one AI-supported public health use case.</a:t>
            </a:r>
            <a:endParaRPr lang="en-US" sz="2100" dirty="0"/>
          </a:p>
          <a:p>
            <a:r>
              <a:rPr lang="en-US" sz="2100" dirty="0">
                <a:solidFill>
                  <a:srgbClr val="17364A"/>
                </a:solidFill>
                <a:latin typeface="Aptos" pitchFamily="34" charset="0"/>
                <a:ea typeface="Aptos" pitchFamily="34" charset="-122"/>
                <a:cs typeface="Aptos" pitchFamily="34" charset="-120"/>
              </a:rPr>
              <a:t>The artifact should define the use case, affected roles, review criteria, safeguards, documentation.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practical third-party ai risk management artifact for one AI-supported public health use case.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Third-Party AI Risk Management artifact</a:t>
            </a:r>
            <a:endParaRPr lang="en-US" sz="2100" dirty="0"/>
          </a:p>
          <a:p>
            <a:r>
              <a:rPr lang="en-US" sz="2100" dirty="0">
                <a:solidFill>
                  <a:srgbClr val="17364A"/>
                </a:solidFill>
                <a:latin typeface="Aptos" pitchFamily="34" charset="0"/>
                <a:ea typeface="Aptos" pitchFamily="34" charset="-122"/>
                <a:cs typeface="Aptos" pitchFamily="34" charset="-120"/>
              </a:rPr>
              <a:t>Role and responsibility table</a:t>
            </a:r>
            <a:endParaRPr lang="en-US" sz="2100" dirty="0"/>
          </a:p>
          <a:p>
            <a:r>
              <a:rPr lang="en-US" sz="2100" dirty="0">
                <a:solidFill>
                  <a:srgbClr val="17364A"/>
                </a:solidFill>
                <a:latin typeface="Aptos" pitchFamily="34" charset="0"/>
                <a:ea typeface="Aptos" pitchFamily="34" charset="-122"/>
                <a:cs typeface="Aptos" pitchFamily="34" charset="-120"/>
              </a:rPr>
              <a:t>Risk and safeguard summary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Third-Party AI Risk Management artifact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Escalation and monitoring plan</a:t>
            </a:r>
            <a:endParaRPr lang="en-US" sz="2100" dirty="0"/>
          </a:p>
          <a:p>
            <a:r>
              <a:rPr lang="en-US" sz="2100" dirty="0">
                <a:solidFill>
                  <a:srgbClr val="17364A"/>
                </a:solidFill>
                <a:latin typeface="Aptos" pitchFamily="34" charset="0"/>
                <a:ea typeface="Aptos" pitchFamily="34" charset="-122"/>
                <a:cs typeface="Aptos" pitchFamily="34" charset="-120"/>
              </a:rPr>
              <a:t>Approval or review note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Escalation and monitoring plan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Third-Party AI Risk Management artifact</a:t>
            </a:r>
            <a:endParaRPr lang="en-US" sz="2100" dirty="0"/>
          </a:p>
          <a:p>
            <a:r>
              <a:rPr lang="en-US" sz="2100" dirty="0">
                <a:solidFill>
                  <a:srgbClr val="17364A"/>
                </a:solidFill>
                <a:latin typeface="Aptos" pitchFamily="34" charset="0"/>
                <a:ea typeface="Aptos" pitchFamily="34" charset="-122"/>
                <a:cs typeface="Aptos" pitchFamily="34" charset="-120"/>
              </a:rPr>
              <a:t>Role and responsibility table</a:t>
            </a:r>
            <a:endParaRPr lang="en-US" sz="2100" dirty="0"/>
          </a:p>
          <a:p>
            <a:r>
              <a:rPr lang="en-US" sz="2100" dirty="0">
                <a:solidFill>
                  <a:srgbClr val="17364A"/>
                </a:solidFill>
                <a:latin typeface="Aptos" pitchFamily="34" charset="0"/>
                <a:ea typeface="Aptos" pitchFamily="34" charset="-122"/>
                <a:cs typeface="Aptos" pitchFamily="34" charset="-120"/>
              </a:rPr>
              <a:t>Risk and safeguard summary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Third-Party AI Risk Management artifact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strongest evidence that third-party ai risk management has been applied responsibly?</a:t>
            </a:r>
            <a:endParaRPr lang="en-US" sz="2100" dirty="0"/>
          </a:p>
          <a:p>
            <a:r>
              <a:rPr lang="en-US" sz="2100" dirty="0">
                <a:solidFill>
                  <a:srgbClr val="17364A"/>
                </a:solidFill>
                <a:latin typeface="Aptos" pitchFamily="34" charset="0"/>
                <a:ea typeface="Aptos" pitchFamily="34" charset="-122"/>
                <a:cs typeface="Aptos" pitchFamily="34" charset="-120"/>
              </a:rPr>
              <a:t>2. What is the best reason to assign an accountability owner?</a:t>
            </a:r>
            <a:endParaRPr lang="en-US" sz="2100" dirty="0"/>
          </a:p>
          <a:p>
            <a:r>
              <a:rPr lang="en-US" sz="2100" dirty="0">
                <a:solidFill>
                  <a:srgbClr val="17364A"/>
                </a:solidFill>
                <a:latin typeface="Aptos" pitchFamily="34" charset="0"/>
                <a:ea typeface="Aptos" pitchFamily="34" charset="-122"/>
                <a:cs typeface="Aptos" pitchFamily="34" charset="-120"/>
              </a:rPr>
              <a:t>3. When should an AI-supported workflow be escalated for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strongest evidence that third-party ai risk management has been applied responsibly?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2100" dirty="0"/>
          </a:p>
          <a:p>
            <a:r>
              <a:rPr lang="en-US" sz="2100" dirty="0">
                <a:solidFill>
                  <a:srgbClr val="17364A"/>
                </a:solidFill>
                <a:latin typeface="Aptos" pitchFamily="34" charset="0"/>
                <a:ea typeface="Aptos" pitchFamily="34" charset="-122"/>
                <a:cs typeface="Aptos" pitchFamily="34" charset="-120"/>
              </a:rPr>
              <a:t>NIST Artificial Intelligence Risk Management Framework and 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WHO Ethics and Governance of Artificial Intelligence for Health guidance:.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Third-Party AI Risk Management</dc:title>
  <dc:subject>Third-Party AI Risk Management learning module</dc:subject>
  <dc:creator>Paula Soper</dc:creator>
  <cp:lastModifiedBy>Paula Soper</cp:lastModifiedBy>
  <cp:revision>1</cp:revision>
  <dcterms:created xsi:type="dcterms:W3CDTF">2026-07-13T01:54:45Z</dcterms:created>
  <dcterms:modified xsi:type="dcterms:W3CDTF">2026-07-13T01:54:45Z</dcterms:modified>
</cp:coreProperties>
</file>