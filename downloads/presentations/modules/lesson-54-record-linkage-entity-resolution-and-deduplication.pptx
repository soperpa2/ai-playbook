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210 Record Linkage, Entity Resolution, and Deduplication
Record linkage and entity resolution help public health systems determine whether records refer to the same person, provider, facility, address, organization, event, or outbreak. AI tools often rely on linked data even when the linkage process is invisible to users. This module teaches learners how matching and deduplication affect AI outputs, surveillance quality, and 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Operations and Data Quality Track
Appears in tracks: technical-architecture
Record linkage and entity resolution help public health systems determine whether records refer to the same person, provider, facility, address, organization, event, or outbreak. AI tools often rely on linked data even when the linkage process is invisible to users. This module teaches learners how matching and deduplication affect AI outputs, surveillance quality, and 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7: Prioritize Use Cases - This lesson informs Play 7 by helping learners connect the lesson topic to prioritize use cases work in the AI Playbook sequence.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record linkage matters for public health AI.
Distinguish between deterministic matching, probabilistic matching, entity resolution, and deduplication.
Identify risks from false matches and missed matches.
Describe how thresholds, clerical review, and data quality affect matching.
Produce a linkage risk review for an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Record linkage and entity resolution help public health systems determine whether records refer to the same person, provider, facility, address, organization, event, or outbreak. AI tools often rely on linked data even when the linkage process is invisible to users. This module teaches learners how matching and deduplication affect AI outputs, surveillance quality, and 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Record linkage matters because public health work often depends on combining information across systems. A surveillance system may need to associate a lab report with an existing case. An IIS may need to match vaccination records from multiple providers. A vital records linkage may support maternal and child health analysis. An AI tool using these linked records may summarize history, predict risk, classify cases, or identify duplicates. If linkage is wrong, the AI output may be wrong.
False matches and missed matches have different consequences. A false match can combine information from different people or events, creating privacy, safety, and accuracy risks. A missed match can split one person or event into multiple records, leading to duplicate work, incomplete histories, or undercounting. Both errors can affect public health decisions.
Linkage can also create equity risks. Names, addresses, phone numbers, language, housing status, migration patterns, and documentation practices vary across communities. Matching rules that work well for one population may perform poorly for another. AI workflows that rely on linked data should therefore include subgroup and equity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Record linkage. Record linkage is the process of determining whether records from one or more sources refer to the same entity. The entity may be a person, provider, facility, address, organization, event, or outbreak.
Entity resolution. Entity resolution is the broader process of identifying, matching, merging, separating, and managing records about the same entity. It includes matching rules, thresholds, review processes, and stewardship.
Deterministic matching. Deterministic matching uses exact or rule-based agreement across selected fields. It is easier to explain but may miss matches when fields are incomplete or inconsistent.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Probabilistic matching. Probabilistic matching estimates the likelihood that records refer to the same entity even when fields differ. It can improve recall but requires thresholds, validation, and review.
Clerical review. Clerical review is human review of uncertain matches. It is essential when automatic matching is not reliable enough for the downstream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AI-supported case summary may pull together lab reports, case notes, hospitalization information, and prior reports for the same person. If the person matching process incorrectly combines two people, the summary may include information that belongs to someone else. If the process misses a prior record, the summary may omit important history. The investigator needs visibility into linkage confidence and source records.
An outbreak detection workflow may link complaints, lab results, facility inspections, and geographic data. Entity resolution may be needed to identify whether different facility names refer to the same establishment. AI-generated cluster summaries can be misleading if the facility resolution process is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Matching design begins with the entity being matched and the decision that depends on the match. Person matching may use name, date of birth, address, phone, medical record number, email, sex, or other identifiers. Facility matching may use name, address, license number, geocode, and ownership information. Event matching may use dates, locations, condition, exposure, and related records.
Thresholds determine when records are automatically linked, automatically separated, or sent for review. Low thresholds may increase false matches. High thresholds may increase missed matches. The right balance depends on the use case. A workflow that affects individual services may need a different tolerance for error than an aggregate trend analysis.
AI readiness requires documentation of matching methods, fields, thresholds, review processes, error rates, and known limitations. If an AI tool uses linked records, staff should know whether linkage is deterministic, probabilistic, manual, or hybrid. They should also know whether uncertain matches are visible to users and whether AI outputs indicate linkage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False matches. False matches can combine data from different people or entities. Guardrails include conservative thresholds for consequential uses, clerical review, and source display.
Missed matches. Missed matches can fragment histories and create duplicate work. Guardrails include matching quality monitoring, feedback loops, and review queues.
Equity variation. Matching may perform differently across populations. Guardrails include subgroup evaluation, alternative identifiers, and review of naming and address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Hidden linkage uncertainty. AI outputs may present linked data as certain. Guardrails include confidence indicators, source records, and user review of uncertain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summarize linked records, so source attribution and linkage confidence should be visible. Predictive analytics may use features created from linked records, making match quality part of model validity. NLP may extract identifiers from text to support linkage, which requires privacy and accuracy review. Agentic AI should not automatically merge or update records without strong approval and rollback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workflows in your agency depend on matching records across systems?
What fields are used for matching, and how complete are they?
Which populations may be more likely to experience missed or incorrect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happens when records are incorrectly merged or not merged?
Where should human review be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linkage risk review for one AI-supported public health workflow. Include the matching purpose, data sources, matching fields, known field quality issues, match method, thresholds, clerical review process, false match risks, missed match risks, equity considerations, and AI output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Linkage risk review
Deduplication workflow map
Match review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Equity and escalation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Linkage risk review
Deduplication workflow map
Match review questions
Equity and escalation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 false match?
2. What is a missed match?
3. Why does record linkage matter for AI?
4. Who may need to review uncertain matches?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Public health IIS and surveillance data quality resources
CDC data modernization resources
Health information exchange data quality materials
Agency matching and deduplication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210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Record Linkage, Entity Resolution, and Deduplication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Record linkage and entity resolution help public health systems determine whether records refer to the same person, provider, facility, address,.</a:t>
            </a:r>
            <a:endParaRPr lang="en-US" sz="1700" dirty="0"/>
          </a:p>
          <a:p>
            <a:r>
              <a:rPr lang="en-US" sz="1700" dirty="0">
                <a:solidFill>
                  <a:srgbClr val="17364A"/>
                </a:solidFill>
                <a:latin typeface="Aptos" pitchFamily="34" charset="0"/>
                <a:ea typeface="Aptos" pitchFamily="34" charset="-122"/>
                <a:cs typeface="Aptos" pitchFamily="34" charset="-120"/>
              </a:rPr>
              <a:t>AI tools often rely on linked data even when the linkage process is invisible to users.</a:t>
            </a:r>
            <a:endParaRPr lang="en-US" sz="1700" dirty="0"/>
          </a:p>
          <a:p>
            <a:r>
              <a:rPr lang="en-US" sz="1700" dirty="0">
                <a:solidFill>
                  <a:srgbClr val="17364A"/>
                </a:solidFill>
                <a:latin typeface="Aptos" pitchFamily="34" charset="0"/>
                <a:ea typeface="Aptos" pitchFamily="34" charset="-122"/>
                <a:cs typeface="Aptos" pitchFamily="34" charset="-120"/>
              </a:rPr>
              <a:t>This module teaches learners how matching and deduplication affect AI outputs, surveillance quality, and equity.</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applied/foundational</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Operations and Data Quality Track</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technical-architecture</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 prioritize use cases work.</a:t>
            </a:r>
            <a:endParaRPr lang="en-US" sz="1540" dirty="0"/>
          </a:p>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 vision &amp; guardrails work in.</a:t>
            </a:r>
            <a:endParaRPr lang="en-US" sz="1540" dirty="0"/>
          </a:p>
          <a:p>
            <a:r>
              <a:rPr lang="en-US" sz="154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 readiness assessment work.</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 practical exercise for the.</a:t>
            </a:r>
            <a:endParaRPr lang="en-US" sz="1460" dirty="0"/>
          </a:p>
          <a:p>
            <a:r>
              <a:rPr lang="en-US" sz="146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 documented public health.</a:t>
            </a:r>
            <a:endParaRPr lang="en-US" sz="1460" dirty="0"/>
          </a:p>
          <a:p>
            <a:r>
              <a:rPr lang="en-US" sz="146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 Review to translate this.</a:t>
            </a:r>
            <a:endParaRPr lang="en-US" sz="1460" dirty="0"/>
          </a:p>
          <a:p>
            <a:r>
              <a:rPr lang="en-US" sz="146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 Checklist to translate this.</a:t>
            </a:r>
            <a:endParaRPr lang="en-US" sz="1460" dirty="0"/>
          </a:p>
          <a:p>
            <a:r>
              <a:rPr lang="en-US" sz="146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 public health AI planning,.</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Explain why record linkage matters for public health AI.</a:t>
            </a:r>
            <a:endParaRPr lang="en-US" sz="1700" dirty="0"/>
          </a:p>
          <a:p>
            <a:r>
              <a:rPr lang="en-US" sz="1700" dirty="0">
                <a:solidFill>
                  <a:srgbClr val="17364A"/>
                </a:solidFill>
                <a:latin typeface="Aptos" pitchFamily="34" charset="0"/>
                <a:ea typeface="Aptos" pitchFamily="34" charset="-122"/>
                <a:cs typeface="Aptos" pitchFamily="34" charset="-120"/>
              </a:rPr>
              <a:t>Distinguish between deterministic matching, probabilistic matching, entity resolution, and deduplication.</a:t>
            </a:r>
            <a:endParaRPr lang="en-US" sz="1700" dirty="0"/>
          </a:p>
          <a:p>
            <a:r>
              <a:rPr lang="en-US" sz="1700" dirty="0">
                <a:solidFill>
                  <a:srgbClr val="17364A"/>
                </a:solidFill>
                <a:latin typeface="Aptos" pitchFamily="34" charset="0"/>
                <a:ea typeface="Aptos" pitchFamily="34" charset="-122"/>
                <a:cs typeface="Aptos" pitchFamily="34" charset="-120"/>
              </a:rPr>
              <a:t>Identify risks from false matches and missed matches.</a:t>
            </a:r>
            <a:endParaRPr lang="en-US" sz="1700" dirty="0"/>
          </a:p>
          <a:p>
            <a:r>
              <a:rPr lang="en-US" sz="1700" dirty="0">
                <a:solidFill>
                  <a:srgbClr val="17364A"/>
                </a:solidFill>
                <a:latin typeface="Aptos" pitchFamily="34" charset="0"/>
                <a:ea typeface="Aptos" pitchFamily="34" charset="-122"/>
                <a:cs typeface="Aptos" pitchFamily="34" charset="-120"/>
              </a:rPr>
              <a:t>Describe how thresholds, clerical review, and data quality affect matching.</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Explain why record linkage matters for public health AI.</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Record linkage and entity resolution help public health systems determine whether records refer to the same person,.</a:t>
            </a:r>
            <a:endParaRPr lang="en-US" sz="1700" dirty="0"/>
          </a:p>
          <a:p>
            <a:r>
              <a:rPr lang="en-US" sz="1700" dirty="0">
                <a:solidFill>
                  <a:srgbClr val="17364A"/>
                </a:solidFill>
                <a:latin typeface="Aptos" pitchFamily="34" charset="0"/>
                <a:ea typeface="Aptos" pitchFamily="34" charset="-122"/>
                <a:cs typeface="Aptos" pitchFamily="34" charset="-120"/>
              </a:rPr>
              <a:t>AI tools often rely on linked data even when the linkage process is invisible to users.</a:t>
            </a:r>
            <a:endParaRPr lang="en-US" sz="1700" dirty="0"/>
          </a:p>
          <a:p>
            <a:r>
              <a:rPr lang="en-US" sz="1700" dirty="0">
                <a:solidFill>
                  <a:srgbClr val="17364A"/>
                </a:solidFill>
                <a:latin typeface="Aptos" pitchFamily="34" charset="0"/>
                <a:ea typeface="Aptos" pitchFamily="34" charset="-122"/>
                <a:cs typeface="Aptos" pitchFamily="34" charset="-120"/>
              </a:rPr>
              <a:t>This module teaches learners how matching and deduplication affect AI outputs, surveillance quality, and equity.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Record linkage and entity resolution help public health systems determine whether records refer to the same person,.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Record linkage matters because public health work often depends on combining information across systems.</a:t>
            </a:r>
            <a:endParaRPr lang="en-US" sz="1700" dirty="0"/>
          </a:p>
          <a:p>
            <a:r>
              <a:rPr lang="en-US" sz="1700" dirty="0">
                <a:solidFill>
                  <a:srgbClr val="17364A"/>
                </a:solidFill>
                <a:latin typeface="Aptos" pitchFamily="34" charset="0"/>
                <a:ea typeface="Aptos" pitchFamily="34" charset="-122"/>
                <a:cs typeface="Aptos" pitchFamily="34" charset="-120"/>
              </a:rPr>
              <a:t>A surveillance system may need to associate a lab report with an existing case.</a:t>
            </a:r>
            <a:endParaRPr lang="en-US" sz="1700" dirty="0"/>
          </a:p>
          <a:p>
            <a:r>
              <a:rPr lang="en-US" sz="1700" dirty="0">
                <a:solidFill>
                  <a:srgbClr val="17364A"/>
                </a:solidFill>
                <a:latin typeface="Aptos" pitchFamily="34" charset="0"/>
                <a:ea typeface="Aptos" pitchFamily="34" charset="-122"/>
                <a:cs typeface="Aptos" pitchFamily="34" charset="-120"/>
              </a:rPr>
              <a:t>An IIS may need to match vaccination records from multiple providers.</a:t>
            </a:r>
            <a:endParaRPr lang="en-US" sz="1700" dirty="0"/>
          </a:p>
          <a:p>
            <a:r>
              <a:rPr lang="en-US" sz="1700" dirty="0">
                <a:solidFill>
                  <a:srgbClr val="17364A"/>
                </a:solidFill>
                <a:latin typeface="Aptos" pitchFamily="34" charset="0"/>
                <a:ea typeface="Aptos" pitchFamily="34" charset="-122"/>
                <a:cs typeface="Aptos" pitchFamily="34" charset="-120"/>
              </a:rPr>
              <a:t>A vital records linkage may support maternal and child health analysis.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Record linkage matters because public health work often depends on combining information across systems.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Record linkage.</a:t>
            </a:r>
            <a:endParaRPr lang="en-US" sz="1700" dirty="0"/>
          </a:p>
          <a:p>
            <a:r>
              <a:rPr lang="en-US" sz="1700" dirty="0">
                <a:solidFill>
                  <a:srgbClr val="17364A"/>
                </a:solidFill>
                <a:latin typeface="Aptos" pitchFamily="34" charset="0"/>
                <a:ea typeface="Aptos" pitchFamily="34" charset="-122"/>
                <a:cs typeface="Aptos" pitchFamily="34" charset="-120"/>
              </a:rPr>
              <a:t>Record linkage is the process of determining whether records from one or more sources refer to the same entity.</a:t>
            </a:r>
            <a:endParaRPr lang="en-US" sz="1700" dirty="0"/>
          </a:p>
          <a:p>
            <a:r>
              <a:rPr lang="en-US" sz="1700" dirty="0">
                <a:solidFill>
                  <a:srgbClr val="17364A"/>
                </a:solidFill>
                <a:latin typeface="Aptos" pitchFamily="34" charset="0"/>
                <a:ea typeface="Aptos" pitchFamily="34" charset="-122"/>
                <a:cs typeface="Aptos" pitchFamily="34" charset="-120"/>
              </a:rPr>
              <a:t>The entity may be a person, provider, facility, address, organization, event, or outbreak.</a:t>
            </a:r>
            <a:endParaRPr lang="en-US" sz="1700" dirty="0"/>
          </a:p>
          <a:p>
            <a:r>
              <a:rPr lang="en-US" sz="1700" dirty="0">
                <a:solidFill>
                  <a:srgbClr val="17364A"/>
                </a:solidFill>
                <a:latin typeface="Aptos" pitchFamily="34" charset="0"/>
                <a:ea typeface="Aptos" pitchFamily="34" charset="-122"/>
                <a:cs typeface="Aptos" pitchFamily="34" charset="-120"/>
              </a:rPr>
              <a:t>Entity resolution.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Record linkage.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Probabilistic matching.</a:t>
            </a:r>
            <a:endParaRPr lang="en-US" sz="1700" dirty="0"/>
          </a:p>
          <a:p>
            <a:r>
              <a:rPr lang="en-US" sz="1700" dirty="0">
                <a:solidFill>
                  <a:srgbClr val="17364A"/>
                </a:solidFill>
                <a:latin typeface="Aptos" pitchFamily="34" charset="0"/>
                <a:ea typeface="Aptos" pitchFamily="34" charset="-122"/>
                <a:cs typeface="Aptos" pitchFamily="34" charset="-120"/>
              </a:rPr>
              <a:t>Probabilistic matching estimates the likelihood that records refer to the same entity even when fields differ.</a:t>
            </a:r>
            <a:endParaRPr lang="en-US" sz="1700" dirty="0"/>
          </a:p>
          <a:p>
            <a:r>
              <a:rPr lang="en-US" sz="1700" dirty="0">
                <a:solidFill>
                  <a:srgbClr val="17364A"/>
                </a:solidFill>
                <a:latin typeface="Aptos" pitchFamily="34" charset="0"/>
                <a:ea typeface="Aptos" pitchFamily="34" charset="-122"/>
                <a:cs typeface="Aptos" pitchFamily="34" charset="-120"/>
              </a:rPr>
              <a:t>It can improve recall but requires thresholds, validation, and review.</a:t>
            </a:r>
            <a:endParaRPr lang="en-US" sz="1700" dirty="0"/>
          </a:p>
          <a:p>
            <a:r>
              <a:rPr lang="en-US" sz="1700" dirty="0">
                <a:solidFill>
                  <a:srgbClr val="17364A"/>
                </a:solidFill>
                <a:latin typeface="Aptos" pitchFamily="34" charset="0"/>
                <a:ea typeface="Aptos" pitchFamily="34" charset="-122"/>
                <a:cs typeface="Aptos" pitchFamily="34" charset="-120"/>
              </a:rPr>
              <a:t>Clerical review.</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Probabilistic matching.</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An AI-supported case summary may pull together lab reports, case notes, hospitalization information, and prior reports for.</a:t>
            </a:r>
            <a:endParaRPr lang="en-US" sz="1700" dirty="0"/>
          </a:p>
          <a:p>
            <a:r>
              <a:rPr lang="en-US" sz="1700" dirty="0">
                <a:solidFill>
                  <a:srgbClr val="17364A"/>
                </a:solidFill>
                <a:latin typeface="Aptos" pitchFamily="34" charset="0"/>
                <a:ea typeface="Aptos" pitchFamily="34" charset="-122"/>
                <a:cs typeface="Aptos" pitchFamily="34" charset="-120"/>
              </a:rPr>
              <a:t>If the person matching process incorrectly combines two people, the summary may include information that belongs to someone.</a:t>
            </a:r>
            <a:endParaRPr lang="en-US" sz="1700" dirty="0"/>
          </a:p>
          <a:p>
            <a:r>
              <a:rPr lang="en-US" sz="1700" dirty="0">
                <a:solidFill>
                  <a:srgbClr val="17364A"/>
                </a:solidFill>
                <a:latin typeface="Aptos" pitchFamily="34" charset="0"/>
                <a:ea typeface="Aptos" pitchFamily="34" charset="-122"/>
                <a:cs typeface="Aptos" pitchFamily="34" charset="-120"/>
              </a:rPr>
              <a:t>If the process misses a prior record, the summary may omit important history.</a:t>
            </a:r>
            <a:endParaRPr lang="en-US" sz="1700" dirty="0"/>
          </a:p>
          <a:p>
            <a:r>
              <a:rPr lang="en-US" sz="1700" dirty="0">
                <a:solidFill>
                  <a:srgbClr val="17364A"/>
                </a:solidFill>
                <a:latin typeface="Aptos" pitchFamily="34" charset="0"/>
                <a:ea typeface="Aptos" pitchFamily="34" charset="-122"/>
                <a:cs typeface="Aptos" pitchFamily="34" charset="-120"/>
              </a:rPr>
              <a:t>The investigator needs visibility into linkage confidence and source records.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An AI-supported case summary may pull together lab reports, case notes, hospitalization information, and prior reports for.</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Matching design begins with the entity being matched and the decision that depends on the match.</a:t>
            </a:r>
            <a:endParaRPr lang="en-US" sz="1700" dirty="0"/>
          </a:p>
          <a:p>
            <a:r>
              <a:rPr lang="en-US" sz="1700" dirty="0">
                <a:solidFill>
                  <a:srgbClr val="17364A"/>
                </a:solidFill>
                <a:latin typeface="Aptos" pitchFamily="34" charset="0"/>
                <a:ea typeface="Aptos" pitchFamily="34" charset="-122"/>
                <a:cs typeface="Aptos" pitchFamily="34" charset="-120"/>
              </a:rPr>
              <a:t>Person matching may use name, date of birth, address, phone, medical record number, email, sex, or other identifiers.</a:t>
            </a:r>
            <a:endParaRPr lang="en-US" sz="1700" dirty="0"/>
          </a:p>
          <a:p>
            <a:r>
              <a:rPr lang="en-US" sz="1700" dirty="0">
                <a:solidFill>
                  <a:srgbClr val="17364A"/>
                </a:solidFill>
                <a:latin typeface="Aptos" pitchFamily="34" charset="0"/>
                <a:ea typeface="Aptos" pitchFamily="34" charset="-122"/>
                <a:cs typeface="Aptos" pitchFamily="34" charset="-120"/>
              </a:rPr>
              <a:t>Facility matching may use name, address, license number, geocode, and ownership information.</a:t>
            </a:r>
            <a:endParaRPr lang="en-US" sz="1700" dirty="0"/>
          </a:p>
          <a:p>
            <a:r>
              <a:rPr lang="en-US" sz="1700" dirty="0">
                <a:solidFill>
                  <a:srgbClr val="17364A"/>
                </a:solidFill>
                <a:latin typeface="Aptos" pitchFamily="34" charset="0"/>
                <a:ea typeface="Aptos" pitchFamily="34" charset="-122"/>
                <a:cs typeface="Aptos" pitchFamily="34" charset="-120"/>
              </a:rPr>
              <a:t>Event matching may use dates, locations, condition, exposure, and related records.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Matching design begins with the entity being matched and the decision that depends on the match.</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False matches.</a:t>
            </a:r>
            <a:endParaRPr lang="en-US" sz="1700" dirty="0"/>
          </a:p>
          <a:p>
            <a:r>
              <a:rPr lang="en-US" sz="1700" dirty="0">
                <a:solidFill>
                  <a:srgbClr val="17364A"/>
                </a:solidFill>
                <a:latin typeface="Aptos" pitchFamily="34" charset="0"/>
                <a:ea typeface="Aptos" pitchFamily="34" charset="-122"/>
                <a:cs typeface="Aptos" pitchFamily="34" charset="-120"/>
              </a:rPr>
              <a:t>False matches can combine data from different people or entities.</a:t>
            </a:r>
            <a:endParaRPr lang="en-US" sz="1700" dirty="0"/>
          </a:p>
          <a:p>
            <a:r>
              <a:rPr lang="en-US" sz="1700" dirty="0">
                <a:solidFill>
                  <a:srgbClr val="17364A"/>
                </a:solidFill>
                <a:latin typeface="Aptos" pitchFamily="34" charset="0"/>
                <a:ea typeface="Aptos" pitchFamily="34" charset="-122"/>
                <a:cs typeface="Aptos" pitchFamily="34" charset="-120"/>
              </a:rPr>
              <a:t>Guardrails include conservative thresholds for consequential uses, clerical review, and source display.</a:t>
            </a:r>
            <a:endParaRPr lang="en-US" sz="1700" dirty="0"/>
          </a:p>
          <a:p>
            <a:r>
              <a:rPr lang="en-US" sz="1700" dirty="0">
                <a:solidFill>
                  <a:srgbClr val="17364A"/>
                </a:solidFill>
                <a:latin typeface="Aptos" pitchFamily="34" charset="0"/>
                <a:ea typeface="Aptos" pitchFamily="34" charset="-122"/>
                <a:cs typeface="Aptos" pitchFamily="34" charset="-120"/>
              </a:rPr>
              <a:t>Missed matches.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False matches.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Hidden linkage uncertainty.</a:t>
            </a:r>
            <a:endParaRPr lang="en-US" sz="1700" dirty="0"/>
          </a:p>
          <a:p>
            <a:r>
              <a:rPr lang="en-US" sz="1700" dirty="0">
                <a:solidFill>
                  <a:srgbClr val="17364A"/>
                </a:solidFill>
                <a:latin typeface="Aptos" pitchFamily="34" charset="0"/>
                <a:ea typeface="Aptos" pitchFamily="34" charset="-122"/>
                <a:cs typeface="Aptos" pitchFamily="34" charset="-120"/>
              </a:rPr>
              <a:t>AI outputs may present linked data as certain.</a:t>
            </a:r>
            <a:endParaRPr lang="en-US" sz="1700" dirty="0"/>
          </a:p>
          <a:p>
            <a:r>
              <a:rPr lang="en-US" sz="1700" dirty="0">
                <a:solidFill>
                  <a:srgbClr val="17364A"/>
                </a:solidFill>
                <a:latin typeface="Aptos" pitchFamily="34" charset="0"/>
                <a:ea typeface="Aptos" pitchFamily="34" charset="-122"/>
                <a:cs typeface="Aptos" pitchFamily="34" charset="-120"/>
              </a:rPr>
              <a:t>Guardrails include confidence indicators, source records, and user review of uncertain matches.</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Hidden linkage uncertainty.</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Generative AI may summarize linked records, so source attribution and linkage confidence should be visible.</a:t>
            </a:r>
            <a:endParaRPr lang="en-US" sz="1700" dirty="0"/>
          </a:p>
          <a:p>
            <a:r>
              <a:rPr lang="en-US" sz="1700" dirty="0">
                <a:solidFill>
                  <a:srgbClr val="17364A"/>
                </a:solidFill>
                <a:latin typeface="Aptos" pitchFamily="34" charset="0"/>
                <a:ea typeface="Aptos" pitchFamily="34" charset="-122"/>
                <a:cs typeface="Aptos" pitchFamily="34" charset="-120"/>
              </a:rPr>
              <a:t>Predictive analytics may use features created from linked records, making match quality part of model validity.</a:t>
            </a:r>
            <a:endParaRPr lang="en-US" sz="1700" dirty="0"/>
          </a:p>
          <a:p>
            <a:r>
              <a:rPr lang="en-US" sz="1700" dirty="0">
                <a:solidFill>
                  <a:srgbClr val="17364A"/>
                </a:solidFill>
                <a:latin typeface="Aptos" pitchFamily="34" charset="0"/>
                <a:ea typeface="Aptos" pitchFamily="34" charset="-122"/>
                <a:cs typeface="Aptos" pitchFamily="34" charset="-120"/>
              </a:rPr>
              <a:t>NLP may extract identifiers from text to support linkage, which requires privacy and accuracy review.</a:t>
            </a:r>
            <a:endParaRPr lang="en-US" sz="1700" dirty="0"/>
          </a:p>
          <a:p>
            <a:r>
              <a:rPr lang="en-US" sz="1700" dirty="0">
                <a:solidFill>
                  <a:srgbClr val="17364A"/>
                </a:solidFill>
                <a:latin typeface="Aptos" pitchFamily="34" charset="0"/>
                <a:ea typeface="Aptos" pitchFamily="34" charset="-122"/>
                <a:cs typeface="Aptos" pitchFamily="34" charset="-120"/>
              </a:rPr>
              <a:t>Agentic AI should not automatically merge or update records without strong approval and rollback procedures.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Generative AI may summarize linked records, so source attribution and linkage confidence should be visible.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Which workflows in your agency depend on matching records across systems?</a:t>
            </a:r>
            <a:endParaRPr lang="en-US" sz="1700" dirty="0"/>
          </a:p>
          <a:p>
            <a:r>
              <a:rPr lang="en-US" sz="1700" dirty="0">
                <a:solidFill>
                  <a:srgbClr val="17364A"/>
                </a:solidFill>
                <a:latin typeface="Aptos" pitchFamily="34" charset="0"/>
                <a:ea typeface="Aptos" pitchFamily="34" charset="-122"/>
                <a:cs typeface="Aptos" pitchFamily="34" charset="-120"/>
              </a:rPr>
              <a:t>What fields are used for matching, and how complete are they?</a:t>
            </a:r>
            <a:endParaRPr lang="en-US" sz="1700" dirty="0"/>
          </a:p>
          <a:p>
            <a:r>
              <a:rPr lang="en-US" sz="1700" dirty="0">
                <a:solidFill>
                  <a:srgbClr val="17364A"/>
                </a:solidFill>
                <a:latin typeface="Aptos" pitchFamily="34" charset="0"/>
                <a:ea typeface="Aptos" pitchFamily="34" charset="-122"/>
                <a:cs typeface="Aptos" pitchFamily="34" charset="-120"/>
              </a:rPr>
              <a:t>Which populations may be more likely to experience missed or incorrect matches?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Which workflows in your agency depend on matching records across systems?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happens when records are incorrectly merged or not merged?</a:t>
            </a:r>
            <a:endParaRPr lang="en-US" sz="1700" dirty="0"/>
          </a:p>
          <a:p>
            <a:r>
              <a:rPr lang="en-US" sz="1700" dirty="0">
                <a:solidFill>
                  <a:srgbClr val="17364A"/>
                </a:solidFill>
                <a:latin typeface="Aptos" pitchFamily="34" charset="0"/>
                <a:ea typeface="Aptos" pitchFamily="34" charset="-122"/>
                <a:cs typeface="Aptos" pitchFamily="34" charset="-120"/>
              </a:rPr>
              <a:t>Where should human review be required?</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happens when records are incorrectly merged or not merged?</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Create a linkage risk review for one AI-supported public health workflow.</a:t>
            </a:r>
            <a:endParaRPr lang="en-US" sz="1700" dirty="0"/>
          </a:p>
          <a:p>
            <a:r>
              <a:rPr lang="en-US" sz="1700" dirty="0">
                <a:solidFill>
                  <a:srgbClr val="17364A"/>
                </a:solidFill>
                <a:latin typeface="Aptos" pitchFamily="34" charset="0"/>
                <a:ea typeface="Aptos" pitchFamily="34" charset="-122"/>
                <a:cs typeface="Aptos" pitchFamily="34" charset="-120"/>
              </a:rPr>
              <a:t>Include the matching purpose, data sources, matching fields, known field quality issues, match method, thresholds, clerical.</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Create a linkage risk review for one AI-supported public health workflow.</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Linkage risk review</a:t>
            </a:r>
            <a:endParaRPr lang="en-US" sz="1700" dirty="0"/>
          </a:p>
          <a:p>
            <a:r>
              <a:rPr lang="en-US" sz="1700" dirty="0">
                <a:solidFill>
                  <a:srgbClr val="17364A"/>
                </a:solidFill>
                <a:latin typeface="Aptos" pitchFamily="34" charset="0"/>
                <a:ea typeface="Aptos" pitchFamily="34" charset="-122"/>
                <a:cs typeface="Aptos" pitchFamily="34" charset="-120"/>
              </a:rPr>
              <a:t>Deduplication workflow map</a:t>
            </a:r>
            <a:endParaRPr lang="en-US" sz="1700" dirty="0"/>
          </a:p>
          <a:p>
            <a:r>
              <a:rPr lang="en-US" sz="1700" dirty="0">
                <a:solidFill>
                  <a:srgbClr val="17364A"/>
                </a:solidFill>
                <a:latin typeface="Aptos" pitchFamily="34" charset="0"/>
                <a:ea typeface="Aptos" pitchFamily="34" charset="-122"/>
                <a:cs typeface="Aptos" pitchFamily="34" charset="-120"/>
              </a:rPr>
              <a:t>Match review questions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Linkage risk review</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Equity and escalation notes</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Equity and escalation notes</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Linkage risk review</a:t>
            </a:r>
            <a:endParaRPr lang="en-US" sz="1700" dirty="0"/>
          </a:p>
          <a:p>
            <a:r>
              <a:rPr lang="en-US" sz="1700" dirty="0">
                <a:solidFill>
                  <a:srgbClr val="17364A"/>
                </a:solidFill>
                <a:latin typeface="Aptos" pitchFamily="34" charset="0"/>
                <a:ea typeface="Aptos" pitchFamily="34" charset="-122"/>
                <a:cs typeface="Aptos" pitchFamily="34" charset="-120"/>
              </a:rPr>
              <a:t>Deduplication workflow map</a:t>
            </a:r>
            <a:endParaRPr lang="en-US" sz="1700" dirty="0"/>
          </a:p>
          <a:p>
            <a:r>
              <a:rPr lang="en-US" sz="1700" dirty="0">
                <a:solidFill>
                  <a:srgbClr val="17364A"/>
                </a:solidFill>
                <a:latin typeface="Aptos" pitchFamily="34" charset="0"/>
                <a:ea typeface="Aptos" pitchFamily="34" charset="-122"/>
                <a:cs typeface="Aptos" pitchFamily="34" charset="-120"/>
              </a:rPr>
              <a:t>Match review questions</a:t>
            </a:r>
            <a:endParaRPr lang="en-US" sz="1700" dirty="0"/>
          </a:p>
          <a:p>
            <a:r>
              <a:rPr lang="en-US" sz="1700" dirty="0">
                <a:solidFill>
                  <a:srgbClr val="17364A"/>
                </a:solidFill>
                <a:latin typeface="Aptos" pitchFamily="34" charset="0"/>
                <a:ea typeface="Aptos" pitchFamily="34" charset="-122"/>
                <a:cs typeface="Aptos" pitchFamily="34" charset="-120"/>
              </a:rPr>
              <a:t>Equity and escalation notes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Linkage risk review</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What is a false match?</a:t>
            </a:r>
            <a:endParaRPr lang="en-US" sz="1700" dirty="0"/>
          </a:p>
          <a:p>
            <a:r>
              <a:rPr lang="en-US" sz="1700" dirty="0">
                <a:solidFill>
                  <a:srgbClr val="17364A"/>
                </a:solidFill>
                <a:latin typeface="Aptos" pitchFamily="34" charset="0"/>
                <a:ea typeface="Aptos" pitchFamily="34" charset="-122"/>
                <a:cs typeface="Aptos" pitchFamily="34" charset="-120"/>
              </a:rPr>
              <a:t>2. What is a missed match?</a:t>
            </a:r>
            <a:endParaRPr lang="en-US" sz="1700" dirty="0"/>
          </a:p>
          <a:p>
            <a:r>
              <a:rPr lang="en-US" sz="1700" dirty="0">
                <a:solidFill>
                  <a:srgbClr val="17364A"/>
                </a:solidFill>
                <a:latin typeface="Aptos" pitchFamily="34" charset="0"/>
                <a:ea typeface="Aptos" pitchFamily="34" charset="-122"/>
                <a:cs typeface="Aptos" pitchFamily="34" charset="-120"/>
              </a:rPr>
              <a:t>3. Why does record linkage matter for AI?</a:t>
            </a:r>
            <a:endParaRPr lang="en-US" sz="1700" dirty="0"/>
          </a:p>
          <a:p>
            <a:r>
              <a:rPr lang="en-US" sz="1700" dirty="0">
                <a:solidFill>
                  <a:srgbClr val="17364A"/>
                </a:solidFill>
                <a:latin typeface="Aptos" pitchFamily="34" charset="0"/>
                <a:ea typeface="Aptos" pitchFamily="34" charset="-122"/>
                <a:cs typeface="Aptos" pitchFamily="34" charset="-120"/>
              </a:rPr>
              <a:t>4. Who may need to review uncertain matches?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What is a false match?</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Public health IIS and surveillance data quality resources</a:t>
            </a:r>
            <a:endParaRPr lang="en-US" sz="1700" dirty="0"/>
          </a:p>
          <a:p>
            <a:r>
              <a:rPr lang="en-US" sz="1700" dirty="0">
                <a:solidFill>
                  <a:srgbClr val="17364A"/>
                </a:solidFill>
                <a:latin typeface="Aptos" pitchFamily="34" charset="0"/>
                <a:ea typeface="Aptos" pitchFamily="34" charset="-122"/>
                <a:cs typeface="Aptos" pitchFamily="34" charset="-120"/>
              </a:rPr>
              <a:t>CDC data modernization resources</a:t>
            </a:r>
            <a:endParaRPr lang="en-US" sz="1700" dirty="0"/>
          </a:p>
          <a:p>
            <a:r>
              <a:rPr lang="en-US" sz="1700" dirty="0">
                <a:solidFill>
                  <a:srgbClr val="17364A"/>
                </a:solidFill>
                <a:latin typeface="Aptos" pitchFamily="34" charset="0"/>
                <a:ea typeface="Aptos" pitchFamily="34" charset="-122"/>
                <a:cs typeface="Aptos" pitchFamily="34" charset="-120"/>
              </a:rPr>
              <a:t>Health information exchange data quality materials</a:t>
            </a:r>
            <a:endParaRPr lang="en-US" sz="1700" dirty="0"/>
          </a:p>
          <a:p>
            <a:r>
              <a:rPr lang="en-US" sz="1700" dirty="0">
                <a:solidFill>
                  <a:srgbClr val="17364A"/>
                </a:solidFill>
                <a:latin typeface="Aptos" pitchFamily="34" charset="0"/>
                <a:ea typeface="Aptos" pitchFamily="34" charset="-122"/>
                <a:cs typeface="Aptos" pitchFamily="34" charset="-120"/>
              </a:rPr>
              <a:t>Agency matching and deduplication procedures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Public health IIS and surveillance data quality resources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Record Linkage, Entity Resolution, and Deduplication</dc:title>
  <dc:subject>Record Linkage, Entity Resolution, and Deduplication learning module</dc:subject>
  <dc:creator>Paula Soper</dc:creator>
  <cp:lastModifiedBy>Paula Soper</cp:lastModifiedBy>
  <cp:revision>1</cp:revision>
  <dcterms:created xsi:type="dcterms:W3CDTF">2026-07-12T18:54:58Z</dcterms:created>
  <dcterms:modified xsi:type="dcterms:W3CDTF">2026-07-12T18:54:58Z</dcterms:modified>
</cp:coreProperties>
</file>