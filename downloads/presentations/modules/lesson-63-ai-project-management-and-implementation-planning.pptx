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Program Management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program-management, operations-and-data-quality, technical-architecture,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the major phases of an AI implementation project.</a:t>
            </a:r>
            <a:endParaRPr lang="en-US" sz="1450" dirty="0"/>
          </a:p>
          <a:p>
            <a:r>
              <a:rPr lang="en-US" sz="1450" dirty="0">
                <a:solidFill>
                  <a:srgbClr val="17364A"/>
                </a:solidFill>
                <a:latin typeface="Aptos" pitchFamily="34" charset="0"/>
                <a:ea typeface="Aptos" pitchFamily="34" charset="-122"/>
                <a:cs typeface="Aptos" pitchFamily="34" charset="-120"/>
              </a:rPr>
              <a:t>Develop an AI project charter that includes scope, objectives, roles, risks, dependencies, and governance gates.</a:t>
            </a:r>
            <a:endParaRPr lang="en-US" sz="1450" dirty="0"/>
          </a:p>
          <a:p>
            <a:r>
              <a:rPr lang="en-US" sz="1450" dirty="0">
                <a:solidFill>
                  <a:srgbClr val="17364A"/>
                </a:solidFill>
                <a:latin typeface="Aptos" pitchFamily="34" charset="0"/>
                <a:ea typeface="Aptos" pitchFamily="34" charset="-122"/>
                <a:cs typeface="Aptos" pitchFamily="34" charset="-120"/>
              </a:rPr>
              <a:t>Identify implementation dependencies across data, systems, privacy, security, procurement, workflow, training, and evaluation.</a:t>
            </a:r>
            <a:endParaRPr lang="en-US" sz="1450" dirty="0"/>
          </a:p>
          <a:p>
            <a:r>
              <a:rPr lang="en-US" sz="1450" dirty="0">
                <a:solidFill>
                  <a:srgbClr val="17364A"/>
                </a:solidFill>
                <a:latin typeface="Aptos" pitchFamily="34" charset="0"/>
                <a:ea typeface="Aptos" pitchFamily="34" charset="-122"/>
                <a:cs typeface="Aptos" pitchFamily="34" charset="-120"/>
              </a:rPr>
              <a:t>Create a launch readiness checklist for an AI-supported workflow.</a:t>
            </a:r>
            <a:endParaRPr lang="en-US" sz="1450" dirty="0"/>
          </a:p>
          <a:p>
            <a:r>
              <a:rPr lang="en-US" sz="1450" dirty="0">
                <a:solidFill>
                  <a:srgbClr val="17364A"/>
                </a:solidFill>
                <a:latin typeface="Aptos" pitchFamily="34" charset="0"/>
                <a:ea typeface="Aptos" pitchFamily="34" charset="-122"/>
                <a:cs typeface="Aptos" pitchFamily="34" charset="-120"/>
              </a:rPr>
              <a:t>Plan transition from pilot to operations, including ownership, monitoring, maintenance, and sustainability.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Pilots launching without governance approval or operational ownership. Project plans overlooking data, privacy, security, workflow, or training dependencies.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Vendors controlling implementation timelines without agency readiness gates. No transition plan from pilot to routine operations. Success measured only by deployment rather than public health value and safe use.</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Use an AI-specific project charter and risk log. Define governance gates before implementation begins.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separate workstreams for data, technology, governance, workflow, training, validation, and evaluation. Require launch readiness review before deployment. Document transition to operations and sustainability responsibilities.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 workflow. Include project purpose, scope, objectives, roles, governance gates, milestones, workstreams, dependencies, risks, launch readiness criteria, and transition-to-operations plan.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project charter Implementation workplan AI-specific risk log</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Launch readiness checklist Transition-to-operations plan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project charter</a:t>
            </a:r>
            <a:endParaRPr lang="en-US" sz="1450" dirty="0"/>
          </a:p>
          <a:p>
            <a:r>
              <a:rPr lang="en-US" sz="1450" dirty="0">
                <a:solidFill>
                  <a:srgbClr val="17364A"/>
                </a:solidFill>
                <a:latin typeface="Aptos" pitchFamily="34" charset="0"/>
                <a:ea typeface="Aptos" pitchFamily="34" charset="-122"/>
                <a:cs typeface="Aptos" pitchFamily="34" charset="-120"/>
              </a:rPr>
              <a:t>Implementation workplan</a:t>
            </a:r>
            <a:endParaRPr lang="en-US" sz="1450" dirty="0"/>
          </a:p>
          <a:p>
            <a:r>
              <a:rPr lang="en-US" sz="1450" dirty="0">
                <a:solidFill>
                  <a:srgbClr val="17364A"/>
                </a:solidFill>
                <a:latin typeface="Aptos" pitchFamily="34" charset="0"/>
                <a:ea typeface="Aptos" pitchFamily="34" charset="-122"/>
                <a:cs typeface="Aptos" pitchFamily="34" charset="-120"/>
              </a:rPr>
              <a:t>AI-specific risk log</a:t>
            </a:r>
            <a:endParaRPr lang="en-US" sz="1450" dirty="0"/>
          </a:p>
          <a:p>
            <a:r>
              <a:rPr lang="en-US" sz="1450" dirty="0">
                <a:solidFill>
                  <a:srgbClr val="17364A"/>
                </a:solidFill>
                <a:latin typeface="Aptos" pitchFamily="34" charset="0"/>
                <a:ea typeface="Aptos" pitchFamily="34" charset="-122"/>
                <a:cs typeface="Aptos" pitchFamily="34" charset="-120"/>
              </a:rPr>
              <a:t>Launch readiness checklist</a:t>
            </a:r>
            <a:endParaRPr lang="en-US" sz="1450" dirty="0"/>
          </a:p>
          <a:p>
            <a:r>
              <a:rPr lang="en-US" sz="1450" dirty="0">
                <a:solidFill>
                  <a:srgbClr val="17364A"/>
                </a:solidFill>
                <a:latin typeface="Aptos" pitchFamily="34" charset="0"/>
                <a:ea typeface="Aptos" pitchFamily="34" charset="-122"/>
                <a:cs typeface="Aptos" pitchFamily="34" charset="-120"/>
              </a:rPr>
              <a:t>Transition-to-operations plan</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450" dirty="0"/>
          </a:p>
          <a:p>
            <a:r>
              <a:rPr lang="en-US" sz="1450" dirty="0">
                <a:solidFill>
                  <a:srgbClr val="17364A"/>
                </a:solidFill>
                <a:latin typeface="Aptos" pitchFamily="34" charset="0"/>
                <a:ea typeface="Aptos" pitchFamily="34" charset="-122"/>
                <a:cs typeface="Aptos" pitchFamily="34" charset="-120"/>
              </a:rPr>
              <a:t>2. What is a governance gate?</a:t>
            </a:r>
            <a:endParaRPr lang="en-US" sz="1450" dirty="0"/>
          </a:p>
          <a:p>
            <a:r>
              <a:rPr lang="en-US" sz="1450" dirty="0">
                <a:solidFill>
                  <a:srgbClr val="17364A"/>
                </a:solidFill>
                <a:latin typeface="Aptos" pitchFamily="34" charset="0"/>
                <a:ea typeface="Aptos" pitchFamily="34" charset="-122"/>
                <a:cs typeface="Aptos" pitchFamily="34" charset="-120"/>
              </a:rPr>
              <a:t>3. Which item belongs in an AI project charter?</a:t>
            </a:r>
            <a:endParaRPr lang="en-US" sz="1450" dirty="0"/>
          </a:p>
          <a:p>
            <a:r>
              <a:rPr lang="en-US" sz="1450" dirty="0">
                <a:solidFill>
                  <a:srgbClr val="17364A"/>
                </a:solidFill>
                <a:latin typeface="Aptos" pitchFamily="34" charset="0"/>
                <a:ea typeface="Aptos" pitchFamily="34" charset="-122"/>
                <a:cs typeface="Aptos" pitchFamily="34" charset="-120"/>
              </a:rPr>
              <a:t>4. Why is transition to operations important?</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2026-07-12T18:22:13Z</dcterms:created>
  <dcterms:modified xsi:type="dcterms:W3CDTF">2026-07-12T18:22:13Z</dcterms:modified>
</cp:coreProperties>
</file>