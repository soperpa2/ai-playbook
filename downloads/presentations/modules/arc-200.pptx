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2100" dirty="0"/>
          </a:p>
          <a:p>
            <a:r>
              <a:rPr lang="en-US" sz="21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 the.</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2100" dirty="0"/>
          </a:p>
          <a:p>
            <a:r>
              <a:rPr lang="en-US" sz="2100" dirty="0">
                <a:solidFill>
                  <a:srgbClr val="17364A"/>
                </a:solidFill>
                <a:latin typeface="Aptos" pitchFamily="34" charset="0"/>
                <a:ea typeface="Aptos" pitchFamily="34" charset="-122"/>
                <a:cs typeface="Aptos" pitchFamily="34" charset="-120"/>
              </a:rPr>
              <a:t>Describe the major components of an AI-enabled public health architecture, including source systems,.</a:t>
            </a:r>
            <a:endParaRPr lang="en-US" sz="2100" dirty="0"/>
          </a:p>
          <a:p>
            <a:r>
              <a:rPr lang="en-US" sz="2100" dirty="0">
                <a:solidFill>
                  <a:srgbClr val="17364A"/>
                </a:solidFill>
                <a:latin typeface="Aptos" pitchFamily="34" charset="0"/>
                <a:ea typeface="Aptos" pitchFamily="34" charset="-122"/>
                <a:cs typeface="Aptos" pitchFamily="34" charset="-120"/>
              </a:rPr>
              <a:t>Identify the systems of record, source systems, data flows, and human decision points in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Describe the major components of an AI-enabled public health architecture, including.</a:t>
            </a:r>
            <a:endParaRPr lang="en-US" sz="1380" dirty="0"/>
          </a:p>
          <a:p>
            <a:r>
              <a:rPr lang="en-US" sz="1380" dirty="0">
                <a:solidFill>
                  <a:srgbClr val="17364A"/>
                </a:solidFill>
                <a:latin typeface="Aptos" pitchFamily="34" charset="0"/>
                <a:ea typeface="Aptos" pitchFamily="34" charset="-122"/>
                <a:cs typeface="Aptos" pitchFamily="34" charset="-120"/>
              </a:rPr>
              <a:t>Identify the systems of record, source systems, data flows, and human decision points in a.</a:t>
            </a:r>
            <a:endParaRPr lang="en-US" sz="1380" dirty="0"/>
          </a:p>
          <a:p>
            <a:r>
              <a:rPr lang="en-US" sz="1380" dirty="0">
                <a:solidFill>
                  <a:srgbClr val="17364A"/>
                </a:solidFill>
                <a:latin typeface="Aptos" pitchFamily="34" charset="0"/>
                <a:ea typeface="Aptos" pitchFamily="34" charset="-122"/>
                <a:cs typeface="Aptos" pitchFamily="34" charset="-120"/>
              </a:rPr>
              <a:t>Assess where AI could support a workflow and where human review, legal authority,.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an AI-enabled workflow architecture map and readiness memo that can support.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2100" dirty="0"/>
          </a:p>
          <a:p>
            <a:r>
              <a:rPr lang="en-US" sz="21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Every AI-supported workflow depends on the quality, structure, timeliness, governance, and.</a:t>
            </a:r>
            <a:endParaRPr lang="en-US" sz="1380" dirty="0"/>
          </a:p>
          <a:p>
            <a:r>
              <a:rPr lang="en-US" sz="1380" dirty="0">
                <a:solidFill>
                  <a:srgbClr val="17364A"/>
                </a:solidFill>
                <a:latin typeface="Aptos" pitchFamily="34" charset="0"/>
                <a:ea typeface="Aptos" pitchFamily="34" charset="-122"/>
                <a:cs typeface="Aptos" pitchFamily="34" charset="-120"/>
              </a:rPr>
              <a:t>A department cannot responsibly deploy AI for surveillance, case investigation,.</a:t>
            </a:r>
            <a:endParaRPr lang="en-US" sz="1380" dirty="0"/>
          </a:p>
          <a:p>
            <a:r>
              <a:rPr lang="en-US" sz="1380" dirty="0">
                <a:solidFill>
                  <a:srgbClr val="17364A"/>
                </a:solidFill>
                <a:latin typeface="Aptos" pitchFamily="34" charset="0"/>
                <a:ea typeface="Aptos" pitchFamily="34" charset="-122"/>
                <a:cs typeface="Aptos" pitchFamily="34" charset="-120"/>
              </a:rPr>
              <a:t>This module introduces public health data modernization as the technical foundation for AI.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2100" dirty="0"/>
          </a:p>
          <a:p>
            <a:r>
              <a:rPr lang="en-US" sz="2100" dirty="0">
                <a:solidFill>
                  <a:srgbClr val="17364A"/>
                </a:solidFill>
                <a:latin typeface="Aptos" pitchFamily="34" charset="0"/>
                <a:ea typeface="Aptos" pitchFamily="34" charset="-122"/>
                <a:cs typeface="Aptos" pitchFamily="34" charset="-120"/>
              </a:rPr>
              <a:t>AI tools may appear to offer immediate relief by summarizing records, drafting communications,.</a:t>
            </a:r>
            <a:endParaRPr lang="en-US" sz="2100" dirty="0"/>
          </a:p>
          <a:p>
            <a:r>
              <a:rPr lang="en-US" sz="2100" dirty="0">
                <a:solidFill>
                  <a:srgbClr val="17364A"/>
                </a:solidFill>
                <a:latin typeface="Aptos" pitchFamily="34" charset="0"/>
                <a:ea typeface="Aptos" pitchFamily="34" charset="-122"/>
                <a:cs typeface="Aptos" pitchFamily="34" charset="-120"/>
              </a:rPr>
              <a:t>However, AI can create new risks when it is layered on top of fragmented or poorly understood systems.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agencies often feel pressure to adopt AI tools quickly, especially when.</a:t>
            </a:r>
            <a:endParaRPr lang="en-US" sz="1380" dirty="0"/>
          </a:p>
          <a:p>
            <a:r>
              <a:rPr lang="en-US" sz="1380" dirty="0">
                <a:solidFill>
                  <a:srgbClr val="17364A"/>
                </a:solidFill>
                <a:latin typeface="Aptos" pitchFamily="34" charset="0"/>
                <a:ea typeface="Aptos" pitchFamily="34" charset="-122"/>
                <a:cs typeface="Aptos" pitchFamily="34" charset="-120"/>
              </a:rPr>
              <a:t>AI tools may appear to offer immediate relief by summarizing records, drafting.</a:t>
            </a:r>
            <a:endParaRPr lang="en-US" sz="1380" dirty="0"/>
          </a:p>
          <a:p>
            <a:r>
              <a:rPr lang="en-US" sz="1380" dirty="0">
                <a:solidFill>
                  <a:srgbClr val="17364A"/>
                </a:solidFill>
                <a:latin typeface="Aptos" pitchFamily="34" charset="0"/>
                <a:ea typeface="Aptos" pitchFamily="34" charset="-122"/>
                <a:cs typeface="Aptos" pitchFamily="34" charset="-120"/>
              </a:rPr>
              <a:t>A model that summarizes case reports may produce incomplete summaries if the source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data modernization.</a:t>
            </a:r>
            <a:endParaRPr lang="en-US" sz="2100" dirty="0"/>
          </a:p>
          <a:p>
            <a:r>
              <a:rPr lang="en-US" sz="2100" dirty="0">
                <a:solidFill>
                  <a:srgbClr val="17364A"/>
                </a:solidFill>
                <a:latin typeface="Aptos" pitchFamily="34" charset="0"/>
                <a:ea typeface="Aptos" pitchFamily="34" charset="-122"/>
                <a:cs typeface="Aptos" pitchFamily="34" charset="-120"/>
              </a:rPr>
              <a:t>Public health data modernization is the process of improving the systems, standards, infrastructure,.</a:t>
            </a:r>
            <a:endParaRPr lang="en-US" sz="2100" dirty="0"/>
          </a:p>
          <a:p>
            <a:r>
              <a:rPr lang="en-US" sz="2100" dirty="0">
                <a:solidFill>
                  <a:srgbClr val="17364A"/>
                </a:solidFill>
                <a:latin typeface="Aptos" pitchFamily="34" charset="0"/>
                <a:ea typeface="Aptos" pitchFamily="34" charset="-122"/>
                <a:cs typeface="Aptos" pitchFamily="34" charset="-120"/>
              </a:rPr>
              <a:t>Modernization includes technical components such as APIs, cloud platforms, data warehouses, terminology.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data modernization.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data modernization is the process of improving the systems, standards,.</a:t>
            </a:r>
            <a:endParaRPr lang="en-US" sz="1380" dirty="0"/>
          </a:p>
          <a:p>
            <a:r>
              <a:rPr lang="en-US" sz="1380" dirty="0">
                <a:solidFill>
                  <a:srgbClr val="17364A"/>
                </a:solidFill>
                <a:latin typeface="Aptos" pitchFamily="34" charset="0"/>
                <a:ea typeface="Aptos" pitchFamily="34" charset="-122"/>
                <a:cs typeface="Aptos" pitchFamily="34" charset="-120"/>
              </a:rPr>
              <a:t>Modernization includes technical components such as APIs, cloud platforms, data.</a:t>
            </a:r>
            <a:endParaRPr lang="en-US" sz="1380" dirty="0"/>
          </a:p>
          <a:p>
            <a:r>
              <a:rPr lang="en-US" sz="1380" dirty="0">
                <a:solidFill>
                  <a:srgbClr val="17364A"/>
                </a:solidFill>
                <a:latin typeface="Aptos" pitchFamily="34" charset="0"/>
                <a:ea typeface="Aptos" pitchFamily="34" charset="-122"/>
                <a:cs typeface="Aptos" pitchFamily="34" charset="-120"/>
              </a:rPr>
              <a:t>It also includes operational components such as data stewardship,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System of record.</a:t>
            </a:r>
            <a:endParaRPr lang="en-US" sz="2100" dirty="0"/>
          </a:p>
          <a:p>
            <a:r>
              <a:rPr lang="en-US" sz="2100" dirty="0">
                <a:solidFill>
                  <a:srgbClr val="17364A"/>
                </a:solidFill>
                <a:latin typeface="Aptos" pitchFamily="34" charset="0"/>
                <a:ea typeface="Aptos" pitchFamily="34" charset="-122"/>
                <a:cs typeface="Aptos" pitchFamily="34" charset="-120"/>
              </a:rPr>
              <a:t>A system of record is the official system or process where public health information, decisions, and.</a:t>
            </a:r>
            <a:endParaRPr lang="en-US" sz="2100" dirty="0"/>
          </a:p>
          <a:p>
            <a:r>
              <a:rPr lang="en-US" sz="2100" dirty="0">
                <a:solidFill>
                  <a:srgbClr val="17364A"/>
                </a:solidFill>
                <a:latin typeface="Aptos" pitchFamily="34" charset="0"/>
                <a:ea typeface="Aptos" pitchFamily="34" charset="-122"/>
                <a:cs typeface="Aptos" pitchFamily="34" charset="-120"/>
              </a:rPr>
              <a:t>AI outputs should not automatically become the official record unless the agency has explicitly.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System of record.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system of record is the official system or process where public health information,.</a:t>
            </a:r>
            <a:endParaRPr lang="en-US" sz="1380" dirty="0"/>
          </a:p>
          <a:p>
            <a:r>
              <a:rPr lang="en-US" sz="1380" dirty="0">
                <a:solidFill>
                  <a:srgbClr val="17364A"/>
                </a:solidFill>
                <a:latin typeface="Aptos" pitchFamily="34" charset="0"/>
                <a:ea typeface="Aptos" pitchFamily="34" charset="-122"/>
                <a:cs typeface="Aptos" pitchFamily="34" charset="-120"/>
              </a:rPr>
              <a:t>AI outputs should not automatically become the official record unless the agency has.</a:t>
            </a:r>
            <a:endParaRPr lang="en-US" sz="1380" dirty="0"/>
          </a:p>
          <a:p>
            <a:r>
              <a:rPr lang="en-US" sz="1380" dirty="0">
                <a:solidFill>
                  <a:srgbClr val="17364A"/>
                </a:solidFill>
                <a:latin typeface="Aptos" pitchFamily="34" charset="0"/>
                <a:ea typeface="Aptos" pitchFamily="34" charset="-122"/>
                <a:cs typeface="Aptos" pitchFamily="34" charset="-120"/>
              </a:rPr>
              <a:t>For example, an AI tool may draft a case summary, but the final case note may still need.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2100" dirty="0"/>
          </a:p>
          <a:p>
            <a:r>
              <a:rPr lang="en-US" sz="2100" dirty="0">
                <a:solidFill>
                  <a:srgbClr val="17364A"/>
                </a:solidFill>
                <a:latin typeface="Aptos" pitchFamily="34" charset="0"/>
                <a:ea typeface="Aptos" pitchFamily="34" charset="-122"/>
                <a:cs typeface="Aptos" pitchFamily="34" charset="-120"/>
              </a:rPr>
              <a:t>The AI tool may be able to produce a concise summary of symptoms, laboratory results, diagnosis,.</a:t>
            </a:r>
            <a:endParaRPr lang="en-US" sz="2100" dirty="0"/>
          </a:p>
          <a:p>
            <a:r>
              <a:rPr lang="en-US" sz="2100" dirty="0">
                <a:solidFill>
                  <a:srgbClr val="17364A"/>
                </a:solidFill>
                <a:latin typeface="Aptos" pitchFamily="34" charset="0"/>
                <a:ea typeface="Aptos" pitchFamily="34" charset="-122"/>
                <a:cs typeface="Aptos" pitchFamily="34" charset="-120"/>
              </a:rPr>
              <a:t>However, the safety of that workflow depends on the surrounding architecture.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Consider a health department that wants to use AI to summarize incoming electronic case.</a:t>
            </a:r>
            <a:endParaRPr lang="en-US" sz="1380" dirty="0"/>
          </a:p>
          <a:p>
            <a:r>
              <a:rPr lang="en-US" sz="1380" dirty="0">
                <a:solidFill>
                  <a:srgbClr val="17364A"/>
                </a:solidFill>
                <a:latin typeface="Aptos" pitchFamily="34" charset="0"/>
                <a:ea typeface="Aptos" pitchFamily="34" charset="-122"/>
                <a:cs typeface="Aptos" pitchFamily="34" charset="-120"/>
              </a:rPr>
              <a:t>The AI tool may be able to produce a concise summary of symptoms, laboratory results,.</a:t>
            </a:r>
            <a:endParaRPr lang="en-US" sz="1380" dirty="0"/>
          </a:p>
          <a:p>
            <a:r>
              <a:rPr lang="en-US" sz="1380" dirty="0">
                <a:solidFill>
                  <a:srgbClr val="17364A"/>
                </a:solidFill>
                <a:latin typeface="Aptos" pitchFamily="34" charset="0"/>
                <a:ea typeface="Aptos" pitchFamily="34" charset="-122"/>
                <a:cs typeface="Aptos" pitchFamily="34" charset="-120"/>
              </a:rPr>
              <a:t>The eCR data must be received correctly, routed to the right jurisdiction, parsed into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2100" dirty="0"/>
          </a:p>
          <a:p>
            <a:r>
              <a:rPr lang="en-US" sz="2100" dirty="0">
                <a:solidFill>
                  <a:srgbClr val="17364A"/>
                </a:solidFill>
                <a:latin typeface="Aptos" pitchFamily="34" charset="0"/>
                <a:ea typeface="Aptos" pitchFamily="34" charset="-122"/>
                <a:cs typeface="Aptos" pitchFamily="34" charset="-120"/>
              </a:rPr>
              <a:t>These may include electronic health records, laboratories, immunization information systems, vital.</a:t>
            </a:r>
            <a:endParaRPr lang="en-US" sz="2100" dirty="0"/>
          </a:p>
          <a:p>
            <a:r>
              <a:rPr lang="en-US" sz="2100" dirty="0">
                <a:solidFill>
                  <a:srgbClr val="17364A"/>
                </a:solidFill>
                <a:latin typeface="Aptos" pitchFamily="34" charset="0"/>
                <a:ea typeface="Aptos" pitchFamily="34" charset="-122"/>
                <a:cs typeface="Aptos" pitchFamily="34" charset="-120"/>
              </a:rPr>
              <a:t>Each source system has its own data quality profile, update frequency, terminology conventions,.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These may include electronic health records, laboratories, immunization information.</a:t>
            </a:r>
            <a:endParaRPr lang="en-US" sz="1380" dirty="0"/>
          </a:p>
          <a:p>
            <a:r>
              <a:rPr lang="en-US" sz="1380" dirty="0">
                <a:solidFill>
                  <a:srgbClr val="17364A"/>
                </a:solidFill>
                <a:latin typeface="Aptos" pitchFamily="34" charset="0"/>
                <a:ea typeface="Aptos" pitchFamily="34" charset="-122"/>
                <a:cs typeface="Aptos" pitchFamily="34" charset="-120"/>
              </a:rPr>
              <a:t>Each source system has its own data quality profile, update frequency, terminology.</a:t>
            </a:r>
            <a:endParaRPr lang="en-US" sz="1380" dirty="0"/>
          </a:p>
          <a:p>
            <a:r>
              <a:rPr lang="en-US" sz="1380" dirty="0">
                <a:solidFill>
                  <a:srgbClr val="17364A"/>
                </a:solidFill>
                <a:latin typeface="Aptos" pitchFamily="34" charset="0"/>
                <a:ea typeface="Aptos" pitchFamily="34" charset="-122"/>
                <a:cs typeface="Aptos" pitchFamily="34" charset="-120"/>
              </a:rPr>
              <a:t>Before AI can be used safely, the agency needs to understand these characteristics.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fourth layer is the AI service or model.</a:t>
            </a:r>
            <a:endParaRPr lang="en-US" sz="2100" dirty="0"/>
          </a:p>
          <a:p>
            <a:r>
              <a:rPr lang="en-US" sz="2100" dirty="0">
                <a:solidFill>
                  <a:srgbClr val="17364A"/>
                </a:solidFill>
                <a:latin typeface="Aptos" pitchFamily="34" charset="0"/>
                <a:ea typeface="Aptos" pitchFamily="34" charset="-122"/>
                <a:cs typeface="Aptos" pitchFamily="34" charset="-120"/>
              </a:rPr>
              <a:t>This may be a predictive model, natural language processing tool, generative AI assistant,.</a:t>
            </a:r>
            <a:endParaRPr lang="en-US" sz="2100" dirty="0"/>
          </a:p>
          <a:p>
            <a:r>
              <a:rPr lang="en-US" sz="2100" dirty="0">
                <a:solidFill>
                  <a:srgbClr val="17364A"/>
                </a:solidFill>
                <a:latin typeface="Aptos" pitchFamily="34" charset="0"/>
                <a:ea typeface="Aptos" pitchFamily="34" charset="-122"/>
                <a:cs typeface="Aptos" pitchFamily="34" charset="-120"/>
              </a:rPr>
              <a:t>The model should have a defined intended use and explicit limits.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fourth layer is the AI service or model.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may be a predictive model, natural language processing tool, generative AI assistant,.</a:t>
            </a:r>
            <a:endParaRPr lang="en-US" sz="1380" dirty="0"/>
          </a:p>
          <a:p>
            <a:r>
              <a:rPr lang="en-US" sz="1380" dirty="0">
                <a:solidFill>
                  <a:srgbClr val="17364A"/>
                </a:solidFill>
                <a:latin typeface="Aptos" pitchFamily="34" charset="0"/>
                <a:ea typeface="Aptos" pitchFamily="34" charset="-122"/>
                <a:cs typeface="Aptos" pitchFamily="34" charset="-120"/>
              </a:rPr>
              <a:t>A tool designed to summarize case notes should not silently make eligibility decisions.</a:t>
            </a:r>
            <a:endParaRPr lang="en-US" sz="1380" dirty="0"/>
          </a:p>
          <a:p>
            <a:r>
              <a:rPr lang="en-US" sz="1380" dirty="0">
                <a:solidFill>
                  <a:srgbClr val="17364A"/>
                </a:solidFill>
                <a:latin typeface="Aptos" pitchFamily="34" charset="0"/>
                <a:ea typeface="Aptos" pitchFamily="34" charset="-122"/>
                <a:cs typeface="Aptos" pitchFamily="34" charset="-120"/>
              </a:rPr>
              <a:t>A tool designed to classify complaints should not automatically trigger enforcement action.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Architectural invisibility.</a:t>
            </a:r>
            <a:endParaRPr lang="en-US" sz="2100" dirty="0"/>
          </a:p>
          <a:p>
            <a:r>
              <a:rPr lang="en-US" sz="2100" dirty="0">
                <a:solidFill>
                  <a:srgbClr val="17364A"/>
                </a:solidFill>
                <a:latin typeface="Aptos" pitchFamily="34" charset="0"/>
                <a:ea typeface="Aptos" pitchFamily="34" charset="-122"/>
                <a:cs typeface="Aptos" pitchFamily="34" charset="-120"/>
              </a:rPr>
              <a:t>If staff cannot explain how data move through the system, they may not recognize when an AI output is.</a:t>
            </a:r>
            <a:endParaRPr lang="en-US" sz="2100" dirty="0"/>
          </a:p>
          <a:p>
            <a:r>
              <a:rPr lang="en-US" sz="2100" dirty="0">
                <a:solidFill>
                  <a:srgbClr val="17364A"/>
                </a:solidFill>
                <a:latin typeface="Aptos" pitchFamily="34" charset="0"/>
                <a:ea typeface="Aptos" pitchFamily="34" charset="-122"/>
                <a:cs typeface="Aptos" pitchFamily="34" charset="-120"/>
              </a:rPr>
              <a:t>A practical guardrail is to require a workflow and data flow map before AI use is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Architectural invisibility.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staff cannot explain how data move through the system, they may not recognize when an.</a:t>
            </a:r>
            <a:endParaRPr lang="en-US" sz="1380" dirty="0"/>
          </a:p>
          <a:p>
            <a:r>
              <a:rPr lang="en-US" sz="1380" dirty="0">
                <a:solidFill>
                  <a:srgbClr val="17364A"/>
                </a:solidFill>
                <a:latin typeface="Aptos" pitchFamily="34" charset="0"/>
                <a:ea typeface="Aptos" pitchFamily="34" charset="-122"/>
                <a:cs typeface="Aptos" pitchFamily="34" charset="-120"/>
              </a:rPr>
              <a:t>Unclear authority.</a:t>
            </a:r>
            <a:endParaRPr lang="en-US" sz="1380" dirty="0"/>
          </a:p>
          <a:p>
            <a:r>
              <a:rPr lang="en-US" sz="1380" dirty="0">
                <a:solidFill>
                  <a:srgbClr val="17364A"/>
                </a:solidFill>
                <a:latin typeface="Aptos" pitchFamily="34" charset="0"/>
                <a:ea typeface="Aptos" pitchFamily="34" charset="-122"/>
                <a:cs typeface="Aptos" pitchFamily="34" charset="-120"/>
              </a:rPr>
              <a:t>AI tools may produce recommendations, summaries, or classifications that look official,.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Poor monitoring and equity harm.</a:t>
            </a:r>
            <a:endParaRPr lang="en-US" sz="2100" dirty="0"/>
          </a:p>
          <a:p>
            <a:r>
              <a:rPr lang="en-US" sz="2100" dirty="0">
                <a:solidFill>
                  <a:srgbClr val="17364A"/>
                </a:solidFill>
                <a:latin typeface="Aptos" pitchFamily="34" charset="0"/>
                <a:ea typeface="Aptos" pitchFamily="34" charset="-122"/>
                <a:cs typeface="Aptos" pitchFamily="34" charset="-120"/>
              </a:rPr>
              <a:t>AI tools can degrade over time when data patterns, reporting sources, terminology, policies, or.</a:t>
            </a:r>
            <a:endParaRPr lang="en-US" sz="2100" dirty="0"/>
          </a:p>
          <a:p>
            <a:r>
              <a:rPr lang="en-US" sz="2100" dirty="0">
                <a:solidFill>
                  <a:srgbClr val="17364A"/>
                </a:solidFill>
                <a:latin typeface="Aptos" pitchFamily="34" charset="0"/>
                <a:ea typeface="Aptos" pitchFamily="34" charset="-122"/>
                <a:cs typeface="Aptos" pitchFamily="34" charset="-120"/>
              </a:rPr>
              <a:t>If the architecture relies on data sources that underrepresent some communities, the tool may also.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Poor monitoring and equity harm.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tools can degrade over time when data patterns, reporting sources, terminology,.</a:t>
            </a:r>
            <a:endParaRPr lang="en-US" sz="1380" dirty="0"/>
          </a:p>
          <a:p>
            <a:r>
              <a:rPr lang="en-US" sz="1380" dirty="0">
                <a:solidFill>
                  <a:srgbClr val="17364A"/>
                </a:solidFill>
                <a:latin typeface="Aptos" pitchFamily="34" charset="0"/>
                <a:ea typeface="Aptos" pitchFamily="34" charset="-122"/>
                <a:cs typeface="Aptos" pitchFamily="34" charset="-120"/>
              </a:rPr>
              <a:t>If the architecture relies on data sources that underrepresent some communities, the tool.</a:t>
            </a:r>
            <a:endParaRPr lang="en-US" sz="1380" dirty="0"/>
          </a:p>
          <a:p>
            <a:r>
              <a:rPr lang="en-US" sz="1380" dirty="0">
                <a:solidFill>
                  <a:srgbClr val="17364A"/>
                </a:solidFill>
                <a:latin typeface="Aptos" pitchFamily="34" charset="0"/>
                <a:ea typeface="Aptos" pitchFamily="34" charset="-122"/>
                <a:cs typeface="Aptos" pitchFamily="34" charset="-120"/>
              </a:rPr>
              <a:t>Practical guardrails include pre-deployment subgroup review, monitoring indicators, user.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2100" dirty="0"/>
          </a:p>
          <a:p>
            <a:r>
              <a:rPr lang="en-US" sz="2100" dirty="0">
                <a:solidFill>
                  <a:srgbClr val="17364A"/>
                </a:solidFill>
                <a:latin typeface="Aptos" pitchFamily="34" charset="0"/>
                <a:ea typeface="Aptos" pitchFamily="34" charset="-122"/>
                <a:cs typeface="Aptos" pitchFamily="34" charset="-120"/>
              </a:rPr>
              <a:t>A generative AI tool used to summarize policy documents has different architectural requirements than.</a:t>
            </a:r>
            <a:endParaRPr lang="en-US" sz="2100" dirty="0"/>
          </a:p>
          <a:p>
            <a:r>
              <a:rPr lang="en-US" sz="2100" dirty="0">
                <a:solidFill>
                  <a:srgbClr val="17364A"/>
                </a:solidFill>
                <a:latin typeface="Aptos" pitchFamily="34" charset="0"/>
                <a:ea typeface="Aptos" pitchFamily="34" charset="-122"/>
                <a:cs typeface="Aptos" pitchFamily="34" charset="-120"/>
              </a:rPr>
              <a:t>The more sensitive or operational the use case, the stronger the controls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generative AI, architecture determines what source material the tool can access,.</a:t>
            </a:r>
            <a:endParaRPr lang="en-US" sz="1380" dirty="0"/>
          </a:p>
          <a:p>
            <a:r>
              <a:rPr lang="en-US" sz="1380" dirty="0">
                <a:solidFill>
                  <a:srgbClr val="17364A"/>
                </a:solidFill>
                <a:latin typeface="Aptos" pitchFamily="34" charset="0"/>
                <a:ea typeface="Aptos" pitchFamily="34" charset="-122"/>
                <a:cs typeface="Aptos" pitchFamily="34" charset="-120"/>
              </a:rPr>
              <a:t>A generative AI tool used to summarize policy documents has different architectural.</a:t>
            </a:r>
            <a:endParaRPr lang="en-US" sz="1380" dirty="0"/>
          </a:p>
          <a:p>
            <a:r>
              <a:rPr lang="en-US" sz="1380" dirty="0">
                <a:solidFill>
                  <a:srgbClr val="17364A"/>
                </a:solidFill>
                <a:latin typeface="Aptos" pitchFamily="34" charset="0"/>
                <a:ea typeface="Aptos" pitchFamily="34" charset="-122"/>
                <a:cs typeface="Aptos" pitchFamily="34" charset="-120"/>
              </a:rPr>
              <a:t>For predictive analytics, architecture determines whether the model receives timely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2100" dirty="0"/>
          </a:p>
          <a:p>
            <a:r>
              <a:rPr lang="en-US" sz="2100" dirty="0">
                <a:solidFill>
                  <a:srgbClr val="17364A"/>
                </a:solidFill>
                <a:latin typeface="Aptos" pitchFamily="34" charset="0"/>
                <a:ea typeface="Aptos" pitchFamily="34" charset="-122"/>
                <a:cs typeface="Aptos" pitchFamily="34" charset="-120"/>
              </a:rPr>
              <a:t>What are the source systems, systems of record, and downstream outputs for that workflow?</a:t>
            </a:r>
            <a:endParaRPr lang="en-US" sz="2100" dirty="0"/>
          </a:p>
          <a:p>
            <a:r>
              <a:rPr lang="en-US" sz="2100" dirty="0">
                <a:solidFill>
                  <a:srgbClr val="17364A"/>
                </a:solidFill>
                <a:latin typeface="Aptos" pitchFamily="34" charset="0"/>
                <a:ea typeface="Aptos" pitchFamily="34" charset="-122"/>
                <a:cs typeface="Aptos" pitchFamily="34" charset="-120"/>
              </a:rPr>
              <a:t>Where are data transformed, linked, summarized, interpreted, or manually corrected?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public health workflow in your agency would be most helpful to map before.</a:t>
            </a:r>
            <a:endParaRPr lang="en-US" sz="1380" dirty="0"/>
          </a:p>
          <a:p>
            <a:r>
              <a:rPr lang="en-US" sz="1380" dirty="0">
                <a:solidFill>
                  <a:srgbClr val="17364A"/>
                </a:solidFill>
                <a:latin typeface="Aptos" pitchFamily="34" charset="0"/>
                <a:ea typeface="Aptos" pitchFamily="34" charset="-122"/>
                <a:cs typeface="Aptos" pitchFamily="34" charset="-120"/>
              </a:rPr>
              <a:t>What are the source systems, systems of record, and downstream outputs for that workflow?</a:t>
            </a:r>
            <a:endParaRPr lang="en-US" sz="1380" dirty="0"/>
          </a:p>
          <a:p>
            <a:r>
              <a:rPr lang="en-US" sz="1380" dirty="0">
                <a:solidFill>
                  <a:srgbClr val="17364A"/>
                </a:solidFill>
                <a:latin typeface="Aptos" pitchFamily="34" charset="0"/>
                <a:ea typeface="Aptos" pitchFamily="34" charset="-122"/>
                <a:cs typeface="Aptos" pitchFamily="34" charset="-120"/>
              </a:rPr>
              <a:t>Where are data transformed, linked, summarized, interpreted, or manually corrected?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2100" dirty="0"/>
          </a:p>
          <a:p>
            <a:r>
              <a:rPr lang="en-US" sz="2100" dirty="0">
                <a:solidFill>
                  <a:srgbClr val="17364A"/>
                </a:solidFill>
                <a:latin typeface="Aptos" pitchFamily="34" charset="0"/>
                <a:ea typeface="Aptos" pitchFamily="34" charset="-122"/>
                <a:cs typeface="Aptos" pitchFamily="34" charset="-120"/>
              </a:rPr>
              <a:t>What could go wrong if AI were added without changing the architecture?</a:t>
            </a:r>
            <a:endParaRPr lang="en-US" sz="2100" dirty="0"/>
          </a:p>
          <a:p>
            <a:r>
              <a:rPr lang="en-US" sz="2100" dirty="0">
                <a:solidFill>
                  <a:srgbClr val="17364A"/>
                </a:solidFill>
                <a:latin typeface="Aptos" pitchFamily="34" charset="0"/>
                <a:ea typeface="Aptos" pitchFamily="34" charset="-122"/>
                <a:cs typeface="Aptos" pitchFamily="34" charset="-120"/>
              </a:rPr>
              <a:t>Which monitoring indicators would show whether the AI-supported workflow is working safely and equitably?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parts of the workflow require legal, epidemiologic, clinical, communications,.</a:t>
            </a:r>
            <a:endParaRPr lang="en-US" sz="1380" dirty="0"/>
          </a:p>
          <a:p>
            <a:r>
              <a:rPr lang="en-US" sz="1380" dirty="0">
                <a:solidFill>
                  <a:srgbClr val="17364A"/>
                </a:solidFill>
                <a:latin typeface="Aptos" pitchFamily="34" charset="0"/>
                <a:ea typeface="Aptos" pitchFamily="34" charset="-122"/>
                <a:cs typeface="Aptos" pitchFamily="34" charset="-120"/>
              </a:rPr>
              <a:t>What could go wrong if AI were added without changing the architecture?</a:t>
            </a:r>
            <a:endParaRPr lang="en-US" sz="1380" dirty="0"/>
          </a:p>
          <a:p>
            <a:r>
              <a:rPr lang="en-US" sz="1380" dirty="0">
                <a:solidFill>
                  <a:srgbClr val="17364A"/>
                </a:solidFill>
                <a:latin typeface="Aptos" pitchFamily="34" charset="0"/>
                <a:ea typeface="Aptos" pitchFamily="34" charset="-122"/>
                <a:cs typeface="Aptos" pitchFamily="34" charset="-120"/>
              </a:rPr>
              <a:t>Which monitoring indicators would show whether the AI-supported workflow is working safely.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Choose a workflow that is real or realistic for your agency, such as case report intake, lab result.</a:t>
            </a:r>
            <a:endParaRPr lang="en-US" sz="2100" dirty="0"/>
          </a:p>
          <a:p>
            <a:r>
              <a:rPr lang="en-US" sz="2100" dirty="0">
                <a:solidFill>
                  <a:srgbClr val="17364A"/>
                </a:solidFill>
                <a:latin typeface="Aptos" pitchFamily="34" charset="0"/>
                <a:ea typeface="Aptos" pitchFamily="34" charset="-122"/>
                <a:cs typeface="Aptos" pitchFamily="34" charset="-120"/>
              </a:rPr>
              <a:t>Your map should include the source systems, data exchange methods, transformation steps, system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Choose a workflow that is real or realistic for your agency, such as case report intake,.</a:t>
            </a:r>
            <a:endParaRPr lang="en-US" sz="1380" dirty="0"/>
          </a:p>
          <a:p>
            <a:r>
              <a:rPr lang="en-US" sz="1380" dirty="0">
                <a:solidFill>
                  <a:srgbClr val="17364A"/>
                </a:solidFill>
                <a:latin typeface="Aptos" pitchFamily="34" charset="0"/>
                <a:ea typeface="Aptos" pitchFamily="34" charset="-122"/>
                <a:cs typeface="Aptos" pitchFamily="34" charset="-120"/>
              </a:rPr>
              <a:t>Your map should include the source systems, data exchange methods, transformation steps,.</a:t>
            </a:r>
            <a:endParaRPr lang="en-US" sz="1380" dirty="0"/>
          </a:p>
          <a:p>
            <a:r>
              <a:rPr lang="en-US" sz="1380" dirty="0">
                <a:solidFill>
                  <a:srgbClr val="17364A"/>
                </a:solidFill>
                <a:latin typeface="Aptos" pitchFamily="34" charset="0"/>
                <a:ea typeface="Aptos" pitchFamily="34" charset="-122"/>
                <a:cs typeface="Aptos" pitchFamily="34" charset="-120"/>
              </a:rPr>
              <a:t>After completing the map, identify at least five readiness gaps that should be addressed.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an AI-enabled workflow architecture map.</a:t>
            </a:r>
            <a:endParaRPr lang="en-US" sz="2100" dirty="0"/>
          </a:p>
          <a:p>
            <a:r>
              <a:rPr lang="en-US" sz="2100" dirty="0">
                <a:solidFill>
                  <a:srgbClr val="17364A"/>
                </a:solidFill>
                <a:latin typeface="Aptos" pitchFamily="34" charset="0"/>
                <a:ea typeface="Aptos" pitchFamily="34" charset="-122"/>
                <a:cs typeface="Aptos" pitchFamily="34" charset="-120"/>
              </a:rPr>
              <a:t>The evidence should also include a short readiness memo that identifies technical dependencies,.</a:t>
            </a:r>
            <a:endParaRPr lang="en-US" sz="2100" dirty="0"/>
          </a:p>
          <a:p>
            <a:r>
              <a:rPr lang="en-US" sz="21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evidence should also include a short readiness memo that identifies technical.</a:t>
            </a:r>
            <a:endParaRPr lang="en-US" sz="1380" dirty="0"/>
          </a:p>
          <a:p>
            <a:r>
              <a:rPr lang="en-US" sz="1380" dirty="0">
                <a:solidFill>
                  <a:srgbClr val="17364A"/>
                </a:solidFill>
                <a:latin typeface="Aptos" pitchFamily="34" charset="0"/>
                <a:ea typeface="Aptos" pitchFamily="34" charset="-122"/>
                <a:cs typeface="Aptos" pitchFamily="34" charset="-120"/>
              </a:rPr>
              <a:t>A strong completion artifact should be specific enough to support governance review,.</a:t>
            </a:r>
            <a:endParaRPr lang="en-US" sz="1380" dirty="0"/>
          </a:p>
          <a:p>
            <a:r>
              <a:rPr lang="en-US" sz="1380" dirty="0">
                <a:solidFill>
                  <a:srgbClr val="17364A"/>
                </a:solidFill>
                <a:latin typeface="Aptos" pitchFamily="34" charset="0"/>
                <a:ea typeface="Aptos" pitchFamily="34" charset="-122"/>
                <a:cs typeface="Aptos" pitchFamily="34" charset="-120"/>
              </a:rPr>
              <a:t>It should not simply state that AI may be useful.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2100" dirty="0"/>
          </a:p>
          <a:p>
            <a:r>
              <a:rPr lang="en-US" sz="21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380" dirty="0"/>
          </a:p>
          <a:p>
            <a:r>
              <a:rPr lang="en-US" sz="1380" dirty="0">
                <a:solidFill>
                  <a:srgbClr val="17364A"/>
                </a:solidFill>
                <a:latin typeface="Aptos" pitchFamily="34" charset="0"/>
                <a:ea typeface="Aptos" pitchFamily="34" charset="-122"/>
                <a:cs typeface="Aptos" pitchFamily="34" charset="-120"/>
              </a:rPr>
              <a:t>The evidence should also include a short readiness memo that identifies technical.</a:t>
            </a:r>
            <a:endParaRPr lang="en-US" sz="1380" dirty="0"/>
          </a:p>
          <a:p>
            <a:r>
              <a:rPr lang="en-US" sz="1380" dirty="0">
                <a:solidFill>
                  <a:srgbClr val="17364A"/>
                </a:solidFill>
                <a:latin typeface="Aptos" pitchFamily="34" charset="0"/>
                <a:ea typeface="Aptos" pitchFamily="34" charset="-122"/>
                <a:cs typeface="Aptos" pitchFamily="34" charset="-120"/>
              </a:rPr>
              <a:t>A strong completion artifact should be specific enough to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2100" dirty="0"/>
          </a:p>
          <a:p>
            <a:r>
              <a:rPr lang="en-US" sz="2100" dirty="0">
                <a:solidFill>
                  <a:srgbClr val="17364A"/>
                </a:solidFill>
                <a:latin typeface="Aptos" pitchFamily="34" charset="0"/>
                <a:ea typeface="Aptos" pitchFamily="34" charset="-122"/>
                <a:cs typeface="Aptos" pitchFamily="34" charset="-120"/>
              </a:rPr>
              <a:t>2. What is the role of a system of record in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3. Which risk is most likely when staff cannot explain how data move through a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should AI planning begin with architecture and workflow mapping?</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Generative AI Profile:.</a:t>
            </a:r>
            <a:endParaRPr lang="en-US" sz="1380" dirty="0"/>
          </a:p>
          <a:p>
            <a:r>
              <a:rPr lang="en-US" sz="1380" dirty="0">
                <a:solidFill>
                  <a:srgbClr val="17364A"/>
                </a:solidFill>
                <a:latin typeface="Aptos" pitchFamily="34" charset="0"/>
                <a:ea typeface="Aptos" pitchFamily="34" charset="-122"/>
                <a:cs typeface="Aptos" pitchFamily="34" charset="-120"/>
              </a:rPr>
              <a:t>ONC interoperability and health IT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2026-07-13T02:11:42Z</dcterms:created>
  <dcterms:modified xsi:type="dcterms:W3CDTF">2026-07-13T02:11:42Z</dcterms:modified>
</cp:coreProperties>
</file>