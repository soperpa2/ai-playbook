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81f5f3291c40a4" /><Relationship Type="http://schemas.openxmlformats.org/officeDocument/2006/relationships/extended-properties" Target="/docProps/app.xml" Id="R8a014c87876f4d33" /><Relationship Type="http://schemas.openxmlformats.org/officeDocument/2006/relationships/officeDocument" Target="/ppt/presentation.xml" Id="Rfff9fd8a121446e6" /></Relationships>
</file>

<file path=ppt/presentation.xml><?xml version="1.0" encoding="utf-8"?>
<p:presentation xmlns:p="http://schemas.openxmlformats.org/presentationml/2006/main">
  <p:sldMasterIdLst>
    <p:sldMasterId xmlns:r="http://schemas.openxmlformats.org/officeDocument/2006/relationships" id="2147483648" r:id="Rdd1e05bc164c43da"/>
  </p:sldMasterIdLst>
  <p:notesMasterIdLst>
    <p:notesMasterId xmlns:r="http://schemas.openxmlformats.org/officeDocument/2006/relationships" r:id="Rd4d66477105347fe"/>
  </p:notesMasterIdLst>
  <p:sldIdLst>
    <p:sldId xmlns:r="http://schemas.openxmlformats.org/officeDocument/2006/relationships" id="256" r:id="Rc1cb328bbf1b4ea8"/>
    <p:sldId xmlns:r="http://schemas.openxmlformats.org/officeDocument/2006/relationships" id="257" r:id="R393f63290fee42d6"/>
    <p:sldId xmlns:r="http://schemas.openxmlformats.org/officeDocument/2006/relationships" id="258" r:id="Rfd636b69c4f24a7f"/>
    <p:sldId xmlns:r="http://schemas.openxmlformats.org/officeDocument/2006/relationships" id="259" r:id="R3baf11a40e9d4b16"/>
    <p:sldId xmlns:r="http://schemas.openxmlformats.org/officeDocument/2006/relationships" id="260" r:id="R8a8333c4a8f24bf2"/>
    <p:sldId xmlns:r="http://schemas.openxmlformats.org/officeDocument/2006/relationships" id="261" r:id="Rdb375b2c1afe491c"/>
    <p:sldId xmlns:r="http://schemas.openxmlformats.org/officeDocument/2006/relationships" id="262" r:id="Rd3070d8d8d124a4c"/>
    <p:sldId xmlns:r="http://schemas.openxmlformats.org/officeDocument/2006/relationships" id="263" r:id="R5a330b461e8b4cf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cbb7acf5ee430d" /><Relationship Type="http://schemas.openxmlformats.org/officeDocument/2006/relationships/slideMaster" Target="/ppt/slideMasters/slideMaster1.xml" Id="Rdd1e05bc164c43da" /><Relationship Type="http://schemas.openxmlformats.org/officeDocument/2006/relationships/notesMaster" Target="/ppt/notesMasters/notesMaster1.xml" Id="Rd4d66477105347fe" /><Relationship Type="http://schemas.openxmlformats.org/officeDocument/2006/relationships/presProps" Target="/ppt/presProps.xml" Id="R39510b9301d64778" /><Relationship Type="http://schemas.openxmlformats.org/officeDocument/2006/relationships/tableStyles" Target="/ppt/tableStyles.xml" Id="R7e7a2f44a0e14407" /><Relationship Type="http://schemas.openxmlformats.org/officeDocument/2006/relationships/slide" Target="/ppt/slides/slide1.xml" Id="Rc1cb328bbf1b4ea8" /><Relationship Type="http://schemas.openxmlformats.org/officeDocument/2006/relationships/slide" Target="/ppt/slides/slide2.xml" Id="R393f63290fee42d6" /><Relationship Type="http://schemas.openxmlformats.org/officeDocument/2006/relationships/slide" Target="/ppt/slides/slide3.xml" Id="Rfd636b69c4f24a7f" /><Relationship Type="http://schemas.openxmlformats.org/officeDocument/2006/relationships/slide" Target="/ppt/slides/slide4.xml" Id="R3baf11a40e9d4b16" /><Relationship Type="http://schemas.openxmlformats.org/officeDocument/2006/relationships/slide" Target="/ppt/slides/slide5.xml" Id="R8a8333c4a8f24bf2" /><Relationship Type="http://schemas.openxmlformats.org/officeDocument/2006/relationships/slide" Target="/ppt/slides/slide6.xml" Id="Rdb375b2c1afe491c" /><Relationship Type="http://schemas.openxmlformats.org/officeDocument/2006/relationships/slide" Target="/ppt/slides/slide7.xml" Id="Rd3070d8d8d124a4c" /><Relationship Type="http://schemas.openxmlformats.org/officeDocument/2006/relationships/slide" Target="/ppt/slides/slide8.xml" Id="R5a330b461e8b4c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20a62b764642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e2032edbc148f1" /><Relationship Type="http://schemas.openxmlformats.org/officeDocument/2006/relationships/notesMaster" Target="/ppt/notesMasters/notesMaster1.xml" Id="R3f22344c712a41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26a6a232e5433f" /><Relationship Type="http://schemas.openxmlformats.org/officeDocument/2006/relationships/notesMaster" Target="/ppt/notesMasters/notesMaster1.xml" Id="R4162d510f93645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1ecc4abe5044fe" /><Relationship Type="http://schemas.openxmlformats.org/officeDocument/2006/relationships/notesMaster" Target="/ppt/notesMasters/notesMaster1.xml" Id="Rfe45f7dfd52949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bf4ac2940b4d98" /><Relationship Type="http://schemas.openxmlformats.org/officeDocument/2006/relationships/notesMaster" Target="/ppt/notesMasters/notesMaster1.xml" Id="Rce85c3ec8a184e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4dc905b4aa4c83" /><Relationship Type="http://schemas.openxmlformats.org/officeDocument/2006/relationships/notesMaster" Target="/ppt/notesMasters/notesMaster1.xml" Id="Rd232bdbad5ea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086720ecee4bcd" /><Relationship Type="http://schemas.openxmlformats.org/officeDocument/2006/relationships/notesMaster" Target="/ppt/notesMasters/notesMaster1.xml" Id="Re50569b1f5284f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ab98f8788e4cf0" /><Relationship Type="http://schemas.openxmlformats.org/officeDocument/2006/relationships/notesMaster" Target="/ppt/notesMasters/notesMaster1.xml" Id="Rf2386315cd28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b55eaac2624f6d" /><Relationship Type="http://schemas.openxmlformats.org/officeDocument/2006/relationships/notesMaster" Target="/ppt/notesMasters/notesMaster1.xml" Id="R1245ef3cb89a41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Federal Funding Opportunities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work can often be positioned as a capability layer on top of data modernization, infrastructure, workforce, and equity investments.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8, 9 and Tools 33, 32, 36.</a:t>
            </a:r>
          </a:p>
          <a:p xmlns:a="http://schemas.openxmlformats.org/drawingml/2006/main">
            <a:r>
              <a:t>Emphasize the core guardrail: Do not approve projects without confirmed pilot, scale, and sustainment resources.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8, 9 and Tools 33, 32, 36.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8, 9 and Tools 33, 32, 36.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8, 9 and Tools 33, 32, 36.</a:t>
            </a:r>
          </a:p>
          <a:p xmlns:a="http://schemas.openxmlformats.org/drawingml/2006/main">
            <a:r>
              <a:t>Invite participants to identify where these practices would need to be documented in their own department.</a:t>
            </a:r>
          </a:p>
          <a:p xmlns:a="http://schemas.openxmlformats.org/drawingml/2006/main">
            <a:r>
              <a:t>Start with Funding Alignment,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8, 9 and Tools 33, 32, 36.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8, 9 and Tools 33, 32, 36.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Funding alignment table, Sustainment plan, Budget categories for responsible AI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Federal Funding Opportunities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8, 9 and Tools 33, 32, 36.</a:t>
            </a:r>
          </a:p>
          <a:p xmlns:a="http://schemas.openxmlformats.org/drawingml/2006/main">
            <a:r>
              <a:t>Point participants to the first resource: CDC Data Modernization Initiative.</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5b8b39ae4c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4bdac9cec74d46" /><Relationship Type="http://schemas.openxmlformats.org/officeDocument/2006/relationships/slideLayout" Target="/ppt/slideLayouts/slideLayout1.xml" Id="Rb8482fbf5c954e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482fbf5c954e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7159c0be144a84" /><Relationship Type="http://schemas.openxmlformats.org/officeDocument/2006/relationships/image" Target="/ppt/media/image.png" Id="Rc35a46b643054b2e" /><Relationship Type="http://schemas.openxmlformats.org/officeDocument/2006/relationships/notesSlide" Target="/ppt/notesSlides/notesSlide1.xml" Id="R40021aae7c8340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d93ee333a1428d" /><Relationship Type="http://schemas.openxmlformats.org/officeDocument/2006/relationships/notesSlide" Target="/ppt/notesSlides/notesSlide2.xml" Id="Rdb5c48112c6148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90342ae4ed4447" /><Relationship Type="http://schemas.openxmlformats.org/officeDocument/2006/relationships/notesSlide" Target="/ppt/notesSlides/notesSlide3.xml" Id="Rcad5ac4f7d6046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d6559dfeb842be" /><Relationship Type="http://schemas.openxmlformats.org/officeDocument/2006/relationships/notesSlide" Target="/ppt/notesSlides/notesSlide4.xml" Id="R3eff405d672745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a5acd83aa8468a" /><Relationship Type="http://schemas.openxmlformats.org/officeDocument/2006/relationships/notesSlide" Target="/ppt/notesSlides/notesSlide5.xml" Id="Rf4059fe8ab484a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f3897c14b54dbe" /><Relationship Type="http://schemas.openxmlformats.org/officeDocument/2006/relationships/notesSlide" Target="/ppt/notesSlides/notesSlide6.xml" Id="R7e50e655055a4c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df5cd379d34144" /><Relationship Type="http://schemas.openxmlformats.org/officeDocument/2006/relationships/notesSlide" Target="/ppt/notesSlides/notesSlide7.xml" Id="R979df1ccdff647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364b91f4af4d6e" /><Relationship Type="http://schemas.openxmlformats.org/officeDocument/2006/relationships/notesSlide" Target="/ppt/notesSlides/notesSlide8.xml" Id="R35757403712a454a"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35a46b643054b2e"/>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434B95-CD2D-4EFD-B6DA-B6B51D3CE696}"/>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17</a:t>
            </a:r>
          </a:p>
        </p:txBody>
      </p:sp>
      <p:sp>
        <p:nvSpPr>
          <p:cNvPr id="3" name="">
            <a:extLst xmlns:a="http://schemas.openxmlformats.org/drawingml/2006/main">
              <a:ext uri="{FF2B5EF4-FFF2-40B4-BE49-F238E27FC236}">
                <a16:creationId xmlns:a16="http://schemas.microsoft.com/office/drawing/2014/main" id="{D1282B28-1786-47A5-9DE4-4F248839CDDA}"/>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Federal Funding Opportunities</a:t>
            </a:r>
          </a:p>
        </p:txBody>
      </p:sp>
      <p:sp>
        <p:nvSpPr>
          <p:cNvPr id="4" name="">
            <a:extLst xmlns:a="http://schemas.openxmlformats.org/drawingml/2006/main">
              <a:ext uri="{FF2B5EF4-FFF2-40B4-BE49-F238E27FC236}">
                <a16:creationId xmlns:a16="http://schemas.microsoft.com/office/drawing/2014/main" id="{A4B848E2-2AC4-46EA-A847-9862F8CB7BED}"/>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B26247B-DE04-48F2-90A1-C69645427664}"/>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AC277E6A-1DFD-491F-80AB-3D259835D32A}"/>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1246861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005967-8787-47C5-9F6D-445479A72AE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C29A0F5-C245-4B83-864A-FF2D7B47391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8EC19533-80B3-4BC7-9809-41FFA820658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CEF4C84-5600-4BF1-9B20-BBAFD8960F11}"/>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work can often be positioned as a capability layer on top of data modernization, infrastructure, workforce, and equity investments.</a:t>
            </a:r>
          </a:p>
        </p:txBody>
      </p:sp>
      <p:sp>
        <p:nvSpPr>
          <p:cNvPr id="5" name="">
            <a:extLst xmlns:a="http://schemas.openxmlformats.org/drawingml/2006/main">
              <a:ext uri="{FF2B5EF4-FFF2-40B4-BE49-F238E27FC236}">
                <a16:creationId xmlns:a16="http://schemas.microsoft.com/office/drawing/2014/main" id="{A9DC5DD3-CDC2-4A87-BD74-5362629E17F1}"/>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3B10FAA-9CEA-4926-BE58-42D125FA6D3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AC4901A-8A5E-4B48-9720-F9E03095A47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DD8401D2-10BA-4CA7-895A-5E55FE9E6347}"/>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projects often require resources that are easy to overlook: staff time, governance, training, validation, data modernization, monitoring, accessibility, community engagement, and sustainment. Funding strategy should make the full cost of.</a:t>
            </a:r>
          </a:p>
        </p:txBody>
      </p:sp>
      <p:sp>
        <p:nvSpPr>
          <p:cNvPr id="9" name="">
            <a:extLst xmlns:a="http://schemas.openxmlformats.org/drawingml/2006/main">
              <a:ext uri="{FF2B5EF4-FFF2-40B4-BE49-F238E27FC236}">
                <a16:creationId xmlns:a16="http://schemas.microsoft.com/office/drawing/2014/main" id="{F3F73EEA-7CC0-4338-B6DF-809BE4000C6D}"/>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45041A2-C0A6-433B-84AA-5F0A4386173C}"/>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BCA1152B-D15C-4F0C-BB1F-2B2352C8447D}"/>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E0C2E9C0-6929-4930-95B4-77CE9C3E3B21}"/>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approve projects without confirmed pilot, scale, and sustainment resources.</a:t>
            </a:r>
          </a:p>
        </p:txBody>
      </p:sp>
      <p:sp>
        <p:nvSpPr>
          <p:cNvPr id="13" name="">
            <a:extLst xmlns:a="http://schemas.openxmlformats.org/drawingml/2006/main">
              <a:ext uri="{FF2B5EF4-FFF2-40B4-BE49-F238E27FC236}">
                <a16:creationId xmlns:a16="http://schemas.microsoft.com/office/drawing/2014/main" id="{3E1BC80B-942C-4C63-8CC3-1119B72B6DF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4" name="">
            <a:extLst xmlns:a="http://schemas.openxmlformats.org/drawingml/2006/main">
              <a:ext uri="{FF2B5EF4-FFF2-40B4-BE49-F238E27FC236}">
                <a16:creationId xmlns:a16="http://schemas.microsoft.com/office/drawing/2014/main" id="{9B7C19CA-2403-403B-A005-1A15AA523E7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74163261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97C152-97A4-48C5-899B-E4777E3DAF8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315196B-E3D8-4B58-94FD-0D2C008CB7E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9AA539C6-748C-4EF2-99AF-FFA219B9C40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BD5ACF1-7DEA-406B-B946-A27C1FB9FD71}"/>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C738C95B-139E-4569-86CF-890C344C313D}"/>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Federal Funding Opportunities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68394709-B33F-4F9B-958C-FDB481FBF71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7" name="">
            <a:extLst xmlns:a="http://schemas.openxmlformats.org/drawingml/2006/main">
              <a:ext uri="{FF2B5EF4-FFF2-40B4-BE49-F238E27FC236}">
                <a16:creationId xmlns:a16="http://schemas.microsoft.com/office/drawing/2014/main" id="{FA2265B3-077D-4E97-AE7E-B1687DB8AC5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04749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91A1C1-BA84-417C-9BC8-47304A9FB3A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E838DC5-EAB2-4594-B4A6-7B80030FAEC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FBB1323E-BA9C-4043-BA5C-F49F332E180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ED44199-09B4-4902-AB58-555D1D619075}"/>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projects need funding for more than software licenses. Responsible implementation may require data modernization, cloud or secure infrastructure, staff time, training, governance, legal and procurement review, evaluation, monitoring, translation, accessibility, community engagement, and sustainment. Funding strategy should be developed before pilots are approved for scale.</a:t>
            </a:r>
          </a:p>
        </p:txBody>
      </p:sp>
      <p:sp>
        <p:nvSpPr>
          <p:cNvPr id="5" name="">
            <a:extLst xmlns:a="http://schemas.openxmlformats.org/drawingml/2006/main">
              <a:ext uri="{FF2B5EF4-FFF2-40B4-BE49-F238E27FC236}">
                <a16:creationId xmlns:a16="http://schemas.microsoft.com/office/drawing/2014/main" id="{925B3B0B-4486-4D80-9109-A2E720920848}"/>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F0545A9-D507-4E88-9184-AEC4E89165FA}"/>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A7CF198-397B-4AFA-8EE3-0FA0BC74F946}"/>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AECE3D3D-74A2-4EB8-8003-2F255C50E445}"/>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work can often be positioned as a capability layer on top of data modernization, infrastructure, workforce, and equity investments.</a:t>
            </a:r>
          </a:p>
        </p:txBody>
      </p:sp>
      <p:sp>
        <p:nvSpPr>
          <p:cNvPr id="9" name="">
            <a:extLst xmlns:a="http://schemas.openxmlformats.org/drawingml/2006/main">
              <a:ext uri="{FF2B5EF4-FFF2-40B4-BE49-F238E27FC236}">
                <a16:creationId xmlns:a16="http://schemas.microsoft.com/office/drawing/2014/main" id="{DAA189E3-EF3E-4E28-96F4-D59B0009492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0" name="">
            <a:extLst xmlns:a="http://schemas.openxmlformats.org/drawingml/2006/main">
              <a:ext uri="{FF2B5EF4-FFF2-40B4-BE49-F238E27FC236}">
                <a16:creationId xmlns:a16="http://schemas.microsoft.com/office/drawing/2014/main" id="{C02F00A3-660C-4AD1-A370-BC1B4401DE1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87301372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A2FE28-8925-46ED-9937-96BFBC373E6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D4D7D1F-4F31-4FDD-B095-845A80EBCDE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1F5D505E-F7C4-4893-B17B-9A727593531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19053AA-3D22-429F-981D-B23DC2AC1DC1}"/>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41F645C-7486-4C84-8FA5-6E740864B124}"/>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D4CF663-052B-4D42-A56D-7F2CAE085988}"/>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Funding Alignment</a:t>
            </a:r>
          </a:p>
        </p:txBody>
      </p:sp>
      <p:sp>
        <p:nvSpPr>
          <p:cNvPr id="7" name="">
            <a:extLst xmlns:a="http://schemas.openxmlformats.org/drawingml/2006/main">
              <a:ext uri="{FF2B5EF4-FFF2-40B4-BE49-F238E27FC236}">
                <a16:creationId xmlns:a16="http://schemas.microsoft.com/office/drawing/2014/main" id="{4CAB015E-B2B6-4E4D-8FD0-B2FC276DAD41}"/>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Position AI as an enabling capability within data modernization, workforce, equity, emergency preparedness, surveillance,. Match use cases to allowable costs in DMI, PHIG, HRSA, FEMA, EPA, SAMHSA, NIH, NSF, or state and local funding streams.</a:t>
            </a:r>
          </a:p>
        </p:txBody>
      </p:sp>
      <p:sp>
        <p:nvSpPr>
          <p:cNvPr id="8" name="">
            <a:extLst xmlns:a="http://schemas.openxmlformats.org/drawingml/2006/main">
              <a:ext uri="{FF2B5EF4-FFF2-40B4-BE49-F238E27FC236}">
                <a16:creationId xmlns:a16="http://schemas.microsoft.com/office/drawing/2014/main" id="{07E2835C-0122-486B-98B9-A84095572808}"/>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0EC1B60-CED1-4411-A940-F66343BA956B}"/>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7AF9F19-565D-4FC7-B419-80E1CAA2CE8B}"/>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Budget Categories</a:t>
            </a:r>
          </a:p>
        </p:txBody>
      </p:sp>
      <p:sp>
        <p:nvSpPr>
          <p:cNvPr id="11" name="">
            <a:extLst xmlns:a="http://schemas.openxmlformats.org/drawingml/2006/main">
              <a:ext uri="{FF2B5EF4-FFF2-40B4-BE49-F238E27FC236}">
                <a16:creationId xmlns:a16="http://schemas.microsoft.com/office/drawing/2014/main" id="{209F15A9-B7A8-4BC7-B212-4AC4A4FD4825}"/>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Technology licenses, hosting, security review, integration, and vendor support. Staff time for governance, implementation, training, monitoring, and evaluation. Community engagement, accessibility, translation, and communications support..</a:t>
            </a:r>
          </a:p>
        </p:txBody>
      </p:sp>
      <p:sp>
        <p:nvSpPr>
          <p:cNvPr id="12" name="">
            <a:extLst xmlns:a="http://schemas.openxmlformats.org/drawingml/2006/main">
              <a:ext uri="{FF2B5EF4-FFF2-40B4-BE49-F238E27FC236}">
                <a16:creationId xmlns:a16="http://schemas.microsoft.com/office/drawing/2014/main" id="{F606807D-AC3E-4D71-B86F-C44851EA176B}"/>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349B5AE-EE9D-4D0E-97E9-4BE932C58085}"/>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2EF4865C-7410-4A75-8361-4973881166DA}"/>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Sustainment Questions</a:t>
            </a:r>
          </a:p>
        </p:txBody>
      </p:sp>
      <p:sp>
        <p:nvSpPr>
          <p:cNvPr id="15" name="">
            <a:extLst xmlns:a="http://schemas.openxmlformats.org/drawingml/2006/main">
              <a:ext uri="{FF2B5EF4-FFF2-40B4-BE49-F238E27FC236}">
                <a16:creationId xmlns:a16="http://schemas.microsoft.com/office/drawing/2014/main" id="{A63B7257-E077-4C84-A3CF-343D17CB5858}"/>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pays after the pilot? What staffing is required to keep the system safe and useful? What costs increase if the system scales across programs or jurisdictions? What functions can be shared regionally or through partnerships?</a:t>
            </a:r>
          </a:p>
        </p:txBody>
      </p:sp>
      <p:sp>
        <p:nvSpPr>
          <p:cNvPr id="16" name="">
            <a:extLst xmlns:a="http://schemas.openxmlformats.org/drawingml/2006/main">
              <a:ext uri="{FF2B5EF4-FFF2-40B4-BE49-F238E27FC236}">
                <a16:creationId xmlns:a16="http://schemas.microsoft.com/office/drawing/2014/main" id="{EED68E95-1958-4D83-A2D5-DAB54AB655D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7" name="">
            <a:extLst xmlns:a="http://schemas.openxmlformats.org/drawingml/2006/main">
              <a:ext uri="{FF2B5EF4-FFF2-40B4-BE49-F238E27FC236}">
                <a16:creationId xmlns:a16="http://schemas.microsoft.com/office/drawing/2014/main" id="{3783F0BF-45FD-4DEB-9B63-C81210A0FDB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1715685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D12F4D-A8FA-4E3C-B384-7097F1B992E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490D842-E503-4295-ADF9-CF2FF1A1A4B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B93E5E42-D407-4E02-AF8C-A7D856410E8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1EA2727-FEEE-4D34-8208-1F76318049B9}"/>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EACE3A04-8A50-4F99-9E3B-36956555E7A0}"/>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939761B-A30F-4B5C-882E-C9DC7F71C900}"/>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15EC6C6-4E10-42DF-8E2D-BE2A6D8F8B96}"/>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DMI-supported data pipelines</a:t>
            </a:r>
          </a:p>
        </p:txBody>
      </p:sp>
      <p:sp>
        <p:nvSpPr>
          <p:cNvPr id="8" name="">
            <a:extLst xmlns:a="http://schemas.openxmlformats.org/drawingml/2006/main">
              <a:ext uri="{FF2B5EF4-FFF2-40B4-BE49-F238E27FC236}">
                <a16:creationId xmlns:a16="http://schemas.microsoft.com/office/drawing/2014/main" id="{BC437AE6-9176-4F2C-A456-E682C95BD0F2}"/>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data modernization investments to strengthen interoperability, data quality, cloud readiness, and analytics infrastructure needed for AI.</a:t>
            </a:r>
          </a:p>
        </p:txBody>
      </p:sp>
      <p:sp>
        <p:nvSpPr>
          <p:cNvPr id="9" name="">
            <a:extLst xmlns:a="http://schemas.openxmlformats.org/drawingml/2006/main">
              <a:ext uri="{FF2B5EF4-FFF2-40B4-BE49-F238E27FC236}">
                <a16:creationId xmlns:a16="http://schemas.microsoft.com/office/drawing/2014/main" id="{1A06A40E-19E0-4F5E-9AC1-39EC3272EDF7}"/>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0C3F148-8416-4A24-8B5E-145C134C1087}"/>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CF7DDE9-D01E-4EBC-A8D3-5ED7D348E718}"/>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PHIG-supported workforce and governance</a:t>
            </a:r>
          </a:p>
        </p:txBody>
      </p:sp>
      <p:sp>
        <p:nvSpPr>
          <p:cNvPr id="12" name="">
            <a:extLst xmlns:a="http://schemas.openxmlformats.org/drawingml/2006/main">
              <a:ext uri="{FF2B5EF4-FFF2-40B4-BE49-F238E27FC236}">
                <a16:creationId xmlns:a16="http://schemas.microsoft.com/office/drawing/2014/main" id="{4AE8BFD3-1050-4982-B18C-D073CD9EEFE9}"/>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infrastructure funding to support AI literacy, governance capacity, data staff, policy development, and implementation readiness.</a:t>
            </a:r>
          </a:p>
        </p:txBody>
      </p:sp>
      <p:sp>
        <p:nvSpPr>
          <p:cNvPr id="13" name="">
            <a:extLst xmlns:a="http://schemas.openxmlformats.org/drawingml/2006/main">
              <a:ext uri="{FF2B5EF4-FFF2-40B4-BE49-F238E27FC236}">
                <a16:creationId xmlns:a16="http://schemas.microsoft.com/office/drawing/2014/main" id="{F45BD0E2-8F53-4D7F-9DC9-B9388FB9440A}"/>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920ED48-CFCB-4837-8BB4-C9E77FCEBC10}"/>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2BA204A5-2E0C-4D0F-BF2F-4A2EBDF90C83}"/>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Grant-aligned pilots</a:t>
            </a:r>
          </a:p>
        </p:txBody>
      </p:sp>
      <p:sp>
        <p:nvSpPr>
          <p:cNvPr id="16" name="">
            <a:extLst xmlns:a="http://schemas.openxmlformats.org/drawingml/2006/main">
              <a:ext uri="{FF2B5EF4-FFF2-40B4-BE49-F238E27FC236}">
                <a16:creationId xmlns:a16="http://schemas.microsoft.com/office/drawing/2014/main" id="{220F127D-C540-4C12-9688-44A13E8BBF1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Design small pilots that map to allowable funding activities, measurable outputs, evaluation requirements, and sustainment plans.</a:t>
            </a:r>
          </a:p>
        </p:txBody>
      </p:sp>
      <p:sp>
        <p:nvSpPr>
          <p:cNvPr id="17" name="">
            <a:extLst xmlns:a="http://schemas.openxmlformats.org/drawingml/2006/main">
              <a:ext uri="{FF2B5EF4-FFF2-40B4-BE49-F238E27FC236}">
                <a16:creationId xmlns:a16="http://schemas.microsoft.com/office/drawing/2014/main" id="{BE5C628E-F07D-4306-A964-1AFB7861A61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8" name="">
            <a:extLst xmlns:a="http://schemas.openxmlformats.org/drawingml/2006/main">
              <a:ext uri="{FF2B5EF4-FFF2-40B4-BE49-F238E27FC236}">
                <a16:creationId xmlns:a16="http://schemas.microsoft.com/office/drawing/2014/main" id="{BF7111FF-0147-49CA-94B9-416581543E8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77893548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6F87A6-FF03-4954-A253-DEA0F4B511E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C072BA0-1829-4F71-8DDA-0B687AC81B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7DCA4F1D-ACBE-4F15-B8A6-DDB49EFE782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DA55217-5312-47CC-AE8A-573FE2C3E3D1}"/>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9B6E308-96BC-4A8C-BF3E-FF7ECD257AE1}"/>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5C68D8C-FD57-45CA-8CF3-5A19B20B79F0}"/>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650CD3AE-89E1-41DD-9FA9-F16F16820E08}"/>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costs are required before pilot, during deployment, and after scale? Which funding streams align with data, workforce, equity, emergency response, surveillance, or service delivery goals? What happens when short-term funding ends?</a:t>
            </a:r>
          </a:p>
        </p:txBody>
      </p:sp>
      <p:sp>
        <p:nvSpPr>
          <p:cNvPr id="8" name="">
            <a:extLst xmlns:a="http://schemas.openxmlformats.org/drawingml/2006/main">
              <a:ext uri="{FF2B5EF4-FFF2-40B4-BE49-F238E27FC236}">
                <a16:creationId xmlns:a16="http://schemas.microsoft.com/office/drawing/2014/main" id="{DA62A3C8-9C68-4759-86C9-08F5EBD4222F}"/>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E68B813-DA35-4607-9F03-13D9E5328CF2}"/>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2F8A3EE-125C-4415-BC16-AAEDC48389D4}"/>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DB9AEBA6-9E51-4171-8AF5-16A0AE60601B}"/>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Build a funding map for one approved use case that includes pilot costs, scale costs, sustainment costs, staffing, evaluation, governance, and possible funding sources.</a:t>
            </a:r>
          </a:p>
        </p:txBody>
      </p:sp>
      <p:sp>
        <p:nvSpPr>
          <p:cNvPr id="12" name="">
            <a:extLst xmlns:a="http://schemas.openxmlformats.org/drawingml/2006/main">
              <a:ext uri="{FF2B5EF4-FFF2-40B4-BE49-F238E27FC236}">
                <a16:creationId xmlns:a16="http://schemas.microsoft.com/office/drawing/2014/main" id="{257D32C3-F907-4802-B3EF-C6B9B939E86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3" name="">
            <a:extLst xmlns:a="http://schemas.openxmlformats.org/drawingml/2006/main">
              <a:ext uri="{FF2B5EF4-FFF2-40B4-BE49-F238E27FC236}">
                <a16:creationId xmlns:a16="http://schemas.microsoft.com/office/drawing/2014/main" id="{4146DE92-0976-4433-BB33-917930819BA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4726509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0C56AE-1D42-422F-8922-BFCEF8B5EDD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1F2F9F5-FABC-4962-B24F-6741B03B31E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F2193941-C95F-4284-8A67-DBDC9B91A16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A95FBEA-785E-4CD5-BACA-7447657C5FED}"/>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FE5613F-0C4F-4AA7-B7BA-10B8ADE8B2A5}"/>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7936121E-9065-4CDF-A69E-A8D0DA690CE3}"/>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215D4CE1-ECD5-4A61-BF33-C8638B35D563}"/>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8, 9 and Tools 33, 32, 36.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F0FE8CDD-7F61-4604-BC2D-D86EFC6DF81D}"/>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6B971CF-B3EC-4560-9E73-D1633FA81582}"/>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B7BA8F96-A289-4E44-A473-273356253BC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2C91C0A4-A28F-4C09-BC55-993CEBEB421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CDC Data Modernization Initiative: Potential alignment for data infrastructure and AI-ready modernization investments. Public Health Infrastructure Grant: Potential alignment for workforce, data systems, organizational capacity, and equity.</a:t>
            </a:r>
          </a:p>
        </p:txBody>
      </p:sp>
      <p:sp>
        <p:nvSpPr>
          <p:cNvPr id="12" name="">
            <a:extLst xmlns:a="http://schemas.openxmlformats.org/drawingml/2006/main">
              <a:ext uri="{FF2B5EF4-FFF2-40B4-BE49-F238E27FC236}">
                <a16:creationId xmlns:a16="http://schemas.microsoft.com/office/drawing/2014/main" id="{040D7137-B775-4104-B68E-0D59DA32714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Federal Funding Opportunities</a:t>
            </a:r>
          </a:p>
        </p:txBody>
      </p:sp>
      <p:sp>
        <p:nvSpPr>
          <p:cNvPr id="13" name="">
            <a:extLst xmlns:a="http://schemas.openxmlformats.org/drawingml/2006/main">
              <a:ext uri="{FF2B5EF4-FFF2-40B4-BE49-F238E27FC236}">
                <a16:creationId xmlns:a16="http://schemas.microsoft.com/office/drawing/2014/main" id="{3A633F77-2EEF-46FC-B187-E30EC500F1E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942249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2026-07-02T17:47:03.8000000Z</dcterms:created>
  <dcterms:modified xsi:type="dcterms:W3CDTF">2026-07-02T17:47:03.8000000Z</dcterms:modified>
</coreProperties>
</file>