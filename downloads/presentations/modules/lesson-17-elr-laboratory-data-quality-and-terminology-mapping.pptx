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240 ELR, Laboratory Data Quality, and Terminology Mapping
Electronic laboratory reporting supplies critical evidence for infectious disease surveillance, outbreak detection, case investigation, and program monitoring. AI tools that use laboratory data depend on the quality of test codes, result codes, units, specimen information, dates, and mappings to reportable conditions. This module teaches learners how laboratory data quality and terminology mapping affect AI-supported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Electronic laboratory reporting supplies critical evidence for infectious disease surveillance, outbreak detection, case investigation, and program monitoring. AI tools that use laboratory data depend on the quality of test codes, result codes, units, specimen information, dates, and mappings to reportable conditions. This module teaches learners how laboratory data quality and terminology mapping affect AI-supported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how ELR supports public health surveillance and response.
Explain why LOINC, SNOMED CT, UCUM, local codes, and reportable condition mappings matter for AI.
Identify common laboratory data quality problems that can affect AI outputs.
Assess whether lab data are fit for a specific AI-supported use case.
Produce a lab data quality checklist for an AI-supported surveillance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Electronic laboratory reporting supplies critical evidence for infectious disease surveillance, outbreak detection, case investigation, and program monitoring. AI tools that use laboratory data depend on the quality of test codes, result codes, units, specimen information, dates, and mappings to reportable conditions. This module teaches learners how laboratory data quality and terminology mapping affect AI-supported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Laboratory data are often treated as objective because they come from tests and instruments, but the data that reach public health systems are still mediated by coding, mapping, transmission, and interpretation. A laboratory result can be difficult to use if the test code is local, the result is free text, the units are missing, the specimen source is ambiguous, or the date fields are inconsistent. AI tools can magnify these problems by turning unclear data into confident summaries or classifications.
Terminology mapping is central to reliable public health interpretation. LOINC may identify the test performed, SNOMED CT may represent organisms or coded findings, UCUM may represent units, and local codes may need to be mapped before automated logic can interpret them. Reportable condition mapping connects laboratory evidence to public health action. AI tools should not bypass this informatics work.
For epidemiologists, lab data quality affects case definitions, trend analysis, outbreak signals, and priority setting. For technologists, it affects interface validation, parsing, mapping, and monitoring. For informaticians, it connects laboratory operations, standards, surveillance workflows, and public health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ELR. Electronic Laboratory Reporting is the electronic transmission of laboratory reports to public health agencies. ELR can improve timeliness and completeness, but it requires interface onboarding, validation, monitoring, and data quality management.
LOINC. LOINC is commonly used to identify laboratory tests and observations. Correct LOINC mapping helps public health systems understand what was tested, not only what result was reported.
SNOMED CT. SNOMED CT is commonly used to represent clinical findings, organisms, and coded results. It can help standardize the interpretation of laboratory evidence and support reportable condition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UCUM. UCUM is a standard for units of measure. Unit consistency is essential when interpreting quantitative results, thresholds, reference ranges, or trends.
Reportable condition mapping. Reportable condition mapping links laboratory tests and results to conditions that may require reporting or investigation. Mapping quality directly affects automated surveillance and AI-supported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AI tool that summarizes incoming lab reports for disease investigators may need to identify the test performed, result, organism, specimen source, collection date, result date, performing lab, and ordering provider. If a local test code is mapped incorrectly, the summary may imply evidence for the wrong condition. If units are missing, a quantitative result may be uninterpretable. If the specimen source is omitted, the epidemiologic meaning of the result may change.
A second example is anomaly detection using laboratory trends. If a laboratory changes its coding system or starts reporting a new test type, a model may interpret the change as a disease signal. Without terminology monitoring, staff may investigate an artifact rather than a true public health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Laboratory data quality begins with required fields. At minimum, many workflows need patient identifiers, specimen collection date, test ordered, result, result date, performing lab, provider, specimen source, units when applicable, and reportable condition mapping. The exact requirements depend on the use case. An AI tool used for summarization may need different fields than a tool used for trend detection or case classification.
Terminology mapping should be reviewed as an ongoing process. Local codes may change, new tests may be introduced, and laboratories may report results differently across facilities. Mapping decisions should be versioned, tested, and monitored. When an AI tool depends on mapped data, the mapping version becomes part of the model context and should be documented.
Lab data quality review should include missingness, duplication, test-result pairing, abnormal flags, units, reference ranges, specimen source, date logic, and reportable condition mapping. The review should also identify which issues require human review. Some lab results may be appropriate for automated queueing, while others require epidemiologist interpretation before an AI-generated summary or classification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Misleading standardization. A standard code may be present but mapped incorrectly. Guardrails include mapping review, test cases, and terminology stewardship.
Missing units or specimen details. Incomplete fields can change interpretation. Guardrails include required-field checks and uncertainty flags in AI outputs.
Duplicate or corrected reports. AI summaries may treat corrections as new events. Guardrails include duplicate logic, correction handling, and source display.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Reporting pattern changes. Lab reporting changes may look like disease changes. Guardrails include volume monitoring, partner change logs, and anomaly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draft lab summaries, but it should preserve source values and avoid interpreting uncertain or missing fields as facts. Predictive analytics may use lab trends, but model monitoring must distinguish reporting artifacts from disease patterns. NLP may interpret free-text results, but extraction accuracy must be validated. Agentic workflows that trigger tasks from lab results require clear thresholds and human escalation for ambiguous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laboratory data quality issues most often affect your surveillance workflows?
Which local codes require mapping before data can be used reliably?
Are test-result pairs consistently represented?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missing fields would make AI summarization unsafe?
How would staff detect a reporting change that affects AI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lab data quality checklist for one AI-supported surveillance use case. Include required lab fields, terminology standards, mapping requirements, missingness checks, unit checks, test-result pairing checks, duplicate report review, correction handling, human review points, and escalation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Lab data quality checklist
Terminology mapping questions
Required-field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Data quality issue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Lab data quality checklist
Terminology mapping questions
Required-field list
Data quality issue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is terminology mapping important for AI-supported surveillance?
2. What is LOINC commonly used for?
3. Which issue can make a quantitative lab result difficult to interpret?
4. What should happen before AI is used to classify lab reports?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PHIN VADS
Reportable Condition Mapping Table resources
APHL laboratory informatics resources
Jurisdictional ELR onboarding and data quality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ELR, Laboratory Data Quality, and Terminology Mapping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What this module helps you do</a:t>
            </a:r>
            <a:endParaRPr lang="en-US" sz="2700" dirty="0"/>
          </a:p>
        </p:txBody>
      </p:sp>
      <p:sp>
        <p:nvSpPr>
          <p:cNvPr id="8" name="Text 6"/>
          <p:cNvSpPr/>
          <p:nvPr/>
        </p:nvSpPr>
        <p:spPr>
          <a:xfrm>
            <a:off x="868680" y="1417320"/>
            <a:ext cx="6675120" cy="3291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Electronic laboratory reporting supplies critical evidence for infectious disease surveillance, outbreak detection, case investigation, and program.</a:t>
            </a:r>
            <a:endParaRPr lang="en-US" sz="1700" dirty="0"/>
          </a:p>
          <a:p>
            <a:r>
              <a:rPr lang="en-US" sz="1700" dirty="0">
                <a:solidFill>
                  <a:srgbClr val="17364A"/>
                </a:solidFill>
                <a:latin typeface="Aptos" pitchFamily="34" charset="0"/>
                <a:ea typeface="Aptos" pitchFamily="34" charset="-122"/>
                <a:cs typeface="Aptos" pitchFamily="34" charset="-120"/>
              </a:rPr>
              <a:t>AI tools that use laboratory data depend on the quality of test codes, result codes, units, specimen information, dates, and mappings to reportable.</a:t>
            </a:r>
            <a:endParaRPr lang="en-US" sz="1700" dirty="0"/>
          </a:p>
          <a:p>
            <a:r>
              <a:rPr lang="en-US" sz="1700" dirty="0">
                <a:solidFill>
                  <a:srgbClr val="17364A"/>
                </a:solidFill>
                <a:latin typeface="Aptos" pitchFamily="34" charset="0"/>
                <a:ea typeface="Aptos" pitchFamily="34" charset="-122"/>
                <a:cs typeface="Aptos" pitchFamily="34" charset="-120"/>
              </a:rPr>
              <a:t>This module teaches learners how laboratory data quality and terminology mapping affect AI-supported public health work.</a:t>
            </a:r>
            <a:endParaRPr lang="en-US" sz="1700" dirty="0"/>
          </a:p>
        </p:txBody>
      </p:sp>
      <p:sp>
        <p:nvSpPr>
          <p:cNvPr id="9" name="Shape 7"/>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Module details</a:t>
            </a:r>
            <a:endParaRPr lang="en-US" sz="950" dirty="0"/>
          </a:p>
        </p:txBody>
      </p:sp>
      <p:sp>
        <p:nvSpPr>
          <p:cNvPr id="11" name="Text 9"/>
          <p:cNvSpPr/>
          <p:nvPr/>
        </p:nvSpPr>
        <p:spPr>
          <a:xfrm>
            <a:off x="8074152" y="1856232"/>
            <a:ext cx="2825496" cy="135331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Level: applied/foundational</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Primary track: Technical Architecture Track</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Appears in tracks: technical-architecture</a:t>
            </a:r>
            <a:endParaRPr lang="en-US" sz="1250" dirty="0"/>
          </a:p>
        </p:txBody>
      </p:sp>
      <p:sp>
        <p:nvSpPr>
          <p:cNvPr id="12" name="Shape 10"/>
          <p:cNvSpPr/>
          <p:nvPr/>
        </p:nvSpPr>
        <p:spPr>
          <a:xfrm>
            <a:off x="7909560" y="3611880"/>
            <a:ext cx="3154680" cy="1783080"/>
          </a:xfrm>
          <a:prstGeom prst="roundRect">
            <a:avLst>
              <a:gd name="adj" fmla="val 6154"/>
            </a:avLst>
          </a:prstGeom>
          <a:solidFill>
            <a:srgbClr val="EEF8ED"/>
          </a:solidFill>
          <a:ln w="12700">
            <a:solidFill>
              <a:srgbClr val="B9D7E6"/>
            </a:solidFill>
            <a:prstDash val="solid"/>
          </a:ln>
        </p:spPr>
      </p:sp>
      <p:sp>
        <p:nvSpPr>
          <p:cNvPr id="13" name="Text 11"/>
          <p:cNvSpPr/>
          <p:nvPr/>
        </p:nvSpPr>
        <p:spPr>
          <a:xfrm>
            <a:off x="8074152" y="375818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Learning approach</a:t>
            </a:r>
            <a:endParaRPr lang="en-US" sz="950" dirty="0"/>
          </a:p>
        </p:txBody>
      </p:sp>
      <p:sp>
        <p:nvSpPr>
          <p:cNvPr id="14" name="Text 12"/>
          <p:cNvSpPr/>
          <p:nvPr/>
        </p:nvSpPr>
        <p:spPr>
          <a:xfrm>
            <a:off x="8074152" y="4050792"/>
            <a:ext cx="2825496" cy="121615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Review the core ideas, complete the practical exercise, check your understanding, and use the related plays and tools to apply the lesson.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54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 topic to build and deploy.</a:t>
            </a:r>
            <a:endParaRPr lang="en-US" sz="1540" dirty="0"/>
          </a:p>
          <a:p>
            <a:r>
              <a:rPr lang="en-US" sz="154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 prioritize use cases work.</a:t>
            </a:r>
            <a:endParaRPr lang="en-US" sz="1540" dirty="0"/>
          </a:p>
          <a:p>
            <a:r>
              <a:rPr lang="en-US" sz="154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 readiness assessment work.</a:t>
            </a:r>
            <a:endParaRPr lang="en-US" sz="1540" dirty="0"/>
          </a:p>
          <a:p>
            <a:r>
              <a:rPr lang="en-US" sz="154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 vision &amp; guardrails work in.</a:t>
            </a:r>
            <a:endParaRPr lang="en-US" sz="1540" dirty="0"/>
          </a:p>
        </p:txBody>
      </p:sp>
      <p:sp>
        <p:nvSpPr>
          <p:cNvPr id="9" name="Shape 7"/>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Apply the lesson</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250" dirty="0"/>
          </a:p>
        </p:txBody>
      </p:sp>
      <p:sp>
        <p:nvSpPr>
          <p:cNvPr id="12" name="Shape 10"/>
          <p:cNvSpPr/>
          <p:nvPr/>
        </p:nvSpPr>
        <p:spPr>
          <a:xfrm>
            <a:off x="8046720" y="3794760"/>
            <a:ext cx="3063240" cy="1508760"/>
          </a:xfrm>
          <a:prstGeom prst="roundRect">
            <a:avLst>
              <a:gd name="adj" fmla="val 7273"/>
            </a:avLst>
          </a:prstGeom>
          <a:solidFill>
            <a:srgbClr val="FFF4D9"/>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Keep in mind</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playbook connection helps turn training into agency work, not just individual knowledge.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Related toolkit resources</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46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 documented public health.</a:t>
            </a:r>
            <a:endParaRPr lang="en-US" sz="1460" dirty="0"/>
          </a:p>
          <a:p>
            <a:r>
              <a:rPr lang="en-US" sz="146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 Review to translate this.</a:t>
            </a:r>
            <a:endParaRPr lang="en-US" sz="1460" dirty="0"/>
          </a:p>
          <a:p>
            <a:r>
              <a:rPr lang="en-US" sz="146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 Checklist to translate this.</a:t>
            </a:r>
            <a:endParaRPr lang="en-US" sz="1460" dirty="0"/>
          </a:p>
          <a:p>
            <a:r>
              <a:rPr lang="en-US" sz="146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 public health AI planning,.</a:t>
            </a:r>
            <a:endParaRPr lang="en-US" sz="1460" dirty="0"/>
          </a:p>
          <a:p>
            <a:r>
              <a:rPr lang="en-US" sz="1460" dirty="0">
                <a:solidFill>
                  <a:srgbClr val="17364A"/>
                </a:solidFill>
                <a:latin typeface="Aptos" pitchFamily="34" charset="0"/>
                <a:ea typeface="Aptos" pitchFamily="34" charset="-122"/>
                <a:cs typeface="Aptos" pitchFamily="34" charset="-120"/>
              </a:rPr>
              <a:t>Tool 9: Data Quality Assessment Checklist (Checklist) - Use this tool to complete or strengthen the practical exercise for the module.</a:t>
            </a:r>
            <a:endParaRPr lang="en-US" sz="1460" dirty="0"/>
          </a:p>
        </p:txBody>
      </p:sp>
      <p:sp>
        <p:nvSpPr>
          <p:cNvPr id="9" name="Shape 7"/>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the tools</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250" dirty="0"/>
          </a:p>
        </p:txBody>
      </p:sp>
      <p:sp>
        <p:nvSpPr>
          <p:cNvPr id="12" name="Shape 10"/>
          <p:cNvSpPr/>
          <p:nvPr/>
        </p:nvSpPr>
        <p:spPr>
          <a:xfrm>
            <a:off x="8046720" y="3794760"/>
            <a:ext cx="3063240" cy="1508760"/>
          </a:xfrm>
          <a:prstGeom prst="roundRect">
            <a:avLst>
              <a:gd name="adj" fmla="val 7273"/>
            </a:avLst>
          </a:prstGeom>
          <a:solidFill>
            <a:srgbClr val="EEF8ED"/>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Avoid duplication</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If your department already has a strong equivalent tool, adapt or use the existing process instead of recreating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Describe how ELR supports public health surveillance and response.</a:t>
            </a:r>
            <a:endParaRPr lang="en-US" sz="1700" dirty="0"/>
          </a:p>
          <a:p>
            <a:r>
              <a:rPr lang="en-US" sz="1700" dirty="0">
                <a:solidFill>
                  <a:srgbClr val="17364A"/>
                </a:solidFill>
                <a:latin typeface="Aptos" pitchFamily="34" charset="0"/>
                <a:ea typeface="Aptos" pitchFamily="34" charset="-122"/>
                <a:cs typeface="Aptos" pitchFamily="34" charset="-120"/>
              </a:rPr>
              <a:t>Explain why LOINC, SNOMED CT, UCUM, local codes, and reportable condition mappings matter for AI.</a:t>
            </a:r>
            <a:endParaRPr lang="en-US" sz="1700" dirty="0"/>
          </a:p>
          <a:p>
            <a:r>
              <a:rPr lang="en-US" sz="1700" dirty="0">
                <a:solidFill>
                  <a:srgbClr val="17364A"/>
                </a:solidFill>
                <a:latin typeface="Aptos" pitchFamily="34" charset="0"/>
                <a:ea typeface="Aptos" pitchFamily="34" charset="-122"/>
                <a:cs typeface="Aptos" pitchFamily="34" charset="-120"/>
              </a:rPr>
              <a:t>Identify common laboratory data quality problems that can affect AI outputs.</a:t>
            </a:r>
            <a:endParaRPr lang="en-US" sz="1700" dirty="0"/>
          </a:p>
          <a:p>
            <a:r>
              <a:rPr lang="en-US" sz="1700" dirty="0">
                <a:solidFill>
                  <a:srgbClr val="17364A"/>
                </a:solidFill>
                <a:latin typeface="Aptos" pitchFamily="34" charset="0"/>
                <a:ea typeface="Aptos" pitchFamily="34" charset="-122"/>
                <a:cs typeface="Aptos" pitchFamily="34" charset="-120"/>
              </a:rPr>
              <a:t>Assess whether lab data are fit for a specific AI-supported use case.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Describe how ELR supports public health surveillance and response.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Electronic laboratory reporting supplies critical evidence for infectious disease surveillance, outbreak detection, case.</a:t>
            </a:r>
            <a:endParaRPr lang="en-US" sz="1700" dirty="0"/>
          </a:p>
          <a:p>
            <a:r>
              <a:rPr lang="en-US" sz="1700" dirty="0">
                <a:solidFill>
                  <a:srgbClr val="17364A"/>
                </a:solidFill>
                <a:latin typeface="Aptos" pitchFamily="34" charset="0"/>
                <a:ea typeface="Aptos" pitchFamily="34" charset="-122"/>
                <a:cs typeface="Aptos" pitchFamily="34" charset="-120"/>
              </a:rPr>
              <a:t>AI tools that use laboratory data depend on the quality of test codes, result codes, units, specimen information, dates,.</a:t>
            </a:r>
            <a:endParaRPr lang="en-US" sz="1700" dirty="0"/>
          </a:p>
          <a:p>
            <a:r>
              <a:rPr lang="en-US" sz="1700" dirty="0">
                <a:solidFill>
                  <a:srgbClr val="17364A"/>
                </a:solidFill>
                <a:latin typeface="Aptos" pitchFamily="34" charset="0"/>
                <a:ea typeface="Aptos" pitchFamily="34" charset="-122"/>
                <a:cs typeface="Aptos" pitchFamily="34" charset="-120"/>
              </a:rPr>
              <a:t>This module teaches learners how laboratory data quality and terminology mapping affect AI-supported public health work.</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Electronic laboratory reporting supplies critical evidence for infectious disease surveillance, outbreak detection, case.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700" dirty="0"/>
          </a:p>
          <a:p>
            <a:r>
              <a:rPr lang="en-US" sz="17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1700" dirty="0"/>
          </a:p>
          <a:p>
            <a:r>
              <a:rPr lang="en-US" sz="17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 implementing AI-supported.</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Laboratory data are often treated as objective because they come from tests and instruments, but the data that reach public.</a:t>
            </a:r>
            <a:endParaRPr lang="en-US" sz="1700" dirty="0"/>
          </a:p>
          <a:p>
            <a:r>
              <a:rPr lang="en-US" sz="1700" dirty="0">
                <a:solidFill>
                  <a:srgbClr val="17364A"/>
                </a:solidFill>
                <a:latin typeface="Aptos" pitchFamily="34" charset="0"/>
                <a:ea typeface="Aptos" pitchFamily="34" charset="-122"/>
                <a:cs typeface="Aptos" pitchFamily="34" charset="-120"/>
              </a:rPr>
              <a:t>A laboratory result can be difficult to use if the test code is local, the result is free text, the units are missing, the.</a:t>
            </a:r>
            <a:endParaRPr lang="en-US" sz="1700" dirty="0"/>
          </a:p>
          <a:p>
            <a:r>
              <a:rPr lang="en-US" sz="1700" dirty="0">
                <a:solidFill>
                  <a:srgbClr val="17364A"/>
                </a:solidFill>
                <a:latin typeface="Aptos" pitchFamily="34" charset="0"/>
                <a:ea typeface="Aptos" pitchFamily="34" charset="-122"/>
                <a:cs typeface="Aptos" pitchFamily="34" charset="-120"/>
              </a:rPr>
              <a:t>AI tools can magnify these problems by turning unclear data into confident summaries or classifications.</a:t>
            </a:r>
            <a:endParaRPr lang="en-US" sz="1700" dirty="0"/>
          </a:p>
          <a:p>
            <a:r>
              <a:rPr lang="en-US" sz="1700" dirty="0">
                <a:solidFill>
                  <a:srgbClr val="17364A"/>
                </a:solidFill>
                <a:latin typeface="Aptos" pitchFamily="34" charset="0"/>
                <a:ea typeface="Aptos" pitchFamily="34" charset="-122"/>
                <a:cs typeface="Aptos" pitchFamily="34" charset="-120"/>
              </a:rPr>
              <a:t>Terminology mapping is central to reliable public health interpretation.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Laboratory data are often treated as objective because they come from tests and instruments, but the data that reach public.</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Core Concepts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ELR.</a:t>
            </a:r>
            <a:endParaRPr lang="en-US" sz="1700" dirty="0"/>
          </a:p>
          <a:p>
            <a:r>
              <a:rPr lang="en-US" sz="1700" dirty="0">
                <a:solidFill>
                  <a:srgbClr val="17364A"/>
                </a:solidFill>
                <a:latin typeface="Aptos" pitchFamily="34" charset="0"/>
                <a:ea typeface="Aptos" pitchFamily="34" charset="-122"/>
                <a:cs typeface="Aptos" pitchFamily="34" charset="-120"/>
              </a:rPr>
              <a:t>Electronic Laboratory Reporting is the electronic transmission of laboratory reports to public health agencies.</a:t>
            </a:r>
            <a:endParaRPr lang="en-US" sz="1700" dirty="0"/>
          </a:p>
          <a:p>
            <a:r>
              <a:rPr lang="en-US" sz="1700" dirty="0">
                <a:solidFill>
                  <a:srgbClr val="17364A"/>
                </a:solidFill>
                <a:latin typeface="Aptos" pitchFamily="34" charset="0"/>
                <a:ea typeface="Aptos" pitchFamily="34" charset="-122"/>
                <a:cs typeface="Aptos" pitchFamily="34" charset="-120"/>
              </a:rPr>
              <a:t>ELR can improve timeliness and completeness, but it requires interface onboarding, validation, monitoring, and data quality.</a:t>
            </a:r>
            <a:endParaRPr lang="en-US" sz="1700" dirty="0"/>
          </a:p>
          <a:p>
            <a:r>
              <a:rPr lang="en-US" sz="1700" dirty="0">
                <a:solidFill>
                  <a:srgbClr val="17364A"/>
                </a:solidFill>
                <a:latin typeface="Aptos" pitchFamily="34" charset="0"/>
                <a:ea typeface="Aptos" pitchFamily="34" charset="-122"/>
                <a:cs typeface="Aptos" pitchFamily="34" charset="-120"/>
              </a:rPr>
              <a:t>LOINC.</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ELR.</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Core Concepts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UCUM.</a:t>
            </a:r>
            <a:endParaRPr lang="en-US" sz="1700" dirty="0"/>
          </a:p>
          <a:p>
            <a:r>
              <a:rPr lang="en-US" sz="1700" dirty="0">
                <a:solidFill>
                  <a:srgbClr val="17364A"/>
                </a:solidFill>
                <a:latin typeface="Aptos" pitchFamily="34" charset="0"/>
                <a:ea typeface="Aptos" pitchFamily="34" charset="-122"/>
                <a:cs typeface="Aptos" pitchFamily="34" charset="-120"/>
              </a:rPr>
              <a:t>UCUM is a standard for units of measure.</a:t>
            </a:r>
            <a:endParaRPr lang="en-US" sz="1700" dirty="0"/>
          </a:p>
          <a:p>
            <a:r>
              <a:rPr lang="en-US" sz="1700" dirty="0">
                <a:solidFill>
                  <a:srgbClr val="17364A"/>
                </a:solidFill>
                <a:latin typeface="Aptos" pitchFamily="34" charset="0"/>
                <a:ea typeface="Aptos" pitchFamily="34" charset="-122"/>
                <a:cs typeface="Aptos" pitchFamily="34" charset="-120"/>
              </a:rPr>
              <a:t>Unit consistency is essential when interpreting quantitative results, thresholds, reference ranges, or trends.</a:t>
            </a:r>
            <a:endParaRPr lang="en-US" sz="1700" dirty="0"/>
          </a:p>
          <a:p>
            <a:r>
              <a:rPr lang="en-US" sz="1700" dirty="0">
                <a:solidFill>
                  <a:srgbClr val="17364A"/>
                </a:solidFill>
                <a:latin typeface="Aptos" pitchFamily="34" charset="0"/>
                <a:ea typeface="Aptos" pitchFamily="34" charset="-122"/>
                <a:cs typeface="Aptos" pitchFamily="34" charset="-120"/>
              </a:rPr>
              <a:t>Reportable condition mapping.</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UCUM.</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An AI tool that summarizes incoming lab reports for disease investigators may need to identify the test performed, result,.</a:t>
            </a:r>
            <a:endParaRPr lang="en-US" sz="1700" dirty="0"/>
          </a:p>
          <a:p>
            <a:r>
              <a:rPr lang="en-US" sz="1700" dirty="0">
                <a:solidFill>
                  <a:srgbClr val="17364A"/>
                </a:solidFill>
                <a:latin typeface="Aptos" pitchFamily="34" charset="0"/>
                <a:ea typeface="Aptos" pitchFamily="34" charset="-122"/>
                <a:cs typeface="Aptos" pitchFamily="34" charset="-120"/>
              </a:rPr>
              <a:t>If a local test code is mapped incorrectly, the summary may imply evidence for the wrong condition.</a:t>
            </a:r>
            <a:endParaRPr lang="en-US" sz="1700" dirty="0"/>
          </a:p>
          <a:p>
            <a:r>
              <a:rPr lang="en-US" sz="1700" dirty="0">
                <a:solidFill>
                  <a:srgbClr val="17364A"/>
                </a:solidFill>
                <a:latin typeface="Aptos" pitchFamily="34" charset="0"/>
                <a:ea typeface="Aptos" pitchFamily="34" charset="-122"/>
                <a:cs typeface="Aptos" pitchFamily="34" charset="-120"/>
              </a:rPr>
              <a:t>If units are missing, a quantitative result may be uninterpretable.</a:t>
            </a:r>
            <a:endParaRPr lang="en-US" sz="1700" dirty="0"/>
          </a:p>
          <a:p>
            <a:r>
              <a:rPr lang="en-US" sz="1700" dirty="0">
                <a:solidFill>
                  <a:srgbClr val="17364A"/>
                </a:solidFill>
                <a:latin typeface="Aptos" pitchFamily="34" charset="0"/>
                <a:ea typeface="Aptos" pitchFamily="34" charset="-122"/>
                <a:cs typeface="Aptos" pitchFamily="34" charset="-120"/>
              </a:rPr>
              <a:t>If the specimen source is omitted, the epidemiologic meaning of the result may change.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An AI tool that summarizes incoming lab reports for disease investigators may need to identify the test performed, result,.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Laboratory data quality begins with required fields.</a:t>
            </a:r>
            <a:endParaRPr lang="en-US" sz="1700" dirty="0"/>
          </a:p>
          <a:p>
            <a:r>
              <a:rPr lang="en-US" sz="1700" dirty="0">
                <a:solidFill>
                  <a:srgbClr val="17364A"/>
                </a:solidFill>
                <a:latin typeface="Aptos" pitchFamily="34" charset="0"/>
                <a:ea typeface="Aptos" pitchFamily="34" charset="-122"/>
                <a:cs typeface="Aptos" pitchFamily="34" charset="-120"/>
              </a:rPr>
              <a:t>At minimum, many workflows need patient identifiers, specimen collection date, test ordered, result, result date,.</a:t>
            </a:r>
            <a:endParaRPr lang="en-US" sz="1700" dirty="0"/>
          </a:p>
          <a:p>
            <a:r>
              <a:rPr lang="en-US" sz="1700" dirty="0">
                <a:solidFill>
                  <a:srgbClr val="17364A"/>
                </a:solidFill>
                <a:latin typeface="Aptos" pitchFamily="34" charset="0"/>
                <a:ea typeface="Aptos" pitchFamily="34" charset="-122"/>
                <a:cs typeface="Aptos" pitchFamily="34" charset="-120"/>
              </a:rPr>
              <a:t>The exact requirements depend on the use case.</a:t>
            </a:r>
            <a:endParaRPr lang="en-US" sz="1700" dirty="0"/>
          </a:p>
          <a:p>
            <a:r>
              <a:rPr lang="en-US" sz="1700" dirty="0">
                <a:solidFill>
                  <a:srgbClr val="17364A"/>
                </a:solidFill>
                <a:latin typeface="Aptos" pitchFamily="34" charset="0"/>
                <a:ea typeface="Aptos" pitchFamily="34" charset="-122"/>
                <a:cs typeface="Aptos" pitchFamily="34" charset="-120"/>
              </a:rPr>
              <a:t>An AI tool used for summarization may need different fields than a tool used for trend detection or case classification.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Laboratory data quality begins with required fields.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Misleading standardization.</a:t>
            </a:r>
            <a:endParaRPr lang="en-US" sz="1700" dirty="0"/>
          </a:p>
          <a:p>
            <a:r>
              <a:rPr lang="en-US" sz="1700" dirty="0">
                <a:solidFill>
                  <a:srgbClr val="17364A"/>
                </a:solidFill>
                <a:latin typeface="Aptos" pitchFamily="34" charset="0"/>
                <a:ea typeface="Aptos" pitchFamily="34" charset="-122"/>
                <a:cs typeface="Aptos" pitchFamily="34" charset="-120"/>
              </a:rPr>
              <a:t>A standard code may be present but mapped incorrectly.</a:t>
            </a:r>
            <a:endParaRPr lang="en-US" sz="1700" dirty="0"/>
          </a:p>
          <a:p>
            <a:r>
              <a:rPr lang="en-US" sz="1700" dirty="0">
                <a:solidFill>
                  <a:srgbClr val="17364A"/>
                </a:solidFill>
                <a:latin typeface="Aptos" pitchFamily="34" charset="0"/>
                <a:ea typeface="Aptos" pitchFamily="34" charset="-122"/>
                <a:cs typeface="Aptos" pitchFamily="34" charset="-120"/>
              </a:rPr>
              <a:t>Guardrails include mapping review, test cases, and terminology stewardship.</a:t>
            </a:r>
            <a:endParaRPr lang="en-US" sz="1700" dirty="0"/>
          </a:p>
          <a:p>
            <a:r>
              <a:rPr lang="en-US" sz="1700" dirty="0">
                <a:solidFill>
                  <a:srgbClr val="17364A"/>
                </a:solidFill>
                <a:latin typeface="Aptos" pitchFamily="34" charset="0"/>
                <a:ea typeface="Aptos" pitchFamily="34" charset="-122"/>
                <a:cs typeface="Aptos" pitchFamily="34" charset="-120"/>
              </a:rPr>
              <a:t>Missing units or specimen details.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Misleading standardization.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Reporting pattern changes.</a:t>
            </a:r>
            <a:endParaRPr lang="en-US" sz="1700" dirty="0"/>
          </a:p>
          <a:p>
            <a:r>
              <a:rPr lang="en-US" sz="1700" dirty="0">
                <a:solidFill>
                  <a:srgbClr val="17364A"/>
                </a:solidFill>
                <a:latin typeface="Aptos" pitchFamily="34" charset="0"/>
                <a:ea typeface="Aptos" pitchFamily="34" charset="-122"/>
                <a:cs typeface="Aptos" pitchFamily="34" charset="-120"/>
              </a:rPr>
              <a:t>Lab reporting changes may look like disease changes.</a:t>
            </a:r>
            <a:endParaRPr lang="en-US" sz="1700" dirty="0"/>
          </a:p>
          <a:p>
            <a:r>
              <a:rPr lang="en-US" sz="1700" dirty="0">
                <a:solidFill>
                  <a:srgbClr val="17364A"/>
                </a:solidFill>
                <a:latin typeface="Aptos" pitchFamily="34" charset="0"/>
                <a:ea typeface="Aptos" pitchFamily="34" charset="-122"/>
                <a:cs typeface="Aptos" pitchFamily="34" charset="-120"/>
              </a:rPr>
              <a:t>Guardrails include volume monitoring, partner change logs, and anomaly review.</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Reporting pattern changes.</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Generative AI may draft lab summaries, but it should preserve source values and avoid interpreting uncertain or missing.</a:t>
            </a:r>
            <a:endParaRPr lang="en-US" sz="1700" dirty="0"/>
          </a:p>
          <a:p>
            <a:r>
              <a:rPr lang="en-US" sz="1700" dirty="0">
                <a:solidFill>
                  <a:srgbClr val="17364A"/>
                </a:solidFill>
                <a:latin typeface="Aptos" pitchFamily="34" charset="0"/>
                <a:ea typeface="Aptos" pitchFamily="34" charset="-122"/>
                <a:cs typeface="Aptos" pitchFamily="34" charset="-120"/>
              </a:rPr>
              <a:t>Predictive analytics may use lab trends, but model monitoring must distinguish reporting artifacts from disease patterns.</a:t>
            </a:r>
            <a:endParaRPr lang="en-US" sz="1700" dirty="0"/>
          </a:p>
          <a:p>
            <a:r>
              <a:rPr lang="en-US" sz="1700" dirty="0">
                <a:solidFill>
                  <a:srgbClr val="17364A"/>
                </a:solidFill>
                <a:latin typeface="Aptos" pitchFamily="34" charset="0"/>
                <a:ea typeface="Aptos" pitchFamily="34" charset="-122"/>
                <a:cs typeface="Aptos" pitchFamily="34" charset="-120"/>
              </a:rPr>
              <a:t>NLP may interpret free-text results, but extraction accuracy must be validated.</a:t>
            </a:r>
            <a:endParaRPr lang="en-US" sz="1700" dirty="0"/>
          </a:p>
          <a:p>
            <a:r>
              <a:rPr lang="en-US" sz="1700" dirty="0">
                <a:solidFill>
                  <a:srgbClr val="17364A"/>
                </a:solidFill>
                <a:latin typeface="Aptos" pitchFamily="34" charset="0"/>
                <a:ea typeface="Aptos" pitchFamily="34" charset="-122"/>
                <a:cs typeface="Aptos" pitchFamily="34" charset="-120"/>
              </a:rPr>
              <a:t>Agentic workflows that trigger tasks from lab results require clear thresholds and human escalation for ambiguous results.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Generative AI may draft lab summaries, but it should preserve source values and avoid interpreting uncertain or missing.</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Which laboratory data quality issues most often affect your surveillance workflows?</a:t>
            </a:r>
            <a:endParaRPr lang="en-US" sz="1700" dirty="0"/>
          </a:p>
          <a:p>
            <a:r>
              <a:rPr lang="en-US" sz="1700" dirty="0">
                <a:solidFill>
                  <a:srgbClr val="17364A"/>
                </a:solidFill>
                <a:latin typeface="Aptos" pitchFamily="34" charset="0"/>
                <a:ea typeface="Aptos" pitchFamily="34" charset="-122"/>
                <a:cs typeface="Aptos" pitchFamily="34" charset="-120"/>
              </a:rPr>
              <a:t>Which local codes require mapping before data can be used reliably?</a:t>
            </a:r>
            <a:endParaRPr lang="en-US" sz="1700" dirty="0"/>
          </a:p>
          <a:p>
            <a:r>
              <a:rPr lang="en-US" sz="1700" dirty="0">
                <a:solidFill>
                  <a:srgbClr val="17364A"/>
                </a:solidFill>
                <a:latin typeface="Aptos" pitchFamily="34" charset="0"/>
                <a:ea typeface="Aptos" pitchFamily="34" charset="-122"/>
                <a:cs typeface="Aptos" pitchFamily="34" charset="-120"/>
              </a:rPr>
              <a:t>Are test-result pairs consistently represented?</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Which laboratory data quality issues most often affect your surveillance workflows?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Which missing fields would make AI summarization unsafe?</a:t>
            </a:r>
            <a:endParaRPr lang="en-US" sz="1700" dirty="0"/>
          </a:p>
          <a:p>
            <a:r>
              <a:rPr lang="en-US" sz="1700" dirty="0">
                <a:solidFill>
                  <a:srgbClr val="17364A"/>
                </a:solidFill>
                <a:latin typeface="Aptos" pitchFamily="34" charset="0"/>
                <a:ea typeface="Aptos" pitchFamily="34" charset="-122"/>
                <a:cs typeface="Aptos" pitchFamily="34" charset="-120"/>
              </a:rPr>
              <a:t>How would staff detect a reporting change that affects AI outputs?</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Which missing fields would make AI summarization unsafe?</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Create a lab data quality checklist for one AI-supported surveillance use case.</a:t>
            </a:r>
            <a:endParaRPr lang="en-US" sz="1700" dirty="0"/>
          </a:p>
          <a:p>
            <a:r>
              <a:rPr lang="en-US" sz="1700" dirty="0">
                <a:solidFill>
                  <a:srgbClr val="17364A"/>
                </a:solidFill>
                <a:latin typeface="Aptos" pitchFamily="34" charset="0"/>
                <a:ea typeface="Aptos" pitchFamily="34" charset="-122"/>
                <a:cs typeface="Aptos" pitchFamily="34" charset="-120"/>
              </a:rPr>
              <a:t>Include required lab fields, terminology standards, mapping requirements, missingness checks, unit checks, test-result.</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Create a lab data quality checklist for one AI-supported surveillance use case.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Lab data quality checklist</a:t>
            </a:r>
            <a:endParaRPr lang="en-US" sz="1700" dirty="0"/>
          </a:p>
          <a:p>
            <a:r>
              <a:rPr lang="en-US" sz="1700" dirty="0">
                <a:solidFill>
                  <a:srgbClr val="17364A"/>
                </a:solidFill>
                <a:latin typeface="Aptos" pitchFamily="34" charset="0"/>
                <a:ea typeface="Aptos" pitchFamily="34" charset="-122"/>
                <a:cs typeface="Aptos" pitchFamily="34" charset="-120"/>
              </a:rPr>
              <a:t>Terminology mapping questions</a:t>
            </a:r>
            <a:endParaRPr lang="en-US" sz="1700" dirty="0"/>
          </a:p>
          <a:p>
            <a:r>
              <a:rPr lang="en-US" sz="1700" dirty="0">
                <a:solidFill>
                  <a:srgbClr val="17364A"/>
                </a:solidFill>
                <a:latin typeface="Aptos" pitchFamily="34" charset="0"/>
                <a:ea typeface="Aptos" pitchFamily="34" charset="-122"/>
                <a:cs typeface="Aptos" pitchFamily="34" charset="-120"/>
              </a:rPr>
              <a:t>Required-field list</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Lab data quality checklist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Data quality issue log</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Data quality issue log</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Lab data quality checklist</a:t>
            </a:r>
            <a:endParaRPr lang="en-US" sz="1700" dirty="0"/>
          </a:p>
          <a:p>
            <a:r>
              <a:rPr lang="en-US" sz="1700" dirty="0">
                <a:solidFill>
                  <a:srgbClr val="17364A"/>
                </a:solidFill>
                <a:latin typeface="Aptos" pitchFamily="34" charset="0"/>
                <a:ea typeface="Aptos" pitchFamily="34" charset="-122"/>
                <a:cs typeface="Aptos" pitchFamily="34" charset="-120"/>
              </a:rPr>
              <a:t>Terminology mapping questions</a:t>
            </a:r>
            <a:endParaRPr lang="en-US" sz="1700" dirty="0"/>
          </a:p>
          <a:p>
            <a:r>
              <a:rPr lang="en-US" sz="1700" dirty="0">
                <a:solidFill>
                  <a:srgbClr val="17364A"/>
                </a:solidFill>
                <a:latin typeface="Aptos" pitchFamily="34" charset="0"/>
                <a:ea typeface="Aptos" pitchFamily="34" charset="-122"/>
                <a:cs typeface="Aptos" pitchFamily="34" charset="-120"/>
              </a:rPr>
              <a:t>Required-field list</a:t>
            </a:r>
            <a:endParaRPr lang="en-US" sz="1700" dirty="0"/>
          </a:p>
          <a:p>
            <a:r>
              <a:rPr lang="en-US" sz="1700" dirty="0">
                <a:solidFill>
                  <a:srgbClr val="17364A"/>
                </a:solidFill>
                <a:latin typeface="Aptos" pitchFamily="34" charset="0"/>
                <a:ea typeface="Aptos" pitchFamily="34" charset="-122"/>
                <a:cs typeface="Aptos" pitchFamily="34" charset="-120"/>
              </a:rPr>
              <a:t>Data quality issue log</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Lab data quality checklist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1. Why is terminology mapping important for AI-supported surveillance?</a:t>
            </a:r>
            <a:endParaRPr lang="en-US" sz="1700" dirty="0"/>
          </a:p>
          <a:p>
            <a:r>
              <a:rPr lang="en-US" sz="1700" dirty="0">
                <a:solidFill>
                  <a:srgbClr val="17364A"/>
                </a:solidFill>
                <a:latin typeface="Aptos" pitchFamily="34" charset="0"/>
                <a:ea typeface="Aptos" pitchFamily="34" charset="-122"/>
                <a:cs typeface="Aptos" pitchFamily="34" charset="-120"/>
              </a:rPr>
              <a:t>2. What is LOINC commonly used for?</a:t>
            </a:r>
            <a:endParaRPr lang="en-US" sz="1700" dirty="0"/>
          </a:p>
          <a:p>
            <a:r>
              <a:rPr lang="en-US" sz="1700" dirty="0">
                <a:solidFill>
                  <a:srgbClr val="17364A"/>
                </a:solidFill>
                <a:latin typeface="Aptos" pitchFamily="34" charset="0"/>
                <a:ea typeface="Aptos" pitchFamily="34" charset="-122"/>
                <a:cs typeface="Aptos" pitchFamily="34" charset="-120"/>
              </a:rPr>
              <a:t>3. Which issue can make a quantitative lab result difficult to interpret?</a:t>
            </a:r>
            <a:endParaRPr lang="en-US" sz="1700" dirty="0"/>
          </a:p>
          <a:p>
            <a:r>
              <a:rPr lang="en-US" sz="1700" dirty="0">
                <a:solidFill>
                  <a:srgbClr val="17364A"/>
                </a:solidFill>
                <a:latin typeface="Aptos" pitchFamily="34" charset="0"/>
                <a:ea typeface="Aptos" pitchFamily="34" charset="-122"/>
                <a:cs typeface="Aptos" pitchFamily="34" charset="-120"/>
              </a:rPr>
              <a:t>4. What should happen before AI is used to classify lab reports?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1. Why is terminology mapping important for AI-supported surveillance?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CDC PHIN VADS</a:t>
            </a:r>
            <a:endParaRPr lang="en-US" sz="1700" dirty="0"/>
          </a:p>
          <a:p>
            <a:r>
              <a:rPr lang="en-US" sz="1700" dirty="0">
                <a:solidFill>
                  <a:srgbClr val="17364A"/>
                </a:solidFill>
                <a:latin typeface="Aptos" pitchFamily="34" charset="0"/>
                <a:ea typeface="Aptos" pitchFamily="34" charset="-122"/>
                <a:cs typeface="Aptos" pitchFamily="34" charset="-120"/>
              </a:rPr>
              <a:t>Reportable Condition Mapping Table resources</a:t>
            </a:r>
            <a:endParaRPr lang="en-US" sz="1700" dirty="0"/>
          </a:p>
          <a:p>
            <a:r>
              <a:rPr lang="en-US" sz="1700" dirty="0">
                <a:solidFill>
                  <a:srgbClr val="17364A"/>
                </a:solidFill>
                <a:latin typeface="Aptos" pitchFamily="34" charset="0"/>
                <a:ea typeface="Aptos" pitchFamily="34" charset="-122"/>
                <a:cs typeface="Aptos" pitchFamily="34" charset="-120"/>
              </a:rPr>
              <a:t>APHL laboratory informatics resources</a:t>
            </a:r>
            <a:endParaRPr lang="en-US" sz="1700" dirty="0"/>
          </a:p>
          <a:p>
            <a:r>
              <a:rPr lang="en-US" sz="1700" dirty="0">
                <a:solidFill>
                  <a:srgbClr val="17364A"/>
                </a:solidFill>
                <a:latin typeface="Aptos" pitchFamily="34" charset="0"/>
                <a:ea typeface="Aptos" pitchFamily="34" charset="-122"/>
                <a:cs typeface="Aptos" pitchFamily="34" charset="-120"/>
              </a:rPr>
              <a:t>Jurisdictional ELR onboarding and data quality documentation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CDC PHIN VADS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ELR, Laboratory Data Quality, and Terminology Mapping</dc:title>
  <dc:subject>ELR, Laboratory Data Quality, and Terminology Mapping learning module</dc:subject>
  <dc:creator>Paula Soper</dc:creator>
  <cp:lastModifiedBy>Paula Soper</cp:lastModifiedBy>
  <cp:revision>1</cp:revision>
  <dcterms:created xsi:type="dcterms:W3CDTF">2026-07-12T18:54:57Z</dcterms:created>
  <dcterms:modified xsi:type="dcterms:W3CDTF">2026-07-12T18:54:57Z</dcterms:modified>
</cp:coreProperties>
</file>