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ANL 200 Natural Language Processing for Public Health
Natural language processing is a branch of AI that works with human language. Public health agencies often hold important information in free-text sources, including clinical notes, case narratives, call center logs, inspection reports, complaints, death certificate text, public comments, and community feedback. This module teaches learners how NLP can support public health work and how to evaluate its risks.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Analytics and Modeling Track
Appears in tracks: technical-architecture
Natural language processing is a branch of AI that works with human language. Public health agencies often hold important information in free-text sources, including clinical notes, case narratives, call center logs, inspection reports, complaints, death certificate text, public comments, and community feedback. This module teaches learners how NLP can support public health work and how to evaluate its risks.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7: Prioritize Use Cases - This lesson informs Play 7 by helping learners connect the lesson topic to prioritize use cases work in the AI Playbook sequence.
Play 1: Vision &amp; Guardrails - This lesson informs Play 1 by helping learners connect the lesson topic to vision &amp; guardrails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Define NLP in plain language and distinguish common NLP tasks.
Identify public health workflows where NLP may be useful.
Assess risks related to accuracy, bias, privacy, hallucination, language, and missing context.
Define source verification and human review requirements for NLP outputs.
Produce an NLP evaluation plan for one public health workflow.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Natural language processing is a branch of AI that works with human language. Public health agencies often hold important information in free-text sources, including clinical notes, case narratives, call center logs, inspection reports, complaints, death certificate text, public comments, and community feedback. This module teaches learners how NLP can support public health work and how to evaluate its risks.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NLP can reduce burden by helping staff find, organize, classify, extract, translate, or summarize information from large volumes of text. It can support case investigation, environmental health complaint triage, syndromic surveillance, public inquiry response, community engagement analysis, and policy review. However, text is often ambiguous, incomplete, sensitive, and context-dependent.
NLP outputs should not be treated as facts without review. A tool may omit important details, misread abbreviations, misunderstand negation, translate poorly, or generate a summary that sounds correct but is not supported by the source. Public health text may also include legal, clinical, cultural, or community context that a model does not understand.
For technical staff, NLP evaluation requires more than checking whether outputs sound fluent. The agency should define the task, intended use, prohibited use, source material, review process, performance measures, subgroup considerations, privacy safeguards, and escalation pathway.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Natural language processing. NLP refers to AI methods that process, analyze, classify, summarize, extract, translate, or generate human language. It can work with structured prompts, free-text notes, documents, emails, calls, complaints, or reports.
Information extraction. Information extraction pulls specific facts from text, such as symptoms, dates, locations, exposures, risk factors, facility names, or requested services. Extraction should be validated against source text.
Text classification. Text classification assigns text to categories, such as complaint type, urgency, topic, likely condition, or program area. Classification requires labeled examples, clear categories, and evaluation.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Summarization. Summarization creates a shorter version of longer text. Public health summarization should preserve uncertainty, cite sources when possible, and avoid adding unsupported claims.
Hallucination. A hallucination is an AI-generated statement that is false, unsupported, or not present in the source material. Hallucination risk is especially important when summaries influence public health decisions or communications.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contact center may receive hundreds of public inquiries during an outbreak. NLP could classify messages by topic, identify urgent issues, and draft response summaries for staff review. This can improve timeliness, but messages may contain sensitive information, emotional language, misinformation, or ambiguous requests. Staff need review procedures and escalation criteria.
An environmental health program may use NLP to classify complaints about food safety, housing, water, pests, or nuisance conditions. The tool may help route complaints, but errors can affect response time and enforcement. The program should validate classification accuracy and ensure that original complaint text remains available to reviewers.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NLP implementation begins with task definition. Extraction, classification, summarization, translation, topic modeling, and question answering are different tasks with different evaluation methods. A tool that performs well at summarization may perform poorly at extracting dates or classifying urgency. Staff should define the task narrowly before selecting or testing a tool.
Evaluation should use representative source text. Test examples should include common language, uncommon language, abbreviations, misspellings, multilingual text, ambiguous statements, negation, sensitive information, and edge cases. Performance should be reviewed by people who understand the public health workflow, not only by technical staff.
Privacy and source traceability are central. NLP may process sensitive case notes, complaints, or community feedback. The agency must define whether the data can be used, where processing occurs, how outputs are stored, who can access them, and how source text is preserved. For consequential uses, users should be able to trace extracted facts or summaries back to the original text.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Unsupported summaries. NLP tools may omit, distort, or invent information. Guardrails include source review, citations, factuality checks, and human approval.
Language and accessibility gaps. Models may perform differently across languages, dialects, literacy levels, or disability-related communication needs. Guardrails include multilingual evaluation, accessibility review, and community context.
Privacy exposure. Free text may contain sensitive or unexpected personal information. Guardrails include approved environments, de-identification when appropriate, access controls, and retention rules.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Misclassification. Incorrect labels can affect routing or priority. Guardrails include validation, confidence thresholds, review queues, and monitoring of overrides.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is often used for summarization, drafting, and question answering, but outputs must be checked against source material. Predictive analytics may use NLP-derived features, so extraction quality affects model performance. RAG systems use NLP to retrieve and summarize documents, which requires document governance and source citation. Agentic AI using NLP to trigger actions should require clear thresholds and human approval for consequential steps.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public health workflows involve large volumes of free text?
What task would NLP support: extraction, classification, summarization, translation, or topic detection?
What errors would be most harmful?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source material must be retained for human review?
How will staff evaluate accuracy across languages, populations, and program areas?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an NLP evaluation plan for one public health workflow. Include the text source, NLP task, intended use, prohibited use, required human review, accuracy measures, bias or subgroup review, privacy safeguards, source citation or traceability expectations, and escalation process.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NLP use case description
NLP evaluation plan
Human review checklist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Source verification and privacy safeguards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NLP use case description
NLP evaluation plan
Human review checklist
Source verification and privacy safeguards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NLP?
2. Which task is an example of information extraction?
3. Why is source verification important for NLP outputs?
4. Which NLP use requires strong safeguards?
5. What is strong completion evidence for this module?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https://www.nist.gov/itl/ai-risk-management-framework
NIST AI RMF Generative AI Profile: https://www.nist.gov/publications/artificial-intelligence-risk-management-framework-generative-artificial-intelligence
WHO Guidance on Large Multi-Modal Models: https://www.who.int/publications/i/item/9789240084759
CDC Public Health Data Strategy: https://www.cdc.gov/public-health-data-strategy/php/about/index.html
Agency privacy, records, data governance, and program policies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ANL 200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Natural Language Processing for Public Health</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Natural language processing is a branch of AI that works with human language.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Public health agencies often hold important information in free-text sources, including.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module teaches learners how NLP can support public health work and how to evaluate its.</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892808"/>
            <a:ext cx="2825496" cy="135331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Level: applied/foundational Primary track: Analytics and Modeling Track Appears in tracks: technical-architecture</a:t>
            </a:r>
            <a:endParaRPr lang="en-US" sz="13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Read the module for shared vocabulary and context.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Complete the practical exercise to apply the concept.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Use the notes and references for deeper review.</a:t>
            </a:r>
            <a:endParaRPr lang="en-US" sz="12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7: Prioritize Use Cases - This lesson informs Play 7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 connect the.</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Locate the decision point in the playbook sequence.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who should participate in the 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Document the review, approval, or implementation step.</a:t>
            </a:r>
            <a:endParaRPr lang="en-US" sz="12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 to translate this.</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AI Environmental and.</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 Human-Centered AI Decision.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8: AI Project Charter (Planning) - Use AI Project Charter to translate this lesson into a.</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a tool when no comparable local process exists.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Adapt existing department templates when they already fit the.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Save the completed artifact as evidence of the decision.</a:t>
            </a:r>
            <a:endParaRPr lang="en-US" sz="12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Define NLP in plain language and distinguish common NLP tasks.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Identify public health workflows where NLP may be useful.</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Assess risks related to accuracy, bias, privacy, hallucination, language, and missing context.</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Define NLP in plain language and distinguish common NLP tasks.</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Define source verification and human review requirements for NLP.</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Produce an NLP evaluation plan for one public health workflow.</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Natural language processing is a branch of AI that works with human language.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Public health agencies often hold important information in free-text sources, including.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module teaches learners how NLP can support public health work and how to evaluate its.</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Natural language processing is a branch of AI that works with human language.</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798064"/>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Trust cycle</a:t>
            </a:r>
            <a:endParaRPr lang="en-US" sz="1250" dirty="0"/>
          </a:p>
        </p:txBody>
      </p:sp>
      <p:sp>
        <p:nvSpPr>
          <p:cNvPr id="15" name="Shape 13"/>
          <p:cNvSpPr/>
          <p:nvPr/>
        </p:nvSpPr>
        <p:spPr>
          <a:xfrm>
            <a:off x="8763000" y="3351276"/>
            <a:ext cx="164592" cy="0"/>
          </a:xfrm>
          <a:prstGeom prst="line">
            <a:avLst/>
          </a:prstGeom>
          <a:noFill/>
          <a:ln w="15240">
            <a:solidFill>
              <a:srgbClr val="8ABBD8"/>
            </a:solidFill>
            <a:prstDash val="solid"/>
          </a:ln>
        </p:spPr>
      </p:sp>
      <p:sp>
        <p:nvSpPr>
          <p:cNvPr id="16" name="Shape 14"/>
          <p:cNvSpPr/>
          <p:nvPr/>
        </p:nvSpPr>
        <p:spPr>
          <a:xfrm>
            <a:off x="7872984" y="3200400"/>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Listen</a:t>
            </a:r>
            <a:endParaRPr lang="en-US" sz="880" dirty="0"/>
          </a:p>
        </p:txBody>
      </p:sp>
      <p:sp>
        <p:nvSpPr>
          <p:cNvPr id="18" name="Shape 16"/>
          <p:cNvSpPr/>
          <p:nvPr/>
        </p:nvSpPr>
        <p:spPr>
          <a:xfrm>
            <a:off x="9817608" y="3351276"/>
            <a:ext cx="164592" cy="0"/>
          </a:xfrm>
          <a:prstGeom prst="line">
            <a:avLst/>
          </a:prstGeom>
          <a:noFill/>
          <a:ln w="15240">
            <a:solidFill>
              <a:srgbClr val="8ABBD8"/>
            </a:solidFill>
            <a:prstDash val="solid"/>
          </a:ln>
        </p:spPr>
      </p:sp>
      <p:sp>
        <p:nvSpPr>
          <p:cNvPr id="19" name="Shape 17"/>
          <p:cNvSpPr/>
          <p:nvPr/>
        </p:nvSpPr>
        <p:spPr>
          <a:xfrm>
            <a:off x="8927592" y="3200400"/>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Adapt</a:t>
            </a:r>
            <a:endParaRPr lang="en-US" sz="880" dirty="0"/>
          </a:p>
        </p:txBody>
      </p:sp>
      <p:sp>
        <p:nvSpPr>
          <p:cNvPr id="21" name="Shape 19"/>
          <p:cNvSpPr/>
          <p:nvPr/>
        </p:nvSpPr>
        <p:spPr>
          <a:xfrm>
            <a:off x="9982200" y="3200400"/>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Report</a:t>
            </a:r>
            <a:endParaRPr lang="en-US" sz="880" dirty="0"/>
          </a:p>
        </p:txBody>
      </p:sp>
      <p:sp>
        <p:nvSpPr>
          <p:cNvPr id="23" name="Text 21"/>
          <p:cNvSpPr/>
          <p:nvPr/>
        </p:nvSpPr>
        <p:spPr>
          <a:xfrm>
            <a:off x="7854696" y="3694176"/>
            <a:ext cx="3035808" cy="206654"/>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Communication and engagement are stronger when feedback changes the work and the department reports what.</a:t>
            </a:r>
            <a:endParaRPr lang="en-US" sz="1120" dirty="0"/>
          </a:p>
        </p:txBody>
      </p:sp>
      <p:sp>
        <p:nvSpPr>
          <p:cNvPr id="24" name="Shape 22"/>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25" name="Text 23"/>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26" name="Text 24"/>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 communities are considered early.</a:t>
            </a:r>
            <a:endParaRPr lang="en-US" sz="13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NLP can reduce burden by helping staff find, organize, classify, extract, translate, or.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can support case investigation, environmental health complaint triage, syndromic.</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However, text is often ambiguous, incomplete, sensitive, and context-dependent.</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NLP can reduce burden by helping staff find, organize, classify, extract, translate, or summarize.</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46527"/>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Trust cycle</a:t>
            </a:r>
            <a:endParaRPr lang="en-US" sz="1250" dirty="0"/>
          </a:p>
        </p:txBody>
      </p:sp>
      <p:sp>
        <p:nvSpPr>
          <p:cNvPr id="15" name="Shape 13"/>
          <p:cNvSpPr/>
          <p:nvPr/>
        </p:nvSpPr>
        <p:spPr>
          <a:xfrm>
            <a:off x="8763000" y="3399739"/>
            <a:ext cx="164592" cy="0"/>
          </a:xfrm>
          <a:prstGeom prst="line">
            <a:avLst/>
          </a:prstGeom>
          <a:noFill/>
          <a:ln w="15240">
            <a:solidFill>
              <a:srgbClr val="8ABBD8"/>
            </a:solidFill>
            <a:prstDash val="solid"/>
          </a:ln>
        </p:spPr>
      </p:sp>
      <p:sp>
        <p:nvSpPr>
          <p:cNvPr id="16" name="Shape 14"/>
          <p:cNvSpPr/>
          <p:nvPr/>
        </p:nvSpPr>
        <p:spPr>
          <a:xfrm>
            <a:off x="7872984" y="3248863"/>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Listen</a:t>
            </a:r>
            <a:endParaRPr lang="en-US" sz="880" dirty="0"/>
          </a:p>
        </p:txBody>
      </p:sp>
      <p:sp>
        <p:nvSpPr>
          <p:cNvPr id="18" name="Shape 16"/>
          <p:cNvSpPr/>
          <p:nvPr/>
        </p:nvSpPr>
        <p:spPr>
          <a:xfrm>
            <a:off x="9817608" y="3399739"/>
            <a:ext cx="164592" cy="0"/>
          </a:xfrm>
          <a:prstGeom prst="line">
            <a:avLst/>
          </a:prstGeom>
          <a:noFill/>
          <a:ln w="15240">
            <a:solidFill>
              <a:srgbClr val="8ABBD8"/>
            </a:solidFill>
            <a:prstDash val="solid"/>
          </a:ln>
        </p:spPr>
      </p:sp>
      <p:sp>
        <p:nvSpPr>
          <p:cNvPr id="19" name="Shape 17"/>
          <p:cNvSpPr/>
          <p:nvPr/>
        </p:nvSpPr>
        <p:spPr>
          <a:xfrm>
            <a:off x="8927592" y="3248863"/>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Adapt</a:t>
            </a:r>
            <a:endParaRPr lang="en-US" sz="880" dirty="0"/>
          </a:p>
        </p:txBody>
      </p:sp>
      <p:sp>
        <p:nvSpPr>
          <p:cNvPr id="21" name="Shape 19"/>
          <p:cNvSpPr/>
          <p:nvPr/>
        </p:nvSpPr>
        <p:spPr>
          <a:xfrm>
            <a:off x="9982200" y="3248863"/>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Report</a:t>
            </a:r>
            <a:endParaRPr lang="en-US" sz="880" dirty="0"/>
          </a:p>
        </p:txBody>
      </p:sp>
      <p:sp>
        <p:nvSpPr>
          <p:cNvPr id="23" name="Text 21"/>
          <p:cNvSpPr/>
          <p:nvPr/>
        </p:nvSpPr>
        <p:spPr>
          <a:xfrm>
            <a:off x="7854696" y="3742639"/>
            <a:ext cx="3035808" cy="158191"/>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Communication and engagement are stronger when feedback changes the work and the department reports what.</a:t>
            </a:r>
            <a:endParaRPr lang="en-US" sz="1120" dirty="0"/>
          </a:p>
        </p:txBody>
      </p:sp>
      <p:sp>
        <p:nvSpPr>
          <p:cNvPr id="24" name="Shape 22"/>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25" name="Text 23"/>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26" name="Text 24"/>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 communities are considered early.</a:t>
            </a:r>
            <a:endParaRPr lang="en-US" sz="13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Natural language processing.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NLP refers to AI methods that process, analyze, classify, summarize, extract, translate, or.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can work with structured prompts, free-text notes, documents, emails, calls, complaints, or.</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Natural language processing.</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NLP refers to AI methods that process, analyze, classify,.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Information extraction.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Information extraction pulls specific facts from text, such as.</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 communities are considered early.</a:t>
            </a:r>
            <a:endParaRPr lang="en-US" sz="13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Summarization.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Summarization creates a shorter version of longer text.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Public health summarization should preserve uncertainty, cite sources when possible, and avoid.</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Summarization.</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Public health summarization should preserve uncertainty, cite.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Hallucination.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hallucination is an AI-generated statement that is false,.</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 communities are considered early.</a:t>
            </a:r>
            <a:endParaRPr lang="en-US" sz="13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contact center may receive hundreds of public inquiries during an outbreak.</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NLP could classify messages by topic, identify urgent issues, and draft response summaries for.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can improve timeliness, but messages may contain sensitive information, emotional.</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contact center may receive hundreds of public inquiries during an outbreak.</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NLP could classify messages by topic, identify urgent issues, and.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This can improve timeliness, but messages may contain sensitive.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Staff need review procedures and escalation criteria.</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 communities are considered early.</a:t>
            </a:r>
            <a:endParaRPr lang="en-US" sz="13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NLP implementation begins with task definition.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Extraction, classification, summarization, translation, topic modeling, and question answering.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tool that performs well at summarization may perform poorly at extracting dates or.</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NLP implementation begins with task definition.</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798064"/>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Trust cycle</a:t>
            </a:r>
            <a:endParaRPr lang="en-US" sz="1250" dirty="0"/>
          </a:p>
        </p:txBody>
      </p:sp>
      <p:sp>
        <p:nvSpPr>
          <p:cNvPr id="15" name="Shape 13"/>
          <p:cNvSpPr/>
          <p:nvPr/>
        </p:nvSpPr>
        <p:spPr>
          <a:xfrm>
            <a:off x="8763000" y="3351276"/>
            <a:ext cx="164592" cy="0"/>
          </a:xfrm>
          <a:prstGeom prst="line">
            <a:avLst/>
          </a:prstGeom>
          <a:noFill/>
          <a:ln w="15240">
            <a:solidFill>
              <a:srgbClr val="8ABBD8"/>
            </a:solidFill>
            <a:prstDash val="solid"/>
          </a:ln>
        </p:spPr>
      </p:sp>
      <p:sp>
        <p:nvSpPr>
          <p:cNvPr id="16" name="Shape 14"/>
          <p:cNvSpPr/>
          <p:nvPr/>
        </p:nvSpPr>
        <p:spPr>
          <a:xfrm>
            <a:off x="7872984" y="3200400"/>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Listen</a:t>
            </a:r>
            <a:endParaRPr lang="en-US" sz="880" dirty="0"/>
          </a:p>
        </p:txBody>
      </p:sp>
      <p:sp>
        <p:nvSpPr>
          <p:cNvPr id="18" name="Shape 16"/>
          <p:cNvSpPr/>
          <p:nvPr/>
        </p:nvSpPr>
        <p:spPr>
          <a:xfrm>
            <a:off x="9817608" y="3351276"/>
            <a:ext cx="164592" cy="0"/>
          </a:xfrm>
          <a:prstGeom prst="line">
            <a:avLst/>
          </a:prstGeom>
          <a:noFill/>
          <a:ln w="15240">
            <a:solidFill>
              <a:srgbClr val="8ABBD8"/>
            </a:solidFill>
            <a:prstDash val="solid"/>
          </a:ln>
        </p:spPr>
      </p:sp>
      <p:sp>
        <p:nvSpPr>
          <p:cNvPr id="19" name="Shape 17"/>
          <p:cNvSpPr/>
          <p:nvPr/>
        </p:nvSpPr>
        <p:spPr>
          <a:xfrm>
            <a:off x="8927592" y="3200400"/>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Adapt</a:t>
            </a:r>
            <a:endParaRPr lang="en-US" sz="880" dirty="0"/>
          </a:p>
        </p:txBody>
      </p:sp>
      <p:sp>
        <p:nvSpPr>
          <p:cNvPr id="21" name="Shape 19"/>
          <p:cNvSpPr/>
          <p:nvPr/>
        </p:nvSpPr>
        <p:spPr>
          <a:xfrm>
            <a:off x="9982200" y="3200400"/>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Report</a:t>
            </a:r>
            <a:endParaRPr lang="en-US" sz="880" dirty="0"/>
          </a:p>
        </p:txBody>
      </p:sp>
      <p:sp>
        <p:nvSpPr>
          <p:cNvPr id="23" name="Text 21"/>
          <p:cNvSpPr/>
          <p:nvPr/>
        </p:nvSpPr>
        <p:spPr>
          <a:xfrm>
            <a:off x="7854696" y="3694176"/>
            <a:ext cx="3035808" cy="206654"/>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Communication and engagement are stronger when feedback changes the work and the department reports what.</a:t>
            </a:r>
            <a:endParaRPr lang="en-US" sz="1120" dirty="0"/>
          </a:p>
        </p:txBody>
      </p:sp>
      <p:sp>
        <p:nvSpPr>
          <p:cNvPr id="24" name="Shape 22"/>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25" name="Text 23"/>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26" name="Text 24"/>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 communities are considered early.</a:t>
            </a:r>
            <a:endParaRPr lang="en-US" sz="13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Unsupported summaries.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NLP tools may omit, distort, or invent information.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Guardrails include source review, citations, factuality checks, and human approval.</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Unsupported summaries.</a:t>
            </a:r>
            <a:endParaRPr lang="en-US" sz="1320" dirty="0"/>
          </a:p>
        </p:txBody>
      </p:sp>
      <p:sp>
        <p:nvSpPr>
          <p:cNvPr id="13" name="Shape 11"/>
          <p:cNvSpPr/>
          <p:nvPr/>
        </p:nvSpPr>
        <p:spPr>
          <a:xfrm>
            <a:off x="7635240" y="2670048"/>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Language and accessibility gaps.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Models may perform differently across languages, dialects,.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Guardrails include multilingual evaluation, accessibility review,.</a:t>
            </a:r>
            <a:endParaRPr lang="en-US" sz="1220" dirty="0"/>
          </a:p>
        </p:txBody>
      </p:sp>
      <p:sp>
        <p:nvSpPr>
          <p:cNvPr id="16" name="Shape 14"/>
          <p:cNvSpPr/>
          <p:nvPr/>
        </p:nvSpPr>
        <p:spPr>
          <a:xfrm>
            <a:off x="7635240" y="4343400"/>
            <a:ext cx="3474720" cy="1255471"/>
          </a:xfrm>
          <a:prstGeom prst="roundRect">
            <a:avLst>
              <a:gd name="adj" fmla="val 8740"/>
            </a:avLst>
          </a:prstGeom>
          <a:solidFill>
            <a:srgbClr val="EAF6F8"/>
          </a:solidFill>
          <a:ln w="12700">
            <a:solidFill>
              <a:srgbClr val="B9D7E6"/>
            </a:solidFill>
            <a:prstDash val="solid"/>
          </a:ln>
        </p:spPr>
      </p:sp>
      <p:sp>
        <p:nvSpPr>
          <p:cNvPr id="17" name="Text 15"/>
          <p:cNvSpPr/>
          <p:nvPr/>
        </p:nvSpPr>
        <p:spPr>
          <a:xfrm>
            <a:off x="7799832" y="448970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81888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a:t>
            </a:r>
            <a:endParaRPr lang="en-US" sz="13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Misclassification.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Incorrect labels can affect routing or priority.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Guardrails include validation, confidence thresholds, review queues, and monitoring of.</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Misclassification.</a:t>
            </a:r>
            <a:endParaRPr lang="en-US" sz="1320" dirty="0"/>
          </a:p>
        </p:txBody>
      </p:sp>
      <p:sp>
        <p:nvSpPr>
          <p:cNvPr id="13" name="Shape 11"/>
          <p:cNvSpPr/>
          <p:nvPr/>
        </p:nvSpPr>
        <p:spPr>
          <a:xfrm>
            <a:off x="7635240" y="2670048"/>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Misclassification.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Incorrect labels can affect routing or priority.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Guardrails include validation, confidence thresholds, review.</a:t>
            </a:r>
            <a:endParaRPr lang="en-US" sz="1220" dirty="0"/>
          </a:p>
        </p:txBody>
      </p:sp>
      <p:sp>
        <p:nvSpPr>
          <p:cNvPr id="16" name="Shape 14"/>
          <p:cNvSpPr/>
          <p:nvPr/>
        </p:nvSpPr>
        <p:spPr>
          <a:xfrm>
            <a:off x="7635240" y="4343400"/>
            <a:ext cx="3474720" cy="1255471"/>
          </a:xfrm>
          <a:prstGeom prst="roundRect">
            <a:avLst>
              <a:gd name="adj" fmla="val 8740"/>
            </a:avLst>
          </a:prstGeom>
          <a:solidFill>
            <a:srgbClr val="EAF6F8"/>
          </a:solidFill>
          <a:ln w="12700">
            <a:solidFill>
              <a:srgbClr val="B9D7E6"/>
            </a:solidFill>
            <a:prstDash val="solid"/>
          </a:ln>
        </p:spPr>
      </p:sp>
      <p:sp>
        <p:nvSpPr>
          <p:cNvPr id="17" name="Text 15"/>
          <p:cNvSpPr/>
          <p:nvPr/>
        </p:nvSpPr>
        <p:spPr>
          <a:xfrm>
            <a:off x="7799832" y="448970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81888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a:t>
            </a:r>
            <a:endParaRPr lang="en-US" sz="13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Generative AI is often used for summarization, drafting, and question answering, but outputs.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Predictive analytics may use NLP-derived features, so extraction quality affects model.</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RAG systems use NLP to retrieve and summarize documents, which requires document governance.</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Generative AI is often used for summarization, drafting, and question answering, but outputs must be.</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Generative AI is often used for summarization, drafting, and.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RAG systems use NLP to retrieve and summarize documents, which.</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Agentic AI using NLP to trigger actions should require clear.</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3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Which public health workflows involve large volumes of free text?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What task would NLP support: extraction, classification, summarization, translation, or topic.</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What errors would be most harmful?</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Which public health workflows involve large volumes of free text?</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public health workflows involve large volumes of free text?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task would NLP support: extraction, classification,.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errors would be most harmful?</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 communities are considered early.</a:t>
            </a:r>
            <a:endParaRPr lang="en-US" sz="13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What source material must be retained for human review?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How will staff evaluate accuracy across languages, populations, and program areas?</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What source material must be retained for human review?</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source material must be retained for human review?</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How will staff evaluate accuracy across languages, populations,.</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 communities are considered early.</a:t>
            </a:r>
            <a:endParaRPr lang="en-US" sz="13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Create an NLP evaluation plan for one public health workflow.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Include the text source, NLP task, intended use, prohibited use, required human review,.</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Create an NLP evaluation plan for one public health workflow.</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an NLP evaluation plan for one public health workflow.</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Include the text source, NLP task, intended use, prohibited use,.</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NLP use case description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NLP evaluation plan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Human review checklist</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NLP use case description</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NLP use case description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NLP evaluation plan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Human review checklist</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 communities are considered early.</a:t>
            </a:r>
            <a:endParaRPr lang="en-US" sz="13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Source verification and privacy safeguards</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Source verification and privacy safeguards</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Source verification and privacy safeguards</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 communities are considered early.</a:t>
            </a:r>
            <a:endParaRPr lang="en-US" sz="13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NLP use case description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NLP evaluation plan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Human review checklist</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NLP use case description</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NLP use case description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NLP evaluation plan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Human review checklist</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1. What is NLP?</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2. Which task is an example of information extraction?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3. Why is source verification important for NLP outputs?</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1. What is NLP?</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is NLP?</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2.</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NIST Artificial Intelligence Risk Management Framework:.</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NIST AI RMF Generative AI Profile:.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WHO Guidance on Large Multi-Modal Models: https://www.who.int/publications/i/item/9789240084759</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NIST Artificial Intelligence Risk Management Framework:.</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NIST Artificial Intelligence Risk Management Framework:.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CDC Public Health Data Strategy:.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Agency privacy, records, data governance, and program policies</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 communities are considered early.</a:t>
            </a:r>
            <a:endParaRPr lang="en-US" sz="13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Natural Language Processing for Public Health</dc:title>
  <dc:subject>Natural Language Processing for Public Health learning module</dc:subject>
  <dc:creator>Paula Soper</dc:creator>
  <cp:lastModifiedBy>Paula Soper</cp:lastModifiedBy>
  <cp:revision>1</cp:revision>
  <dcterms:created xsi:type="dcterms:W3CDTF">2026-07-13T02:33:43Z</dcterms:created>
  <dcterms:modified xsi:type="dcterms:W3CDTF">2026-07-13T02:33:43Z</dcterms:modified>
</cp:coreProperties>
</file>