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 200 AI for Public Health Communications and Message Development
Generative AI can support public health communications by helping staff draft, revise, simplify, translate, tailor, and test messages. However, public health communication carries high trust, equity, accessibility, and accuracy obligations. AI-generated text can sound clear and authoritative while misstating evidence, omitting uncertainty, using stigmatizing language, failing to meet accessibility needs, or creating messages that do not fit community context. This module teaches communications staff and program partners how to use AI as a drafting and review aid while preserving human accountability. It focuses on public-facing messages, internal communications, plain language, community relevance, multilingual communication, misinformation risks, and review workflows. The goal is not to replace skilled communicators. The goal is to help communications teams use AI safely for efficiency, brainstorming, and consistency while retaining professional judgment, source verification, community review, and public trust.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applied/foundational
Primary track: Communications Role-Based Track
Appears in tracks: communications, shared-foundational, policy, public-health-executive-leadership
Generative AI can support public health communications by helping staff draft, revise, simplify, translate, tailor, and test messages. However, public health communication carries high trust, equity, accessibility, and accuracy obligations. AI-generated text can sound clear and authoritative while misstating evidence, omitting uncertainty, using stigmatizing language, failing to meet accessibility needs, or creating messages that do not fit community context. This module teaches communications staff and program partners how to use AI as a drafting and review aid while preserving human accountability. It focuses on public-facing messages, internal communications, plain language, community relevance, multilingual communication, misinformation risks, and review workflows. The goal is not to replace skilled communicators. The goal is to help communications teams use AI safely for efficiency, brainstorming, and consistency while retaining professional judgment, source verification, community review, and public trust.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3: Establish AI Governance - This lesson informs Play 3 by helping learners connect the lesson topic to establish ai governance work in the AI Playbook sequence.
Play 1: Vision &amp; Guardrails - This lesson informs Play 1 by helping learners connect the lesson topic to vision &amp; guardrails work in the AI Playbook sequence.
Play 2: Readiness Assessment - This lesson informs Play 2 by helping learners connect the lesson topic to readiness assessment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this tool to complete or strengthen the practical exercise for the module using fictional, de-identified, or generalized.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
Tool 10: Tiered Data Classification for AI Use (Worksheet)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Identify appropriate and inappropriate uses of AI in public health communications.
Apply source verification, plain language, accessibility, and equity review to AI-generated messages.
Design a human review workflow for AI-assisted public-facing communications.
Recognize misinformation, overstatement, missing uncertainty, and stigmatizing language risks.
Produce an AI-assisted communications review checklist.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Generative AI can support public health communications by helping staff draft, revise, simplify, translate, tailor, and test messages. However, public health communication carries high trust, equity, accessibility, and accuracy obligations. AI-generated text can sound clear and authoritative while misstating evidence, omitting uncertainty, using stigmatizing language, failing to meet accessibility needs, or creating messages that do not fit community context.
This module teaches communications staff and program partners how to use AI as a drafting and review aid while preserving human accountability. It focuses on public-facing messages, internal communications, plain language, community relevance, multilingual communication, misinformation risks, and review workflows.
The goal is not to replace skilled communicators. The goal is to help communications teams use AI safely for efficiency, brainstorming, and consistency while retaining professional judgment, source verification, community review, and public trust.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national-level module is intended for training and planning purposes. It does not replace legal, privacy, procurement, civil rights, records, or agency policy review. Learners should confirm applicable requirements in their own jurisdiction and organization before implementing AI-supported workflows.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health department uses AI to draft a heat safety message for older adults, outdoor workers, and people without reliable air conditioning. Communications staff verify the recommendations against official guidance, rewrite the message in plain language, review it for accessibility and language access, avoid blaming individuals for structural risks, and route the final version through the approved public information process before release.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Deep Dive
AI can be useful early in the message development process. It can generate first drafts, propose alternative tones, simplify technical language, identify jargon, create audience-specific versions, and suggest questions the public may ask. These uses can save time, especially when communications staff support multiple programs. However, AI should not be treated as the authority on public health content. The approved evidence base should come from agency guidance, subject matter experts, official data, and community context.
Source verification is essential because AI-generated language may include unsupported claims, outdated recommendations, fabricated details, or overconfident statements. Communications staff should verify factual claims, numbers, dates, risk statements, recommendations, and eligibility criteria against approved sources. When uncertainty exists, the message should explain what is known, what is not known, and what actions people can take.
Equity and accessibility review should be built into the workflow. AI-generated messages may not adequately address language access, disability access, literacy, cultural context, rural access, transportation barriers, technology access, or historical mistrust. Public health messages should be reviewed for plain language, readability, alternative formats, translation quality, non-stigmatizing language, and practical feasibility for the intended audience.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Deep Dive
AI can also support review, but it should not replace reviewers. A communications workflow should define who checks technical accuracy, who reviews equity and accessibility, who approves public release, and who monitors public response after dissemination. For urgent communications, the workflow should include expedited review rules that still preserve accuracy and accountability.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Risks and failure modes include the following:
AI-generated messages overstating evidence or omitting uncertainty.
Use of stigmatizing, blaming, or culturally inappropriate language.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Unverified translations or readability changes that alter meaning.
Public-facing content being released without required subject matter or leadership review.
Messages that assume access to resources, technology, transportation, or healthcare that the audience may not have.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Recommended guardrails include the following:
Use only approved tools and approved source material for public health communications.
Require human review for accuracy, plain language, accessibility, equity, and tone.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Document source material used for public-facing claims.
Use qualified review for translation and language access needs.
Route public-facing materials through the agency approval process before release.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Where does this topic appear in your agency, program, or workflow?
Which staff roles would need to understand or apply this concept before AI use is approved?
What could go wrong if this topic is not addressed before implementation?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evidence would governance, leadership, or operations staff need before moving forward?
Which policy, data, equity, privacy, security, or workflow questions remain unresolved?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an AI-assisted communications review checklist for one public health message. Include intended audience, source material, factual claims to verify, plain language review, accessibility review, language access review, equity review, approval pathway, and documentation expectations.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AI-assisted communications review checklist
Source verification notes
Plain language and accessibility review notes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Approval pathway documentation
Final reviewed message or sample revision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AI-assisted communications review checklist
Source verification notes
Plain language and accessibility review notes
Approval pathway documentation
Final reviewed message or sample revision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an appropriate role for AI in public health communications?
2. Why is source verification necessary?
3. Which review is especially important for public-facing AI-assisted messages?
4. What should happen with AI-assisted translation for public health messages?
5. What is strong completion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Artificial Intelligence Risk Management Framework: https://www.nist.gov/itl/ai-risk-management-framework
NIST Generative AI Profile: https://www.nist.gov/publications/artificial-intelligence-risk-management-framework-generative-artificial-intelligence
CDC Public Health Data Strategy and Data Modernization resources: https://www.cdc.gov/public-health-data-strategy/php/about/index.html
OWASP guidance for LLM application security
Agency policies for privacy, cybersecurity, records, procurement, accessibility, and public communications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Relevant public health program SOPs, data governance documentation, and implementation plans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COM 200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AI for Public Health Communications and Message Development</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Public Health Communications and Message Development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Generative AI can support public health communications by helping staff draft, revise, simplify, translate,.</a:t>
            </a:r>
            <a:endParaRPr lang="en-US" sz="2100" dirty="0"/>
          </a:p>
          <a:p>
            <a:r>
              <a:rPr lang="en-US" sz="2100" dirty="0">
                <a:solidFill>
                  <a:srgbClr val="17364A"/>
                </a:solidFill>
                <a:latin typeface="Aptos" pitchFamily="34" charset="0"/>
                <a:ea typeface="Aptos" pitchFamily="34" charset="-122"/>
                <a:cs typeface="Aptos" pitchFamily="34" charset="-120"/>
              </a:rPr>
              <a:t>However, public health communication carries high trust, equity, accessibility, and accuracy obligations.</a:t>
            </a:r>
            <a:endParaRPr lang="en-US" sz="2100" dirty="0"/>
          </a:p>
          <a:p>
            <a:r>
              <a:rPr lang="en-US" sz="2100" dirty="0">
                <a:solidFill>
                  <a:srgbClr val="17364A"/>
                </a:solidFill>
                <a:latin typeface="Aptos" pitchFamily="34" charset="0"/>
                <a:ea typeface="Aptos" pitchFamily="34" charset="-122"/>
                <a:cs typeface="Aptos" pitchFamily="34" charset="-120"/>
              </a:rPr>
              <a:t>AI-generated text can sound clear and authoritative while misstating evidence, omitting uncertainty, using.</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920240"/>
            <a:ext cx="2825496" cy="128016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Level: applied/foundational</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Primary track: Communications Role-Based Track</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Appears in tracks: communications, shared-foundational, policy, public-health-executive-leadership</a:t>
            </a:r>
            <a:endParaRPr lang="en-US" sz="1550" dirty="0"/>
          </a:p>
        </p:txBody>
      </p:sp>
      <p:sp>
        <p:nvSpPr>
          <p:cNvPr id="13" name="Shape 11"/>
          <p:cNvSpPr/>
          <p:nvPr/>
        </p:nvSpPr>
        <p:spPr>
          <a:xfrm>
            <a:off x="7635240" y="3730752"/>
            <a:ext cx="103327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708392"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Learn</a:t>
            </a:r>
            <a:endParaRPr lang="en-US" sz="1500" dirty="0"/>
          </a:p>
        </p:txBody>
      </p:sp>
      <p:sp>
        <p:nvSpPr>
          <p:cNvPr id="15" name="Text 13"/>
          <p:cNvSpPr/>
          <p:nvPr/>
        </p:nvSpPr>
        <p:spPr>
          <a:xfrm>
            <a:off x="8695944" y="3941064"/>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8924544" y="3730752"/>
            <a:ext cx="103327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8997696"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Apply</a:t>
            </a:r>
            <a:endParaRPr lang="en-US" sz="1500" dirty="0"/>
          </a:p>
        </p:txBody>
      </p:sp>
      <p:sp>
        <p:nvSpPr>
          <p:cNvPr id="18" name="Text 16"/>
          <p:cNvSpPr/>
          <p:nvPr/>
        </p:nvSpPr>
        <p:spPr>
          <a:xfrm>
            <a:off x="9985248" y="3941064"/>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13848" y="3730752"/>
            <a:ext cx="1033272" cy="749808"/>
          </a:xfrm>
          <a:prstGeom prst="roundRect">
            <a:avLst>
              <a:gd name="adj" fmla="val 14634"/>
            </a:avLst>
          </a:prstGeom>
          <a:solidFill>
            <a:srgbClr val="6A4CA3"/>
          </a:solidFill>
          <a:ln w="12700">
            <a:solidFill>
              <a:srgbClr val="6A4CA3"/>
            </a:solidFill>
            <a:prstDash val="solid"/>
          </a:ln>
        </p:spPr>
      </p:sp>
      <p:sp>
        <p:nvSpPr>
          <p:cNvPr id="20" name="Text 18"/>
          <p:cNvSpPr/>
          <p:nvPr/>
        </p:nvSpPr>
        <p:spPr>
          <a:xfrm>
            <a:off x="10287000"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Document</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Public Health Communications and Message Development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900" dirty="0">
                <a:solidFill>
                  <a:srgbClr val="17364A"/>
                </a:solidFill>
                <a:latin typeface="Aptos" pitchFamily="34" charset="0"/>
                <a:ea typeface="Aptos" pitchFamily="34" charset="-122"/>
                <a:cs typeface="Aptos" pitchFamily="34" charset="-120"/>
              </a:rPr>
              <a:t>Play 11: Build and Deploy AI Solutions - This lesson informs Play 11 by helping learners connect the lesson.</a:t>
            </a:r>
            <a:endParaRPr lang="en-US" sz="1900" dirty="0"/>
          </a:p>
          <a:p>
            <a:r>
              <a:rPr lang="en-US" sz="1900" dirty="0">
                <a:solidFill>
                  <a:srgbClr val="17364A"/>
                </a:solidFill>
                <a:latin typeface="Aptos" pitchFamily="34" charset="0"/>
                <a:ea typeface="Aptos" pitchFamily="34" charset="-122"/>
                <a:cs typeface="Aptos" pitchFamily="34" charset="-120"/>
              </a:rPr>
              <a:t>Play 3: Establish AI Governance - This lesson informs Play 3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1: Vision &amp; Guardrails - This lesson informs Play 1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2: Readiness Assessment - This lesson informs Play 2 by helping learners connect the lesson topic to.</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Lesson</a:t>
            </a:r>
            <a:endParaRPr lang="en-US" sz="1500" dirty="0"/>
          </a:p>
        </p:txBody>
      </p:sp>
      <p:sp>
        <p:nvSpPr>
          <p:cNvPr id="15" name="Text 13"/>
          <p:cNvSpPr/>
          <p:nvPr/>
        </p:nvSpPr>
        <p:spPr>
          <a:xfrm>
            <a:off x="8817864"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Plays</a:t>
            </a:r>
            <a:endParaRPr lang="en-US" sz="1500" dirty="0"/>
          </a:p>
        </p:txBody>
      </p:sp>
      <p:sp>
        <p:nvSpPr>
          <p:cNvPr id="18" name="Text 16"/>
          <p:cNvSpPr/>
          <p:nvPr/>
        </p:nvSpPr>
        <p:spPr>
          <a:xfrm>
            <a:off x="10046208"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74808" y="3977640"/>
            <a:ext cx="972312" cy="749808"/>
          </a:xfrm>
          <a:prstGeom prst="roundRect">
            <a:avLst>
              <a:gd name="adj" fmla="val 14634"/>
            </a:avLst>
          </a:prstGeom>
          <a:solidFill>
            <a:srgbClr val="6A4CA3"/>
          </a:solidFill>
          <a:ln w="12700">
            <a:solidFill>
              <a:srgbClr val="6A4CA3"/>
            </a:solidFill>
            <a:prstDash val="solid"/>
          </a:ln>
        </p:spPr>
      </p:sp>
      <p:sp>
        <p:nvSpPr>
          <p:cNvPr id="20" name="Text 18"/>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Action</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Public Health Communications and Message Development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850" dirty="0">
                <a:solidFill>
                  <a:srgbClr val="17364A"/>
                </a:solidFill>
                <a:latin typeface="Aptos" pitchFamily="34" charset="0"/>
                <a:ea typeface="Aptos" pitchFamily="34" charset="-122"/>
                <a:cs typeface="Aptos" pitchFamily="34" charset="-120"/>
              </a:rPr>
              <a:t>Tool 4: AI Policy Landscape Scan (Worksheet) - Use AI Policy Landscape Scan to translate this lesson into a.</a:t>
            </a:r>
            <a:endParaRPr lang="en-US" sz="1850" dirty="0"/>
          </a:p>
          <a:p>
            <a:r>
              <a:rPr lang="en-US" sz="1850" dirty="0">
                <a:solidFill>
                  <a:srgbClr val="17364A"/>
                </a:solidFill>
                <a:latin typeface="Aptos" pitchFamily="34" charset="0"/>
                <a:ea typeface="Aptos" pitchFamily="34" charset="-122"/>
                <a:cs typeface="Aptos" pitchFamily="34" charset="-120"/>
              </a:rPr>
              <a:t>Tool 5: AI Environmental and Resource Impact Review (Checklist) - Use AI Environmental and Resource Impact.</a:t>
            </a:r>
            <a:endParaRPr lang="en-US" sz="1850" dirty="0"/>
          </a:p>
          <a:p>
            <a:r>
              <a:rPr lang="en-US" sz="1850" dirty="0">
                <a:solidFill>
                  <a:srgbClr val="17364A"/>
                </a:solidFill>
                <a:latin typeface="Aptos" pitchFamily="34" charset="0"/>
                <a:ea typeface="Aptos" pitchFamily="34" charset="-122"/>
                <a:cs typeface="Aptos" pitchFamily="34" charset="-120"/>
              </a:rPr>
              <a:t>Tool 6: Human-Centered AI Decision Rule Checklist (Checklist) - Use this tool to complete or strengthen the.</a:t>
            </a:r>
            <a:endParaRPr lang="en-US" sz="1850" dirty="0"/>
          </a:p>
          <a:p>
            <a:r>
              <a:rPr lang="en-US" sz="1850" dirty="0">
                <a:solidFill>
                  <a:srgbClr val="17364A"/>
                </a:solidFill>
                <a:latin typeface="Aptos" pitchFamily="34" charset="0"/>
                <a:ea typeface="Aptos" pitchFamily="34" charset="-122"/>
                <a:cs typeface="Aptos" pitchFamily="34" charset="-120"/>
              </a:rPr>
              <a:t>Tool 8: AI Project Charter (Planning) - Use AI Project Charter to translate this lesson into a documented.</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Concept</a:t>
            </a:r>
            <a:endParaRPr lang="en-US" sz="1500" dirty="0"/>
          </a:p>
        </p:txBody>
      </p:sp>
      <p:sp>
        <p:nvSpPr>
          <p:cNvPr id="15" name="Text 13"/>
          <p:cNvSpPr/>
          <p:nvPr/>
        </p:nvSpPr>
        <p:spPr>
          <a:xfrm>
            <a:off x="8817864"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Tool</a:t>
            </a:r>
            <a:endParaRPr lang="en-US" sz="1500" dirty="0"/>
          </a:p>
        </p:txBody>
      </p:sp>
      <p:sp>
        <p:nvSpPr>
          <p:cNvPr id="18" name="Text 16"/>
          <p:cNvSpPr/>
          <p:nvPr/>
        </p:nvSpPr>
        <p:spPr>
          <a:xfrm>
            <a:off x="10046208"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74808" y="3977640"/>
            <a:ext cx="972312" cy="749808"/>
          </a:xfrm>
          <a:prstGeom prst="roundRect">
            <a:avLst>
              <a:gd name="adj" fmla="val 14634"/>
            </a:avLst>
          </a:prstGeom>
          <a:solidFill>
            <a:srgbClr val="D69A2D"/>
          </a:solidFill>
          <a:ln w="12700">
            <a:solidFill>
              <a:srgbClr val="D69A2D"/>
            </a:solidFill>
            <a:prstDash val="solid"/>
          </a:ln>
        </p:spPr>
      </p:sp>
      <p:sp>
        <p:nvSpPr>
          <p:cNvPr id="20" name="Text 18"/>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Artifact</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Public Health Communications and Message Development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Identify appropriate and inappropriate uses of AI in public health communications.</a:t>
            </a:r>
            <a:endParaRPr lang="en-US" sz="2100" dirty="0"/>
          </a:p>
          <a:p>
            <a:r>
              <a:rPr lang="en-US" sz="2100" dirty="0">
                <a:solidFill>
                  <a:srgbClr val="17364A"/>
                </a:solidFill>
                <a:latin typeface="Aptos" pitchFamily="34" charset="0"/>
                <a:ea typeface="Aptos" pitchFamily="34" charset="-122"/>
                <a:cs typeface="Aptos" pitchFamily="34" charset="-120"/>
              </a:rPr>
              <a:t>Apply source verification, plain language, accessibility, and equity review to AI-generated messages.</a:t>
            </a:r>
            <a:endParaRPr lang="en-US" sz="2100" dirty="0"/>
          </a:p>
          <a:p>
            <a:r>
              <a:rPr lang="en-US" sz="2100" dirty="0">
                <a:solidFill>
                  <a:srgbClr val="17364A"/>
                </a:solidFill>
                <a:latin typeface="Aptos" pitchFamily="34" charset="0"/>
                <a:ea typeface="Aptos" pitchFamily="34" charset="-122"/>
                <a:cs typeface="Aptos" pitchFamily="34" charset="-120"/>
              </a:rPr>
              <a:t>Design a human review workflow for AI-assisted public-facing communications.</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appropriate and inappropriate uses of AI in public health communications.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Public Health Communications and Message Development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2</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Generative AI can support public health communications by helping staff draft, revise, simplify,.</a:t>
            </a:r>
            <a:endParaRPr lang="en-US" sz="2100" dirty="0"/>
          </a:p>
          <a:p>
            <a:r>
              <a:rPr lang="en-US" sz="2100" dirty="0">
                <a:solidFill>
                  <a:srgbClr val="17364A"/>
                </a:solidFill>
                <a:latin typeface="Aptos" pitchFamily="34" charset="0"/>
                <a:ea typeface="Aptos" pitchFamily="34" charset="-122"/>
                <a:cs typeface="Aptos" pitchFamily="34" charset="-120"/>
              </a:rPr>
              <a:t>However, public health communication carries high trust, equity, accessibility, and accuracy obligations.</a:t>
            </a:r>
            <a:endParaRPr lang="en-US" sz="2100" dirty="0"/>
          </a:p>
          <a:p>
            <a:r>
              <a:rPr lang="en-US" sz="2100" dirty="0">
                <a:solidFill>
                  <a:srgbClr val="17364A"/>
                </a:solidFill>
                <a:latin typeface="Aptos" pitchFamily="34" charset="0"/>
                <a:ea typeface="Aptos" pitchFamily="34" charset="-122"/>
                <a:cs typeface="Aptos" pitchFamily="34" charset="-120"/>
              </a:rPr>
              <a:t>AI-generated text can sound clear and authoritative while misstating evidence, omitting uncertainty,.</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Generative AI can support public health communications by helping staff draft, revise, simplify,.</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Public Health Communications and Message Development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3</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This national-level module is intended for training and planning purposes.</a:t>
            </a:r>
            <a:endParaRPr lang="en-US" sz="2100" dirty="0"/>
          </a:p>
          <a:p>
            <a:r>
              <a:rPr lang="en-US" sz="2100" dirty="0">
                <a:solidFill>
                  <a:srgbClr val="17364A"/>
                </a:solidFill>
                <a:latin typeface="Aptos" pitchFamily="34" charset="0"/>
                <a:ea typeface="Aptos" pitchFamily="34" charset="-122"/>
                <a:cs typeface="Aptos" pitchFamily="34" charset="-120"/>
              </a:rPr>
              <a:t>It does not replace legal, privacy, procurement, civil rights, records, or agency policy review.</a:t>
            </a:r>
            <a:endParaRPr lang="en-US" sz="2100" dirty="0"/>
          </a:p>
          <a:p>
            <a:r>
              <a:rPr lang="en-US" sz="2100" dirty="0">
                <a:solidFill>
                  <a:srgbClr val="17364A"/>
                </a:solidFill>
                <a:latin typeface="Aptos" pitchFamily="34" charset="0"/>
                <a:ea typeface="Aptos" pitchFamily="34" charset="-122"/>
                <a:cs typeface="Aptos" pitchFamily="34" charset="-120"/>
              </a:rPr>
              <a:t>Learners should confirm applicable requirements in their own jurisdiction and organization before.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This national-level module is intended for training and planning purposes.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Public Health Communications and Message Development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4</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health department uses AI to draft a heat safety message for older adults, outdoor workers, and.</a:t>
            </a:r>
            <a:endParaRPr lang="en-US" sz="2100" dirty="0"/>
          </a:p>
          <a:p>
            <a:r>
              <a:rPr lang="en-US" sz="2100" dirty="0">
                <a:solidFill>
                  <a:srgbClr val="17364A"/>
                </a:solidFill>
                <a:latin typeface="Aptos" pitchFamily="34" charset="0"/>
                <a:ea typeface="Aptos" pitchFamily="34" charset="-122"/>
                <a:cs typeface="Aptos" pitchFamily="34" charset="-120"/>
              </a:rPr>
              <a:t>Communications staff verify the recommendations against official guidance, rewrite the message in plain.</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health department uses AI to draft a heat safety message for older adults, outdoor workers, and.</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Public Health Communications and Message Development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5</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Topic Deep Dive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can be useful early in the message development process.</a:t>
            </a:r>
            <a:endParaRPr lang="en-US" sz="2100" dirty="0"/>
          </a:p>
          <a:p>
            <a:r>
              <a:rPr lang="en-US" sz="2100" dirty="0">
                <a:solidFill>
                  <a:srgbClr val="17364A"/>
                </a:solidFill>
                <a:latin typeface="Aptos" pitchFamily="34" charset="0"/>
                <a:ea typeface="Aptos" pitchFamily="34" charset="-122"/>
                <a:cs typeface="Aptos" pitchFamily="34" charset="-120"/>
              </a:rPr>
              <a:t>It can generate first drafts, propose alternative tones, simplify technical language, identify jargon,.</a:t>
            </a:r>
            <a:endParaRPr lang="en-US" sz="2100" dirty="0"/>
          </a:p>
          <a:p>
            <a:r>
              <a:rPr lang="en-US" sz="2100" dirty="0">
                <a:solidFill>
                  <a:srgbClr val="17364A"/>
                </a:solidFill>
                <a:latin typeface="Aptos" pitchFamily="34" charset="0"/>
                <a:ea typeface="Aptos" pitchFamily="34" charset="-122"/>
                <a:cs typeface="Aptos" pitchFamily="34" charset="-120"/>
              </a:rPr>
              <a:t>These uses can save time, especially when communications staff support multiple programs.</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AI can be useful early in the message development process.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Public Health Communications and Message Development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Topic Deep Dive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can also support review, but it should not replace reviewers.</a:t>
            </a:r>
            <a:endParaRPr lang="en-US" sz="2100" dirty="0"/>
          </a:p>
          <a:p>
            <a:r>
              <a:rPr lang="en-US" sz="2100" dirty="0">
                <a:solidFill>
                  <a:srgbClr val="17364A"/>
                </a:solidFill>
                <a:latin typeface="Aptos" pitchFamily="34" charset="0"/>
                <a:ea typeface="Aptos" pitchFamily="34" charset="-122"/>
                <a:cs typeface="Aptos" pitchFamily="34" charset="-120"/>
              </a:rPr>
              <a:t>A communications workflow should define who checks technical accuracy, who reviews equity and.</a:t>
            </a:r>
            <a:endParaRPr lang="en-US" sz="2100" dirty="0"/>
          </a:p>
          <a:p>
            <a:r>
              <a:rPr lang="en-US" sz="2100" dirty="0">
                <a:solidFill>
                  <a:srgbClr val="17364A"/>
                </a:solidFill>
                <a:latin typeface="Aptos" pitchFamily="34" charset="0"/>
                <a:ea typeface="Aptos" pitchFamily="34" charset="-122"/>
                <a:cs typeface="Aptos" pitchFamily="34" charset="-120"/>
              </a:rPr>
              <a:t>For urgent communications, the workflow should include expedited review rules that still preserve.</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AI can also support review, but it should not replace reviewers.</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Public Health Communications and Message Development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6</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Risks and failure modes include the following:</a:t>
            </a:r>
            <a:endParaRPr lang="en-US" sz="2100" dirty="0"/>
          </a:p>
          <a:p>
            <a:r>
              <a:rPr lang="en-US" sz="2100" dirty="0">
                <a:solidFill>
                  <a:srgbClr val="17364A"/>
                </a:solidFill>
                <a:latin typeface="Aptos" pitchFamily="34" charset="0"/>
                <a:ea typeface="Aptos" pitchFamily="34" charset="-122"/>
                <a:cs typeface="Aptos" pitchFamily="34" charset="-120"/>
              </a:rPr>
              <a:t>AI-generated messages overstating evidence or omitting uncertainty.</a:t>
            </a:r>
            <a:endParaRPr lang="en-US" sz="2100" dirty="0"/>
          </a:p>
          <a:p>
            <a:r>
              <a:rPr lang="en-US" sz="2100" dirty="0">
                <a:solidFill>
                  <a:srgbClr val="17364A"/>
                </a:solidFill>
                <a:latin typeface="Aptos" pitchFamily="34" charset="0"/>
                <a:ea typeface="Aptos" pitchFamily="34" charset="-122"/>
                <a:cs typeface="Aptos" pitchFamily="34" charset="-120"/>
              </a:rPr>
              <a:t>Use of stigmatizing, blaming, or culturally inappropriate language.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Risks and failure modes include the following:</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Public Health Communications and Message Development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Unverified translations or readability changes that alter meaning.</a:t>
            </a:r>
            <a:endParaRPr lang="en-US" sz="2100" dirty="0"/>
          </a:p>
          <a:p>
            <a:r>
              <a:rPr lang="en-US" sz="2100" dirty="0">
                <a:solidFill>
                  <a:srgbClr val="17364A"/>
                </a:solidFill>
                <a:latin typeface="Aptos" pitchFamily="34" charset="0"/>
                <a:ea typeface="Aptos" pitchFamily="34" charset="-122"/>
                <a:cs typeface="Aptos" pitchFamily="34" charset="-120"/>
              </a:rPr>
              <a:t>Public-facing content being released without required subject matter or leadership review.</a:t>
            </a:r>
            <a:endParaRPr lang="en-US" sz="2100" dirty="0"/>
          </a:p>
          <a:p>
            <a:r>
              <a:rPr lang="en-US" sz="2100" dirty="0">
                <a:solidFill>
                  <a:srgbClr val="17364A"/>
                </a:solidFill>
                <a:latin typeface="Aptos" pitchFamily="34" charset="0"/>
                <a:ea typeface="Aptos" pitchFamily="34" charset="-122"/>
                <a:cs typeface="Aptos" pitchFamily="34" charset="-120"/>
              </a:rPr>
              <a:t>Messages that assume access to resources, technology, transportation, or healthcare that the audience.</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Unverified translations or readability changes that alter meaning.</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Public Health Communications and Message Development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Recommended guardrails include the following:</a:t>
            </a:r>
            <a:endParaRPr lang="en-US" sz="2100" dirty="0"/>
          </a:p>
          <a:p>
            <a:r>
              <a:rPr lang="en-US" sz="2100" dirty="0">
                <a:solidFill>
                  <a:srgbClr val="17364A"/>
                </a:solidFill>
                <a:latin typeface="Aptos" pitchFamily="34" charset="0"/>
                <a:ea typeface="Aptos" pitchFamily="34" charset="-122"/>
                <a:cs typeface="Aptos" pitchFamily="34" charset="-120"/>
              </a:rPr>
              <a:t>Use only approved tools and approved source material for public health communications.</a:t>
            </a:r>
            <a:endParaRPr lang="en-US" sz="2100" dirty="0"/>
          </a:p>
          <a:p>
            <a:r>
              <a:rPr lang="en-US" sz="2100" dirty="0">
                <a:solidFill>
                  <a:srgbClr val="17364A"/>
                </a:solidFill>
                <a:latin typeface="Aptos" pitchFamily="34" charset="0"/>
                <a:ea typeface="Aptos" pitchFamily="34" charset="-122"/>
                <a:cs typeface="Aptos" pitchFamily="34" charset="-120"/>
              </a:rPr>
              <a:t>Require human review for accuracy, plain language, accessibility, equity, and tone.</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Recommended guardrails include the following:</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Public Health Communications and Message Development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Document source material used for public-facing claims.</a:t>
            </a:r>
            <a:endParaRPr lang="en-US" sz="2100" dirty="0"/>
          </a:p>
          <a:p>
            <a:r>
              <a:rPr lang="en-US" sz="2100" dirty="0">
                <a:solidFill>
                  <a:srgbClr val="17364A"/>
                </a:solidFill>
                <a:latin typeface="Aptos" pitchFamily="34" charset="0"/>
                <a:ea typeface="Aptos" pitchFamily="34" charset="-122"/>
                <a:cs typeface="Aptos" pitchFamily="34" charset="-120"/>
              </a:rPr>
              <a:t>Use qualified review for translation and language access needs.</a:t>
            </a:r>
            <a:endParaRPr lang="en-US" sz="2100" dirty="0"/>
          </a:p>
          <a:p>
            <a:r>
              <a:rPr lang="en-US" sz="2100" dirty="0">
                <a:solidFill>
                  <a:srgbClr val="17364A"/>
                </a:solidFill>
                <a:latin typeface="Aptos" pitchFamily="34" charset="0"/>
                <a:ea typeface="Aptos" pitchFamily="34" charset="-122"/>
                <a:cs typeface="Aptos" pitchFamily="34" charset="-120"/>
              </a:rPr>
              <a:t>Route public-facing materials through the agency approval process before release.</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Document source material used for public-facing claims.</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Public Health Communications and Message Development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7</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Where does this topic appear in your agency, program, or workflow?</a:t>
            </a:r>
            <a:endParaRPr lang="en-US" sz="2100" dirty="0"/>
          </a:p>
          <a:p>
            <a:r>
              <a:rPr lang="en-US" sz="2100" dirty="0">
                <a:solidFill>
                  <a:srgbClr val="17364A"/>
                </a:solidFill>
                <a:latin typeface="Aptos" pitchFamily="34" charset="0"/>
                <a:ea typeface="Aptos" pitchFamily="34" charset="-122"/>
                <a:cs typeface="Aptos" pitchFamily="34" charset="-120"/>
              </a:rPr>
              <a:t>Which staff roles would need to understand or apply this concept before AI use is approved?</a:t>
            </a:r>
            <a:endParaRPr lang="en-US" sz="2100" dirty="0"/>
          </a:p>
          <a:p>
            <a:r>
              <a:rPr lang="en-US" sz="2100" dirty="0">
                <a:solidFill>
                  <a:srgbClr val="17364A"/>
                </a:solidFill>
                <a:latin typeface="Aptos" pitchFamily="34" charset="0"/>
                <a:ea typeface="Aptos" pitchFamily="34" charset="-122"/>
                <a:cs typeface="Aptos" pitchFamily="34" charset="-120"/>
              </a:rPr>
              <a:t>What could go wrong if this topic is not addressed before implementation?</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Where does this topic appear in your agency, program, or workflow?</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Public Health Communications and Message Development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What evidence would governance, leadership, or operations staff need before moving forward?</a:t>
            </a:r>
            <a:endParaRPr lang="en-US" sz="2100" dirty="0"/>
          </a:p>
          <a:p>
            <a:r>
              <a:rPr lang="en-US" sz="2100" dirty="0">
                <a:solidFill>
                  <a:srgbClr val="17364A"/>
                </a:solidFill>
                <a:latin typeface="Aptos" pitchFamily="34" charset="0"/>
                <a:ea typeface="Aptos" pitchFamily="34" charset="-122"/>
                <a:cs typeface="Aptos" pitchFamily="34" charset="-120"/>
              </a:rPr>
              <a:t>Which policy, data, equity, privacy, security, or workflow questions remain unresolved?</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What evidence would governance, leadership, or operations staff need before moving forward?</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Public Health Communications and Message Development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8</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Create an AI-assisted communications review checklist for one public health message.</a:t>
            </a:r>
            <a:endParaRPr lang="en-US" sz="2100" dirty="0"/>
          </a:p>
          <a:p>
            <a:r>
              <a:rPr lang="en-US" sz="2100" dirty="0">
                <a:solidFill>
                  <a:srgbClr val="17364A"/>
                </a:solidFill>
                <a:latin typeface="Aptos" pitchFamily="34" charset="0"/>
                <a:ea typeface="Aptos" pitchFamily="34" charset="-122"/>
                <a:cs typeface="Aptos" pitchFamily="34" charset="-120"/>
              </a:rPr>
              <a:t>Include intended audience, source material, factual claims to verify, plain language review,.</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Create an AI-assisted communications review checklist for one public health message.</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Public Health Communications and Message Development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9</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AI-assisted communications review checklist</a:t>
            </a:r>
            <a:endParaRPr lang="en-US" sz="2100" dirty="0"/>
          </a:p>
          <a:p>
            <a:r>
              <a:rPr lang="en-US" sz="2100" dirty="0">
                <a:solidFill>
                  <a:srgbClr val="17364A"/>
                </a:solidFill>
                <a:latin typeface="Aptos" pitchFamily="34" charset="0"/>
                <a:ea typeface="Aptos" pitchFamily="34" charset="-122"/>
                <a:cs typeface="Aptos" pitchFamily="34" charset="-120"/>
              </a:rPr>
              <a:t>Source verification notes</a:t>
            </a:r>
            <a:endParaRPr lang="en-US" sz="2100" dirty="0"/>
          </a:p>
          <a:p>
            <a:r>
              <a:rPr lang="en-US" sz="2100" dirty="0">
                <a:solidFill>
                  <a:srgbClr val="17364A"/>
                </a:solidFill>
                <a:latin typeface="Aptos" pitchFamily="34" charset="0"/>
                <a:ea typeface="Aptos" pitchFamily="34" charset="-122"/>
                <a:cs typeface="Aptos" pitchFamily="34" charset="-120"/>
              </a:rPr>
              <a:t>Plain language and accessibility review notes</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AI-assisted communications review checklist</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Public Health Communications and Message Development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Approval pathway documentation</a:t>
            </a:r>
            <a:endParaRPr lang="en-US" sz="2100" dirty="0"/>
          </a:p>
          <a:p>
            <a:r>
              <a:rPr lang="en-US" sz="2100" dirty="0">
                <a:solidFill>
                  <a:srgbClr val="17364A"/>
                </a:solidFill>
                <a:latin typeface="Aptos" pitchFamily="34" charset="0"/>
                <a:ea typeface="Aptos" pitchFamily="34" charset="-122"/>
                <a:cs typeface="Aptos" pitchFamily="34" charset="-120"/>
              </a:rPr>
              <a:t>Final reviewed message or sample revision</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Approval pathway documentation</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Public Health Communications and Message Development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10</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AI-assisted communications review checklist</a:t>
            </a:r>
            <a:endParaRPr lang="en-US" sz="2100" dirty="0"/>
          </a:p>
          <a:p>
            <a:r>
              <a:rPr lang="en-US" sz="2100" dirty="0">
                <a:solidFill>
                  <a:srgbClr val="17364A"/>
                </a:solidFill>
                <a:latin typeface="Aptos" pitchFamily="34" charset="0"/>
                <a:ea typeface="Aptos" pitchFamily="34" charset="-122"/>
                <a:cs typeface="Aptos" pitchFamily="34" charset="-120"/>
              </a:rPr>
              <a:t>Source verification notes</a:t>
            </a:r>
            <a:endParaRPr lang="en-US" sz="2100" dirty="0"/>
          </a:p>
          <a:p>
            <a:r>
              <a:rPr lang="en-US" sz="2100" dirty="0">
                <a:solidFill>
                  <a:srgbClr val="17364A"/>
                </a:solidFill>
                <a:latin typeface="Aptos" pitchFamily="34" charset="0"/>
                <a:ea typeface="Aptos" pitchFamily="34" charset="-122"/>
                <a:cs typeface="Aptos" pitchFamily="34" charset="-120"/>
              </a:rPr>
              <a:t>Plain language and accessibility review notes</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AI-assisted communications review checklist</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Public Health Communications and Message Development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11</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1. What is an appropriate role for AI in public health communications?</a:t>
            </a:r>
            <a:endParaRPr lang="en-US" sz="2100" dirty="0"/>
          </a:p>
          <a:p>
            <a:r>
              <a:rPr lang="en-US" sz="2100" dirty="0">
                <a:solidFill>
                  <a:srgbClr val="17364A"/>
                </a:solidFill>
                <a:latin typeface="Aptos" pitchFamily="34" charset="0"/>
                <a:ea typeface="Aptos" pitchFamily="34" charset="-122"/>
                <a:cs typeface="Aptos" pitchFamily="34" charset="-120"/>
              </a:rPr>
              <a:t>2. Why is source verification necessary?</a:t>
            </a:r>
            <a:endParaRPr lang="en-US" sz="2100" dirty="0"/>
          </a:p>
          <a:p>
            <a:r>
              <a:rPr lang="en-US" sz="2100" dirty="0">
                <a:solidFill>
                  <a:srgbClr val="17364A"/>
                </a:solidFill>
                <a:latin typeface="Aptos" pitchFamily="34" charset="0"/>
                <a:ea typeface="Aptos" pitchFamily="34" charset="-122"/>
                <a:cs typeface="Aptos" pitchFamily="34" charset="-120"/>
              </a:rPr>
              <a:t>3. Which review is especially important for public-facing AI-assisted messages?</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1. What is an appropriate role for AI in public health communications?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Public Health Communications and Message Development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12</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NIST Artificial Intelligence Risk Management Framework:.</a:t>
            </a:r>
            <a:endParaRPr lang="en-US" sz="2100" dirty="0"/>
          </a:p>
          <a:p>
            <a:r>
              <a:rPr lang="en-US" sz="2100" dirty="0">
                <a:solidFill>
                  <a:srgbClr val="17364A"/>
                </a:solidFill>
                <a:latin typeface="Aptos" pitchFamily="34" charset="0"/>
                <a:ea typeface="Aptos" pitchFamily="34" charset="-122"/>
                <a:cs typeface="Aptos" pitchFamily="34" charset="-120"/>
              </a:rPr>
              <a:t>NIST Generative AI Profile:.</a:t>
            </a:r>
            <a:endParaRPr lang="en-US" sz="2100" dirty="0"/>
          </a:p>
          <a:p>
            <a:r>
              <a:rPr lang="en-US" sz="210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NIST Artificial Intelligence Risk Management Framework:.</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Public Health Communications and Message Development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Relevant public health program SOPs, data governance documentation, and implementation plans</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Relevant public health program SOPs, data governance documentation, and implementation plans</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for Public Health Communications and Message Development</dc:title>
  <dc:subject>AI for Public Health Communications and Message Development learning module</dc:subject>
  <dc:creator>Paula Soper</dc:creator>
  <cp:lastModifiedBy>Paula Soper</cp:lastModifiedBy>
  <cp:revision>1</cp:revision>
  <dcterms:created xsi:type="dcterms:W3CDTF">2026-07-12T19:24:27Z</dcterms:created>
  <dcterms:modified xsi:type="dcterms:W3CDTF">2026-07-12T19:24:27Z</dcterms:modified>
</cp:coreProperties>
</file>