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230 Geospatial AI and Spatial Epidemiology
Geospatial AI combines spatial data, geographic analysis, and AI methods to identify patterns across place. In public health, spatial analysis is already central to outbreak response, environmental health, emergency preparedness, community health assessment, service planning, and health equity work. AI can strengthen these activities when it helps detect clusters, estimate access barriers, classify imagery, prioritize field work, or synthesize spatial information for decision-makers. This module introduces the technical and governance issues that arise when AI uses location. Location data can be powerful, but it can also be sensitive. Even when names are removed, detailed geography can reveal identity, community characteristics, or sensitive health patterns. Public health staff must understand geocoding quality, aggregation, spatial bias, privacy, and the limits of maps. Learners will examine how geospatial AI can support public health while avoiding common mistakes, such as treating maps as neutral, ignoring missing addresses, overinterpreting small-area patterns, or using spatial proxies that reproduce inequity.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Geospatial AI combines spatial data, geographic analysis, and AI methods to identify patterns across place. In public health, spatial analysis is already central to outbreak response, environmental health, emergency preparedness, community health assessment, service planning, and health equity work. AI can strengthen these activities when it helps detect clusters, estimate access barriers, classify imagery, prioritize field work, or synthesize spatial information for decision-makers. This module introduces the technical and governance issues that arise when AI uses location. Location data can be powerful, but it can also be sensitive. Even when names are removed, detailed geography can reveal identity, community characteristics, or sensitive health patterns. Public health staff must understand geocoding quality, aggregation, spatial bias, privacy, and the limits of maps. Learners will examine how geospatial AI can support public health while avoiding common mistakes, such as treating maps as neutral, ignoring missing addresses, overinterpreting small-area patterns, or using spatial proxies that reproduce inequity.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geospatial AI and spatial epidemiology in public health terms.
Explain how geocoding, aggregation, spatial scale, and data quality affect AI-supported maps and analyses.
Identify privacy and re-identification risks related to location data.
Recognize spatial bias, modifiable areal unit problems, and ecological interpretation risks.
Design guardrails for AI-supported spatial analysis, hotspot detection, service planning, or emergency response.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geospatial AI readiness worksheet for a public health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Geospatial AI combines spatial data, geographic analysis, and AI methods to identify patterns across place. In public health, spatial analysis is already central to outbreak response, environmental health, emergency preparedness, community health assessment, service planning, and health equity work. AI can strengthen these activities when it helps detect clusters, estimate access barriers, classify imagery, prioritize field work, or synthesize spatial information for decision-makers.
This module introduces the technical and governance issues that arise when AI uses location. Location data can be powerful, but it can also be sensitive. Even when names are removed, detailed geography can reveal identity, community characteristics, or sensitive health patterns. Public health staff must understand geocoding quality, aggregation, spatial bias, privacy, and the limits of maps.
Learners will examine how geospatial AI can support public health while avoiding common mistakes, such as treating maps as neutral, ignoring missing addresses, overinterpreting small-area patterns, or using spatial proxies that reproduce inequity.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Geospatial AI matters because public health decisions are often place-based. Agencies decide where to conduct outreach, deploy mobile services, inspect facilities, respond to environmental hazards, monitor outbreaks, and communicate risks. AI-supported spatial tools can help analyze large volumes of geographic information and identify patterns that may not be visible in simple tables.
However, maps can create a false sense of objectivity. A hotspot may reflect where data are collected, who has access to testing, which providers report electronically, or which addresses are easier to geocode. Areas with missing or poor-quality data may appear low risk when they are actually under-observed. Spatial AI therefore requires careful review of data completeness, spatial scale, and community context.
Location data also raises privacy and trust concerns. Public health agencies have authority to collect and use sensitive information, but that authority should be matched with safeguards. When AI tools combine health data, address data, demographic data, mobility data, environmental data, or social vulnerability indicators, agencies must consider re-identification, stigmatization, public communication, and community impact.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use AI-supported geospatial analysis to identify areas where mobile vaccination clinics could improve access. The tool may combine immunization coverage, school locations, transportation routes, census variables, provider locations, and appointment availability. The output may recommend priority areas for outreach and clinic placement.
This workflow can advance equity if it identifies access barriers and supports community partnership. It can cause harm if it labels neighborhoods as low-performing without context, uses outdated population denominators, ignores language access, or fails to engage local organizations. The geospatial analysis should be paired with community review, accessibility planning, and transparent explanation of limitations.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Geospatial AI begins with location data, and location data are rarely perfect. Addresses may be missing, misspelled, outdated, rural route-based, temporary, or unstable. People experiencing homelessness, migration, displacement, incarceration, or housing instability may be poorly represented by address-based analysis. Geocoding errors can shift records across boundaries and distort rates for small areas.
Spatial scale shapes interpretation. County-level maps may hide neighborhood-level inequities. Census tract maps may reveal meaningful local variation but increase privacy risks. ZIP codes are convenient but were created for mail delivery, not public health analysis. Staff should choose geographic units based on the question, data quality, privacy requirements, and actionability.
AI-supported hotspot detection requires baseline context. An apparent cluster may reflect higher testing volume, better reporting, a facility-specific outbreak, or a true increase in incidence. Algorithms can detect unusual patterns, but epidemiologists must assess plausibility, data quality, denominator stability, and reporting artifacts. Automated hotspot alerts should be treated as signals for review, not conclusions.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Geospatial models may use spatial proxies for social conditions. Social vulnerability, deprivation, rurality, housing burden, transportation access, and environmental exposure indicators can improve public health planning. They can also be misused if they stigmatize communities or support restrictive decisions. Agencies should use these indicators to guide supportive action and resource allocation, not blame.
Privacy protection should be planned before analysis. Techniques include aggregation, suppression, geomasking, minimum cell-size rules, role-based access, public/private map separation, and review of small-area outputs before publication. For internal AI tools, access controls and audit logs should apply to spatial data just as they do to clinical or case data.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Geocoding bias. Some populations and locations are harder to geocode accurately. Guardrails include geocoding quality checks, manual review for unmatched records, and documentation of missingness.
Small-area privacy risk. Detailed maps can reveal sensitive patterns or identities. Guardrails include aggregation, suppression, role-based access, and public release review.
Overinterpretation of hotspots. Spatial clusters may reflect testing or reporting patterns. Guardrails include denominator review, baseline comparison, and epidemiologic confirmation.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Stigmatizing communities. Maps can unintentionally label communities as problems. Guardrails include equity framing, community engagement, careful language, and focus on structural supports.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Geospatial AI may support predictive analytics, emergency response, inspection prioritization, environmental monitoring, and service planning. Generative AI may summarize spatial patterns for leaders, but it must not overstate certainty or ignore limitations. RAG tools may retrieve local plans, maps, and protocols, while agentic workflows may propose outreach routes or inspection assignments that require human approval.
The responsible application of geospatial AI requires explicit attention to privacy, geography, and equity. A spatial output should answer a public health question, support a feasible action, and include enough context for staff and communities to interpret it appropriately.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location data are used, and how complete and accurate are they?
Which geographic unit best matches the public health action?
Could missing or poor-quality location data affect certain populations more than others?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privacy safeguards are needed for internal and public maps?
How will community context be included before action is taken?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geospatial AI readiness worksheet for one public health workflow. Include the public health question, location data sources, geocoding method, geographic unit, denominator, privacy safeguards, equity concerns, AI-supported task, human review process, and communication plan.
The worksheet should identify at least one way the map could be misinterpreted and one safeguard that would reduce the risk of harm.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Geospatial AI readiness worksheet
Map interpretation and limitations memo
Privacy and suppression review notes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Community context and action plan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Geospatial AI readiness worksheet
Map interpretation and limitations memo
Privacy and suppression review notes
Community context and action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geocoding?
2. Why can maps create misleading impressions?
3. What is the modifiable areal unit problem?
4. Which safeguard is appropriate before publishing a small-area health map?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GIS and Public Health Resources: https://www.cdc.gov/gis/
NIST Artificial Intelligence Risk Management Framework: https://www.nist.gov/itl/ai-risk-management-framework
NIST Privacy Framework: https://www.nist.gov/privacy-framework
CDC Public Health Data Strategy: https://www.cdc.gov/public-health-data-strategy/php/about/index.html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Geospatial AI and Spatial Epidemiology</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combines spatial data, geographic analysis, and AI methods to identify patterns across place.</a:t>
            </a:r>
            <a:endParaRPr lang="en-US" sz="2100" dirty="0"/>
          </a:p>
          <a:p>
            <a:r>
              <a:rPr lang="en-US" sz="2100" dirty="0">
                <a:solidFill>
                  <a:srgbClr val="17364A"/>
                </a:solidFill>
                <a:latin typeface="Aptos" pitchFamily="34" charset="0"/>
                <a:ea typeface="Aptos" pitchFamily="34" charset="-122"/>
                <a:cs typeface="Aptos" pitchFamily="34" charset="-120"/>
              </a:rPr>
              <a:t>In public health, spatial analysis is already central to outbreak response, environmental health, emergency.</a:t>
            </a:r>
            <a:endParaRPr lang="en-US" sz="2100" dirty="0"/>
          </a:p>
          <a:p>
            <a:r>
              <a:rPr lang="en-US" sz="2100" dirty="0">
                <a:solidFill>
                  <a:srgbClr val="17364A"/>
                </a:solidFill>
                <a:latin typeface="Aptos" pitchFamily="34" charset="0"/>
                <a:ea typeface="Aptos" pitchFamily="34" charset="-122"/>
                <a:cs typeface="Aptos" pitchFamily="34" charset="-120"/>
              </a:rPr>
              <a:t>AI can strengthen these activities when it helps detect clusters, estimate access barriers, classify imagery,.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Read the module for shared vocabulary and context.</a:t>
            </a:r>
            <a:endParaRPr lang="en-US" sz="1380" dirty="0"/>
          </a:p>
          <a:p>
            <a:r>
              <a:rPr lang="en-US" sz="1380" dirty="0">
                <a:solidFill>
                  <a:srgbClr val="17364A"/>
                </a:solidFill>
                <a:latin typeface="Aptos" pitchFamily="34" charset="0"/>
                <a:ea typeface="Aptos" pitchFamily="34" charset="-122"/>
                <a:cs typeface="Aptos" pitchFamily="34" charset="-120"/>
              </a:rPr>
              <a:t>Complete the practical exercise to apply the concept.</a:t>
            </a:r>
            <a:endParaRPr lang="en-US" sz="1380" dirty="0"/>
          </a:p>
          <a:p>
            <a:r>
              <a:rPr lang="en-US" sz="1380" dirty="0">
                <a:solidFill>
                  <a:srgbClr val="17364A"/>
                </a:solidFill>
                <a:latin typeface="Aptos" pitchFamily="34" charset="0"/>
                <a:ea typeface="Aptos" pitchFamily="34" charset="-122"/>
                <a:cs typeface="Aptos" pitchFamily="34" charset="-120"/>
              </a:rPr>
              <a:t>Use the notes and references for deeper review.</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Locate the decision point in the playbook sequence.</a:t>
            </a:r>
            <a:endParaRPr lang="en-US" sz="1380" dirty="0"/>
          </a:p>
          <a:p>
            <a:r>
              <a:rPr lang="en-US" sz="1380" dirty="0">
                <a:solidFill>
                  <a:srgbClr val="17364A"/>
                </a:solidFill>
                <a:latin typeface="Aptos" pitchFamily="34" charset="0"/>
                <a:ea typeface="Aptos" pitchFamily="34" charset="-122"/>
                <a:cs typeface="Aptos" pitchFamily="34" charset="-120"/>
              </a:rPr>
              <a:t>Identify who should participate in the work.</a:t>
            </a:r>
            <a:endParaRPr lang="en-US" sz="1380" dirty="0"/>
          </a:p>
          <a:p>
            <a:r>
              <a:rPr lang="en-US" sz="1380" dirty="0">
                <a:solidFill>
                  <a:srgbClr val="17364A"/>
                </a:solidFill>
                <a:latin typeface="Aptos" pitchFamily="34" charset="0"/>
                <a:ea typeface="Aptos" pitchFamily="34" charset="-122"/>
                <a:cs typeface="Aptos" pitchFamily="34" charset="-120"/>
              </a:rPr>
              <a:t>Document the review, approval, or implementation step.</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a tool when no comparable local process exists.</a:t>
            </a:r>
            <a:endParaRPr lang="en-US" sz="1380" dirty="0"/>
          </a:p>
          <a:p>
            <a:r>
              <a:rPr lang="en-US" sz="1380" dirty="0">
                <a:solidFill>
                  <a:srgbClr val="17364A"/>
                </a:solidFill>
                <a:latin typeface="Aptos" pitchFamily="34" charset="0"/>
                <a:ea typeface="Aptos" pitchFamily="34" charset="-122"/>
                <a:cs typeface="Aptos" pitchFamily="34" charset="-120"/>
              </a:rPr>
              <a:t>Adapt existing department templates when they already fit the purpose.</a:t>
            </a:r>
            <a:endParaRPr lang="en-US" sz="1380" dirty="0"/>
          </a:p>
          <a:p>
            <a:r>
              <a:rPr lang="en-US" sz="1380" dirty="0">
                <a:solidFill>
                  <a:srgbClr val="17364A"/>
                </a:solidFill>
                <a:latin typeface="Aptos" pitchFamily="34" charset="0"/>
                <a:ea typeface="Aptos" pitchFamily="34" charset="-122"/>
                <a:cs typeface="Aptos" pitchFamily="34" charset="-120"/>
              </a:rPr>
              <a:t>Save the completed artifact as evidence of the decision.</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geospatial AI and spatial epidemiology in public health terms.</a:t>
            </a:r>
            <a:endParaRPr lang="en-US" sz="2100" dirty="0"/>
          </a:p>
          <a:p>
            <a:r>
              <a:rPr lang="en-US" sz="2100" dirty="0">
                <a:solidFill>
                  <a:srgbClr val="17364A"/>
                </a:solidFill>
                <a:latin typeface="Aptos" pitchFamily="34" charset="0"/>
                <a:ea typeface="Aptos" pitchFamily="34" charset="-122"/>
                <a:cs typeface="Aptos" pitchFamily="34" charset="-120"/>
              </a:rPr>
              <a:t>Explain how geocoding, aggregation, spatial scale, and data quality affect AI-supported maps and.</a:t>
            </a:r>
            <a:endParaRPr lang="en-US" sz="2100" dirty="0"/>
          </a:p>
          <a:p>
            <a:r>
              <a:rPr lang="en-US" sz="2100" dirty="0">
                <a:solidFill>
                  <a:srgbClr val="17364A"/>
                </a:solidFill>
                <a:latin typeface="Aptos" pitchFamily="34" charset="0"/>
                <a:ea typeface="Aptos" pitchFamily="34" charset="-122"/>
                <a:cs typeface="Aptos" pitchFamily="34" charset="-120"/>
              </a:rPr>
              <a:t>Identify privacy and re-identification risks related to location data.</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geospatial AI and spatial epidemiology in public health terms.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Explain how geocoding, aggregation, spatial scale, and data quality affect AI-supported.</a:t>
            </a:r>
            <a:endParaRPr lang="en-US" sz="1380" dirty="0"/>
          </a:p>
          <a:p>
            <a:r>
              <a:rPr lang="en-US" sz="1380" dirty="0">
                <a:solidFill>
                  <a:srgbClr val="17364A"/>
                </a:solidFill>
                <a:latin typeface="Aptos" pitchFamily="34" charset="0"/>
                <a:ea typeface="Aptos" pitchFamily="34" charset="-122"/>
                <a:cs typeface="Aptos" pitchFamily="34" charset="-120"/>
              </a:rPr>
              <a:t>Recognize spatial bias, modifiable areal unit problems, and ecological interpretation risks.</a:t>
            </a:r>
            <a:endParaRPr lang="en-US" sz="1380" dirty="0"/>
          </a:p>
          <a:p>
            <a:r>
              <a:rPr lang="en-US" sz="1380" dirty="0">
                <a:solidFill>
                  <a:srgbClr val="17364A"/>
                </a:solidFill>
                <a:latin typeface="Aptos" pitchFamily="34" charset="0"/>
                <a:ea typeface="Aptos" pitchFamily="34" charset="-122"/>
                <a:cs typeface="Aptos" pitchFamily="34" charset="-120"/>
              </a:rPr>
              <a:t>Design guardrails for AI-supported spatial analysis, hotspot detection, service planning,.</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geospatial AI readiness worksheet for a public health workflow.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geospatial AI readiness worksheet for a public health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Produce a geospatial AI readiness worksheet for a public health workflow.</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combines spatial data, geographic analysis, and AI methods to identify patterns across.</a:t>
            </a:r>
            <a:endParaRPr lang="en-US" sz="2100" dirty="0"/>
          </a:p>
          <a:p>
            <a:r>
              <a:rPr lang="en-US" sz="2100" dirty="0">
                <a:solidFill>
                  <a:srgbClr val="17364A"/>
                </a:solidFill>
                <a:latin typeface="Aptos" pitchFamily="34" charset="0"/>
                <a:ea typeface="Aptos" pitchFamily="34" charset="-122"/>
                <a:cs typeface="Aptos" pitchFamily="34" charset="-120"/>
              </a:rPr>
              <a:t>In public health, spatial analysis is already central to outbreak response, environmental health,.</a:t>
            </a:r>
            <a:endParaRPr lang="en-US" sz="2100" dirty="0"/>
          </a:p>
          <a:p>
            <a:r>
              <a:rPr lang="en-US" sz="2100" dirty="0">
                <a:solidFill>
                  <a:srgbClr val="17364A"/>
                </a:solidFill>
                <a:latin typeface="Aptos" pitchFamily="34" charset="0"/>
                <a:ea typeface="Aptos" pitchFamily="34" charset="-122"/>
                <a:cs typeface="Aptos" pitchFamily="34" charset="-120"/>
              </a:rPr>
              <a:t>AI can strengthen these activities when it helps detect clusters, estimate access barriers, classify.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combines spatial data, geographic analysis, and AI methods to identify patterns across.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Geospatial AI combines spatial data, geographic analysis, and AI methods to identify.</a:t>
            </a:r>
            <a:endParaRPr lang="en-US" sz="1380" dirty="0"/>
          </a:p>
          <a:p>
            <a:r>
              <a:rPr lang="en-US" sz="1380" dirty="0">
                <a:solidFill>
                  <a:srgbClr val="17364A"/>
                </a:solidFill>
                <a:latin typeface="Aptos" pitchFamily="34" charset="0"/>
                <a:ea typeface="Aptos" pitchFamily="34" charset="-122"/>
                <a:cs typeface="Aptos" pitchFamily="34" charset="-120"/>
              </a:rPr>
              <a:t>In public health, spatial analysis is already central to outbreak response, environmental.</a:t>
            </a:r>
            <a:endParaRPr lang="en-US" sz="1380" dirty="0"/>
          </a:p>
          <a:p>
            <a:r>
              <a:rPr lang="en-US" sz="1380" dirty="0">
                <a:solidFill>
                  <a:srgbClr val="17364A"/>
                </a:solidFill>
                <a:latin typeface="Aptos" pitchFamily="34" charset="0"/>
                <a:ea typeface="Aptos" pitchFamily="34" charset="-122"/>
                <a:cs typeface="Aptos" pitchFamily="34" charset="-120"/>
              </a:rPr>
              <a:t>AI can strengthen these activities when it helps detect clusters, estimate access.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matters because public health decisions are often place-based.</a:t>
            </a:r>
            <a:endParaRPr lang="en-US" sz="2100" dirty="0"/>
          </a:p>
          <a:p>
            <a:r>
              <a:rPr lang="en-US" sz="2100" dirty="0">
                <a:solidFill>
                  <a:srgbClr val="17364A"/>
                </a:solidFill>
                <a:latin typeface="Aptos" pitchFamily="34" charset="0"/>
                <a:ea typeface="Aptos" pitchFamily="34" charset="-122"/>
                <a:cs typeface="Aptos" pitchFamily="34" charset="-120"/>
              </a:rPr>
              <a:t>Agencies decide where to conduct outreach, deploy mobile services, inspect facilities, respond to.</a:t>
            </a:r>
            <a:endParaRPr lang="en-US" sz="2100" dirty="0"/>
          </a:p>
          <a:p>
            <a:r>
              <a:rPr lang="en-US" sz="2100" dirty="0">
                <a:solidFill>
                  <a:srgbClr val="17364A"/>
                </a:solidFill>
                <a:latin typeface="Aptos" pitchFamily="34" charset="0"/>
                <a:ea typeface="Aptos" pitchFamily="34" charset="-122"/>
                <a:cs typeface="Aptos" pitchFamily="34" charset="-120"/>
              </a:rPr>
              <a:t>AI-supported spatial tools can help analyze large volumes of geographic information and identify.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matters because public health decisions are often place-based.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Agencies decide where to conduct outreach, deploy mobile services, inspect facilities,.</a:t>
            </a:r>
            <a:endParaRPr lang="en-US" sz="1380" dirty="0"/>
          </a:p>
          <a:p>
            <a:r>
              <a:rPr lang="en-US" sz="1380" dirty="0">
                <a:solidFill>
                  <a:srgbClr val="17364A"/>
                </a:solidFill>
                <a:latin typeface="Aptos" pitchFamily="34" charset="0"/>
                <a:ea typeface="Aptos" pitchFamily="34" charset="-122"/>
                <a:cs typeface="Aptos" pitchFamily="34" charset="-120"/>
              </a:rPr>
              <a:t>AI-supported spatial tools can help analyze large volumes of geographic information and.</a:t>
            </a:r>
            <a:endParaRPr lang="en-US" sz="1380" dirty="0"/>
          </a:p>
          <a:p>
            <a:r>
              <a:rPr lang="en-US" sz="1380" dirty="0">
                <a:solidFill>
                  <a:srgbClr val="17364A"/>
                </a:solidFill>
                <a:latin typeface="Aptos" pitchFamily="34" charset="0"/>
                <a:ea typeface="Aptos" pitchFamily="34" charset="-122"/>
                <a:cs typeface="Aptos" pitchFamily="34" charset="-120"/>
              </a:rPr>
              <a:t>However, maps can create a false sense of objectivity.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use AI-supported geospatial analysis to identify areas where mobile vaccination.</a:t>
            </a:r>
            <a:endParaRPr lang="en-US" sz="2100" dirty="0"/>
          </a:p>
          <a:p>
            <a:r>
              <a:rPr lang="en-US" sz="2100" dirty="0">
                <a:solidFill>
                  <a:srgbClr val="17364A"/>
                </a:solidFill>
                <a:latin typeface="Aptos" pitchFamily="34" charset="0"/>
                <a:ea typeface="Aptos" pitchFamily="34" charset="-122"/>
                <a:cs typeface="Aptos" pitchFamily="34" charset="-120"/>
              </a:rPr>
              <a:t>The tool may combine immunization coverage, school locations, transportation routes, census variables,.</a:t>
            </a:r>
            <a:endParaRPr lang="en-US" sz="2100" dirty="0"/>
          </a:p>
          <a:p>
            <a:r>
              <a:rPr lang="en-US" sz="2100" dirty="0">
                <a:solidFill>
                  <a:srgbClr val="17364A"/>
                </a:solidFill>
                <a:latin typeface="Aptos" pitchFamily="34" charset="0"/>
                <a:ea typeface="Aptos" pitchFamily="34" charset="-122"/>
                <a:cs typeface="Aptos" pitchFamily="34" charset="-120"/>
              </a:rPr>
              <a:t>The output may recommend priority areas for outreach and clinic placement.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use AI-supported geospatial analysis to identify areas where mobile vaccination.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health department may use AI-supported geospatial analysis to identify areas where.</a:t>
            </a:r>
            <a:endParaRPr lang="en-US" sz="1380" dirty="0"/>
          </a:p>
          <a:p>
            <a:r>
              <a:rPr lang="en-US" sz="1380" dirty="0">
                <a:solidFill>
                  <a:srgbClr val="17364A"/>
                </a:solidFill>
                <a:latin typeface="Aptos" pitchFamily="34" charset="0"/>
                <a:ea typeface="Aptos" pitchFamily="34" charset="-122"/>
                <a:cs typeface="Aptos" pitchFamily="34" charset="-120"/>
              </a:rPr>
              <a:t>The tool may combine immunization coverage, school locations, transportation routes,.</a:t>
            </a:r>
            <a:endParaRPr lang="en-US" sz="1380" dirty="0"/>
          </a:p>
          <a:p>
            <a:r>
              <a:rPr lang="en-US" sz="1380" dirty="0">
                <a:solidFill>
                  <a:srgbClr val="17364A"/>
                </a:solidFill>
                <a:latin typeface="Aptos" pitchFamily="34" charset="0"/>
                <a:ea typeface="Aptos" pitchFamily="34" charset="-122"/>
                <a:cs typeface="Aptos" pitchFamily="34" charset="-120"/>
              </a:rPr>
              <a:t>This workflow can advance equity if it identifies access barriers and supports community.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begins with location data, and location data are rarely perfect.</a:t>
            </a:r>
            <a:endParaRPr lang="en-US" sz="2100" dirty="0"/>
          </a:p>
          <a:p>
            <a:r>
              <a:rPr lang="en-US" sz="2100" dirty="0">
                <a:solidFill>
                  <a:srgbClr val="17364A"/>
                </a:solidFill>
                <a:latin typeface="Aptos" pitchFamily="34" charset="0"/>
                <a:ea typeface="Aptos" pitchFamily="34" charset="-122"/>
                <a:cs typeface="Aptos" pitchFamily="34" charset="-120"/>
              </a:rPr>
              <a:t>Addresses may be missing, misspelled, outdated, rural route-based, temporary, or unstable.</a:t>
            </a:r>
            <a:endParaRPr lang="en-US" sz="2100" dirty="0"/>
          </a:p>
          <a:p>
            <a:r>
              <a:rPr lang="en-US" sz="2100" dirty="0">
                <a:solidFill>
                  <a:srgbClr val="17364A"/>
                </a:solidFill>
                <a:latin typeface="Aptos" pitchFamily="34" charset="0"/>
                <a:ea typeface="Aptos" pitchFamily="34" charset="-122"/>
                <a:cs typeface="Aptos" pitchFamily="34" charset="-120"/>
              </a:rPr>
              <a:t>People experiencing homelessness, migration, displacement, incarceration, or housing instability may be.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begins with location data, and location data are rarely perfect.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People experiencing homelessness, migration, displacement, incarceration, or housing.</a:t>
            </a:r>
            <a:endParaRPr lang="en-US" sz="1380" dirty="0"/>
          </a:p>
          <a:p>
            <a:r>
              <a:rPr lang="en-US" sz="1380" dirty="0">
                <a:solidFill>
                  <a:srgbClr val="17364A"/>
                </a:solidFill>
                <a:latin typeface="Aptos" pitchFamily="34" charset="0"/>
                <a:ea typeface="Aptos" pitchFamily="34" charset="-122"/>
                <a:cs typeface="Aptos" pitchFamily="34" charset="-120"/>
              </a:rPr>
              <a:t>Geocoding errors can shift records across boundaries and distort rates for small areas.</a:t>
            </a:r>
            <a:endParaRPr lang="en-US" sz="1380" dirty="0"/>
          </a:p>
          <a:p>
            <a:r>
              <a:rPr lang="en-US" sz="1380" dirty="0">
                <a:solidFill>
                  <a:srgbClr val="17364A"/>
                </a:solidFill>
                <a:latin typeface="Aptos" pitchFamily="34" charset="0"/>
                <a:ea typeface="Aptos" pitchFamily="34" charset="-122"/>
                <a:cs typeface="Aptos" pitchFamily="34" charset="-120"/>
              </a:rPr>
              <a:t>Spatial scale shapes interpretation.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models may use spatial proxies for social conditions.</a:t>
            </a:r>
            <a:endParaRPr lang="en-US" sz="2100" dirty="0"/>
          </a:p>
          <a:p>
            <a:r>
              <a:rPr lang="en-US" sz="2100" dirty="0">
                <a:solidFill>
                  <a:srgbClr val="17364A"/>
                </a:solidFill>
                <a:latin typeface="Aptos" pitchFamily="34" charset="0"/>
                <a:ea typeface="Aptos" pitchFamily="34" charset="-122"/>
                <a:cs typeface="Aptos" pitchFamily="34" charset="-120"/>
              </a:rPr>
              <a:t>Social vulnerability, deprivation, rurality, housing burden, transportation access, and environmental.</a:t>
            </a:r>
            <a:endParaRPr lang="en-US" sz="2100" dirty="0"/>
          </a:p>
          <a:p>
            <a:r>
              <a:rPr lang="en-US" sz="2100" dirty="0">
                <a:solidFill>
                  <a:srgbClr val="17364A"/>
                </a:solidFill>
                <a:latin typeface="Aptos" pitchFamily="34" charset="0"/>
                <a:ea typeface="Aptos" pitchFamily="34" charset="-122"/>
                <a:cs typeface="Aptos" pitchFamily="34" charset="-120"/>
              </a:rPr>
              <a:t>They can also be misused if they stigmatize communities or support restrictive decisions.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models may use spatial proxies for social conditions.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Social vulnerability, deprivation, rurality, housing burden, transportation access, and.</a:t>
            </a:r>
            <a:endParaRPr lang="en-US" sz="1380" dirty="0"/>
          </a:p>
          <a:p>
            <a:r>
              <a:rPr lang="en-US" sz="1380" dirty="0">
                <a:solidFill>
                  <a:srgbClr val="17364A"/>
                </a:solidFill>
                <a:latin typeface="Aptos" pitchFamily="34" charset="0"/>
                <a:ea typeface="Aptos" pitchFamily="34" charset="-122"/>
                <a:cs typeface="Aptos" pitchFamily="34" charset="-120"/>
              </a:rPr>
              <a:t>Agencies should use these indicators to guide supportive action and resource allocation,.</a:t>
            </a:r>
            <a:endParaRPr lang="en-US" sz="1380" dirty="0"/>
          </a:p>
          <a:p>
            <a:r>
              <a:rPr lang="en-US" sz="1380" dirty="0">
                <a:solidFill>
                  <a:srgbClr val="17364A"/>
                </a:solidFill>
                <a:latin typeface="Aptos" pitchFamily="34" charset="0"/>
                <a:ea typeface="Aptos" pitchFamily="34" charset="-122"/>
                <a:cs typeface="Aptos" pitchFamily="34" charset="-120"/>
              </a:rPr>
              <a:t>Privacy protection should be planned before analysis.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Geocoding bias.</a:t>
            </a:r>
            <a:endParaRPr lang="en-US" sz="2100" dirty="0"/>
          </a:p>
          <a:p>
            <a:r>
              <a:rPr lang="en-US" sz="2100" dirty="0">
                <a:solidFill>
                  <a:srgbClr val="17364A"/>
                </a:solidFill>
                <a:latin typeface="Aptos" pitchFamily="34" charset="0"/>
                <a:ea typeface="Aptos" pitchFamily="34" charset="-122"/>
                <a:cs typeface="Aptos" pitchFamily="34" charset="-120"/>
              </a:rPr>
              <a:t>Some populations and locations are harder to geocode accurately.</a:t>
            </a:r>
            <a:endParaRPr lang="en-US" sz="2100" dirty="0"/>
          </a:p>
          <a:p>
            <a:r>
              <a:rPr lang="en-US" sz="2100" dirty="0">
                <a:solidFill>
                  <a:srgbClr val="17364A"/>
                </a:solidFill>
                <a:latin typeface="Aptos" pitchFamily="34" charset="0"/>
                <a:ea typeface="Aptos" pitchFamily="34" charset="-122"/>
                <a:cs typeface="Aptos" pitchFamily="34" charset="-120"/>
              </a:rPr>
              <a:t>Guardrails include geocoding quality checks, manual review for unmatched records, and documentation of.</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Geocoding bias.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Guardrails include geocoding quality checks, manual review for unmatched records, and.</a:t>
            </a:r>
            <a:endParaRPr lang="en-US" sz="1380" dirty="0"/>
          </a:p>
          <a:p>
            <a:r>
              <a:rPr lang="en-US" sz="1380" dirty="0">
                <a:solidFill>
                  <a:srgbClr val="17364A"/>
                </a:solidFill>
                <a:latin typeface="Aptos" pitchFamily="34" charset="0"/>
                <a:ea typeface="Aptos" pitchFamily="34" charset="-122"/>
                <a:cs typeface="Aptos" pitchFamily="34" charset="-120"/>
              </a:rPr>
              <a:t>Small-area privacy risk.</a:t>
            </a:r>
            <a:endParaRPr lang="en-US" sz="1380" dirty="0"/>
          </a:p>
          <a:p>
            <a:r>
              <a:rPr lang="en-US" sz="1380" dirty="0">
                <a:solidFill>
                  <a:srgbClr val="17364A"/>
                </a:solidFill>
                <a:latin typeface="Aptos" pitchFamily="34" charset="0"/>
                <a:ea typeface="Aptos" pitchFamily="34" charset="-122"/>
                <a:cs typeface="Aptos" pitchFamily="34" charset="-120"/>
              </a:rPr>
              <a:t>Detailed maps can reveal sensitive patterns or identities.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Stigmatizing communities.</a:t>
            </a:r>
            <a:endParaRPr lang="en-US" sz="2100" dirty="0"/>
          </a:p>
          <a:p>
            <a:r>
              <a:rPr lang="en-US" sz="2100" dirty="0">
                <a:solidFill>
                  <a:srgbClr val="17364A"/>
                </a:solidFill>
                <a:latin typeface="Aptos" pitchFamily="34" charset="0"/>
                <a:ea typeface="Aptos" pitchFamily="34" charset="-122"/>
                <a:cs typeface="Aptos" pitchFamily="34" charset="-120"/>
              </a:rPr>
              <a:t>Maps can unintentionally label communities as problems.</a:t>
            </a:r>
            <a:endParaRPr lang="en-US" sz="2100" dirty="0"/>
          </a:p>
          <a:p>
            <a:r>
              <a:rPr lang="en-US" sz="2100" dirty="0">
                <a:solidFill>
                  <a:srgbClr val="17364A"/>
                </a:solidFill>
                <a:latin typeface="Aptos" pitchFamily="34" charset="0"/>
                <a:ea typeface="Aptos" pitchFamily="34" charset="-122"/>
                <a:cs typeface="Aptos" pitchFamily="34" charset="-120"/>
              </a:rPr>
              <a:t>Guardrails include equity framing, community engagement, careful language, and focus on structural.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Stigmatizing communities.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Stigmatizing communities.</a:t>
            </a:r>
            <a:endParaRPr lang="en-US" sz="1380" dirty="0"/>
          </a:p>
          <a:p>
            <a:r>
              <a:rPr lang="en-US" sz="1380" dirty="0">
                <a:solidFill>
                  <a:srgbClr val="17364A"/>
                </a:solidFill>
                <a:latin typeface="Aptos" pitchFamily="34" charset="0"/>
                <a:ea typeface="Aptos" pitchFamily="34" charset="-122"/>
                <a:cs typeface="Aptos" pitchFamily="34" charset="-120"/>
              </a:rPr>
              <a:t>Maps can unintentionally label communities as problems.</a:t>
            </a:r>
            <a:endParaRPr lang="en-US" sz="1380" dirty="0"/>
          </a:p>
          <a:p>
            <a:r>
              <a:rPr lang="en-US" sz="1380" dirty="0">
                <a:solidFill>
                  <a:srgbClr val="17364A"/>
                </a:solidFill>
                <a:latin typeface="Aptos" pitchFamily="34" charset="0"/>
                <a:ea typeface="Aptos" pitchFamily="34" charset="-122"/>
                <a:cs typeface="Aptos" pitchFamily="34" charset="-120"/>
              </a:rPr>
              <a:t>Guardrails include equity framing, community engagement, careful language, and focus on.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may support predictive analytics, emergency response, inspection prioritization,.</a:t>
            </a:r>
            <a:endParaRPr lang="en-US" sz="2100" dirty="0"/>
          </a:p>
          <a:p>
            <a:r>
              <a:rPr lang="en-US" sz="2100" dirty="0">
                <a:solidFill>
                  <a:srgbClr val="17364A"/>
                </a:solidFill>
                <a:latin typeface="Aptos" pitchFamily="34" charset="0"/>
                <a:ea typeface="Aptos" pitchFamily="34" charset="-122"/>
                <a:cs typeface="Aptos" pitchFamily="34" charset="-120"/>
              </a:rPr>
              <a:t>Generative AI may summarize spatial patterns for leaders, but it must not overstate certainty or ignore.</a:t>
            </a:r>
            <a:endParaRPr lang="en-US" sz="2100" dirty="0"/>
          </a:p>
          <a:p>
            <a:r>
              <a:rPr lang="en-US" sz="2100" dirty="0">
                <a:solidFill>
                  <a:srgbClr val="17364A"/>
                </a:solidFill>
                <a:latin typeface="Aptos" pitchFamily="34" charset="0"/>
                <a:ea typeface="Aptos" pitchFamily="34" charset="-122"/>
                <a:cs typeface="Aptos" pitchFamily="34" charset="-120"/>
              </a:rPr>
              <a:t>RAG tools may retrieve local plans, maps, and protocols, while agentic workflows may propose outreach.</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may support predictive analytics, emergency response, inspection prioritization,.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Geospatial AI may support predictive analytics, emergency response, inspection.</a:t>
            </a:r>
            <a:endParaRPr lang="en-US" sz="1380" dirty="0"/>
          </a:p>
          <a:p>
            <a:r>
              <a:rPr lang="en-US" sz="1380" dirty="0">
                <a:solidFill>
                  <a:srgbClr val="17364A"/>
                </a:solidFill>
                <a:latin typeface="Aptos" pitchFamily="34" charset="0"/>
                <a:ea typeface="Aptos" pitchFamily="34" charset="-122"/>
                <a:cs typeface="Aptos" pitchFamily="34" charset="-120"/>
              </a:rPr>
              <a:t>Generative AI may summarize spatial patterns for leaders, but it must not overstate.</a:t>
            </a:r>
            <a:endParaRPr lang="en-US" sz="1380" dirty="0"/>
          </a:p>
          <a:p>
            <a:r>
              <a:rPr lang="en-US" sz="1380" dirty="0">
                <a:solidFill>
                  <a:srgbClr val="17364A"/>
                </a:solidFill>
                <a:latin typeface="Aptos" pitchFamily="34" charset="0"/>
                <a:ea typeface="Aptos" pitchFamily="34" charset="-122"/>
                <a:cs typeface="Aptos" pitchFamily="34" charset="-120"/>
              </a:rPr>
              <a:t>RAG tools may retrieve local plans, maps, and protocols, while agentic workflows may.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location data are used, and how complete and accurate are they?</a:t>
            </a:r>
            <a:endParaRPr lang="en-US" sz="2100" dirty="0"/>
          </a:p>
          <a:p>
            <a:r>
              <a:rPr lang="en-US" sz="2100" dirty="0">
                <a:solidFill>
                  <a:srgbClr val="17364A"/>
                </a:solidFill>
                <a:latin typeface="Aptos" pitchFamily="34" charset="0"/>
                <a:ea typeface="Aptos" pitchFamily="34" charset="-122"/>
                <a:cs typeface="Aptos" pitchFamily="34" charset="-120"/>
              </a:rPr>
              <a:t>Which geographic unit best matches the public health action?</a:t>
            </a:r>
            <a:endParaRPr lang="en-US" sz="2100" dirty="0"/>
          </a:p>
          <a:p>
            <a:r>
              <a:rPr lang="en-US" sz="2100" dirty="0">
                <a:solidFill>
                  <a:srgbClr val="17364A"/>
                </a:solidFill>
                <a:latin typeface="Aptos" pitchFamily="34" charset="0"/>
                <a:ea typeface="Aptos" pitchFamily="34" charset="-122"/>
                <a:cs typeface="Aptos" pitchFamily="34" charset="-120"/>
              </a:rPr>
              <a:t>Could missing or poor-quality location data affect certain populations more than others?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location data are used, and how complete and accurate are they?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location data are used, and how complete and accurate are they?</a:t>
            </a:r>
            <a:endParaRPr lang="en-US" sz="1380" dirty="0"/>
          </a:p>
          <a:p>
            <a:r>
              <a:rPr lang="en-US" sz="1380" dirty="0">
                <a:solidFill>
                  <a:srgbClr val="17364A"/>
                </a:solidFill>
                <a:latin typeface="Aptos" pitchFamily="34" charset="0"/>
                <a:ea typeface="Aptos" pitchFamily="34" charset="-122"/>
                <a:cs typeface="Aptos" pitchFamily="34" charset="-120"/>
              </a:rPr>
              <a:t>Which geographic unit best matches the public health action?</a:t>
            </a:r>
            <a:endParaRPr lang="en-US" sz="1380" dirty="0"/>
          </a:p>
          <a:p>
            <a:r>
              <a:rPr lang="en-US" sz="1380" dirty="0">
                <a:solidFill>
                  <a:srgbClr val="17364A"/>
                </a:solidFill>
                <a:latin typeface="Aptos" pitchFamily="34" charset="0"/>
                <a:ea typeface="Aptos" pitchFamily="34" charset="-122"/>
                <a:cs typeface="Aptos" pitchFamily="34" charset="-120"/>
              </a:rPr>
              <a:t>Could missing or poor-quality location data affect certain populations more than others?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privacy safeguards are needed for internal and public maps?</a:t>
            </a:r>
            <a:endParaRPr lang="en-US" sz="2100" dirty="0"/>
          </a:p>
          <a:p>
            <a:r>
              <a:rPr lang="en-US" sz="2100" dirty="0">
                <a:solidFill>
                  <a:srgbClr val="17364A"/>
                </a:solidFill>
                <a:latin typeface="Aptos" pitchFamily="34" charset="0"/>
                <a:ea typeface="Aptos" pitchFamily="34" charset="-122"/>
                <a:cs typeface="Aptos" pitchFamily="34" charset="-120"/>
              </a:rPr>
              <a:t>How will community context be included before action is taken?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privacy safeguards are needed for internal and public maps?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privacy safeguards are needed for internal and public maps?</a:t>
            </a:r>
            <a:endParaRPr lang="en-US" sz="1380" dirty="0"/>
          </a:p>
          <a:p>
            <a:r>
              <a:rPr lang="en-US" sz="1380" dirty="0">
                <a:solidFill>
                  <a:srgbClr val="17364A"/>
                </a:solidFill>
                <a:latin typeface="Aptos" pitchFamily="34" charset="0"/>
                <a:ea typeface="Aptos" pitchFamily="34" charset="-122"/>
                <a:cs typeface="Aptos" pitchFamily="34" charset="-120"/>
              </a:rPr>
              <a:t>How will community context be included before action is taken?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geospatial AI readiness worksheet for one public health workflow.</a:t>
            </a:r>
            <a:endParaRPr lang="en-US" sz="2100" dirty="0"/>
          </a:p>
          <a:p>
            <a:r>
              <a:rPr lang="en-US" sz="2100" dirty="0">
                <a:solidFill>
                  <a:srgbClr val="17364A"/>
                </a:solidFill>
                <a:latin typeface="Aptos" pitchFamily="34" charset="0"/>
                <a:ea typeface="Aptos" pitchFamily="34" charset="-122"/>
                <a:cs typeface="Aptos" pitchFamily="34" charset="-120"/>
              </a:rPr>
              <a:t>Include the public health question, location data sources, geocoding method, geographic unit,.</a:t>
            </a:r>
            <a:endParaRPr lang="en-US" sz="2100" dirty="0"/>
          </a:p>
          <a:p>
            <a:r>
              <a:rPr lang="en-US" sz="2100" dirty="0">
                <a:solidFill>
                  <a:srgbClr val="17364A"/>
                </a:solidFill>
                <a:latin typeface="Aptos" pitchFamily="34" charset="0"/>
                <a:ea typeface="Aptos" pitchFamily="34" charset="-122"/>
                <a:cs typeface="Aptos" pitchFamily="34" charset="-120"/>
              </a:rPr>
              <a:t>The worksheet should identify at least one way the map could be misinterpreted and one safeguard that.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geospatial AI readiness worksheet for one public health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Include the public health question, location data sources, geocoding method, geographic.</a:t>
            </a:r>
            <a:endParaRPr lang="en-US" sz="1380" dirty="0"/>
          </a:p>
          <a:p>
            <a:r>
              <a:rPr lang="en-US" sz="1380" dirty="0">
                <a:solidFill>
                  <a:srgbClr val="17364A"/>
                </a:solidFill>
                <a:latin typeface="Aptos" pitchFamily="34" charset="0"/>
                <a:ea typeface="Aptos" pitchFamily="34" charset="-122"/>
                <a:cs typeface="Aptos" pitchFamily="34" charset="-120"/>
              </a:rPr>
              <a:t>The worksheet should identify at least one way the map could be misinterpreted and one.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readiness worksheet</a:t>
            </a:r>
            <a:endParaRPr lang="en-US" sz="2100" dirty="0"/>
          </a:p>
          <a:p>
            <a:r>
              <a:rPr lang="en-US" sz="2100" dirty="0">
                <a:solidFill>
                  <a:srgbClr val="17364A"/>
                </a:solidFill>
                <a:latin typeface="Aptos" pitchFamily="34" charset="0"/>
                <a:ea typeface="Aptos" pitchFamily="34" charset="-122"/>
                <a:cs typeface="Aptos" pitchFamily="34" charset="-120"/>
              </a:rPr>
              <a:t>Map interpretation and limitations memo</a:t>
            </a:r>
            <a:endParaRPr lang="en-US" sz="2100" dirty="0"/>
          </a:p>
          <a:p>
            <a:r>
              <a:rPr lang="en-US" sz="2100" dirty="0">
                <a:solidFill>
                  <a:srgbClr val="17364A"/>
                </a:solidFill>
                <a:latin typeface="Aptos" pitchFamily="34" charset="0"/>
                <a:ea typeface="Aptos" pitchFamily="34" charset="-122"/>
                <a:cs typeface="Aptos" pitchFamily="34" charset="-120"/>
              </a:rPr>
              <a:t>Privacy and suppression review notes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readiness worksheet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Geospatial AI readiness worksheet</a:t>
            </a:r>
            <a:endParaRPr lang="en-US" sz="1380" dirty="0"/>
          </a:p>
          <a:p>
            <a:r>
              <a:rPr lang="en-US" sz="1380" dirty="0">
                <a:solidFill>
                  <a:srgbClr val="17364A"/>
                </a:solidFill>
                <a:latin typeface="Aptos" pitchFamily="34" charset="0"/>
                <a:ea typeface="Aptos" pitchFamily="34" charset="-122"/>
                <a:cs typeface="Aptos" pitchFamily="34" charset="-120"/>
              </a:rPr>
              <a:t>Map interpretation and limitations memo</a:t>
            </a:r>
            <a:endParaRPr lang="en-US" sz="1380" dirty="0"/>
          </a:p>
          <a:p>
            <a:r>
              <a:rPr lang="en-US" sz="1380" dirty="0">
                <a:solidFill>
                  <a:srgbClr val="17364A"/>
                </a:solidFill>
                <a:latin typeface="Aptos" pitchFamily="34" charset="0"/>
                <a:ea typeface="Aptos" pitchFamily="34" charset="-122"/>
                <a:cs typeface="Aptos" pitchFamily="34" charset="-120"/>
              </a:rPr>
              <a:t>Privacy and suppression review notes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Community context and action plan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Community context and action plan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Community context and action plan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readiness worksheet</a:t>
            </a:r>
            <a:endParaRPr lang="en-US" sz="2100" dirty="0"/>
          </a:p>
          <a:p>
            <a:r>
              <a:rPr lang="en-US" sz="2100" dirty="0">
                <a:solidFill>
                  <a:srgbClr val="17364A"/>
                </a:solidFill>
                <a:latin typeface="Aptos" pitchFamily="34" charset="0"/>
                <a:ea typeface="Aptos" pitchFamily="34" charset="-122"/>
                <a:cs typeface="Aptos" pitchFamily="34" charset="-120"/>
              </a:rPr>
              <a:t>Map interpretation and limitations memo</a:t>
            </a:r>
            <a:endParaRPr lang="en-US" sz="2100" dirty="0"/>
          </a:p>
          <a:p>
            <a:r>
              <a:rPr lang="en-US" sz="2100" dirty="0">
                <a:solidFill>
                  <a:srgbClr val="17364A"/>
                </a:solidFill>
                <a:latin typeface="Aptos" pitchFamily="34" charset="0"/>
                <a:ea typeface="Aptos" pitchFamily="34" charset="-122"/>
                <a:cs typeface="Aptos" pitchFamily="34" charset="-120"/>
              </a:rPr>
              <a:t>Privacy and suppression review notes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readiness worksheet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Geospatial AI readiness worksheet</a:t>
            </a:r>
            <a:endParaRPr lang="en-US" sz="1380" dirty="0"/>
          </a:p>
          <a:p>
            <a:r>
              <a:rPr lang="en-US" sz="1380" dirty="0">
                <a:solidFill>
                  <a:srgbClr val="17364A"/>
                </a:solidFill>
                <a:latin typeface="Aptos" pitchFamily="34" charset="0"/>
                <a:ea typeface="Aptos" pitchFamily="34" charset="-122"/>
                <a:cs typeface="Aptos" pitchFamily="34" charset="-120"/>
              </a:rPr>
              <a:t>Map interpretation and limitations memo</a:t>
            </a:r>
            <a:endParaRPr lang="en-US" sz="1380" dirty="0"/>
          </a:p>
          <a:p>
            <a:r>
              <a:rPr lang="en-US" sz="1380" dirty="0">
                <a:solidFill>
                  <a:srgbClr val="17364A"/>
                </a:solidFill>
                <a:latin typeface="Aptos" pitchFamily="34" charset="0"/>
                <a:ea typeface="Aptos" pitchFamily="34" charset="-122"/>
                <a:cs typeface="Aptos" pitchFamily="34" charset="-120"/>
              </a:rPr>
              <a:t>Privacy and suppression review notes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geocoding?</a:t>
            </a:r>
            <a:endParaRPr lang="en-US" sz="2100" dirty="0"/>
          </a:p>
          <a:p>
            <a:r>
              <a:rPr lang="en-US" sz="2100" dirty="0">
                <a:solidFill>
                  <a:srgbClr val="17364A"/>
                </a:solidFill>
                <a:latin typeface="Aptos" pitchFamily="34" charset="0"/>
                <a:ea typeface="Aptos" pitchFamily="34" charset="-122"/>
                <a:cs typeface="Aptos" pitchFamily="34" charset="-120"/>
              </a:rPr>
              <a:t>2. Why can maps create misleading impressions?</a:t>
            </a:r>
            <a:endParaRPr lang="en-US" sz="2100" dirty="0"/>
          </a:p>
          <a:p>
            <a:r>
              <a:rPr lang="en-US" sz="2100" dirty="0">
                <a:solidFill>
                  <a:srgbClr val="17364A"/>
                </a:solidFill>
                <a:latin typeface="Aptos" pitchFamily="34" charset="0"/>
                <a:ea typeface="Aptos" pitchFamily="34" charset="-122"/>
                <a:cs typeface="Aptos" pitchFamily="34" charset="-120"/>
              </a:rPr>
              <a:t>3. What is the modifiable areal unit problem?</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geocoding?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1.</a:t>
            </a:r>
            <a:endParaRPr lang="en-US" sz="1380" dirty="0"/>
          </a:p>
          <a:p>
            <a:r>
              <a:rPr lang="en-US" sz="1380" dirty="0">
                <a:solidFill>
                  <a:srgbClr val="17364A"/>
                </a:solidFill>
                <a:latin typeface="Aptos" pitchFamily="34" charset="0"/>
                <a:ea typeface="Aptos" pitchFamily="34" charset="-122"/>
                <a:cs typeface="Aptos" pitchFamily="34" charset="-120"/>
              </a:rPr>
              <a:t>What is geocoding?</a:t>
            </a:r>
            <a:endParaRPr lang="en-US" sz="1380" dirty="0"/>
          </a:p>
          <a:p>
            <a:r>
              <a:rPr lang="en-US" sz="1380" dirty="0">
                <a:solidFill>
                  <a:srgbClr val="17364A"/>
                </a:solidFill>
                <a:latin typeface="Aptos" pitchFamily="34" charset="0"/>
                <a:ea typeface="Aptos" pitchFamily="34" charset="-122"/>
                <a:cs typeface="Aptos" pitchFamily="34" charset="-120"/>
              </a:rPr>
              <a:t>2.</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GIS and Public Health Resources: https://www.cdc.gov/gis/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Privacy Framework: https://www.nist.gov/privacy-framework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GIS and Public Health Resources: https://www.cdc.gov/gis/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NIST Artificial Intelligence Risk Management Framework:.</a:t>
            </a:r>
            <a:endParaRPr lang="en-US" sz="1380" dirty="0"/>
          </a:p>
          <a:p>
            <a:r>
              <a:rPr lang="en-US" sz="1380" dirty="0">
                <a:solidFill>
                  <a:srgbClr val="17364A"/>
                </a:solidFill>
                <a:latin typeface="Aptos" pitchFamily="34" charset="0"/>
                <a:ea typeface="Aptos" pitchFamily="34" charset="-122"/>
                <a:cs typeface="Aptos" pitchFamily="34" charset="-120"/>
              </a:rPr>
              <a:t>CDC Public Health Data Strategy:.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Geospatial AI and Spatial Epidemiology</dc:title>
  <dc:subject>Geospatial AI and Spatial Epidemiology learning module</dc:subject>
  <dc:creator>Paula Soper</dc:creator>
  <cp:lastModifiedBy>Paula Soper</cp:lastModifiedBy>
  <cp:revision>1</cp:revision>
  <dcterms:created xsi:type="dcterms:W3CDTF">2026-07-13T02:11:42Z</dcterms:created>
  <dcterms:modified xsi:type="dcterms:W3CDTF">2026-07-13T02:11:42Z</dcterms:modified>
</cp:coreProperties>
</file>