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Lst>
  <p:notesMasterIdLst>
    <p:notesMasterId r:id="rId2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notesMaster" Target="notesMasters/notesMaster1.xml"/><Relationship Id="rId24" Type="http://schemas.openxmlformats.org/officeDocument/2006/relationships/presProps" Target="presProps.xml"/><Relationship Id="rId25" Type="http://schemas.openxmlformats.org/officeDocument/2006/relationships/viewProps" Target="viewProps.xml"/><Relationship Id="rId26" Type="http://schemas.openxmlformats.org/officeDocument/2006/relationships/theme" Target="theme/theme1.xml"/><Relationship Id="rId2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GOV 330 Data Governance for AI-Ready Public Health Data
AI-ready data require governance before they require a model. Data governance defines ownership, stewardship, metadata, permissible use, data quality expectations, access rules, retention, lineage, and accountability. This module helps learners connect governance practices to safe AI use across surveillance, analytics, automation, public communication, and vendor-supported systems.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Context
Level: intermediate/practitioner
Primary track: Governance and Security Track
Appears in tracks: operations-data-quality
AI-ready data require governance before they require a model. Data governance defines ownership, stewardship, metadata, permissible use, data quality expectations, access rules, retention, lineage, and accountability. This module helps learners connect governance practices to safe AI use across surveillance, analytics, automation, public communication, and vendor-supported systems.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Related Playbook Plays
Play 11: Build and Deploy AI Solutions - This lesson informs Play 11 by helping learners connect the lesson topic to build and deploy ai solutions work in the AI Playbook.
Play 2: Readiness Assessment - This lesson informs Play 2 by helping learners connect the lesson topic to readiness assessment work in the AI Playbook sequence.
Play 3: Establish AI Governance - This lesson informs Play 3 by helping learners connect the lesson topic to establish ai governance work in the AI Playbook sequence.
Play 1: Vision &amp; Guardrails - This lesson informs Play 1 by helping learners connect the lesson topic to vision &amp; guardrails work in the AI Playbook sequence.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Related Toolkit Resources
Tool 4: AI Policy Landscape Scan (Worksheet) - Use AI Policy Landscape Scan to translate this lesson into a documented public health AI planning, governance, implementation,.
Tool 5: AI Environmental and Resource Impact Review (Checklist) - Use this tool to complete or strengthen the practical exercise for the module using fictional, de-identified, or generalized.
Tool 6: Human-Centered AI Decision Rule Checklist (Checklist) - Use Human-Centered AI Decision Rule Checklist to translate this lesson into a documented public health AI planning, governance,.
Tool 8: AI Project Charter (Planning) - Use AI Project Charter to translate this lesson into a documented public health AI planning, governance, implementation, or.
Tool 9: Data Quality Assessment Checklist (Checklist) - Use this tool to complete or strengthen the practical exercise for the module using fictional, de-identified, or generalized.
Tool 10: Tiered Data Classification for AI Use (Worksheet) - Use this tool to complete or strengthen the practical exercise for the module using fictional, de-identified, or generalized.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Learning Objectives
Explain the purpose of data governance for ai-ready public health data in public health AI work.
Identify the technical, operational, privacy, security, equity, and governance issues associated with the topic.
Apply the topic to a real or realistic public health workflow, system, or implementation scenario.
Recognize common failure modes that can affect safety, accuracy, trust, workflow fit, or sustainability.
Identify practical guardrails that should be documented before implementation.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Learning Objectives
Produce a AI-ready data governance checklist that can support readiness assessment, governance review, procurement, implementation, or monitoring.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Overview
AI-ready data require governance before they require a model. Data governance defines ownership, stewardship, metadata, permissible use, data quality expectations, access rules, retention, lineage, and accountability. This module helps learners connect governance practices to safe AI use across surveillance, analytics, automation, public communication, and vendor-supported systems.
Application guidance: Translate this concept into clear decision rights, review steps, documentation expectations, and escalation paths before an AI-supported workflow is approved.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Jurisdiction and Agency Policy Note
This module provides national-level training guidance for public health agencies and partners. It is not legal advice and does not replace review by agency legal counsel, privacy officers, procurement officials, civil rights staff, records officers, or other authorized decision-makers. Requirements may vary by state, locality, territory, Tribe, agency, funding source, data-sharing agreement, emergency authority, and organizational policy. Learners should use this module to identify the issues that require review and should confirm applicable requirements before approving, procuring, deploying, or publicly communicating about AI-supported work.
Application guidance: Translate this concept into clear decision rights, review steps, documentation expectations, and escalation paths before an AI-supported workflow is approved.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This Topic Matters for Public Health AI
Data Governance for AI-Ready Public Health Data matters because AI systems are embedded in public health programs, data systems, and decision processes rather than operating in isolation. The topic affects whether AI outputs are accurate, explainable, safe, equitable, secure, and sustainable. Agencies that ignore this area may create tools that work in a demonstration but fail in actual practice.
The topic also affects accountability. Public health agencies must be able to explain how data are used, why a tool was approved, what evidence supports the workflow, who reviews outputs, and what happens when the system fails. These responsibilities become more important as AI tools move from experimentation into operational use.
Application guidance: Translate this concept into clear decision rights, review steps, documentation expectations, and escalation paths before an AI-supported workflow is approved.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Core Concepts
Data governance is the set of decision rights, roles, policies, standards, and practices that guide how data are collected, managed, protected, shared, used, and retired. AI-ready data depend on governance because data must be understandable, authorized, high quality, and fit for use.
Data stewardship assigns responsibility for data quality, definitions, metadata, access, and appropriate use. Stewards do not necessarily own the data alone, but they help ensure that data are managed consistently and that users understand limitations.
Metadata describe the meaning, source, structure, quality, and permitted use of data. Without metadata, AI teams may misinterpret fields, misuse denominators, overlook missingness, or fail to recognize that a dataset is not appropriate for the intended use.
Application guidance: Translate this concept into clear decision rights, review steps, documentation expectations, and escalation paths before an AI-supported workflow is approved.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Public Health Example
A public health agency may want to use multiple datasets to prioritize outreach for vaccination. Data governance would clarify which datasets can be linked, which fields are authoritative, which populations are underrepresented, who can approve use, how long data can be retained, and how results can be shared. Without governance, the model may appear technical while resting on unclear authority and inconsistent data definitions.
Application guidance: Translate this concept into clear decision rights, review steps, documentation expectations, and escalation paths before an AI-supported workflow is approved.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Technical Deep Dive
AI-ready data begin with inventory. Agencies should know what datasets exist, who stewards them, what they contain, how often they are updated, what quality issues are known, and what uses are permitted. A data catalog can make this information visible to program, analytics, informatics, and governance teams.
Governance must also address data lineage and transformation. AI outputs may depend on mapped, linked, deduplicated, geocoded, imputed, or aggregated data. Staff need to understand how those transformations were performed and whether they are appropriate for the AI use case.
Permissible use should be explicit. Public health data may be collected under specific legal authorities or agreements. AI use may be appropriate for one purpose and inappropriate for another. Governance should define approved uses, prohibited uses, review pathways, and documentation requirements.
Application guidance: Translate this concept into clear decision rights, review steps, documentation expectations, and escalation paths before an AI-supported workflow is approved.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Risks, Failure Modes, and Guardrails
A common failure mode is treating the topic as a technical detail rather than a public health control. When staff do not connect technical decisions to authority, workflow, equity, privacy, security, and accountability, the agency may adopt a tool that appears useful but cannot be sustained or defended.
Another risk is relying on vendor claims without agency-defined evidence. Vendors may provide demonstrations, dashboards, or summary metrics that do not match the agency workflow or data environment. A guardrail is to require documentation, test results, acceptance criteria, and agency-controlled review.
A third risk is failing to plan for change. Public health data, policies, systems, and emergencies change. Any technical approach must include monitoring, review, versioning, escalation, and retirement pathways so the agency can respond when assumptions no longer hold.
Application guidance: Translate this concept into clear decision rights, review steps, documentation expectations, and escalation paths before an AI-supported workflow is approved.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Application to AI-Supported Workflows
Generative AI, predictive analytics, RAG, automation, and agentic workflows all depend on the controls described in this module. The controls should be scaled to the risk of the use case. A tool that drafts internal training text may require lighter review than a tool that updates case records, prioritizes outreach, or supports public communication during an emergency.
The module should be applied during readiness assessment, procurement, implementation planning, pilot testing, and post-deployment monitoring. Learners should document how the topic affects data, systems, users, safeguards, and decision-making for the selected workflow.
Application guidance: Translate this concept into clear decision rights, review steps, documentation expectations, and escalation paths before an AI-supported workflow is approved.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Reflection Questions
Where does this topic appear in one current or proposed AI workflow in your agency?
What decisions, data sources, users, or partners would be affected if this area is poorly designed?
What evidence would governance reviewers need before approving the workflow?
Application guidance: Translate this concept into clear decision rights, review steps, documentation expectations, and escalation paths before an AI-supported workflow is approved.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Reflection Questions
Which safeguards should be required before pilot testing?
Who owns ongoing monitoring and review?
Application guidance: Translate this concept into clear decision rights, review steps, documentation expectations, and escalation paths before an AI-supported workflow is approved.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Practical Exercise
Create a AI-ready data governance checklist for one real or realistic public health AI workflow. The artifact should describe the use case, affected users, data sources, system dependencies, risks, guardrails, review points, and unresolved questions.
The exercise should produce a work product that could be used in a governance meeting, procurement review, implementation planning session, pilot evaluation, or monitoring review. Learners should document assumptions and identify which staff or partners need to be consulted.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Artifact or Evidence
The expected artifact is a completed AI-ready data governance checklist. It should be specific to a public health workflow and should include technical dependencies, governance questions, human review expectations, monitoring indicators, and unresolved risks.
Application guidance: Translate this concept into clear decision rights, review steps, documentation expectations, and escalation paths before an AI-supported workflow is approved.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Assignment
The expected artifact is a completed AI-ready data governance checklist. It should be specific to a public health workflow and should include technical dependencies, governance questions, human review expectations, monitoring indicators, and unresolved risks.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Knowledge Check
1. What is the best reason to address data governance for ai-ready public health data before deployment?
2. Which practice best supports responsible implementation?
3. Which statement best describes a common failure mode?
4. What should be included in the practical artifact for this module?
5. When should the issue be escalated for governance or leadership review?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References and Resources
NIST AI Risk Management Framework: https://www.nist.gov/itl/ai-risk-management-framework
NIST Generative AI Profile: https://www.nist.gov/publications/artificial-intelligence-risk-management-framework-generative-artificial-intelligence
CDC Public Health Data Strategy and Data Modernization resources: https://www.cdc.gov/public-health-data-strategy/php/about/index.html
OWASP Top 10 for LLM Applications, when security or AI integrations are relevant
Agency privacy, cybersecurity, data governance, procurement, and records management policies
Application guidance: Translate this concept into clear decision rights, review steps, documentation expectations, and escalation paths before an AI-supported workflow is approved.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7FBFD"/>
          </a:solidFill>
          <a:ln w="12700">
            <a:solidFill>
              <a:srgbClr val="F7FBFD"/>
            </a:solidFill>
            <a:prstDash val="solid"/>
          </a:ln>
        </p:spPr>
      </p:sp>
      <p:pic>
        <p:nvPicPr>
          <p:cNvPr id="3" name="Image 0" descr="C:\Users\paula\Documents\Codex\2026-06-30\files-mentioned-by-the-user-ai\outputs\ai-playbook-site\assets\ai-playbook-logo-public-health.png">    </p:cNvPr>
          <p:cNvPicPr>
            <a:picLocks noChangeAspect="1"/>
          </p:cNvPicPr>
          <p:nvPr/>
        </p:nvPicPr>
        <p:blipFill>
          <a:blip r:embed="rId1"/>
          <a:stretch>
            <a:fillRect/>
          </a:stretch>
        </p:blipFill>
        <p:spPr>
          <a:xfrm>
            <a:off x="713232" y="566928"/>
            <a:ext cx="1353312" cy="1353312"/>
          </a:xfrm>
          <a:prstGeom prst="rect">
            <a:avLst/>
          </a:prstGeom>
        </p:spPr>
      </p:pic>
      <p:sp>
        <p:nvSpPr>
          <p:cNvPr id="4" name="Shape 1"/>
          <p:cNvSpPr/>
          <p:nvPr/>
        </p:nvSpPr>
        <p:spPr>
          <a:xfrm>
            <a:off x="713232" y="2240280"/>
            <a:ext cx="10698480" cy="0"/>
          </a:xfrm>
          <a:prstGeom prst="line">
            <a:avLst/>
          </a:prstGeom>
          <a:noFill/>
          <a:ln w="25400">
            <a:solidFill>
              <a:srgbClr val="2F8A28"/>
            </a:solidFill>
            <a:prstDash val="solid"/>
          </a:ln>
        </p:spPr>
      </p:sp>
      <p:sp>
        <p:nvSpPr>
          <p:cNvPr id="5" name="Text 2"/>
          <p:cNvSpPr/>
          <p:nvPr/>
        </p:nvSpPr>
        <p:spPr>
          <a:xfrm>
            <a:off x="749808" y="2487168"/>
            <a:ext cx="2926080" cy="274320"/>
          </a:xfrm>
          <a:prstGeom prst="rect">
            <a:avLst/>
          </a:prstGeom>
          <a:noFill/>
          <a:ln/>
        </p:spPr>
        <p:txBody>
          <a:bodyPr wrap="square" lIns="0" tIns="0" rIns="0" bIns="0" rtlCol="0" anchor="ctr"/>
          <a:lstStyle/>
          <a:p>
            <a:pPr indent="0" marL="0">
              <a:buNone/>
            </a:pPr>
            <a:r>
              <a:rPr lang="en-US" sz="1400" b="1" dirty="0">
                <a:solidFill>
                  <a:srgbClr val="2F8A28"/>
                </a:solidFill>
                <a:latin typeface="Aptos" pitchFamily="34" charset="0"/>
                <a:ea typeface="Aptos" pitchFamily="34" charset="-122"/>
                <a:cs typeface="Aptos" pitchFamily="34" charset="-120"/>
              </a:rPr>
              <a:t>GOV 330</a:t>
            </a:r>
            <a:endParaRPr lang="en-US" sz="1400" dirty="0"/>
          </a:p>
        </p:txBody>
      </p:sp>
      <p:sp>
        <p:nvSpPr>
          <p:cNvPr id="6" name="Text 3"/>
          <p:cNvSpPr/>
          <p:nvPr/>
        </p:nvSpPr>
        <p:spPr>
          <a:xfrm>
            <a:off x="713232" y="2816352"/>
            <a:ext cx="10607040" cy="868680"/>
          </a:xfrm>
          <a:prstGeom prst="rect">
            <a:avLst/>
          </a:prstGeom>
          <a:noFill/>
          <a:ln/>
        </p:spPr>
        <p:txBody>
          <a:bodyPr wrap="square" lIns="0" tIns="0" rIns="0" bIns="0" rtlCol="0" anchor="ctr">
            <a:normAutofit/>
          </a:bodyPr>
          <a:lstStyle/>
          <a:p>
            <a:pPr indent="0" marL="0">
              <a:buNone/>
            </a:pPr>
            <a:r>
              <a:rPr lang="en-US" sz="3200" b="1" dirty="0">
                <a:solidFill>
                  <a:srgbClr val="003A63"/>
                </a:solidFill>
                <a:latin typeface="Aptos Display" pitchFamily="34" charset="0"/>
                <a:ea typeface="Aptos Display" pitchFamily="34" charset="-122"/>
                <a:cs typeface="Aptos Display" pitchFamily="34" charset="-120"/>
              </a:rPr>
              <a:t>Data Governance for AI-Ready Public Health Data</a:t>
            </a:r>
            <a:endParaRPr lang="en-US" sz="3200" dirty="0"/>
          </a:p>
        </p:txBody>
      </p:sp>
      <p:sp>
        <p:nvSpPr>
          <p:cNvPr id="7" name="Text 4"/>
          <p:cNvSpPr/>
          <p:nvPr/>
        </p:nvSpPr>
        <p:spPr>
          <a:xfrm>
            <a:off x="749808" y="3968496"/>
            <a:ext cx="8686800" cy="320040"/>
          </a:xfrm>
          <a:prstGeom prst="rect">
            <a:avLst/>
          </a:prstGeom>
          <a:noFill/>
          <a:ln/>
        </p:spPr>
        <p:txBody>
          <a:bodyPr wrap="square" lIns="0" tIns="0" rIns="0" bIns="0" rtlCol="0" anchor="ctr"/>
          <a:lstStyle/>
          <a:p>
            <a:pPr indent="0" marL="0">
              <a:buNone/>
            </a:pPr>
            <a:r>
              <a:rPr lang="en-US" sz="1800" dirty="0">
                <a:solidFill>
                  <a:srgbClr val="17364A"/>
                </a:solidFill>
                <a:latin typeface="Aptos" pitchFamily="34" charset="0"/>
                <a:ea typeface="Aptos" pitchFamily="34" charset="-122"/>
                <a:cs typeface="Aptos" pitchFamily="34" charset="-120"/>
              </a:rPr>
              <a:t>AI Playbook and Toolkit for Public Health Departments</a:t>
            </a:r>
            <a:endParaRPr lang="en-US" sz="1800" dirty="0"/>
          </a:p>
        </p:txBody>
      </p:sp>
      <p:sp>
        <p:nvSpPr>
          <p:cNvPr id="8"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a:t>
            </a:r>
            <a:endParaRPr lang="en-US" sz="9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Data Governance for AI-Ready Public Health Data</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What this module helps you do</a:t>
            </a:r>
            <a:endParaRPr lang="en-US" sz="3400" dirty="0"/>
          </a:p>
        </p:txBody>
      </p:sp>
      <p:sp>
        <p:nvSpPr>
          <p:cNvPr id="9" name="Text 7"/>
          <p:cNvSpPr/>
          <p:nvPr/>
        </p:nvSpPr>
        <p:spPr>
          <a:xfrm>
            <a:off x="868680" y="1508760"/>
            <a:ext cx="6446520" cy="292608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AI-ready data require governance before they require a model.</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Data governance defines ownership, stewardship, metadata, permissible use,.</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This module helps learners connect governance practices to safe AI use.</a:t>
            </a:r>
            <a:endParaRPr lang="en-US" sz="2100" dirty="0"/>
          </a:p>
        </p:txBody>
      </p:sp>
      <p:sp>
        <p:nvSpPr>
          <p:cNvPr id="10" name="Shape 8"/>
          <p:cNvSpPr/>
          <p:nvPr/>
        </p:nvSpPr>
        <p:spPr>
          <a:xfrm>
            <a:off x="7909560" y="1417320"/>
            <a:ext cx="3154680" cy="1920240"/>
          </a:xfrm>
          <a:prstGeom prst="roundRect">
            <a:avLst>
              <a:gd name="adj" fmla="val 5714"/>
            </a:avLst>
          </a:prstGeom>
          <a:solidFill>
            <a:srgbClr val="EAF6F8"/>
          </a:solidFill>
          <a:ln w="12700">
            <a:solidFill>
              <a:srgbClr val="B9D7E6"/>
            </a:solidFill>
            <a:prstDash val="solid"/>
          </a:ln>
        </p:spPr>
      </p:sp>
      <p:sp>
        <p:nvSpPr>
          <p:cNvPr id="11" name="Text 9"/>
          <p:cNvSpPr/>
          <p:nvPr/>
        </p:nvSpPr>
        <p:spPr>
          <a:xfrm>
            <a:off x="8074152" y="1545336"/>
            <a:ext cx="28254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Module details</a:t>
            </a:r>
            <a:endParaRPr lang="en-US" sz="1220" dirty="0"/>
          </a:p>
        </p:txBody>
      </p:sp>
      <p:sp>
        <p:nvSpPr>
          <p:cNvPr id="12" name="Text 10"/>
          <p:cNvSpPr/>
          <p:nvPr/>
        </p:nvSpPr>
        <p:spPr>
          <a:xfrm>
            <a:off x="8074152" y="1856232"/>
            <a:ext cx="2825496" cy="1408176"/>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Level: intermediate/practitioner Primary track: Governance and Security Track.</a:t>
            </a:r>
            <a:endParaRPr lang="en-US" sz="1220" dirty="0"/>
          </a:p>
        </p:txBody>
      </p:sp>
      <p:sp>
        <p:nvSpPr>
          <p:cNvPr id="13" name="Shape 11"/>
          <p:cNvSpPr/>
          <p:nvPr/>
        </p:nvSpPr>
        <p:spPr>
          <a:xfrm>
            <a:off x="7909560" y="3675888"/>
            <a:ext cx="3154680" cy="1691640"/>
          </a:xfrm>
          <a:prstGeom prst="roundRect">
            <a:avLst>
              <a:gd name="adj" fmla="val 6486"/>
            </a:avLst>
          </a:prstGeom>
          <a:solidFill>
            <a:srgbClr val="FFFFFF"/>
          </a:solidFill>
          <a:ln w="12700">
            <a:solidFill>
              <a:srgbClr val="B9D7E6"/>
            </a:solidFill>
            <a:prstDash val="solid"/>
          </a:ln>
        </p:spPr>
      </p:sp>
      <p:sp>
        <p:nvSpPr>
          <p:cNvPr id="14" name="Text 12"/>
          <p:cNvSpPr/>
          <p:nvPr/>
        </p:nvSpPr>
        <p:spPr>
          <a:xfrm>
            <a:off x="8074152" y="3803904"/>
            <a:ext cx="28254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Learning sequence</a:t>
            </a:r>
            <a:endParaRPr lang="en-US" sz="1220" dirty="0"/>
          </a:p>
        </p:txBody>
      </p:sp>
      <p:sp>
        <p:nvSpPr>
          <p:cNvPr id="15" name="Text 13"/>
          <p:cNvSpPr/>
          <p:nvPr/>
        </p:nvSpPr>
        <p:spPr>
          <a:xfrm>
            <a:off x="8092440" y="4133088"/>
            <a:ext cx="2770632" cy="1124712"/>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Read the module for shared vocabulary and context.</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Complete the practical exercise to apply the.</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Use the notes and references for deeper review.</a:t>
            </a:r>
            <a:endParaRPr lang="en-US" sz="114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Data Governance for AI-Ready Public Health Data</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3</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How this module connects to the playbook</a:t>
            </a:r>
            <a:endParaRPr lang="en-US" sz="3400" dirty="0"/>
          </a:p>
        </p:txBody>
      </p:sp>
      <p:sp>
        <p:nvSpPr>
          <p:cNvPr id="9" name="Text 7"/>
          <p:cNvSpPr/>
          <p:nvPr/>
        </p:nvSpPr>
        <p:spPr>
          <a:xfrm>
            <a:off x="868680" y="1508760"/>
            <a:ext cx="6812280" cy="3977640"/>
          </a:xfrm>
          <a:prstGeom prst="rect">
            <a:avLst/>
          </a:prstGeom>
          <a:noFill/>
          <a:ln/>
        </p:spPr>
        <p:txBody>
          <a:bodyPr wrap="square" lIns="1016" tIns="1016" rIns="1016" bIns="1016" rtlCol="0" anchor="t">
            <a:normAutofit/>
          </a:bodyPr>
          <a:lstStyle/>
          <a:p>
            <a:pPr indent="0" marL="0">
              <a:buNone/>
            </a:pPr>
            <a:r>
              <a:rPr lang="en-US" sz="1900" dirty="0">
                <a:solidFill>
                  <a:srgbClr val="003A63"/>
                </a:solidFill>
                <a:latin typeface="Aptos" pitchFamily="34" charset="0"/>
                <a:ea typeface="Aptos" pitchFamily="34" charset="-122"/>
                <a:cs typeface="Aptos" pitchFamily="34" charset="-120"/>
              </a:rPr>
              <a:t>• Play 11: Build and Deploy AI Solutions - This lesson informs Play 11 by.</a:t>
            </a:r>
            <a:endParaRPr lang="en-US" sz="1900" dirty="0"/>
          </a:p>
          <a:p>
            <a:pPr indent="0" marL="0">
              <a:buNone/>
            </a:pPr>
            <a:r>
              <a:rPr lang="en-US" sz="1900" dirty="0">
                <a:solidFill>
                  <a:srgbClr val="003A63"/>
                </a:solidFill>
                <a:latin typeface="Aptos" pitchFamily="34" charset="0"/>
                <a:ea typeface="Aptos" pitchFamily="34" charset="-122"/>
                <a:cs typeface="Aptos" pitchFamily="34" charset="-120"/>
              </a:rPr>
              <a:t>• Play 2: Readiness Assessment - This lesson informs Play 2 by helping.</a:t>
            </a:r>
            <a:endParaRPr lang="en-US" sz="1900" dirty="0"/>
          </a:p>
          <a:p>
            <a:pPr indent="0" marL="0">
              <a:buNone/>
            </a:pPr>
            <a:r>
              <a:rPr lang="en-US" sz="1900" dirty="0">
                <a:solidFill>
                  <a:srgbClr val="003A63"/>
                </a:solidFill>
                <a:latin typeface="Aptos" pitchFamily="34" charset="0"/>
                <a:ea typeface="Aptos" pitchFamily="34" charset="-122"/>
                <a:cs typeface="Aptos" pitchFamily="34" charset="-120"/>
              </a:rPr>
              <a:t>• Play 3: Establish AI Governance - This lesson informs Play 3 by helping.</a:t>
            </a:r>
            <a:endParaRPr lang="en-US" sz="1900" dirty="0"/>
          </a:p>
          <a:p>
            <a:pPr indent="0" marL="0">
              <a:buNone/>
            </a:pPr>
            <a:r>
              <a:rPr lang="en-US" sz="1900" dirty="0">
                <a:solidFill>
                  <a:srgbClr val="003A63"/>
                </a:solidFill>
                <a:latin typeface="Aptos" pitchFamily="34" charset="0"/>
                <a:ea typeface="Aptos" pitchFamily="34" charset="-122"/>
                <a:cs typeface="Aptos" pitchFamily="34" charset="-120"/>
              </a:rPr>
              <a:t>• Play 1: Vision &amp; Guardrails - This lesson informs Play 1 by helping learners.</a:t>
            </a:r>
            <a:endParaRPr lang="en-US" sz="1900" dirty="0"/>
          </a:p>
        </p:txBody>
      </p:sp>
      <p:sp>
        <p:nvSpPr>
          <p:cNvPr id="10" name="Shape 8"/>
          <p:cNvSpPr/>
          <p:nvPr/>
        </p:nvSpPr>
        <p:spPr>
          <a:xfrm>
            <a:off x="8046720" y="1417320"/>
            <a:ext cx="3063240" cy="2103120"/>
          </a:xfrm>
          <a:prstGeom prst="roundRect">
            <a:avLst>
              <a:gd name="adj" fmla="val 5217"/>
            </a:avLst>
          </a:prstGeom>
          <a:solidFill>
            <a:srgbClr val="EEF8ED"/>
          </a:solidFill>
          <a:ln w="12700">
            <a:solidFill>
              <a:srgbClr val="B9D7E6"/>
            </a:solidFill>
            <a:prstDash val="solid"/>
          </a:ln>
        </p:spPr>
      </p:sp>
      <p:sp>
        <p:nvSpPr>
          <p:cNvPr id="11" name="Text 9"/>
          <p:cNvSpPr/>
          <p:nvPr/>
        </p:nvSpPr>
        <p:spPr>
          <a:xfrm>
            <a:off x="8211312" y="1545336"/>
            <a:ext cx="273405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Apply the lesson</a:t>
            </a:r>
            <a:endParaRPr lang="en-US" sz="1220" dirty="0"/>
          </a:p>
        </p:txBody>
      </p:sp>
      <p:sp>
        <p:nvSpPr>
          <p:cNvPr id="12" name="Text 10"/>
          <p:cNvSpPr/>
          <p:nvPr/>
        </p:nvSpPr>
        <p:spPr>
          <a:xfrm>
            <a:off x="8211312" y="1856232"/>
            <a:ext cx="2734056" cy="1591056"/>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related plays to identify decisions, participants, timing, approvals,.</a:t>
            </a:r>
            <a:endParaRPr lang="en-US" sz="1220" dirty="0"/>
          </a:p>
        </p:txBody>
      </p:sp>
      <p:sp>
        <p:nvSpPr>
          <p:cNvPr id="13" name="Shape 11"/>
          <p:cNvSpPr/>
          <p:nvPr/>
        </p:nvSpPr>
        <p:spPr>
          <a:xfrm>
            <a:off x="8046720" y="3794760"/>
            <a:ext cx="3063240" cy="1600200"/>
          </a:xfrm>
          <a:prstGeom prst="roundRect">
            <a:avLst>
              <a:gd name="adj" fmla="val 6857"/>
            </a:avLst>
          </a:prstGeom>
          <a:solidFill>
            <a:srgbClr val="FFFFFF"/>
          </a:solidFill>
          <a:ln w="12700">
            <a:solidFill>
              <a:srgbClr val="B9D7E6"/>
            </a:solidFill>
            <a:prstDash val="solid"/>
          </a:ln>
        </p:spPr>
      </p:sp>
      <p:sp>
        <p:nvSpPr>
          <p:cNvPr id="14" name="Text 12"/>
          <p:cNvSpPr/>
          <p:nvPr/>
        </p:nvSpPr>
        <p:spPr>
          <a:xfrm>
            <a:off x="8211312" y="3922776"/>
            <a:ext cx="273405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Use the play links to</a:t>
            </a:r>
            <a:endParaRPr lang="en-US" sz="1220" dirty="0"/>
          </a:p>
        </p:txBody>
      </p:sp>
      <p:sp>
        <p:nvSpPr>
          <p:cNvPr id="15" name="Text 13"/>
          <p:cNvSpPr/>
          <p:nvPr/>
        </p:nvSpPr>
        <p:spPr>
          <a:xfrm>
            <a:off x="8229600" y="4251960"/>
            <a:ext cx="2679192" cy="1033272"/>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Locate the decision point in the playbook sequence.</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Identify who should participate in the work.</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Document the review, approval, or implementation.</a:t>
            </a:r>
            <a:endParaRPr lang="en-US" sz="114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Data Governance for AI-Ready Public Health Data</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4</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Related toolkit resources</a:t>
            </a:r>
            <a:endParaRPr lang="en-US" sz="3400" dirty="0"/>
          </a:p>
        </p:txBody>
      </p:sp>
      <p:sp>
        <p:nvSpPr>
          <p:cNvPr id="9" name="Text 7"/>
          <p:cNvSpPr/>
          <p:nvPr/>
        </p:nvSpPr>
        <p:spPr>
          <a:xfrm>
            <a:off x="868680" y="1508760"/>
            <a:ext cx="6812280" cy="3977640"/>
          </a:xfrm>
          <a:prstGeom prst="rect">
            <a:avLst/>
          </a:prstGeom>
          <a:noFill/>
          <a:ln/>
        </p:spPr>
        <p:txBody>
          <a:bodyPr wrap="square" lIns="1016" tIns="1016" rIns="1016" bIns="1016" rtlCol="0" anchor="t">
            <a:normAutofit/>
          </a:bodyPr>
          <a:lstStyle/>
          <a:p>
            <a:pPr indent="0" marL="0">
              <a:buNone/>
            </a:pPr>
            <a:r>
              <a:rPr lang="en-US" sz="1850" dirty="0">
                <a:solidFill>
                  <a:srgbClr val="003A63"/>
                </a:solidFill>
                <a:latin typeface="Aptos" pitchFamily="34" charset="0"/>
                <a:ea typeface="Aptos" pitchFamily="34" charset="-122"/>
                <a:cs typeface="Aptos" pitchFamily="34" charset="-120"/>
              </a:rPr>
              <a:t>• Tool 4: AI Policy Landscape Scan (Worksheet) - Use AI Policy Landscape Scan.</a:t>
            </a:r>
            <a:endParaRPr lang="en-US" sz="1850" dirty="0"/>
          </a:p>
          <a:p>
            <a:pPr indent="0" marL="0">
              <a:buNone/>
            </a:pPr>
            <a:r>
              <a:rPr lang="en-US" sz="1850" dirty="0">
                <a:solidFill>
                  <a:srgbClr val="003A63"/>
                </a:solidFill>
                <a:latin typeface="Aptos" pitchFamily="34" charset="0"/>
                <a:ea typeface="Aptos" pitchFamily="34" charset="-122"/>
                <a:cs typeface="Aptos" pitchFamily="34" charset="-120"/>
              </a:rPr>
              <a:t>• Tool 5: AI Environmental and Resource Impact Review (Checklist) - Use this.</a:t>
            </a:r>
            <a:endParaRPr lang="en-US" sz="1850" dirty="0"/>
          </a:p>
          <a:p>
            <a:pPr indent="0" marL="0">
              <a:buNone/>
            </a:pPr>
            <a:r>
              <a:rPr lang="en-US" sz="1850" dirty="0">
                <a:solidFill>
                  <a:srgbClr val="003A63"/>
                </a:solidFill>
                <a:latin typeface="Aptos" pitchFamily="34" charset="0"/>
                <a:ea typeface="Aptos" pitchFamily="34" charset="-122"/>
                <a:cs typeface="Aptos" pitchFamily="34" charset="-120"/>
              </a:rPr>
              <a:t>• Tool 6: Human-Centered AI Decision Rule Checklist (Checklist) - Use.</a:t>
            </a:r>
            <a:endParaRPr lang="en-US" sz="1850" dirty="0"/>
          </a:p>
          <a:p>
            <a:pPr indent="0" marL="0">
              <a:buNone/>
            </a:pPr>
            <a:r>
              <a:rPr lang="en-US" sz="1850" dirty="0">
                <a:solidFill>
                  <a:srgbClr val="003A63"/>
                </a:solidFill>
                <a:latin typeface="Aptos" pitchFamily="34" charset="0"/>
                <a:ea typeface="Aptos" pitchFamily="34" charset="-122"/>
                <a:cs typeface="Aptos" pitchFamily="34" charset="-120"/>
              </a:rPr>
              <a:t>• Tool 8: AI Project Charter (Planning) - Use AI Project Charter to translate.</a:t>
            </a:r>
            <a:endParaRPr lang="en-US" sz="1850" dirty="0"/>
          </a:p>
        </p:txBody>
      </p:sp>
      <p:sp>
        <p:nvSpPr>
          <p:cNvPr id="10" name="Shape 8"/>
          <p:cNvSpPr/>
          <p:nvPr/>
        </p:nvSpPr>
        <p:spPr>
          <a:xfrm>
            <a:off x="8046720" y="1417320"/>
            <a:ext cx="3063240" cy="2103120"/>
          </a:xfrm>
          <a:prstGeom prst="roundRect">
            <a:avLst>
              <a:gd name="adj" fmla="val 5217"/>
            </a:avLst>
          </a:prstGeom>
          <a:solidFill>
            <a:srgbClr val="EAF6F8"/>
          </a:solidFill>
          <a:ln w="12700">
            <a:solidFill>
              <a:srgbClr val="B9D7E6"/>
            </a:solidFill>
            <a:prstDash val="solid"/>
          </a:ln>
        </p:spPr>
      </p:sp>
      <p:sp>
        <p:nvSpPr>
          <p:cNvPr id="11" name="Text 9"/>
          <p:cNvSpPr/>
          <p:nvPr/>
        </p:nvSpPr>
        <p:spPr>
          <a:xfrm>
            <a:off x="8211312" y="1545336"/>
            <a:ext cx="273405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Use the tools</a:t>
            </a:r>
            <a:endParaRPr lang="en-US" sz="1220" dirty="0"/>
          </a:p>
        </p:txBody>
      </p:sp>
      <p:sp>
        <p:nvSpPr>
          <p:cNvPr id="12" name="Text 10"/>
          <p:cNvSpPr/>
          <p:nvPr/>
        </p:nvSpPr>
        <p:spPr>
          <a:xfrm>
            <a:off x="8211312" y="1856232"/>
            <a:ext cx="2734056" cy="1591056"/>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linked tools when your department needs a structured worksheet, template,.</a:t>
            </a:r>
            <a:endParaRPr lang="en-US" sz="1220" dirty="0"/>
          </a:p>
        </p:txBody>
      </p:sp>
      <p:sp>
        <p:nvSpPr>
          <p:cNvPr id="13" name="Shape 11"/>
          <p:cNvSpPr/>
          <p:nvPr/>
        </p:nvSpPr>
        <p:spPr>
          <a:xfrm>
            <a:off x="8046720" y="3794760"/>
            <a:ext cx="3063240" cy="1600200"/>
          </a:xfrm>
          <a:prstGeom prst="roundRect">
            <a:avLst>
              <a:gd name="adj" fmla="val 6857"/>
            </a:avLst>
          </a:prstGeom>
          <a:solidFill>
            <a:srgbClr val="FFFFFF"/>
          </a:solidFill>
          <a:ln w="12700">
            <a:solidFill>
              <a:srgbClr val="B9D7E6"/>
            </a:solidFill>
            <a:prstDash val="solid"/>
          </a:ln>
        </p:spPr>
      </p:sp>
      <p:sp>
        <p:nvSpPr>
          <p:cNvPr id="14" name="Text 12"/>
          <p:cNvSpPr/>
          <p:nvPr/>
        </p:nvSpPr>
        <p:spPr>
          <a:xfrm>
            <a:off x="8211312" y="3922776"/>
            <a:ext cx="273405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Tool selection cues</a:t>
            </a:r>
            <a:endParaRPr lang="en-US" sz="1220" dirty="0"/>
          </a:p>
        </p:txBody>
      </p:sp>
      <p:sp>
        <p:nvSpPr>
          <p:cNvPr id="15" name="Text 13"/>
          <p:cNvSpPr/>
          <p:nvPr/>
        </p:nvSpPr>
        <p:spPr>
          <a:xfrm>
            <a:off x="8229600" y="4251960"/>
            <a:ext cx="2679192" cy="1033272"/>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Use a tool when no comparable local process exists.</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Adapt existing department templates when they.</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Save the completed artifact as evidence of the.</a:t>
            </a:r>
            <a:endParaRPr lang="en-US" sz="114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Data Governance for AI-Ready Public Health Data</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5</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Learning Objectives</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Explain the purpose of data governance for ai-ready public health data in.</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Identify the technical, operational, privacy, security, equity, and.</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Apply the topic to a real or realistic public health workflow, system, or.</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Governance lens</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Explain the purpose of data governance for ai-ready public health data in public.</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Identify the technical, operational, privacy,.</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Recognize common failure modes that can affect.</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Identify practical guardrails that should be.</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What to document</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assignment to test whether you can explain the concept, apply it to a.</a:t>
            </a:r>
            <a:endParaRPr lang="en-US" sz="122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Data Governance for AI-Ready Public Health Data</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6</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Learning Objectives Continued</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Produce a AI-ready data governance checklist that can support readiness.</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Governance lens</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Produce a AI-ready data governance checklist that can support readiness.</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Produce a AI-ready data governance checklist that.</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What to document</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assignment to test whether you can explain the concept, apply it to a.</a:t>
            </a:r>
            <a:endParaRPr lang="en-US" sz="122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Data Governance for AI-Ready Public Health Data</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7</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Module Overview</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AI-ready data require governance before they require a model.</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Data governance defines ownership, stewardship, metadata, permissible use,.</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This module helps learners connect governance practices to safe AI use.</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Governance lens</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AI-ready data require governance before they require a model.</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19456"/>
          </a:xfrm>
          <a:prstGeom prst="rect">
            <a:avLst/>
          </a:prstGeom>
          <a:noFill/>
          <a:ln/>
        </p:spPr>
        <p:txBody>
          <a:bodyPr wrap="square" lIns="0" tIns="0" rIns="0" bIns="0" rtlCol="0" anchor="ctr">
            <a:normAutofit/>
          </a:bodyPr>
          <a:lstStyle/>
          <a:p>
            <a:pPr indent="0" marL="0">
              <a:buNone/>
            </a:pPr>
            <a:r>
              <a:rPr lang="en-US" sz="1160" b="1" dirty="0">
                <a:solidFill>
                  <a:srgbClr val="0068B7"/>
                </a:solidFill>
                <a:latin typeface="Aptos" pitchFamily="34" charset="0"/>
                <a:ea typeface="Aptos" pitchFamily="34" charset="-122"/>
                <a:cs typeface="Aptos" pitchFamily="34" charset="-120"/>
              </a:rPr>
              <a:t>Governance pathway</a:t>
            </a:r>
            <a:endParaRPr lang="en-US" sz="1160" dirty="0"/>
          </a:p>
        </p:txBody>
      </p:sp>
      <p:sp>
        <p:nvSpPr>
          <p:cNvPr id="15" name="Shape 13"/>
          <p:cNvSpPr/>
          <p:nvPr/>
        </p:nvSpPr>
        <p:spPr>
          <a:xfrm>
            <a:off x="8717280" y="3406140"/>
            <a:ext cx="164592" cy="0"/>
          </a:xfrm>
          <a:prstGeom prst="line">
            <a:avLst/>
          </a:prstGeom>
          <a:noFill/>
          <a:ln w="15240">
            <a:solidFill>
              <a:srgbClr val="8ABBD8"/>
            </a:solidFill>
            <a:prstDash val="solid"/>
          </a:ln>
        </p:spPr>
      </p:sp>
      <p:sp>
        <p:nvSpPr>
          <p:cNvPr id="16" name="Shape 14"/>
          <p:cNvSpPr/>
          <p:nvPr/>
        </p:nvSpPr>
        <p:spPr>
          <a:xfrm>
            <a:off x="7781544" y="3255264"/>
            <a:ext cx="935736" cy="301752"/>
          </a:xfrm>
          <a:prstGeom prst="roundRect">
            <a:avLst>
              <a:gd name="adj" fmla="val 24242"/>
            </a:avLst>
          </a:prstGeom>
          <a:solidFill>
            <a:srgbClr val="0068B7"/>
          </a:solidFill>
          <a:ln w="12700">
            <a:solidFill>
              <a:srgbClr val="0068B7"/>
            </a:solidFill>
            <a:prstDash val="solid"/>
          </a:ln>
        </p:spPr>
      </p:sp>
      <p:sp>
        <p:nvSpPr>
          <p:cNvPr id="17" name="Text 15"/>
          <p:cNvSpPr/>
          <p:nvPr/>
        </p:nvSpPr>
        <p:spPr>
          <a:xfrm>
            <a:off x="7818120"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Submit</a:t>
            </a:r>
            <a:endParaRPr lang="en-US" sz="880" dirty="0"/>
          </a:p>
        </p:txBody>
      </p:sp>
      <p:sp>
        <p:nvSpPr>
          <p:cNvPr id="18" name="Shape 16"/>
          <p:cNvSpPr/>
          <p:nvPr/>
        </p:nvSpPr>
        <p:spPr>
          <a:xfrm>
            <a:off x="9817608" y="3406140"/>
            <a:ext cx="164592" cy="0"/>
          </a:xfrm>
          <a:prstGeom prst="line">
            <a:avLst/>
          </a:prstGeom>
          <a:noFill/>
          <a:ln w="15240">
            <a:solidFill>
              <a:srgbClr val="8ABBD8"/>
            </a:solidFill>
            <a:prstDash val="solid"/>
          </a:ln>
        </p:spPr>
      </p:sp>
      <p:sp>
        <p:nvSpPr>
          <p:cNvPr id="19" name="Shape 17"/>
          <p:cNvSpPr/>
          <p:nvPr/>
        </p:nvSpPr>
        <p:spPr>
          <a:xfrm>
            <a:off x="8881872" y="3255264"/>
            <a:ext cx="935736" cy="301752"/>
          </a:xfrm>
          <a:prstGeom prst="roundRect">
            <a:avLst>
              <a:gd name="adj" fmla="val 24242"/>
            </a:avLst>
          </a:prstGeom>
          <a:solidFill>
            <a:srgbClr val="2F8A28"/>
          </a:solidFill>
          <a:ln w="12700">
            <a:solidFill>
              <a:srgbClr val="2F8A28"/>
            </a:solidFill>
            <a:prstDash val="solid"/>
          </a:ln>
        </p:spPr>
      </p:sp>
      <p:sp>
        <p:nvSpPr>
          <p:cNvPr id="20" name="Text 18"/>
          <p:cNvSpPr/>
          <p:nvPr/>
        </p:nvSpPr>
        <p:spPr>
          <a:xfrm>
            <a:off x="8918448"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Review</a:t>
            </a:r>
            <a:endParaRPr lang="en-US" sz="880" dirty="0"/>
          </a:p>
        </p:txBody>
      </p:sp>
      <p:sp>
        <p:nvSpPr>
          <p:cNvPr id="21" name="Shape 19"/>
          <p:cNvSpPr/>
          <p:nvPr/>
        </p:nvSpPr>
        <p:spPr>
          <a:xfrm>
            <a:off x="9982200" y="3255264"/>
            <a:ext cx="935736" cy="301752"/>
          </a:xfrm>
          <a:prstGeom prst="roundRect">
            <a:avLst>
              <a:gd name="adj" fmla="val 24242"/>
            </a:avLst>
          </a:prstGeom>
          <a:solidFill>
            <a:srgbClr val="6A4CA3"/>
          </a:solidFill>
          <a:ln w="12700">
            <a:solidFill>
              <a:srgbClr val="6A4CA3"/>
            </a:solidFill>
            <a:prstDash val="solid"/>
          </a:ln>
        </p:spPr>
      </p:sp>
      <p:sp>
        <p:nvSpPr>
          <p:cNvPr id="22" name="Text 20"/>
          <p:cNvSpPr/>
          <p:nvPr/>
        </p:nvSpPr>
        <p:spPr>
          <a:xfrm>
            <a:off x="10018776"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Oversee</a:t>
            </a:r>
            <a:endParaRPr lang="en-US" sz="880" dirty="0"/>
          </a:p>
        </p:txBody>
      </p:sp>
      <p:sp>
        <p:nvSpPr>
          <p:cNvPr id="23" name="Text 21"/>
          <p:cNvSpPr/>
          <p:nvPr/>
        </p:nvSpPr>
        <p:spPr>
          <a:xfrm>
            <a:off x="7763256" y="3749040"/>
            <a:ext cx="3172968" cy="356616"/>
          </a:xfrm>
          <a:prstGeom prst="rect">
            <a:avLst/>
          </a:prstGeom>
          <a:noFill/>
          <a:ln/>
        </p:spPr>
        <p:txBody>
          <a:bodyPr wrap="square" lIns="254" tIns="254" rIns="254" bIns="254" rtlCol="0" anchor="t">
            <a:normAutofit/>
          </a:bodyPr>
          <a:lstStyle/>
          <a:p>
            <a:pPr indent="0" marL="0">
              <a:buNone/>
            </a:pPr>
            <a:r>
              <a:rPr lang="en-US" sz="1040" dirty="0">
                <a:solidFill>
                  <a:srgbClr val="17364A"/>
                </a:solidFill>
                <a:latin typeface="Aptos" pitchFamily="34" charset="0"/>
                <a:ea typeface="Aptos" pitchFamily="34" charset="-122"/>
                <a:cs typeface="Aptos" pitchFamily="34" charset="-120"/>
              </a:rPr>
              <a:t>A proposed AI use should move through documented review before it.</a:t>
            </a:r>
            <a:endParaRPr lang="en-US" sz="1040" dirty="0"/>
          </a:p>
        </p:txBody>
      </p:sp>
      <p:sp>
        <p:nvSpPr>
          <p:cNvPr id="24" name="Shape 22"/>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25" name="Text 23"/>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What to document</a:t>
            </a:r>
            <a:endParaRPr lang="en-US" sz="1220" dirty="0"/>
          </a:p>
        </p:txBody>
      </p:sp>
      <p:sp>
        <p:nvSpPr>
          <p:cNvPr id="26" name="Text 24"/>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Translate this concept into clear decision rights, review steps, documentation.</a:t>
            </a:r>
            <a:endParaRPr lang="en-US" sz="122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Data Governance for AI-Ready Public Health Data</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8</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Jurisdiction and Agency Policy Note</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This module provides national-level training guidance for public health.</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It is not legal advice and does not replace review by agency legal counsel,.</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Requirements may vary by state, locality, territory, Tribe, agency, funding.</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Governance lens</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This module provides national-level training guidance for public health agencies.</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19456"/>
          </a:xfrm>
          <a:prstGeom prst="rect">
            <a:avLst/>
          </a:prstGeom>
          <a:noFill/>
          <a:ln/>
        </p:spPr>
        <p:txBody>
          <a:bodyPr wrap="square" lIns="0" tIns="0" rIns="0" bIns="0" rtlCol="0" anchor="ctr">
            <a:normAutofit/>
          </a:bodyPr>
          <a:lstStyle/>
          <a:p>
            <a:pPr indent="0" marL="0">
              <a:buNone/>
            </a:pPr>
            <a:r>
              <a:rPr lang="en-US" sz="1160" b="1" dirty="0">
                <a:solidFill>
                  <a:srgbClr val="0068B7"/>
                </a:solidFill>
                <a:latin typeface="Aptos" pitchFamily="34" charset="0"/>
                <a:ea typeface="Aptos" pitchFamily="34" charset="-122"/>
                <a:cs typeface="Aptos" pitchFamily="34" charset="-120"/>
              </a:rPr>
              <a:t>Governance pathway</a:t>
            </a:r>
            <a:endParaRPr lang="en-US" sz="1160" dirty="0"/>
          </a:p>
        </p:txBody>
      </p:sp>
      <p:sp>
        <p:nvSpPr>
          <p:cNvPr id="15" name="Shape 13"/>
          <p:cNvSpPr/>
          <p:nvPr/>
        </p:nvSpPr>
        <p:spPr>
          <a:xfrm>
            <a:off x="8717280" y="3406140"/>
            <a:ext cx="164592" cy="0"/>
          </a:xfrm>
          <a:prstGeom prst="line">
            <a:avLst/>
          </a:prstGeom>
          <a:noFill/>
          <a:ln w="15240">
            <a:solidFill>
              <a:srgbClr val="8ABBD8"/>
            </a:solidFill>
            <a:prstDash val="solid"/>
          </a:ln>
        </p:spPr>
      </p:sp>
      <p:sp>
        <p:nvSpPr>
          <p:cNvPr id="16" name="Shape 14"/>
          <p:cNvSpPr/>
          <p:nvPr/>
        </p:nvSpPr>
        <p:spPr>
          <a:xfrm>
            <a:off x="7781544" y="3255264"/>
            <a:ext cx="935736" cy="301752"/>
          </a:xfrm>
          <a:prstGeom prst="roundRect">
            <a:avLst>
              <a:gd name="adj" fmla="val 24242"/>
            </a:avLst>
          </a:prstGeom>
          <a:solidFill>
            <a:srgbClr val="0068B7"/>
          </a:solidFill>
          <a:ln w="12700">
            <a:solidFill>
              <a:srgbClr val="0068B7"/>
            </a:solidFill>
            <a:prstDash val="solid"/>
          </a:ln>
        </p:spPr>
      </p:sp>
      <p:sp>
        <p:nvSpPr>
          <p:cNvPr id="17" name="Text 15"/>
          <p:cNvSpPr/>
          <p:nvPr/>
        </p:nvSpPr>
        <p:spPr>
          <a:xfrm>
            <a:off x="7818120"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Submit</a:t>
            </a:r>
            <a:endParaRPr lang="en-US" sz="880" dirty="0"/>
          </a:p>
        </p:txBody>
      </p:sp>
      <p:sp>
        <p:nvSpPr>
          <p:cNvPr id="18" name="Shape 16"/>
          <p:cNvSpPr/>
          <p:nvPr/>
        </p:nvSpPr>
        <p:spPr>
          <a:xfrm>
            <a:off x="9817608" y="3406140"/>
            <a:ext cx="164592" cy="0"/>
          </a:xfrm>
          <a:prstGeom prst="line">
            <a:avLst/>
          </a:prstGeom>
          <a:noFill/>
          <a:ln w="15240">
            <a:solidFill>
              <a:srgbClr val="8ABBD8"/>
            </a:solidFill>
            <a:prstDash val="solid"/>
          </a:ln>
        </p:spPr>
      </p:sp>
      <p:sp>
        <p:nvSpPr>
          <p:cNvPr id="19" name="Shape 17"/>
          <p:cNvSpPr/>
          <p:nvPr/>
        </p:nvSpPr>
        <p:spPr>
          <a:xfrm>
            <a:off x="8881872" y="3255264"/>
            <a:ext cx="935736" cy="301752"/>
          </a:xfrm>
          <a:prstGeom prst="roundRect">
            <a:avLst>
              <a:gd name="adj" fmla="val 24242"/>
            </a:avLst>
          </a:prstGeom>
          <a:solidFill>
            <a:srgbClr val="2F8A28"/>
          </a:solidFill>
          <a:ln w="12700">
            <a:solidFill>
              <a:srgbClr val="2F8A28"/>
            </a:solidFill>
            <a:prstDash val="solid"/>
          </a:ln>
        </p:spPr>
      </p:sp>
      <p:sp>
        <p:nvSpPr>
          <p:cNvPr id="20" name="Text 18"/>
          <p:cNvSpPr/>
          <p:nvPr/>
        </p:nvSpPr>
        <p:spPr>
          <a:xfrm>
            <a:off x="8918448"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Review</a:t>
            </a:r>
            <a:endParaRPr lang="en-US" sz="880" dirty="0"/>
          </a:p>
        </p:txBody>
      </p:sp>
      <p:sp>
        <p:nvSpPr>
          <p:cNvPr id="21" name="Shape 19"/>
          <p:cNvSpPr/>
          <p:nvPr/>
        </p:nvSpPr>
        <p:spPr>
          <a:xfrm>
            <a:off x="9982200" y="3255264"/>
            <a:ext cx="935736" cy="301752"/>
          </a:xfrm>
          <a:prstGeom prst="roundRect">
            <a:avLst>
              <a:gd name="adj" fmla="val 24242"/>
            </a:avLst>
          </a:prstGeom>
          <a:solidFill>
            <a:srgbClr val="6A4CA3"/>
          </a:solidFill>
          <a:ln w="12700">
            <a:solidFill>
              <a:srgbClr val="6A4CA3"/>
            </a:solidFill>
            <a:prstDash val="solid"/>
          </a:ln>
        </p:spPr>
      </p:sp>
      <p:sp>
        <p:nvSpPr>
          <p:cNvPr id="22" name="Text 20"/>
          <p:cNvSpPr/>
          <p:nvPr/>
        </p:nvSpPr>
        <p:spPr>
          <a:xfrm>
            <a:off x="10018776"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Oversee</a:t>
            </a:r>
            <a:endParaRPr lang="en-US" sz="880" dirty="0"/>
          </a:p>
        </p:txBody>
      </p:sp>
      <p:sp>
        <p:nvSpPr>
          <p:cNvPr id="23" name="Text 21"/>
          <p:cNvSpPr/>
          <p:nvPr/>
        </p:nvSpPr>
        <p:spPr>
          <a:xfrm>
            <a:off x="7763256" y="3749040"/>
            <a:ext cx="3172968" cy="356616"/>
          </a:xfrm>
          <a:prstGeom prst="rect">
            <a:avLst/>
          </a:prstGeom>
          <a:noFill/>
          <a:ln/>
        </p:spPr>
        <p:txBody>
          <a:bodyPr wrap="square" lIns="254" tIns="254" rIns="254" bIns="254" rtlCol="0" anchor="t">
            <a:normAutofit/>
          </a:bodyPr>
          <a:lstStyle/>
          <a:p>
            <a:pPr indent="0" marL="0">
              <a:buNone/>
            </a:pPr>
            <a:r>
              <a:rPr lang="en-US" sz="1040" dirty="0">
                <a:solidFill>
                  <a:srgbClr val="17364A"/>
                </a:solidFill>
                <a:latin typeface="Aptos" pitchFamily="34" charset="0"/>
                <a:ea typeface="Aptos" pitchFamily="34" charset="-122"/>
                <a:cs typeface="Aptos" pitchFamily="34" charset="-120"/>
              </a:rPr>
              <a:t>A proposed AI use should move through documented review before it.</a:t>
            </a:r>
            <a:endParaRPr lang="en-US" sz="1040" dirty="0"/>
          </a:p>
        </p:txBody>
      </p:sp>
      <p:sp>
        <p:nvSpPr>
          <p:cNvPr id="24" name="Shape 22"/>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25" name="Text 23"/>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What to document</a:t>
            </a:r>
            <a:endParaRPr lang="en-US" sz="1220" dirty="0"/>
          </a:p>
        </p:txBody>
      </p:sp>
      <p:sp>
        <p:nvSpPr>
          <p:cNvPr id="26" name="Text 24"/>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Translate this concept into clear decision rights, review steps, documentation.</a:t>
            </a:r>
            <a:endParaRPr lang="en-US" sz="122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Data Governance for AI-Ready Public Health Data</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9</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Why This Topic Matters for Public Health AI</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Data Governance for AI-Ready Public Health Data matters because AI systems.</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The topic affects whether AI outputs are accurate, explainable, safe,.</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Agencies that ignore this area may create tools that work in a demonstration.</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Governance lens</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Data Governance for AI-Ready Public Health Data matters because AI systems are.</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19456"/>
          </a:xfrm>
          <a:prstGeom prst="rect">
            <a:avLst/>
          </a:prstGeom>
          <a:noFill/>
          <a:ln/>
        </p:spPr>
        <p:txBody>
          <a:bodyPr wrap="square" lIns="0" tIns="0" rIns="0" bIns="0" rtlCol="0" anchor="ctr">
            <a:normAutofit/>
          </a:bodyPr>
          <a:lstStyle/>
          <a:p>
            <a:pPr indent="0" marL="0">
              <a:buNone/>
            </a:pPr>
            <a:r>
              <a:rPr lang="en-US" sz="1160" b="1" dirty="0">
                <a:solidFill>
                  <a:srgbClr val="0068B7"/>
                </a:solidFill>
                <a:latin typeface="Aptos" pitchFamily="34" charset="0"/>
                <a:ea typeface="Aptos" pitchFamily="34" charset="-122"/>
                <a:cs typeface="Aptos" pitchFamily="34" charset="-120"/>
              </a:rPr>
              <a:t>Governance pathway</a:t>
            </a:r>
            <a:endParaRPr lang="en-US" sz="1160" dirty="0"/>
          </a:p>
        </p:txBody>
      </p:sp>
      <p:sp>
        <p:nvSpPr>
          <p:cNvPr id="15" name="Shape 13"/>
          <p:cNvSpPr/>
          <p:nvPr/>
        </p:nvSpPr>
        <p:spPr>
          <a:xfrm>
            <a:off x="8717280" y="3406140"/>
            <a:ext cx="164592" cy="0"/>
          </a:xfrm>
          <a:prstGeom prst="line">
            <a:avLst/>
          </a:prstGeom>
          <a:noFill/>
          <a:ln w="15240">
            <a:solidFill>
              <a:srgbClr val="8ABBD8"/>
            </a:solidFill>
            <a:prstDash val="solid"/>
          </a:ln>
        </p:spPr>
      </p:sp>
      <p:sp>
        <p:nvSpPr>
          <p:cNvPr id="16" name="Shape 14"/>
          <p:cNvSpPr/>
          <p:nvPr/>
        </p:nvSpPr>
        <p:spPr>
          <a:xfrm>
            <a:off x="7781544" y="3255264"/>
            <a:ext cx="935736" cy="301752"/>
          </a:xfrm>
          <a:prstGeom prst="roundRect">
            <a:avLst>
              <a:gd name="adj" fmla="val 24242"/>
            </a:avLst>
          </a:prstGeom>
          <a:solidFill>
            <a:srgbClr val="0068B7"/>
          </a:solidFill>
          <a:ln w="12700">
            <a:solidFill>
              <a:srgbClr val="0068B7"/>
            </a:solidFill>
            <a:prstDash val="solid"/>
          </a:ln>
        </p:spPr>
      </p:sp>
      <p:sp>
        <p:nvSpPr>
          <p:cNvPr id="17" name="Text 15"/>
          <p:cNvSpPr/>
          <p:nvPr/>
        </p:nvSpPr>
        <p:spPr>
          <a:xfrm>
            <a:off x="7818120"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Submit</a:t>
            </a:r>
            <a:endParaRPr lang="en-US" sz="880" dirty="0"/>
          </a:p>
        </p:txBody>
      </p:sp>
      <p:sp>
        <p:nvSpPr>
          <p:cNvPr id="18" name="Shape 16"/>
          <p:cNvSpPr/>
          <p:nvPr/>
        </p:nvSpPr>
        <p:spPr>
          <a:xfrm>
            <a:off x="9817608" y="3406140"/>
            <a:ext cx="164592" cy="0"/>
          </a:xfrm>
          <a:prstGeom prst="line">
            <a:avLst/>
          </a:prstGeom>
          <a:noFill/>
          <a:ln w="15240">
            <a:solidFill>
              <a:srgbClr val="8ABBD8"/>
            </a:solidFill>
            <a:prstDash val="solid"/>
          </a:ln>
        </p:spPr>
      </p:sp>
      <p:sp>
        <p:nvSpPr>
          <p:cNvPr id="19" name="Shape 17"/>
          <p:cNvSpPr/>
          <p:nvPr/>
        </p:nvSpPr>
        <p:spPr>
          <a:xfrm>
            <a:off x="8881872" y="3255264"/>
            <a:ext cx="935736" cy="301752"/>
          </a:xfrm>
          <a:prstGeom prst="roundRect">
            <a:avLst>
              <a:gd name="adj" fmla="val 24242"/>
            </a:avLst>
          </a:prstGeom>
          <a:solidFill>
            <a:srgbClr val="2F8A28"/>
          </a:solidFill>
          <a:ln w="12700">
            <a:solidFill>
              <a:srgbClr val="2F8A28"/>
            </a:solidFill>
            <a:prstDash val="solid"/>
          </a:ln>
        </p:spPr>
      </p:sp>
      <p:sp>
        <p:nvSpPr>
          <p:cNvPr id="20" name="Text 18"/>
          <p:cNvSpPr/>
          <p:nvPr/>
        </p:nvSpPr>
        <p:spPr>
          <a:xfrm>
            <a:off x="8918448"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Review</a:t>
            </a:r>
            <a:endParaRPr lang="en-US" sz="880" dirty="0"/>
          </a:p>
        </p:txBody>
      </p:sp>
      <p:sp>
        <p:nvSpPr>
          <p:cNvPr id="21" name="Shape 19"/>
          <p:cNvSpPr/>
          <p:nvPr/>
        </p:nvSpPr>
        <p:spPr>
          <a:xfrm>
            <a:off x="9982200" y="3255264"/>
            <a:ext cx="935736" cy="301752"/>
          </a:xfrm>
          <a:prstGeom prst="roundRect">
            <a:avLst>
              <a:gd name="adj" fmla="val 24242"/>
            </a:avLst>
          </a:prstGeom>
          <a:solidFill>
            <a:srgbClr val="6A4CA3"/>
          </a:solidFill>
          <a:ln w="12700">
            <a:solidFill>
              <a:srgbClr val="6A4CA3"/>
            </a:solidFill>
            <a:prstDash val="solid"/>
          </a:ln>
        </p:spPr>
      </p:sp>
      <p:sp>
        <p:nvSpPr>
          <p:cNvPr id="22" name="Text 20"/>
          <p:cNvSpPr/>
          <p:nvPr/>
        </p:nvSpPr>
        <p:spPr>
          <a:xfrm>
            <a:off x="10018776"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Oversee</a:t>
            </a:r>
            <a:endParaRPr lang="en-US" sz="880" dirty="0"/>
          </a:p>
        </p:txBody>
      </p:sp>
      <p:sp>
        <p:nvSpPr>
          <p:cNvPr id="23" name="Text 21"/>
          <p:cNvSpPr/>
          <p:nvPr/>
        </p:nvSpPr>
        <p:spPr>
          <a:xfrm>
            <a:off x="7763256" y="3749040"/>
            <a:ext cx="3172968" cy="356616"/>
          </a:xfrm>
          <a:prstGeom prst="rect">
            <a:avLst/>
          </a:prstGeom>
          <a:noFill/>
          <a:ln/>
        </p:spPr>
        <p:txBody>
          <a:bodyPr wrap="square" lIns="254" tIns="254" rIns="254" bIns="254" rtlCol="0" anchor="t">
            <a:normAutofit/>
          </a:bodyPr>
          <a:lstStyle/>
          <a:p>
            <a:pPr indent="0" marL="0">
              <a:buNone/>
            </a:pPr>
            <a:r>
              <a:rPr lang="en-US" sz="1040" dirty="0">
                <a:solidFill>
                  <a:srgbClr val="17364A"/>
                </a:solidFill>
                <a:latin typeface="Aptos" pitchFamily="34" charset="0"/>
                <a:ea typeface="Aptos" pitchFamily="34" charset="-122"/>
                <a:cs typeface="Aptos" pitchFamily="34" charset="-120"/>
              </a:rPr>
              <a:t>A proposed AI use should move through documented review before it.</a:t>
            </a:r>
            <a:endParaRPr lang="en-US" sz="1040" dirty="0"/>
          </a:p>
        </p:txBody>
      </p:sp>
      <p:sp>
        <p:nvSpPr>
          <p:cNvPr id="24" name="Shape 22"/>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25" name="Text 23"/>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What to document</a:t>
            </a:r>
            <a:endParaRPr lang="en-US" sz="1220" dirty="0"/>
          </a:p>
        </p:txBody>
      </p:sp>
      <p:sp>
        <p:nvSpPr>
          <p:cNvPr id="26" name="Text 24"/>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Translate this concept into clear decision rights, review steps, documentation.</a:t>
            </a:r>
            <a:endParaRPr lang="en-US" sz="122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Data Governance for AI-Ready Public Health Data</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10</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Core Concepts</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Data governance is the set of decision rights, roles, policies, standards,.</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AI-ready data depend on governance because data must be understandable,.</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Data stewardship assigns responsibility for data quality, definitions,.</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Governance lens</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Data governance is the set of decision rights, roles, policies, standards, and.</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Data governance is the set of decision rights,.</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AI-ready data depend on governance because data.</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Data stewardship assigns responsibility for data.</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What to document</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Translate this concept into clear decision rights, review steps, documentation.</a:t>
            </a:r>
            <a:endParaRPr lang="en-US" sz="122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Data Governance for AI-Ready Public Health Data</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11</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Public Health Example</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A public health agency may want to use multiple datasets to prioritize.</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Data governance would clarify which datasets can be linked, which fields are.</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Without governance, the model may appear technical while resting on unclear.</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Governance lens</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A public health agency may want to use multiple datasets to prioritize outreach.</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Data governance would clarify which datasets can.</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Without governance, the model may appear technical.</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What to document</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Translate this concept into clear decision rights, review steps, documentation.</a:t>
            </a:r>
            <a:endParaRPr lang="en-US" sz="122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Data Governance for AI-Ready Public Health Data</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12</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Technical Deep Dive</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AI-ready data begin with inventory.</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Agencies should know what datasets exist, who stewards them, what they.</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A data catalog can make this information visible to program, analytics,.</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Governance lens</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AI-ready data begin with inventory.</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Agencies should know what datasets exist, who.</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A data catalog can make this information visible.</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Governance must also address data lineage and.</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What to document</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Translate this concept into clear decision rights, review steps, documentation.</a:t>
            </a:r>
            <a:endParaRPr lang="en-US" sz="122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Data Governance for AI-Ready Public Health Data</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13</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Risks, Failure Modes, and Guardrails</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A common failure mode is treating the topic as a technical detail rather.</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When staff do not connect technical decisions to authority, workflow,.</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Another risk is relying on vendor claims without agency-defined evidence.</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Governance lens</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A common failure mode is treating the topic as a technical detail rather than a.</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When staff do not connect technical decisions to.</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Vendors may provide demonstrations, dashboards, or.</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A guardrail is to require documentation, test.</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What to document</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Translate this concept into clear decision rights, review steps, documentation.</a:t>
            </a:r>
            <a:endParaRPr lang="en-US" sz="122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Data Governance for AI-Ready Public Health Data</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14</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Application to AI-Supported Workflows</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Generative AI, predictive analytics, RAG, automation, and agentic workflows.</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The controls should be scaled to the risk of the use case.</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A tool that drafts internal training text may require lighter review than a.</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Governance lens</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Generative AI, predictive analytics, RAG, automation, and agentic workflows all.</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Generative AI, predictive analytics, RAG,.</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A tool that drafts internal training text may.</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The module should be applied during readiness.</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What to document</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Translate this concept into clear decision rights, review steps, documentation.</a:t>
            </a:r>
            <a:endParaRPr lang="en-US" sz="122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Data Governance for AI-Ready Public Health Data</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15</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Reflection Questions</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Where does this topic appear in one current or proposed AI workflow in your.</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What decisions, data sources, users, or partners would be affected if this.</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What evidence would governance reviewers need before approving the workflow?</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Governance lens</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Where does this topic appear in one current or proposed AI workflow in your.</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Where does this topic appear in one current or.</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What decisions, data sources, users, or partners.</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What evidence would governance reviewers need.</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What to document</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Translate this concept into clear decision rights, review steps, documentation.</a:t>
            </a:r>
            <a:endParaRPr lang="en-US" sz="122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Data Governance for AI-Ready Public Health Data</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16</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Reflection Questions Continued</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Which safeguards should be required before pilot testing?</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Who owns ongoing monitoring and review?</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Governance lens</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Which safeguards should be required before pilot testing?</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Which safeguards should be required before pilot.</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Who owns ongoing monitoring and review?</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What to document</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Translate this concept into clear decision rights, review steps, documentation.</a:t>
            </a:r>
            <a:endParaRPr lang="en-US" sz="122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Data Governance for AI-Ready Public Health Data</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17</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Practical Exercise</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Create a AI-ready data governance checklist for one real or realistic public.</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The artifact should describe the use case, affected users, data sources,.</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The exercise should produce a work product that could be used in a.</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Governance lens</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Create a AI-ready data governance checklist for one real or realistic public.</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The artifact should describe the use case,.</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The exercise should produce a work product that.</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Learners should document assumptions and identify.</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What to document</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assignment to test whether you can explain the concept, apply it to a.</a:t>
            </a:r>
            <a:endParaRPr lang="en-US" sz="122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Data Governance for AI-Ready Public Health Data</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18</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Artifact or Evidence</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The expected artifact is a completed AI-ready data governance checklist.</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It should be specific to a public health workflow and should include.</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Governance lens</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The expected artifact is a completed AI-ready data governance checklist.</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The expected artifact is a completed AI-ready data.</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It should be specific to a public health workflow.</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What to document</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Translate this concept into clear decision rights, review steps, documentation.</a:t>
            </a:r>
            <a:endParaRPr lang="en-US" sz="122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Data Governance for AI-Ready Public Health Data</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19</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Assignment</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The expected artifact is a completed AI-ready data governance checklist. It.</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Governance lens</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The expected artifact is a completed AI-ready data governance checklist. It.</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The expected artifact is a completed AI-ready data.</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It should be specific to a public health workflow.</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What to document</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assignment to test whether you can explain the concept, apply it to a.</a:t>
            </a:r>
            <a:endParaRPr lang="en-US" sz="122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Data Governance for AI-Ready Public Health Data</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20</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Knowledge Check</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1. What is the best reason to address data governance for ai-ready public.</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2. Which practice best supports responsible implementation?</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3. Which statement best describes a common failure mode?</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Governance lens</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What is the best reason to address data governance for ai-ready public health.</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What is the best reason to address data governance.</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What to document</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assignment to test whether you can explain the concept, apply it to a.</a:t>
            </a:r>
            <a:endParaRPr lang="en-US" sz="122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Data Governance for AI-Ready Public Health Data</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21</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References and Resources</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NIST AI Risk Management Framework:.</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NIST Generative AI Profile:.</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CDC Public Health Data Strategy and Data Modernization resources:.</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Governance lens</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NIST AI Risk Management Framework:.</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OWASP Top 10 for LLM Applications, when security.</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Agency privacy, cybersecurity, data governance,.</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What to document</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Translate this concept into clear decision rights, review steps, documentation.</a:t>
            </a:r>
            <a:endParaRPr lang="en-US" sz="122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ptos Display"/>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21</Slides>
  <Notes>21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21</vt:i4>
      </vt:variant>
    </vt:vector>
  </HeadingPairs>
  <TitlesOfParts>
    <vt:vector size="2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vector>
  </TitlesOfParts>
  <Company>AI Playbook for Public Health</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Data Governance for AI-Ready Public Health Data</dc:title>
  <dc:subject>Data Governance for AI-Ready Public Health Data learning module</dc:subject>
  <dc:creator>Paula Soper</dc:creator>
  <cp:lastModifiedBy>Paula Soper</cp:lastModifiedBy>
  <cp:revision>1</cp:revision>
  <dcterms:created xsi:type="dcterms:W3CDTF">2026-07-14T04:35:32Z</dcterms:created>
  <dcterms:modified xsi:type="dcterms:W3CDTF">2026-07-14T04:35:32Z</dcterms:modified>
</cp:coreProperties>
</file>