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a:t>
            </a:r>
            <a:endParaRPr lang="en-US" sz="2100" dirty="0"/>
          </a:p>
          <a:p>
            <a:r>
              <a:rPr lang="en-US" sz="21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 health.</a:t>
            </a:r>
            <a:endParaRPr lang="en-US" sz="2100" dirty="0"/>
          </a:p>
          <a:p>
            <a:r>
              <a:rPr lang="en-US" sz="21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 data are.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governance-security, policy,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14: Model Validation &amp; Documentation Standards (Standard)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15: Data Use Agreement (AI) Template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2100" dirty="0"/>
          </a:p>
          <a:p>
            <a:r>
              <a:rPr lang="en-US" sz="2100" dirty="0">
                <a:solidFill>
                  <a:srgbClr val="17364A"/>
                </a:solidFill>
                <a:latin typeface="Aptos" pitchFamily="34" charset="0"/>
                <a:ea typeface="Aptos" pitchFamily="34" charset="-122"/>
                <a:cs typeface="Aptos" pitchFamily="34" charset="-120"/>
              </a:rPr>
              <a:t>Describe Indigenous Data Sovereignty, Indigenous Data Governance, Digital Sovereignty, and the CARE.</a:t>
            </a:r>
            <a:endParaRPr lang="en-US" sz="2100" dirty="0"/>
          </a:p>
          <a:p>
            <a:r>
              <a:rPr lang="en-US" sz="2100" dirty="0">
                <a:solidFill>
                  <a:srgbClr val="17364A"/>
                </a:solidFill>
                <a:latin typeface="Aptos" pitchFamily="34" charset="0"/>
                <a:ea typeface="Aptos" pitchFamily="34" charset="-122"/>
                <a:cs typeface="Aptos" pitchFamily="34" charset="-120"/>
              </a:rPr>
              <a:t>Identify governance questions that should be addressed before using Tribal data or AI tools in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Connect sovereignty protections to practical project artifacts, including Tribal data sharing.</a:t>
            </a:r>
            <a:endParaRPr lang="en-US" sz="2100" dirty="0"/>
          </a:p>
          <a:p>
            <a:r>
              <a:rPr lang="en-US" sz="2100" dirty="0">
                <a:solidFill>
                  <a:srgbClr val="17364A"/>
                </a:solidFill>
                <a:latin typeface="Aptos" pitchFamily="34" charset="0"/>
                <a:ea typeface="Aptos" pitchFamily="34" charset="-122"/>
                <a:cs typeface="Aptos" pitchFamily="34" charset="-120"/>
              </a:rPr>
              <a:t>Draft an initial Tribal sovereignty and Indigenous data governance screening memo for a proposed.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sovereignty protections to practical project artifacts, including Tribal data sharing.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2100" dirty="0"/>
          </a:p>
          <a:p>
            <a:r>
              <a:rPr lang="en-US" sz="21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a:t>
            </a:r>
            <a:endParaRPr lang="en-US" sz="2100" dirty="0"/>
          </a:p>
          <a:p>
            <a:r>
              <a:rPr lang="en-US" sz="21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2100" dirty="0"/>
          </a:p>
          <a:p>
            <a:r>
              <a:rPr lang="en-US" sz="2100" dirty="0">
                <a:solidFill>
                  <a:srgbClr val="17364A"/>
                </a:solidFill>
                <a:latin typeface="Aptos" pitchFamily="34" charset="0"/>
                <a:ea typeface="Aptos" pitchFamily="34" charset="-122"/>
                <a:cs typeface="Aptos" pitchFamily="34" charset="-120"/>
              </a:rPr>
              <a:t>Indigenous Data Sovereignty: The right of Indigenous Peoples and Nations to govern data about them,.</a:t>
            </a:r>
            <a:endParaRPr lang="en-US" sz="2100" dirty="0"/>
          </a:p>
          <a:p>
            <a:r>
              <a:rPr lang="en-US" sz="2100" dirty="0">
                <a:solidFill>
                  <a:srgbClr val="17364A"/>
                </a:solidFill>
                <a:latin typeface="Aptos" pitchFamily="34" charset="0"/>
                <a:ea typeface="Aptos" pitchFamily="34" charset="-122"/>
                <a:cs typeface="Aptos" pitchFamily="34" charset="-120"/>
              </a:rPr>
              <a:t>Indigenous Data Governance: The policies, agreements, relationships, roles, and oversight mechanisms.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Tribal law, Tribal policy, Tribal consultation, Tribal IRB review, legal counsel,.</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Tribal Nation, jurisdiction, funding source, data sharing agreement, research.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2100" dirty="0"/>
          </a:p>
          <a:p>
            <a:r>
              <a:rPr lang="en-US" sz="2100" dirty="0">
                <a:solidFill>
                  <a:srgbClr val="17364A"/>
                </a:solidFill>
                <a:latin typeface="Aptos" pitchFamily="34" charset="0"/>
                <a:ea typeface="Aptos" pitchFamily="34" charset="-122"/>
                <a:cs typeface="Aptos" pitchFamily="34" charset="-120"/>
              </a:rPr>
              <a:t>When health data involve Tribal Nations or AI/AN participants, those consequences can include.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intend to improve services, reduce disparities, or strengthen emergency.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2100" dirty="0"/>
          </a:p>
          <a:p>
            <a:r>
              <a:rPr lang="en-US" sz="2100" dirty="0">
                <a:solidFill>
                  <a:srgbClr val="17364A"/>
                </a:solidFill>
                <a:latin typeface="Aptos" pitchFamily="34" charset="0"/>
                <a:ea typeface="Aptos" pitchFamily="34" charset="-122"/>
                <a:cs typeface="Aptos" pitchFamily="34" charset="-120"/>
              </a:rPr>
              <a:t>In public health AI work, this means a Tribal Nation may have its own laws, research codes, review.</a:t>
            </a:r>
            <a:endParaRPr lang="en-US" sz="2100" dirty="0"/>
          </a:p>
          <a:p>
            <a:r>
              <a:rPr lang="en-US" sz="2100" dirty="0">
                <a:solidFill>
                  <a:srgbClr val="17364A"/>
                </a:solidFill>
                <a:latin typeface="Aptos" pitchFamily="34" charset="0"/>
                <a:ea typeface="Aptos" pitchFamily="34" charset="-122"/>
                <a:cs typeface="Aptos" pitchFamily="34" charset="-120"/>
              </a:rPr>
              <a:t>Public health staff should not treat Tribal input as optional stakeholder feedback when Tribal.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2100" dirty="0"/>
          </a:p>
          <a:p>
            <a:r>
              <a:rPr lang="en-US" sz="2100" dirty="0">
                <a:solidFill>
                  <a:srgbClr val="17364A"/>
                </a:solidFill>
                <a:latin typeface="Aptos" pitchFamily="34" charset="0"/>
                <a:ea typeface="Aptos" pitchFamily="34" charset="-122"/>
                <a:cs typeface="Aptos" pitchFamily="34" charset="-120"/>
              </a:rPr>
              <a:t>CARE stands for Collective Benefit, Authority to Control, Responsibility, and Ethics.</a:t>
            </a:r>
            <a:endParaRPr lang="en-US" sz="2100" dirty="0"/>
          </a:p>
          <a:p>
            <a:r>
              <a:rPr lang="en-US" sz="2100" dirty="0">
                <a:solidFill>
                  <a:srgbClr val="17364A"/>
                </a:solidFill>
                <a:latin typeface="Aptos" pitchFamily="34" charset="0"/>
                <a:ea typeface="Aptos" pitchFamily="34" charset="-122"/>
                <a:cs typeface="Aptos" pitchFamily="34" charset="-120"/>
              </a:rPr>
              <a:t>These principles complement FAIR data practices by adding attention to people, purpose, power,.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2100" dirty="0"/>
          </a:p>
          <a:p>
            <a:r>
              <a:rPr lang="en-US" sz="2100" dirty="0">
                <a:solidFill>
                  <a:srgbClr val="17364A"/>
                </a:solidFill>
                <a:latin typeface="Aptos" pitchFamily="34" charset="0"/>
                <a:ea typeface="Aptos" pitchFamily="34" charset="-122"/>
                <a:cs typeface="Aptos" pitchFamily="34" charset="-120"/>
              </a:rPr>
              <a:t>The initial technical design includes free-text chief complaint data, facility location, ZIP code, race.</a:t>
            </a:r>
            <a:endParaRPr lang="en-US" sz="2100" dirty="0"/>
          </a:p>
          <a:p>
            <a:r>
              <a:rPr lang="en-US" sz="2100" dirty="0">
                <a:solidFill>
                  <a:srgbClr val="17364A"/>
                </a:solidFill>
                <a:latin typeface="Aptos" pitchFamily="34" charset="0"/>
                <a:ea typeface="Aptos" pitchFamily="34" charset="-122"/>
                <a:cs typeface="Aptos" pitchFamily="34" charset="-120"/>
              </a:rPr>
              <a:t>Several counties include Tribal lands, and some small-area summaries could indirectly identify Tribal.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2100" dirty="0"/>
          </a:p>
          <a:p>
            <a:r>
              <a:rPr lang="en-US" sz="2100" dirty="0">
                <a:solidFill>
                  <a:srgbClr val="17364A"/>
                </a:solidFill>
                <a:latin typeface="Aptos" pitchFamily="34" charset="0"/>
                <a:ea typeface="Aptos" pitchFamily="34" charset="-122"/>
                <a:cs typeface="Aptos" pitchFamily="34" charset="-120"/>
              </a:rPr>
              <a:t>This question should be asked during use case intake, not after a data set has been assembled.</a:t>
            </a:r>
            <a:endParaRPr lang="en-US" sz="2100" dirty="0"/>
          </a:p>
          <a:p>
            <a:r>
              <a:rPr lang="en-US" sz="2100" dirty="0">
                <a:solidFill>
                  <a:srgbClr val="17364A"/>
                </a:solidFill>
                <a:latin typeface="Aptos" pitchFamily="34" charset="0"/>
                <a:ea typeface="Aptos" pitchFamily="34" charset="-122"/>
                <a:cs typeface="Aptos" pitchFamily="34" charset="-120"/>
              </a:rPr>
              <a:t>The answer may not be obvious because Tribal relevance can appear through geography, facility.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2100" dirty="0"/>
          </a:p>
          <a:p>
            <a:r>
              <a:rPr lang="en-US" sz="2100" dirty="0">
                <a:solidFill>
                  <a:srgbClr val="17364A"/>
                </a:solidFill>
                <a:latin typeface="Aptos" pitchFamily="34" charset="0"/>
                <a:ea typeface="Aptos" pitchFamily="34" charset="-122"/>
                <a:cs typeface="Aptos" pitchFamily="34" charset="-120"/>
              </a:rPr>
              <a:t>Proxy inference can create privacy risk, misclassification, and community harm.</a:t>
            </a:r>
            <a:endParaRPr lang="en-US" sz="2100" dirty="0"/>
          </a:p>
          <a:p>
            <a:r>
              <a:rPr lang="en-US" sz="2100" dirty="0">
                <a:solidFill>
                  <a:srgbClr val="17364A"/>
                </a:solidFill>
                <a:latin typeface="Aptos" pitchFamily="34" charset="0"/>
                <a:ea typeface="Aptos" pitchFamily="34" charset="-122"/>
                <a:cs typeface="Aptos" pitchFamily="34" charset="-120"/>
              </a:rPr>
              <a:t>It can also undermine Tribal authority if outside organizations create AI-derived labels about Tribal.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2100" dirty="0"/>
          </a:p>
          <a:p>
            <a:r>
              <a:rPr lang="en-US" sz="2100" dirty="0">
                <a:solidFill>
                  <a:srgbClr val="17364A"/>
                </a:solidFill>
                <a:latin typeface="Aptos" pitchFamily="34" charset="0"/>
                <a:ea typeface="Aptos" pitchFamily="34" charset="-122"/>
                <a:cs typeface="Aptos" pitchFamily="34" charset="-120"/>
              </a:rPr>
              <a:t>Public-facing summaries, dashboards, maps, chatbots, and reports may create harm if they identify small.</a:t>
            </a:r>
            <a:endParaRPr lang="en-US" sz="2100" dirty="0"/>
          </a:p>
          <a:p>
            <a:r>
              <a:rPr lang="en-US" sz="2100" dirty="0">
                <a:solidFill>
                  <a:srgbClr val="17364A"/>
                </a:solidFill>
                <a:latin typeface="Aptos" pitchFamily="34" charset="0"/>
                <a:ea typeface="Aptos" pitchFamily="34" charset="-122"/>
                <a:cs typeface="Aptos" pitchFamily="34" charset="-120"/>
              </a:rPr>
              <a:t>Tribal partners may require pre-review of reports, presentations, manuscripts, dashboard text, public.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2100" dirty="0"/>
          </a:p>
          <a:p>
            <a:r>
              <a:rPr lang="en-US" sz="2100" dirty="0">
                <a:solidFill>
                  <a:srgbClr val="17364A"/>
                </a:solidFill>
                <a:latin typeface="Aptos" pitchFamily="34" charset="0"/>
                <a:ea typeface="Aptos" pitchFamily="34" charset="-122"/>
                <a:cs typeface="Aptos" pitchFamily="34" charset="-120"/>
              </a:rPr>
              <a:t>This can lead to AI development without Tribal consultation, data sharing without appropriate.</a:t>
            </a:r>
            <a:endParaRPr lang="en-US" sz="2100" dirty="0"/>
          </a:p>
          <a:p>
            <a:r>
              <a:rPr lang="en-US" sz="2100" dirty="0">
                <a:solidFill>
                  <a:srgbClr val="17364A"/>
                </a:solidFill>
                <a:latin typeface="Aptos" pitchFamily="34" charset="0"/>
                <a:ea typeface="Aptos" pitchFamily="34" charset="-122"/>
                <a:cs typeface="Aptos" pitchFamily="34" charset="-120"/>
              </a:rPr>
              <a:t>The failure mode is often procedural rather than malicious: staff follow routine analytics practices.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2100" dirty="0"/>
          </a:p>
          <a:p>
            <a:r>
              <a:rPr lang="en-US" sz="2100" dirty="0">
                <a:solidFill>
                  <a:srgbClr val="17364A"/>
                </a:solidFill>
                <a:latin typeface="Aptos" pitchFamily="34" charset="0"/>
                <a:ea typeface="Aptos" pitchFamily="34" charset="-122"/>
                <a:cs typeface="Aptos" pitchFamily="34" charset="-120"/>
              </a:rPr>
              <a:t>If the project is already funded, contracted, designed, or near deployment before Tribal partners are.</a:t>
            </a:r>
            <a:endParaRPr lang="en-US" sz="2100" dirty="0"/>
          </a:p>
          <a:p>
            <a:r>
              <a:rPr lang="en-US" sz="2100" dirty="0">
                <a:solidFill>
                  <a:srgbClr val="17364A"/>
                </a:solidFill>
                <a:latin typeface="Aptos" pitchFamily="34" charset="0"/>
                <a:ea typeface="Aptos" pitchFamily="34" charset="-122"/>
                <a:cs typeface="Aptos" pitchFamily="34" charset="-120"/>
              </a:rPr>
              <a:t>This can create extractive relationships in which data and expertise flow outward while benefits,.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2100" dirty="0"/>
          </a:p>
          <a:p>
            <a:r>
              <a:rPr lang="en-US" sz="2100" dirty="0">
                <a:solidFill>
                  <a:srgbClr val="17364A"/>
                </a:solidFill>
                <a:latin typeface="Aptos" pitchFamily="34" charset="0"/>
                <a:ea typeface="Aptos" pitchFamily="34" charset="-122"/>
                <a:cs typeface="Aptos" pitchFamily="34" charset="-120"/>
              </a:rPr>
              <a:t>The intake form should require the proposer to identify known Tribal partners, anticipated benefits,.</a:t>
            </a:r>
            <a:endParaRPr lang="en-US" sz="2100" dirty="0"/>
          </a:p>
          <a:p>
            <a:r>
              <a:rPr lang="en-US" sz="2100" dirty="0">
                <a:solidFill>
                  <a:srgbClr val="17364A"/>
                </a:solidFill>
                <a:latin typeface="Aptos" pitchFamily="34" charset="0"/>
                <a:ea typeface="Aptos" pitchFamily="34" charset="-122"/>
                <a:cs typeface="Aptos" pitchFamily="34" charset="-120"/>
              </a:rPr>
              <a:t>A project should not advance to procurement, model development, pilot testing, or public release until.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2100" dirty="0"/>
          </a:p>
          <a:p>
            <a:r>
              <a:rPr lang="en-US" sz="2100" dirty="0">
                <a:solidFill>
                  <a:srgbClr val="17364A"/>
                </a:solidFill>
                <a:latin typeface="Aptos" pitchFamily="34" charset="0"/>
                <a:ea typeface="Aptos" pitchFamily="34" charset="-122"/>
                <a:cs typeface="Aptos" pitchFamily="34" charset="-120"/>
              </a:rPr>
              <a:t>They should ask whether the project has identified affected Tribal Nations, relevant Tribal laws or.</a:t>
            </a:r>
            <a:endParaRPr lang="en-US" sz="2100" dirty="0"/>
          </a:p>
          <a:p>
            <a:r>
              <a:rPr lang="en-US" sz="2100" dirty="0">
                <a:solidFill>
                  <a:srgbClr val="17364A"/>
                </a:solidFill>
                <a:latin typeface="Aptos" pitchFamily="34" charset="0"/>
                <a:ea typeface="Aptos" pitchFamily="34" charset="-122"/>
                <a:cs typeface="Aptos" pitchFamily="34" charset="-120"/>
              </a:rPr>
              <a:t>They should also consider whether the proposed AI use creates community benefit as defined by Tribal.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Select a proposed AI-supported public health project that could involve Tribal Nations, AI/AN.</a:t>
            </a:r>
            <a:endParaRPr lang="en-US" sz="2100" dirty="0"/>
          </a:p>
          <a:p>
            <a:r>
              <a:rPr lang="en-US" sz="2100" dirty="0">
                <a:solidFill>
                  <a:srgbClr val="17364A"/>
                </a:solidFill>
                <a:latin typeface="Aptos" pitchFamily="34" charset="0"/>
                <a:ea typeface="Aptos" pitchFamily="34" charset="-122"/>
                <a:cs typeface="Aptos" pitchFamily="34" charset="-120"/>
              </a:rPr>
              <a:t>The project may be a surveillance summary tool, predictive model, automated transcription workflow,.</a:t>
            </a:r>
            <a:endParaRPr lang="en-US" sz="2100" dirty="0"/>
          </a:p>
          <a:p>
            <a:r>
              <a:rPr lang="en-US" sz="2100" dirty="0">
                <a:solidFill>
                  <a:srgbClr val="17364A"/>
                </a:solidFill>
                <a:latin typeface="Aptos" pitchFamily="34" charset="0"/>
                <a:ea typeface="Aptos" pitchFamily="34" charset="-122"/>
                <a:cs typeface="Aptos" pitchFamily="34" charset="-120"/>
              </a:rPr>
              <a:t>Complete a Tribal sovereignty and Indigenous data governance screening memo for the project.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Select a proposed AI-supported public health project that could involve Tribal Nations, AI/AN.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2100" dirty="0"/>
          </a:p>
          <a:p>
            <a:r>
              <a:rPr lang="en-US" sz="2100" dirty="0">
                <a:solidFill>
                  <a:srgbClr val="17364A"/>
                </a:solidFill>
                <a:latin typeface="Aptos" pitchFamily="34" charset="0"/>
                <a:ea typeface="Aptos" pitchFamily="34" charset="-122"/>
                <a:cs typeface="Aptos" pitchFamily="34" charset="-120"/>
              </a:rPr>
              <a:t>The memo should be complete enough for a supervisor, AI governance body, Tribal liaison, legal counsel,.</a:t>
            </a:r>
            <a:endParaRPr lang="en-US" sz="2100" dirty="0"/>
          </a:p>
          <a:p>
            <a:r>
              <a:rPr lang="en-US" sz="2100" dirty="0">
                <a:solidFill>
                  <a:srgbClr val="17364A"/>
                </a:solidFill>
                <a:latin typeface="Aptos" pitchFamily="34" charset="0"/>
                <a:ea typeface="Aptos" pitchFamily="34" charset="-122"/>
                <a:cs typeface="Aptos" pitchFamily="34" charset="-120"/>
              </a:rPr>
              <a:t>It should distinguish known facts from assumptions and identify what cannot be decided until.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Global Indigenous Data Alliance.</a:t>
            </a:r>
            <a:endParaRPr lang="en-US" sz="2100" dirty="0"/>
          </a:p>
          <a:p>
            <a:r>
              <a:rPr lang="en-US" sz="2100" dirty="0">
                <a:solidFill>
                  <a:srgbClr val="17364A"/>
                </a:solidFill>
                <a:latin typeface="Aptos" pitchFamily="34" charset="0"/>
                <a:ea typeface="Aptos" pitchFamily="34" charset="-122"/>
                <a:cs typeface="Aptos" pitchFamily="34" charset="-120"/>
              </a:rPr>
              <a:t>CARE Principles for Indigenous Data Governance. https://www.gida-global.org/care</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Global Indigenous Data Alliance.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United States Indigenous Data Sovereignty Network.</a:t>
            </a:r>
            <a:endParaRPr lang="en-US" sz="2100" dirty="0"/>
          </a:p>
          <a:p>
            <a:r>
              <a:rPr lang="en-US" sz="2100" dirty="0">
                <a:solidFill>
                  <a:srgbClr val="17364A"/>
                </a:solidFill>
                <a:latin typeface="Aptos" pitchFamily="34" charset="0"/>
                <a:ea typeface="Aptos" pitchFamily="34" charset="-122"/>
                <a:cs typeface="Aptos" pitchFamily="34" charset="-120"/>
              </a:rPr>
              <a:t>Resources and information on Indigenous Data Sovereignty. https://usindigenousdata.org/</a:t>
            </a:r>
            <a:endParaRPr lang="en-US" sz="2100" dirty="0"/>
          </a:p>
          <a:p>
            <a:r>
              <a:rPr lang="en-US" sz="2100" dirty="0">
                <a:solidFill>
                  <a:srgbClr val="17364A"/>
                </a:solidFill>
                <a:latin typeface="Aptos" pitchFamily="34" charset="0"/>
                <a:ea typeface="Aptos" pitchFamily="34" charset="-122"/>
                <a:cs typeface="Aptos" pitchFamily="34" charset="-120"/>
              </a:rPr>
              <a:t>All of Us Research Program.</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United States Indigenous Data Sovereignty Network.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Brookings.</a:t>
            </a:r>
            <a:endParaRPr lang="en-US" sz="2100" dirty="0"/>
          </a:p>
          <a:p>
            <a:r>
              <a:rPr lang="en-US" sz="2100" dirty="0">
                <a:solidFill>
                  <a:srgbClr val="17364A"/>
                </a:solidFill>
                <a:latin typeface="Aptos" pitchFamily="34" charset="0"/>
                <a:ea typeface="Aptos" pitchFamily="34" charset="-122"/>
                <a:cs typeface="Aptos" pitchFamily="34" charset="-120"/>
              </a:rPr>
              <a:t>Digital sovereignty and Indigenous Nations resources. https://www.brookings.edu/</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Brookings.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2100" dirty="0"/>
          </a:p>
          <a:p>
            <a:r>
              <a:rPr lang="en-US" sz="2100" dirty="0">
                <a:solidFill>
                  <a:srgbClr val="17364A"/>
                </a:solidFill>
                <a:latin typeface="Aptos" pitchFamily="34" charset="0"/>
                <a:ea typeface="Aptos" pitchFamily="34" charset="-122"/>
                <a:cs typeface="Aptos" pitchFamily="34" charset="-120"/>
              </a:rPr>
              <a:t>2. Which statement best reflects Indigenous Data Sovereignty?</a:t>
            </a:r>
            <a:endParaRPr lang="en-US" sz="2100" dirty="0"/>
          </a:p>
          <a:p>
            <a:r>
              <a:rPr lang="en-US" sz="2100" dirty="0">
                <a:solidFill>
                  <a:srgbClr val="17364A"/>
                </a:solidFill>
                <a:latin typeface="Aptos" pitchFamily="34" charset="0"/>
                <a:ea typeface="Aptos" pitchFamily="34" charset="-122"/>
                <a:cs typeface="Aptos" pitchFamily="34" charset="-120"/>
              </a:rPr>
              <a:t>3. Which AI practice should be avoided unless explicitly approved through the appropriate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 NOT-OD-22-214: Supplemental Information to the NIH Policy for Data.</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 Tribal Health Research Office. Tribal Health Research Office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2100" dirty="0"/>
          </a:p>
          <a:p>
            <a:r>
              <a:rPr lang="en-US" sz="2100" dirty="0">
                <a:solidFill>
                  <a:srgbClr val="17364A"/>
                </a:solidFill>
                <a:latin typeface="Aptos" pitchFamily="34" charset="0"/>
                <a:ea typeface="Aptos" pitchFamily="34" charset="-122"/>
                <a:cs typeface="Aptos" pitchFamily="34" charset="-120"/>
              </a:rPr>
              <a:t>Brookings. Digital sovereignty and Indigenous Nations resources.: https://www.brookings.edu/</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2026-07-12T20:16:00Z</dcterms:created>
  <dcterms:modified xsi:type="dcterms:W3CDTF">2026-07-12T20:16:00Z</dcterms:modified>
</cp:coreProperties>
</file>