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Context</a:t>
            </a:r>
            <a:endParaRPr lang="en-US" sz="2700" dirty="0"/>
          </a:p>
        </p:txBody>
      </p:sp>
      <p:sp>
        <p:nvSpPr>
          <p:cNvPr id="7" name="Text 5"/>
          <p:cNvSpPr/>
          <p:nvPr/>
        </p:nvSpPr>
        <p:spPr>
          <a:xfrm>
            <a:off x="822960" y="1325880"/>
            <a:ext cx="10378440" cy="137160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Level: intermediate/practitioner</a:t>
            </a:r>
            <a:endParaRPr lang="en-US" sz="1600" dirty="0"/>
          </a:p>
          <a:p>
            <a:r>
              <a:rPr lang="en-US" sz="1600" dirty="0">
                <a:solidFill>
                  <a:srgbClr val="17364A"/>
                </a:solidFill>
                <a:latin typeface="Aptos" pitchFamily="34" charset="0"/>
                <a:ea typeface="Aptos" pitchFamily="34" charset="-122"/>
                <a:cs typeface="Aptos" pitchFamily="34" charset="-120"/>
              </a:rPr>
              <a:t>Primary track: Governance and Security Track</a:t>
            </a:r>
            <a:endParaRPr lang="en-US" sz="1600" dirty="0"/>
          </a:p>
          <a:p>
            <a:r>
              <a:rPr lang="en-US" sz="1600" dirty="0">
                <a:solidFill>
                  <a:srgbClr val="17364A"/>
                </a:solidFill>
                <a:latin typeface="Aptos" pitchFamily="34" charset="0"/>
                <a:ea typeface="Aptos" pitchFamily="34" charset="-122"/>
                <a:cs typeface="Aptos" pitchFamily="34" charset="-120"/>
              </a:rPr>
              <a:t>Appears in tracks: technical-architecture, governance-and-security, operations-and-data-quality</a:t>
            </a:r>
            <a:endParaRPr lang="en-US" sz="1600" dirty="0"/>
          </a:p>
        </p:txBody>
      </p:sp>
      <p:sp>
        <p:nvSpPr>
          <p:cNvPr id="8" name="Text 6"/>
          <p:cNvSpPr/>
          <p:nvPr/>
        </p:nvSpPr>
        <p:spPr>
          <a:xfrm>
            <a:off x="822960" y="2743200"/>
            <a:ext cx="10378440" cy="2834640"/>
          </a:xfrm>
          <a:prstGeom prst="rect">
            <a:avLst/>
          </a:prstGeom>
          <a:noFill/>
          <a:ln/>
        </p:spPr>
        <p:txBody>
          <a:bodyPr wrap="square" lIns="1016" tIns="1016" rIns="1016" bIns="1016" rtlCol="0" anchor="t">
            <a:normAutofit/>
          </a:bodyPr>
          <a:lstStyle/>
          <a:p>
            <a:pPr indent="0" marL="0">
              <a:buNone/>
            </a:pPr>
            <a:r>
              <a:rPr lang="en-US" sz="140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Learning Objectives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 permissions.</a:t>
            </a:r>
            <a:endParaRPr lang="en-US" sz="1450" dirty="0"/>
          </a:p>
          <a:p>
            <a:r>
              <a:rPr lang="en-US" sz="1450" dirty="0">
                <a:solidFill>
                  <a:srgbClr val="17364A"/>
                </a:solidFill>
                <a:latin typeface="Aptos" pitchFamily="34" charset="0"/>
                <a:ea typeface="Aptos" pitchFamily="34" charset="-122"/>
                <a:cs typeface="Aptos" pitchFamily="34" charset="-120"/>
              </a:rPr>
              <a:t>Apply least-privilege principles to AI-supported public health workflows.</a:t>
            </a:r>
            <a:endParaRPr lang="en-US" sz="1450" dirty="0"/>
          </a:p>
          <a:p>
            <a:r>
              <a:rPr lang="en-US" sz="1450" dirty="0">
                <a:solidFill>
                  <a:srgbClr val="17364A"/>
                </a:solidFill>
                <a:latin typeface="Aptos" pitchFamily="34" charset="0"/>
                <a:ea typeface="Aptos" pitchFamily="34" charset="-122"/>
                <a:cs typeface="Aptos" pitchFamily="34" charset="-120"/>
              </a:rPr>
              <a:t>Identify access risks for read-only, retrieval, summarization, and write-back AI functions.</a:t>
            </a:r>
            <a:endParaRPr lang="en-US" sz="1450" dirty="0"/>
          </a:p>
          <a:p>
            <a:r>
              <a:rPr lang="en-US" sz="1450" dirty="0">
                <a:solidFill>
                  <a:srgbClr val="17364A"/>
                </a:solidFill>
                <a:latin typeface="Aptos" pitchFamily="34" charset="0"/>
                <a:ea typeface="Aptos" pitchFamily="34" charset="-122"/>
                <a:cs typeface="Aptos" pitchFamily="34" charset="-120"/>
              </a:rPr>
              <a:t>Define audit log and approval requirements for AI tools that access sensitive systems or data.</a:t>
            </a:r>
            <a:endParaRPr lang="en-US" sz="1450" dirty="0"/>
          </a:p>
          <a:p>
            <a:r>
              <a:rPr lang="en-US" sz="1450" dirty="0">
                <a:solidFill>
                  <a:srgbClr val="17364A"/>
                </a:solidFill>
                <a:latin typeface="Aptos" pitchFamily="34" charset="0"/>
                <a:ea typeface="Aptos" pitchFamily="34" charset="-122"/>
                <a:cs typeface="Aptos" pitchFamily="34" charset="-120"/>
              </a:rPr>
              <a:t>Create an access and permissions review for an AI workflow.</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Module Overview</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sz="14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Jurisdiction and Agency Policy Note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a:t>
            </a:r>
            <a:endParaRPr lang="en-US" sz="14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Public Health Example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a:t>
            </a:r>
            <a:endParaRPr lang="en-US" sz="14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a:t>
            </a:r>
            <a:endParaRPr lang="en-US" sz="14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a:t>
            </a:r>
            <a:endParaRPr lang="en-US" sz="14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Risks and failure modes include the following: Service accounts with broad access to sensitive data. AI tools retrieving data unrelated to the approved use case.</a:t>
            </a:r>
            <a:endParaRPr lang="en-US" sz="14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Write-back actions occurring without human approval. Shared accounts preventing accountability. Insufficient logs to investigate data access or output generation.</a:t>
            </a:r>
            <a:endParaRPr lang="en-US" sz="14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Recommended guardrails include the following: Use role-based and purpose-based access controls. Apply least privilege to users, service accounts, APIs, and agents.</a:t>
            </a:r>
            <a:endParaRPr lang="en-US" sz="14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Require stronger approval for write-back, external transmission, and automated actions. Avoid shared accounts and undocumented service identities. Maintain detailed audit logs for AI access and actions.</a:t>
            </a:r>
            <a:endParaRPr lang="en-US" sz="14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Where does this topic appear in your agency, program, or workflow? Which staff roles would need to understand or apply this concept before AI use is approved? What could go wrong if this topic is not addressed before implementation?</a:t>
            </a:r>
            <a:endParaRPr lang="en-US" sz="14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Reflection Questions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What evidence would governance, leadership, or operations staff need before moving forward? Which policy, data, equity, privacy, security, or workflow questions remain unresolved?</a:t>
            </a:r>
            <a:endParaRPr lang="en-US" sz="14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Practical Exercise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Create an identity, access, and permissions review for one AI-supported workflow. Identify users, service accounts, systems, data accessed, read/write permissions, approval points, prohibited actions, audit log requirements, and escalation triggers.</a:t>
            </a:r>
            <a:endParaRPr lang="en-US" sz="14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Access and permissions review List of user and service identities Least-privilege recommendation</a:t>
            </a:r>
            <a:endParaRPr lang="en-US" sz="14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27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420" dirty="0">
                <a:solidFill>
                  <a:srgbClr val="17364A"/>
                </a:solidFill>
                <a:latin typeface="Aptos" pitchFamily="34" charset="0"/>
                <a:ea typeface="Aptos" pitchFamily="34" charset="-122"/>
                <a:cs typeface="Aptos" pitchFamily="34" charset="-120"/>
              </a:rPr>
              <a:t>Write-back approval rules Audit log requirements</a:t>
            </a:r>
            <a:endParaRPr lang="en-US" sz="14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Expected Assignment</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Access and permissions review</a:t>
            </a:r>
            <a:endParaRPr lang="en-US" sz="1450" dirty="0"/>
          </a:p>
          <a:p>
            <a:r>
              <a:rPr lang="en-US" sz="1450" dirty="0">
                <a:solidFill>
                  <a:srgbClr val="17364A"/>
                </a:solidFill>
                <a:latin typeface="Aptos" pitchFamily="34" charset="0"/>
                <a:ea typeface="Aptos" pitchFamily="34" charset="-122"/>
                <a:cs typeface="Aptos" pitchFamily="34" charset="-120"/>
              </a:rPr>
              <a:t>List of user and service identities</a:t>
            </a:r>
            <a:endParaRPr lang="en-US" sz="1450" dirty="0"/>
          </a:p>
          <a:p>
            <a:r>
              <a:rPr lang="en-US" sz="1450" dirty="0">
                <a:solidFill>
                  <a:srgbClr val="17364A"/>
                </a:solidFill>
                <a:latin typeface="Aptos" pitchFamily="34" charset="0"/>
                <a:ea typeface="Aptos" pitchFamily="34" charset="-122"/>
                <a:cs typeface="Aptos" pitchFamily="34" charset="-120"/>
              </a:rPr>
              <a:t>Least-privilege recommendation</a:t>
            </a:r>
            <a:endParaRPr lang="en-US" sz="1450" dirty="0"/>
          </a:p>
          <a:p>
            <a:r>
              <a:rPr lang="en-US" sz="1450" dirty="0">
                <a:solidFill>
                  <a:srgbClr val="17364A"/>
                </a:solidFill>
                <a:latin typeface="Aptos" pitchFamily="34" charset="0"/>
                <a:ea typeface="Aptos" pitchFamily="34" charset="-122"/>
                <a:cs typeface="Aptos" pitchFamily="34" charset="-120"/>
              </a:rPr>
              <a:t>Write-back approval rules</a:t>
            </a:r>
            <a:endParaRPr lang="en-US" sz="1450" dirty="0"/>
          </a:p>
          <a:p>
            <a:r>
              <a:rPr lang="en-US" sz="1450" dirty="0">
                <a:solidFill>
                  <a:srgbClr val="17364A"/>
                </a:solidFill>
                <a:latin typeface="Aptos" pitchFamily="34" charset="0"/>
                <a:ea typeface="Aptos" pitchFamily="34" charset="-122"/>
                <a:cs typeface="Aptos" pitchFamily="34" charset="-120"/>
              </a:rPr>
              <a:t>Audit log requirements</a:t>
            </a:r>
            <a:endParaRPr lang="en-US" sz="14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Knowledge Check</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1. What is authorization?</a:t>
            </a:r>
            <a:endParaRPr lang="en-US" sz="1450" dirty="0"/>
          </a:p>
          <a:p>
            <a:r>
              <a:rPr lang="en-US" sz="1450" dirty="0">
                <a:solidFill>
                  <a:srgbClr val="17364A"/>
                </a:solidFill>
                <a:latin typeface="Aptos" pitchFamily="34" charset="0"/>
                <a:ea typeface="Aptos" pitchFamily="34" charset="-122"/>
                <a:cs typeface="Aptos" pitchFamily="34" charset="-120"/>
              </a:rPr>
              <a:t>2. Why are service accounts important in AI workflows?</a:t>
            </a:r>
            <a:endParaRPr lang="en-US" sz="1450" dirty="0"/>
          </a:p>
          <a:p>
            <a:r>
              <a:rPr lang="en-US" sz="1450" dirty="0">
                <a:solidFill>
                  <a:srgbClr val="17364A"/>
                </a:solidFill>
                <a:latin typeface="Aptos" pitchFamily="34" charset="0"/>
                <a:ea typeface="Aptos" pitchFamily="34" charset="-122"/>
                <a:cs typeface="Aptos" pitchFamily="34" charset="-120"/>
              </a:rPr>
              <a:t>3. What does least privilege mean?</a:t>
            </a:r>
            <a:endParaRPr lang="en-US" sz="1450" dirty="0"/>
          </a:p>
          <a:p>
            <a:r>
              <a:rPr lang="en-US" sz="1450" dirty="0">
                <a:solidFill>
                  <a:srgbClr val="17364A"/>
                </a:solidFill>
                <a:latin typeface="Aptos" pitchFamily="34" charset="0"/>
                <a:ea typeface="Aptos" pitchFamily="34" charset="-122"/>
                <a:cs typeface="Aptos" pitchFamily="34" charset="-120"/>
              </a:rPr>
              <a:t>4. Which AI function generally requires stronger safeguards?</a:t>
            </a:r>
            <a:endParaRPr lang="en-US" sz="1450" dirty="0"/>
          </a:p>
          <a:p>
            <a:r>
              <a:rPr lang="en-US" sz="1450" dirty="0">
                <a:solidFill>
                  <a:srgbClr val="17364A"/>
                </a:solidFill>
                <a:latin typeface="Aptos" pitchFamily="34" charset="0"/>
                <a:ea typeface="Aptos" pitchFamily="34" charset="-122"/>
                <a:cs typeface="Aptos" pitchFamily="34" charset="-120"/>
              </a:rPr>
              <a:t>5. What is strong completion evidence?</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NIST Artificial Intelligence Risk Management Framework: https://www.nist.gov/itl/ai-risk-management-framework</a:t>
            </a:r>
            <a:endParaRPr lang="en-US" sz="1450" dirty="0"/>
          </a:p>
          <a:p>
            <a:r>
              <a:rPr lang="en-US" sz="1450" dirty="0">
                <a:solidFill>
                  <a:srgbClr val="17364A"/>
                </a:solidFill>
                <a:latin typeface="Aptos" pitchFamily="34" charset="0"/>
                <a:ea typeface="Aptos" pitchFamily="34" charset="-122"/>
                <a:cs typeface="Aptos" pitchFamily="34" charset="-120"/>
              </a:rPr>
              <a:t>NIST Generative AI Profile: https://www.nist.gov/publications/artificial-intelligence-risk-management-framework-generative-artificial-intelligence</a:t>
            </a:r>
            <a:endParaRPr lang="en-US" sz="1450" dirty="0"/>
          </a:p>
          <a:p>
            <a:r>
              <a:rPr lang="en-US" sz="1450" dirty="0">
                <a:solidFill>
                  <a:srgbClr val="17364A"/>
                </a:solidFill>
                <a:latin typeface="Aptos" pitchFamily="34" charset="0"/>
                <a:ea typeface="Aptos" pitchFamily="34" charset="-122"/>
                <a:cs typeface="Aptos" pitchFamily="34" charset="-120"/>
              </a:rPr>
              <a:t>CDC Public Health Data Strategy and Data Modernization resources: https://www.cdc.gov/public-health-data-strategy/php/about/index.html</a:t>
            </a:r>
            <a:endParaRPr lang="en-US" sz="1450" dirty="0"/>
          </a:p>
          <a:p>
            <a:r>
              <a:rPr lang="en-US" sz="1450" dirty="0">
                <a:solidFill>
                  <a:srgbClr val="17364A"/>
                </a:solidFill>
                <a:latin typeface="Aptos" pitchFamily="34" charset="0"/>
                <a:ea typeface="Aptos" pitchFamily="34" charset="-122"/>
                <a:cs typeface="Aptos" pitchFamily="34" charset="-120"/>
              </a:rPr>
              <a:t>OWASP guidance for LLM application security</a:t>
            </a:r>
            <a:endParaRPr lang="en-US" sz="1450" dirty="0"/>
          </a:p>
          <a:p>
            <a:r>
              <a:rPr lang="en-US" sz="1450" dirty="0">
                <a:solidFill>
                  <a:srgbClr val="17364A"/>
                </a:solidFill>
                <a:latin typeface="Aptos" pitchFamily="34" charset="0"/>
                <a:ea typeface="Aptos" pitchFamily="34" charset="-122"/>
                <a:cs typeface="Aptos" pitchFamily="34" charset="-120"/>
              </a:rPr>
              <a:t>Agency policies for privacy, cybersecurity, records, procurement, accessibility, and public communications</a:t>
            </a:r>
            <a:endParaRPr lang="en-US" sz="14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66928"/>
          </a:xfrm>
          <a:prstGeom prst="rect">
            <a:avLst/>
          </a:prstGeom>
          <a:noFill/>
          <a:ln/>
        </p:spPr>
        <p:txBody>
          <a:bodyPr wrap="square" lIns="0" tIns="0" rIns="0" bIns="0" rtlCol="0" anchor="ctr">
            <a:normAutofit/>
          </a:bodyPr>
          <a:lstStyle/>
          <a:p>
            <a:pPr indent="0" marL="0">
              <a:buNone/>
            </a:pPr>
            <a:r>
              <a:rPr lang="en-US" sz="2700" b="1" dirty="0">
                <a:solidFill>
                  <a:srgbClr val="003A63"/>
                </a:solidFill>
                <a:latin typeface="Aptos Display" pitchFamily="34" charset="0"/>
                <a:ea typeface="Aptos Display" pitchFamily="34" charset="-122"/>
                <a:cs typeface="Aptos Display" pitchFamily="34" charset="-120"/>
              </a:rPr>
              <a:t>References and Resources Continued</a:t>
            </a:r>
            <a:endParaRPr lang="en-US" sz="2700" dirty="0"/>
          </a:p>
        </p:txBody>
      </p:sp>
      <p:sp>
        <p:nvSpPr>
          <p:cNvPr id="7" name="Text 5"/>
          <p:cNvSpPr/>
          <p:nvPr/>
        </p:nvSpPr>
        <p:spPr>
          <a:xfrm>
            <a:off x="822960" y="1325880"/>
            <a:ext cx="10378440" cy="4800600"/>
          </a:xfrm>
          <a:prstGeom prst="rect">
            <a:avLst/>
          </a:prstGeom>
          <a:noFill/>
          <a:ln/>
        </p:spPr>
        <p:txBody>
          <a:bodyPr wrap="square" lIns="635" tIns="635" rIns="635" bIns="635" rtlCol="0" anchor="t">
            <a:normAutofit/>
          </a:bodyPr>
          <a:lstStyle/>
          <a:p>
            <a:r>
              <a:rPr lang="en-US" sz="14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4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2026-07-12T18:22:13Z</dcterms:created>
  <dcterms:modified xsi:type="dcterms:W3CDTF">2026-07-12T18:22:13Z</dcterms:modified>
</cp:coreProperties>
</file>