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3ecb9f244f416a" /><Relationship Type="http://schemas.openxmlformats.org/officeDocument/2006/relationships/extended-properties" Target="/docProps/app.xml" Id="Rab3e2ac530d14c29" /><Relationship Type="http://schemas.openxmlformats.org/officeDocument/2006/relationships/officeDocument" Target="/ppt/presentation.xml" Id="R876ce55df81e4420" /></Relationships>
</file>

<file path=ppt/presentation.xml><?xml version="1.0" encoding="utf-8"?>
<p:presentation xmlns:p="http://schemas.openxmlformats.org/presentationml/2006/main">
  <p:sldMasterIdLst>
    <p:sldMasterId xmlns:r="http://schemas.openxmlformats.org/officeDocument/2006/relationships" id="2147483648" r:id="R0b9cf4cad5fb49aa"/>
  </p:sldMasterIdLst>
  <p:notesMasterIdLst>
    <p:notesMasterId xmlns:r="http://schemas.openxmlformats.org/officeDocument/2006/relationships" r:id="R6ba9c78f4b2e4e40"/>
  </p:notesMasterIdLst>
  <p:sldIdLst>
    <p:sldId xmlns:r="http://schemas.openxmlformats.org/officeDocument/2006/relationships" id="256" r:id="R18caa540ec9e4cf8"/>
    <p:sldId xmlns:r="http://schemas.openxmlformats.org/officeDocument/2006/relationships" id="257" r:id="R57a3ae4b89334b5f"/>
    <p:sldId xmlns:r="http://schemas.openxmlformats.org/officeDocument/2006/relationships" id="258" r:id="R3ee0a13bdab24b72"/>
    <p:sldId xmlns:r="http://schemas.openxmlformats.org/officeDocument/2006/relationships" id="259" r:id="R7668ef92633d4f97"/>
    <p:sldId xmlns:r="http://schemas.openxmlformats.org/officeDocument/2006/relationships" id="260" r:id="R2847c4f3d2394b7d"/>
    <p:sldId xmlns:r="http://schemas.openxmlformats.org/officeDocument/2006/relationships" id="261" r:id="R04e20a5d7bca4203"/>
    <p:sldId xmlns:r="http://schemas.openxmlformats.org/officeDocument/2006/relationships" id="262" r:id="R235f02a753dc4578"/>
    <p:sldId xmlns:r="http://schemas.openxmlformats.org/officeDocument/2006/relationships" id="263" r:id="R52467cef5cd243f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d76e4353d74807" /><Relationship Type="http://schemas.openxmlformats.org/officeDocument/2006/relationships/slideMaster" Target="/ppt/slideMasters/slideMaster1.xml" Id="R0b9cf4cad5fb49aa" /><Relationship Type="http://schemas.openxmlformats.org/officeDocument/2006/relationships/notesMaster" Target="/ppt/notesMasters/notesMaster1.xml" Id="R6ba9c78f4b2e4e40" /><Relationship Type="http://schemas.openxmlformats.org/officeDocument/2006/relationships/presProps" Target="/ppt/presProps.xml" Id="Re5d617b99be14f56" /><Relationship Type="http://schemas.openxmlformats.org/officeDocument/2006/relationships/tableStyles" Target="/ppt/tableStyles.xml" Id="R076c1d32303d4c8d" /><Relationship Type="http://schemas.openxmlformats.org/officeDocument/2006/relationships/slide" Target="/ppt/slides/slide1.xml" Id="R18caa540ec9e4cf8" /><Relationship Type="http://schemas.openxmlformats.org/officeDocument/2006/relationships/slide" Target="/ppt/slides/slide2.xml" Id="R57a3ae4b89334b5f" /><Relationship Type="http://schemas.openxmlformats.org/officeDocument/2006/relationships/slide" Target="/ppt/slides/slide3.xml" Id="R3ee0a13bdab24b72" /><Relationship Type="http://schemas.openxmlformats.org/officeDocument/2006/relationships/slide" Target="/ppt/slides/slide4.xml" Id="R7668ef92633d4f97" /><Relationship Type="http://schemas.openxmlformats.org/officeDocument/2006/relationships/slide" Target="/ppt/slides/slide5.xml" Id="R2847c4f3d2394b7d" /><Relationship Type="http://schemas.openxmlformats.org/officeDocument/2006/relationships/slide" Target="/ppt/slides/slide6.xml" Id="R04e20a5d7bca4203" /><Relationship Type="http://schemas.openxmlformats.org/officeDocument/2006/relationships/slide" Target="/ppt/slides/slide7.xml" Id="R235f02a753dc4578" /><Relationship Type="http://schemas.openxmlformats.org/officeDocument/2006/relationships/slide" Target="/ppt/slides/slide8.xml" Id="R52467cef5cd243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577a82326d4b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7a31a341a1413b" /><Relationship Type="http://schemas.openxmlformats.org/officeDocument/2006/relationships/notesMaster" Target="/ppt/notesMasters/notesMaster1.xml" Id="R6bcaf316e6ae4f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8ff04932ac4dbb" /><Relationship Type="http://schemas.openxmlformats.org/officeDocument/2006/relationships/notesMaster" Target="/ppt/notesMasters/notesMaster1.xml" Id="R4c83b95a5a4546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86a8f20cc44e7e" /><Relationship Type="http://schemas.openxmlformats.org/officeDocument/2006/relationships/notesMaster" Target="/ppt/notesMasters/notesMaster1.xml" Id="Rb1c195f7d7ca48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59c8b3e9864dbd" /><Relationship Type="http://schemas.openxmlformats.org/officeDocument/2006/relationships/notesMaster" Target="/ppt/notesMasters/notesMaster1.xml" Id="R44dea5d300334e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51f835b76a4ee1" /><Relationship Type="http://schemas.openxmlformats.org/officeDocument/2006/relationships/notesMaster" Target="/ppt/notesMasters/notesMaster1.xml" Id="Rf1c610b45e9643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147a0ed4f94cb9" /><Relationship Type="http://schemas.openxmlformats.org/officeDocument/2006/relationships/notesMaster" Target="/ppt/notesMasters/notesMaster1.xml" Id="R3d367baa30944a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d1dacfea1b46f9" /><Relationship Type="http://schemas.openxmlformats.org/officeDocument/2006/relationships/notesMaster" Target="/ppt/notesMasters/notesMaster1.xml" Id="Rd77628f60dfb40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6bfaea859b4e68" /><Relationship Type="http://schemas.openxmlformats.org/officeDocument/2006/relationships/notesMaster" Target="/ppt/notesMasters/notesMaster1.xml" Id="R132a23ec7ed041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AI-Supported Public Health Workflows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can support signal detection, evidence gathering, analysis, synthesis, briefing, communication, and decision support.</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AI-Supported Public Health Workflows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7, 10, 11 and Tools 31, 29, 41.</a:t>
            </a:r>
          </a:p>
          <a:p xmlns:a="http://schemas.openxmlformats.org/drawingml/2006/main">
            <a:r>
              <a:t>Emphasize the core guardrail: Match the tool to workflow stage and keep humans responsible for decisions.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AI-Supported Public Health Workflows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7, 10, 11 and Tools 31, 29, 41.</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AI-Supported Public Health Workflows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7, 10, 11 and Tools 31, 29, 41.</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AI-Supported Public Health Workflows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7, 10, 11 and Tools 31, 29, 41.</a:t>
            </a:r>
          </a:p>
          <a:p xmlns:a="http://schemas.openxmlformats.org/drawingml/2006/main">
            <a:r>
              <a:t>Invite participants to identify where these practices would need to be documented in their own department.</a:t>
            </a:r>
          </a:p>
          <a:p xmlns:a="http://schemas.openxmlformats.org/drawingml/2006/main">
            <a:r>
              <a:t>Start with Workflow Mapping Questions,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AI-Supported Public Health Workflows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7, 10, 11 and Tools 31, 29, 41.</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AI-Supported Public Health Workflows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7, 10, 11 and Tools 31, 29, 41.</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workflow map, Workflow risk and control table, Pilot success measures.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AI-Supported Public Health Workflows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7, 10, 11 and Tools 31, 29, 41.</a:t>
            </a:r>
          </a:p>
          <a:p xmlns:a="http://schemas.openxmlformats.org/drawingml/2006/main">
            <a:r>
              <a:t>Point participants to the first resource: CDC Data Modernization Initiative.</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ce1d8094ae4f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061d9d791649dd" /><Relationship Type="http://schemas.openxmlformats.org/officeDocument/2006/relationships/slideLayout" Target="/ppt/slideLayouts/slideLayout1.xml" Id="Rb226ec52631d4f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26ec52631d4f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6cc03621584e59" /><Relationship Type="http://schemas.openxmlformats.org/officeDocument/2006/relationships/image" Target="/ppt/media/image.png" Id="Redd77c2f833f4241" /><Relationship Type="http://schemas.openxmlformats.org/officeDocument/2006/relationships/notesSlide" Target="/ppt/notesSlides/notesSlide1.xml" Id="Ra64a17f777d44d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0d433d105241c0" /><Relationship Type="http://schemas.openxmlformats.org/officeDocument/2006/relationships/notesSlide" Target="/ppt/notesSlides/notesSlide2.xml" Id="Ra8ca4ffb16144e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9a7c68b3434cfa" /><Relationship Type="http://schemas.openxmlformats.org/officeDocument/2006/relationships/notesSlide" Target="/ppt/notesSlides/notesSlide3.xml" Id="Rdcc83e418e1a4e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2bb6a0e69746c7" /><Relationship Type="http://schemas.openxmlformats.org/officeDocument/2006/relationships/notesSlide" Target="/ppt/notesSlides/notesSlide4.xml" Id="R2fa9e1723dcc49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55f4f2cfda4759" /><Relationship Type="http://schemas.openxmlformats.org/officeDocument/2006/relationships/notesSlide" Target="/ppt/notesSlides/notesSlide5.xml" Id="Rf15d174090e94c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f98321263446fc" /><Relationship Type="http://schemas.openxmlformats.org/officeDocument/2006/relationships/notesSlide" Target="/ppt/notesSlides/notesSlide6.xml" Id="Ra93f9541d88c47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bf64a232c64301" /><Relationship Type="http://schemas.openxmlformats.org/officeDocument/2006/relationships/notesSlide" Target="/ppt/notesSlides/notesSlide7.xml" Id="R1571d0ecd67d43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4b7d9e75964a84" /><Relationship Type="http://schemas.openxmlformats.org/officeDocument/2006/relationships/notesSlide" Target="/ppt/notesSlides/notesSlide8.xml" Id="Rdcaa0da506ea43d6"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dd77c2f833f4241"/>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B97686-0DFC-4B1A-B637-42FA639D31B2}"/>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5</a:t>
            </a:r>
          </a:p>
        </p:txBody>
      </p:sp>
      <p:sp>
        <p:nvSpPr>
          <p:cNvPr id="3" name="">
            <a:extLst xmlns:a="http://schemas.openxmlformats.org/drawingml/2006/main">
              <a:ext uri="{FF2B5EF4-FFF2-40B4-BE49-F238E27FC236}">
                <a16:creationId xmlns:a16="http://schemas.microsoft.com/office/drawing/2014/main" id="{EF1C8E44-4824-48EC-9E96-A723DDB7CD57}"/>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AI-Supported Public Health Workflows</a:t>
            </a:r>
          </a:p>
        </p:txBody>
      </p:sp>
      <p:sp>
        <p:nvSpPr>
          <p:cNvPr id="4" name="">
            <a:extLst xmlns:a="http://schemas.openxmlformats.org/drawingml/2006/main">
              <a:ext uri="{FF2B5EF4-FFF2-40B4-BE49-F238E27FC236}">
                <a16:creationId xmlns:a16="http://schemas.microsoft.com/office/drawing/2014/main" id="{49FC4A84-B370-4319-BCFE-6A5682DE18EB}"/>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982B6793-6942-4161-A50C-9FEB44032FFF}"/>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87E866A-6E04-4FF7-99B9-C5818988854A}"/>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8531603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AD3D5A-319C-485F-8BF6-8537D5FE8EB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98F2A99-977E-400D-A0C3-87681F44A29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89FE093A-484B-47CD-B527-52BDB0A636F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C4D6C01-FB75-425F-9F3B-D458C287B2AC}"/>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can support signal detection, evidence gathering, analysis, synthesis, briefing, communication, and decision support.</a:t>
            </a:r>
          </a:p>
        </p:txBody>
      </p:sp>
      <p:sp>
        <p:nvSpPr>
          <p:cNvPr id="5" name="">
            <a:extLst xmlns:a="http://schemas.openxmlformats.org/drawingml/2006/main">
              <a:ext uri="{FF2B5EF4-FFF2-40B4-BE49-F238E27FC236}">
                <a16:creationId xmlns:a16="http://schemas.microsoft.com/office/drawing/2014/main" id="{B1180014-25D2-4DE5-9401-6E6D5FB9DB9B}"/>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6F5A374-A70E-4868-AA73-F53502283A36}"/>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E145106-5B65-4D83-B656-33F9BB4DA1B4}"/>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B19B4028-6E02-4BA1-B45E-7A321B28D5D3}"/>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projects often fail when they are not anchored in a real workflow. Public health work includes handoffs, legal authorities, partner relationships, community trust, and time-sensitive decisions. Workflow mapping helps agencies find where AI.</a:t>
            </a:r>
          </a:p>
        </p:txBody>
      </p:sp>
      <p:sp>
        <p:nvSpPr>
          <p:cNvPr id="9" name="">
            <a:extLst xmlns:a="http://schemas.openxmlformats.org/drawingml/2006/main">
              <a:ext uri="{FF2B5EF4-FFF2-40B4-BE49-F238E27FC236}">
                <a16:creationId xmlns:a16="http://schemas.microsoft.com/office/drawing/2014/main" id="{BEA27F23-028E-436A-9C23-9CA3E129D8E8}"/>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CBA5A1B-7BFE-4EC3-9F38-D6590A4EB20C}"/>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01433E95-B276-4111-939E-A4D05BB9655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52E24DBB-C24C-4CD9-9743-FEDF2A63E4F8}"/>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Match the tool to workflow stage and keep humans responsible for decisions.</a:t>
            </a:r>
          </a:p>
        </p:txBody>
      </p:sp>
      <p:sp>
        <p:nvSpPr>
          <p:cNvPr id="13" name="">
            <a:extLst xmlns:a="http://schemas.openxmlformats.org/drawingml/2006/main">
              <a:ext uri="{FF2B5EF4-FFF2-40B4-BE49-F238E27FC236}">
                <a16:creationId xmlns:a16="http://schemas.microsoft.com/office/drawing/2014/main" id="{D7362EA5-5D61-4174-A570-EE3702C6093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AI-Supported Public Health Workflows</a:t>
            </a:r>
          </a:p>
        </p:txBody>
      </p:sp>
      <p:sp>
        <p:nvSpPr>
          <p:cNvPr id="14" name="">
            <a:extLst xmlns:a="http://schemas.openxmlformats.org/drawingml/2006/main">
              <a:ext uri="{FF2B5EF4-FFF2-40B4-BE49-F238E27FC236}">
                <a16:creationId xmlns:a16="http://schemas.microsoft.com/office/drawing/2014/main" id="{C75E670D-CC3B-468B-B1C5-E5F58CB0FFA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79063981"/>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DDE0941-3A04-451C-816D-E205D8EC17B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0482889-186A-4ADD-99FF-4AA8D97B72D9}"/>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09CF0147-7909-40B8-8CA4-824BB0806E2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52EDEA9-6C30-44C7-A38C-7C77A0E06D84}"/>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F9CF0065-6B6E-4ECC-A5A0-5EA0D024A1D4}"/>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AI-Supported Public Health Workflows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8C266630-B8FE-4236-BD84-E036158D78B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AI-Supported Public Health Workflows</a:t>
            </a:r>
          </a:p>
        </p:txBody>
      </p:sp>
      <p:sp>
        <p:nvSpPr>
          <p:cNvPr id="7" name="">
            <a:extLst xmlns:a="http://schemas.openxmlformats.org/drawingml/2006/main">
              <a:ext uri="{FF2B5EF4-FFF2-40B4-BE49-F238E27FC236}">
                <a16:creationId xmlns:a16="http://schemas.microsoft.com/office/drawing/2014/main" id="{24FA1017-82B7-4D50-BD60-1FCA0AC5C20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2805594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CBA5BF-57D5-4BF5-9CFA-69F9F99FDC8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E4F2740-8C4E-4448-83C4-138A02C3EFB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48E98DB2-DD34-49E0-A2C7-EBA8CD3D377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3684CBE-4782-4838-91D7-CFD2E093C3F3}"/>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is most useful when it is tied to a specific public health workflow rather than introduced as a general productivity tool. Workflow mapping helps teams identify where AI could support signal detection, evidence gathering, analysis, synthesis, communication, decision support, documentation, monitoring, or service delivery without displacing accountability.</a:t>
            </a:r>
          </a:p>
        </p:txBody>
      </p:sp>
      <p:sp>
        <p:nvSpPr>
          <p:cNvPr id="5" name="">
            <a:extLst xmlns:a="http://schemas.openxmlformats.org/drawingml/2006/main">
              <a:ext uri="{FF2B5EF4-FFF2-40B4-BE49-F238E27FC236}">
                <a16:creationId xmlns:a16="http://schemas.microsoft.com/office/drawing/2014/main" id="{761F75B8-8454-46B0-BD0F-A791DCEFB6F2}"/>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254F719-1A34-43E6-9997-D49791CE8EC4}"/>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2FAF799F-8EFB-43AF-B658-79037E69BBC9}"/>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2FB6AC65-CBCB-4C30-BFFC-0C7FD8AB63E9}"/>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can support signal detection, evidence gathering, analysis, synthesis, briefing, communication, and decision support.</a:t>
            </a:r>
          </a:p>
        </p:txBody>
      </p:sp>
      <p:sp>
        <p:nvSpPr>
          <p:cNvPr id="9" name="">
            <a:extLst xmlns:a="http://schemas.openxmlformats.org/drawingml/2006/main">
              <a:ext uri="{FF2B5EF4-FFF2-40B4-BE49-F238E27FC236}">
                <a16:creationId xmlns:a16="http://schemas.microsoft.com/office/drawing/2014/main" id="{2DD6DD4B-072B-4D18-9835-0B6E3305D14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AI-Supported Public Health Workflows</a:t>
            </a:r>
          </a:p>
        </p:txBody>
      </p:sp>
      <p:sp>
        <p:nvSpPr>
          <p:cNvPr id="10" name="">
            <a:extLst xmlns:a="http://schemas.openxmlformats.org/drawingml/2006/main">
              <a:ext uri="{FF2B5EF4-FFF2-40B4-BE49-F238E27FC236}">
                <a16:creationId xmlns:a16="http://schemas.microsoft.com/office/drawing/2014/main" id="{271EAB12-5F47-42DD-83F9-23A8E8C771A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61736123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2A3E20-1BF5-46CD-81D2-A75B9F9FA91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50F1415-BBB1-4737-A4EB-0B5E4CC7B13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918D20D8-90DF-4D12-83DD-4AFC60DF8BF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13247FF-D8A8-44D3-B063-D0F298ACC07B}"/>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924EB9B-4D09-4959-9B9A-BB3B4917D98C}"/>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C487750E-5954-458E-B4D4-F9F02189C202}"/>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Workflow Mapping Questions</a:t>
            </a:r>
          </a:p>
        </p:txBody>
      </p:sp>
      <p:sp>
        <p:nvSpPr>
          <p:cNvPr id="7" name="">
            <a:extLst xmlns:a="http://schemas.openxmlformats.org/drawingml/2006/main">
              <a:ext uri="{FF2B5EF4-FFF2-40B4-BE49-F238E27FC236}">
                <a16:creationId xmlns:a16="http://schemas.microsoft.com/office/drawing/2014/main" id="{72AB55B8-A529-4C8E-B04E-C2A8B1DF80CC}"/>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event starts the workflow, and what output ends it? Where do staff spend time searching, summarizing, routing, checking, rewriting, or reconciling information? Which steps require judgment, legal authority, community relationship,.</a:t>
            </a:r>
          </a:p>
        </p:txBody>
      </p:sp>
      <p:sp>
        <p:nvSpPr>
          <p:cNvPr id="8" name="">
            <a:extLst xmlns:a="http://schemas.openxmlformats.org/drawingml/2006/main">
              <a:ext uri="{FF2B5EF4-FFF2-40B4-BE49-F238E27FC236}">
                <a16:creationId xmlns:a16="http://schemas.microsoft.com/office/drawing/2014/main" id="{B5F1F729-961A-4E92-B143-70F52BCA8DA0}"/>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7E380F8-7194-4DA2-8F9D-0F3C73C7441C}"/>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75B50562-AE7A-4C96-BB9B-939F67B8C149}"/>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Potential AI Support</a:t>
            </a:r>
          </a:p>
        </p:txBody>
      </p:sp>
      <p:sp>
        <p:nvSpPr>
          <p:cNvPr id="11" name="">
            <a:extLst xmlns:a="http://schemas.openxmlformats.org/drawingml/2006/main">
              <a:ext uri="{FF2B5EF4-FFF2-40B4-BE49-F238E27FC236}">
                <a16:creationId xmlns:a16="http://schemas.microsoft.com/office/drawing/2014/main" id="{822E1C66-930C-4DF9-9D36-E47787F7BE62}"/>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Detect unusual patterns and prepare alerts for human review. Summarize reports, partner updates, inspection notes, or case records into structured fields. Draft situation reports, FAQs, or internal updates from approved source material. Track.</a:t>
            </a:r>
          </a:p>
        </p:txBody>
      </p:sp>
      <p:sp>
        <p:nvSpPr>
          <p:cNvPr id="12" name="">
            <a:extLst xmlns:a="http://schemas.openxmlformats.org/drawingml/2006/main">
              <a:ext uri="{FF2B5EF4-FFF2-40B4-BE49-F238E27FC236}">
                <a16:creationId xmlns:a16="http://schemas.microsoft.com/office/drawing/2014/main" id="{C685E881-A545-4642-AFD3-96B801C5AD70}"/>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BFF2082-9B9E-44EA-B3F9-658BF88A5707}"/>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AAC83931-95C5-4B8A-9A58-D67678106CD7}"/>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Design Safeguards</a:t>
            </a:r>
          </a:p>
        </p:txBody>
      </p:sp>
      <p:sp>
        <p:nvSpPr>
          <p:cNvPr id="15" name="">
            <a:extLst xmlns:a="http://schemas.openxmlformats.org/drawingml/2006/main">
              <a:ext uri="{FF2B5EF4-FFF2-40B4-BE49-F238E27FC236}">
                <a16:creationId xmlns:a16="http://schemas.microsoft.com/office/drawing/2014/main" id="{BAFCEBAD-84FD-4414-A59D-6CC33853D6F7}"/>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Keep AI support close to the staff workflow and test whether it actually saves time or improves quality. Measure false positives, false negatives, staff burden, equity effects, and downstream operational impact. Make handoffs explicit so staff.</a:t>
            </a:r>
          </a:p>
        </p:txBody>
      </p:sp>
      <p:sp>
        <p:nvSpPr>
          <p:cNvPr id="16" name="">
            <a:extLst xmlns:a="http://schemas.openxmlformats.org/drawingml/2006/main">
              <a:ext uri="{FF2B5EF4-FFF2-40B4-BE49-F238E27FC236}">
                <a16:creationId xmlns:a16="http://schemas.microsoft.com/office/drawing/2014/main" id="{76854685-9D67-40D5-ADB6-05F9BF97E69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AI-Supported Public Health Workflows</a:t>
            </a:r>
          </a:p>
        </p:txBody>
      </p:sp>
      <p:sp>
        <p:nvSpPr>
          <p:cNvPr id="17" name="">
            <a:extLst xmlns:a="http://schemas.openxmlformats.org/drawingml/2006/main">
              <a:ext uri="{FF2B5EF4-FFF2-40B4-BE49-F238E27FC236}">
                <a16:creationId xmlns:a16="http://schemas.microsoft.com/office/drawing/2014/main" id="{E298AE3E-7A16-43F4-8715-AFF3927BC2A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2529477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EA0A2F-119C-4B85-85BB-14825258DBF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20137C8-C54E-4C71-A4B8-FF5BBCB0340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79A94071-EDF6-41D3-9C50-0A3D97AB5BD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BE423AB-F13F-4008-97F4-E60B61D92FCF}"/>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CA78AA1E-34DB-4929-8C3D-530D19296977}"/>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151FF71-5A98-488F-B4E6-6B62D1FEC207}"/>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DB96575B-CCA5-4CD4-B3F9-EE9E21A4754E}"/>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Detect anomalies</a:t>
            </a:r>
          </a:p>
        </p:txBody>
      </p:sp>
      <p:sp>
        <p:nvSpPr>
          <p:cNvPr id="8" name="">
            <a:extLst xmlns:a="http://schemas.openxmlformats.org/drawingml/2006/main">
              <a:ext uri="{FF2B5EF4-FFF2-40B4-BE49-F238E27FC236}">
                <a16:creationId xmlns:a16="http://schemas.microsoft.com/office/drawing/2014/main" id="{D71BA0D0-676C-482C-BA3C-857B4F0B2CCE}"/>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Flag unusual changes in surveillance, laboratory, syndromic, environmental, or service-utilization data for staff investigation.</a:t>
            </a:r>
          </a:p>
        </p:txBody>
      </p:sp>
      <p:sp>
        <p:nvSpPr>
          <p:cNvPr id="9" name="">
            <a:extLst xmlns:a="http://schemas.openxmlformats.org/drawingml/2006/main">
              <a:ext uri="{FF2B5EF4-FFF2-40B4-BE49-F238E27FC236}">
                <a16:creationId xmlns:a16="http://schemas.microsoft.com/office/drawing/2014/main" id="{8B8A637F-4B29-46E1-81C3-15710B08CED2}"/>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EBC247D-EE54-48B8-BD0D-79058E9A8F95}"/>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21D824DF-135C-4771-A414-8657219FA062}"/>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Synthesize outbreak updates</a:t>
            </a:r>
          </a:p>
        </p:txBody>
      </p:sp>
      <p:sp>
        <p:nvSpPr>
          <p:cNvPr id="12" name="">
            <a:extLst xmlns:a="http://schemas.openxmlformats.org/drawingml/2006/main">
              <a:ext uri="{FF2B5EF4-FFF2-40B4-BE49-F238E27FC236}">
                <a16:creationId xmlns:a16="http://schemas.microsoft.com/office/drawing/2014/main" id="{9A3A1E83-766B-4476-BF43-5886229A95BF}"/>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Combine situation reports, surveillance data, partner updates, and public communications into a concise operational update.</a:t>
            </a:r>
          </a:p>
        </p:txBody>
      </p:sp>
      <p:sp>
        <p:nvSpPr>
          <p:cNvPr id="13" name="">
            <a:extLst xmlns:a="http://schemas.openxmlformats.org/drawingml/2006/main">
              <a:ext uri="{FF2B5EF4-FFF2-40B4-BE49-F238E27FC236}">
                <a16:creationId xmlns:a16="http://schemas.microsoft.com/office/drawing/2014/main" id="{702016B9-0214-46C1-8C9D-499DB16C1110}"/>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35BBAC3-ADC3-46BA-93E4-AC4036CC41F0}"/>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98F88E7B-93D3-4864-8057-D86B56DB6456}"/>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Draft situation reports</a:t>
            </a:r>
          </a:p>
        </p:txBody>
      </p:sp>
      <p:sp>
        <p:nvSpPr>
          <p:cNvPr id="16" name="">
            <a:extLst xmlns:a="http://schemas.openxmlformats.org/drawingml/2006/main">
              <a:ext uri="{FF2B5EF4-FFF2-40B4-BE49-F238E27FC236}">
                <a16:creationId xmlns:a16="http://schemas.microsoft.com/office/drawing/2014/main" id="{E810FBAD-EB76-4239-82DE-3CF93CB68FA0}"/>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an initial SitRep structure with current status, risks, actions taken, resource needs, and next operational decisions.</a:t>
            </a:r>
          </a:p>
        </p:txBody>
      </p:sp>
      <p:sp>
        <p:nvSpPr>
          <p:cNvPr id="17" name="">
            <a:extLst xmlns:a="http://schemas.openxmlformats.org/drawingml/2006/main">
              <a:ext uri="{FF2B5EF4-FFF2-40B4-BE49-F238E27FC236}">
                <a16:creationId xmlns:a16="http://schemas.microsoft.com/office/drawing/2014/main" id="{FAB4875D-94B4-4E7C-A006-F74A0A83678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AI-Supported Public Health Workflows</a:t>
            </a:r>
          </a:p>
        </p:txBody>
      </p:sp>
      <p:sp>
        <p:nvSpPr>
          <p:cNvPr id="18" name="">
            <a:extLst xmlns:a="http://schemas.openxmlformats.org/drawingml/2006/main">
              <a:ext uri="{FF2B5EF4-FFF2-40B4-BE49-F238E27FC236}">
                <a16:creationId xmlns:a16="http://schemas.microsoft.com/office/drawing/2014/main" id="{CAA7F8F2-1A92-4C85-9B66-20A63578EE3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875413248"/>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FCE546-7E59-49A3-8130-3EFE5F672C1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3137A2F-ECA9-4ADD-9520-AC92DA689EB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61FE93AC-62EF-459C-A504-DAC9611FEE7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9E8BE35-BF95-4C59-A8FD-FC30E17BF7AB}"/>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33F0088-DBFF-4FBE-AB26-51E56FF2AC61}"/>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F7289FCA-E90D-41B9-8E52-734E17872B86}"/>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52ED5E59-B74F-48AE-9CAC-995892869F71}"/>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problem in the workflow is AI expected to solve? Where does the workflow require professional judgment, legal authority, or community knowledge? How will staff know whether AI improves timeliness, quality, consistency, equity, or workload?</a:t>
            </a:r>
          </a:p>
        </p:txBody>
      </p:sp>
      <p:sp>
        <p:nvSpPr>
          <p:cNvPr id="8" name="">
            <a:extLst xmlns:a="http://schemas.openxmlformats.org/drawingml/2006/main">
              <a:ext uri="{FF2B5EF4-FFF2-40B4-BE49-F238E27FC236}">
                <a16:creationId xmlns:a16="http://schemas.microsoft.com/office/drawing/2014/main" id="{2BDF1FE5-0470-472E-A4F2-78586B05799A}"/>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A6F0FDE-833E-4AE2-8711-C1F135F15526}"/>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0B1FA529-4CFA-45C3-B8BB-3CE40169E3F0}"/>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EF304576-A16C-41FF-980F-F17F110CCAE3}"/>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Choose one workflow and map the trigger, inputs, staff roles, decisions, outputs, handoffs, risks, and performance measures. Identify one AI support point and one step that should remain fully human-controlled.</a:t>
            </a:r>
          </a:p>
        </p:txBody>
      </p:sp>
      <p:sp>
        <p:nvSpPr>
          <p:cNvPr id="12" name="">
            <a:extLst xmlns:a="http://schemas.openxmlformats.org/drawingml/2006/main">
              <a:ext uri="{FF2B5EF4-FFF2-40B4-BE49-F238E27FC236}">
                <a16:creationId xmlns:a16="http://schemas.microsoft.com/office/drawing/2014/main" id="{868FF1FB-1AA0-4F55-92AE-DA37CD50694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AI-Supported Public Health Workflows</a:t>
            </a:r>
          </a:p>
        </p:txBody>
      </p:sp>
      <p:sp>
        <p:nvSpPr>
          <p:cNvPr id="13" name="">
            <a:extLst xmlns:a="http://schemas.openxmlformats.org/drawingml/2006/main">
              <a:ext uri="{FF2B5EF4-FFF2-40B4-BE49-F238E27FC236}">
                <a16:creationId xmlns:a16="http://schemas.microsoft.com/office/drawing/2014/main" id="{4BA512F6-F1DC-49C5-B331-6AD63C7A2A1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9798719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AB2834-AE72-49C3-BCCE-78EB2548647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7605375-7920-46CD-9ED9-94324D93BD6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48059FE0-34A3-4E42-8581-3FE62D7B98B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B59D4D4-EFEF-43D4-B7CE-2E93C8392BE3}"/>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F389D07-CE39-4A1E-987D-911CDE55A36D}"/>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5A6C1271-215E-4E4E-A1D6-2F2A0E2B278F}"/>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07A526C6-04D4-49D3-A130-2E99D68111D8}"/>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7, 10, 11 and Tools 31, 29, 41.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B3AC68D6-973C-4554-83CB-1FB65730EE3C}"/>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45A33C6-FC71-4EAC-802F-A9B38B29CCDA}"/>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0C7E8468-7A0A-4482-B0AF-8A2CF319EE5A}"/>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A058FA2F-CFC7-4A02-BF2C-01AE81553EEC}"/>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CDC Data Modernization Initiative: Context for modern public health data flows and AI-ready infrastructure. CDC STLT Data Connection: Peer-learning resource for public health data modernization and workflow improvement. NIST AI Risk Management.</a:t>
            </a:r>
          </a:p>
        </p:txBody>
      </p:sp>
      <p:sp>
        <p:nvSpPr>
          <p:cNvPr id="12" name="">
            <a:extLst xmlns:a="http://schemas.openxmlformats.org/drawingml/2006/main">
              <a:ext uri="{FF2B5EF4-FFF2-40B4-BE49-F238E27FC236}">
                <a16:creationId xmlns:a16="http://schemas.microsoft.com/office/drawing/2014/main" id="{1015057D-A2D9-40FC-B9C5-E9B593A08B8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AI-Supported Public Health Workflows</a:t>
            </a:r>
          </a:p>
        </p:txBody>
      </p:sp>
      <p:sp>
        <p:nvSpPr>
          <p:cNvPr id="13" name="">
            <a:extLst xmlns:a="http://schemas.openxmlformats.org/drawingml/2006/main">
              <a:ext uri="{FF2B5EF4-FFF2-40B4-BE49-F238E27FC236}">
                <a16:creationId xmlns:a16="http://schemas.microsoft.com/office/drawing/2014/main" id="{40D6EBAF-01ED-49C7-9264-F1D64AD8AD9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578152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2026-07-02T17:47:01.9680000Z</dcterms:created>
  <dcterms:modified xsi:type="dcterms:W3CDTF">2026-07-02T17:47:01.9680000Z</dcterms:modified>
</coreProperties>
</file>