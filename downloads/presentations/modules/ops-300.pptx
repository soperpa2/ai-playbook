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Lst>
  <p:notesMasterIdLst>
    <p:notesMasterId r:id="rId23"/>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notesMaster" Target="notesMasters/notesMaster1.xml"/><Relationship Id="rId24" Type="http://schemas.openxmlformats.org/officeDocument/2006/relationships/presProps" Target="presProps.xml"/><Relationship Id="rId25" Type="http://schemas.openxmlformats.org/officeDocument/2006/relationships/viewProps" Target="viewProps.xml"/><Relationship Id="rId26" Type="http://schemas.openxmlformats.org/officeDocument/2006/relationships/theme" Target="theme/theme1.xml"/><Relationship Id="rId27"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OPS 300 MLOps and LLMOps for Public Health
MLOps and LLMOps are the lifecycle practices used to develop, test, deploy, monitor, update, and retire AI systems. Public health agencies need these practices because AI performance can change over time as data, reporting patterns, policies, users, and workflows change. This module focuses on model registries, versioning, testing, drift monitoring, evaluation datasets, release controls, rollback, and post-deployment governance.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Module Context
Level: intermediate/practitioner
Primary track: Operations and Data Quality Track
Appears in tracks: operations-data-quality
MLOps and LLMOps are the lifecycle practices used to develop, test, deploy, monitor, update, and retire AI systems. Public health agencies need these practices because AI performance can change over time as data, reporting patterns, policies, users, and workflows change. This module focuses on model registries, versioning, testing, drift monitoring, evaluation datasets, release controls, rollback, and post-deployment governance.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Related Playbook Plays
Play 11: Build and Deploy AI Solutions - This lesson informs Play 11 by helping learners connect the lesson topic to build and deploy ai solutions work in the AI Playbook.
Play 2: Readiness Assessment - This lesson informs Play 2 by helping learners connect the lesson topic to readiness assessment work in the AI Playbook sequence.
Play 13: Monitor and Evaluate AI Systems - This lesson informs Play 13 by helping learners connect the lesson topic to monitor and evaluate ai systems work in the AI Playbook.
Play 1: Vision &amp; Guardrails - This lesson informs Play 1 by helping learners connect the lesson topic to vision &amp; guardrails work in the AI Playbook sequence.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Related Toolkit Resources
Tool 4: AI Policy Landscape Scan (Worksheet) - Use AI Policy Landscape Scan to translate this lesson into a documented public health AI planning, governance, implementation,.
Tool 5: AI Environmental and Resource Impact Review (Checklist) - Use this tool to complete or strengthen the practical exercise for the module using fictional, de-identified, or generalized.
Tool 6: Human-Centered AI Decision Rule Checklist (Checklist) - Use Human-Centered AI Decision Rule Checklist to translate this lesson into a documented public health AI planning, governance,.
Tool 8: AI Project Charter (Planning) - Use AI Project Charter to translate this lesson into a documented public health AI planning, governance, implementation, or.
Tool 9: Data Quality Assessment Checklist (Checklist) - Use this tool to complete or strengthen the practical exercise for the module using fictional, de-identified, or generalized.
Tool 10: Tiered Data Classification for AI Use (Worksheet) - Use this tool to complete or strengthen the practical exercise for the module using fictional, de-identified, or generalized.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Learning Objectives
Explain the purpose of mlops and llmops for public health in public health AI work.
Identify the technical, operational, privacy, security, equity, and governance issues associated with the topic.
Apply the topic to a real or realistic public health workflow, system, or implementation scenario.
Recognize common failure modes that can affect safety, accuracy, trust, workflow fit, or sustainability.
Identify practical guardrails that should be documented before implementation.
Application guidance: Use the assignment to test whether you can explain the concept, apply it to a realistic public health situation, and identify what would need review before the work moves forward.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Learning Objectives
Produce a AI operations plan that can support readiness assessment, governance review, procurement, implementation, or monitoring.
Application guidance: Use the assignment to test whether you can explain the concept, apply it to a realistic public health situation, and identify what would need review before the work moves forward.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Module Overview
MLOps and LLMOps are the lifecycle practices used to develop, test, deploy, monitor, update, and retire AI systems. Public health agencies need these practices because AI performance can change over time as data, reporting patterns, policies, users, and workflows change. This module focuses on model registries, versioning, testing, drift monitoring, evaluation datasets, release controls, rollback, and post-deployment governance.
Application guidance: Connect the concept to public health purpose, responsible use, required safeguards, documentation, and the next action a department should take.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Why This Topic Matters for Public Health AI
MLOps and LLMOps for Public Health matters because AI systems are embedded in public health programs, data systems, and decision processes rather than operating in isolation. The topic affects whether AI outputs are accurate, explainable, safe, equitable, secure, and sustainable. Agencies that ignore this area may create tools that work in a demonstration but fail in actual practice.
The topic also affects accountability. Public health agencies must be able to explain how data are used, why a tool was approved, what evidence supports the workflow, who reviews outputs, and what happens when the system fails. These responsibilities become more important as AI tools move from experimentation into operational use.
Application guidance: Connect the concept to public health purpose, responsible use, required safeguards, documentation, and the next action a department should take.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Core Concepts
MLOps refers to operational practices for managing machine learning models through their lifecycle. LLMOps applies similar practices to large language model applications, including prompts, retrieval sources, evaluation datasets, guardrails, and model versions. These practices make AI systems more reliable, auditable, and maintainable.
Model versioning is the practice of tracking which version of a model, prompt, retrieval corpus, evaluation dataset, or configuration was used. Versioning matters because public health staff may need to reconstruct why an output changed or why an incident occurred.
Drift occurs when data patterns, user behavior, or model performance change over time. In public health, drift may occur because a new lab begins reporting, a case definition changes, a provider changes coding practices, or community conditions shift. Monitoring drift helps agencies decide when retesting or retraining is needed.
Application guidance: Connect the concept to public health purpose, responsible use, required safeguards, documentation, and the next action a department should take.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Public Health Example
A syndromic surveillance team may use an anomaly detection model to flag unusual emergency department visit patterns. The model may perform well during testing, but performance can change when chief complaint text changes, new facilities join the feed, or seasonal patterns shift. An MLOps plan would define monitoring indicators, evaluation frequency, responsible staff, retraining rules, and rollback procedures.
Application guidance: Connect the concept to public health purpose, responsible use, required safeguards, documentation, and the next action a department should take.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Technical Deep Dive
Operational AI management starts before deployment. Teams should define an intended use, baseline performance, evaluation datasets, release criteria, monitoring indicators, and an owner responsible for review. Without these elements, agencies may not know whether the deployed system is still behaving as approved.
LLMOps adds additional elements because generative systems depend on prompts, retrieval documents, context windows, model settings, safety filters, and human review workflows. A change in any of these components can change outputs. Agencies should track prompt templates, source document updates, model upgrades, and evaluation results.
Rollback is a critical safeguard. If a new model version, prompt, data pipeline, or retrieval index creates errors, staff need a documented way to return to the prior approved version or disable the AI function. Rollback authority should be defined before deployment.
Application guidance: Connect the concept to public health purpose, responsible use, required safeguards, documentation, and the next action a department should take.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Risks, Failure Modes, and Guardrails
A common failure mode is treating the topic as a technical detail rather than a public health control. When staff do not connect technical decisions to authority, workflow, equity, privacy, security, and accountability, the agency may adopt a tool that appears useful but cannot be sustained or defended.
Another risk is relying on vendor claims without agency-defined evidence. Vendors may provide demonstrations, dashboards, or summary metrics that do not match the agency workflow or data environment. A guardrail is to require documentation, test results, acceptance criteria, and agency-controlled review.
A third risk is failing to plan for change. Public health data, policies, systems, and emergencies change. Any technical approach must include monitoring, review, versioning, escalation, and retirement pathways so the agency can respond when assumptions no longer hold.
Application guidance: Identify what could go wrong, who could be affected, what safeguards are needed, and what evidence should be reviewed before use expands.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Application to AI-Supported Workflows
Generative AI, predictive analytics, RAG, automation, and agentic workflows all depend on the controls described in this module. The controls should be scaled to the risk of the use case. A tool that drafts internal training text may require lighter review than a tool that updates case records, prioritizes outreach, or supports public communication during an emergency.
The module should be applied during readiness assessment, procurement, implementation planning, pilot testing, and post-deployment monitoring. Learners should document how the topic affects data, systems, users, safeguards, and decision-making for the selected workflow.
Application guidance: Use the concept to clarify workflow changes, dependencies, staffing, procurement requirements, training needs, and implementation checkpoints.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Reflection Questions
Where does this topic appear in one current or proposed AI workflow in your agency?
What decisions, data sources, users, or partners would be affected if this area is poorly designed?
What evidence would governance reviewers need before approving the workflow?
Application guidance: Connect the concept to public health purpose, responsible use, required safeguards, documentation, and the next action a department should take.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Reflection Questions
Which safeguards should be required before pilot testing?
Who owns ongoing monitoring and review?
Application guidance: Connect the concept to public health purpose, responsible use, required safeguards, documentation, and the next action a department should take.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Practical Exercise
Create a AI operations plan for one real or realistic public health AI workflow. The artifact should describe the use case, affected users, data sources, system dependencies, risks, guardrails, review points, and unresolved questions.
The exercise should produce a work product that could be used in a governance meeting, procurement review, implementation planning session, pilot evaluation, or monitoring review. Learners should document assumptions and identify which staff or partners need to be consulted.
Application guidance: Use the assignment to test whether you can explain the concept, apply it to a realistic public health situation, and identify what would need review before the work moves forward.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Expected Artifact or Evidence
The expected artifact is a completed AI operations plan. It should be specific to a public health workflow and should include technical dependencies, governance questions, human review expectations, monitoring indicators, and unresolved risks.
Application guidance: Connect the concept to public health purpose, responsible use, required safeguards, documentation, and the next action a department should take.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Expected Assignment
The expected artifact is a completed AI operations plan. It should be specific to a public health workflow and should include technical dependencies, governance questions, human review expectations, monitoring indicators, and unresolved risks.
Application guidance: Use the assignment to test whether you can explain the concept, apply it to a realistic public health situation, and identify what would need review before the work moves forward.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Knowledge Check
1. What is the best reason to address mlops and llmops for public health before deployment?
2. Which practice best supports responsible implementation?
3. Which statement best describes a common failure mode?
4. What should be included in the practical artifact for this module?
5. When should the issue be escalated for governance or leadership review?
Application guidance: Use the assignment to test whether you can explain the concept, apply it to a realistic public health situation, and identify what would need review before the work moves forward.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References and Resources
NIST AI Risk Management Framework: https://www.nist.gov/itl/ai-risk-management-framework
Platform-specific MLOps and LLMOps documentation for approved agency tools
NIST Generative AI Profile: https://www.nist.gov/publications/artificial-intelligence-risk-management-framework-generative-artificial-intelligence
CDC Public Health Data Strategy and Data Modernization resources: https://www.cdc.gov/public-health-data-strategy/php/about/index.html
OWASP Top 10 for LLM Applications, when security or AI integrations are relevant
Application guidance: Connect the concept to public health purpose, responsible use, required safeguards, documentation, and the next action a department should take.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References and Resources
Agency privacy, cybersecurity, data governance, procurement, and records management policies
Application guidance: Connect the concept to public health purpose, responsible use, required safeguards, documentation, and the next action a department should take.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1.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1.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2191695" cy="6858000"/>
          </a:xfrm>
          <a:prstGeom prst="rect">
            <a:avLst/>
          </a:prstGeom>
          <a:solidFill>
            <a:srgbClr val="F7FBFD"/>
          </a:solidFill>
          <a:ln w="12700">
            <a:solidFill>
              <a:srgbClr val="F7FBFD"/>
            </a:solidFill>
            <a:prstDash val="solid"/>
          </a:ln>
        </p:spPr>
      </p:sp>
      <p:pic>
        <p:nvPicPr>
          <p:cNvPr id="3" name="Image 0" descr="C:\Users\paula\Documents\Codex\2026-06-30\files-mentioned-by-the-user-ai\outputs\ai-playbook-site\assets\ai-playbook-logo-public-health.png">    </p:cNvPr>
          <p:cNvPicPr>
            <a:picLocks noChangeAspect="1"/>
          </p:cNvPicPr>
          <p:nvPr/>
        </p:nvPicPr>
        <p:blipFill>
          <a:blip r:embed="rId1"/>
          <a:stretch>
            <a:fillRect/>
          </a:stretch>
        </p:blipFill>
        <p:spPr>
          <a:xfrm>
            <a:off x="713232" y="566928"/>
            <a:ext cx="1353312" cy="1353312"/>
          </a:xfrm>
          <a:prstGeom prst="rect">
            <a:avLst/>
          </a:prstGeom>
        </p:spPr>
      </p:pic>
      <p:sp>
        <p:nvSpPr>
          <p:cNvPr id="4" name="Shape 1"/>
          <p:cNvSpPr/>
          <p:nvPr/>
        </p:nvSpPr>
        <p:spPr>
          <a:xfrm>
            <a:off x="713232" y="2240280"/>
            <a:ext cx="10698480" cy="0"/>
          </a:xfrm>
          <a:prstGeom prst="line">
            <a:avLst/>
          </a:prstGeom>
          <a:noFill/>
          <a:ln w="25400">
            <a:solidFill>
              <a:srgbClr val="2F8A28"/>
            </a:solidFill>
            <a:prstDash val="solid"/>
          </a:ln>
        </p:spPr>
      </p:sp>
      <p:sp>
        <p:nvSpPr>
          <p:cNvPr id="5" name="Text 2"/>
          <p:cNvSpPr/>
          <p:nvPr/>
        </p:nvSpPr>
        <p:spPr>
          <a:xfrm>
            <a:off x="749808" y="2487168"/>
            <a:ext cx="2926080" cy="274320"/>
          </a:xfrm>
          <a:prstGeom prst="rect">
            <a:avLst/>
          </a:prstGeom>
          <a:noFill/>
          <a:ln/>
        </p:spPr>
        <p:txBody>
          <a:bodyPr wrap="square" lIns="0" tIns="0" rIns="0" bIns="0" rtlCol="0" anchor="ctr"/>
          <a:lstStyle/>
          <a:p>
            <a:pPr indent="0" marL="0">
              <a:buNone/>
            </a:pPr>
            <a:r>
              <a:rPr lang="en-US" sz="1400" b="1" dirty="0">
                <a:solidFill>
                  <a:srgbClr val="2F8A28"/>
                </a:solidFill>
                <a:latin typeface="Aptos" pitchFamily="34" charset="0"/>
                <a:ea typeface="Aptos" pitchFamily="34" charset="-122"/>
                <a:cs typeface="Aptos" pitchFamily="34" charset="-120"/>
              </a:rPr>
              <a:t>OPS 300</a:t>
            </a:r>
            <a:endParaRPr lang="en-US" sz="1400" dirty="0"/>
          </a:p>
        </p:txBody>
      </p:sp>
      <p:sp>
        <p:nvSpPr>
          <p:cNvPr id="6" name="Text 3"/>
          <p:cNvSpPr/>
          <p:nvPr/>
        </p:nvSpPr>
        <p:spPr>
          <a:xfrm>
            <a:off x="713232" y="2816352"/>
            <a:ext cx="10607040" cy="868680"/>
          </a:xfrm>
          <a:prstGeom prst="rect">
            <a:avLst/>
          </a:prstGeom>
          <a:noFill/>
          <a:ln/>
        </p:spPr>
        <p:txBody>
          <a:bodyPr wrap="square" lIns="0" tIns="0" rIns="0" bIns="0" rtlCol="0" anchor="ctr">
            <a:normAutofit/>
          </a:bodyPr>
          <a:lstStyle/>
          <a:p>
            <a:pPr indent="0" marL="0">
              <a:buNone/>
            </a:pPr>
            <a:r>
              <a:rPr lang="en-US" sz="3200" b="1" dirty="0">
                <a:solidFill>
                  <a:srgbClr val="003A63"/>
                </a:solidFill>
                <a:latin typeface="Aptos Display" pitchFamily="34" charset="0"/>
                <a:ea typeface="Aptos Display" pitchFamily="34" charset="-122"/>
                <a:cs typeface="Aptos Display" pitchFamily="34" charset="-120"/>
              </a:rPr>
              <a:t>MLOps and LLMOps for Public Health</a:t>
            </a:r>
            <a:endParaRPr lang="en-US" sz="3200" dirty="0"/>
          </a:p>
        </p:txBody>
      </p:sp>
      <p:sp>
        <p:nvSpPr>
          <p:cNvPr id="7" name="Text 4"/>
          <p:cNvSpPr/>
          <p:nvPr/>
        </p:nvSpPr>
        <p:spPr>
          <a:xfrm>
            <a:off x="749808" y="3968496"/>
            <a:ext cx="8686800" cy="320040"/>
          </a:xfrm>
          <a:prstGeom prst="rect">
            <a:avLst/>
          </a:prstGeom>
          <a:noFill/>
          <a:ln/>
        </p:spPr>
        <p:txBody>
          <a:bodyPr wrap="square" lIns="0" tIns="0" rIns="0" bIns="0" rtlCol="0" anchor="ctr"/>
          <a:lstStyle/>
          <a:p>
            <a:pPr indent="0" marL="0">
              <a:buNone/>
            </a:pPr>
            <a:r>
              <a:rPr lang="en-US" sz="1800" dirty="0">
                <a:solidFill>
                  <a:srgbClr val="17364A"/>
                </a:solidFill>
                <a:latin typeface="Aptos" pitchFamily="34" charset="0"/>
                <a:ea typeface="Aptos" pitchFamily="34" charset="-122"/>
                <a:cs typeface="Aptos" pitchFamily="34" charset="-120"/>
              </a:rPr>
              <a:t>AI Playbook and Toolkit for Public Health Departments</a:t>
            </a:r>
            <a:endParaRPr lang="en-US" sz="1800" dirty="0"/>
          </a:p>
        </p:txBody>
      </p:sp>
      <p:sp>
        <p:nvSpPr>
          <p:cNvPr id="8"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a:t>
            </a:r>
            <a:endParaRPr lang="en-US" sz="9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MLOps and LLMOps for Public Health</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2</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What this module helps you do</a:t>
            </a:r>
            <a:endParaRPr lang="en-US" sz="3400" dirty="0"/>
          </a:p>
        </p:txBody>
      </p:sp>
      <p:sp>
        <p:nvSpPr>
          <p:cNvPr id="9" name="Text 7"/>
          <p:cNvSpPr/>
          <p:nvPr/>
        </p:nvSpPr>
        <p:spPr>
          <a:xfrm>
            <a:off x="868680" y="1508760"/>
            <a:ext cx="6446520" cy="2926080"/>
          </a:xfrm>
          <a:prstGeom prst="rect">
            <a:avLst/>
          </a:prstGeom>
          <a:noFill/>
          <a:ln/>
        </p:spPr>
        <p:txBody>
          <a:bodyPr wrap="square" lIns="635" tIns="635" rIns="635" bIns="635" rtlCol="0" anchor="t">
            <a:normAutofit/>
          </a:bodyPr>
          <a:lstStyle/>
          <a:p>
            <a:r>
              <a:rPr lang="en-US" sz="2100" dirty="0">
                <a:solidFill>
                  <a:srgbClr val="17364A"/>
                </a:solidFill>
                <a:latin typeface="Aptos" pitchFamily="34" charset="0"/>
                <a:ea typeface="Aptos" pitchFamily="34" charset="-122"/>
                <a:cs typeface="Aptos" pitchFamily="34" charset="-120"/>
              </a:rPr>
              <a:t>MLOps and LLMOps are the lifecycle practices used to develop, test, deploy, monitor, update, and retire AI systems.</a:t>
            </a:r>
            <a:endParaRPr lang="en-US" sz="2100" dirty="0"/>
          </a:p>
          <a:p>
            <a:r>
              <a:rPr lang="en-US" sz="2100" dirty="0">
                <a:solidFill>
                  <a:srgbClr val="17364A"/>
                </a:solidFill>
                <a:latin typeface="Aptos" pitchFamily="34" charset="0"/>
                <a:ea typeface="Aptos" pitchFamily="34" charset="-122"/>
                <a:cs typeface="Aptos" pitchFamily="34" charset="-120"/>
              </a:rPr>
              <a:t>Public health agencies need these practices because AI performance can change over time as data, reporting.</a:t>
            </a:r>
            <a:endParaRPr lang="en-US" sz="2100" dirty="0"/>
          </a:p>
          <a:p>
            <a:r>
              <a:rPr lang="en-US" sz="2100" dirty="0">
                <a:solidFill>
                  <a:srgbClr val="17364A"/>
                </a:solidFill>
                <a:latin typeface="Aptos" pitchFamily="34" charset="0"/>
                <a:ea typeface="Aptos" pitchFamily="34" charset="-122"/>
                <a:cs typeface="Aptos" pitchFamily="34" charset="-120"/>
              </a:rPr>
              <a:t>This module focuses on model registries, versioning, testing, drift monitoring, evaluation datasets, release.</a:t>
            </a:r>
            <a:endParaRPr lang="en-US" sz="2100" dirty="0"/>
          </a:p>
        </p:txBody>
      </p:sp>
      <p:sp>
        <p:nvSpPr>
          <p:cNvPr id="10" name="Shape 8"/>
          <p:cNvSpPr/>
          <p:nvPr/>
        </p:nvSpPr>
        <p:spPr>
          <a:xfrm>
            <a:off x="7909560" y="1417320"/>
            <a:ext cx="3154680" cy="1920240"/>
          </a:xfrm>
          <a:prstGeom prst="roundRect">
            <a:avLst>
              <a:gd name="adj" fmla="val 5714"/>
            </a:avLst>
          </a:prstGeom>
          <a:solidFill>
            <a:srgbClr val="EAF6F8"/>
          </a:solidFill>
          <a:ln w="12700">
            <a:solidFill>
              <a:srgbClr val="B9D7E6"/>
            </a:solidFill>
            <a:prstDash val="solid"/>
          </a:ln>
        </p:spPr>
      </p:sp>
      <p:sp>
        <p:nvSpPr>
          <p:cNvPr id="11" name="Text 9"/>
          <p:cNvSpPr/>
          <p:nvPr/>
        </p:nvSpPr>
        <p:spPr>
          <a:xfrm>
            <a:off x="8074152" y="1563624"/>
            <a:ext cx="282549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Module details</a:t>
            </a:r>
            <a:endParaRPr lang="en-US" sz="1300" dirty="0"/>
          </a:p>
        </p:txBody>
      </p:sp>
      <p:sp>
        <p:nvSpPr>
          <p:cNvPr id="12" name="Text 10"/>
          <p:cNvSpPr/>
          <p:nvPr/>
        </p:nvSpPr>
        <p:spPr>
          <a:xfrm>
            <a:off x="8074152" y="1920240"/>
            <a:ext cx="2825496" cy="128016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Level: intermediate/practitioner</a:t>
            </a:r>
            <a:endParaRPr lang="en-US" sz="1550" dirty="0"/>
          </a:p>
          <a:p>
            <a:pPr indent="0" marL="0">
              <a:buNone/>
            </a:pPr>
            <a:r>
              <a:rPr lang="en-US" sz="1550" dirty="0">
                <a:solidFill>
                  <a:srgbClr val="17364A"/>
                </a:solidFill>
                <a:latin typeface="Aptos" pitchFamily="34" charset="0"/>
                <a:ea typeface="Aptos" pitchFamily="34" charset="-122"/>
                <a:cs typeface="Aptos" pitchFamily="34" charset="-120"/>
              </a:rPr>
              <a:t>Primary track: Operations and Data Quality Track</a:t>
            </a:r>
            <a:endParaRPr lang="en-US" sz="1550" dirty="0"/>
          </a:p>
          <a:p>
            <a:pPr indent="0" marL="0">
              <a:buNone/>
            </a:pPr>
            <a:r>
              <a:rPr lang="en-US" sz="1550" dirty="0">
                <a:solidFill>
                  <a:srgbClr val="17364A"/>
                </a:solidFill>
                <a:latin typeface="Aptos" pitchFamily="34" charset="0"/>
                <a:ea typeface="Aptos" pitchFamily="34" charset="-122"/>
                <a:cs typeface="Aptos" pitchFamily="34" charset="-120"/>
              </a:rPr>
              <a:t>Appears in tracks: operations-data-quality</a:t>
            </a:r>
            <a:endParaRPr lang="en-US" sz="1550" dirty="0"/>
          </a:p>
        </p:txBody>
      </p:sp>
      <p:sp>
        <p:nvSpPr>
          <p:cNvPr id="13" name="Shape 11"/>
          <p:cNvSpPr/>
          <p:nvPr/>
        </p:nvSpPr>
        <p:spPr>
          <a:xfrm>
            <a:off x="7909560" y="3675888"/>
            <a:ext cx="3154680" cy="1691640"/>
          </a:xfrm>
          <a:prstGeom prst="roundRect">
            <a:avLst>
              <a:gd name="adj" fmla="val 6486"/>
            </a:avLst>
          </a:prstGeom>
          <a:solidFill>
            <a:srgbClr val="FFFFFF"/>
          </a:solidFill>
          <a:ln w="12700">
            <a:solidFill>
              <a:srgbClr val="B9D7E6"/>
            </a:solidFill>
            <a:prstDash val="solid"/>
          </a:ln>
        </p:spPr>
      </p:sp>
      <p:sp>
        <p:nvSpPr>
          <p:cNvPr id="14" name="Text 12"/>
          <p:cNvSpPr/>
          <p:nvPr/>
        </p:nvSpPr>
        <p:spPr>
          <a:xfrm>
            <a:off x="8074152" y="3822192"/>
            <a:ext cx="282549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Learning sequence</a:t>
            </a:r>
            <a:endParaRPr lang="en-US" sz="1300" dirty="0"/>
          </a:p>
        </p:txBody>
      </p:sp>
      <p:sp>
        <p:nvSpPr>
          <p:cNvPr id="15" name="Text 13"/>
          <p:cNvSpPr/>
          <p:nvPr/>
        </p:nvSpPr>
        <p:spPr>
          <a:xfrm>
            <a:off x="8092440" y="4187952"/>
            <a:ext cx="2770632" cy="1033272"/>
          </a:xfrm>
          <a:prstGeom prst="rect">
            <a:avLst/>
          </a:prstGeom>
          <a:noFill/>
          <a:ln/>
        </p:spPr>
        <p:txBody>
          <a:bodyPr wrap="square" lIns="254" tIns="254" rIns="254" bIns="254" rtlCol="0" anchor="t">
            <a:normAutofit/>
          </a:bodyPr>
          <a:lstStyle/>
          <a:p>
            <a:r>
              <a:rPr lang="en-US" sz="1380" dirty="0">
                <a:solidFill>
                  <a:srgbClr val="17364A"/>
                </a:solidFill>
                <a:latin typeface="Aptos" pitchFamily="34" charset="0"/>
                <a:ea typeface="Aptos" pitchFamily="34" charset="-122"/>
                <a:cs typeface="Aptos" pitchFamily="34" charset="-120"/>
              </a:rPr>
              <a:t>Read the module for shared vocabulary and context.</a:t>
            </a:r>
            <a:endParaRPr lang="en-US" sz="1380" dirty="0"/>
          </a:p>
          <a:p>
            <a:r>
              <a:rPr lang="en-US" sz="1380" dirty="0">
                <a:solidFill>
                  <a:srgbClr val="17364A"/>
                </a:solidFill>
                <a:latin typeface="Aptos" pitchFamily="34" charset="0"/>
                <a:ea typeface="Aptos" pitchFamily="34" charset="-122"/>
                <a:cs typeface="Aptos" pitchFamily="34" charset="-120"/>
              </a:rPr>
              <a:t>Complete the practical exercise to apply the concept.</a:t>
            </a:r>
            <a:endParaRPr lang="en-US" sz="1380" dirty="0"/>
          </a:p>
          <a:p>
            <a:r>
              <a:rPr lang="en-US" sz="1380" dirty="0">
                <a:solidFill>
                  <a:srgbClr val="17364A"/>
                </a:solidFill>
                <a:latin typeface="Aptos" pitchFamily="34" charset="0"/>
                <a:ea typeface="Aptos" pitchFamily="34" charset="-122"/>
                <a:cs typeface="Aptos" pitchFamily="34" charset="-120"/>
              </a:rPr>
              <a:t>Use the notes and references for deeper review.</a:t>
            </a:r>
            <a:endParaRPr lang="en-US" sz="138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MLOps and LLMOps for Public Health</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3</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How this module connects to the playbook</a:t>
            </a:r>
            <a:endParaRPr lang="en-US" sz="3400" dirty="0"/>
          </a:p>
        </p:txBody>
      </p:sp>
      <p:sp>
        <p:nvSpPr>
          <p:cNvPr id="9" name="Text 7"/>
          <p:cNvSpPr/>
          <p:nvPr/>
        </p:nvSpPr>
        <p:spPr>
          <a:xfrm>
            <a:off x="868680" y="1508760"/>
            <a:ext cx="6812280" cy="3977640"/>
          </a:xfrm>
          <a:prstGeom prst="rect">
            <a:avLst/>
          </a:prstGeom>
          <a:noFill/>
          <a:ln/>
        </p:spPr>
        <p:txBody>
          <a:bodyPr wrap="square" lIns="635" tIns="635" rIns="635" bIns="635" rtlCol="0" anchor="t">
            <a:normAutofit/>
          </a:bodyPr>
          <a:lstStyle/>
          <a:p>
            <a:r>
              <a:rPr lang="en-US" sz="1900" dirty="0">
                <a:solidFill>
                  <a:srgbClr val="17364A"/>
                </a:solidFill>
                <a:latin typeface="Aptos" pitchFamily="34" charset="0"/>
                <a:ea typeface="Aptos" pitchFamily="34" charset="-122"/>
                <a:cs typeface="Aptos" pitchFamily="34" charset="-120"/>
              </a:rPr>
              <a:t>Play 11: Build and Deploy AI Solutions - This lesson informs Play 11 by helping learners connect the lesson.</a:t>
            </a:r>
            <a:endParaRPr lang="en-US" sz="1900" dirty="0"/>
          </a:p>
          <a:p>
            <a:r>
              <a:rPr lang="en-US" sz="1900" dirty="0">
                <a:solidFill>
                  <a:srgbClr val="17364A"/>
                </a:solidFill>
                <a:latin typeface="Aptos" pitchFamily="34" charset="0"/>
                <a:ea typeface="Aptos" pitchFamily="34" charset="-122"/>
                <a:cs typeface="Aptos" pitchFamily="34" charset="-120"/>
              </a:rPr>
              <a:t>Play 2: Readiness Assessment - This lesson informs Play 2 by helping learners connect the lesson topic to.</a:t>
            </a:r>
            <a:endParaRPr lang="en-US" sz="1900" dirty="0"/>
          </a:p>
          <a:p>
            <a:r>
              <a:rPr lang="en-US" sz="1900" dirty="0">
                <a:solidFill>
                  <a:srgbClr val="17364A"/>
                </a:solidFill>
                <a:latin typeface="Aptos" pitchFamily="34" charset="0"/>
                <a:ea typeface="Aptos" pitchFamily="34" charset="-122"/>
                <a:cs typeface="Aptos" pitchFamily="34" charset="-120"/>
              </a:rPr>
              <a:t>Play 13: Monitor and Evaluate AI Systems - This lesson informs Play 13 by helping learners connect the.</a:t>
            </a:r>
            <a:endParaRPr lang="en-US" sz="1900" dirty="0"/>
          </a:p>
          <a:p>
            <a:r>
              <a:rPr lang="en-US" sz="1900" dirty="0">
                <a:solidFill>
                  <a:srgbClr val="17364A"/>
                </a:solidFill>
                <a:latin typeface="Aptos" pitchFamily="34" charset="0"/>
                <a:ea typeface="Aptos" pitchFamily="34" charset="-122"/>
                <a:cs typeface="Aptos" pitchFamily="34" charset="-120"/>
              </a:rPr>
              <a:t>Play 1: Vision &amp; Guardrails - This lesson informs Play 1 by helping learners connect the lesson topic to.</a:t>
            </a:r>
            <a:endParaRPr lang="en-US" sz="1900" dirty="0"/>
          </a:p>
        </p:txBody>
      </p:sp>
      <p:sp>
        <p:nvSpPr>
          <p:cNvPr id="10" name="Shape 8"/>
          <p:cNvSpPr/>
          <p:nvPr/>
        </p:nvSpPr>
        <p:spPr>
          <a:xfrm>
            <a:off x="8046720" y="1417320"/>
            <a:ext cx="3063240" cy="2103120"/>
          </a:xfrm>
          <a:prstGeom prst="roundRect">
            <a:avLst>
              <a:gd name="adj" fmla="val 5217"/>
            </a:avLst>
          </a:prstGeom>
          <a:solidFill>
            <a:srgbClr val="EEF8ED"/>
          </a:solidFill>
          <a:ln w="12700">
            <a:solidFill>
              <a:srgbClr val="B9D7E6"/>
            </a:solidFill>
            <a:prstDash val="solid"/>
          </a:ln>
        </p:spPr>
      </p:sp>
      <p:sp>
        <p:nvSpPr>
          <p:cNvPr id="11" name="Text 9"/>
          <p:cNvSpPr/>
          <p:nvPr/>
        </p:nvSpPr>
        <p:spPr>
          <a:xfrm>
            <a:off x="8211312" y="1563624"/>
            <a:ext cx="273405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Apply the lesson</a:t>
            </a:r>
            <a:endParaRPr lang="en-US" sz="1300" dirty="0"/>
          </a:p>
        </p:txBody>
      </p:sp>
      <p:sp>
        <p:nvSpPr>
          <p:cNvPr id="12" name="Text 10"/>
          <p:cNvSpPr/>
          <p:nvPr/>
        </p:nvSpPr>
        <p:spPr>
          <a:xfrm>
            <a:off x="8211312" y="1920240"/>
            <a:ext cx="2734056" cy="146304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Use the related plays to identify decisions, participants, timing, approvals, and documentation needed for responsible implementation.</a:t>
            </a:r>
            <a:endParaRPr lang="en-US" sz="1550" dirty="0"/>
          </a:p>
        </p:txBody>
      </p:sp>
      <p:sp>
        <p:nvSpPr>
          <p:cNvPr id="13" name="Shape 11"/>
          <p:cNvSpPr/>
          <p:nvPr/>
        </p:nvSpPr>
        <p:spPr>
          <a:xfrm>
            <a:off x="8046720" y="3794760"/>
            <a:ext cx="3063240" cy="1600200"/>
          </a:xfrm>
          <a:prstGeom prst="roundRect">
            <a:avLst>
              <a:gd name="adj" fmla="val 6857"/>
            </a:avLst>
          </a:prstGeom>
          <a:solidFill>
            <a:srgbClr val="FFFFFF"/>
          </a:solidFill>
          <a:ln w="12700">
            <a:solidFill>
              <a:srgbClr val="B9D7E6"/>
            </a:solidFill>
            <a:prstDash val="solid"/>
          </a:ln>
        </p:spPr>
      </p:sp>
      <p:sp>
        <p:nvSpPr>
          <p:cNvPr id="14" name="Text 12"/>
          <p:cNvSpPr/>
          <p:nvPr/>
        </p:nvSpPr>
        <p:spPr>
          <a:xfrm>
            <a:off x="8211312" y="3941064"/>
            <a:ext cx="273405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Use the play links to</a:t>
            </a:r>
            <a:endParaRPr lang="en-US" sz="1300" dirty="0"/>
          </a:p>
        </p:txBody>
      </p:sp>
      <p:sp>
        <p:nvSpPr>
          <p:cNvPr id="15" name="Text 13"/>
          <p:cNvSpPr/>
          <p:nvPr/>
        </p:nvSpPr>
        <p:spPr>
          <a:xfrm>
            <a:off x="8229600" y="4306824"/>
            <a:ext cx="2679192" cy="941832"/>
          </a:xfrm>
          <a:prstGeom prst="rect">
            <a:avLst/>
          </a:prstGeom>
          <a:noFill/>
          <a:ln/>
        </p:spPr>
        <p:txBody>
          <a:bodyPr wrap="square" lIns="254" tIns="254" rIns="254" bIns="254" rtlCol="0" anchor="t">
            <a:normAutofit/>
          </a:bodyPr>
          <a:lstStyle/>
          <a:p>
            <a:r>
              <a:rPr lang="en-US" sz="1380" dirty="0">
                <a:solidFill>
                  <a:srgbClr val="17364A"/>
                </a:solidFill>
                <a:latin typeface="Aptos" pitchFamily="34" charset="0"/>
                <a:ea typeface="Aptos" pitchFamily="34" charset="-122"/>
                <a:cs typeface="Aptos" pitchFamily="34" charset="-120"/>
              </a:rPr>
              <a:t>Locate the decision point in the playbook sequence.</a:t>
            </a:r>
            <a:endParaRPr lang="en-US" sz="1380" dirty="0"/>
          </a:p>
          <a:p>
            <a:r>
              <a:rPr lang="en-US" sz="1380" dirty="0">
                <a:solidFill>
                  <a:srgbClr val="17364A"/>
                </a:solidFill>
                <a:latin typeface="Aptos" pitchFamily="34" charset="0"/>
                <a:ea typeface="Aptos" pitchFamily="34" charset="-122"/>
                <a:cs typeface="Aptos" pitchFamily="34" charset="-120"/>
              </a:rPr>
              <a:t>Identify who should participate in the work.</a:t>
            </a:r>
            <a:endParaRPr lang="en-US" sz="1380" dirty="0"/>
          </a:p>
          <a:p>
            <a:r>
              <a:rPr lang="en-US" sz="1380" dirty="0">
                <a:solidFill>
                  <a:srgbClr val="17364A"/>
                </a:solidFill>
                <a:latin typeface="Aptos" pitchFamily="34" charset="0"/>
                <a:ea typeface="Aptos" pitchFamily="34" charset="-122"/>
                <a:cs typeface="Aptos" pitchFamily="34" charset="-120"/>
              </a:rPr>
              <a:t>Document the review, approval, or implementation step.</a:t>
            </a:r>
            <a:endParaRPr lang="en-US" sz="138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MLOps and LLMOps for Public Health</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4</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Related toolkit resources</a:t>
            </a:r>
            <a:endParaRPr lang="en-US" sz="3400" dirty="0"/>
          </a:p>
        </p:txBody>
      </p:sp>
      <p:sp>
        <p:nvSpPr>
          <p:cNvPr id="9" name="Text 7"/>
          <p:cNvSpPr/>
          <p:nvPr/>
        </p:nvSpPr>
        <p:spPr>
          <a:xfrm>
            <a:off x="868680" y="1508760"/>
            <a:ext cx="6812280" cy="3977640"/>
          </a:xfrm>
          <a:prstGeom prst="rect">
            <a:avLst/>
          </a:prstGeom>
          <a:noFill/>
          <a:ln/>
        </p:spPr>
        <p:txBody>
          <a:bodyPr wrap="square" lIns="635" tIns="635" rIns="635" bIns="635" rtlCol="0" anchor="t">
            <a:normAutofit/>
          </a:bodyPr>
          <a:lstStyle/>
          <a:p>
            <a:r>
              <a:rPr lang="en-US" sz="1850" dirty="0">
                <a:solidFill>
                  <a:srgbClr val="17364A"/>
                </a:solidFill>
                <a:latin typeface="Aptos" pitchFamily="34" charset="0"/>
                <a:ea typeface="Aptos" pitchFamily="34" charset="-122"/>
                <a:cs typeface="Aptos" pitchFamily="34" charset="-120"/>
              </a:rPr>
              <a:t>Tool 4: AI Policy Landscape Scan (Worksheet) - Use AI Policy Landscape Scan to translate this lesson into a.</a:t>
            </a:r>
            <a:endParaRPr lang="en-US" sz="1850" dirty="0"/>
          </a:p>
          <a:p>
            <a:r>
              <a:rPr lang="en-US" sz="1850" dirty="0">
                <a:solidFill>
                  <a:srgbClr val="17364A"/>
                </a:solidFill>
                <a:latin typeface="Aptos" pitchFamily="34" charset="0"/>
                <a:ea typeface="Aptos" pitchFamily="34" charset="-122"/>
                <a:cs typeface="Aptos" pitchFamily="34" charset="-120"/>
              </a:rPr>
              <a:t>Tool 5: AI Environmental and Resource Impact Review (Checklist) - Use this tool to complete or strengthen.</a:t>
            </a:r>
            <a:endParaRPr lang="en-US" sz="1850" dirty="0"/>
          </a:p>
          <a:p>
            <a:r>
              <a:rPr lang="en-US" sz="1850" dirty="0">
                <a:solidFill>
                  <a:srgbClr val="17364A"/>
                </a:solidFill>
                <a:latin typeface="Aptos" pitchFamily="34" charset="0"/>
                <a:ea typeface="Aptos" pitchFamily="34" charset="-122"/>
                <a:cs typeface="Aptos" pitchFamily="34" charset="-120"/>
              </a:rPr>
              <a:t>Tool 6: Human-Centered AI Decision Rule Checklist (Checklist) - Use Human-Centered AI Decision Rule.</a:t>
            </a:r>
            <a:endParaRPr lang="en-US" sz="1850" dirty="0"/>
          </a:p>
          <a:p>
            <a:r>
              <a:rPr lang="en-US" sz="1850" dirty="0">
                <a:solidFill>
                  <a:srgbClr val="17364A"/>
                </a:solidFill>
                <a:latin typeface="Aptos" pitchFamily="34" charset="0"/>
                <a:ea typeface="Aptos" pitchFamily="34" charset="-122"/>
                <a:cs typeface="Aptos" pitchFamily="34" charset="-120"/>
              </a:rPr>
              <a:t>Tool 8: AI Project Charter (Planning) - Use AI Project Charter to translate this lesson into a documented.</a:t>
            </a:r>
            <a:endParaRPr lang="en-US" sz="1850" dirty="0"/>
          </a:p>
        </p:txBody>
      </p:sp>
      <p:sp>
        <p:nvSpPr>
          <p:cNvPr id="10" name="Shape 8"/>
          <p:cNvSpPr/>
          <p:nvPr/>
        </p:nvSpPr>
        <p:spPr>
          <a:xfrm>
            <a:off x="8046720" y="1417320"/>
            <a:ext cx="3063240" cy="2103120"/>
          </a:xfrm>
          <a:prstGeom prst="roundRect">
            <a:avLst>
              <a:gd name="adj" fmla="val 5217"/>
            </a:avLst>
          </a:prstGeom>
          <a:solidFill>
            <a:srgbClr val="EAF6F8"/>
          </a:solidFill>
          <a:ln w="12700">
            <a:solidFill>
              <a:srgbClr val="B9D7E6"/>
            </a:solidFill>
            <a:prstDash val="solid"/>
          </a:ln>
        </p:spPr>
      </p:sp>
      <p:sp>
        <p:nvSpPr>
          <p:cNvPr id="11" name="Text 9"/>
          <p:cNvSpPr/>
          <p:nvPr/>
        </p:nvSpPr>
        <p:spPr>
          <a:xfrm>
            <a:off x="8211312" y="1563624"/>
            <a:ext cx="273405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Use the tools</a:t>
            </a:r>
            <a:endParaRPr lang="en-US" sz="1300" dirty="0"/>
          </a:p>
        </p:txBody>
      </p:sp>
      <p:sp>
        <p:nvSpPr>
          <p:cNvPr id="12" name="Text 10"/>
          <p:cNvSpPr/>
          <p:nvPr/>
        </p:nvSpPr>
        <p:spPr>
          <a:xfrm>
            <a:off x="8211312" y="1920240"/>
            <a:ext cx="2734056" cy="146304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Use linked tools when your department needs a structured worksheet, template, checklist, review process, or documentation artifact.</a:t>
            </a:r>
            <a:endParaRPr lang="en-US" sz="1550" dirty="0"/>
          </a:p>
        </p:txBody>
      </p:sp>
      <p:sp>
        <p:nvSpPr>
          <p:cNvPr id="13" name="Shape 11"/>
          <p:cNvSpPr/>
          <p:nvPr/>
        </p:nvSpPr>
        <p:spPr>
          <a:xfrm>
            <a:off x="8046720" y="3794760"/>
            <a:ext cx="3063240" cy="1600200"/>
          </a:xfrm>
          <a:prstGeom prst="roundRect">
            <a:avLst>
              <a:gd name="adj" fmla="val 6857"/>
            </a:avLst>
          </a:prstGeom>
          <a:solidFill>
            <a:srgbClr val="FFFFFF"/>
          </a:solidFill>
          <a:ln w="12700">
            <a:solidFill>
              <a:srgbClr val="B9D7E6"/>
            </a:solidFill>
            <a:prstDash val="solid"/>
          </a:ln>
        </p:spPr>
      </p:sp>
      <p:sp>
        <p:nvSpPr>
          <p:cNvPr id="14" name="Text 12"/>
          <p:cNvSpPr/>
          <p:nvPr/>
        </p:nvSpPr>
        <p:spPr>
          <a:xfrm>
            <a:off x="8211312" y="3941064"/>
            <a:ext cx="273405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Tool selection cues</a:t>
            </a:r>
            <a:endParaRPr lang="en-US" sz="1300" dirty="0"/>
          </a:p>
        </p:txBody>
      </p:sp>
      <p:sp>
        <p:nvSpPr>
          <p:cNvPr id="15" name="Text 13"/>
          <p:cNvSpPr/>
          <p:nvPr/>
        </p:nvSpPr>
        <p:spPr>
          <a:xfrm>
            <a:off x="8229600" y="4306824"/>
            <a:ext cx="2679192" cy="941832"/>
          </a:xfrm>
          <a:prstGeom prst="rect">
            <a:avLst/>
          </a:prstGeom>
          <a:noFill/>
          <a:ln/>
        </p:spPr>
        <p:txBody>
          <a:bodyPr wrap="square" lIns="254" tIns="254" rIns="254" bIns="254" rtlCol="0" anchor="t">
            <a:normAutofit/>
          </a:bodyPr>
          <a:lstStyle/>
          <a:p>
            <a:r>
              <a:rPr lang="en-US" sz="1380" dirty="0">
                <a:solidFill>
                  <a:srgbClr val="17364A"/>
                </a:solidFill>
                <a:latin typeface="Aptos" pitchFamily="34" charset="0"/>
                <a:ea typeface="Aptos" pitchFamily="34" charset="-122"/>
                <a:cs typeface="Aptos" pitchFamily="34" charset="-120"/>
              </a:rPr>
              <a:t>Use a tool when no comparable local process exists.</a:t>
            </a:r>
            <a:endParaRPr lang="en-US" sz="1380" dirty="0"/>
          </a:p>
          <a:p>
            <a:r>
              <a:rPr lang="en-US" sz="1380" dirty="0">
                <a:solidFill>
                  <a:srgbClr val="17364A"/>
                </a:solidFill>
                <a:latin typeface="Aptos" pitchFamily="34" charset="0"/>
                <a:ea typeface="Aptos" pitchFamily="34" charset="-122"/>
                <a:cs typeface="Aptos" pitchFamily="34" charset="-120"/>
              </a:rPr>
              <a:t>Adapt existing department templates when they already fit the purpose.</a:t>
            </a:r>
            <a:endParaRPr lang="en-US" sz="1380" dirty="0"/>
          </a:p>
          <a:p>
            <a:r>
              <a:rPr lang="en-US" sz="1380" dirty="0">
                <a:solidFill>
                  <a:srgbClr val="17364A"/>
                </a:solidFill>
                <a:latin typeface="Aptos" pitchFamily="34" charset="0"/>
                <a:ea typeface="Aptos" pitchFamily="34" charset="-122"/>
                <a:cs typeface="Aptos" pitchFamily="34" charset="-120"/>
              </a:rPr>
              <a:t>Save the completed artifact as evidence of the decision.</a:t>
            </a:r>
            <a:endParaRPr lang="en-US" sz="138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MLOps and LLMOps for Public Health</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5</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Learning Objectives</a:t>
            </a:r>
            <a:endParaRPr lang="en-US" sz="3400" dirty="0"/>
          </a:p>
        </p:txBody>
      </p:sp>
      <p:sp>
        <p:nvSpPr>
          <p:cNvPr id="9" name="Text 7"/>
          <p:cNvSpPr/>
          <p:nvPr/>
        </p:nvSpPr>
        <p:spPr>
          <a:xfrm>
            <a:off x="868680" y="1508760"/>
            <a:ext cx="6309360" cy="4160520"/>
          </a:xfrm>
          <a:prstGeom prst="rect">
            <a:avLst/>
          </a:prstGeom>
          <a:noFill/>
          <a:ln/>
        </p:spPr>
        <p:txBody>
          <a:bodyPr wrap="square" lIns="635" tIns="635" rIns="635" bIns="635" rtlCol="0" anchor="t">
            <a:normAutofit/>
          </a:bodyPr>
          <a:lstStyle/>
          <a:p>
            <a:r>
              <a:rPr lang="en-US" sz="2100" dirty="0">
                <a:solidFill>
                  <a:srgbClr val="17364A"/>
                </a:solidFill>
                <a:latin typeface="Aptos" pitchFamily="34" charset="0"/>
                <a:ea typeface="Aptos" pitchFamily="34" charset="-122"/>
                <a:cs typeface="Aptos" pitchFamily="34" charset="-120"/>
              </a:rPr>
              <a:t>Explain the purpose of mlops and llmops for public health in public health AI work.</a:t>
            </a:r>
            <a:endParaRPr lang="en-US" sz="2100" dirty="0"/>
          </a:p>
          <a:p>
            <a:r>
              <a:rPr lang="en-US" sz="2100" dirty="0">
                <a:solidFill>
                  <a:srgbClr val="17364A"/>
                </a:solidFill>
                <a:latin typeface="Aptos" pitchFamily="34" charset="0"/>
                <a:ea typeface="Aptos" pitchFamily="34" charset="-122"/>
                <a:cs typeface="Aptos" pitchFamily="34" charset="-120"/>
              </a:rPr>
              <a:t>Identify the technical, operational, privacy, security, equity, and governance issues associated with.</a:t>
            </a:r>
            <a:endParaRPr lang="en-US" sz="2100" dirty="0"/>
          </a:p>
          <a:p>
            <a:r>
              <a:rPr lang="en-US" sz="2100" dirty="0">
                <a:solidFill>
                  <a:srgbClr val="17364A"/>
                </a:solidFill>
                <a:latin typeface="Aptos" pitchFamily="34" charset="0"/>
                <a:ea typeface="Aptos" pitchFamily="34" charset="-122"/>
                <a:cs typeface="Aptos" pitchFamily="34" charset="-120"/>
              </a:rPr>
              <a:t>Apply the topic to a real or realistic public health workflow, system, or implementation scenario.</a:t>
            </a:r>
            <a:endParaRPr lang="en-US" sz="2100" dirty="0"/>
          </a:p>
        </p:txBody>
      </p:sp>
      <p:sp>
        <p:nvSpPr>
          <p:cNvPr id="10" name="Shape 8"/>
          <p:cNvSpPr/>
          <p:nvPr/>
        </p:nvSpPr>
        <p:spPr>
          <a:xfrm>
            <a:off x="7635240" y="1325880"/>
            <a:ext cx="3474720" cy="1325880"/>
          </a:xfrm>
          <a:prstGeom prst="roundRect">
            <a:avLst>
              <a:gd name="adj" fmla="val 8276"/>
            </a:avLst>
          </a:prstGeom>
          <a:solidFill>
            <a:srgbClr val="EEF8ED"/>
          </a:solidFill>
          <a:ln w="12700">
            <a:solidFill>
              <a:srgbClr val="B9D7E6"/>
            </a:solidFill>
            <a:prstDash val="solid"/>
          </a:ln>
        </p:spPr>
      </p:sp>
      <p:sp>
        <p:nvSpPr>
          <p:cNvPr id="11" name="Text 9"/>
          <p:cNvSpPr/>
          <p:nvPr/>
        </p:nvSpPr>
        <p:spPr>
          <a:xfrm>
            <a:off x="7799832" y="147218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Practice focus</a:t>
            </a:r>
            <a:endParaRPr lang="en-US" sz="1300" dirty="0"/>
          </a:p>
        </p:txBody>
      </p:sp>
      <p:sp>
        <p:nvSpPr>
          <p:cNvPr id="12" name="Text 10"/>
          <p:cNvSpPr/>
          <p:nvPr/>
        </p:nvSpPr>
        <p:spPr>
          <a:xfrm>
            <a:off x="7799832" y="1828800"/>
            <a:ext cx="3145536" cy="68580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Explain the purpose of mlops and llmops for public health in public health AI work.</a:t>
            </a:r>
            <a:endParaRPr lang="en-US" sz="1550" dirty="0"/>
          </a:p>
        </p:txBody>
      </p:sp>
      <p:sp>
        <p:nvSpPr>
          <p:cNvPr id="13" name="Shape 11"/>
          <p:cNvSpPr/>
          <p:nvPr/>
        </p:nvSpPr>
        <p:spPr>
          <a:xfrm>
            <a:off x="7635240" y="2788920"/>
            <a:ext cx="3474720" cy="1536192"/>
          </a:xfrm>
          <a:prstGeom prst="roundRect">
            <a:avLst>
              <a:gd name="adj" fmla="val 7143"/>
            </a:avLst>
          </a:prstGeom>
          <a:solidFill>
            <a:srgbClr val="FFFFFF"/>
          </a:solidFill>
          <a:ln w="12700">
            <a:solidFill>
              <a:srgbClr val="B9D7E6"/>
            </a:solidFill>
            <a:prstDash val="solid"/>
          </a:ln>
        </p:spPr>
      </p:sp>
      <p:sp>
        <p:nvSpPr>
          <p:cNvPr id="14" name="Text 12"/>
          <p:cNvSpPr/>
          <p:nvPr/>
        </p:nvSpPr>
        <p:spPr>
          <a:xfrm>
            <a:off x="7799832" y="293522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Concept checkpoints</a:t>
            </a:r>
            <a:endParaRPr lang="en-US" sz="1300" dirty="0"/>
          </a:p>
        </p:txBody>
      </p:sp>
      <p:sp>
        <p:nvSpPr>
          <p:cNvPr id="15" name="Text 13"/>
          <p:cNvSpPr/>
          <p:nvPr/>
        </p:nvSpPr>
        <p:spPr>
          <a:xfrm>
            <a:off x="7818120" y="3300984"/>
            <a:ext cx="3090672" cy="877824"/>
          </a:xfrm>
          <a:prstGeom prst="rect">
            <a:avLst/>
          </a:prstGeom>
          <a:noFill/>
          <a:ln/>
        </p:spPr>
        <p:txBody>
          <a:bodyPr wrap="square" lIns="254" tIns="254" rIns="254" bIns="254" rtlCol="0" anchor="t">
            <a:normAutofit/>
          </a:bodyPr>
          <a:lstStyle/>
          <a:p>
            <a:r>
              <a:rPr lang="en-US" sz="1380" dirty="0">
                <a:solidFill>
                  <a:srgbClr val="17364A"/>
                </a:solidFill>
                <a:latin typeface="Aptos" pitchFamily="34" charset="0"/>
                <a:ea typeface="Aptos" pitchFamily="34" charset="-122"/>
                <a:cs typeface="Aptos" pitchFamily="34" charset="-120"/>
              </a:rPr>
              <a:t>Identify the technical, operational, privacy, security, equity, and governance issues.</a:t>
            </a:r>
            <a:endParaRPr lang="en-US" sz="1380" dirty="0"/>
          </a:p>
          <a:p>
            <a:r>
              <a:rPr lang="en-US" sz="1380" dirty="0">
                <a:solidFill>
                  <a:srgbClr val="17364A"/>
                </a:solidFill>
                <a:latin typeface="Aptos" pitchFamily="34" charset="0"/>
                <a:ea typeface="Aptos" pitchFamily="34" charset="-122"/>
                <a:cs typeface="Aptos" pitchFamily="34" charset="-120"/>
              </a:rPr>
              <a:t>Recognize common failure modes that can affect safety, accuracy, trust, workflow fit, or.</a:t>
            </a:r>
            <a:endParaRPr lang="en-US" sz="1380" dirty="0"/>
          </a:p>
          <a:p>
            <a:r>
              <a:rPr lang="en-US" sz="1380" dirty="0">
                <a:solidFill>
                  <a:srgbClr val="17364A"/>
                </a:solidFill>
                <a:latin typeface="Aptos" pitchFamily="34" charset="0"/>
                <a:ea typeface="Aptos" pitchFamily="34" charset="-122"/>
                <a:cs typeface="Aptos" pitchFamily="34" charset="-120"/>
              </a:rPr>
              <a:t>Identify practical guardrails that should be documented before implementation.</a:t>
            </a:r>
            <a:endParaRPr lang="en-US" sz="1380" dirty="0"/>
          </a:p>
        </p:txBody>
      </p:sp>
      <p:sp>
        <p:nvSpPr>
          <p:cNvPr id="16" name="Shape 14"/>
          <p:cNvSpPr/>
          <p:nvPr/>
        </p:nvSpPr>
        <p:spPr>
          <a:xfrm>
            <a:off x="7635240" y="4498848"/>
            <a:ext cx="3474720" cy="1143000"/>
          </a:xfrm>
          <a:prstGeom prst="roundRect">
            <a:avLst>
              <a:gd name="adj" fmla="val 9600"/>
            </a:avLst>
          </a:prstGeom>
          <a:solidFill>
            <a:srgbClr val="EAF6F8"/>
          </a:solidFill>
          <a:ln w="12700">
            <a:solidFill>
              <a:srgbClr val="B9D7E6"/>
            </a:solidFill>
            <a:prstDash val="solid"/>
          </a:ln>
        </p:spPr>
      </p:sp>
      <p:sp>
        <p:nvSpPr>
          <p:cNvPr id="17" name="Text 15"/>
          <p:cNvSpPr/>
          <p:nvPr/>
        </p:nvSpPr>
        <p:spPr>
          <a:xfrm>
            <a:off x="7799832" y="4645152"/>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What to produce</a:t>
            </a:r>
            <a:endParaRPr lang="en-US" sz="1300" dirty="0"/>
          </a:p>
        </p:txBody>
      </p:sp>
      <p:sp>
        <p:nvSpPr>
          <p:cNvPr id="18" name="Text 16"/>
          <p:cNvSpPr/>
          <p:nvPr/>
        </p:nvSpPr>
        <p:spPr>
          <a:xfrm>
            <a:off x="7799832" y="5001768"/>
            <a:ext cx="3145536" cy="50292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Use the assignment to test whether you can explain the concept, apply it to a realistic public health situation, and identify what would need review before the work moves forward.</a:t>
            </a:r>
            <a:endParaRPr lang="en-US" sz="155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MLOps and LLMOps for Public Health</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6</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Learning Objectives Continued</a:t>
            </a:r>
            <a:endParaRPr lang="en-US" sz="3400" dirty="0"/>
          </a:p>
        </p:txBody>
      </p:sp>
      <p:sp>
        <p:nvSpPr>
          <p:cNvPr id="9" name="Text 7"/>
          <p:cNvSpPr/>
          <p:nvPr/>
        </p:nvSpPr>
        <p:spPr>
          <a:xfrm>
            <a:off x="868680" y="1508760"/>
            <a:ext cx="6309360" cy="4160520"/>
          </a:xfrm>
          <a:prstGeom prst="rect">
            <a:avLst/>
          </a:prstGeom>
          <a:noFill/>
          <a:ln/>
        </p:spPr>
        <p:txBody>
          <a:bodyPr wrap="square" lIns="635" tIns="635" rIns="635" bIns="635" rtlCol="0" anchor="t">
            <a:normAutofit/>
          </a:bodyPr>
          <a:lstStyle/>
          <a:p>
            <a:r>
              <a:rPr lang="en-US" sz="2100" dirty="0">
                <a:solidFill>
                  <a:srgbClr val="17364A"/>
                </a:solidFill>
                <a:latin typeface="Aptos" pitchFamily="34" charset="0"/>
                <a:ea typeface="Aptos" pitchFamily="34" charset="-122"/>
                <a:cs typeface="Aptos" pitchFamily="34" charset="-120"/>
              </a:rPr>
              <a:t>Produce a AI operations plan that can support readiness assessment, governance review, procurement,.</a:t>
            </a:r>
            <a:endParaRPr lang="en-US" sz="2100" dirty="0"/>
          </a:p>
        </p:txBody>
      </p:sp>
      <p:sp>
        <p:nvSpPr>
          <p:cNvPr id="10" name="Shape 8"/>
          <p:cNvSpPr/>
          <p:nvPr/>
        </p:nvSpPr>
        <p:spPr>
          <a:xfrm>
            <a:off x="7635240" y="1325880"/>
            <a:ext cx="3474720" cy="1325880"/>
          </a:xfrm>
          <a:prstGeom prst="roundRect">
            <a:avLst>
              <a:gd name="adj" fmla="val 8276"/>
            </a:avLst>
          </a:prstGeom>
          <a:solidFill>
            <a:srgbClr val="EEF8ED"/>
          </a:solidFill>
          <a:ln w="12700">
            <a:solidFill>
              <a:srgbClr val="B9D7E6"/>
            </a:solidFill>
            <a:prstDash val="solid"/>
          </a:ln>
        </p:spPr>
      </p:sp>
      <p:sp>
        <p:nvSpPr>
          <p:cNvPr id="11" name="Text 9"/>
          <p:cNvSpPr/>
          <p:nvPr/>
        </p:nvSpPr>
        <p:spPr>
          <a:xfrm>
            <a:off x="7799832" y="147218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Practice focus</a:t>
            </a:r>
            <a:endParaRPr lang="en-US" sz="1300" dirty="0"/>
          </a:p>
        </p:txBody>
      </p:sp>
      <p:sp>
        <p:nvSpPr>
          <p:cNvPr id="12" name="Text 10"/>
          <p:cNvSpPr/>
          <p:nvPr/>
        </p:nvSpPr>
        <p:spPr>
          <a:xfrm>
            <a:off x="7799832" y="1828800"/>
            <a:ext cx="3145536" cy="68580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Produce a AI operations plan that can support readiness assessment, governance review, procurement,.</a:t>
            </a:r>
            <a:endParaRPr lang="en-US" sz="1550" dirty="0"/>
          </a:p>
        </p:txBody>
      </p:sp>
      <p:sp>
        <p:nvSpPr>
          <p:cNvPr id="13" name="Shape 11"/>
          <p:cNvSpPr/>
          <p:nvPr/>
        </p:nvSpPr>
        <p:spPr>
          <a:xfrm>
            <a:off x="7635240" y="2788920"/>
            <a:ext cx="3474720" cy="1536192"/>
          </a:xfrm>
          <a:prstGeom prst="roundRect">
            <a:avLst>
              <a:gd name="adj" fmla="val 7143"/>
            </a:avLst>
          </a:prstGeom>
          <a:solidFill>
            <a:srgbClr val="FFFFFF"/>
          </a:solidFill>
          <a:ln w="12700">
            <a:solidFill>
              <a:srgbClr val="B9D7E6"/>
            </a:solidFill>
            <a:prstDash val="solid"/>
          </a:ln>
        </p:spPr>
      </p:sp>
      <p:sp>
        <p:nvSpPr>
          <p:cNvPr id="14" name="Text 12"/>
          <p:cNvSpPr/>
          <p:nvPr/>
        </p:nvSpPr>
        <p:spPr>
          <a:xfrm>
            <a:off x="7799832" y="293522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Concept checkpoints</a:t>
            </a:r>
            <a:endParaRPr lang="en-US" sz="1300" dirty="0"/>
          </a:p>
        </p:txBody>
      </p:sp>
      <p:sp>
        <p:nvSpPr>
          <p:cNvPr id="15" name="Text 13"/>
          <p:cNvSpPr/>
          <p:nvPr/>
        </p:nvSpPr>
        <p:spPr>
          <a:xfrm>
            <a:off x="7818120" y="3300984"/>
            <a:ext cx="3090672" cy="877824"/>
          </a:xfrm>
          <a:prstGeom prst="rect">
            <a:avLst/>
          </a:prstGeom>
          <a:noFill/>
          <a:ln/>
        </p:spPr>
        <p:txBody>
          <a:bodyPr wrap="square" lIns="254" tIns="254" rIns="254" bIns="254" rtlCol="0" anchor="t">
            <a:normAutofit/>
          </a:bodyPr>
          <a:lstStyle/>
          <a:p>
            <a:r>
              <a:rPr lang="en-US" sz="1380" dirty="0">
                <a:solidFill>
                  <a:srgbClr val="17364A"/>
                </a:solidFill>
                <a:latin typeface="Aptos" pitchFamily="34" charset="0"/>
                <a:ea typeface="Aptos" pitchFamily="34" charset="-122"/>
                <a:cs typeface="Aptos" pitchFamily="34" charset="-120"/>
              </a:rPr>
              <a:t>Produce a AI operations plan that can support readiness assessment, governance review,.</a:t>
            </a:r>
            <a:endParaRPr lang="en-US" sz="1380" dirty="0"/>
          </a:p>
        </p:txBody>
      </p:sp>
      <p:sp>
        <p:nvSpPr>
          <p:cNvPr id="16" name="Shape 14"/>
          <p:cNvSpPr/>
          <p:nvPr/>
        </p:nvSpPr>
        <p:spPr>
          <a:xfrm>
            <a:off x="7635240" y="4498848"/>
            <a:ext cx="3474720" cy="1143000"/>
          </a:xfrm>
          <a:prstGeom prst="roundRect">
            <a:avLst>
              <a:gd name="adj" fmla="val 9600"/>
            </a:avLst>
          </a:prstGeom>
          <a:solidFill>
            <a:srgbClr val="EAF6F8"/>
          </a:solidFill>
          <a:ln w="12700">
            <a:solidFill>
              <a:srgbClr val="B9D7E6"/>
            </a:solidFill>
            <a:prstDash val="solid"/>
          </a:ln>
        </p:spPr>
      </p:sp>
      <p:sp>
        <p:nvSpPr>
          <p:cNvPr id="17" name="Text 15"/>
          <p:cNvSpPr/>
          <p:nvPr/>
        </p:nvSpPr>
        <p:spPr>
          <a:xfrm>
            <a:off x="7799832" y="4645152"/>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What to produce</a:t>
            </a:r>
            <a:endParaRPr lang="en-US" sz="1300" dirty="0"/>
          </a:p>
        </p:txBody>
      </p:sp>
      <p:sp>
        <p:nvSpPr>
          <p:cNvPr id="18" name="Text 16"/>
          <p:cNvSpPr/>
          <p:nvPr/>
        </p:nvSpPr>
        <p:spPr>
          <a:xfrm>
            <a:off x="7799832" y="5001768"/>
            <a:ext cx="3145536" cy="50292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Use the assignment to test whether you can explain the concept, apply it to a realistic public health situation, and identify what would need review before the work moves forward.</a:t>
            </a:r>
            <a:endParaRPr lang="en-US" sz="155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MLOps and LLMOps for Public Health</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7</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Module Overview</a:t>
            </a:r>
            <a:endParaRPr lang="en-US" sz="3400" dirty="0"/>
          </a:p>
        </p:txBody>
      </p:sp>
      <p:sp>
        <p:nvSpPr>
          <p:cNvPr id="9" name="Text 7"/>
          <p:cNvSpPr/>
          <p:nvPr/>
        </p:nvSpPr>
        <p:spPr>
          <a:xfrm>
            <a:off x="868680" y="1508760"/>
            <a:ext cx="6309360" cy="4160520"/>
          </a:xfrm>
          <a:prstGeom prst="rect">
            <a:avLst/>
          </a:prstGeom>
          <a:noFill/>
          <a:ln/>
        </p:spPr>
        <p:txBody>
          <a:bodyPr wrap="square" lIns="635" tIns="635" rIns="635" bIns="635" rtlCol="0" anchor="t">
            <a:normAutofit/>
          </a:bodyPr>
          <a:lstStyle/>
          <a:p>
            <a:r>
              <a:rPr lang="en-US" sz="2100" dirty="0">
                <a:solidFill>
                  <a:srgbClr val="17364A"/>
                </a:solidFill>
                <a:latin typeface="Aptos" pitchFamily="34" charset="0"/>
                <a:ea typeface="Aptos" pitchFamily="34" charset="-122"/>
                <a:cs typeface="Aptos" pitchFamily="34" charset="-120"/>
              </a:rPr>
              <a:t>MLOps and LLMOps are the lifecycle practices used to develop, test, deploy, monitor, update, and retire.</a:t>
            </a:r>
            <a:endParaRPr lang="en-US" sz="2100" dirty="0"/>
          </a:p>
          <a:p>
            <a:r>
              <a:rPr lang="en-US" sz="2100" dirty="0">
                <a:solidFill>
                  <a:srgbClr val="17364A"/>
                </a:solidFill>
                <a:latin typeface="Aptos" pitchFamily="34" charset="0"/>
                <a:ea typeface="Aptos" pitchFamily="34" charset="-122"/>
                <a:cs typeface="Aptos" pitchFamily="34" charset="-120"/>
              </a:rPr>
              <a:t>Public health agencies need these practices because AI performance can change over time as data,.</a:t>
            </a:r>
            <a:endParaRPr lang="en-US" sz="2100" dirty="0"/>
          </a:p>
          <a:p>
            <a:r>
              <a:rPr lang="en-US" sz="2100" dirty="0">
                <a:solidFill>
                  <a:srgbClr val="17364A"/>
                </a:solidFill>
                <a:latin typeface="Aptos" pitchFamily="34" charset="0"/>
                <a:ea typeface="Aptos" pitchFamily="34" charset="-122"/>
                <a:cs typeface="Aptos" pitchFamily="34" charset="-120"/>
              </a:rPr>
              <a:t>This module focuses on model registries, versioning, testing, drift monitoring, evaluation datasets,.</a:t>
            </a:r>
            <a:endParaRPr lang="en-US" sz="2100" dirty="0"/>
          </a:p>
        </p:txBody>
      </p:sp>
      <p:sp>
        <p:nvSpPr>
          <p:cNvPr id="10" name="Shape 8"/>
          <p:cNvSpPr/>
          <p:nvPr/>
        </p:nvSpPr>
        <p:spPr>
          <a:xfrm>
            <a:off x="7635240" y="1325880"/>
            <a:ext cx="3474720" cy="1325880"/>
          </a:xfrm>
          <a:prstGeom prst="roundRect">
            <a:avLst>
              <a:gd name="adj" fmla="val 8276"/>
            </a:avLst>
          </a:prstGeom>
          <a:solidFill>
            <a:srgbClr val="EEF8ED"/>
          </a:solidFill>
          <a:ln w="12700">
            <a:solidFill>
              <a:srgbClr val="B9D7E6"/>
            </a:solidFill>
            <a:prstDash val="solid"/>
          </a:ln>
        </p:spPr>
      </p:sp>
      <p:sp>
        <p:nvSpPr>
          <p:cNvPr id="11" name="Text 9"/>
          <p:cNvSpPr/>
          <p:nvPr/>
        </p:nvSpPr>
        <p:spPr>
          <a:xfrm>
            <a:off x="7799832" y="147218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Core concept</a:t>
            </a:r>
            <a:endParaRPr lang="en-US" sz="1300" dirty="0"/>
          </a:p>
        </p:txBody>
      </p:sp>
      <p:sp>
        <p:nvSpPr>
          <p:cNvPr id="12" name="Text 10"/>
          <p:cNvSpPr/>
          <p:nvPr/>
        </p:nvSpPr>
        <p:spPr>
          <a:xfrm>
            <a:off x="7799832" y="1828800"/>
            <a:ext cx="3145536" cy="68580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MLOps and LLMOps are the lifecycle practices used to develop, test, deploy, monitor, update, and retire.</a:t>
            </a:r>
            <a:endParaRPr lang="en-US" sz="1550" dirty="0"/>
          </a:p>
        </p:txBody>
      </p:sp>
      <p:sp>
        <p:nvSpPr>
          <p:cNvPr id="13" name="Shape 11"/>
          <p:cNvSpPr/>
          <p:nvPr/>
        </p:nvSpPr>
        <p:spPr>
          <a:xfrm>
            <a:off x="7635240" y="2788920"/>
            <a:ext cx="3474720" cy="1536192"/>
          </a:xfrm>
          <a:prstGeom prst="roundRect">
            <a:avLst>
              <a:gd name="adj" fmla="val 7143"/>
            </a:avLst>
          </a:prstGeom>
          <a:solidFill>
            <a:srgbClr val="FFFFFF"/>
          </a:solidFill>
          <a:ln w="12700">
            <a:solidFill>
              <a:srgbClr val="B9D7E6"/>
            </a:solidFill>
            <a:prstDash val="solid"/>
          </a:ln>
        </p:spPr>
      </p:sp>
      <p:sp>
        <p:nvSpPr>
          <p:cNvPr id="14" name="Text 12"/>
          <p:cNvSpPr/>
          <p:nvPr/>
        </p:nvSpPr>
        <p:spPr>
          <a:xfrm>
            <a:off x="7799832" y="293522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Concept checkpoints</a:t>
            </a:r>
            <a:endParaRPr lang="en-US" sz="1300" dirty="0"/>
          </a:p>
        </p:txBody>
      </p:sp>
      <p:sp>
        <p:nvSpPr>
          <p:cNvPr id="15" name="Text 13"/>
          <p:cNvSpPr/>
          <p:nvPr/>
        </p:nvSpPr>
        <p:spPr>
          <a:xfrm>
            <a:off x="7818120" y="3300984"/>
            <a:ext cx="3090672" cy="877824"/>
          </a:xfrm>
          <a:prstGeom prst="rect">
            <a:avLst/>
          </a:prstGeom>
          <a:noFill/>
          <a:ln/>
        </p:spPr>
        <p:txBody>
          <a:bodyPr wrap="square" lIns="254" tIns="254" rIns="254" bIns="254" rtlCol="0" anchor="t">
            <a:normAutofit/>
          </a:bodyPr>
          <a:lstStyle/>
          <a:p>
            <a:r>
              <a:rPr lang="en-US" sz="1380" dirty="0">
                <a:solidFill>
                  <a:srgbClr val="17364A"/>
                </a:solidFill>
                <a:latin typeface="Aptos" pitchFamily="34" charset="0"/>
                <a:ea typeface="Aptos" pitchFamily="34" charset="-122"/>
                <a:cs typeface="Aptos" pitchFamily="34" charset="-120"/>
              </a:rPr>
              <a:t>MLOps and LLMOps are the lifecycle practices used to develop, test, deploy, monitor,.</a:t>
            </a:r>
            <a:endParaRPr lang="en-US" sz="1380" dirty="0"/>
          </a:p>
          <a:p>
            <a:r>
              <a:rPr lang="en-US" sz="1380" dirty="0">
                <a:solidFill>
                  <a:srgbClr val="17364A"/>
                </a:solidFill>
                <a:latin typeface="Aptos" pitchFamily="34" charset="0"/>
                <a:ea typeface="Aptos" pitchFamily="34" charset="-122"/>
                <a:cs typeface="Aptos" pitchFamily="34" charset="-120"/>
              </a:rPr>
              <a:t>Public health agencies need these practices because AI performance can change over time as.</a:t>
            </a:r>
            <a:endParaRPr lang="en-US" sz="1380" dirty="0"/>
          </a:p>
          <a:p>
            <a:r>
              <a:rPr lang="en-US" sz="1380" dirty="0">
                <a:solidFill>
                  <a:srgbClr val="17364A"/>
                </a:solidFill>
                <a:latin typeface="Aptos" pitchFamily="34" charset="0"/>
                <a:ea typeface="Aptos" pitchFamily="34" charset="-122"/>
                <a:cs typeface="Aptos" pitchFamily="34" charset="-120"/>
              </a:rPr>
              <a:t>This module focuses on model registries, versioning, testing, drift monitoring, evaluation.</a:t>
            </a:r>
            <a:endParaRPr lang="en-US" sz="1380" dirty="0"/>
          </a:p>
        </p:txBody>
      </p:sp>
      <p:sp>
        <p:nvSpPr>
          <p:cNvPr id="16" name="Shape 14"/>
          <p:cNvSpPr/>
          <p:nvPr/>
        </p:nvSpPr>
        <p:spPr>
          <a:xfrm>
            <a:off x="7635240" y="4498848"/>
            <a:ext cx="3474720" cy="1143000"/>
          </a:xfrm>
          <a:prstGeom prst="roundRect">
            <a:avLst>
              <a:gd name="adj" fmla="val 9600"/>
            </a:avLst>
          </a:prstGeom>
          <a:solidFill>
            <a:srgbClr val="EAF6F8"/>
          </a:solidFill>
          <a:ln w="12700">
            <a:solidFill>
              <a:srgbClr val="B9D7E6"/>
            </a:solidFill>
            <a:prstDash val="solid"/>
          </a:ln>
        </p:spPr>
      </p:sp>
      <p:sp>
        <p:nvSpPr>
          <p:cNvPr id="17" name="Text 15"/>
          <p:cNvSpPr/>
          <p:nvPr/>
        </p:nvSpPr>
        <p:spPr>
          <a:xfrm>
            <a:off x="7799832" y="4645152"/>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Apply it</a:t>
            </a:r>
            <a:endParaRPr lang="en-US" sz="1300" dirty="0"/>
          </a:p>
        </p:txBody>
      </p:sp>
      <p:sp>
        <p:nvSpPr>
          <p:cNvPr id="18" name="Text 16"/>
          <p:cNvSpPr/>
          <p:nvPr/>
        </p:nvSpPr>
        <p:spPr>
          <a:xfrm>
            <a:off x="7799832" y="5001768"/>
            <a:ext cx="3145536" cy="50292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Connect the concept to public health purpose, responsible use, required safeguards, documentation, and the next action a department should take.</a:t>
            </a:r>
            <a:endParaRPr lang="en-US" sz="155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MLOps and LLMOps for Public Health</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8</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Why This Topic Matters for Public Health AI</a:t>
            </a:r>
            <a:endParaRPr lang="en-US" sz="3400" dirty="0"/>
          </a:p>
        </p:txBody>
      </p:sp>
      <p:sp>
        <p:nvSpPr>
          <p:cNvPr id="9" name="Text 7"/>
          <p:cNvSpPr/>
          <p:nvPr/>
        </p:nvSpPr>
        <p:spPr>
          <a:xfrm>
            <a:off x="868680" y="1508760"/>
            <a:ext cx="6309360" cy="4160520"/>
          </a:xfrm>
          <a:prstGeom prst="rect">
            <a:avLst/>
          </a:prstGeom>
          <a:noFill/>
          <a:ln/>
        </p:spPr>
        <p:txBody>
          <a:bodyPr wrap="square" lIns="635" tIns="635" rIns="635" bIns="635" rtlCol="0" anchor="t">
            <a:normAutofit/>
          </a:bodyPr>
          <a:lstStyle/>
          <a:p>
            <a:r>
              <a:rPr lang="en-US" sz="2100" dirty="0">
                <a:solidFill>
                  <a:srgbClr val="17364A"/>
                </a:solidFill>
                <a:latin typeface="Aptos" pitchFamily="34" charset="0"/>
                <a:ea typeface="Aptos" pitchFamily="34" charset="-122"/>
                <a:cs typeface="Aptos" pitchFamily="34" charset="-120"/>
              </a:rPr>
              <a:t>MLOps and LLMOps for Public Health matters because AI systems are embedded in public health programs,.</a:t>
            </a:r>
            <a:endParaRPr lang="en-US" sz="2100" dirty="0"/>
          </a:p>
          <a:p>
            <a:r>
              <a:rPr lang="en-US" sz="2100" dirty="0">
                <a:solidFill>
                  <a:srgbClr val="17364A"/>
                </a:solidFill>
                <a:latin typeface="Aptos" pitchFamily="34" charset="0"/>
                <a:ea typeface="Aptos" pitchFamily="34" charset="-122"/>
                <a:cs typeface="Aptos" pitchFamily="34" charset="-120"/>
              </a:rPr>
              <a:t>The topic affects whether AI outputs are accurate, explainable, safe, equitable, secure, and sustainable.</a:t>
            </a:r>
            <a:endParaRPr lang="en-US" sz="2100" dirty="0"/>
          </a:p>
          <a:p>
            <a:r>
              <a:rPr lang="en-US" sz="2100" dirty="0">
                <a:solidFill>
                  <a:srgbClr val="17364A"/>
                </a:solidFill>
                <a:latin typeface="Aptos" pitchFamily="34" charset="0"/>
                <a:ea typeface="Aptos" pitchFamily="34" charset="-122"/>
                <a:cs typeface="Aptos" pitchFamily="34" charset="-120"/>
              </a:rPr>
              <a:t>Agencies that ignore this area may create tools that work in a demonstration but fail in actual practice.</a:t>
            </a:r>
            <a:endParaRPr lang="en-US" sz="2100" dirty="0"/>
          </a:p>
        </p:txBody>
      </p:sp>
      <p:sp>
        <p:nvSpPr>
          <p:cNvPr id="10" name="Shape 8"/>
          <p:cNvSpPr/>
          <p:nvPr/>
        </p:nvSpPr>
        <p:spPr>
          <a:xfrm>
            <a:off x="7635240" y="1325880"/>
            <a:ext cx="3474720" cy="1325880"/>
          </a:xfrm>
          <a:prstGeom prst="roundRect">
            <a:avLst>
              <a:gd name="adj" fmla="val 8276"/>
            </a:avLst>
          </a:prstGeom>
          <a:solidFill>
            <a:srgbClr val="EEF8ED"/>
          </a:solidFill>
          <a:ln w="12700">
            <a:solidFill>
              <a:srgbClr val="B9D7E6"/>
            </a:solidFill>
            <a:prstDash val="solid"/>
          </a:ln>
        </p:spPr>
      </p:sp>
      <p:sp>
        <p:nvSpPr>
          <p:cNvPr id="11" name="Text 9"/>
          <p:cNvSpPr/>
          <p:nvPr/>
        </p:nvSpPr>
        <p:spPr>
          <a:xfrm>
            <a:off x="7799832" y="147218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Core concept</a:t>
            </a:r>
            <a:endParaRPr lang="en-US" sz="1300" dirty="0"/>
          </a:p>
        </p:txBody>
      </p:sp>
      <p:sp>
        <p:nvSpPr>
          <p:cNvPr id="12" name="Text 10"/>
          <p:cNvSpPr/>
          <p:nvPr/>
        </p:nvSpPr>
        <p:spPr>
          <a:xfrm>
            <a:off x="7799832" y="1828800"/>
            <a:ext cx="3145536" cy="68580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MLOps and LLMOps for Public Health matters because AI systems are embedded in public health programs,.</a:t>
            </a:r>
            <a:endParaRPr lang="en-US" sz="1550" dirty="0"/>
          </a:p>
        </p:txBody>
      </p:sp>
      <p:sp>
        <p:nvSpPr>
          <p:cNvPr id="13" name="Shape 11"/>
          <p:cNvSpPr/>
          <p:nvPr/>
        </p:nvSpPr>
        <p:spPr>
          <a:xfrm>
            <a:off x="7635240" y="2788920"/>
            <a:ext cx="3474720" cy="1536192"/>
          </a:xfrm>
          <a:prstGeom prst="roundRect">
            <a:avLst>
              <a:gd name="adj" fmla="val 7143"/>
            </a:avLst>
          </a:prstGeom>
          <a:solidFill>
            <a:srgbClr val="FFFFFF"/>
          </a:solidFill>
          <a:ln w="12700">
            <a:solidFill>
              <a:srgbClr val="B9D7E6"/>
            </a:solidFill>
            <a:prstDash val="solid"/>
          </a:ln>
        </p:spPr>
      </p:sp>
      <p:sp>
        <p:nvSpPr>
          <p:cNvPr id="14" name="Text 12"/>
          <p:cNvSpPr/>
          <p:nvPr/>
        </p:nvSpPr>
        <p:spPr>
          <a:xfrm>
            <a:off x="7799832" y="293522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Concept checkpoints</a:t>
            </a:r>
            <a:endParaRPr lang="en-US" sz="1300" dirty="0"/>
          </a:p>
        </p:txBody>
      </p:sp>
      <p:sp>
        <p:nvSpPr>
          <p:cNvPr id="15" name="Text 13"/>
          <p:cNvSpPr/>
          <p:nvPr/>
        </p:nvSpPr>
        <p:spPr>
          <a:xfrm>
            <a:off x="7818120" y="3300984"/>
            <a:ext cx="3090672" cy="877824"/>
          </a:xfrm>
          <a:prstGeom prst="rect">
            <a:avLst/>
          </a:prstGeom>
          <a:noFill/>
          <a:ln/>
        </p:spPr>
        <p:txBody>
          <a:bodyPr wrap="square" lIns="254" tIns="254" rIns="254" bIns="254" rtlCol="0" anchor="t">
            <a:normAutofit/>
          </a:bodyPr>
          <a:lstStyle/>
          <a:p>
            <a:r>
              <a:rPr lang="en-US" sz="1380" dirty="0">
                <a:solidFill>
                  <a:srgbClr val="17364A"/>
                </a:solidFill>
                <a:latin typeface="Aptos" pitchFamily="34" charset="0"/>
                <a:ea typeface="Aptos" pitchFamily="34" charset="-122"/>
                <a:cs typeface="Aptos" pitchFamily="34" charset="-120"/>
              </a:rPr>
              <a:t>MLOps and LLMOps for Public Health matters because AI systems are embedded in public.</a:t>
            </a:r>
            <a:endParaRPr lang="en-US" sz="1380" dirty="0"/>
          </a:p>
          <a:p>
            <a:r>
              <a:rPr lang="en-US" sz="1380" dirty="0">
                <a:solidFill>
                  <a:srgbClr val="17364A"/>
                </a:solidFill>
                <a:latin typeface="Aptos" pitchFamily="34" charset="0"/>
                <a:ea typeface="Aptos" pitchFamily="34" charset="-122"/>
                <a:cs typeface="Aptos" pitchFamily="34" charset="-120"/>
              </a:rPr>
              <a:t>The topic also affects accountability.</a:t>
            </a:r>
            <a:endParaRPr lang="en-US" sz="1380" dirty="0"/>
          </a:p>
          <a:p>
            <a:r>
              <a:rPr lang="en-US" sz="1380" dirty="0">
                <a:solidFill>
                  <a:srgbClr val="17364A"/>
                </a:solidFill>
                <a:latin typeface="Aptos" pitchFamily="34" charset="0"/>
                <a:ea typeface="Aptos" pitchFamily="34" charset="-122"/>
                <a:cs typeface="Aptos" pitchFamily="34" charset="-120"/>
              </a:rPr>
              <a:t>Public health agencies must be able to explain how data are used, why a tool was approved,.</a:t>
            </a:r>
            <a:endParaRPr lang="en-US" sz="1380" dirty="0"/>
          </a:p>
        </p:txBody>
      </p:sp>
      <p:sp>
        <p:nvSpPr>
          <p:cNvPr id="16" name="Shape 14"/>
          <p:cNvSpPr/>
          <p:nvPr/>
        </p:nvSpPr>
        <p:spPr>
          <a:xfrm>
            <a:off x="7635240" y="4498848"/>
            <a:ext cx="3474720" cy="1143000"/>
          </a:xfrm>
          <a:prstGeom prst="roundRect">
            <a:avLst>
              <a:gd name="adj" fmla="val 9600"/>
            </a:avLst>
          </a:prstGeom>
          <a:solidFill>
            <a:srgbClr val="EAF6F8"/>
          </a:solidFill>
          <a:ln w="12700">
            <a:solidFill>
              <a:srgbClr val="B9D7E6"/>
            </a:solidFill>
            <a:prstDash val="solid"/>
          </a:ln>
        </p:spPr>
      </p:sp>
      <p:sp>
        <p:nvSpPr>
          <p:cNvPr id="17" name="Text 15"/>
          <p:cNvSpPr/>
          <p:nvPr/>
        </p:nvSpPr>
        <p:spPr>
          <a:xfrm>
            <a:off x="7799832" y="4645152"/>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Apply it</a:t>
            </a:r>
            <a:endParaRPr lang="en-US" sz="1300" dirty="0"/>
          </a:p>
        </p:txBody>
      </p:sp>
      <p:sp>
        <p:nvSpPr>
          <p:cNvPr id="18" name="Text 16"/>
          <p:cNvSpPr/>
          <p:nvPr/>
        </p:nvSpPr>
        <p:spPr>
          <a:xfrm>
            <a:off x="7799832" y="5001768"/>
            <a:ext cx="3145536" cy="50292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Connect the concept to public health purpose, responsible use, required safeguards, documentation, and the next action a department should take.</a:t>
            </a:r>
            <a:endParaRPr lang="en-US" sz="155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MLOps and LLMOps for Public Health</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9</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Core Concepts</a:t>
            </a:r>
            <a:endParaRPr lang="en-US" sz="3400" dirty="0"/>
          </a:p>
        </p:txBody>
      </p:sp>
      <p:sp>
        <p:nvSpPr>
          <p:cNvPr id="9" name="Text 7"/>
          <p:cNvSpPr/>
          <p:nvPr/>
        </p:nvSpPr>
        <p:spPr>
          <a:xfrm>
            <a:off x="868680" y="1508760"/>
            <a:ext cx="6309360" cy="4160520"/>
          </a:xfrm>
          <a:prstGeom prst="rect">
            <a:avLst/>
          </a:prstGeom>
          <a:noFill/>
          <a:ln/>
        </p:spPr>
        <p:txBody>
          <a:bodyPr wrap="square" lIns="635" tIns="635" rIns="635" bIns="635" rtlCol="0" anchor="t">
            <a:normAutofit/>
          </a:bodyPr>
          <a:lstStyle/>
          <a:p>
            <a:r>
              <a:rPr lang="en-US" sz="2100" dirty="0">
                <a:solidFill>
                  <a:srgbClr val="17364A"/>
                </a:solidFill>
                <a:latin typeface="Aptos" pitchFamily="34" charset="0"/>
                <a:ea typeface="Aptos" pitchFamily="34" charset="-122"/>
                <a:cs typeface="Aptos" pitchFamily="34" charset="-120"/>
              </a:rPr>
              <a:t>MLOps refers to operational practices for managing machine learning models through their lifecycle.</a:t>
            </a:r>
            <a:endParaRPr lang="en-US" sz="2100" dirty="0"/>
          </a:p>
          <a:p>
            <a:r>
              <a:rPr lang="en-US" sz="2100" dirty="0">
                <a:solidFill>
                  <a:srgbClr val="17364A"/>
                </a:solidFill>
                <a:latin typeface="Aptos" pitchFamily="34" charset="0"/>
                <a:ea typeface="Aptos" pitchFamily="34" charset="-122"/>
                <a:cs typeface="Aptos" pitchFamily="34" charset="-120"/>
              </a:rPr>
              <a:t>LLMOps applies similar practices to large language model applications, including prompts, retrieval.</a:t>
            </a:r>
            <a:endParaRPr lang="en-US" sz="2100" dirty="0"/>
          </a:p>
          <a:p>
            <a:r>
              <a:rPr lang="en-US" sz="2100" dirty="0">
                <a:solidFill>
                  <a:srgbClr val="17364A"/>
                </a:solidFill>
                <a:latin typeface="Aptos" pitchFamily="34" charset="0"/>
                <a:ea typeface="Aptos" pitchFamily="34" charset="-122"/>
                <a:cs typeface="Aptos" pitchFamily="34" charset="-120"/>
              </a:rPr>
              <a:t>These practices make AI systems more reliable, auditable, and maintainable.</a:t>
            </a:r>
            <a:endParaRPr lang="en-US" sz="2100" dirty="0"/>
          </a:p>
        </p:txBody>
      </p:sp>
      <p:sp>
        <p:nvSpPr>
          <p:cNvPr id="10" name="Shape 8"/>
          <p:cNvSpPr/>
          <p:nvPr/>
        </p:nvSpPr>
        <p:spPr>
          <a:xfrm>
            <a:off x="7635240" y="1325880"/>
            <a:ext cx="3474720" cy="1325880"/>
          </a:xfrm>
          <a:prstGeom prst="roundRect">
            <a:avLst>
              <a:gd name="adj" fmla="val 8276"/>
            </a:avLst>
          </a:prstGeom>
          <a:solidFill>
            <a:srgbClr val="EEF8ED"/>
          </a:solidFill>
          <a:ln w="12700">
            <a:solidFill>
              <a:srgbClr val="B9D7E6"/>
            </a:solidFill>
            <a:prstDash val="solid"/>
          </a:ln>
        </p:spPr>
      </p:sp>
      <p:sp>
        <p:nvSpPr>
          <p:cNvPr id="11" name="Text 9"/>
          <p:cNvSpPr/>
          <p:nvPr/>
        </p:nvSpPr>
        <p:spPr>
          <a:xfrm>
            <a:off x="7799832" y="147218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Core concept</a:t>
            </a:r>
            <a:endParaRPr lang="en-US" sz="1300" dirty="0"/>
          </a:p>
        </p:txBody>
      </p:sp>
      <p:sp>
        <p:nvSpPr>
          <p:cNvPr id="12" name="Text 10"/>
          <p:cNvSpPr/>
          <p:nvPr/>
        </p:nvSpPr>
        <p:spPr>
          <a:xfrm>
            <a:off x="7799832" y="1828800"/>
            <a:ext cx="3145536" cy="68580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MLOps refers to operational practices for managing machine learning models through their lifecycle.</a:t>
            </a:r>
            <a:endParaRPr lang="en-US" sz="1550" dirty="0"/>
          </a:p>
        </p:txBody>
      </p:sp>
      <p:sp>
        <p:nvSpPr>
          <p:cNvPr id="13" name="Shape 11"/>
          <p:cNvSpPr/>
          <p:nvPr/>
        </p:nvSpPr>
        <p:spPr>
          <a:xfrm>
            <a:off x="7635240" y="2788920"/>
            <a:ext cx="3474720" cy="1536192"/>
          </a:xfrm>
          <a:prstGeom prst="roundRect">
            <a:avLst>
              <a:gd name="adj" fmla="val 7143"/>
            </a:avLst>
          </a:prstGeom>
          <a:solidFill>
            <a:srgbClr val="FFFFFF"/>
          </a:solidFill>
          <a:ln w="12700">
            <a:solidFill>
              <a:srgbClr val="B9D7E6"/>
            </a:solidFill>
            <a:prstDash val="solid"/>
          </a:ln>
        </p:spPr>
      </p:sp>
      <p:sp>
        <p:nvSpPr>
          <p:cNvPr id="14" name="Text 12"/>
          <p:cNvSpPr/>
          <p:nvPr/>
        </p:nvSpPr>
        <p:spPr>
          <a:xfrm>
            <a:off x="7799832" y="293522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Concept checkpoints</a:t>
            </a:r>
            <a:endParaRPr lang="en-US" sz="1300" dirty="0"/>
          </a:p>
        </p:txBody>
      </p:sp>
      <p:sp>
        <p:nvSpPr>
          <p:cNvPr id="15" name="Text 13"/>
          <p:cNvSpPr/>
          <p:nvPr/>
        </p:nvSpPr>
        <p:spPr>
          <a:xfrm>
            <a:off x="7818120" y="3300984"/>
            <a:ext cx="3090672" cy="877824"/>
          </a:xfrm>
          <a:prstGeom prst="rect">
            <a:avLst/>
          </a:prstGeom>
          <a:noFill/>
          <a:ln/>
        </p:spPr>
        <p:txBody>
          <a:bodyPr wrap="square" lIns="254" tIns="254" rIns="254" bIns="254" rtlCol="0" anchor="t">
            <a:normAutofit/>
          </a:bodyPr>
          <a:lstStyle/>
          <a:p>
            <a:r>
              <a:rPr lang="en-US" sz="1380" dirty="0">
                <a:solidFill>
                  <a:srgbClr val="17364A"/>
                </a:solidFill>
                <a:latin typeface="Aptos" pitchFamily="34" charset="0"/>
                <a:ea typeface="Aptos" pitchFamily="34" charset="-122"/>
                <a:cs typeface="Aptos" pitchFamily="34" charset="-120"/>
              </a:rPr>
              <a:t>LLMOps applies similar practices to large language model applications, including prompts,.</a:t>
            </a:r>
            <a:endParaRPr lang="en-US" sz="1380" dirty="0"/>
          </a:p>
          <a:p>
            <a:r>
              <a:rPr lang="en-US" sz="1380" dirty="0">
                <a:solidFill>
                  <a:srgbClr val="17364A"/>
                </a:solidFill>
                <a:latin typeface="Aptos" pitchFamily="34" charset="0"/>
                <a:ea typeface="Aptos" pitchFamily="34" charset="-122"/>
                <a:cs typeface="Aptos" pitchFamily="34" charset="-120"/>
              </a:rPr>
              <a:t>Model versioning is the practice of tracking which version of a model, prompt, retrieval.</a:t>
            </a:r>
            <a:endParaRPr lang="en-US" sz="1380" dirty="0"/>
          </a:p>
          <a:p>
            <a:r>
              <a:rPr lang="en-US" sz="1380" dirty="0">
                <a:solidFill>
                  <a:srgbClr val="17364A"/>
                </a:solidFill>
                <a:latin typeface="Aptos" pitchFamily="34" charset="0"/>
                <a:ea typeface="Aptos" pitchFamily="34" charset="-122"/>
                <a:cs typeface="Aptos" pitchFamily="34" charset="-120"/>
              </a:rPr>
              <a:t>Versioning matters because public health staff may need to reconstruct why an output.</a:t>
            </a:r>
            <a:endParaRPr lang="en-US" sz="1380" dirty="0"/>
          </a:p>
        </p:txBody>
      </p:sp>
      <p:sp>
        <p:nvSpPr>
          <p:cNvPr id="16" name="Shape 14"/>
          <p:cNvSpPr/>
          <p:nvPr/>
        </p:nvSpPr>
        <p:spPr>
          <a:xfrm>
            <a:off x="7635240" y="4498848"/>
            <a:ext cx="3474720" cy="1143000"/>
          </a:xfrm>
          <a:prstGeom prst="roundRect">
            <a:avLst>
              <a:gd name="adj" fmla="val 9600"/>
            </a:avLst>
          </a:prstGeom>
          <a:solidFill>
            <a:srgbClr val="EAF6F8"/>
          </a:solidFill>
          <a:ln w="12700">
            <a:solidFill>
              <a:srgbClr val="B9D7E6"/>
            </a:solidFill>
            <a:prstDash val="solid"/>
          </a:ln>
        </p:spPr>
      </p:sp>
      <p:sp>
        <p:nvSpPr>
          <p:cNvPr id="17" name="Text 15"/>
          <p:cNvSpPr/>
          <p:nvPr/>
        </p:nvSpPr>
        <p:spPr>
          <a:xfrm>
            <a:off x="7799832" y="4645152"/>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Apply it</a:t>
            </a:r>
            <a:endParaRPr lang="en-US" sz="1300" dirty="0"/>
          </a:p>
        </p:txBody>
      </p:sp>
      <p:sp>
        <p:nvSpPr>
          <p:cNvPr id="18" name="Text 16"/>
          <p:cNvSpPr/>
          <p:nvPr/>
        </p:nvSpPr>
        <p:spPr>
          <a:xfrm>
            <a:off x="7799832" y="5001768"/>
            <a:ext cx="3145536" cy="50292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Connect the concept to public health purpose, responsible use, required safeguards, documentation, and the next action a department should take.</a:t>
            </a:r>
            <a:endParaRPr lang="en-US" sz="155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MLOps and LLMOps for Public Health</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10</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Public Health Example</a:t>
            </a:r>
            <a:endParaRPr lang="en-US" sz="3400" dirty="0"/>
          </a:p>
        </p:txBody>
      </p:sp>
      <p:sp>
        <p:nvSpPr>
          <p:cNvPr id="9" name="Text 7"/>
          <p:cNvSpPr/>
          <p:nvPr/>
        </p:nvSpPr>
        <p:spPr>
          <a:xfrm>
            <a:off x="868680" y="1508760"/>
            <a:ext cx="6309360" cy="4160520"/>
          </a:xfrm>
          <a:prstGeom prst="rect">
            <a:avLst/>
          </a:prstGeom>
          <a:noFill/>
          <a:ln/>
        </p:spPr>
        <p:txBody>
          <a:bodyPr wrap="square" lIns="635" tIns="635" rIns="635" bIns="635" rtlCol="0" anchor="t">
            <a:normAutofit/>
          </a:bodyPr>
          <a:lstStyle/>
          <a:p>
            <a:r>
              <a:rPr lang="en-US" sz="2100" dirty="0">
                <a:solidFill>
                  <a:srgbClr val="17364A"/>
                </a:solidFill>
                <a:latin typeface="Aptos" pitchFamily="34" charset="0"/>
                <a:ea typeface="Aptos" pitchFamily="34" charset="-122"/>
                <a:cs typeface="Aptos" pitchFamily="34" charset="-120"/>
              </a:rPr>
              <a:t>A syndromic surveillance team may use an anomaly detection model to flag unusual emergency department.</a:t>
            </a:r>
            <a:endParaRPr lang="en-US" sz="2100" dirty="0"/>
          </a:p>
          <a:p>
            <a:r>
              <a:rPr lang="en-US" sz="2100" dirty="0">
                <a:solidFill>
                  <a:srgbClr val="17364A"/>
                </a:solidFill>
                <a:latin typeface="Aptos" pitchFamily="34" charset="0"/>
                <a:ea typeface="Aptos" pitchFamily="34" charset="-122"/>
                <a:cs typeface="Aptos" pitchFamily="34" charset="-120"/>
              </a:rPr>
              <a:t>The model may perform well during testing, but performance can change when chief complaint text.</a:t>
            </a:r>
            <a:endParaRPr lang="en-US" sz="2100" dirty="0"/>
          </a:p>
          <a:p>
            <a:r>
              <a:rPr lang="en-US" sz="2100" dirty="0">
                <a:solidFill>
                  <a:srgbClr val="17364A"/>
                </a:solidFill>
                <a:latin typeface="Aptos" pitchFamily="34" charset="0"/>
                <a:ea typeface="Aptos" pitchFamily="34" charset="-122"/>
                <a:cs typeface="Aptos" pitchFamily="34" charset="-120"/>
              </a:rPr>
              <a:t>An MLOps plan would define monitoring indicators, evaluation frequency, responsible staff, retraining.</a:t>
            </a:r>
            <a:endParaRPr lang="en-US" sz="2100" dirty="0"/>
          </a:p>
        </p:txBody>
      </p:sp>
      <p:sp>
        <p:nvSpPr>
          <p:cNvPr id="10" name="Shape 8"/>
          <p:cNvSpPr/>
          <p:nvPr/>
        </p:nvSpPr>
        <p:spPr>
          <a:xfrm>
            <a:off x="7635240" y="1325880"/>
            <a:ext cx="3474720" cy="1325880"/>
          </a:xfrm>
          <a:prstGeom prst="roundRect">
            <a:avLst>
              <a:gd name="adj" fmla="val 8276"/>
            </a:avLst>
          </a:prstGeom>
          <a:solidFill>
            <a:srgbClr val="EEF8ED"/>
          </a:solidFill>
          <a:ln w="12700">
            <a:solidFill>
              <a:srgbClr val="B9D7E6"/>
            </a:solidFill>
            <a:prstDash val="solid"/>
          </a:ln>
        </p:spPr>
      </p:sp>
      <p:sp>
        <p:nvSpPr>
          <p:cNvPr id="11" name="Text 9"/>
          <p:cNvSpPr/>
          <p:nvPr/>
        </p:nvSpPr>
        <p:spPr>
          <a:xfrm>
            <a:off x="7799832" y="147218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Core concept</a:t>
            </a:r>
            <a:endParaRPr lang="en-US" sz="1300" dirty="0"/>
          </a:p>
        </p:txBody>
      </p:sp>
      <p:sp>
        <p:nvSpPr>
          <p:cNvPr id="12" name="Text 10"/>
          <p:cNvSpPr/>
          <p:nvPr/>
        </p:nvSpPr>
        <p:spPr>
          <a:xfrm>
            <a:off x="7799832" y="1828800"/>
            <a:ext cx="3145536" cy="68580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A syndromic surveillance team may use an anomaly detection model to flag unusual emergency department.</a:t>
            </a:r>
            <a:endParaRPr lang="en-US" sz="1550" dirty="0"/>
          </a:p>
        </p:txBody>
      </p:sp>
      <p:sp>
        <p:nvSpPr>
          <p:cNvPr id="13" name="Shape 11"/>
          <p:cNvSpPr/>
          <p:nvPr/>
        </p:nvSpPr>
        <p:spPr>
          <a:xfrm>
            <a:off x="7635240" y="2788920"/>
            <a:ext cx="3474720" cy="1536192"/>
          </a:xfrm>
          <a:prstGeom prst="roundRect">
            <a:avLst>
              <a:gd name="adj" fmla="val 7143"/>
            </a:avLst>
          </a:prstGeom>
          <a:solidFill>
            <a:srgbClr val="FFFFFF"/>
          </a:solidFill>
          <a:ln w="12700">
            <a:solidFill>
              <a:srgbClr val="B9D7E6"/>
            </a:solidFill>
            <a:prstDash val="solid"/>
          </a:ln>
        </p:spPr>
      </p:sp>
      <p:sp>
        <p:nvSpPr>
          <p:cNvPr id="14" name="Text 12"/>
          <p:cNvSpPr/>
          <p:nvPr/>
        </p:nvSpPr>
        <p:spPr>
          <a:xfrm>
            <a:off x="7799832" y="293522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Concept checkpoints</a:t>
            </a:r>
            <a:endParaRPr lang="en-US" sz="1300" dirty="0"/>
          </a:p>
        </p:txBody>
      </p:sp>
      <p:sp>
        <p:nvSpPr>
          <p:cNvPr id="15" name="Text 13"/>
          <p:cNvSpPr/>
          <p:nvPr/>
        </p:nvSpPr>
        <p:spPr>
          <a:xfrm>
            <a:off x="7818120" y="3300984"/>
            <a:ext cx="3090672" cy="877824"/>
          </a:xfrm>
          <a:prstGeom prst="rect">
            <a:avLst/>
          </a:prstGeom>
          <a:noFill/>
          <a:ln/>
        </p:spPr>
        <p:txBody>
          <a:bodyPr wrap="square" lIns="254" tIns="254" rIns="254" bIns="254" rtlCol="0" anchor="t">
            <a:normAutofit/>
          </a:bodyPr>
          <a:lstStyle/>
          <a:p>
            <a:r>
              <a:rPr lang="en-US" sz="1380" dirty="0">
                <a:solidFill>
                  <a:srgbClr val="17364A"/>
                </a:solidFill>
                <a:latin typeface="Aptos" pitchFamily="34" charset="0"/>
                <a:ea typeface="Aptos" pitchFamily="34" charset="-122"/>
                <a:cs typeface="Aptos" pitchFamily="34" charset="-120"/>
              </a:rPr>
              <a:t>A syndromic surveillance team may use an anomaly detection model to flag unusual emergency.</a:t>
            </a:r>
            <a:endParaRPr lang="en-US" sz="1380" dirty="0"/>
          </a:p>
          <a:p>
            <a:r>
              <a:rPr lang="en-US" sz="1380" dirty="0">
                <a:solidFill>
                  <a:srgbClr val="17364A"/>
                </a:solidFill>
                <a:latin typeface="Aptos" pitchFamily="34" charset="0"/>
                <a:ea typeface="Aptos" pitchFamily="34" charset="-122"/>
                <a:cs typeface="Aptos" pitchFamily="34" charset="-120"/>
              </a:rPr>
              <a:t>The model may perform well during testing, but performance can change when chief complaint.</a:t>
            </a:r>
            <a:endParaRPr lang="en-US" sz="1380" dirty="0"/>
          </a:p>
          <a:p>
            <a:r>
              <a:rPr lang="en-US" sz="1380" dirty="0">
                <a:solidFill>
                  <a:srgbClr val="17364A"/>
                </a:solidFill>
                <a:latin typeface="Aptos" pitchFamily="34" charset="0"/>
                <a:ea typeface="Aptos" pitchFamily="34" charset="-122"/>
                <a:cs typeface="Aptos" pitchFamily="34" charset="-120"/>
              </a:rPr>
              <a:t>An MLOps plan would define monitoring indicators, evaluation frequency, responsible staff,.</a:t>
            </a:r>
            <a:endParaRPr lang="en-US" sz="1380" dirty="0"/>
          </a:p>
        </p:txBody>
      </p:sp>
      <p:sp>
        <p:nvSpPr>
          <p:cNvPr id="16" name="Shape 14"/>
          <p:cNvSpPr/>
          <p:nvPr/>
        </p:nvSpPr>
        <p:spPr>
          <a:xfrm>
            <a:off x="7635240" y="4498848"/>
            <a:ext cx="3474720" cy="1143000"/>
          </a:xfrm>
          <a:prstGeom prst="roundRect">
            <a:avLst>
              <a:gd name="adj" fmla="val 9600"/>
            </a:avLst>
          </a:prstGeom>
          <a:solidFill>
            <a:srgbClr val="EAF6F8"/>
          </a:solidFill>
          <a:ln w="12700">
            <a:solidFill>
              <a:srgbClr val="B9D7E6"/>
            </a:solidFill>
            <a:prstDash val="solid"/>
          </a:ln>
        </p:spPr>
      </p:sp>
      <p:sp>
        <p:nvSpPr>
          <p:cNvPr id="17" name="Text 15"/>
          <p:cNvSpPr/>
          <p:nvPr/>
        </p:nvSpPr>
        <p:spPr>
          <a:xfrm>
            <a:off x="7799832" y="4645152"/>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Apply it</a:t>
            </a:r>
            <a:endParaRPr lang="en-US" sz="1300" dirty="0"/>
          </a:p>
        </p:txBody>
      </p:sp>
      <p:sp>
        <p:nvSpPr>
          <p:cNvPr id="18" name="Text 16"/>
          <p:cNvSpPr/>
          <p:nvPr/>
        </p:nvSpPr>
        <p:spPr>
          <a:xfrm>
            <a:off x="7799832" y="5001768"/>
            <a:ext cx="3145536" cy="50292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Connect the concept to public health purpose, responsible use, required safeguards, documentation, and the next action a department should take.</a:t>
            </a:r>
            <a:endParaRPr lang="en-US" sz="155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MLOps and LLMOps for Public Health</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11</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Technical Deep Dive</a:t>
            </a:r>
            <a:endParaRPr lang="en-US" sz="3400" dirty="0"/>
          </a:p>
        </p:txBody>
      </p:sp>
      <p:sp>
        <p:nvSpPr>
          <p:cNvPr id="9" name="Text 7"/>
          <p:cNvSpPr/>
          <p:nvPr/>
        </p:nvSpPr>
        <p:spPr>
          <a:xfrm>
            <a:off x="868680" y="1508760"/>
            <a:ext cx="6309360" cy="4160520"/>
          </a:xfrm>
          <a:prstGeom prst="rect">
            <a:avLst/>
          </a:prstGeom>
          <a:noFill/>
          <a:ln/>
        </p:spPr>
        <p:txBody>
          <a:bodyPr wrap="square" lIns="635" tIns="635" rIns="635" bIns="635" rtlCol="0" anchor="t">
            <a:normAutofit/>
          </a:bodyPr>
          <a:lstStyle/>
          <a:p>
            <a:r>
              <a:rPr lang="en-US" sz="2100" dirty="0">
                <a:solidFill>
                  <a:srgbClr val="17364A"/>
                </a:solidFill>
                <a:latin typeface="Aptos" pitchFamily="34" charset="0"/>
                <a:ea typeface="Aptos" pitchFamily="34" charset="-122"/>
                <a:cs typeface="Aptos" pitchFamily="34" charset="-120"/>
              </a:rPr>
              <a:t>Operational AI management starts before deployment.</a:t>
            </a:r>
            <a:endParaRPr lang="en-US" sz="2100" dirty="0"/>
          </a:p>
          <a:p>
            <a:r>
              <a:rPr lang="en-US" sz="2100" dirty="0">
                <a:solidFill>
                  <a:srgbClr val="17364A"/>
                </a:solidFill>
                <a:latin typeface="Aptos" pitchFamily="34" charset="0"/>
                <a:ea typeface="Aptos" pitchFamily="34" charset="-122"/>
                <a:cs typeface="Aptos" pitchFamily="34" charset="-120"/>
              </a:rPr>
              <a:t>Teams should define an intended use, baseline performance, evaluation datasets, release criteria,.</a:t>
            </a:r>
            <a:endParaRPr lang="en-US" sz="2100" dirty="0"/>
          </a:p>
          <a:p>
            <a:r>
              <a:rPr lang="en-US" sz="2100" dirty="0">
                <a:solidFill>
                  <a:srgbClr val="17364A"/>
                </a:solidFill>
                <a:latin typeface="Aptos" pitchFamily="34" charset="0"/>
                <a:ea typeface="Aptos" pitchFamily="34" charset="-122"/>
                <a:cs typeface="Aptos" pitchFamily="34" charset="-120"/>
              </a:rPr>
              <a:t>Without these elements, agencies may not know whether the deployed system is still behaving as approved.</a:t>
            </a:r>
            <a:endParaRPr lang="en-US" sz="2100" dirty="0"/>
          </a:p>
        </p:txBody>
      </p:sp>
      <p:sp>
        <p:nvSpPr>
          <p:cNvPr id="10" name="Shape 8"/>
          <p:cNvSpPr/>
          <p:nvPr/>
        </p:nvSpPr>
        <p:spPr>
          <a:xfrm>
            <a:off x="7635240" y="1325880"/>
            <a:ext cx="3474720" cy="1325880"/>
          </a:xfrm>
          <a:prstGeom prst="roundRect">
            <a:avLst>
              <a:gd name="adj" fmla="val 8276"/>
            </a:avLst>
          </a:prstGeom>
          <a:solidFill>
            <a:srgbClr val="EEF8ED"/>
          </a:solidFill>
          <a:ln w="12700">
            <a:solidFill>
              <a:srgbClr val="B9D7E6"/>
            </a:solidFill>
            <a:prstDash val="solid"/>
          </a:ln>
        </p:spPr>
      </p:sp>
      <p:sp>
        <p:nvSpPr>
          <p:cNvPr id="11" name="Text 9"/>
          <p:cNvSpPr/>
          <p:nvPr/>
        </p:nvSpPr>
        <p:spPr>
          <a:xfrm>
            <a:off x="7799832" y="147218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Core concept</a:t>
            </a:r>
            <a:endParaRPr lang="en-US" sz="1300" dirty="0"/>
          </a:p>
        </p:txBody>
      </p:sp>
      <p:sp>
        <p:nvSpPr>
          <p:cNvPr id="12" name="Text 10"/>
          <p:cNvSpPr/>
          <p:nvPr/>
        </p:nvSpPr>
        <p:spPr>
          <a:xfrm>
            <a:off x="7799832" y="1828800"/>
            <a:ext cx="3145536" cy="68580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Operational AI management starts before deployment.</a:t>
            </a:r>
            <a:endParaRPr lang="en-US" sz="1550" dirty="0"/>
          </a:p>
        </p:txBody>
      </p:sp>
      <p:sp>
        <p:nvSpPr>
          <p:cNvPr id="13" name="Shape 11"/>
          <p:cNvSpPr/>
          <p:nvPr/>
        </p:nvSpPr>
        <p:spPr>
          <a:xfrm>
            <a:off x="7635240" y="2788920"/>
            <a:ext cx="3474720" cy="1536192"/>
          </a:xfrm>
          <a:prstGeom prst="roundRect">
            <a:avLst>
              <a:gd name="adj" fmla="val 7143"/>
            </a:avLst>
          </a:prstGeom>
          <a:solidFill>
            <a:srgbClr val="FFFFFF"/>
          </a:solidFill>
          <a:ln w="12700">
            <a:solidFill>
              <a:srgbClr val="B9D7E6"/>
            </a:solidFill>
            <a:prstDash val="solid"/>
          </a:ln>
        </p:spPr>
      </p:sp>
      <p:sp>
        <p:nvSpPr>
          <p:cNvPr id="14" name="Text 12"/>
          <p:cNvSpPr/>
          <p:nvPr/>
        </p:nvSpPr>
        <p:spPr>
          <a:xfrm>
            <a:off x="7799832" y="293522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Concept checkpoints</a:t>
            </a:r>
            <a:endParaRPr lang="en-US" sz="1300" dirty="0"/>
          </a:p>
        </p:txBody>
      </p:sp>
      <p:sp>
        <p:nvSpPr>
          <p:cNvPr id="15" name="Text 13"/>
          <p:cNvSpPr/>
          <p:nvPr/>
        </p:nvSpPr>
        <p:spPr>
          <a:xfrm>
            <a:off x="7818120" y="3300984"/>
            <a:ext cx="3090672" cy="877824"/>
          </a:xfrm>
          <a:prstGeom prst="rect">
            <a:avLst/>
          </a:prstGeom>
          <a:noFill/>
          <a:ln/>
        </p:spPr>
        <p:txBody>
          <a:bodyPr wrap="square" lIns="254" tIns="254" rIns="254" bIns="254" rtlCol="0" anchor="t">
            <a:normAutofit/>
          </a:bodyPr>
          <a:lstStyle/>
          <a:p>
            <a:r>
              <a:rPr lang="en-US" sz="1380" dirty="0">
                <a:solidFill>
                  <a:srgbClr val="17364A"/>
                </a:solidFill>
                <a:latin typeface="Aptos" pitchFamily="34" charset="0"/>
                <a:ea typeface="Aptos" pitchFamily="34" charset="-122"/>
                <a:cs typeface="Aptos" pitchFamily="34" charset="-120"/>
              </a:rPr>
              <a:t>Teams should define an intended use, baseline performance, evaluation datasets, release.</a:t>
            </a:r>
            <a:endParaRPr lang="en-US" sz="1380" dirty="0"/>
          </a:p>
          <a:p>
            <a:r>
              <a:rPr lang="en-US" sz="1380" dirty="0">
                <a:solidFill>
                  <a:srgbClr val="17364A"/>
                </a:solidFill>
                <a:latin typeface="Aptos" pitchFamily="34" charset="0"/>
                <a:ea typeface="Aptos" pitchFamily="34" charset="-122"/>
                <a:cs typeface="Aptos" pitchFamily="34" charset="-120"/>
              </a:rPr>
              <a:t>LLMOps adds additional elements because generative systems depend on prompts, retrieval.</a:t>
            </a:r>
            <a:endParaRPr lang="en-US" sz="1380" dirty="0"/>
          </a:p>
          <a:p>
            <a:r>
              <a:rPr lang="en-US" sz="1380" dirty="0">
                <a:solidFill>
                  <a:srgbClr val="17364A"/>
                </a:solidFill>
                <a:latin typeface="Aptos" pitchFamily="34" charset="0"/>
                <a:ea typeface="Aptos" pitchFamily="34" charset="-122"/>
                <a:cs typeface="Aptos" pitchFamily="34" charset="-120"/>
              </a:rPr>
              <a:t>A change in any of these components can change outputs.</a:t>
            </a:r>
            <a:endParaRPr lang="en-US" sz="1380" dirty="0"/>
          </a:p>
        </p:txBody>
      </p:sp>
      <p:sp>
        <p:nvSpPr>
          <p:cNvPr id="16" name="Shape 14"/>
          <p:cNvSpPr/>
          <p:nvPr/>
        </p:nvSpPr>
        <p:spPr>
          <a:xfrm>
            <a:off x="7635240" y="4498848"/>
            <a:ext cx="3474720" cy="1143000"/>
          </a:xfrm>
          <a:prstGeom prst="roundRect">
            <a:avLst>
              <a:gd name="adj" fmla="val 9600"/>
            </a:avLst>
          </a:prstGeom>
          <a:solidFill>
            <a:srgbClr val="EAF6F8"/>
          </a:solidFill>
          <a:ln w="12700">
            <a:solidFill>
              <a:srgbClr val="B9D7E6"/>
            </a:solidFill>
            <a:prstDash val="solid"/>
          </a:ln>
        </p:spPr>
      </p:sp>
      <p:sp>
        <p:nvSpPr>
          <p:cNvPr id="17" name="Text 15"/>
          <p:cNvSpPr/>
          <p:nvPr/>
        </p:nvSpPr>
        <p:spPr>
          <a:xfrm>
            <a:off x="7799832" y="4645152"/>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Apply it</a:t>
            </a:r>
            <a:endParaRPr lang="en-US" sz="1300" dirty="0"/>
          </a:p>
        </p:txBody>
      </p:sp>
      <p:sp>
        <p:nvSpPr>
          <p:cNvPr id="18" name="Text 16"/>
          <p:cNvSpPr/>
          <p:nvPr/>
        </p:nvSpPr>
        <p:spPr>
          <a:xfrm>
            <a:off x="7799832" y="5001768"/>
            <a:ext cx="3145536" cy="50292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Connect the concept to public health purpose, responsible use, required safeguards, documentation, and the next action a department should take.</a:t>
            </a:r>
            <a:endParaRPr lang="en-US" sz="155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MLOps and LLMOps for Public Health</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12</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Risks, Failure Modes, and Guardrails</a:t>
            </a:r>
            <a:endParaRPr lang="en-US" sz="3400" dirty="0"/>
          </a:p>
        </p:txBody>
      </p:sp>
      <p:sp>
        <p:nvSpPr>
          <p:cNvPr id="9" name="Text 7"/>
          <p:cNvSpPr/>
          <p:nvPr/>
        </p:nvSpPr>
        <p:spPr>
          <a:xfrm>
            <a:off x="868680" y="1508760"/>
            <a:ext cx="6309360" cy="4160520"/>
          </a:xfrm>
          <a:prstGeom prst="rect">
            <a:avLst/>
          </a:prstGeom>
          <a:noFill/>
          <a:ln/>
        </p:spPr>
        <p:txBody>
          <a:bodyPr wrap="square" lIns="635" tIns="635" rIns="635" bIns="635" rtlCol="0" anchor="t">
            <a:normAutofit/>
          </a:bodyPr>
          <a:lstStyle/>
          <a:p>
            <a:r>
              <a:rPr lang="en-US" sz="2100" dirty="0">
                <a:solidFill>
                  <a:srgbClr val="17364A"/>
                </a:solidFill>
                <a:latin typeface="Aptos" pitchFamily="34" charset="0"/>
                <a:ea typeface="Aptos" pitchFamily="34" charset="-122"/>
                <a:cs typeface="Aptos" pitchFamily="34" charset="-120"/>
              </a:rPr>
              <a:t>A common failure mode is treating the topic as a technical detail rather than a public health control.</a:t>
            </a:r>
            <a:endParaRPr lang="en-US" sz="2100" dirty="0"/>
          </a:p>
          <a:p>
            <a:r>
              <a:rPr lang="en-US" sz="2100" dirty="0">
                <a:solidFill>
                  <a:srgbClr val="17364A"/>
                </a:solidFill>
                <a:latin typeface="Aptos" pitchFamily="34" charset="0"/>
                <a:ea typeface="Aptos" pitchFamily="34" charset="-122"/>
                <a:cs typeface="Aptos" pitchFamily="34" charset="-120"/>
              </a:rPr>
              <a:t>When staff do not connect technical decisions to authority, workflow, equity, privacy, security, and.</a:t>
            </a:r>
            <a:endParaRPr lang="en-US" sz="2100" dirty="0"/>
          </a:p>
          <a:p>
            <a:r>
              <a:rPr lang="en-US" sz="2100" dirty="0">
                <a:solidFill>
                  <a:srgbClr val="17364A"/>
                </a:solidFill>
                <a:latin typeface="Aptos" pitchFamily="34" charset="0"/>
                <a:ea typeface="Aptos" pitchFamily="34" charset="-122"/>
                <a:cs typeface="Aptos" pitchFamily="34" charset="-120"/>
              </a:rPr>
              <a:t>Another risk is relying on vendor claims without agency-defined evidence.</a:t>
            </a:r>
            <a:endParaRPr lang="en-US" sz="2100" dirty="0"/>
          </a:p>
        </p:txBody>
      </p:sp>
      <p:sp>
        <p:nvSpPr>
          <p:cNvPr id="10" name="Shape 8"/>
          <p:cNvSpPr/>
          <p:nvPr/>
        </p:nvSpPr>
        <p:spPr>
          <a:xfrm>
            <a:off x="7635240" y="1325880"/>
            <a:ext cx="3474720" cy="1325880"/>
          </a:xfrm>
          <a:prstGeom prst="roundRect">
            <a:avLst>
              <a:gd name="adj" fmla="val 8276"/>
            </a:avLst>
          </a:prstGeom>
          <a:solidFill>
            <a:srgbClr val="EEF8ED"/>
          </a:solidFill>
          <a:ln w="12700">
            <a:solidFill>
              <a:srgbClr val="B9D7E6"/>
            </a:solidFill>
            <a:prstDash val="solid"/>
          </a:ln>
        </p:spPr>
      </p:sp>
      <p:sp>
        <p:nvSpPr>
          <p:cNvPr id="11" name="Text 9"/>
          <p:cNvSpPr/>
          <p:nvPr/>
        </p:nvSpPr>
        <p:spPr>
          <a:xfrm>
            <a:off x="7799832" y="147218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Risk check</a:t>
            </a:r>
            <a:endParaRPr lang="en-US" sz="1300" dirty="0"/>
          </a:p>
        </p:txBody>
      </p:sp>
      <p:sp>
        <p:nvSpPr>
          <p:cNvPr id="12" name="Text 10"/>
          <p:cNvSpPr/>
          <p:nvPr/>
        </p:nvSpPr>
        <p:spPr>
          <a:xfrm>
            <a:off x="7799832" y="1828800"/>
            <a:ext cx="3145536" cy="68580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A common failure mode is treating the topic as a technical detail rather than a public health control.</a:t>
            </a:r>
            <a:endParaRPr lang="en-US" sz="1550" dirty="0"/>
          </a:p>
        </p:txBody>
      </p:sp>
      <p:sp>
        <p:nvSpPr>
          <p:cNvPr id="13" name="Shape 11"/>
          <p:cNvSpPr/>
          <p:nvPr/>
        </p:nvSpPr>
        <p:spPr>
          <a:xfrm>
            <a:off x="7635240" y="2788920"/>
            <a:ext cx="3474720" cy="1536192"/>
          </a:xfrm>
          <a:prstGeom prst="roundRect">
            <a:avLst>
              <a:gd name="adj" fmla="val 7143"/>
            </a:avLst>
          </a:prstGeom>
          <a:solidFill>
            <a:srgbClr val="FFFFFF"/>
          </a:solidFill>
          <a:ln w="12700">
            <a:solidFill>
              <a:srgbClr val="B9D7E6"/>
            </a:solidFill>
            <a:prstDash val="solid"/>
          </a:ln>
        </p:spPr>
      </p:sp>
      <p:sp>
        <p:nvSpPr>
          <p:cNvPr id="14" name="Text 12"/>
          <p:cNvSpPr/>
          <p:nvPr/>
        </p:nvSpPr>
        <p:spPr>
          <a:xfrm>
            <a:off x="7799832" y="293522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Concept checkpoints</a:t>
            </a:r>
            <a:endParaRPr lang="en-US" sz="1300" dirty="0"/>
          </a:p>
        </p:txBody>
      </p:sp>
      <p:sp>
        <p:nvSpPr>
          <p:cNvPr id="15" name="Text 13"/>
          <p:cNvSpPr/>
          <p:nvPr/>
        </p:nvSpPr>
        <p:spPr>
          <a:xfrm>
            <a:off x="7818120" y="3300984"/>
            <a:ext cx="3090672" cy="877824"/>
          </a:xfrm>
          <a:prstGeom prst="rect">
            <a:avLst/>
          </a:prstGeom>
          <a:noFill/>
          <a:ln/>
        </p:spPr>
        <p:txBody>
          <a:bodyPr wrap="square" lIns="254" tIns="254" rIns="254" bIns="254" rtlCol="0" anchor="t">
            <a:normAutofit/>
          </a:bodyPr>
          <a:lstStyle/>
          <a:p>
            <a:r>
              <a:rPr lang="en-US" sz="1380" dirty="0">
                <a:solidFill>
                  <a:srgbClr val="17364A"/>
                </a:solidFill>
                <a:latin typeface="Aptos" pitchFamily="34" charset="0"/>
                <a:ea typeface="Aptos" pitchFamily="34" charset="-122"/>
                <a:cs typeface="Aptos" pitchFamily="34" charset="-120"/>
              </a:rPr>
              <a:t>When staff do not connect technical decisions to authority, workflow, equity, privacy,.</a:t>
            </a:r>
            <a:endParaRPr lang="en-US" sz="1380" dirty="0"/>
          </a:p>
          <a:p>
            <a:r>
              <a:rPr lang="en-US" sz="1380" dirty="0">
                <a:solidFill>
                  <a:srgbClr val="17364A"/>
                </a:solidFill>
                <a:latin typeface="Aptos" pitchFamily="34" charset="0"/>
                <a:ea typeface="Aptos" pitchFamily="34" charset="-122"/>
                <a:cs typeface="Aptos" pitchFamily="34" charset="-120"/>
              </a:rPr>
              <a:t>Vendors may provide demonstrations, dashboards, or summary metrics that do not match the.</a:t>
            </a:r>
            <a:endParaRPr lang="en-US" sz="1380" dirty="0"/>
          </a:p>
          <a:p>
            <a:r>
              <a:rPr lang="en-US" sz="1380" dirty="0">
                <a:solidFill>
                  <a:srgbClr val="17364A"/>
                </a:solidFill>
                <a:latin typeface="Aptos" pitchFamily="34" charset="0"/>
                <a:ea typeface="Aptos" pitchFamily="34" charset="-122"/>
                <a:cs typeface="Aptos" pitchFamily="34" charset="-120"/>
              </a:rPr>
              <a:t>A guardrail is to require documentation, test results, acceptance criteria, and.</a:t>
            </a:r>
            <a:endParaRPr lang="en-US" sz="1380" dirty="0"/>
          </a:p>
        </p:txBody>
      </p:sp>
      <p:sp>
        <p:nvSpPr>
          <p:cNvPr id="16" name="Shape 14"/>
          <p:cNvSpPr/>
          <p:nvPr/>
        </p:nvSpPr>
        <p:spPr>
          <a:xfrm>
            <a:off x="7635240" y="4498848"/>
            <a:ext cx="3474720" cy="1143000"/>
          </a:xfrm>
          <a:prstGeom prst="roundRect">
            <a:avLst>
              <a:gd name="adj" fmla="val 9600"/>
            </a:avLst>
          </a:prstGeom>
          <a:solidFill>
            <a:srgbClr val="EAF6F8"/>
          </a:solidFill>
          <a:ln w="12700">
            <a:solidFill>
              <a:srgbClr val="B9D7E6"/>
            </a:solidFill>
            <a:prstDash val="solid"/>
          </a:ln>
        </p:spPr>
      </p:sp>
      <p:sp>
        <p:nvSpPr>
          <p:cNvPr id="17" name="Text 15"/>
          <p:cNvSpPr/>
          <p:nvPr/>
        </p:nvSpPr>
        <p:spPr>
          <a:xfrm>
            <a:off x="7799832" y="4645152"/>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Safeguard to plan</a:t>
            </a:r>
            <a:endParaRPr lang="en-US" sz="1300" dirty="0"/>
          </a:p>
        </p:txBody>
      </p:sp>
      <p:sp>
        <p:nvSpPr>
          <p:cNvPr id="18" name="Text 16"/>
          <p:cNvSpPr/>
          <p:nvPr/>
        </p:nvSpPr>
        <p:spPr>
          <a:xfrm>
            <a:off x="7799832" y="5001768"/>
            <a:ext cx="3145536" cy="50292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Identify what could go wrong, who could be affected, what safeguards are needed, and what evidence should be reviewed before use expands.</a:t>
            </a:r>
            <a:endParaRPr lang="en-US" sz="155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MLOps and LLMOps for Public Health</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13</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Application to AI-Supported Workflows</a:t>
            </a:r>
            <a:endParaRPr lang="en-US" sz="3400" dirty="0"/>
          </a:p>
        </p:txBody>
      </p:sp>
      <p:sp>
        <p:nvSpPr>
          <p:cNvPr id="9" name="Text 7"/>
          <p:cNvSpPr/>
          <p:nvPr/>
        </p:nvSpPr>
        <p:spPr>
          <a:xfrm>
            <a:off x="868680" y="1508760"/>
            <a:ext cx="6309360" cy="4160520"/>
          </a:xfrm>
          <a:prstGeom prst="rect">
            <a:avLst/>
          </a:prstGeom>
          <a:noFill/>
          <a:ln/>
        </p:spPr>
        <p:txBody>
          <a:bodyPr wrap="square" lIns="635" tIns="635" rIns="635" bIns="635" rtlCol="0" anchor="t">
            <a:normAutofit/>
          </a:bodyPr>
          <a:lstStyle/>
          <a:p>
            <a:r>
              <a:rPr lang="en-US" sz="2100" dirty="0">
                <a:solidFill>
                  <a:srgbClr val="17364A"/>
                </a:solidFill>
                <a:latin typeface="Aptos" pitchFamily="34" charset="0"/>
                <a:ea typeface="Aptos" pitchFamily="34" charset="-122"/>
                <a:cs typeface="Aptos" pitchFamily="34" charset="-120"/>
              </a:rPr>
              <a:t>Generative AI, predictive analytics, RAG, automation, and agentic workflows all depend on the controls.</a:t>
            </a:r>
            <a:endParaRPr lang="en-US" sz="2100" dirty="0"/>
          </a:p>
          <a:p>
            <a:r>
              <a:rPr lang="en-US" sz="2100" dirty="0">
                <a:solidFill>
                  <a:srgbClr val="17364A"/>
                </a:solidFill>
                <a:latin typeface="Aptos" pitchFamily="34" charset="0"/>
                <a:ea typeface="Aptos" pitchFamily="34" charset="-122"/>
                <a:cs typeface="Aptos" pitchFamily="34" charset="-120"/>
              </a:rPr>
              <a:t>The controls should be scaled to the risk of the use case.</a:t>
            </a:r>
            <a:endParaRPr lang="en-US" sz="2100" dirty="0"/>
          </a:p>
          <a:p>
            <a:r>
              <a:rPr lang="en-US" sz="2100" dirty="0">
                <a:solidFill>
                  <a:srgbClr val="17364A"/>
                </a:solidFill>
                <a:latin typeface="Aptos" pitchFamily="34" charset="0"/>
                <a:ea typeface="Aptos" pitchFamily="34" charset="-122"/>
                <a:cs typeface="Aptos" pitchFamily="34" charset="-120"/>
              </a:rPr>
              <a:t>A tool that drafts internal training text may require lighter review than a tool that updates case.</a:t>
            </a:r>
            <a:endParaRPr lang="en-US" sz="2100" dirty="0"/>
          </a:p>
        </p:txBody>
      </p:sp>
      <p:sp>
        <p:nvSpPr>
          <p:cNvPr id="10" name="Shape 8"/>
          <p:cNvSpPr/>
          <p:nvPr/>
        </p:nvSpPr>
        <p:spPr>
          <a:xfrm>
            <a:off x="7635240" y="1325880"/>
            <a:ext cx="3474720" cy="1325880"/>
          </a:xfrm>
          <a:prstGeom prst="roundRect">
            <a:avLst>
              <a:gd name="adj" fmla="val 8276"/>
            </a:avLst>
          </a:prstGeom>
          <a:solidFill>
            <a:srgbClr val="EEF8ED"/>
          </a:solidFill>
          <a:ln w="12700">
            <a:solidFill>
              <a:srgbClr val="B9D7E6"/>
            </a:solidFill>
            <a:prstDash val="solid"/>
          </a:ln>
        </p:spPr>
      </p:sp>
      <p:sp>
        <p:nvSpPr>
          <p:cNvPr id="11" name="Text 9"/>
          <p:cNvSpPr/>
          <p:nvPr/>
        </p:nvSpPr>
        <p:spPr>
          <a:xfrm>
            <a:off x="7799832" y="147218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Implementation cue</a:t>
            </a:r>
            <a:endParaRPr lang="en-US" sz="1300" dirty="0"/>
          </a:p>
        </p:txBody>
      </p:sp>
      <p:sp>
        <p:nvSpPr>
          <p:cNvPr id="12" name="Text 10"/>
          <p:cNvSpPr/>
          <p:nvPr/>
        </p:nvSpPr>
        <p:spPr>
          <a:xfrm>
            <a:off x="7799832" y="1828800"/>
            <a:ext cx="3145536" cy="68580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Generative AI, predictive analytics, RAG, automation, and agentic workflows all depend on the controls.</a:t>
            </a:r>
            <a:endParaRPr lang="en-US" sz="1550" dirty="0"/>
          </a:p>
        </p:txBody>
      </p:sp>
      <p:sp>
        <p:nvSpPr>
          <p:cNvPr id="13" name="Shape 11"/>
          <p:cNvSpPr/>
          <p:nvPr/>
        </p:nvSpPr>
        <p:spPr>
          <a:xfrm>
            <a:off x="7635240" y="2788920"/>
            <a:ext cx="3474720" cy="1536192"/>
          </a:xfrm>
          <a:prstGeom prst="roundRect">
            <a:avLst>
              <a:gd name="adj" fmla="val 7143"/>
            </a:avLst>
          </a:prstGeom>
          <a:solidFill>
            <a:srgbClr val="FFFFFF"/>
          </a:solidFill>
          <a:ln w="12700">
            <a:solidFill>
              <a:srgbClr val="B9D7E6"/>
            </a:solidFill>
            <a:prstDash val="solid"/>
          </a:ln>
        </p:spPr>
      </p:sp>
      <p:sp>
        <p:nvSpPr>
          <p:cNvPr id="14" name="Text 12"/>
          <p:cNvSpPr/>
          <p:nvPr/>
        </p:nvSpPr>
        <p:spPr>
          <a:xfrm>
            <a:off x="7799832" y="293522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Concept checkpoints</a:t>
            </a:r>
            <a:endParaRPr lang="en-US" sz="1300" dirty="0"/>
          </a:p>
        </p:txBody>
      </p:sp>
      <p:sp>
        <p:nvSpPr>
          <p:cNvPr id="15" name="Text 13"/>
          <p:cNvSpPr/>
          <p:nvPr/>
        </p:nvSpPr>
        <p:spPr>
          <a:xfrm>
            <a:off x="7818120" y="3300984"/>
            <a:ext cx="3090672" cy="877824"/>
          </a:xfrm>
          <a:prstGeom prst="rect">
            <a:avLst/>
          </a:prstGeom>
          <a:noFill/>
          <a:ln/>
        </p:spPr>
        <p:txBody>
          <a:bodyPr wrap="square" lIns="254" tIns="254" rIns="254" bIns="254" rtlCol="0" anchor="t">
            <a:normAutofit/>
          </a:bodyPr>
          <a:lstStyle/>
          <a:p>
            <a:r>
              <a:rPr lang="en-US" sz="1380" dirty="0">
                <a:solidFill>
                  <a:srgbClr val="17364A"/>
                </a:solidFill>
                <a:latin typeface="Aptos" pitchFamily="34" charset="0"/>
                <a:ea typeface="Aptos" pitchFamily="34" charset="-122"/>
                <a:cs typeface="Aptos" pitchFamily="34" charset="-120"/>
              </a:rPr>
              <a:t>Generative AI, predictive analytics, RAG, automation, and agentic workflows all depend on.</a:t>
            </a:r>
            <a:endParaRPr lang="en-US" sz="1380" dirty="0"/>
          </a:p>
          <a:p>
            <a:r>
              <a:rPr lang="en-US" sz="1380" dirty="0">
                <a:solidFill>
                  <a:srgbClr val="17364A"/>
                </a:solidFill>
                <a:latin typeface="Aptos" pitchFamily="34" charset="0"/>
                <a:ea typeface="Aptos" pitchFamily="34" charset="-122"/>
                <a:cs typeface="Aptos" pitchFamily="34" charset="-120"/>
              </a:rPr>
              <a:t>A tool that drafts internal training text may require lighter review than a tool that.</a:t>
            </a:r>
            <a:endParaRPr lang="en-US" sz="1380" dirty="0"/>
          </a:p>
          <a:p>
            <a:r>
              <a:rPr lang="en-US" sz="1380" dirty="0">
                <a:solidFill>
                  <a:srgbClr val="17364A"/>
                </a:solidFill>
                <a:latin typeface="Aptos" pitchFamily="34" charset="0"/>
                <a:ea typeface="Aptos" pitchFamily="34" charset="-122"/>
                <a:cs typeface="Aptos" pitchFamily="34" charset="-120"/>
              </a:rPr>
              <a:t>The module should be applied during readiness assessment, procurement, implementation.</a:t>
            </a:r>
            <a:endParaRPr lang="en-US" sz="1380" dirty="0"/>
          </a:p>
        </p:txBody>
      </p:sp>
      <p:sp>
        <p:nvSpPr>
          <p:cNvPr id="16" name="Shape 14"/>
          <p:cNvSpPr/>
          <p:nvPr/>
        </p:nvSpPr>
        <p:spPr>
          <a:xfrm>
            <a:off x="7635240" y="4498848"/>
            <a:ext cx="3474720" cy="1143000"/>
          </a:xfrm>
          <a:prstGeom prst="roundRect">
            <a:avLst>
              <a:gd name="adj" fmla="val 9600"/>
            </a:avLst>
          </a:prstGeom>
          <a:solidFill>
            <a:srgbClr val="EAF6F8"/>
          </a:solidFill>
          <a:ln w="12700">
            <a:solidFill>
              <a:srgbClr val="B9D7E6"/>
            </a:solidFill>
            <a:prstDash val="solid"/>
          </a:ln>
        </p:spPr>
      </p:sp>
      <p:sp>
        <p:nvSpPr>
          <p:cNvPr id="17" name="Text 15"/>
          <p:cNvSpPr/>
          <p:nvPr/>
        </p:nvSpPr>
        <p:spPr>
          <a:xfrm>
            <a:off x="7799832" y="4645152"/>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Next action</a:t>
            </a:r>
            <a:endParaRPr lang="en-US" sz="1300" dirty="0"/>
          </a:p>
        </p:txBody>
      </p:sp>
      <p:sp>
        <p:nvSpPr>
          <p:cNvPr id="18" name="Text 16"/>
          <p:cNvSpPr/>
          <p:nvPr/>
        </p:nvSpPr>
        <p:spPr>
          <a:xfrm>
            <a:off x="7799832" y="5001768"/>
            <a:ext cx="3145536" cy="50292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Use the concept to clarify workflow changes, dependencies, staffing, procurement requirements, training needs, and implementation checkpoints.</a:t>
            </a:r>
            <a:endParaRPr lang="en-US" sz="155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MLOps and LLMOps for Public Health</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14</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Reflection Questions</a:t>
            </a:r>
            <a:endParaRPr lang="en-US" sz="3400" dirty="0"/>
          </a:p>
        </p:txBody>
      </p:sp>
      <p:sp>
        <p:nvSpPr>
          <p:cNvPr id="9" name="Text 7"/>
          <p:cNvSpPr/>
          <p:nvPr/>
        </p:nvSpPr>
        <p:spPr>
          <a:xfrm>
            <a:off x="868680" y="1508760"/>
            <a:ext cx="6309360" cy="4160520"/>
          </a:xfrm>
          <a:prstGeom prst="rect">
            <a:avLst/>
          </a:prstGeom>
          <a:noFill/>
          <a:ln/>
        </p:spPr>
        <p:txBody>
          <a:bodyPr wrap="square" lIns="635" tIns="635" rIns="635" bIns="635" rtlCol="0" anchor="t">
            <a:normAutofit/>
          </a:bodyPr>
          <a:lstStyle/>
          <a:p>
            <a:r>
              <a:rPr lang="en-US" sz="2100" dirty="0">
                <a:solidFill>
                  <a:srgbClr val="17364A"/>
                </a:solidFill>
                <a:latin typeface="Aptos" pitchFamily="34" charset="0"/>
                <a:ea typeface="Aptos" pitchFamily="34" charset="-122"/>
                <a:cs typeface="Aptos" pitchFamily="34" charset="-120"/>
              </a:rPr>
              <a:t>Where does this topic appear in one current or proposed AI workflow in your agency?</a:t>
            </a:r>
            <a:endParaRPr lang="en-US" sz="2100" dirty="0"/>
          </a:p>
          <a:p>
            <a:r>
              <a:rPr lang="en-US" sz="2100" dirty="0">
                <a:solidFill>
                  <a:srgbClr val="17364A"/>
                </a:solidFill>
                <a:latin typeface="Aptos" pitchFamily="34" charset="0"/>
                <a:ea typeface="Aptos" pitchFamily="34" charset="-122"/>
                <a:cs typeface="Aptos" pitchFamily="34" charset="-120"/>
              </a:rPr>
              <a:t>What decisions, data sources, users, or partners would be affected if this area is poorly designed?</a:t>
            </a:r>
            <a:endParaRPr lang="en-US" sz="2100" dirty="0"/>
          </a:p>
          <a:p>
            <a:r>
              <a:rPr lang="en-US" sz="2100" dirty="0">
                <a:solidFill>
                  <a:srgbClr val="17364A"/>
                </a:solidFill>
                <a:latin typeface="Aptos" pitchFamily="34" charset="0"/>
                <a:ea typeface="Aptos" pitchFamily="34" charset="-122"/>
                <a:cs typeface="Aptos" pitchFamily="34" charset="-120"/>
              </a:rPr>
              <a:t>What evidence would governance reviewers need before approving the workflow?</a:t>
            </a:r>
            <a:endParaRPr lang="en-US" sz="2100" dirty="0"/>
          </a:p>
        </p:txBody>
      </p:sp>
      <p:sp>
        <p:nvSpPr>
          <p:cNvPr id="10" name="Shape 8"/>
          <p:cNvSpPr/>
          <p:nvPr/>
        </p:nvSpPr>
        <p:spPr>
          <a:xfrm>
            <a:off x="7635240" y="1325880"/>
            <a:ext cx="3474720" cy="1325880"/>
          </a:xfrm>
          <a:prstGeom prst="roundRect">
            <a:avLst>
              <a:gd name="adj" fmla="val 8276"/>
            </a:avLst>
          </a:prstGeom>
          <a:solidFill>
            <a:srgbClr val="EEF8ED"/>
          </a:solidFill>
          <a:ln w="12700">
            <a:solidFill>
              <a:srgbClr val="B9D7E6"/>
            </a:solidFill>
            <a:prstDash val="solid"/>
          </a:ln>
        </p:spPr>
      </p:sp>
      <p:sp>
        <p:nvSpPr>
          <p:cNvPr id="11" name="Text 9"/>
          <p:cNvSpPr/>
          <p:nvPr/>
        </p:nvSpPr>
        <p:spPr>
          <a:xfrm>
            <a:off x="7799832" y="147218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Core concept</a:t>
            </a:r>
            <a:endParaRPr lang="en-US" sz="1300" dirty="0"/>
          </a:p>
        </p:txBody>
      </p:sp>
      <p:sp>
        <p:nvSpPr>
          <p:cNvPr id="12" name="Text 10"/>
          <p:cNvSpPr/>
          <p:nvPr/>
        </p:nvSpPr>
        <p:spPr>
          <a:xfrm>
            <a:off x="7799832" y="1828800"/>
            <a:ext cx="3145536" cy="68580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Where does this topic appear in one current or proposed AI workflow in your agency?</a:t>
            </a:r>
            <a:endParaRPr lang="en-US" sz="1550" dirty="0"/>
          </a:p>
        </p:txBody>
      </p:sp>
      <p:sp>
        <p:nvSpPr>
          <p:cNvPr id="13" name="Shape 11"/>
          <p:cNvSpPr/>
          <p:nvPr/>
        </p:nvSpPr>
        <p:spPr>
          <a:xfrm>
            <a:off x="7635240" y="2788920"/>
            <a:ext cx="3474720" cy="1536192"/>
          </a:xfrm>
          <a:prstGeom prst="roundRect">
            <a:avLst>
              <a:gd name="adj" fmla="val 7143"/>
            </a:avLst>
          </a:prstGeom>
          <a:solidFill>
            <a:srgbClr val="FFFFFF"/>
          </a:solidFill>
          <a:ln w="12700">
            <a:solidFill>
              <a:srgbClr val="B9D7E6"/>
            </a:solidFill>
            <a:prstDash val="solid"/>
          </a:ln>
        </p:spPr>
      </p:sp>
      <p:sp>
        <p:nvSpPr>
          <p:cNvPr id="14" name="Text 12"/>
          <p:cNvSpPr/>
          <p:nvPr/>
        </p:nvSpPr>
        <p:spPr>
          <a:xfrm>
            <a:off x="7799832" y="293522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Concept checkpoints</a:t>
            </a:r>
            <a:endParaRPr lang="en-US" sz="1300" dirty="0"/>
          </a:p>
        </p:txBody>
      </p:sp>
      <p:sp>
        <p:nvSpPr>
          <p:cNvPr id="15" name="Text 13"/>
          <p:cNvSpPr/>
          <p:nvPr/>
        </p:nvSpPr>
        <p:spPr>
          <a:xfrm>
            <a:off x="7818120" y="3300984"/>
            <a:ext cx="3090672" cy="877824"/>
          </a:xfrm>
          <a:prstGeom prst="rect">
            <a:avLst/>
          </a:prstGeom>
          <a:noFill/>
          <a:ln/>
        </p:spPr>
        <p:txBody>
          <a:bodyPr wrap="square" lIns="254" tIns="254" rIns="254" bIns="254" rtlCol="0" anchor="t">
            <a:normAutofit/>
          </a:bodyPr>
          <a:lstStyle/>
          <a:p>
            <a:r>
              <a:rPr lang="en-US" sz="1380" dirty="0">
                <a:solidFill>
                  <a:srgbClr val="17364A"/>
                </a:solidFill>
                <a:latin typeface="Aptos" pitchFamily="34" charset="0"/>
                <a:ea typeface="Aptos" pitchFamily="34" charset="-122"/>
                <a:cs typeface="Aptos" pitchFamily="34" charset="-120"/>
              </a:rPr>
              <a:t>Where does this topic appear in one current or proposed AI workflow in your agency?</a:t>
            </a:r>
            <a:endParaRPr lang="en-US" sz="1380" dirty="0"/>
          </a:p>
          <a:p>
            <a:r>
              <a:rPr lang="en-US" sz="1380" dirty="0">
                <a:solidFill>
                  <a:srgbClr val="17364A"/>
                </a:solidFill>
                <a:latin typeface="Aptos" pitchFamily="34" charset="0"/>
                <a:ea typeface="Aptos" pitchFamily="34" charset="-122"/>
                <a:cs typeface="Aptos" pitchFamily="34" charset="-120"/>
              </a:rPr>
              <a:t>What decisions, data sources, users, or partners would be affected if this area is poorly.</a:t>
            </a:r>
            <a:endParaRPr lang="en-US" sz="1380" dirty="0"/>
          </a:p>
          <a:p>
            <a:r>
              <a:rPr lang="en-US" sz="1380" dirty="0">
                <a:solidFill>
                  <a:srgbClr val="17364A"/>
                </a:solidFill>
                <a:latin typeface="Aptos" pitchFamily="34" charset="0"/>
                <a:ea typeface="Aptos" pitchFamily="34" charset="-122"/>
                <a:cs typeface="Aptos" pitchFamily="34" charset="-120"/>
              </a:rPr>
              <a:t>What evidence would governance reviewers need before approving the workflow?</a:t>
            </a:r>
            <a:endParaRPr lang="en-US" sz="1380" dirty="0"/>
          </a:p>
        </p:txBody>
      </p:sp>
      <p:sp>
        <p:nvSpPr>
          <p:cNvPr id="16" name="Shape 14"/>
          <p:cNvSpPr/>
          <p:nvPr/>
        </p:nvSpPr>
        <p:spPr>
          <a:xfrm>
            <a:off x="7635240" y="4498848"/>
            <a:ext cx="3474720" cy="1143000"/>
          </a:xfrm>
          <a:prstGeom prst="roundRect">
            <a:avLst>
              <a:gd name="adj" fmla="val 9600"/>
            </a:avLst>
          </a:prstGeom>
          <a:solidFill>
            <a:srgbClr val="EAF6F8"/>
          </a:solidFill>
          <a:ln w="12700">
            <a:solidFill>
              <a:srgbClr val="B9D7E6"/>
            </a:solidFill>
            <a:prstDash val="solid"/>
          </a:ln>
        </p:spPr>
      </p:sp>
      <p:sp>
        <p:nvSpPr>
          <p:cNvPr id="17" name="Text 15"/>
          <p:cNvSpPr/>
          <p:nvPr/>
        </p:nvSpPr>
        <p:spPr>
          <a:xfrm>
            <a:off x="7799832" y="4645152"/>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Apply it</a:t>
            </a:r>
            <a:endParaRPr lang="en-US" sz="1300" dirty="0"/>
          </a:p>
        </p:txBody>
      </p:sp>
      <p:sp>
        <p:nvSpPr>
          <p:cNvPr id="18" name="Text 16"/>
          <p:cNvSpPr/>
          <p:nvPr/>
        </p:nvSpPr>
        <p:spPr>
          <a:xfrm>
            <a:off x="7799832" y="5001768"/>
            <a:ext cx="3145536" cy="50292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Connect the concept to public health purpose, responsible use, required safeguards, documentation, and the next action a department should take.</a:t>
            </a:r>
            <a:endParaRPr lang="en-US" sz="155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MLOps and LLMOps for Public Health</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15</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Reflection Questions Continued</a:t>
            </a:r>
            <a:endParaRPr lang="en-US" sz="3400" dirty="0"/>
          </a:p>
        </p:txBody>
      </p:sp>
      <p:sp>
        <p:nvSpPr>
          <p:cNvPr id="9" name="Text 7"/>
          <p:cNvSpPr/>
          <p:nvPr/>
        </p:nvSpPr>
        <p:spPr>
          <a:xfrm>
            <a:off x="868680" y="1508760"/>
            <a:ext cx="6309360" cy="4160520"/>
          </a:xfrm>
          <a:prstGeom prst="rect">
            <a:avLst/>
          </a:prstGeom>
          <a:noFill/>
          <a:ln/>
        </p:spPr>
        <p:txBody>
          <a:bodyPr wrap="square" lIns="635" tIns="635" rIns="635" bIns="635" rtlCol="0" anchor="t">
            <a:normAutofit/>
          </a:bodyPr>
          <a:lstStyle/>
          <a:p>
            <a:r>
              <a:rPr lang="en-US" sz="2100" dirty="0">
                <a:solidFill>
                  <a:srgbClr val="17364A"/>
                </a:solidFill>
                <a:latin typeface="Aptos" pitchFamily="34" charset="0"/>
                <a:ea typeface="Aptos" pitchFamily="34" charset="-122"/>
                <a:cs typeface="Aptos" pitchFamily="34" charset="-120"/>
              </a:rPr>
              <a:t>Which safeguards should be required before pilot testing?</a:t>
            </a:r>
            <a:endParaRPr lang="en-US" sz="2100" dirty="0"/>
          </a:p>
          <a:p>
            <a:r>
              <a:rPr lang="en-US" sz="2100" dirty="0">
                <a:solidFill>
                  <a:srgbClr val="17364A"/>
                </a:solidFill>
                <a:latin typeface="Aptos" pitchFamily="34" charset="0"/>
                <a:ea typeface="Aptos" pitchFamily="34" charset="-122"/>
                <a:cs typeface="Aptos" pitchFamily="34" charset="-120"/>
              </a:rPr>
              <a:t>Who owns ongoing monitoring and review?</a:t>
            </a:r>
            <a:endParaRPr lang="en-US" sz="2100" dirty="0"/>
          </a:p>
        </p:txBody>
      </p:sp>
      <p:sp>
        <p:nvSpPr>
          <p:cNvPr id="10" name="Shape 8"/>
          <p:cNvSpPr/>
          <p:nvPr/>
        </p:nvSpPr>
        <p:spPr>
          <a:xfrm>
            <a:off x="7635240" y="1325880"/>
            <a:ext cx="3474720" cy="1325880"/>
          </a:xfrm>
          <a:prstGeom prst="roundRect">
            <a:avLst>
              <a:gd name="adj" fmla="val 8276"/>
            </a:avLst>
          </a:prstGeom>
          <a:solidFill>
            <a:srgbClr val="EEF8ED"/>
          </a:solidFill>
          <a:ln w="12700">
            <a:solidFill>
              <a:srgbClr val="B9D7E6"/>
            </a:solidFill>
            <a:prstDash val="solid"/>
          </a:ln>
        </p:spPr>
      </p:sp>
      <p:sp>
        <p:nvSpPr>
          <p:cNvPr id="11" name="Text 9"/>
          <p:cNvSpPr/>
          <p:nvPr/>
        </p:nvSpPr>
        <p:spPr>
          <a:xfrm>
            <a:off x="7799832" y="147218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Core concept</a:t>
            </a:r>
            <a:endParaRPr lang="en-US" sz="1300" dirty="0"/>
          </a:p>
        </p:txBody>
      </p:sp>
      <p:sp>
        <p:nvSpPr>
          <p:cNvPr id="12" name="Text 10"/>
          <p:cNvSpPr/>
          <p:nvPr/>
        </p:nvSpPr>
        <p:spPr>
          <a:xfrm>
            <a:off x="7799832" y="1828800"/>
            <a:ext cx="3145536" cy="68580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Which safeguards should be required before pilot testing?</a:t>
            </a:r>
            <a:endParaRPr lang="en-US" sz="1550" dirty="0"/>
          </a:p>
        </p:txBody>
      </p:sp>
      <p:sp>
        <p:nvSpPr>
          <p:cNvPr id="13" name="Shape 11"/>
          <p:cNvSpPr/>
          <p:nvPr/>
        </p:nvSpPr>
        <p:spPr>
          <a:xfrm>
            <a:off x="7635240" y="2788920"/>
            <a:ext cx="3474720" cy="1536192"/>
          </a:xfrm>
          <a:prstGeom prst="roundRect">
            <a:avLst>
              <a:gd name="adj" fmla="val 7143"/>
            </a:avLst>
          </a:prstGeom>
          <a:solidFill>
            <a:srgbClr val="FFFFFF"/>
          </a:solidFill>
          <a:ln w="12700">
            <a:solidFill>
              <a:srgbClr val="B9D7E6"/>
            </a:solidFill>
            <a:prstDash val="solid"/>
          </a:ln>
        </p:spPr>
      </p:sp>
      <p:sp>
        <p:nvSpPr>
          <p:cNvPr id="14" name="Text 12"/>
          <p:cNvSpPr/>
          <p:nvPr/>
        </p:nvSpPr>
        <p:spPr>
          <a:xfrm>
            <a:off x="7799832" y="293522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Concept checkpoints</a:t>
            </a:r>
            <a:endParaRPr lang="en-US" sz="1300" dirty="0"/>
          </a:p>
        </p:txBody>
      </p:sp>
      <p:sp>
        <p:nvSpPr>
          <p:cNvPr id="15" name="Text 13"/>
          <p:cNvSpPr/>
          <p:nvPr/>
        </p:nvSpPr>
        <p:spPr>
          <a:xfrm>
            <a:off x="7818120" y="3300984"/>
            <a:ext cx="3090672" cy="877824"/>
          </a:xfrm>
          <a:prstGeom prst="rect">
            <a:avLst/>
          </a:prstGeom>
          <a:noFill/>
          <a:ln/>
        </p:spPr>
        <p:txBody>
          <a:bodyPr wrap="square" lIns="254" tIns="254" rIns="254" bIns="254" rtlCol="0" anchor="t">
            <a:normAutofit/>
          </a:bodyPr>
          <a:lstStyle/>
          <a:p>
            <a:r>
              <a:rPr lang="en-US" sz="1380" dirty="0">
                <a:solidFill>
                  <a:srgbClr val="17364A"/>
                </a:solidFill>
                <a:latin typeface="Aptos" pitchFamily="34" charset="0"/>
                <a:ea typeface="Aptos" pitchFamily="34" charset="-122"/>
                <a:cs typeface="Aptos" pitchFamily="34" charset="-120"/>
              </a:rPr>
              <a:t>Which safeguards should be required before pilot testing?</a:t>
            </a:r>
            <a:endParaRPr lang="en-US" sz="1380" dirty="0"/>
          </a:p>
          <a:p>
            <a:r>
              <a:rPr lang="en-US" sz="1380" dirty="0">
                <a:solidFill>
                  <a:srgbClr val="17364A"/>
                </a:solidFill>
                <a:latin typeface="Aptos" pitchFamily="34" charset="0"/>
                <a:ea typeface="Aptos" pitchFamily="34" charset="-122"/>
                <a:cs typeface="Aptos" pitchFamily="34" charset="-120"/>
              </a:rPr>
              <a:t>Who owns ongoing monitoring and review?</a:t>
            </a:r>
            <a:endParaRPr lang="en-US" sz="1380" dirty="0"/>
          </a:p>
        </p:txBody>
      </p:sp>
      <p:sp>
        <p:nvSpPr>
          <p:cNvPr id="16" name="Shape 14"/>
          <p:cNvSpPr/>
          <p:nvPr/>
        </p:nvSpPr>
        <p:spPr>
          <a:xfrm>
            <a:off x="7635240" y="4498848"/>
            <a:ext cx="3474720" cy="1143000"/>
          </a:xfrm>
          <a:prstGeom prst="roundRect">
            <a:avLst>
              <a:gd name="adj" fmla="val 9600"/>
            </a:avLst>
          </a:prstGeom>
          <a:solidFill>
            <a:srgbClr val="EAF6F8"/>
          </a:solidFill>
          <a:ln w="12700">
            <a:solidFill>
              <a:srgbClr val="B9D7E6"/>
            </a:solidFill>
            <a:prstDash val="solid"/>
          </a:ln>
        </p:spPr>
      </p:sp>
      <p:sp>
        <p:nvSpPr>
          <p:cNvPr id="17" name="Text 15"/>
          <p:cNvSpPr/>
          <p:nvPr/>
        </p:nvSpPr>
        <p:spPr>
          <a:xfrm>
            <a:off x="7799832" y="4645152"/>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Apply it</a:t>
            </a:r>
            <a:endParaRPr lang="en-US" sz="1300" dirty="0"/>
          </a:p>
        </p:txBody>
      </p:sp>
      <p:sp>
        <p:nvSpPr>
          <p:cNvPr id="18" name="Text 16"/>
          <p:cNvSpPr/>
          <p:nvPr/>
        </p:nvSpPr>
        <p:spPr>
          <a:xfrm>
            <a:off x="7799832" y="5001768"/>
            <a:ext cx="3145536" cy="50292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Connect the concept to public health purpose, responsible use, required safeguards, documentation, and the next action a department should take.</a:t>
            </a:r>
            <a:endParaRPr lang="en-US" sz="155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MLOps and LLMOps for Public Health</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16</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Practical Exercise</a:t>
            </a:r>
            <a:endParaRPr lang="en-US" sz="3400" dirty="0"/>
          </a:p>
        </p:txBody>
      </p:sp>
      <p:sp>
        <p:nvSpPr>
          <p:cNvPr id="9" name="Text 7"/>
          <p:cNvSpPr/>
          <p:nvPr/>
        </p:nvSpPr>
        <p:spPr>
          <a:xfrm>
            <a:off x="868680" y="1508760"/>
            <a:ext cx="6309360" cy="4160520"/>
          </a:xfrm>
          <a:prstGeom prst="rect">
            <a:avLst/>
          </a:prstGeom>
          <a:noFill/>
          <a:ln/>
        </p:spPr>
        <p:txBody>
          <a:bodyPr wrap="square" lIns="635" tIns="635" rIns="635" bIns="635" rtlCol="0" anchor="t">
            <a:normAutofit/>
          </a:bodyPr>
          <a:lstStyle/>
          <a:p>
            <a:r>
              <a:rPr lang="en-US" sz="2100" dirty="0">
                <a:solidFill>
                  <a:srgbClr val="17364A"/>
                </a:solidFill>
                <a:latin typeface="Aptos" pitchFamily="34" charset="0"/>
                <a:ea typeface="Aptos" pitchFamily="34" charset="-122"/>
                <a:cs typeface="Aptos" pitchFamily="34" charset="-120"/>
              </a:rPr>
              <a:t>Create a AI operations plan for one real or realistic public health AI workflow.</a:t>
            </a:r>
            <a:endParaRPr lang="en-US" sz="2100" dirty="0"/>
          </a:p>
          <a:p>
            <a:r>
              <a:rPr lang="en-US" sz="2100" dirty="0">
                <a:solidFill>
                  <a:srgbClr val="17364A"/>
                </a:solidFill>
                <a:latin typeface="Aptos" pitchFamily="34" charset="0"/>
                <a:ea typeface="Aptos" pitchFamily="34" charset="-122"/>
                <a:cs typeface="Aptos" pitchFamily="34" charset="-120"/>
              </a:rPr>
              <a:t>The artifact should describe the use case, affected users, data sources, system dependencies, risks,.</a:t>
            </a:r>
            <a:endParaRPr lang="en-US" sz="2100" dirty="0"/>
          </a:p>
          <a:p>
            <a:r>
              <a:rPr lang="en-US" sz="2100" dirty="0">
                <a:solidFill>
                  <a:srgbClr val="17364A"/>
                </a:solidFill>
                <a:latin typeface="Aptos" pitchFamily="34" charset="0"/>
                <a:ea typeface="Aptos" pitchFamily="34" charset="-122"/>
                <a:cs typeface="Aptos" pitchFamily="34" charset="-120"/>
              </a:rPr>
              <a:t>The exercise should produce a work product that could be used in a governance meeting, procurement.</a:t>
            </a:r>
            <a:endParaRPr lang="en-US" sz="2100" dirty="0"/>
          </a:p>
        </p:txBody>
      </p:sp>
      <p:sp>
        <p:nvSpPr>
          <p:cNvPr id="10" name="Shape 8"/>
          <p:cNvSpPr/>
          <p:nvPr/>
        </p:nvSpPr>
        <p:spPr>
          <a:xfrm>
            <a:off x="7635240" y="1325880"/>
            <a:ext cx="3474720" cy="1325880"/>
          </a:xfrm>
          <a:prstGeom prst="roundRect">
            <a:avLst>
              <a:gd name="adj" fmla="val 8276"/>
            </a:avLst>
          </a:prstGeom>
          <a:solidFill>
            <a:srgbClr val="EEF8ED"/>
          </a:solidFill>
          <a:ln w="12700">
            <a:solidFill>
              <a:srgbClr val="B9D7E6"/>
            </a:solidFill>
            <a:prstDash val="solid"/>
          </a:ln>
        </p:spPr>
      </p:sp>
      <p:sp>
        <p:nvSpPr>
          <p:cNvPr id="11" name="Text 9"/>
          <p:cNvSpPr/>
          <p:nvPr/>
        </p:nvSpPr>
        <p:spPr>
          <a:xfrm>
            <a:off x="7799832" y="147218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Practice focus</a:t>
            </a:r>
            <a:endParaRPr lang="en-US" sz="1300" dirty="0"/>
          </a:p>
        </p:txBody>
      </p:sp>
      <p:sp>
        <p:nvSpPr>
          <p:cNvPr id="12" name="Text 10"/>
          <p:cNvSpPr/>
          <p:nvPr/>
        </p:nvSpPr>
        <p:spPr>
          <a:xfrm>
            <a:off x="7799832" y="1828800"/>
            <a:ext cx="3145536" cy="68580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Create a AI operations plan for one real or realistic public health AI workflow.</a:t>
            </a:r>
            <a:endParaRPr lang="en-US" sz="1550" dirty="0"/>
          </a:p>
        </p:txBody>
      </p:sp>
      <p:sp>
        <p:nvSpPr>
          <p:cNvPr id="13" name="Shape 11"/>
          <p:cNvSpPr/>
          <p:nvPr/>
        </p:nvSpPr>
        <p:spPr>
          <a:xfrm>
            <a:off x="7635240" y="2788920"/>
            <a:ext cx="3474720" cy="1536192"/>
          </a:xfrm>
          <a:prstGeom prst="roundRect">
            <a:avLst>
              <a:gd name="adj" fmla="val 7143"/>
            </a:avLst>
          </a:prstGeom>
          <a:solidFill>
            <a:srgbClr val="FFFFFF"/>
          </a:solidFill>
          <a:ln w="12700">
            <a:solidFill>
              <a:srgbClr val="B9D7E6"/>
            </a:solidFill>
            <a:prstDash val="solid"/>
          </a:ln>
        </p:spPr>
      </p:sp>
      <p:sp>
        <p:nvSpPr>
          <p:cNvPr id="14" name="Text 12"/>
          <p:cNvSpPr/>
          <p:nvPr/>
        </p:nvSpPr>
        <p:spPr>
          <a:xfrm>
            <a:off x="7799832" y="293522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Concept checkpoints</a:t>
            </a:r>
            <a:endParaRPr lang="en-US" sz="1300" dirty="0"/>
          </a:p>
        </p:txBody>
      </p:sp>
      <p:sp>
        <p:nvSpPr>
          <p:cNvPr id="15" name="Text 13"/>
          <p:cNvSpPr/>
          <p:nvPr/>
        </p:nvSpPr>
        <p:spPr>
          <a:xfrm>
            <a:off x="7818120" y="3300984"/>
            <a:ext cx="3090672" cy="877824"/>
          </a:xfrm>
          <a:prstGeom prst="rect">
            <a:avLst/>
          </a:prstGeom>
          <a:noFill/>
          <a:ln/>
        </p:spPr>
        <p:txBody>
          <a:bodyPr wrap="square" lIns="254" tIns="254" rIns="254" bIns="254" rtlCol="0" anchor="t">
            <a:normAutofit/>
          </a:bodyPr>
          <a:lstStyle/>
          <a:p>
            <a:r>
              <a:rPr lang="en-US" sz="1380" dirty="0">
                <a:solidFill>
                  <a:srgbClr val="17364A"/>
                </a:solidFill>
                <a:latin typeface="Aptos" pitchFamily="34" charset="0"/>
                <a:ea typeface="Aptos" pitchFamily="34" charset="-122"/>
                <a:cs typeface="Aptos" pitchFamily="34" charset="-120"/>
              </a:rPr>
              <a:t>The artifact should describe the use case, affected users, data sources, system.</a:t>
            </a:r>
            <a:endParaRPr lang="en-US" sz="1380" dirty="0"/>
          </a:p>
          <a:p>
            <a:r>
              <a:rPr lang="en-US" sz="1380" dirty="0">
                <a:solidFill>
                  <a:srgbClr val="17364A"/>
                </a:solidFill>
                <a:latin typeface="Aptos" pitchFamily="34" charset="0"/>
                <a:ea typeface="Aptos" pitchFamily="34" charset="-122"/>
                <a:cs typeface="Aptos" pitchFamily="34" charset="-120"/>
              </a:rPr>
              <a:t>The exercise should produce a work product that could be used in a governance meeting,.</a:t>
            </a:r>
            <a:endParaRPr lang="en-US" sz="1380" dirty="0"/>
          </a:p>
          <a:p>
            <a:r>
              <a:rPr lang="en-US" sz="1380" dirty="0">
                <a:solidFill>
                  <a:srgbClr val="17364A"/>
                </a:solidFill>
                <a:latin typeface="Aptos" pitchFamily="34" charset="0"/>
                <a:ea typeface="Aptos" pitchFamily="34" charset="-122"/>
                <a:cs typeface="Aptos" pitchFamily="34" charset="-120"/>
              </a:rPr>
              <a:t>Learners should document assumptions and identify which staff or partners need to be.</a:t>
            </a:r>
            <a:endParaRPr lang="en-US" sz="1380" dirty="0"/>
          </a:p>
        </p:txBody>
      </p:sp>
      <p:sp>
        <p:nvSpPr>
          <p:cNvPr id="16" name="Shape 14"/>
          <p:cNvSpPr/>
          <p:nvPr/>
        </p:nvSpPr>
        <p:spPr>
          <a:xfrm>
            <a:off x="7635240" y="4498848"/>
            <a:ext cx="3474720" cy="1143000"/>
          </a:xfrm>
          <a:prstGeom prst="roundRect">
            <a:avLst>
              <a:gd name="adj" fmla="val 9600"/>
            </a:avLst>
          </a:prstGeom>
          <a:solidFill>
            <a:srgbClr val="EAF6F8"/>
          </a:solidFill>
          <a:ln w="12700">
            <a:solidFill>
              <a:srgbClr val="B9D7E6"/>
            </a:solidFill>
            <a:prstDash val="solid"/>
          </a:ln>
        </p:spPr>
      </p:sp>
      <p:sp>
        <p:nvSpPr>
          <p:cNvPr id="17" name="Text 15"/>
          <p:cNvSpPr/>
          <p:nvPr/>
        </p:nvSpPr>
        <p:spPr>
          <a:xfrm>
            <a:off x="7799832" y="4645152"/>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What to produce</a:t>
            </a:r>
            <a:endParaRPr lang="en-US" sz="1300" dirty="0"/>
          </a:p>
        </p:txBody>
      </p:sp>
      <p:sp>
        <p:nvSpPr>
          <p:cNvPr id="18" name="Text 16"/>
          <p:cNvSpPr/>
          <p:nvPr/>
        </p:nvSpPr>
        <p:spPr>
          <a:xfrm>
            <a:off x="7799832" y="5001768"/>
            <a:ext cx="3145536" cy="50292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Use the assignment to test whether you can explain the concept, apply it to a realistic public health situation, and identify what would need review before the work moves forward.</a:t>
            </a:r>
            <a:endParaRPr lang="en-US" sz="155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MLOps and LLMOps for Public Health</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17</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Expected Artifact or Evidence</a:t>
            </a:r>
            <a:endParaRPr lang="en-US" sz="3400" dirty="0"/>
          </a:p>
        </p:txBody>
      </p:sp>
      <p:sp>
        <p:nvSpPr>
          <p:cNvPr id="9" name="Text 7"/>
          <p:cNvSpPr/>
          <p:nvPr/>
        </p:nvSpPr>
        <p:spPr>
          <a:xfrm>
            <a:off x="868680" y="1508760"/>
            <a:ext cx="6309360" cy="4160520"/>
          </a:xfrm>
          <a:prstGeom prst="rect">
            <a:avLst/>
          </a:prstGeom>
          <a:noFill/>
          <a:ln/>
        </p:spPr>
        <p:txBody>
          <a:bodyPr wrap="square" lIns="635" tIns="635" rIns="635" bIns="635" rtlCol="0" anchor="t">
            <a:normAutofit/>
          </a:bodyPr>
          <a:lstStyle/>
          <a:p>
            <a:r>
              <a:rPr lang="en-US" sz="2100" dirty="0">
                <a:solidFill>
                  <a:srgbClr val="17364A"/>
                </a:solidFill>
                <a:latin typeface="Aptos" pitchFamily="34" charset="0"/>
                <a:ea typeface="Aptos" pitchFamily="34" charset="-122"/>
                <a:cs typeface="Aptos" pitchFamily="34" charset="-120"/>
              </a:rPr>
              <a:t>The expected artifact is a completed AI operations plan.</a:t>
            </a:r>
            <a:endParaRPr lang="en-US" sz="2100" dirty="0"/>
          </a:p>
          <a:p>
            <a:r>
              <a:rPr lang="en-US" sz="2100" dirty="0">
                <a:solidFill>
                  <a:srgbClr val="17364A"/>
                </a:solidFill>
                <a:latin typeface="Aptos" pitchFamily="34" charset="0"/>
                <a:ea typeface="Aptos" pitchFamily="34" charset="-122"/>
                <a:cs typeface="Aptos" pitchFamily="34" charset="-120"/>
              </a:rPr>
              <a:t>It should be specific to a public health workflow and should include technical dependencies, governance.</a:t>
            </a:r>
            <a:endParaRPr lang="en-US" sz="2100" dirty="0"/>
          </a:p>
        </p:txBody>
      </p:sp>
      <p:sp>
        <p:nvSpPr>
          <p:cNvPr id="10" name="Shape 8"/>
          <p:cNvSpPr/>
          <p:nvPr/>
        </p:nvSpPr>
        <p:spPr>
          <a:xfrm>
            <a:off x="7635240" y="1325880"/>
            <a:ext cx="3474720" cy="1325880"/>
          </a:xfrm>
          <a:prstGeom prst="roundRect">
            <a:avLst>
              <a:gd name="adj" fmla="val 8276"/>
            </a:avLst>
          </a:prstGeom>
          <a:solidFill>
            <a:srgbClr val="EEF8ED"/>
          </a:solidFill>
          <a:ln w="12700">
            <a:solidFill>
              <a:srgbClr val="B9D7E6"/>
            </a:solidFill>
            <a:prstDash val="solid"/>
          </a:ln>
        </p:spPr>
      </p:sp>
      <p:sp>
        <p:nvSpPr>
          <p:cNvPr id="11" name="Text 9"/>
          <p:cNvSpPr/>
          <p:nvPr/>
        </p:nvSpPr>
        <p:spPr>
          <a:xfrm>
            <a:off x="7799832" y="147218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Core concept</a:t>
            </a:r>
            <a:endParaRPr lang="en-US" sz="1300" dirty="0"/>
          </a:p>
        </p:txBody>
      </p:sp>
      <p:sp>
        <p:nvSpPr>
          <p:cNvPr id="12" name="Text 10"/>
          <p:cNvSpPr/>
          <p:nvPr/>
        </p:nvSpPr>
        <p:spPr>
          <a:xfrm>
            <a:off x="7799832" y="1828800"/>
            <a:ext cx="3145536" cy="68580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The expected artifact is a completed AI operations plan.</a:t>
            </a:r>
            <a:endParaRPr lang="en-US" sz="1550" dirty="0"/>
          </a:p>
        </p:txBody>
      </p:sp>
      <p:sp>
        <p:nvSpPr>
          <p:cNvPr id="13" name="Shape 11"/>
          <p:cNvSpPr/>
          <p:nvPr/>
        </p:nvSpPr>
        <p:spPr>
          <a:xfrm>
            <a:off x="7635240" y="2788920"/>
            <a:ext cx="3474720" cy="1536192"/>
          </a:xfrm>
          <a:prstGeom prst="roundRect">
            <a:avLst>
              <a:gd name="adj" fmla="val 7143"/>
            </a:avLst>
          </a:prstGeom>
          <a:solidFill>
            <a:srgbClr val="FFFFFF"/>
          </a:solidFill>
          <a:ln w="12700">
            <a:solidFill>
              <a:srgbClr val="B9D7E6"/>
            </a:solidFill>
            <a:prstDash val="solid"/>
          </a:ln>
        </p:spPr>
      </p:sp>
      <p:sp>
        <p:nvSpPr>
          <p:cNvPr id="14" name="Text 12"/>
          <p:cNvSpPr/>
          <p:nvPr/>
        </p:nvSpPr>
        <p:spPr>
          <a:xfrm>
            <a:off x="7799832" y="293522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Concept checkpoints</a:t>
            </a:r>
            <a:endParaRPr lang="en-US" sz="1300" dirty="0"/>
          </a:p>
        </p:txBody>
      </p:sp>
      <p:sp>
        <p:nvSpPr>
          <p:cNvPr id="15" name="Text 13"/>
          <p:cNvSpPr/>
          <p:nvPr/>
        </p:nvSpPr>
        <p:spPr>
          <a:xfrm>
            <a:off x="7818120" y="3300984"/>
            <a:ext cx="3090672" cy="877824"/>
          </a:xfrm>
          <a:prstGeom prst="rect">
            <a:avLst/>
          </a:prstGeom>
          <a:noFill/>
          <a:ln/>
        </p:spPr>
        <p:txBody>
          <a:bodyPr wrap="square" lIns="254" tIns="254" rIns="254" bIns="254" rtlCol="0" anchor="t">
            <a:normAutofit/>
          </a:bodyPr>
          <a:lstStyle/>
          <a:p>
            <a:r>
              <a:rPr lang="en-US" sz="1380" dirty="0">
                <a:solidFill>
                  <a:srgbClr val="17364A"/>
                </a:solidFill>
                <a:latin typeface="Aptos" pitchFamily="34" charset="0"/>
                <a:ea typeface="Aptos" pitchFamily="34" charset="-122"/>
                <a:cs typeface="Aptos" pitchFamily="34" charset="-120"/>
              </a:rPr>
              <a:t>The expected artifact is a completed AI operations plan.</a:t>
            </a:r>
            <a:endParaRPr lang="en-US" sz="1380" dirty="0"/>
          </a:p>
          <a:p>
            <a:r>
              <a:rPr lang="en-US" sz="1380" dirty="0">
                <a:solidFill>
                  <a:srgbClr val="17364A"/>
                </a:solidFill>
                <a:latin typeface="Aptos" pitchFamily="34" charset="0"/>
                <a:ea typeface="Aptos" pitchFamily="34" charset="-122"/>
                <a:cs typeface="Aptos" pitchFamily="34" charset="-120"/>
              </a:rPr>
              <a:t>It should be specific to a public health workflow and should include technical.</a:t>
            </a:r>
            <a:endParaRPr lang="en-US" sz="1380" dirty="0"/>
          </a:p>
        </p:txBody>
      </p:sp>
      <p:sp>
        <p:nvSpPr>
          <p:cNvPr id="16" name="Shape 14"/>
          <p:cNvSpPr/>
          <p:nvPr/>
        </p:nvSpPr>
        <p:spPr>
          <a:xfrm>
            <a:off x="7635240" y="4498848"/>
            <a:ext cx="3474720" cy="1143000"/>
          </a:xfrm>
          <a:prstGeom prst="roundRect">
            <a:avLst>
              <a:gd name="adj" fmla="val 9600"/>
            </a:avLst>
          </a:prstGeom>
          <a:solidFill>
            <a:srgbClr val="EAF6F8"/>
          </a:solidFill>
          <a:ln w="12700">
            <a:solidFill>
              <a:srgbClr val="B9D7E6"/>
            </a:solidFill>
            <a:prstDash val="solid"/>
          </a:ln>
        </p:spPr>
      </p:sp>
      <p:sp>
        <p:nvSpPr>
          <p:cNvPr id="17" name="Text 15"/>
          <p:cNvSpPr/>
          <p:nvPr/>
        </p:nvSpPr>
        <p:spPr>
          <a:xfrm>
            <a:off x="7799832" y="4645152"/>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Apply it</a:t>
            </a:r>
            <a:endParaRPr lang="en-US" sz="1300" dirty="0"/>
          </a:p>
        </p:txBody>
      </p:sp>
      <p:sp>
        <p:nvSpPr>
          <p:cNvPr id="18" name="Text 16"/>
          <p:cNvSpPr/>
          <p:nvPr/>
        </p:nvSpPr>
        <p:spPr>
          <a:xfrm>
            <a:off x="7799832" y="5001768"/>
            <a:ext cx="3145536" cy="50292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Connect the concept to public health purpose, responsible use, required safeguards, documentation, and the next action a department should take.</a:t>
            </a:r>
            <a:endParaRPr lang="en-US" sz="155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MLOps and LLMOps for Public Health</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18</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Expected Assignment</a:t>
            </a:r>
            <a:endParaRPr lang="en-US" sz="3400" dirty="0"/>
          </a:p>
        </p:txBody>
      </p:sp>
      <p:sp>
        <p:nvSpPr>
          <p:cNvPr id="9" name="Text 7"/>
          <p:cNvSpPr/>
          <p:nvPr/>
        </p:nvSpPr>
        <p:spPr>
          <a:xfrm>
            <a:off x="868680" y="1508760"/>
            <a:ext cx="6309360" cy="4160520"/>
          </a:xfrm>
          <a:prstGeom prst="rect">
            <a:avLst/>
          </a:prstGeom>
          <a:noFill/>
          <a:ln/>
        </p:spPr>
        <p:txBody>
          <a:bodyPr wrap="square" lIns="635" tIns="635" rIns="635" bIns="635" rtlCol="0" anchor="t">
            <a:normAutofit/>
          </a:bodyPr>
          <a:lstStyle/>
          <a:p>
            <a:r>
              <a:rPr lang="en-US" sz="2100" dirty="0">
                <a:solidFill>
                  <a:srgbClr val="17364A"/>
                </a:solidFill>
                <a:latin typeface="Aptos" pitchFamily="34" charset="0"/>
                <a:ea typeface="Aptos" pitchFamily="34" charset="-122"/>
                <a:cs typeface="Aptos" pitchFamily="34" charset="-120"/>
              </a:rPr>
              <a:t>The expected artifact is a completed AI operations plan. It should be specific to a public health.</a:t>
            </a:r>
            <a:endParaRPr lang="en-US" sz="2100" dirty="0"/>
          </a:p>
        </p:txBody>
      </p:sp>
      <p:sp>
        <p:nvSpPr>
          <p:cNvPr id="10" name="Shape 8"/>
          <p:cNvSpPr/>
          <p:nvPr/>
        </p:nvSpPr>
        <p:spPr>
          <a:xfrm>
            <a:off x="7635240" y="1325880"/>
            <a:ext cx="3474720" cy="1325880"/>
          </a:xfrm>
          <a:prstGeom prst="roundRect">
            <a:avLst>
              <a:gd name="adj" fmla="val 8276"/>
            </a:avLst>
          </a:prstGeom>
          <a:solidFill>
            <a:srgbClr val="EEF8ED"/>
          </a:solidFill>
          <a:ln w="12700">
            <a:solidFill>
              <a:srgbClr val="B9D7E6"/>
            </a:solidFill>
            <a:prstDash val="solid"/>
          </a:ln>
        </p:spPr>
      </p:sp>
      <p:sp>
        <p:nvSpPr>
          <p:cNvPr id="11" name="Text 9"/>
          <p:cNvSpPr/>
          <p:nvPr/>
        </p:nvSpPr>
        <p:spPr>
          <a:xfrm>
            <a:off x="7799832" y="147218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Practice focus</a:t>
            </a:r>
            <a:endParaRPr lang="en-US" sz="1300" dirty="0"/>
          </a:p>
        </p:txBody>
      </p:sp>
      <p:sp>
        <p:nvSpPr>
          <p:cNvPr id="12" name="Text 10"/>
          <p:cNvSpPr/>
          <p:nvPr/>
        </p:nvSpPr>
        <p:spPr>
          <a:xfrm>
            <a:off x="7799832" y="1828800"/>
            <a:ext cx="3145536" cy="68580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The expected artifact is a completed AI operations plan. It should be specific to a public health.</a:t>
            </a:r>
            <a:endParaRPr lang="en-US" sz="1550" dirty="0"/>
          </a:p>
        </p:txBody>
      </p:sp>
      <p:sp>
        <p:nvSpPr>
          <p:cNvPr id="13" name="Shape 11"/>
          <p:cNvSpPr/>
          <p:nvPr/>
        </p:nvSpPr>
        <p:spPr>
          <a:xfrm>
            <a:off x="7635240" y="2788920"/>
            <a:ext cx="3474720" cy="1536192"/>
          </a:xfrm>
          <a:prstGeom prst="roundRect">
            <a:avLst>
              <a:gd name="adj" fmla="val 7143"/>
            </a:avLst>
          </a:prstGeom>
          <a:solidFill>
            <a:srgbClr val="FFFFFF"/>
          </a:solidFill>
          <a:ln w="12700">
            <a:solidFill>
              <a:srgbClr val="B9D7E6"/>
            </a:solidFill>
            <a:prstDash val="solid"/>
          </a:ln>
        </p:spPr>
      </p:sp>
      <p:sp>
        <p:nvSpPr>
          <p:cNvPr id="14" name="Text 12"/>
          <p:cNvSpPr/>
          <p:nvPr/>
        </p:nvSpPr>
        <p:spPr>
          <a:xfrm>
            <a:off x="7799832" y="293522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Concept checkpoints</a:t>
            </a:r>
            <a:endParaRPr lang="en-US" sz="1300" dirty="0"/>
          </a:p>
        </p:txBody>
      </p:sp>
      <p:sp>
        <p:nvSpPr>
          <p:cNvPr id="15" name="Text 13"/>
          <p:cNvSpPr/>
          <p:nvPr/>
        </p:nvSpPr>
        <p:spPr>
          <a:xfrm>
            <a:off x="7818120" y="3300984"/>
            <a:ext cx="3090672" cy="877824"/>
          </a:xfrm>
          <a:prstGeom prst="rect">
            <a:avLst/>
          </a:prstGeom>
          <a:noFill/>
          <a:ln/>
        </p:spPr>
        <p:txBody>
          <a:bodyPr wrap="square" lIns="254" tIns="254" rIns="254" bIns="254" rtlCol="0" anchor="t">
            <a:normAutofit/>
          </a:bodyPr>
          <a:lstStyle/>
          <a:p>
            <a:r>
              <a:rPr lang="en-US" sz="1380" dirty="0">
                <a:solidFill>
                  <a:srgbClr val="17364A"/>
                </a:solidFill>
                <a:latin typeface="Aptos" pitchFamily="34" charset="0"/>
                <a:ea typeface="Aptos" pitchFamily="34" charset="-122"/>
                <a:cs typeface="Aptos" pitchFamily="34" charset="-120"/>
              </a:rPr>
              <a:t>The expected artifact is a completed AI operations plan.</a:t>
            </a:r>
            <a:endParaRPr lang="en-US" sz="1380" dirty="0"/>
          </a:p>
          <a:p>
            <a:r>
              <a:rPr lang="en-US" sz="1380" dirty="0">
                <a:solidFill>
                  <a:srgbClr val="17364A"/>
                </a:solidFill>
                <a:latin typeface="Aptos" pitchFamily="34" charset="0"/>
                <a:ea typeface="Aptos" pitchFamily="34" charset="-122"/>
                <a:cs typeface="Aptos" pitchFamily="34" charset="-120"/>
              </a:rPr>
              <a:t>It should be specific to a public health workflow and should include technical.</a:t>
            </a:r>
            <a:endParaRPr lang="en-US" sz="1380" dirty="0"/>
          </a:p>
        </p:txBody>
      </p:sp>
      <p:sp>
        <p:nvSpPr>
          <p:cNvPr id="16" name="Shape 14"/>
          <p:cNvSpPr/>
          <p:nvPr/>
        </p:nvSpPr>
        <p:spPr>
          <a:xfrm>
            <a:off x="7635240" y="4498848"/>
            <a:ext cx="3474720" cy="1143000"/>
          </a:xfrm>
          <a:prstGeom prst="roundRect">
            <a:avLst>
              <a:gd name="adj" fmla="val 9600"/>
            </a:avLst>
          </a:prstGeom>
          <a:solidFill>
            <a:srgbClr val="EAF6F8"/>
          </a:solidFill>
          <a:ln w="12700">
            <a:solidFill>
              <a:srgbClr val="B9D7E6"/>
            </a:solidFill>
            <a:prstDash val="solid"/>
          </a:ln>
        </p:spPr>
      </p:sp>
      <p:sp>
        <p:nvSpPr>
          <p:cNvPr id="17" name="Text 15"/>
          <p:cNvSpPr/>
          <p:nvPr/>
        </p:nvSpPr>
        <p:spPr>
          <a:xfrm>
            <a:off x="7799832" y="4645152"/>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What to produce</a:t>
            </a:r>
            <a:endParaRPr lang="en-US" sz="1300" dirty="0"/>
          </a:p>
        </p:txBody>
      </p:sp>
      <p:sp>
        <p:nvSpPr>
          <p:cNvPr id="18" name="Text 16"/>
          <p:cNvSpPr/>
          <p:nvPr/>
        </p:nvSpPr>
        <p:spPr>
          <a:xfrm>
            <a:off x="7799832" y="5001768"/>
            <a:ext cx="3145536" cy="50292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Use the assignment to test whether you can explain the concept, apply it to a realistic public health situation, and identify what would need review before the work moves forward.</a:t>
            </a:r>
            <a:endParaRPr lang="en-US" sz="155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MLOps and LLMOps for Public Health</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19</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Knowledge Check</a:t>
            </a:r>
            <a:endParaRPr lang="en-US" sz="3400" dirty="0"/>
          </a:p>
        </p:txBody>
      </p:sp>
      <p:sp>
        <p:nvSpPr>
          <p:cNvPr id="9" name="Text 7"/>
          <p:cNvSpPr/>
          <p:nvPr/>
        </p:nvSpPr>
        <p:spPr>
          <a:xfrm>
            <a:off x="868680" y="1508760"/>
            <a:ext cx="6309360" cy="4160520"/>
          </a:xfrm>
          <a:prstGeom prst="rect">
            <a:avLst/>
          </a:prstGeom>
          <a:noFill/>
          <a:ln/>
        </p:spPr>
        <p:txBody>
          <a:bodyPr wrap="square" lIns="635" tIns="635" rIns="635" bIns="635" rtlCol="0" anchor="t">
            <a:normAutofit/>
          </a:bodyPr>
          <a:lstStyle/>
          <a:p>
            <a:r>
              <a:rPr lang="en-US" sz="2100" dirty="0">
                <a:solidFill>
                  <a:srgbClr val="17364A"/>
                </a:solidFill>
                <a:latin typeface="Aptos" pitchFamily="34" charset="0"/>
                <a:ea typeface="Aptos" pitchFamily="34" charset="-122"/>
                <a:cs typeface="Aptos" pitchFamily="34" charset="-120"/>
              </a:rPr>
              <a:t>1. What is the best reason to address mlops and llmops for public health before deployment?</a:t>
            </a:r>
            <a:endParaRPr lang="en-US" sz="2100" dirty="0"/>
          </a:p>
          <a:p>
            <a:r>
              <a:rPr lang="en-US" sz="2100" dirty="0">
                <a:solidFill>
                  <a:srgbClr val="17364A"/>
                </a:solidFill>
                <a:latin typeface="Aptos" pitchFamily="34" charset="0"/>
                <a:ea typeface="Aptos" pitchFamily="34" charset="-122"/>
                <a:cs typeface="Aptos" pitchFamily="34" charset="-120"/>
              </a:rPr>
              <a:t>2. Which practice best supports responsible implementation?</a:t>
            </a:r>
            <a:endParaRPr lang="en-US" sz="2100" dirty="0"/>
          </a:p>
          <a:p>
            <a:r>
              <a:rPr lang="en-US" sz="2100" dirty="0">
                <a:solidFill>
                  <a:srgbClr val="17364A"/>
                </a:solidFill>
                <a:latin typeface="Aptos" pitchFamily="34" charset="0"/>
                <a:ea typeface="Aptos" pitchFamily="34" charset="-122"/>
                <a:cs typeface="Aptos" pitchFamily="34" charset="-120"/>
              </a:rPr>
              <a:t>3. Which statement best describes a common failure mode?</a:t>
            </a:r>
            <a:endParaRPr lang="en-US" sz="2100" dirty="0"/>
          </a:p>
        </p:txBody>
      </p:sp>
      <p:sp>
        <p:nvSpPr>
          <p:cNvPr id="10" name="Shape 8"/>
          <p:cNvSpPr/>
          <p:nvPr/>
        </p:nvSpPr>
        <p:spPr>
          <a:xfrm>
            <a:off x="7635240" y="1325880"/>
            <a:ext cx="3474720" cy="1325880"/>
          </a:xfrm>
          <a:prstGeom prst="roundRect">
            <a:avLst>
              <a:gd name="adj" fmla="val 8276"/>
            </a:avLst>
          </a:prstGeom>
          <a:solidFill>
            <a:srgbClr val="EEF8ED"/>
          </a:solidFill>
          <a:ln w="12700">
            <a:solidFill>
              <a:srgbClr val="B9D7E6"/>
            </a:solidFill>
            <a:prstDash val="solid"/>
          </a:ln>
        </p:spPr>
      </p:sp>
      <p:sp>
        <p:nvSpPr>
          <p:cNvPr id="11" name="Text 9"/>
          <p:cNvSpPr/>
          <p:nvPr/>
        </p:nvSpPr>
        <p:spPr>
          <a:xfrm>
            <a:off x="7799832" y="147218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Practice focus</a:t>
            </a:r>
            <a:endParaRPr lang="en-US" sz="1300" dirty="0"/>
          </a:p>
        </p:txBody>
      </p:sp>
      <p:sp>
        <p:nvSpPr>
          <p:cNvPr id="12" name="Text 10"/>
          <p:cNvSpPr/>
          <p:nvPr/>
        </p:nvSpPr>
        <p:spPr>
          <a:xfrm>
            <a:off x="7799832" y="1828800"/>
            <a:ext cx="3145536" cy="68580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1. What is the best reason to address mlops and llmops for public health before deployment?</a:t>
            </a:r>
            <a:endParaRPr lang="en-US" sz="1550" dirty="0"/>
          </a:p>
        </p:txBody>
      </p:sp>
      <p:sp>
        <p:nvSpPr>
          <p:cNvPr id="13" name="Shape 11"/>
          <p:cNvSpPr/>
          <p:nvPr/>
        </p:nvSpPr>
        <p:spPr>
          <a:xfrm>
            <a:off x="7635240" y="2788920"/>
            <a:ext cx="3474720" cy="1536192"/>
          </a:xfrm>
          <a:prstGeom prst="roundRect">
            <a:avLst>
              <a:gd name="adj" fmla="val 7143"/>
            </a:avLst>
          </a:prstGeom>
          <a:solidFill>
            <a:srgbClr val="FFFFFF"/>
          </a:solidFill>
          <a:ln w="12700">
            <a:solidFill>
              <a:srgbClr val="B9D7E6"/>
            </a:solidFill>
            <a:prstDash val="solid"/>
          </a:ln>
        </p:spPr>
      </p:sp>
      <p:sp>
        <p:nvSpPr>
          <p:cNvPr id="14" name="Text 12"/>
          <p:cNvSpPr/>
          <p:nvPr/>
        </p:nvSpPr>
        <p:spPr>
          <a:xfrm>
            <a:off x="7799832" y="293522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Concept checkpoints</a:t>
            </a:r>
            <a:endParaRPr lang="en-US" sz="1300" dirty="0"/>
          </a:p>
        </p:txBody>
      </p:sp>
      <p:sp>
        <p:nvSpPr>
          <p:cNvPr id="15" name="Text 13"/>
          <p:cNvSpPr/>
          <p:nvPr/>
        </p:nvSpPr>
        <p:spPr>
          <a:xfrm>
            <a:off x="7818120" y="3300984"/>
            <a:ext cx="3090672" cy="877824"/>
          </a:xfrm>
          <a:prstGeom prst="rect">
            <a:avLst/>
          </a:prstGeom>
          <a:noFill/>
          <a:ln/>
        </p:spPr>
        <p:txBody>
          <a:bodyPr wrap="square" lIns="254" tIns="254" rIns="254" bIns="254" rtlCol="0" anchor="t">
            <a:normAutofit/>
          </a:bodyPr>
          <a:lstStyle/>
          <a:p>
            <a:r>
              <a:rPr lang="en-US" sz="1380" dirty="0">
                <a:solidFill>
                  <a:srgbClr val="17364A"/>
                </a:solidFill>
                <a:latin typeface="Aptos" pitchFamily="34" charset="0"/>
                <a:ea typeface="Aptos" pitchFamily="34" charset="-122"/>
                <a:cs typeface="Aptos" pitchFamily="34" charset="-120"/>
              </a:rPr>
              <a:t>1.</a:t>
            </a:r>
            <a:endParaRPr lang="en-US" sz="1380" dirty="0"/>
          </a:p>
          <a:p>
            <a:r>
              <a:rPr lang="en-US" sz="1380" dirty="0">
                <a:solidFill>
                  <a:srgbClr val="17364A"/>
                </a:solidFill>
                <a:latin typeface="Aptos" pitchFamily="34" charset="0"/>
                <a:ea typeface="Aptos" pitchFamily="34" charset="-122"/>
                <a:cs typeface="Aptos" pitchFamily="34" charset="-120"/>
              </a:rPr>
              <a:t>What is the best reason to address mlops and llmops for public health before deployment?</a:t>
            </a:r>
            <a:endParaRPr lang="en-US" sz="1380" dirty="0"/>
          </a:p>
          <a:p>
            <a:r>
              <a:rPr lang="en-US" sz="1380" dirty="0">
                <a:solidFill>
                  <a:srgbClr val="17364A"/>
                </a:solidFill>
                <a:latin typeface="Aptos" pitchFamily="34" charset="0"/>
                <a:ea typeface="Aptos" pitchFamily="34" charset="-122"/>
                <a:cs typeface="Aptos" pitchFamily="34" charset="-120"/>
              </a:rPr>
              <a:t>2.</a:t>
            </a:r>
            <a:endParaRPr lang="en-US" sz="1380" dirty="0"/>
          </a:p>
        </p:txBody>
      </p:sp>
      <p:sp>
        <p:nvSpPr>
          <p:cNvPr id="16" name="Shape 14"/>
          <p:cNvSpPr/>
          <p:nvPr/>
        </p:nvSpPr>
        <p:spPr>
          <a:xfrm>
            <a:off x="7635240" y="4498848"/>
            <a:ext cx="3474720" cy="1143000"/>
          </a:xfrm>
          <a:prstGeom prst="roundRect">
            <a:avLst>
              <a:gd name="adj" fmla="val 9600"/>
            </a:avLst>
          </a:prstGeom>
          <a:solidFill>
            <a:srgbClr val="EAF6F8"/>
          </a:solidFill>
          <a:ln w="12700">
            <a:solidFill>
              <a:srgbClr val="B9D7E6"/>
            </a:solidFill>
            <a:prstDash val="solid"/>
          </a:ln>
        </p:spPr>
      </p:sp>
      <p:sp>
        <p:nvSpPr>
          <p:cNvPr id="17" name="Text 15"/>
          <p:cNvSpPr/>
          <p:nvPr/>
        </p:nvSpPr>
        <p:spPr>
          <a:xfrm>
            <a:off x="7799832" y="4645152"/>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What to produce</a:t>
            </a:r>
            <a:endParaRPr lang="en-US" sz="1300" dirty="0"/>
          </a:p>
        </p:txBody>
      </p:sp>
      <p:sp>
        <p:nvSpPr>
          <p:cNvPr id="18" name="Text 16"/>
          <p:cNvSpPr/>
          <p:nvPr/>
        </p:nvSpPr>
        <p:spPr>
          <a:xfrm>
            <a:off x="7799832" y="5001768"/>
            <a:ext cx="3145536" cy="50292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Use the assignment to test whether you can explain the concept, apply it to a realistic public health situation, and identify what would need review before the work moves forward.</a:t>
            </a:r>
            <a:endParaRPr lang="en-US" sz="155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MLOps and LLMOps for Public Health</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20</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References and Resources</a:t>
            </a:r>
            <a:endParaRPr lang="en-US" sz="3400" dirty="0"/>
          </a:p>
        </p:txBody>
      </p:sp>
      <p:sp>
        <p:nvSpPr>
          <p:cNvPr id="9" name="Text 7"/>
          <p:cNvSpPr/>
          <p:nvPr/>
        </p:nvSpPr>
        <p:spPr>
          <a:xfrm>
            <a:off x="868680" y="1508760"/>
            <a:ext cx="6309360" cy="4160520"/>
          </a:xfrm>
          <a:prstGeom prst="rect">
            <a:avLst/>
          </a:prstGeom>
          <a:noFill/>
          <a:ln/>
        </p:spPr>
        <p:txBody>
          <a:bodyPr wrap="square" lIns="635" tIns="635" rIns="635" bIns="635" rtlCol="0" anchor="t">
            <a:normAutofit/>
          </a:bodyPr>
          <a:lstStyle/>
          <a:p>
            <a:r>
              <a:rPr lang="en-US" sz="2100" dirty="0">
                <a:solidFill>
                  <a:srgbClr val="17364A"/>
                </a:solidFill>
                <a:latin typeface="Aptos" pitchFamily="34" charset="0"/>
                <a:ea typeface="Aptos" pitchFamily="34" charset="-122"/>
                <a:cs typeface="Aptos" pitchFamily="34" charset="-120"/>
              </a:rPr>
              <a:t>NIST AI Risk Management Framework: https://www.nist.gov/itl/ai-risk-management-framework</a:t>
            </a:r>
            <a:endParaRPr lang="en-US" sz="2100" dirty="0"/>
          </a:p>
          <a:p>
            <a:r>
              <a:rPr lang="en-US" sz="2100" dirty="0">
                <a:solidFill>
                  <a:srgbClr val="17364A"/>
                </a:solidFill>
                <a:latin typeface="Aptos" pitchFamily="34" charset="0"/>
                <a:ea typeface="Aptos" pitchFamily="34" charset="-122"/>
                <a:cs typeface="Aptos" pitchFamily="34" charset="-120"/>
              </a:rPr>
              <a:t>Platform-specific MLOps and LLMOps documentation for approved agency tools</a:t>
            </a:r>
            <a:endParaRPr lang="en-US" sz="2100" dirty="0"/>
          </a:p>
          <a:p>
            <a:r>
              <a:rPr lang="en-US" sz="2100" dirty="0">
                <a:solidFill>
                  <a:srgbClr val="17364A"/>
                </a:solidFill>
                <a:latin typeface="Aptos" pitchFamily="34" charset="0"/>
                <a:ea typeface="Aptos" pitchFamily="34" charset="-122"/>
                <a:cs typeface="Aptos" pitchFamily="34" charset="-120"/>
              </a:rPr>
              <a:t>NIST Generative AI Profile:.</a:t>
            </a:r>
            <a:endParaRPr lang="en-US" sz="2100" dirty="0"/>
          </a:p>
        </p:txBody>
      </p:sp>
      <p:sp>
        <p:nvSpPr>
          <p:cNvPr id="10" name="Shape 8"/>
          <p:cNvSpPr/>
          <p:nvPr/>
        </p:nvSpPr>
        <p:spPr>
          <a:xfrm>
            <a:off x="7635240" y="1325880"/>
            <a:ext cx="3474720" cy="1325880"/>
          </a:xfrm>
          <a:prstGeom prst="roundRect">
            <a:avLst>
              <a:gd name="adj" fmla="val 8276"/>
            </a:avLst>
          </a:prstGeom>
          <a:solidFill>
            <a:srgbClr val="EEF8ED"/>
          </a:solidFill>
          <a:ln w="12700">
            <a:solidFill>
              <a:srgbClr val="B9D7E6"/>
            </a:solidFill>
            <a:prstDash val="solid"/>
          </a:ln>
        </p:spPr>
      </p:sp>
      <p:sp>
        <p:nvSpPr>
          <p:cNvPr id="11" name="Text 9"/>
          <p:cNvSpPr/>
          <p:nvPr/>
        </p:nvSpPr>
        <p:spPr>
          <a:xfrm>
            <a:off x="7799832" y="147218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Core concept</a:t>
            </a:r>
            <a:endParaRPr lang="en-US" sz="1300" dirty="0"/>
          </a:p>
        </p:txBody>
      </p:sp>
      <p:sp>
        <p:nvSpPr>
          <p:cNvPr id="12" name="Text 10"/>
          <p:cNvSpPr/>
          <p:nvPr/>
        </p:nvSpPr>
        <p:spPr>
          <a:xfrm>
            <a:off x="7799832" y="1828800"/>
            <a:ext cx="3145536" cy="68580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NIST AI Risk Management Framework: https://www.nist.gov/itl/ai-risk-management-framework</a:t>
            </a:r>
            <a:endParaRPr lang="en-US" sz="1550" dirty="0"/>
          </a:p>
        </p:txBody>
      </p:sp>
      <p:sp>
        <p:nvSpPr>
          <p:cNvPr id="13" name="Shape 11"/>
          <p:cNvSpPr/>
          <p:nvPr/>
        </p:nvSpPr>
        <p:spPr>
          <a:xfrm>
            <a:off x="7635240" y="2788920"/>
            <a:ext cx="3474720" cy="1536192"/>
          </a:xfrm>
          <a:prstGeom prst="roundRect">
            <a:avLst>
              <a:gd name="adj" fmla="val 7143"/>
            </a:avLst>
          </a:prstGeom>
          <a:solidFill>
            <a:srgbClr val="FFFFFF"/>
          </a:solidFill>
          <a:ln w="12700">
            <a:solidFill>
              <a:srgbClr val="B9D7E6"/>
            </a:solidFill>
            <a:prstDash val="solid"/>
          </a:ln>
        </p:spPr>
      </p:sp>
      <p:sp>
        <p:nvSpPr>
          <p:cNvPr id="14" name="Text 12"/>
          <p:cNvSpPr/>
          <p:nvPr/>
        </p:nvSpPr>
        <p:spPr>
          <a:xfrm>
            <a:off x="7799832" y="293522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Concept checkpoints</a:t>
            </a:r>
            <a:endParaRPr lang="en-US" sz="1300" dirty="0"/>
          </a:p>
        </p:txBody>
      </p:sp>
      <p:sp>
        <p:nvSpPr>
          <p:cNvPr id="15" name="Text 13"/>
          <p:cNvSpPr/>
          <p:nvPr/>
        </p:nvSpPr>
        <p:spPr>
          <a:xfrm>
            <a:off x="7818120" y="3300984"/>
            <a:ext cx="3090672" cy="877824"/>
          </a:xfrm>
          <a:prstGeom prst="rect">
            <a:avLst/>
          </a:prstGeom>
          <a:noFill/>
          <a:ln/>
        </p:spPr>
        <p:txBody>
          <a:bodyPr wrap="square" lIns="254" tIns="254" rIns="254" bIns="254" rtlCol="0" anchor="t">
            <a:normAutofit/>
          </a:bodyPr>
          <a:lstStyle/>
          <a:p>
            <a:r>
              <a:rPr lang="en-US" sz="1380" dirty="0">
                <a:solidFill>
                  <a:srgbClr val="17364A"/>
                </a:solidFill>
                <a:latin typeface="Aptos" pitchFamily="34" charset="0"/>
                <a:ea typeface="Aptos" pitchFamily="34" charset="-122"/>
                <a:cs typeface="Aptos" pitchFamily="34" charset="-120"/>
              </a:rPr>
              <a:t>CDC Public Health Data Strategy and Data Modernization resources:.</a:t>
            </a:r>
            <a:endParaRPr lang="en-US" sz="1380" dirty="0"/>
          </a:p>
          <a:p>
            <a:r>
              <a:rPr lang="en-US" sz="1380" dirty="0">
                <a:solidFill>
                  <a:srgbClr val="17364A"/>
                </a:solidFill>
                <a:latin typeface="Aptos" pitchFamily="34" charset="0"/>
                <a:ea typeface="Aptos" pitchFamily="34" charset="-122"/>
                <a:cs typeface="Aptos" pitchFamily="34" charset="-120"/>
              </a:rPr>
              <a:t>OWASP Top 10 for LLM Applications, when security or AI integrations are relevant</a:t>
            </a:r>
            <a:endParaRPr lang="en-US" sz="1380" dirty="0"/>
          </a:p>
        </p:txBody>
      </p:sp>
      <p:sp>
        <p:nvSpPr>
          <p:cNvPr id="16" name="Shape 14"/>
          <p:cNvSpPr/>
          <p:nvPr/>
        </p:nvSpPr>
        <p:spPr>
          <a:xfrm>
            <a:off x="7635240" y="4498848"/>
            <a:ext cx="3474720" cy="1143000"/>
          </a:xfrm>
          <a:prstGeom prst="roundRect">
            <a:avLst>
              <a:gd name="adj" fmla="val 9600"/>
            </a:avLst>
          </a:prstGeom>
          <a:solidFill>
            <a:srgbClr val="EAF6F8"/>
          </a:solidFill>
          <a:ln w="12700">
            <a:solidFill>
              <a:srgbClr val="B9D7E6"/>
            </a:solidFill>
            <a:prstDash val="solid"/>
          </a:ln>
        </p:spPr>
      </p:sp>
      <p:sp>
        <p:nvSpPr>
          <p:cNvPr id="17" name="Text 15"/>
          <p:cNvSpPr/>
          <p:nvPr/>
        </p:nvSpPr>
        <p:spPr>
          <a:xfrm>
            <a:off x="7799832" y="4645152"/>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Apply it</a:t>
            </a:r>
            <a:endParaRPr lang="en-US" sz="1300" dirty="0"/>
          </a:p>
        </p:txBody>
      </p:sp>
      <p:sp>
        <p:nvSpPr>
          <p:cNvPr id="18" name="Text 16"/>
          <p:cNvSpPr/>
          <p:nvPr/>
        </p:nvSpPr>
        <p:spPr>
          <a:xfrm>
            <a:off x="7799832" y="5001768"/>
            <a:ext cx="3145536" cy="50292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Connect the concept to public health purpose, responsible use, required safeguards, documentation, and the next action a department should take.</a:t>
            </a:r>
            <a:endParaRPr lang="en-US" sz="1550"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MLOps and LLMOps for Public Health</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21</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References and Resources Continued</a:t>
            </a:r>
            <a:endParaRPr lang="en-US" sz="3400" dirty="0"/>
          </a:p>
        </p:txBody>
      </p:sp>
      <p:sp>
        <p:nvSpPr>
          <p:cNvPr id="9" name="Text 7"/>
          <p:cNvSpPr/>
          <p:nvPr/>
        </p:nvSpPr>
        <p:spPr>
          <a:xfrm>
            <a:off x="868680" y="1508760"/>
            <a:ext cx="6309360" cy="4160520"/>
          </a:xfrm>
          <a:prstGeom prst="rect">
            <a:avLst/>
          </a:prstGeom>
          <a:noFill/>
          <a:ln/>
        </p:spPr>
        <p:txBody>
          <a:bodyPr wrap="square" lIns="635" tIns="635" rIns="635" bIns="635" rtlCol="0" anchor="t">
            <a:normAutofit/>
          </a:bodyPr>
          <a:lstStyle/>
          <a:p>
            <a:r>
              <a:rPr lang="en-US" sz="2100" dirty="0">
                <a:solidFill>
                  <a:srgbClr val="17364A"/>
                </a:solidFill>
                <a:latin typeface="Aptos" pitchFamily="34" charset="0"/>
                <a:ea typeface="Aptos" pitchFamily="34" charset="-122"/>
                <a:cs typeface="Aptos" pitchFamily="34" charset="-120"/>
              </a:rPr>
              <a:t>Agency privacy, cybersecurity, data governance, procurement, and records management policies</a:t>
            </a:r>
            <a:endParaRPr lang="en-US" sz="2100" dirty="0"/>
          </a:p>
        </p:txBody>
      </p:sp>
      <p:sp>
        <p:nvSpPr>
          <p:cNvPr id="10" name="Shape 8"/>
          <p:cNvSpPr/>
          <p:nvPr/>
        </p:nvSpPr>
        <p:spPr>
          <a:xfrm>
            <a:off x="7635240" y="1325880"/>
            <a:ext cx="3474720" cy="1325880"/>
          </a:xfrm>
          <a:prstGeom prst="roundRect">
            <a:avLst>
              <a:gd name="adj" fmla="val 8276"/>
            </a:avLst>
          </a:prstGeom>
          <a:solidFill>
            <a:srgbClr val="EEF8ED"/>
          </a:solidFill>
          <a:ln w="12700">
            <a:solidFill>
              <a:srgbClr val="B9D7E6"/>
            </a:solidFill>
            <a:prstDash val="solid"/>
          </a:ln>
        </p:spPr>
      </p:sp>
      <p:sp>
        <p:nvSpPr>
          <p:cNvPr id="11" name="Text 9"/>
          <p:cNvSpPr/>
          <p:nvPr/>
        </p:nvSpPr>
        <p:spPr>
          <a:xfrm>
            <a:off x="7799832" y="147218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Core concept</a:t>
            </a:r>
            <a:endParaRPr lang="en-US" sz="1300" dirty="0"/>
          </a:p>
        </p:txBody>
      </p:sp>
      <p:sp>
        <p:nvSpPr>
          <p:cNvPr id="12" name="Text 10"/>
          <p:cNvSpPr/>
          <p:nvPr/>
        </p:nvSpPr>
        <p:spPr>
          <a:xfrm>
            <a:off x="7799832" y="1828800"/>
            <a:ext cx="3145536" cy="68580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Agency privacy, cybersecurity, data governance, procurement, and records management policies</a:t>
            </a:r>
            <a:endParaRPr lang="en-US" sz="1550" dirty="0"/>
          </a:p>
        </p:txBody>
      </p:sp>
      <p:sp>
        <p:nvSpPr>
          <p:cNvPr id="13" name="Shape 11"/>
          <p:cNvSpPr/>
          <p:nvPr/>
        </p:nvSpPr>
        <p:spPr>
          <a:xfrm>
            <a:off x="7635240" y="2788920"/>
            <a:ext cx="3474720" cy="1536192"/>
          </a:xfrm>
          <a:prstGeom prst="roundRect">
            <a:avLst>
              <a:gd name="adj" fmla="val 7143"/>
            </a:avLst>
          </a:prstGeom>
          <a:solidFill>
            <a:srgbClr val="FFFFFF"/>
          </a:solidFill>
          <a:ln w="12700">
            <a:solidFill>
              <a:srgbClr val="B9D7E6"/>
            </a:solidFill>
            <a:prstDash val="solid"/>
          </a:ln>
        </p:spPr>
      </p:sp>
      <p:sp>
        <p:nvSpPr>
          <p:cNvPr id="14" name="Text 12"/>
          <p:cNvSpPr/>
          <p:nvPr/>
        </p:nvSpPr>
        <p:spPr>
          <a:xfrm>
            <a:off x="7799832" y="293522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Concept checkpoints</a:t>
            </a:r>
            <a:endParaRPr lang="en-US" sz="1300" dirty="0"/>
          </a:p>
        </p:txBody>
      </p:sp>
      <p:sp>
        <p:nvSpPr>
          <p:cNvPr id="15" name="Text 13"/>
          <p:cNvSpPr/>
          <p:nvPr/>
        </p:nvSpPr>
        <p:spPr>
          <a:xfrm>
            <a:off x="7818120" y="3300984"/>
            <a:ext cx="3090672" cy="877824"/>
          </a:xfrm>
          <a:prstGeom prst="rect">
            <a:avLst/>
          </a:prstGeom>
          <a:noFill/>
          <a:ln/>
        </p:spPr>
        <p:txBody>
          <a:bodyPr wrap="square" lIns="254" tIns="254" rIns="254" bIns="254" rtlCol="0" anchor="t">
            <a:normAutofit/>
          </a:bodyPr>
          <a:lstStyle/>
          <a:p>
            <a:r>
              <a:rPr lang="en-US" sz="1380" dirty="0">
                <a:solidFill>
                  <a:srgbClr val="17364A"/>
                </a:solidFill>
                <a:latin typeface="Aptos" pitchFamily="34" charset="0"/>
                <a:ea typeface="Aptos" pitchFamily="34" charset="-122"/>
                <a:cs typeface="Aptos" pitchFamily="34" charset="-120"/>
              </a:rPr>
              <a:t>Agency privacy, cybersecurity, data governance, procurement, and records management policies</a:t>
            </a:r>
            <a:endParaRPr lang="en-US" sz="1380" dirty="0"/>
          </a:p>
        </p:txBody>
      </p:sp>
      <p:sp>
        <p:nvSpPr>
          <p:cNvPr id="16" name="Shape 14"/>
          <p:cNvSpPr/>
          <p:nvPr/>
        </p:nvSpPr>
        <p:spPr>
          <a:xfrm>
            <a:off x="7635240" y="4498848"/>
            <a:ext cx="3474720" cy="1143000"/>
          </a:xfrm>
          <a:prstGeom prst="roundRect">
            <a:avLst>
              <a:gd name="adj" fmla="val 9600"/>
            </a:avLst>
          </a:prstGeom>
          <a:solidFill>
            <a:srgbClr val="EAF6F8"/>
          </a:solidFill>
          <a:ln w="12700">
            <a:solidFill>
              <a:srgbClr val="B9D7E6"/>
            </a:solidFill>
            <a:prstDash val="solid"/>
          </a:ln>
        </p:spPr>
      </p:sp>
      <p:sp>
        <p:nvSpPr>
          <p:cNvPr id="17" name="Text 15"/>
          <p:cNvSpPr/>
          <p:nvPr/>
        </p:nvSpPr>
        <p:spPr>
          <a:xfrm>
            <a:off x="7799832" y="4645152"/>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Apply it</a:t>
            </a:r>
            <a:endParaRPr lang="en-US" sz="1300" dirty="0"/>
          </a:p>
        </p:txBody>
      </p:sp>
      <p:sp>
        <p:nvSpPr>
          <p:cNvPr id="18" name="Text 16"/>
          <p:cNvSpPr/>
          <p:nvPr/>
        </p:nvSpPr>
        <p:spPr>
          <a:xfrm>
            <a:off x="7799832" y="5001768"/>
            <a:ext cx="3145536" cy="50292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Connect the concept to public health purpose, responsible use, required safeguards, documentation, and the next action a department should take.</a:t>
            </a:r>
            <a:endParaRPr lang="en-US" sz="155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Aptos Display"/>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21</Slides>
  <Notes>21</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21</vt:i4>
      </vt:variant>
    </vt:vector>
  </HeadingPairs>
  <TitlesOfParts>
    <vt:vector size="24"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vector>
  </TitlesOfParts>
  <Company>AI Playbook for Public Health</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MLOps and LLMOps for Public Health</dc:title>
  <dc:subject>MLOps and LLMOps for Public Health learning module</dc:subject>
  <dc:creator>Paula Soper</dc:creator>
  <cp:lastModifiedBy>Paula Soper</cp:lastModifiedBy>
  <cp:revision>1</cp:revision>
  <dcterms:created xsi:type="dcterms:W3CDTF">2026-07-13T02:11:44Z</dcterms:created>
  <dcterms:modified xsi:type="dcterms:W3CDTF">2026-07-13T02:11:44Z</dcterms:modified>
</cp:coreProperties>
</file>