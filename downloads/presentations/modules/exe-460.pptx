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460 AI Governance Board Chair Training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public-health-executive-leadership, governance-security, program-management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governance board chair training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running governance meetings, documenting decisions, and managing risk escalation.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Governance Board Chair Training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running governance meetings, documenting decisions, and managing risk escalation.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governance board chair training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Governance Board Chair Training artifact
Role and responsibility table
Risk and safeguard summary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Governance Board Chair Training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governance board chair training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Board Chair Training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running governance meetings, documenting decisions, and managing risk escalation.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public-health-executive-leadership, governance-security, program-management</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governance board chair training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governance board chair training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380" dirty="0"/>
          </a:p>
          <a:p>
            <a:r>
              <a:rPr lang="en-US" sz="1380" dirty="0">
                <a:solidFill>
                  <a:srgbClr val="17364A"/>
                </a:solidFill>
                <a:latin typeface="Aptos" pitchFamily="34" charset="0"/>
                <a:ea typeface="Aptos" pitchFamily="34" charset="-122"/>
                <a:cs typeface="Aptos" pitchFamily="34" charset="-120"/>
              </a:rPr>
              <a:t>Produce a practical artifact that supports readiness, governance,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running governance meetings, documenting decisions, and managing risk escalation.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running governance meetings, documenting decisions, and managing risk escalation.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designed for public health staff who must translate responsible AI principles into.</a:t>
            </a:r>
            <a:endParaRPr lang="en-US" sz="1380" dirty="0"/>
          </a:p>
          <a:p>
            <a:r>
              <a:rPr lang="en-US" sz="1380" dirty="0">
                <a:solidFill>
                  <a:srgbClr val="17364A"/>
                </a:solidFill>
                <a:latin typeface="Aptos" pitchFamily="34" charset="0"/>
                <a:ea typeface="Aptos" pitchFamily="34" charset="-122"/>
                <a:cs typeface="Aptos" pitchFamily="34" charset="-120"/>
              </a:rPr>
              <a:t>The module helps learners move beyond general awareness by producing a practical artifact.</a:t>
            </a:r>
            <a:endParaRPr lang="en-US" sz="1380" dirty="0"/>
          </a:p>
          <a:p>
            <a:r>
              <a:rPr lang="en-US" sz="1380" dirty="0">
                <a:solidFill>
                  <a:srgbClr val="17364A"/>
                </a:solidFill>
                <a:latin typeface="Aptos" pitchFamily="34" charset="0"/>
                <a:ea typeface="Aptos" pitchFamily="34" charset="-122"/>
                <a:cs typeface="Aptos" pitchFamily="34" charset="-120"/>
              </a:rPr>
              <a:t>It emphasizes paragraph-based reasoning, defined responsibilities, and documentation that.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Decision right: The authority to approve, deny, modify, pause, or escalate an AI use case.</a:t>
            </a:r>
            <a:endParaRPr lang="en-US" sz="1380" dirty="0"/>
          </a:p>
          <a:p>
            <a:r>
              <a:rPr lang="en-US" sz="1380" dirty="0">
                <a:solidFill>
                  <a:srgbClr val="17364A"/>
                </a:solidFill>
                <a:latin typeface="Aptos" pitchFamily="34" charset="0"/>
                <a:ea typeface="Aptos" pitchFamily="34" charset="-122"/>
                <a:cs typeface="Aptos" pitchFamily="34" charset="-120"/>
              </a:rPr>
              <a:t>Evidence artifact: A document, log, checklist, test result, approval record, or review.</a:t>
            </a:r>
            <a:endParaRPr lang="en-US" sz="1380" dirty="0"/>
          </a:p>
          <a:p>
            <a:r>
              <a:rPr lang="en-US" sz="1380" dirty="0">
                <a:solidFill>
                  <a:srgbClr val="17364A"/>
                </a:solidFill>
                <a:latin typeface="Aptos" pitchFamily="34" charset="0"/>
                <a:ea typeface="Aptos" pitchFamily="34" charset="-122"/>
                <a:cs typeface="Aptos" pitchFamily="34" charset="-120"/>
              </a:rPr>
              <a:t>Accountability owner: The person or role responsible for ensuring that an AI use case is.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Board Chair Training matters because AI adoption changes how public health agencies make,.</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Board Chair Training matters because AI adoption changes how public health agencies make,.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Governance Board Chair Training matters because AI adoption changes how public health.</a:t>
            </a:r>
            <a:endParaRPr lang="en-US" sz="1380" dirty="0"/>
          </a:p>
          <a:p>
            <a:r>
              <a:rPr lang="en-US" sz="1380" dirty="0">
                <a:solidFill>
                  <a:srgbClr val="17364A"/>
                </a:solidFill>
                <a:latin typeface="Aptos" pitchFamily="34" charset="0"/>
                <a:ea typeface="Aptos" pitchFamily="34" charset="-122"/>
                <a:cs typeface="Aptos" pitchFamily="34" charset="-120"/>
              </a:rPr>
              <a:t>Without a structured approach, staff may rely on informal practices, vendor assurances, or.</a:t>
            </a:r>
            <a:endParaRPr lang="en-US" sz="1380" dirty="0"/>
          </a:p>
          <a:p>
            <a:r>
              <a:rPr lang="en-US" sz="1380" dirty="0">
                <a:solidFill>
                  <a:srgbClr val="17364A"/>
                </a:solidFill>
                <a:latin typeface="Aptos" pitchFamily="34" charset="0"/>
                <a:ea typeface="Aptos" pitchFamily="34" charset="-122"/>
                <a:cs typeface="Aptos" pitchFamily="34" charset="-120"/>
              </a:rPr>
              <a:t>Public health agencies operate under legal authorities, public accountability, resource.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running governance meetings,.</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running governance meetings,.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is preparing to use AI in a workflow related to running governance.</a:t>
            </a:r>
            <a:endParaRPr lang="en-US" sz="1380" dirty="0"/>
          </a:p>
          <a:p>
            <a:r>
              <a:rPr lang="en-US" sz="1380" dirty="0">
                <a:solidFill>
                  <a:srgbClr val="17364A"/>
                </a:solidFill>
                <a:latin typeface="Aptos" pitchFamily="34" charset="0"/>
                <a:ea typeface="Aptos" pitchFamily="34" charset="-122"/>
                <a:cs typeface="Aptos" pitchFamily="34" charset="-120"/>
              </a:rPr>
              <a:t>The project team initially treats the tool as a helpful efficiency aid, but governance.</a:t>
            </a:r>
            <a:endParaRPr lang="en-US" sz="1380" dirty="0"/>
          </a:p>
          <a:p>
            <a:r>
              <a:rPr lang="en-US" sz="1380" dirty="0">
                <a:solidFill>
                  <a:srgbClr val="17364A"/>
                </a:solidFill>
                <a:latin typeface="Aptos" pitchFamily="34" charset="0"/>
                <a:ea typeface="Aptos" pitchFamily="34" charset="-122"/>
                <a:cs typeface="Aptos" pitchFamily="34" charset="-120"/>
              </a:rPr>
              <a:t>The agency responds by creating a clear artifact that defines intended use, prohibited.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identify who is affected, what data are used, what AI output is produced, who.</a:t>
            </a:r>
            <a:endParaRPr lang="en-US" sz="1380" dirty="0"/>
          </a:p>
          <a:p>
            <a:r>
              <a:rPr lang="en-US" sz="1380" dirty="0">
                <a:solidFill>
                  <a:srgbClr val="17364A"/>
                </a:solidFill>
                <a:latin typeface="Aptos" pitchFamily="34" charset="0"/>
                <a:ea typeface="Aptos" pitchFamily="34" charset="-122"/>
                <a:cs typeface="Aptos" pitchFamily="34" charset="-120"/>
              </a:rPr>
              <a:t>The second step is to assign responsibilities.</a:t>
            </a:r>
            <a:endParaRPr lang="en-US" sz="1380" dirty="0"/>
          </a:p>
          <a:p>
            <a:r>
              <a:rPr lang="en-US" sz="1380" dirty="0">
                <a:solidFill>
                  <a:srgbClr val="17364A"/>
                </a:solidFill>
                <a:latin typeface="Aptos" pitchFamily="34" charset="0"/>
                <a:ea typeface="Aptos" pitchFamily="34" charset="-122"/>
                <a:cs typeface="Aptos" pitchFamily="34" charset="-120"/>
              </a:rPr>
              <a:t>AI-supported workflows often cross program, IT, legal, privacy, communications,.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failure mode is unclear ownership.</a:t>
            </a:r>
            <a:endParaRPr lang="en-US" sz="1380" dirty="0"/>
          </a:p>
          <a:p>
            <a:r>
              <a:rPr lang="en-US" sz="1380" dirty="0">
                <a:solidFill>
                  <a:srgbClr val="17364A"/>
                </a:solidFill>
                <a:latin typeface="Aptos" pitchFamily="34" charset="0"/>
                <a:ea typeface="Aptos" pitchFamily="34" charset="-122"/>
                <a:cs typeface="Aptos" pitchFamily="34" charset="-120"/>
              </a:rPr>
              <a:t>When everyone is responsible in general, no one may be responsible in practice.</a:t>
            </a:r>
            <a:endParaRPr lang="en-US" sz="1380" dirty="0"/>
          </a:p>
          <a:p>
            <a:r>
              <a:rPr lang="en-US" sz="1380" dirty="0">
                <a:solidFill>
                  <a:srgbClr val="17364A"/>
                </a:solidFill>
                <a:latin typeface="Aptos" pitchFamily="34" charset="0"/>
                <a:ea typeface="Aptos" pitchFamily="34" charset="-122"/>
                <a:cs typeface="Aptos" pitchFamily="34" charset="-120"/>
              </a:rPr>
              <a:t>A guardrail is to assign an accountability owner and name escalation pathways.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topic applies across generative AI, predictive analytics, NLP, RAG, automation, and.</a:t>
            </a:r>
            <a:endParaRPr lang="en-US" sz="1380" dirty="0"/>
          </a:p>
          <a:p>
            <a:r>
              <a:rPr lang="en-US" sz="1380" dirty="0">
                <a:solidFill>
                  <a:srgbClr val="17364A"/>
                </a:solidFill>
                <a:latin typeface="Aptos" pitchFamily="34" charset="0"/>
                <a:ea typeface="Aptos" pitchFamily="34" charset="-122"/>
                <a:cs typeface="Aptos" pitchFamily="34" charset="-120"/>
              </a:rPr>
              <a:t>The more sensitive the data, the more consequential the output, or the more automated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80" dirty="0"/>
          </a:p>
          <a:p>
            <a:r>
              <a:rPr lang="en-US" sz="1380" dirty="0">
                <a:solidFill>
                  <a:srgbClr val="17364A"/>
                </a:solidFill>
                <a:latin typeface="Aptos" pitchFamily="34" charset="0"/>
                <a:ea typeface="Aptos" pitchFamily="34" charset="-122"/>
                <a:cs typeface="Aptos" pitchFamily="34" charset="-120"/>
              </a:rPr>
              <a:t>Who has authority to approve or pause the work?</a:t>
            </a:r>
            <a:endParaRPr lang="en-US" sz="1380" dirty="0"/>
          </a:p>
          <a:p>
            <a:r>
              <a:rPr lang="en-US" sz="138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80" dirty="0"/>
          </a:p>
          <a:p>
            <a:r>
              <a:rPr lang="en-US" sz="1380" dirty="0">
                <a:solidFill>
                  <a:srgbClr val="17364A"/>
                </a:solidFill>
                <a:latin typeface="Aptos" pitchFamily="34" charset="0"/>
                <a:ea typeface="Aptos" pitchFamily="34" charset="-122"/>
                <a:cs typeface="Aptos" pitchFamily="34" charset="-120"/>
              </a:rPr>
              <a:t>How will the agency know when the workflow needs to be revised?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governance board chair training artifact for one AI-supported public health use.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governance board chair training artifact for one AI-supported public health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practical ai governance board chair training artifact for one AI-supported public.</a:t>
            </a:r>
            <a:endParaRPr lang="en-US" sz="1380" dirty="0"/>
          </a:p>
          <a:p>
            <a:r>
              <a:rPr lang="en-US" sz="1380" dirty="0">
                <a:solidFill>
                  <a:srgbClr val="17364A"/>
                </a:solidFill>
                <a:latin typeface="Aptos" pitchFamily="34" charset="0"/>
                <a:ea typeface="Aptos" pitchFamily="34" charset="-122"/>
                <a:cs typeface="Aptos" pitchFamily="34" charset="-120"/>
              </a:rPr>
              <a:t>The artifact should define the use case, affected roles, review criteria,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Board Chair Training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Board Chair Training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Governance Board Chair Training artifact</a:t>
            </a:r>
            <a:endParaRPr lang="en-US" sz="1380" dirty="0"/>
          </a:p>
          <a:p>
            <a:r>
              <a:rPr lang="en-US" sz="1380" dirty="0">
                <a:solidFill>
                  <a:srgbClr val="17364A"/>
                </a:solidFill>
                <a:latin typeface="Aptos" pitchFamily="34" charset="0"/>
                <a:ea typeface="Aptos" pitchFamily="34" charset="-122"/>
                <a:cs typeface="Aptos" pitchFamily="34" charset="-120"/>
              </a:rPr>
              <a:t>Role and responsibility table</a:t>
            </a:r>
            <a:endParaRPr lang="en-US" sz="1380" dirty="0"/>
          </a:p>
          <a:p>
            <a:r>
              <a:rPr lang="en-US" sz="1380" dirty="0">
                <a:solidFill>
                  <a:srgbClr val="17364A"/>
                </a:solidFill>
                <a:latin typeface="Aptos" pitchFamily="34" charset="0"/>
                <a:ea typeface="Aptos" pitchFamily="34" charset="-122"/>
                <a:cs typeface="Aptos" pitchFamily="34" charset="-120"/>
              </a:rPr>
              <a:t>Risk and safeguard summary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Board Chair Training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Board Chair Training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governance board chair training has been applied responsibly?</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governance board chair training has been applied responsibly?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evidence that ai governance board chair training has been applied.</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Large Language Model Applications:.</a:t>
            </a:r>
            <a:endParaRPr lang="en-US" sz="1380" dirty="0"/>
          </a:p>
          <a:p>
            <a:r>
              <a:rPr lang="en-US" sz="1380" dirty="0">
                <a:solidFill>
                  <a:srgbClr val="17364A"/>
                </a:solidFill>
                <a:latin typeface="Aptos" pitchFamily="34" charset="0"/>
                <a:ea typeface="Aptos" pitchFamily="34" charset="-122"/>
                <a:cs typeface="Aptos" pitchFamily="34" charset="-120"/>
              </a:rPr>
              <a:t>ONC health IT, interoperability, and information blocking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Board Chair Training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policies for privacy, public records, cybersecurity, procurement, civil rights,.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Board Chair Training</dc:title>
  <dc:subject>AI Governance Board Chair Training learning module</dc:subject>
  <dc:creator>Paula Soper</dc:creator>
  <cp:lastModifiedBy>Paula Soper</cp:lastModifiedBy>
  <cp:revision>1</cp:revision>
  <dcterms:created xsi:type="dcterms:W3CDTF">2026-07-13T02:11:43Z</dcterms:created>
  <dcterms:modified xsi:type="dcterms:W3CDTF">2026-07-13T02:11:43Z</dcterms:modified>
</cp:coreProperties>
</file>