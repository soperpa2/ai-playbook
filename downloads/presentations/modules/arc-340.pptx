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ARC 340 Public Health System Integration Patterns
Public health AI rarely succeeds as a stand-alone application. The value of an AI-supported workflow depends on how well it is integrated with systems of record, data exchange services, terminology services, identity systems, dashboards, case management tools, and communication channels. This module helps learners understand the integration patterns that allow AI to support public health work without creating fragmented pilots or unsafe workarounds. The module focuses on practical integration choices rather than software engineering theory. Learners examine when point-to-point interfaces, interface engines, APIs, event queues, shared services, file exchange, bulk data access, and embedded workflow tools are appropriate. The goal is to help public health teams ask better implementation questions and recognize when a proposed AI tool is not architecturally ready for operational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Technical Architecture Track
Appears in tracks: technical-architecture, operations-data-quality, program-management, governance-security
Public health AI rarely succeeds as a stand-alone application. The value of an AI-supported workflow depends on how well it is integrated with systems of record, data exchange services, terminology services, identity systems, dashboards, case management tools, and communication channels. This module helps learners understand the integration patterns that allow AI to support public health work without creating fragmented pilots or unsafe workarounds. The module focuses on practical integration choices rather than software engineering theory. Learners examine when point-to-point interfaces, interface engines, APIs, event queues, shared services, file exchange, bulk data access, and embedded workflow tools are appropriate. The goal is to help public health teams ask better implementation questions and recognize when a proposed AI tool is not architecturally ready for operational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3: Establish AI Governance - This lesson informs Play 3 by helping learners connect the lesson topic to establish ai governance work in the AI Playbook sequence.
Play 1: Vision &amp; Guardrails - This lesson informs Play 1 by helping learners connect the lesson topic to vision &amp; guardrails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Tiered Data Classification for AI Use to translate this lesson into a documented public health AI planning, governance,.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why system integration is central to AI readiness in public health.
Distinguish among common integration patterns such as point-to-point interfaces, APIs, message brokers, interface engines, event queues, and bulk exchange.
Identify the systems of record, upstream sources, downstream systems, and shared services involved in an AI-supported workflow.
Assess whether a proposed AI tool requires read-only access, write-back access, embedded workflow integration, or manual review.
Identify integration risks related to reliability, duplicate entry, routing errors, privacy, security, and vendor lock-in.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Produce an integration pattern worksheet for a public health AI use case.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Public health AI rarely succeeds as a stand-alone application. The value of an AI-supported workflow depends on how well it is integrated with systems of record, data exchange services, terminology services, identity systems, dashboards, case management tools, and communication channels. This module helps learners understand the integration patterns that allow AI to support public health work without creating fragmented pilots or unsafe workarounds.
The module focuses on practical integration choices rather than software engineering theory. Learners examine when point-to-point interfaces, interface engines, APIs, event queues, shared services, file exchange, bulk data access, and embedded workflow tools are appropriate. The goal is to help public health teams ask better implementation questions and recognize when a proposed AI tool is not architecturally ready for operational use.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Integration pattern: A reusable approach for connecting systems, services, data flows, and workflows.
Interface engine: Software that routes, transforms, validates, and monitors messages between systems.
Message broker: A service that allows systems to send and receive messages through a managed queue or topic.
Bulk data exchange: The transfer of large datasets at scheduled intervals or on demand.
Write-back: A system action that updates, creates, or changes information in another system.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national-level module is intended for training and planning purposes. It does not replace legal, privacy, procurement, civil rights, records, or agency policy review. Learners should confirm applicable requirements in their own jurisdiction and organization before implementing AI-supported workflows.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Integration decisions determine whether AI becomes part of a reliable public health workflow or an isolated tool that adds burden. If staff must copy and paste sensitive information between systems, the AI tool may appear helpful while increasing privacy risk, documentation gaps, and error rates. If an AI service writes back to a system of record without appropriate controls, a technical integration can become an operational safety risk.
Public health agencies often operate in mixed environments that include legacy surveillance systems, modern cloud platforms, external partners, interface engines, spreadsheets, portals, and vendor-hosted tools. AI implementation requires teams to make these environments visible and decide where automation belongs. A well-integrated workflow preserves accountability by defining what data are exchanged, what actions are allowed, what is logged, and what humans must approve.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health department may want an AI assistant to summarize incoming case reports and create follow-up tasks for investigators. A weak integration pattern would require staff to export case data, paste it into an external tool, copy the summary, and manually create a task. A stronger pattern would retrieve approved fields from the surveillance system, generate a draft summary inside the authorized workflow, and require the investigator to approve any task creation.
The technical design matters because the AI tool is no longer just generating text. It is interacting with operational systems. The agency must decide whether the tool is read-only, whether it can create draft tasks, whether it can update the case record, and how the system logs each action.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Operational Deep Dive
Point-to-point interfaces connect two systems directly. They can be useful when the exchange is stable and narrow, but they become difficult to maintain as the number of systems increases. In public health, too many point-to-point connections can create brittle architecture, inconsistent validation, and high maintenance burden.
Interface engines and message brokers support more scalable exchange. Interface engines are common in health data exchange because they can transform messages, route them, validate required fields, and provide monitoring. Message brokers and event queues are useful when workflows are triggered by events, such as receipt of a lab result or creation of a new case. AI tools that depend on timely data may need these patterns to avoid polling, manual refreshes, or delayed processing.
APIs are increasingly important because they allow systems to request data or services in a more modular way. FHIR APIs can support structured access to clinical information, while internal APIs may expose surveillance, laboratory, or operational data to approved applications. API-based integration requires careful attention to authentication, authorization, rate limits, payload design, error handling, and audit logs.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integration by workaround. Staff may use manual exports, screenshots, shared drives, or copy-and-paste workflows when a tool is not properly integrated. These practices can create privacy risk, version confusion, and gaps in the official record. A guardrail is to require integration review before operational use and to document whether manual transfer of sensitive data is prohibited.
Another failure mode is uncontrolled write-back. If an AI tool can update a record, create a task, send a message, or change a status, the agency must define approval points, rollback procedures, and audit logs. The guardrail is to separate draft support from final action unless the workflow has been approved for automation.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may require integration with document repositories or systems of record so outputs can be grounded in approved content. Predictive models may require scheduled data feeds and monitoring dashboards. Agentic workflows require the strongest integration controls because they may call tools, access data, create tasks, or trigger notifications. For each AI use case, the integration pattern should match the sensitivity and operational consequence of the action.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workflows currently depend on manual transfer between systems?
Which systems are the official systems of record?
Where would API access reduce burden without increasing risk?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actions should remain read-only?
What logs would be needed to reconstruct an AI-supported action?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an integration pattern worksheet for one AI-supported workflow. Identify the systems involved, the data exchanged, the integration method, whether the AI tool is read-only or write-back, the human approval point, and the audit log requirements.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Integration pattern worksheet
System-of-record and source-system list
Read/write permission recommendation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Error handling and audit log requirements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Integration pattern worksheet
System-of-record and source-system list
Read/write permission recommendation
Error handling and audit log requirements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Which integration risk is most concerning for an AI tool that can update a case record?
2. What is the best reason to assign an accountability owner?
3. When should an AI-supported workflow be escalated for review?
4. Which practice best supports public accountability?
5. What should happen when data sources, policy, vendor configuration, or workflow use changes?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Public Health Data Strategy and Data Modernization resources: https://www.cdc.gov/public-health-data-strategy/php/about/index.html
NIST Artificial Intelligence Risk Management Framework and NIST Generative AI Profile: https://www.nist.gov/publications/artificial-intelligence-risk-management-framework-generative-artificial-intelligence
WHO Ethics and Governance of Artificial Intelligence for Health guidance: https://www.who.int/publications/i/item/9789240029200
OWASP Top 10 for Large Language Model Applications: https://owasp.org/www-project-top-10-for-large-language-model-applications/
ONC health IT, interoperability, and information blocking resources: https://www.healthit.gov/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Agency policies for privacy, public records, cybersecurity, procurement, civil rights, accessibility, language access, and emergency communications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ARC 340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Public Health System Integration Patterns</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System Integration Patterns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Public health AI rarely succeeds as a stand-alone application.</a:t>
            </a:r>
            <a:endParaRPr lang="en-US" sz="2100" dirty="0"/>
          </a:p>
          <a:p>
            <a:r>
              <a:rPr lang="en-US" sz="2100" dirty="0">
                <a:solidFill>
                  <a:srgbClr val="17364A"/>
                </a:solidFill>
                <a:latin typeface="Aptos" pitchFamily="34" charset="0"/>
                <a:ea typeface="Aptos" pitchFamily="34" charset="-122"/>
                <a:cs typeface="Aptos" pitchFamily="34" charset="-120"/>
              </a:rPr>
              <a:t>The value of an AI-supported workflow depends on how well it is integrated with systems of record, data exchange.</a:t>
            </a:r>
            <a:endParaRPr lang="en-US" sz="2100" dirty="0"/>
          </a:p>
          <a:p>
            <a:r>
              <a:rPr lang="en-US" sz="2100" dirty="0">
                <a:solidFill>
                  <a:srgbClr val="17364A"/>
                </a:solidFill>
                <a:latin typeface="Aptos" pitchFamily="34" charset="0"/>
                <a:ea typeface="Aptos" pitchFamily="34" charset="-122"/>
                <a:cs typeface="Aptos" pitchFamily="34" charset="-120"/>
              </a:rPr>
              <a:t>This module helps learners understand the integration patterns that allow AI to support public health work.</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intermediate/practitioner</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Technical Architecture Track</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technical-architecture, operations-data-quality, program-management, governance-security</a:t>
            </a:r>
            <a:endParaRPr lang="en-US" sz="155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22192"/>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Learning sequence</a:t>
            </a:r>
            <a:endParaRPr lang="en-US" sz="1300" dirty="0"/>
          </a:p>
        </p:txBody>
      </p:sp>
      <p:sp>
        <p:nvSpPr>
          <p:cNvPr id="15" name="Text 13"/>
          <p:cNvSpPr/>
          <p:nvPr/>
        </p:nvSpPr>
        <p:spPr>
          <a:xfrm>
            <a:off x="8092440" y="4187952"/>
            <a:ext cx="2770632" cy="1033272"/>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Read the module for shared vocabulary and context.</a:t>
            </a:r>
            <a:endParaRPr lang="en-US" sz="1380" dirty="0"/>
          </a:p>
          <a:p>
            <a:r>
              <a:rPr lang="en-US" sz="1380" dirty="0">
                <a:solidFill>
                  <a:srgbClr val="17364A"/>
                </a:solidFill>
                <a:latin typeface="Aptos" pitchFamily="34" charset="0"/>
                <a:ea typeface="Aptos" pitchFamily="34" charset="-122"/>
                <a:cs typeface="Aptos" pitchFamily="34" charset="-120"/>
              </a:rPr>
              <a:t>Complete the practical exercise to apply the concept.</a:t>
            </a:r>
            <a:endParaRPr lang="en-US" sz="1380" dirty="0"/>
          </a:p>
          <a:p>
            <a:r>
              <a:rPr lang="en-US" sz="1380" dirty="0">
                <a:solidFill>
                  <a:srgbClr val="17364A"/>
                </a:solidFill>
                <a:latin typeface="Aptos" pitchFamily="34" charset="0"/>
                <a:ea typeface="Aptos" pitchFamily="34" charset="-122"/>
                <a:cs typeface="Aptos" pitchFamily="34" charset="-120"/>
              </a:rPr>
              <a:t>Use the notes and references for deeper review.</a:t>
            </a:r>
            <a:endParaRPr lang="en-US" sz="138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System Integration Patterns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a:t>
            </a:r>
            <a:endParaRPr lang="en-US" sz="1900" dirty="0"/>
          </a:p>
          <a:p>
            <a:r>
              <a:rPr lang="en-US" sz="1900" dirty="0">
                <a:solidFill>
                  <a:srgbClr val="17364A"/>
                </a:solidFill>
                <a:latin typeface="Aptos" pitchFamily="34" charset="0"/>
                <a:ea typeface="Aptos" pitchFamily="34" charset="-122"/>
                <a:cs typeface="Aptos" pitchFamily="34" charset="-120"/>
              </a:rPr>
              <a:t>Play 2: Readiness Assessment - This lesson informs Play 2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3: Establish AI Governance - This lesson informs Play 3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play links to</a:t>
            </a:r>
            <a:endParaRPr lang="en-US" sz="1300" dirty="0"/>
          </a:p>
        </p:txBody>
      </p:sp>
      <p:sp>
        <p:nvSpPr>
          <p:cNvPr id="15" name="Text 13"/>
          <p:cNvSpPr/>
          <p:nvPr/>
        </p:nvSpPr>
        <p:spPr>
          <a:xfrm>
            <a:off x="8229600" y="4306824"/>
            <a:ext cx="2679192" cy="941832"/>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Locate the decision point in the playbook sequence.</a:t>
            </a:r>
            <a:endParaRPr lang="en-US" sz="1380" dirty="0"/>
          </a:p>
          <a:p>
            <a:r>
              <a:rPr lang="en-US" sz="1380" dirty="0">
                <a:solidFill>
                  <a:srgbClr val="17364A"/>
                </a:solidFill>
                <a:latin typeface="Aptos" pitchFamily="34" charset="0"/>
                <a:ea typeface="Aptos" pitchFamily="34" charset="-122"/>
                <a:cs typeface="Aptos" pitchFamily="34" charset="-120"/>
              </a:rPr>
              <a:t>Identify who should participate in the work.</a:t>
            </a:r>
            <a:endParaRPr lang="en-US" sz="1380" dirty="0"/>
          </a:p>
          <a:p>
            <a:r>
              <a:rPr lang="en-US" sz="1380" dirty="0">
                <a:solidFill>
                  <a:srgbClr val="17364A"/>
                </a:solidFill>
                <a:latin typeface="Aptos" pitchFamily="34" charset="0"/>
                <a:ea typeface="Aptos" pitchFamily="34" charset="-122"/>
                <a:cs typeface="Aptos" pitchFamily="34" charset="-120"/>
              </a:rPr>
              <a:t>Document the review, approval, or implementation step.</a:t>
            </a:r>
            <a:endParaRPr lang="en-US" sz="138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System Integration Patterns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a:t>
            </a:r>
            <a:endParaRPr lang="en-US" sz="1850" dirty="0"/>
          </a:p>
          <a:p>
            <a:r>
              <a:rPr lang="en-US" sz="1850" dirty="0">
                <a:solidFill>
                  <a:srgbClr val="17364A"/>
                </a:solidFill>
                <a:latin typeface="Aptos" pitchFamily="34" charset="0"/>
                <a:ea typeface="Aptos" pitchFamily="34" charset="-122"/>
                <a:cs typeface="Aptos" pitchFamily="34" charset="-120"/>
              </a:rPr>
              <a:t>Tool 5: AI Environmental and Resource Impact Review (Checklist) - Use AI Environmental and Resource Impact.</a:t>
            </a:r>
            <a:endParaRPr lang="en-US" sz="1850" dirty="0"/>
          </a:p>
          <a:p>
            <a:r>
              <a:rPr lang="en-US" sz="1850" dirty="0">
                <a:solidFill>
                  <a:srgbClr val="17364A"/>
                </a:solidFill>
                <a:latin typeface="Aptos" pitchFamily="34" charset="0"/>
                <a:ea typeface="Aptos" pitchFamily="34" charset="-122"/>
                <a:cs typeface="Aptos" pitchFamily="34" charset="-120"/>
              </a:rPr>
              <a:t>Tool 6: Human-Centered AI Decision Rule Checklist (Checklist) - Use Human-Centered AI Decision Rule.</a:t>
            </a:r>
            <a:endParaRPr lang="en-US" sz="1850" dirty="0"/>
          </a:p>
          <a:p>
            <a:r>
              <a:rPr lang="en-US" sz="1850" dirty="0">
                <a:solidFill>
                  <a:srgbClr val="17364A"/>
                </a:solidFill>
                <a:latin typeface="Aptos" pitchFamily="34" charset="0"/>
                <a:ea typeface="Aptos" pitchFamily="34" charset="-122"/>
                <a:cs typeface="Aptos" pitchFamily="34" charset="-120"/>
              </a:rPr>
              <a:t>Tool 8: AI Project Charter (Planning) - Use AI Project Charter to translate this lesson into a documented.</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Tool selection cues</a:t>
            </a:r>
            <a:endParaRPr lang="en-US" sz="1300" dirty="0"/>
          </a:p>
        </p:txBody>
      </p:sp>
      <p:sp>
        <p:nvSpPr>
          <p:cNvPr id="15" name="Text 13"/>
          <p:cNvSpPr/>
          <p:nvPr/>
        </p:nvSpPr>
        <p:spPr>
          <a:xfrm>
            <a:off x="8229600" y="4306824"/>
            <a:ext cx="2679192" cy="941832"/>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Use a tool when no comparable local process exists.</a:t>
            </a:r>
            <a:endParaRPr lang="en-US" sz="1380" dirty="0"/>
          </a:p>
          <a:p>
            <a:r>
              <a:rPr lang="en-US" sz="1380" dirty="0">
                <a:solidFill>
                  <a:srgbClr val="17364A"/>
                </a:solidFill>
                <a:latin typeface="Aptos" pitchFamily="34" charset="0"/>
                <a:ea typeface="Aptos" pitchFamily="34" charset="-122"/>
                <a:cs typeface="Aptos" pitchFamily="34" charset="-120"/>
              </a:rPr>
              <a:t>Adapt existing department templates when they already fit the purpose.</a:t>
            </a:r>
            <a:endParaRPr lang="en-US" sz="1380" dirty="0"/>
          </a:p>
          <a:p>
            <a:r>
              <a:rPr lang="en-US" sz="1380" dirty="0">
                <a:solidFill>
                  <a:srgbClr val="17364A"/>
                </a:solidFill>
                <a:latin typeface="Aptos" pitchFamily="34" charset="0"/>
                <a:ea typeface="Aptos" pitchFamily="34" charset="-122"/>
                <a:cs typeface="Aptos" pitchFamily="34" charset="-120"/>
              </a:rPr>
              <a:t>Save the completed artifact as evidence of the decision.</a:t>
            </a:r>
            <a:endParaRPr lang="en-US" sz="138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System Integration Patterns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Explain why system integration is central to AI readiness in public health.</a:t>
            </a:r>
            <a:endParaRPr lang="en-US" sz="2100" dirty="0"/>
          </a:p>
          <a:p>
            <a:r>
              <a:rPr lang="en-US" sz="2100" dirty="0">
                <a:solidFill>
                  <a:srgbClr val="17364A"/>
                </a:solidFill>
                <a:latin typeface="Aptos" pitchFamily="34" charset="0"/>
                <a:ea typeface="Aptos" pitchFamily="34" charset="-122"/>
                <a:cs typeface="Aptos" pitchFamily="34" charset="-120"/>
              </a:rPr>
              <a:t>Distinguish among common integration patterns such as point-to-point interfaces, APIs, message brokers,.</a:t>
            </a:r>
            <a:endParaRPr lang="en-US" sz="2100" dirty="0"/>
          </a:p>
          <a:p>
            <a:r>
              <a:rPr lang="en-US" sz="2100" dirty="0">
                <a:solidFill>
                  <a:srgbClr val="17364A"/>
                </a:solidFill>
                <a:latin typeface="Aptos" pitchFamily="34" charset="0"/>
                <a:ea typeface="Aptos" pitchFamily="34" charset="-122"/>
                <a:cs typeface="Aptos" pitchFamily="34" charset="-120"/>
              </a:rPr>
              <a:t>Identify the systems of record, upstream sources, downstream systems, and shared services involved in.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Explain why system integration is central to AI readiness in public health.</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Distinguish among common integration patterns such as point-to-point interfaces, APIs,.</a:t>
            </a:r>
            <a:endParaRPr lang="en-US" sz="1380" dirty="0"/>
          </a:p>
          <a:p>
            <a:r>
              <a:rPr lang="en-US" sz="1380" dirty="0">
                <a:solidFill>
                  <a:srgbClr val="17364A"/>
                </a:solidFill>
                <a:latin typeface="Aptos" pitchFamily="34" charset="0"/>
                <a:ea typeface="Aptos" pitchFamily="34" charset="-122"/>
                <a:cs typeface="Aptos" pitchFamily="34" charset="-120"/>
              </a:rPr>
              <a:t>Identify the systems of record, upstream sources, downstream systems, and shared services.</a:t>
            </a:r>
            <a:endParaRPr lang="en-US" sz="1380" dirty="0"/>
          </a:p>
          <a:p>
            <a:r>
              <a:rPr lang="en-US" sz="1380" dirty="0">
                <a:solidFill>
                  <a:srgbClr val="17364A"/>
                </a:solidFill>
                <a:latin typeface="Aptos" pitchFamily="34" charset="0"/>
                <a:ea typeface="Aptos" pitchFamily="34" charset="-122"/>
                <a:cs typeface="Aptos" pitchFamily="34" charset="-120"/>
              </a:rPr>
              <a:t>Assess whether a proposed AI tool requires read-only access, write-back access, embedded.</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System Integration Patterns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Produce an integration pattern worksheet for a public health AI use case.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Produce an integration pattern worksheet for a public health AI use case.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Produce an integration pattern worksheet for a public health AI use case.</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System Integration Patterns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Public health AI rarely succeeds as a stand-alone application.</a:t>
            </a:r>
            <a:endParaRPr lang="en-US" sz="2100" dirty="0"/>
          </a:p>
          <a:p>
            <a:r>
              <a:rPr lang="en-US" sz="2100" dirty="0">
                <a:solidFill>
                  <a:srgbClr val="17364A"/>
                </a:solidFill>
                <a:latin typeface="Aptos" pitchFamily="34" charset="0"/>
                <a:ea typeface="Aptos" pitchFamily="34" charset="-122"/>
                <a:cs typeface="Aptos" pitchFamily="34" charset="-120"/>
              </a:rPr>
              <a:t>The value of an AI-supported workflow depends on how well it is integrated with systems of record, data.</a:t>
            </a:r>
            <a:endParaRPr lang="en-US" sz="2100" dirty="0"/>
          </a:p>
          <a:p>
            <a:r>
              <a:rPr lang="en-US" sz="2100" dirty="0">
                <a:solidFill>
                  <a:srgbClr val="17364A"/>
                </a:solidFill>
                <a:latin typeface="Aptos" pitchFamily="34" charset="0"/>
                <a:ea typeface="Aptos" pitchFamily="34" charset="-122"/>
                <a:cs typeface="Aptos" pitchFamily="34" charset="-120"/>
              </a:rPr>
              <a:t>This module helps learners understand the integration patterns that allow AI to support public health.</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Public health AI rarely succeeds as a stand-alone application.</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The value of an AI-supported workflow depends on how well it is integrated with systems of.</a:t>
            </a:r>
            <a:endParaRPr lang="en-US" sz="1380" dirty="0"/>
          </a:p>
          <a:p>
            <a:r>
              <a:rPr lang="en-US" sz="1380" dirty="0">
                <a:solidFill>
                  <a:srgbClr val="17364A"/>
                </a:solidFill>
                <a:latin typeface="Aptos" pitchFamily="34" charset="0"/>
                <a:ea typeface="Aptos" pitchFamily="34" charset="-122"/>
                <a:cs typeface="Aptos" pitchFamily="34" charset="-120"/>
              </a:rPr>
              <a:t>This module helps learners understand the integration patterns that allow AI to support.</a:t>
            </a:r>
            <a:endParaRPr lang="en-US" sz="1380" dirty="0"/>
          </a:p>
          <a:p>
            <a:r>
              <a:rPr lang="en-US" sz="1380" dirty="0">
                <a:solidFill>
                  <a:srgbClr val="17364A"/>
                </a:solidFill>
                <a:latin typeface="Aptos" pitchFamily="34" charset="0"/>
                <a:ea typeface="Aptos" pitchFamily="34" charset="-122"/>
                <a:cs typeface="Aptos" pitchFamily="34" charset="-120"/>
              </a:rPr>
              <a:t>The module focuses on practical integration choices rather than software engineering theory.</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System Integration Patterns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Definitions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Integration pattern: A reusable approach for connecting systems, services, data flows, and workflows.</a:t>
            </a:r>
            <a:endParaRPr lang="en-US" sz="2100" dirty="0"/>
          </a:p>
          <a:p>
            <a:r>
              <a:rPr lang="en-US" sz="2100" dirty="0">
                <a:solidFill>
                  <a:srgbClr val="17364A"/>
                </a:solidFill>
                <a:latin typeface="Aptos" pitchFamily="34" charset="0"/>
                <a:ea typeface="Aptos" pitchFamily="34" charset="-122"/>
                <a:cs typeface="Aptos" pitchFamily="34" charset="-120"/>
              </a:rPr>
              <a:t>Interface engine: Software that routes, transforms, validates, and monitors messages between systems.</a:t>
            </a:r>
            <a:endParaRPr lang="en-US" sz="2100" dirty="0"/>
          </a:p>
          <a:p>
            <a:r>
              <a:rPr lang="en-US" sz="2100" dirty="0">
                <a:solidFill>
                  <a:srgbClr val="17364A"/>
                </a:solidFill>
                <a:latin typeface="Aptos" pitchFamily="34" charset="0"/>
                <a:ea typeface="Aptos" pitchFamily="34" charset="-122"/>
                <a:cs typeface="Aptos" pitchFamily="34" charset="-120"/>
              </a:rPr>
              <a:t>Message broker: A service that allows systems to send and receive messages through a managed queue or.</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Integration pattern: A reusable approach for connecting systems, services, data flows, and workflows.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Message broker: A service that allows systems to send and receive messages through a.</a:t>
            </a:r>
            <a:endParaRPr lang="en-US" sz="1380" dirty="0"/>
          </a:p>
          <a:p>
            <a:r>
              <a:rPr lang="en-US" sz="1380" dirty="0">
                <a:solidFill>
                  <a:srgbClr val="17364A"/>
                </a:solidFill>
                <a:latin typeface="Aptos" pitchFamily="34" charset="0"/>
                <a:ea typeface="Aptos" pitchFamily="34" charset="-122"/>
                <a:cs typeface="Aptos" pitchFamily="34" charset="-120"/>
              </a:rPr>
              <a:t>Bulk data exchange: The transfer of large datasets at scheduled intervals or on demand.</a:t>
            </a:r>
            <a:endParaRPr lang="en-US" sz="1380" dirty="0"/>
          </a:p>
          <a:p>
            <a:r>
              <a:rPr lang="en-US" sz="1380" dirty="0">
                <a:solidFill>
                  <a:srgbClr val="17364A"/>
                </a:solidFill>
                <a:latin typeface="Aptos" pitchFamily="34" charset="0"/>
                <a:ea typeface="Aptos" pitchFamily="34" charset="-122"/>
                <a:cs typeface="Aptos" pitchFamily="34" charset="-120"/>
              </a:rPr>
              <a:t>Write-back: A system action that updates, creates, or changes information in another system.</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System Integration Patterns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2100" dirty="0"/>
          </a:p>
          <a:p>
            <a:r>
              <a:rPr lang="en-US" sz="2100" dirty="0">
                <a:solidFill>
                  <a:srgbClr val="17364A"/>
                </a:solidFill>
                <a:latin typeface="Aptos" pitchFamily="34" charset="0"/>
                <a:ea typeface="Aptos" pitchFamily="34" charset="-122"/>
                <a:cs typeface="Aptos" pitchFamily="34" charset="-120"/>
              </a:rPr>
              <a:t>It does not replace legal, privacy, procurement, civil rights, records, or agency policy review.</a:t>
            </a:r>
            <a:endParaRPr lang="en-US" sz="2100" dirty="0"/>
          </a:p>
          <a:p>
            <a:r>
              <a:rPr lang="en-US" sz="2100" dirty="0">
                <a:solidFill>
                  <a:srgbClr val="17364A"/>
                </a:solidFill>
                <a:latin typeface="Aptos" pitchFamily="34" charset="0"/>
                <a:ea typeface="Aptos" pitchFamily="34" charset="-122"/>
                <a:cs typeface="Aptos" pitchFamily="34" charset="-120"/>
              </a:rPr>
              <a:t>Learners should confirm applicable requirements in their own jurisdiction and organization before.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1380" dirty="0"/>
          </a:p>
          <a:p>
            <a:r>
              <a:rPr lang="en-US" sz="1380" dirty="0">
                <a:solidFill>
                  <a:srgbClr val="17364A"/>
                </a:solidFill>
                <a:latin typeface="Aptos" pitchFamily="34" charset="0"/>
                <a:ea typeface="Aptos" pitchFamily="34" charset="-122"/>
                <a:cs typeface="Aptos" pitchFamily="34" charset="-120"/>
              </a:rPr>
              <a:t>It does not replace legal, privacy, procurement, civil rights, records, or agency policy.</a:t>
            </a:r>
            <a:endParaRPr lang="en-US" sz="1380" dirty="0"/>
          </a:p>
          <a:p>
            <a:r>
              <a:rPr lang="en-US" sz="1380" dirty="0">
                <a:solidFill>
                  <a:srgbClr val="17364A"/>
                </a:solidFill>
                <a:latin typeface="Aptos" pitchFamily="34" charset="0"/>
                <a:ea typeface="Aptos" pitchFamily="34" charset="-122"/>
                <a:cs typeface="Aptos" pitchFamily="34" charset="-120"/>
              </a:rPr>
              <a:t>Learners should confirm applicable requirements in their own jurisdiction and organization.</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System Integration Patterns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Integration decisions determine whether AI becomes part of a reliable public health workflow or an.</a:t>
            </a:r>
            <a:endParaRPr lang="en-US" sz="2100" dirty="0"/>
          </a:p>
          <a:p>
            <a:r>
              <a:rPr lang="en-US" sz="2100" dirty="0">
                <a:solidFill>
                  <a:srgbClr val="17364A"/>
                </a:solidFill>
                <a:latin typeface="Aptos" pitchFamily="34" charset="0"/>
                <a:ea typeface="Aptos" pitchFamily="34" charset="-122"/>
                <a:cs typeface="Aptos" pitchFamily="34" charset="-120"/>
              </a:rPr>
              <a:t>If staff must copy and paste sensitive information between systems, the AI tool may appear helpful.</a:t>
            </a:r>
            <a:endParaRPr lang="en-US" sz="2100" dirty="0"/>
          </a:p>
          <a:p>
            <a:r>
              <a:rPr lang="en-US" sz="2100" dirty="0">
                <a:solidFill>
                  <a:srgbClr val="17364A"/>
                </a:solidFill>
                <a:latin typeface="Aptos" pitchFamily="34" charset="0"/>
                <a:ea typeface="Aptos" pitchFamily="34" charset="-122"/>
                <a:cs typeface="Aptos" pitchFamily="34" charset="-120"/>
              </a:rPr>
              <a:t>If an AI service writes back to a system of record without appropriate controls, a technical.</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Integration decisions determine whether AI becomes part of a reliable public health workflow or an.</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Integration decisions determine whether AI becomes part of a reliable public health.</a:t>
            </a:r>
            <a:endParaRPr lang="en-US" sz="1380" dirty="0"/>
          </a:p>
          <a:p>
            <a:r>
              <a:rPr lang="en-US" sz="1380" dirty="0">
                <a:solidFill>
                  <a:srgbClr val="17364A"/>
                </a:solidFill>
                <a:latin typeface="Aptos" pitchFamily="34" charset="0"/>
                <a:ea typeface="Aptos" pitchFamily="34" charset="-122"/>
                <a:cs typeface="Aptos" pitchFamily="34" charset="-120"/>
              </a:rPr>
              <a:t>If staff must copy and paste sensitive information between systems, the AI tool may appear.</a:t>
            </a:r>
            <a:endParaRPr lang="en-US" sz="1380" dirty="0"/>
          </a:p>
          <a:p>
            <a:r>
              <a:rPr lang="en-US" sz="1380" dirty="0">
                <a:solidFill>
                  <a:srgbClr val="17364A"/>
                </a:solidFill>
                <a:latin typeface="Aptos" pitchFamily="34" charset="0"/>
                <a:ea typeface="Aptos" pitchFamily="34" charset="-122"/>
                <a:cs typeface="Aptos" pitchFamily="34" charset="-120"/>
              </a:rPr>
              <a:t>If an AI service writes back to a system of record without appropriate controls, a.</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System Integration Patterns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health department may want an AI assistant to summarize incoming case reports and create follow-up.</a:t>
            </a:r>
            <a:endParaRPr lang="en-US" sz="2100" dirty="0"/>
          </a:p>
          <a:p>
            <a:r>
              <a:rPr lang="en-US" sz="2100" dirty="0">
                <a:solidFill>
                  <a:srgbClr val="17364A"/>
                </a:solidFill>
                <a:latin typeface="Aptos" pitchFamily="34" charset="0"/>
                <a:ea typeface="Aptos" pitchFamily="34" charset="-122"/>
                <a:cs typeface="Aptos" pitchFamily="34" charset="-120"/>
              </a:rPr>
              <a:t>A weak integration pattern would require staff to export case data, paste it into an external tool,.</a:t>
            </a:r>
            <a:endParaRPr lang="en-US" sz="2100" dirty="0"/>
          </a:p>
          <a:p>
            <a:r>
              <a:rPr lang="en-US" sz="2100" dirty="0">
                <a:solidFill>
                  <a:srgbClr val="17364A"/>
                </a:solidFill>
                <a:latin typeface="Aptos" pitchFamily="34" charset="0"/>
                <a:ea typeface="Aptos" pitchFamily="34" charset="-122"/>
                <a:cs typeface="Aptos" pitchFamily="34" charset="-120"/>
              </a:rPr>
              <a:t>A stronger pattern would retrieve approved fields from the surveillance system, generate a draft.</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health department may want an AI assistant to summarize incoming case reports and create follow-up.</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A health department may want an AI assistant to summarize incoming case reports and create.</a:t>
            </a:r>
            <a:endParaRPr lang="en-US" sz="1380" dirty="0"/>
          </a:p>
          <a:p>
            <a:r>
              <a:rPr lang="en-US" sz="1380" dirty="0">
                <a:solidFill>
                  <a:srgbClr val="17364A"/>
                </a:solidFill>
                <a:latin typeface="Aptos" pitchFamily="34" charset="0"/>
                <a:ea typeface="Aptos" pitchFamily="34" charset="-122"/>
                <a:cs typeface="Aptos" pitchFamily="34" charset="-120"/>
              </a:rPr>
              <a:t>A weak integration pattern would require staff to export case data, paste it into an.</a:t>
            </a:r>
            <a:endParaRPr lang="en-US" sz="1380" dirty="0"/>
          </a:p>
          <a:p>
            <a:r>
              <a:rPr lang="en-US" sz="1380" dirty="0">
                <a:solidFill>
                  <a:srgbClr val="17364A"/>
                </a:solidFill>
                <a:latin typeface="Aptos" pitchFamily="34" charset="0"/>
                <a:ea typeface="Aptos" pitchFamily="34" charset="-122"/>
                <a:cs typeface="Aptos" pitchFamily="34" charset="-120"/>
              </a:rPr>
              <a:t>A stronger pattern would retrieve approved fields from the surveillance system, generate a.</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System Integration Patterns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and Operational Deep Dive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Point-to-point interfaces connect two systems directly.</a:t>
            </a:r>
            <a:endParaRPr lang="en-US" sz="2100" dirty="0"/>
          </a:p>
          <a:p>
            <a:r>
              <a:rPr lang="en-US" sz="2100" dirty="0">
                <a:solidFill>
                  <a:srgbClr val="17364A"/>
                </a:solidFill>
                <a:latin typeface="Aptos" pitchFamily="34" charset="0"/>
                <a:ea typeface="Aptos" pitchFamily="34" charset="-122"/>
                <a:cs typeface="Aptos" pitchFamily="34" charset="-120"/>
              </a:rPr>
              <a:t>They can be useful when the exchange is stable and narrow, but they become difficult to maintain as the.</a:t>
            </a:r>
            <a:endParaRPr lang="en-US" sz="2100" dirty="0"/>
          </a:p>
          <a:p>
            <a:r>
              <a:rPr lang="en-US" sz="2100" dirty="0">
                <a:solidFill>
                  <a:srgbClr val="17364A"/>
                </a:solidFill>
                <a:latin typeface="Aptos" pitchFamily="34" charset="0"/>
                <a:ea typeface="Aptos" pitchFamily="34" charset="-122"/>
                <a:cs typeface="Aptos" pitchFamily="34" charset="-120"/>
              </a:rPr>
              <a:t>In public health, too many point-to-point connections can create brittle architecture, inconsistent.</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Point-to-point interfaces connect two systems directly.</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They can be useful when the exchange is stable and narrow, but they become difficult to.</a:t>
            </a:r>
            <a:endParaRPr lang="en-US" sz="1380" dirty="0"/>
          </a:p>
          <a:p>
            <a:r>
              <a:rPr lang="en-US" sz="1380" dirty="0">
                <a:solidFill>
                  <a:srgbClr val="17364A"/>
                </a:solidFill>
                <a:latin typeface="Aptos" pitchFamily="34" charset="0"/>
                <a:ea typeface="Aptos" pitchFamily="34" charset="-122"/>
                <a:cs typeface="Aptos" pitchFamily="34" charset="-120"/>
              </a:rPr>
              <a:t>In public health, too many point-to-point connections can create brittle architecture,.</a:t>
            </a:r>
            <a:endParaRPr lang="en-US" sz="1380" dirty="0"/>
          </a:p>
          <a:p>
            <a:r>
              <a:rPr lang="en-US" sz="1380" dirty="0">
                <a:solidFill>
                  <a:srgbClr val="17364A"/>
                </a:solidFill>
                <a:latin typeface="Aptos" pitchFamily="34" charset="0"/>
                <a:ea typeface="Aptos" pitchFamily="34" charset="-122"/>
                <a:cs typeface="Aptos" pitchFamily="34" charset="-120"/>
              </a:rPr>
              <a:t>Interface engines and message brokers support more scalable exchange.</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System Integration Patterns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common failure mode is integration by workaround.</a:t>
            </a:r>
            <a:endParaRPr lang="en-US" sz="2100" dirty="0"/>
          </a:p>
          <a:p>
            <a:r>
              <a:rPr lang="en-US" sz="2100" dirty="0">
                <a:solidFill>
                  <a:srgbClr val="17364A"/>
                </a:solidFill>
                <a:latin typeface="Aptos" pitchFamily="34" charset="0"/>
                <a:ea typeface="Aptos" pitchFamily="34" charset="-122"/>
                <a:cs typeface="Aptos" pitchFamily="34" charset="-120"/>
              </a:rPr>
              <a:t>Staff may use manual exports, screenshots, shared drives, or copy-and-paste workflows when a tool is.</a:t>
            </a:r>
            <a:endParaRPr lang="en-US" sz="2100" dirty="0"/>
          </a:p>
          <a:p>
            <a:r>
              <a:rPr lang="en-US" sz="2100" dirty="0">
                <a:solidFill>
                  <a:srgbClr val="17364A"/>
                </a:solidFill>
                <a:latin typeface="Aptos" pitchFamily="34" charset="0"/>
                <a:ea typeface="Aptos" pitchFamily="34" charset="-122"/>
                <a:cs typeface="Aptos" pitchFamily="34" charset="-120"/>
              </a:rPr>
              <a:t>These practices can create privacy risk, version confusion, and gaps in the official record.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common failure mode is integration by workaround.</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Staff may use manual exports, screenshots, shared drives, or copy-and-paste workflows when.</a:t>
            </a:r>
            <a:endParaRPr lang="en-US" sz="1380" dirty="0"/>
          </a:p>
          <a:p>
            <a:r>
              <a:rPr lang="en-US" sz="1380" dirty="0">
                <a:solidFill>
                  <a:srgbClr val="17364A"/>
                </a:solidFill>
                <a:latin typeface="Aptos" pitchFamily="34" charset="0"/>
                <a:ea typeface="Aptos" pitchFamily="34" charset="-122"/>
                <a:cs typeface="Aptos" pitchFamily="34" charset="-120"/>
              </a:rPr>
              <a:t>A guardrail is to require integration review before operational use and to document.</a:t>
            </a:r>
            <a:endParaRPr lang="en-US" sz="1380" dirty="0"/>
          </a:p>
          <a:p>
            <a:r>
              <a:rPr lang="en-US" sz="1380" dirty="0">
                <a:solidFill>
                  <a:srgbClr val="17364A"/>
                </a:solidFill>
                <a:latin typeface="Aptos" pitchFamily="34" charset="0"/>
                <a:ea typeface="Aptos" pitchFamily="34" charset="-122"/>
                <a:cs typeface="Aptos" pitchFamily="34" charset="-120"/>
              </a:rPr>
              <a:t>Another failure mode is uncontrolled write-back.</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System Integration Patterns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Generative AI may require integration with document repositories or systems of record so outputs can be.</a:t>
            </a:r>
            <a:endParaRPr lang="en-US" sz="2100" dirty="0"/>
          </a:p>
          <a:p>
            <a:r>
              <a:rPr lang="en-US" sz="2100" dirty="0">
                <a:solidFill>
                  <a:srgbClr val="17364A"/>
                </a:solidFill>
                <a:latin typeface="Aptos" pitchFamily="34" charset="0"/>
                <a:ea typeface="Aptos" pitchFamily="34" charset="-122"/>
                <a:cs typeface="Aptos" pitchFamily="34" charset="-120"/>
              </a:rPr>
              <a:t>Predictive models may require scheduled data feeds and monitoring dashboards.</a:t>
            </a:r>
            <a:endParaRPr lang="en-US" sz="2100" dirty="0"/>
          </a:p>
          <a:p>
            <a:r>
              <a:rPr lang="en-US" sz="2100" dirty="0">
                <a:solidFill>
                  <a:srgbClr val="17364A"/>
                </a:solidFill>
                <a:latin typeface="Aptos" pitchFamily="34" charset="0"/>
                <a:ea typeface="Aptos" pitchFamily="34" charset="-122"/>
                <a:cs typeface="Aptos" pitchFamily="34" charset="-120"/>
              </a:rPr>
              <a:t>Agentic workflows require the strongest integration controls because they may call tools, access data,.</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Generative AI may require integration with document repositories or systems of record so outputs can be.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Generative AI may require integration with document repositories or systems of record so.</a:t>
            </a:r>
            <a:endParaRPr lang="en-US" sz="1380" dirty="0"/>
          </a:p>
          <a:p>
            <a:r>
              <a:rPr lang="en-US" sz="1380" dirty="0">
                <a:solidFill>
                  <a:srgbClr val="17364A"/>
                </a:solidFill>
                <a:latin typeface="Aptos" pitchFamily="34" charset="0"/>
                <a:ea typeface="Aptos" pitchFamily="34" charset="-122"/>
                <a:cs typeface="Aptos" pitchFamily="34" charset="-120"/>
              </a:rPr>
              <a:t>Agentic workflows require the strongest integration controls because they may call tools,.</a:t>
            </a:r>
            <a:endParaRPr lang="en-US" sz="1380" dirty="0"/>
          </a:p>
          <a:p>
            <a:r>
              <a:rPr lang="en-US" sz="1380" dirty="0">
                <a:solidFill>
                  <a:srgbClr val="17364A"/>
                </a:solidFill>
                <a:latin typeface="Aptos" pitchFamily="34" charset="0"/>
                <a:ea typeface="Aptos" pitchFamily="34" charset="-122"/>
                <a:cs typeface="Aptos" pitchFamily="34" charset="-120"/>
              </a:rPr>
              <a:t>For each AI use case, the integration pattern should match the sensitivity and operational.</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System Integration Patterns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Which workflows currently depend on manual transfer between systems?</a:t>
            </a:r>
            <a:endParaRPr lang="en-US" sz="2100" dirty="0"/>
          </a:p>
          <a:p>
            <a:r>
              <a:rPr lang="en-US" sz="2100" dirty="0">
                <a:solidFill>
                  <a:srgbClr val="17364A"/>
                </a:solidFill>
                <a:latin typeface="Aptos" pitchFamily="34" charset="0"/>
                <a:ea typeface="Aptos" pitchFamily="34" charset="-122"/>
                <a:cs typeface="Aptos" pitchFamily="34" charset="-120"/>
              </a:rPr>
              <a:t>Which systems are the official systems of record?</a:t>
            </a:r>
            <a:endParaRPr lang="en-US" sz="2100" dirty="0"/>
          </a:p>
          <a:p>
            <a:r>
              <a:rPr lang="en-US" sz="2100" dirty="0">
                <a:solidFill>
                  <a:srgbClr val="17364A"/>
                </a:solidFill>
                <a:latin typeface="Aptos" pitchFamily="34" charset="0"/>
                <a:ea typeface="Aptos" pitchFamily="34" charset="-122"/>
                <a:cs typeface="Aptos" pitchFamily="34" charset="-120"/>
              </a:rPr>
              <a:t>Where would API access reduce burden without increasing risk?</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Which workflows currently depend on manual transfer between systems?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Which workflows currently depend on manual transfer between systems?</a:t>
            </a:r>
            <a:endParaRPr lang="en-US" sz="1380" dirty="0"/>
          </a:p>
          <a:p>
            <a:r>
              <a:rPr lang="en-US" sz="1380" dirty="0">
                <a:solidFill>
                  <a:srgbClr val="17364A"/>
                </a:solidFill>
                <a:latin typeface="Aptos" pitchFamily="34" charset="0"/>
                <a:ea typeface="Aptos" pitchFamily="34" charset="-122"/>
                <a:cs typeface="Aptos" pitchFamily="34" charset="-120"/>
              </a:rPr>
              <a:t>Which systems are the official systems of record?</a:t>
            </a:r>
            <a:endParaRPr lang="en-US" sz="1380" dirty="0"/>
          </a:p>
          <a:p>
            <a:r>
              <a:rPr lang="en-US" sz="1380" dirty="0">
                <a:solidFill>
                  <a:srgbClr val="17364A"/>
                </a:solidFill>
                <a:latin typeface="Aptos" pitchFamily="34" charset="0"/>
                <a:ea typeface="Aptos" pitchFamily="34" charset="-122"/>
                <a:cs typeface="Aptos" pitchFamily="34" charset="-120"/>
              </a:rPr>
              <a:t>Where would API access reduce burden without increasing risk?</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System Integration Patterns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Which actions should remain read-only?</a:t>
            </a:r>
            <a:endParaRPr lang="en-US" sz="2100" dirty="0"/>
          </a:p>
          <a:p>
            <a:r>
              <a:rPr lang="en-US" sz="2100" dirty="0">
                <a:solidFill>
                  <a:srgbClr val="17364A"/>
                </a:solidFill>
                <a:latin typeface="Aptos" pitchFamily="34" charset="0"/>
                <a:ea typeface="Aptos" pitchFamily="34" charset="-122"/>
                <a:cs typeface="Aptos" pitchFamily="34" charset="-120"/>
              </a:rPr>
              <a:t>What logs would be needed to reconstruct an AI-supported action?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Which actions should remain read-only?</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Which actions should remain read-only?</a:t>
            </a:r>
            <a:endParaRPr lang="en-US" sz="1380" dirty="0"/>
          </a:p>
          <a:p>
            <a:r>
              <a:rPr lang="en-US" sz="1380" dirty="0">
                <a:solidFill>
                  <a:srgbClr val="17364A"/>
                </a:solidFill>
                <a:latin typeface="Aptos" pitchFamily="34" charset="0"/>
                <a:ea typeface="Aptos" pitchFamily="34" charset="-122"/>
                <a:cs typeface="Aptos" pitchFamily="34" charset="-120"/>
              </a:rPr>
              <a:t>What logs would be needed to reconstruct an AI-supported action?</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System Integration Patterns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Create an integration pattern worksheet for one AI-supported workflow.</a:t>
            </a:r>
            <a:endParaRPr lang="en-US" sz="2100" dirty="0"/>
          </a:p>
          <a:p>
            <a:r>
              <a:rPr lang="en-US" sz="2100" dirty="0">
                <a:solidFill>
                  <a:srgbClr val="17364A"/>
                </a:solidFill>
                <a:latin typeface="Aptos" pitchFamily="34" charset="0"/>
                <a:ea typeface="Aptos" pitchFamily="34" charset="-122"/>
                <a:cs typeface="Aptos" pitchFamily="34" charset="-120"/>
              </a:rPr>
              <a:t>Identify the systems involved, the data exchanged, the integration method, whether the AI tool is.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Create an integration pattern worksheet for one AI-supported workflow.</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Create an integration pattern worksheet for one AI-supported workflow.</a:t>
            </a:r>
            <a:endParaRPr lang="en-US" sz="1380" dirty="0"/>
          </a:p>
          <a:p>
            <a:r>
              <a:rPr lang="en-US" sz="1380" dirty="0">
                <a:solidFill>
                  <a:srgbClr val="17364A"/>
                </a:solidFill>
                <a:latin typeface="Aptos" pitchFamily="34" charset="0"/>
                <a:ea typeface="Aptos" pitchFamily="34" charset="-122"/>
                <a:cs typeface="Aptos" pitchFamily="34" charset="-120"/>
              </a:rPr>
              <a:t>Identify the systems involved, the data exchanged, the integration method, whether the AI.</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System Integration Patterns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Integration pattern worksheet</a:t>
            </a:r>
            <a:endParaRPr lang="en-US" sz="2100" dirty="0"/>
          </a:p>
          <a:p>
            <a:r>
              <a:rPr lang="en-US" sz="2100" dirty="0">
                <a:solidFill>
                  <a:srgbClr val="17364A"/>
                </a:solidFill>
                <a:latin typeface="Aptos" pitchFamily="34" charset="0"/>
                <a:ea typeface="Aptos" pitchFamily="34" charset="-122"/>
                <a:cs typeface="Aptos" pitchFamily="34" charset="-120"/>
              </a:rPr>
              <a:t>System-of-record and source-system list</a:t>
            </a:r>
            <a:endParaRPr lang="en-US" sz="2100" dirty="0"/>
          </a:p>
          <a:p>
            <a:r>
              <a:rPr lang="en-US" sz="2100" dirty="0">
                <a:solidFill>
                  <a:srgbClr val="17364A"/>
                </a:solidFill>
                <a:latin typeface="Aptos" pitchFamily="34" charset="0"/>
                <a:ea typeface="Aptos" pitchFamily="34" charset="-122"/>
                <a:cs typeface="Aptos" pitchFamily="34" charset="-120"/>
              </a:rPr>
              <a:t>Read/write permission recommendation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Integration pattern worksheet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Integration pattern worksheet</a:t>
            </a:r>
            <a:endParaRPr lang="en-US" sz="1380" dirty="0"/>
          </a:p>
          <a:p>
            <a:r>
              <a:rPr lang="en-US" sz="1380" dirty="0">
                <a:solidFill>
                  <a:srgbClr val="17364A"/>
                </a:solidFill>
                <a:latin typeface="Aptos" pitchFamily="34" charset="0"/>
                <a:ea typeface="Aptos" pitchFamily="34" charset="-122"/>
                <a:cs typeface="Aptos" pitchFamily="34" charset="-120"/>
              </a:rPr>
              <a:t>System-of-record and source-system list</a:t>
            </a:r>
            <a:endParaRPr lang="en-US" sz="1380" dirty="0"/>
          </a:p>
          <a:p>
            <a:r>
              <a:rPr lang="en-US" sz="1380" dirty="0">
                <a:solidFill>
                  <a:srgbClr val="17364A"/>
                </a:solidFill>
                <a:latin typeface="Aptos" pitchFamily="34" charset="0"/>
                <a:ea typeface="Aptos" pitchFamily="34" charset="-122"/>
                <a:cs typeface="Aptos" pitchFamily="34" charset="-120"/>
              </a:rPr>
              <a:t>Read/write permission recommendation</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System Integration Patterns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Error handling and audit log requirements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Error handling and audit log requirements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Error handling and audit log requirements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System Integration Patterns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Integration pattern worksheet</a:t>
            </a:r>
            <a:endParaRPr lang="en-US" sz="2100" dirty="0"/>
          </a:p>
          <a:p>
            <a:r>
              <a:rPr lang="en-US" sz="2100" dirty="0">
                <a:solidFill>
                  <a:srgbClr val="17364A"/>
                </a:solidFill>
                <a:latin typeface="Aptos" pitchFamily="34" charset="0"/>
                <a:ea typeface="Aptos" pitchFamily="34" charset="-122"/>
                <a:cs typeface="Aptos" pitchFamily="34" charset="-120"/>
              </a:rPr>
              <a:t>System-of-record and source-system list</a:t>
            </a:r>
            <a:endParaRPr lang="en-US" sz="2100" dirty="0"/>
          </a:p>
          <a:p>
            <a:r>
              <a:rPr lang="en-US" sz="2100" dirty="0">
                <a:solidFill>
                  <a:srgbClr val="17364A"/>
                </a:solidFill>
                <a:latin typeface="Aptos" pitchFamily="34" charset="0"/>
                <a:ea typeface="Aptos" pitchFamily="34" charset="-122"/>
                <a:cs typeface="Aptos" pitchFamily="34" charset="-120"/>
              </a:rPr>
              <a:t>Read/write permission recommendation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Integration pattern worksheet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Integration pattern worksheet</a:t>
            </a:r>
            <a:endParaRPr lang="en-US" sz="1380" dirty="0"/>
          </a:p>
          <a:p>
            <a:r>
              <a:rPr lang="en-US" sz="1380" dirty="0">
                <a:solidFill>
                  <a:srgbClr val="17364A"/>
                </a:solidFill>
                <a:latin typeface="Aptos" pitchFamily="34" charset="0"/>
                <a:ea typeface="Aptos" pitchFamily="34" charset="-122"/>
                <a:cs typeface="Aptos" pitchFamily="34" charset="-120"/>
              </a:rPr>
              <a:t>System-of-record and source-system list</a:t>
            </a:r>
            <a:endParaRPr lang="en-US" sz="1380" dirty="0"/>
          </a:p>
          <a:p>
            <a:r>
              <a:rPr lang="en-US" sz="1380" dirty="0">
                <a:solidFill>
                  <a:srgbClr val="17364A"/>
                </a:solidFill>
                <a:latin typeface="Aptos" pitchFamily="34" charset="0"/>
                <a:ea typeface="Aptos" pitchFamily="34" charset="-122"/>
                <a:cs typeface="Aptos" pitchFamily="34" charset="-120"/>
              </a:rPr>
              <a:t>Read/write permission recommendation</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System Integration Patterns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Which integration risk is most concerning for an AI tool that can update a case record?</a:t>
            </a:r>
            <a:endParaRPr lang="en-US" sz="2100" dirty="0"/>
          </a:p>
          <a:p>
            <a:r>
              <a:rPr lang="en-US" sz="2100" dirty="0">
                <a:solidFill>
                  <a:srgbClr val="17364A"/>
                </a:solidFill>
                <a:latin typeface="Aptos" pitchFamily="34" charset="0"/>
                <a:ea typeface="Aptos" pitchFamily="34" charset="-122"/>
                <a:cs typeface="Aptos" pitchFamily="34" charset="-120"/>
              </a:rPr>
              <a:t>2. What is the best reason to assign an accountability owner?</a:t>
            </a:r>
            <a:endParaRPr lang="en-US" sz="2100" dirty="0"/>
          </a:p>
          <a:p>
            <a:r>
              <a:rPr lang="en-US" sz="2100" dirty="0">
                <a:solidFill>
                  <a:srgbClr val="17364A"/>
                </a:solidFill>
                <a:latin typeface="Aptos" pitchFamily="34" charset="0"/>
                <a:ea typeface="Aptos" pitchFamily="34" charset="-122"/>
                <a:cs typeface="Aptos" pitchFamily="34" charset="-120"/>
              </a:rPr>
              <a:t>3. When should an AI-supported workflow be escalated for review?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Which integration risk is most concerning for an AI tool that can update a case record?</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1.</a:t>
            </a:r>
            <a:endParaRPr lang="en-US" sz="1380" dirty="0"/>
          </a:p>
          <a:p>
            <a:r>
              <a:rPr lang="en-US" sz="1380" dirty="0">
                <a:solidFill>
                  <a:srgbClr val="17364A"/>
                </a:solidFill>
                <a:latin typeface="Aptos" pitchFamily="34" charset="0"/>
                <a:ea typeface="Aptos" pitchFamily="34" charset="-122"/>
                <a:cs typeface="Aptos" pitchFamily="34" charset="-120"/>
              </a:rPr>
              <a:t>Which integration risk is most concerning for an AI tool that can update a case record?</a:t>
            </a:r>
            <a:endParaRPr lang="en-US" sz="1380" dirty="0"/>
          </a:p>
          <a:p>
            <a:r>
              <a:rPr lang="en-US" sz="1380" dirty="0">
                <a:solidFill>
                  <a:srgbClr val="17364A"/>
                </a:solidFill>
                <a:latin typeface="Aptos" pitchFamily="34" charset="0"/>
                <a:ea typeface="Aptos" pitchFamily="34" charset="-122"/>
                <a:cs typeface="Aptos" pitchFamily="34" charset="-120"/>
              </a:rPr>
              <a:t>2.</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System Integration Patterns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2100" dirty="0"/>
          </a:p>
          <a:p>
            <a:r>
              <a:rPr lang="en-US" sz="2100" dirty="0">
                <a:solidFill>
                  <a:srgbClr val="17364A"/>
                </a:solidFill>
                <a:latin typeface="Aptos" pitchFamily="34" charset="0"/>
                <a:ea typeface="Aptos" pitchFamily="34" charset="-122"/>
                <a:cs typeface="Aptos" pitchFamily="34" charset="-120"/>
              </a:rPr>
              <a:t>NIST Artificial Intelligence Risk Management Framework and NIST Generative AI Profile:.</a:t>
            </a:r>
            <a:endParaRPr lang="en-US" sz="2100" dirty="0"/>
          </a:p>
          <a:p>
            <a:r>
              <a:rPr lang="en-US" sz="2100" dirty="0">
                <a:solidFill>
                  <a:srgbClr val="17364A"/>
                </a:solidFill>
                <a:latin typeface="Aptos" pitchFamily="34" charset="0"/>
                <a:ea typeface="Aptos" pitchFamily="34" charset="-122"/>
                <a:cs typeface="Aptos" pitchFamily="34" charset="-120"/>
              </a:rPr>
              <a:t>WHO Ethics and Governance of Artificial Intelligence for Health guidance:.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OWASP Top 10 for Large Language Model Applications:.</a:t>
            </a:r>
            <a:endParaRPr lang="en-US" sz="1380" dirty="0"/>
          </a:p>
          <a:p>
            <a:r>
              <a:rPr lang="en-US" sz="1380" dirty="0">
                <a:solidFill>
                  <a:srgbClr val="17364A"/>
                </a:solidFill>
                <a:latin typeface="Aptos" pitchFamily="34" charset="0"/>
                <a:ea typeface="Aptos" pitchFamily="34" charset="-122"/>
                <a:cs typeface="Aptos" pitchFamily="34" charset="-120"/>
              </a:rPr>
              <a:t>ONC health IT, interoperability, and information blocking resources:.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System Integration Patterns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Agency policies for privacy, public records, cybersecurity, procurement, civil rights, accessibility,.</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Agency policies for privacy, public records, cybersecurity, procurement, civil rights, accessibility,.</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Agency policies for privacy, public records, cybersecurity, procurement, civil rights,.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Public Health System Integration Patterns</dc:title>
  <dc:subject>Public Health System Integration Patterns learning module</dc:subject>
  <dc:creator>Paula Soper</dc:creator>
  <cp:lastModifiedBy>Paula Soper</cp:lastModifiedBy>
  <cp:revision>1</cp:revision>
  <dcterms:created xsi:type="dcterms:W3CDTF">2026-07-13T02:11:42Z</dcterms:created>
  <dcterms:modified xsi:type="dcterms:W3CDTF">2026-07-13T02:11:42Z</dcterms:modified>
</cp:coreProperties>
</file>