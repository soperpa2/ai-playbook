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371b3707934bf7" /><Relationship Type="http://schemas.openxmlformats.org/officeDocument/2006/relationships/extended-properties" Target="/docProps/app.xml" Id="Ra15ffde350474d42" /><Relationship Type="http://schemas.openxmlformats.org/officeDocument/2006/relationships/officeDocument" Target="/ppt/presentation.xml" Id="Rc6f081536fa44024" /></Relationships>
</file>

<file path=ppt/presentation.xml><?xml version="1.0" encoding="utf-8"?>
<p:presentation xmlns:p="http://schemas.openxmlformats.org/presentationml/2006/main">
  <p:sldMasterIdLst>
    <p:sldMasterId xmlns:r="http://schemas.openxmlformats.org/officeDocument/2006/relationships" id="2147483648" r:id="R4aff0bbcac534edf"/>
  </p:sldMasterIdLst>
  <p:notesMasterIdLst>
    <p:notesMasterId xmlns:r="http://schemas.openxmlformats.org/officeDocument/2006/relationships" r:id="R0e6c2721a4ab4263"/>
  </p:notesMasterIdLst>
  <p:sldIdLst>
    <p:sldId xmlns:r="http://schemas.openxmlformats.org/officeDocument/2006/relationships" id="256" r:id="Rd502b40c8c854af6"/>
    <p:sldId xmlns:r="http://schemas.openxmlformats.org/officeDocument/2006/relationships" id="257" r:id="Rcb9ad64ec2e8433a"/>
    <p:sldId xmlns:r="http://schemas.openxmlformats.org/officeDocument/2006/relationships" id="258" r:id="Rd7c5ccafb23740ff"/>
    <p:sldId xmlns:r="http://schemas.openxmlformats.org/officeDocument/2006/relationships" id="259" r:id="R43a8be055f0b4aed"/>
    <p:sldId xmlns:r="http://schemas.openxmlformats.org/officeDocument/2006/relationships" id="260" r:id="Rd74cad355be24dcd"/>
    <p:sldId xmlns:r="http://schemas.openxmlformats.org/officeDocument/2006/relationships" id="261" r:id="R45eef7de5d2d4155"/>
    <p:sldId xmlns:r="http://schemas.openxmlformats.org/officeDocument/2006/relationships" id="262" r:id="Rf60c6f679b3b4765"/>
    <p:sldId xmlns:r="http://schemas.openxmlformats.org/officeDocument/2006/relationships" id="263" r:id="R2f98e2d7154040c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3ed6f381df4486" /><Relationship Type="http://schemas.openxmlformats.org/officeDocument/2006/relationships/slideMaster" Target="/ppt/slideMasters/slideMaster1.xml" Id="R4aff0bbcac534edf" /><Relationship Type="http://schemas.openxmlformats.org/officeDocument/2006/relationships/notesMaster" Target="/ppt/notesMasters/notesMaster1.xml" Id="R0e6c2721a4ab4263" /><Relationship Type="http://schemas.openxmlformats.org/officeDocument/2006/relationships/presProps" Target="/ppt/presProps.xml" Id="R7da4dec919db4314" /><Relationship Type="http://schemas.openxmlformats.org/officeDocument/2006/relationships/tableStyles" Target="/ppt/tableStyles.xml" Id="R5cd7f97aa092494c" /><Relationship Type="http://schemas.openxmlformats.org/officeDocument/2006/relationships/slide" Target="/ppt/slides/slide1.xml" Id="Rd502b40c8c854af6" /><Relationship Type="http://schemas.openxmlformats.org/officeDocument/2006/relationships/slide" Target="/ppt/slides/slide2.xml" Id="Rcb9ad64ec2e8433a" /><Relationship Type="http://schemas.openxmlformats.org/officeDocument/2006/relationships/slide" Target="/ppt/slides/slide3.xml" Id="Rd7c5ccafb23740ff" /><Relationship Type="http://schemas.openxmlformats.org/officeDocument/2006/relationships/slide" Target="/ppt/slides/slide4.xml" Id="R43a8be055f0b4aed" /><Relationship Type="http://schemas.openxmlformats.org/officeDocument/2006/relationships/slide" Target="/ppt/slides/slide5.xml" Id="Rd74cad355be24dcd" /><Relationship Type="http://schemas.openxmlformats.org/officeDocument/2006/relationships/slide" Target="/ppt/slides/slide6.xml" Id="R45eef7de5d2d4155" /><Relationship Type="http://schemas.openxmlformats.org/officeDocument/2006/relationships/slide" Target="/ppt/slides/slide7.xml" Id="Rf60c6f679b3b4765" /><Relationship Type="http://schemas.openxmlformats.org/officeDocument/2006/relationships/slide" Target="/ppt/slides/slide8.xml" Id="R2f98e2d7154040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de4b0b31b648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4501d6934a4810" /><Relationship Type="http://schemas.openxmlformats.org/officeDocument/2006/relationships/notesMaster" Target="/ppt/notesMasters/notesMaster1.xml" Id="R0e3ccf7ec3b744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1052464a3e44e1" /><Relationship Type="http://schemas.openxmlformats.org/officeDocument/2006/relationships/notesMaster" Target="/ppt/notesMasters/notesMaster1.xml" Id="Rd4c248470a774b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fefd444d144970" /><Relationship Type="http://schemas.openxmlformats.org/officeDocument/2006/relationships/notesMaster" Target="/ppt/notesMasters/notesMaster1.xml" Id="R95aee24bc2794b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531893e2dc4bfb" /><Relationship Type="http://schemas.openxmlformats.org/officeDocument/2006/relationships/notesMaster" Target="/ppt/notesMasters/notesMaster1.xml" Id="Ra806aa3e073042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7346adc68b425d" /><Relationship Type="http://schemas.openxmlformats.org/officeDocument/2006/relationships/notesMaster" Target="/ppt/notesMasters/notesMaster1.xml" Id="R63365d9c63f94e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24984a18244f09" /><Relationship Type="http://schemas.openxmlformats.org/officeDocument/2006/relationships/notesMaster" Target="/ppt/notesMasters/notesMaster1.xml" Id="R72964fd9b78e49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4fdbc819d44d1b" /><Relationship Type="http://schemas.openxmlformats.org/officeDocument/2006/relationships/notesMaster" Target="/ppt/notesMasters/notesMaster1.xml" Id="R4e37744a2dbf41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62fd955d0847c5" /><Relationship Type="http://schemas.openxmlformats.org/officeDocument/2006/relationships/notesMaster" Target="/ppt/notesMasters/notesMaster1.xml" Id="R551741c4cf0e41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Model Validation and Evaluation Basics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Validation helps departments decide whether an AI system performs well enough, for the right users and populations, before it is piloted, scaled, or sustained.</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Model Validation and Evaluation Basics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7, 11, 12, 13 and Tools 3, 14, 40, 41, 42, 44, 47.</a:t>
            </a:r>
          </a:p>
          <a:p xmlns:a="http://schemas.openxmlformats.org/drawingml/2006/main">
            <a:r>
              <a:t>Emphasize the core guardrail: A model that performs well in a demo can fail in local workflows, underrepresented groups, or changing conditions.</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Model Validation and Evaluation Basics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7, 11, 12, 13 and Tools 3, 14, 40, 41, 42, 44, 47.</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Model Validation and Evaluation Basics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7, 11, 12, 13 and Tools 3, 14, 40, 41, 42, 44, 47.</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Model Validation and Evaluation Basics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7, 11, 12, 13 and Tools 3, 14, 40, 41, 42, 44, 47.</a:t>
            </a:r>
          </a:p>
          <a:p xmlns:a="http://schemas.openxmlformats.org/drawingml/2006/main">
            <a:r>
              <a:t>Invite participants to identify where these practices would need to be documented in their own department.</a:t>
            </a:r>
          </a:p>
          <a:p xmlns:a="http://schemas.openxmlformats.org/drawingml/2006/main">
            <a:r>
              <a:t>Start with What Validation Should Cover,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Model Validation and Evaluation Basics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7, 11, 12, 13 and Tools 3, 14, 40, 41, 42, 44, 47.</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Model Validation and Evaluation Basics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7, 11, 12, 13 and Tools 3, 14, 40, 41, 42, 44, 47.</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Validation plan outline, Evaluation metric list, Governance decision thresholds.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Model Validation and Evaluation Basics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7, 11, 12, 13 and Tools 3, 14, 40, 41, 42, 44, 47.</a:t>
            </a:r>
          </a:p>
          <a:p xmlns:a="http://schemas.openxmlformats.org/drawingml/2006/main">
            <a:r>
              <a:t>Point participants to the first resource: NIST AI Risk Management Framework.</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31c224587042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d5f430ec2d4496" /><Relationship Type="http://schemas.openxmlformats.org/officeDocument/2006/relationships/slideLayout" Target="/ppt/slideLayouts/slideLayout1.xml" Id="R2d013c19342049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013c19342049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e27ebf3fe54653" /><Relationship Type="http://schemas.openxmlformats.org/officeDocument/2006/relationships/image" Target="/ppt/media/image.png" Id="R909c00760a884826" /><Relationship Type="http://schemas.openxmlformats.org/officeDocument/2006/relationships/notesSlide" Target="/ppt/notesSlides/notesSlide1.xml" Id="Recdfaabcdc4848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a900d4c3ca74e3f" /><Relationship Type="http://schemas.openxmlformats.org/officeDocument/2006/relationships/notesSlide" Target="/ppt/notesSlides/notesSlide2.xml" Id="Re7444730436f45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759989f5def49f7" /><Relationship Type="http://schemas.openxmlformats.org/officeDocument/2006/relationships/notesSlide" Target="/ppt/notesSlides/notesSlide3.xml" Id="Rb5b15e46ed404a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1458fa0d864d80" /><Relationship Type="http://schemas.openxmlformats.org/officeDocument/2006/relationships/notesSlide" Target="/ppt/notesSlides/notesSlide4.xml" Id="R5ec5b87a838e4a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dd8d97ee8f34024" /><Relationship Type="http://schemas.openxmlformats.org/officeDocument/2006/relationships/notesSlide" Target="/ppt/notesSlides/notesSlide5.xml" Id="Rc384966bc11a44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4cb35372bff4095" /><Relationship Type="http://schemas.openxmlformats.org/officeDocument/2006/relationships/notesSlide" Target="/ppt/notesSlides/notesSlide6.xml" Id="R8642ba002fd44e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0b7727254f2467f" /><Relationship Type="http://schemas.openxmlformats.org/officeDocument/2006/relationships/notesSlide" Target="/ppt/notesSlides/notesSlide7.xml" Id="Rf87f879459a047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94a55c919dd4179" /><Relationship Type="http://schemas.openxmlformats.org/officeDocument/2006/relationships/notesSlide" Target="/ppt/notesSlides/notesSlide8.xml" Id="R653a888a28cf4639"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09c00760a884826"/>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E8D8703-F8E4-4E7E-9C28-7A5F246C6DC2}"/>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20</a:t>
            </a:r>
          </a:p>
        </p:txBody>
      </p:sp>
      <p:sp>
        <p:nvSpPr>
          <p:cNvPr id="3" name="">
            <a:extLst xmlns:a="http://schemas.openxmlformats.org/drawingml/2006/main">
              <a:ext uri="{FF2B5EF4-FFF2-40B4-BE49-F238E27FC236}">
                <a16:creationId xmlns:a16="http://schemas.microsoft.com/office/drawing/2014/main" id="{348BBB01-142F-42F0-AFEC-BFCBE9212AE9}"/>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Model Validation and Evaluation Basics</a:t>
            </a:r>
          </a:p>
        </p:txBody>
      </p:sp>
      <p:sp>
        <p:nvSpPr>
          <p:cNvPr id="4" name="">
            <a:extLst xmlns:a="http://schemas.openxmlformats.org/drawingml/2006/main">
              <a:ext uri="{FF2B5EF4-FFF2-40B4-BE49-F238E27FC236}">
                <a16:creationId xmlns:a16="http://schemas.microsoft.com/office/drawing/2014/main" id="{85843DEE-A969-4C76-9AA8-3DAB49667CF9}"/>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6B6683F1-CEA1-4244-BED0-6CFC75ED0B1F}"/>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F25A0E3F-B37A-40C5-8447-A13DCB5E9515}"/>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8373111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34799AC-5494-48FA-87ED-34728E6D205A}"/>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D6CC9BC5-3356-4071-9704-F53800D6405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3AEBAA25-7624-4E6A-A33D-27BF4205978B}"/>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3E49C2CD-D3CD-4C31-8846-EFBA2644240C}"/>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Validation helps departments decide whether an AI system performs well enough, for the right users and populations, before it is piloted, scaled, or sustained.</a:t>
            </a:r>
          </a:p>
        </p:txBody>
      </p:sp>
      <p:sp>
        <p:nvSpPr>
          <p:cNvPr id="5" name="">
            <a:extLst xmlns:a="http://schemas.openxmlformats.org/drawingml/2006/main">
              <a:ext uri="{FF2B5EF4-FFF2-40B4-BE49-F238E27FC236}">
                <a16:creationId xmlns:a16="http://schemas.microsoft.com/office/drawing/2014/main" id="{6F816B1B-6B61-49EA-ADCB-F7F1DDFEACDC}"/>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5D0F0E95-4824-481A-B6C3-B43E7463F3CB}"/>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9867A12E-1DE3-4BDA-81D5-7C684A4A65F1}"/>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8E185302-D834-4A97-83D1-36798D9927AA}"/>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Validation protects agencies from scaling systems that are inaccurate, inequitable, poorly integrated, or untrusted by staff and communities.</a:t>
            </a:r>
          </a:p>
        </p:txBody>
      </p:sp>
      <p:sp>
        <p:nvSpPr>
          <p:cNvPr id="9" name="">
            <a:extLst xmlns:a="http://schemas.openxmlformats.org/drawingml/2006/main">
              <a:ext uri="{FF2B5EF4-FFF2-40B4-BE49-F238E27FC236}">
                <a16:creationId xmlns:a16="http://schemas.microsoft.com/office/drawing/2014/main" id="{0A46608C-EF3B-4437-84D3-81BC93F87B1E}"/>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38723BAD-C0FF-4281-9C15-C1FE111EF990}"/>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F7387BD0-D9FC-4448-B7B4-4D2C65761D90}"/>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B6F653F5-15E0-4E70-B804-F06F9854842F}"/>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 model that performs well in a demo can fail in local workflows, underrepresented groups, or changing conditions.</a:t>
            </a:r>
          </a:p>
        </p:txBody>
      </p:sp>
      <p:sp>
        <p:nvSpPr>
          <p:cNvPr id="13" name="">
            <a:extLst xmlns:a="http://schemas.openxmlformats.org/drawingml/2006/main">
              <a:ext uri="{FF2B5EF4-FFF2-40B4-BE49-F238E27FC236}">
                <a16:creationId xmlns:a16="http://schemas.microsoft.com/office/drawing/2014/main" id="{B627BFE1-A23C-4856-A5DA-2642F59BA0A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Model Validation and Evaluation Basics</a:t>
            </a:r>
          </a:p>
        </p:txBody>
      </p:sp>
      <p:sp>
        <p:nvSpPr>
          <p:cNvPr id="14" name="">
            <a:extLst xmlns:a="http://schemas.openxmlformats.org/drawingml/2006/main">
              <a:ext uri="{FF2B5EF4-FFF2-40B4-BE49-F238E27FC236}">
                <a16:creationId xmlns:a16="http://schemas.microsoft.com/office/drawing/2014/main" id="{D3092311-03BD-4939-BCEB-8FA9C3D64A16}"/>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528518040"/>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C8D0314-D419-489D-A9E3-4178F031FD30}"/>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230E92E3-0EBA-43EB-B065-8ED4C966216A}"/>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076C1D03-8B87-4F1E-978C-596363A1721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F759A38-73C8-4238-AB12-8C276BBF2418}"/>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A5343C02-F6F1-411B-B6A3-125A7B0B9871}"/>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Model Validation and Evaluation Basics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AE7554BD-6346-4A93-86EF-E94889E8FB9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Model Validation and Evaluation Basics</a:t>
            </a:r>
          </a:p>
        </p:txBody>
      </p:sp>
      <p:sp>
        <p:nvSpPr>
          <p:cNvPr id="7" name="">
            <a:extLst xmlns:a="http://schemas.openxmlformats.org/drawingml/2006/main">
              <a:ext uri="{FF2B5EF4-FFF2-40B4-BE49-F238E27FC236}">
                <a16:creationId xmlns:a16="http://schemas.microsoft.com/office/drawing/2014/main" id="{0EE12F57-B56C-423B-B32E-3455BBFD169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6950011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98113B0-D46F-43F0-90FC-111ABE2F153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207F20B-EBA9-42D9-A232-4EF981826EA0}"/>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0DBD295A-9181-42A9-9FF1-CC6A266C1444}"/>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157E082-FA0E-473F-8979-4E74F593666A}"/>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Validation is the disciplined process of checking whether an AI-supported workflow is accurate, reliable, safe, equitable, usable, and appropriate for its intended public health purpose. It should be understandable to nontechnical staff because validation results inform governance decisions.</a:t>
            </a:r>
          </a:p>
        </p:txBody>
      </p:sp>
      <p:sp>
        <p:nvSpPr>
          <p:cNvPr id="5" name="">
            <a:extLst xmlns:a="http://schemas.openxmlformats.org/drawingml/2006/main">
              <a:ext uri="{FF2B5EF4-FFF2-40B4-BE49-F238E27FC236}">
                <a16:creationId xmlns:a16="http://schemas.microsoft.com/office/drawing/2014/main" id="{25E36FAF-7A60-4F05-9172-C2A7D37B65E7}"/>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C8FB861-4974-43A5-9D40-CDAC040597E0}"/>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D9B3F4BB-9630-4EE7-BD07-8684CFD6F8E8}"/>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A209A3E3-0BF2-428C-B4B3-F4C0FFD77945}"/>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Validation helps departments decide whether an AI system performs well enough, for the right users and populations, before it is piloted, scaled, or sustained.</a:t>
            </a:r>
          </a:p>
        </p:txBody>
      </p:sp>
      <p:sp>
        <p:nvSpPr>
          <p:cNvPr id="9" name="">
            <a:extLst xmlns:a="http://schemas.openxmlformats.org/drawingml/2006/main">
              <a:ext uri="{FF2B5EF4-FFF2-40B4-BE49-F238E27FC236}">
                <a16:creationId xmlns:a16="http://schemas.microsoft.com/office/drawing/2014/main" id="{ED8406F0-6338-4351-985A-932947713EC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Model Validation and Evaluation Basics</a:t>
            </a:r>
          </a:p>
        </p:txBody>
      </p:sp>
      <p:sp>
        <p:nvSpPr>
          <p:cNvPr id="10" name="">
            <a:extLst xmlns:a="http://schemas.openxmlformats.org/drawingml/2006/main">
              <a:ext uri="{FF2B5EF4-FFF2-40B4-BE49-F238E27FC236}">
                <a16:creationId xmlns:a16="http://schemas.microsoft.com/office/drawing/2014/main" id="{D5C8AB73-9DD8-481D-89F5-249AEB51C629}"/>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920476808"/>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4338EC3-FFBC-4DD2-84D3-66C17F41F67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12735872-0E71-406D-92F9-1C04E6BAC4F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C2432FB9-3D4B-4270-895D-3994D4B8419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623DB9C-5BD2-4B21-86E5-58D9C795A77F}"/>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57C4AC91-9074-4296-8CA8-9B820775B2C1}"/>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25471014-5F94-4767-B608-EBCBD474CC14}"/>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What Validation Should Cover</a:t>
            </a:r>
          </a:p>
        </p:txBody>
      </p:sp>
      <p:sp>
        <p:nvSpPr>
          <p:cNvPr id="7" name="">
            <a:extLst xmlns:a="http://schemas.openxmlformats.org/drawingml/2006/main">
              <a:ext uri="{FF2B5EF4-FFF2-40B4-BE49-F238E27FC236}">
                <a16:creationId xmlns:a16="http://schemas.microsoft.com/office/drawing/2014/main" id="{35F43420-2097-42B9-9EDB-DCF8F238423C}"/>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Purpose fit: whether the system solves the public health problem it is intended to support. Performance: accuracy, false positives, false negatives, completeness, reliability, and stability. Equity: subgroup performance, missing voices,.</a:t>
            </a:r>
          </a:p>
        </p:txBody>
      </p:sp>
      <p:sp>
        <p:nvSpPr>
          <p:cNvPr id="8" name="">
            <a:extLst xmlns:a="http://schemas.openxmlformats.org/drawingml/2006/main">
              <a:ext uri="{FF2B5EF4-FFF2-40B4-BE49-F238E27FC236}">
                <a16:creationId xmlns:a16="http://schemas.microsoft.com/office/drawing/2014/main" id="{22C92C48-F884-4F9D-A45A-97ADFC298C6E}"/>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A8741190-A6A4-4765-B078-776B9C3F1E5F}"/>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D7D8A789-1B6A-47C5-B7EA-3CB869A21772}"/>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Evaluation Over Time</a:t>
            </a:r>
          </a:p>
        </p:txBody>
      </p:sp>
      <p:sp>
        <p:nvSpPr>
          <p:cNvPr id="11" name="">
            <a:extLst xmlns:a="http://schemas.openxmlformats.org/drawingml/2006/main">
              <a:ext uri="{FF2B5EF4-FFF2-40B4-BE49-F238E27FC236}">
                <a16:creationId xmlns:a16="http://schemas.microsoft.com/office/drawing/2014/main" id="{B80614CE-AA0E-4499-911D-B0174C997664}"/>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Pilot evaluation should compare the AI-supported workflow to the current process. Monitoring should continue after deployment because models, data, staff behavior, guidance, and populations change. Governance should define thresholds for.</a:t>
            </a:r>
          </a:p>
        </p:txBody>
      </p:sp>
      <p:sp>
        <p:nvSpPr>
          <p:cNvPr id="12" name="">
            <a:extLst xmlns:a="http://schemas.openxmlformats.org/drawingml/2006/main">
              <a:ext uri="{FF2B5EF4-FFF2-40B4-BE49-F238E27FC236}">
                <a16:creationId xmlns:a16="http://schemas.microsoft.com/office/drawing/2014/main" id="{13B80FC8-ED95-4D8C-869C-31B67B3E4EC3}"/>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33AFE28D-8738-4300-8FE2-ADDE369C0400}"/>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80952D3D-56BA-4E28-8EA3-442F1115E17C}"/>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Implementation Check</a:t>
            </a:r>
          </a:p>
        </p:txBody>
      </p:sp>
      <p:sp>
        <p:nvSpPr>
          <p:cNvPr id="15" name="">
            <a:extLst xmlns:a="http://schemas.openxmlformats.org/drawingml/2006/main">
              <a:ext uri="{FF2B5EF4-FFF2-40B4-BE49-F238E27FC236}">
                <a16:creationId xmlns:a16="http://schemas.microsoft.com/office/drawing/2014/main" id="{6EAB6FA6-E0CF-4FE2-B7B6-D32E64D21C45}"/>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Define acceptance criteria before testing begins. Use realistic examples and local workflow conditions. Document limitations and do not scale until governance reviews evaluation evidence.</a:t>
            </a:r>
          </a:p>
        </p:txBody>
      </p:sp>
      <p:sp>
        <p:nvSpPr>
          <p:cNvPr id="16" name="">
            <a:extLst xmlns:a="http://schemas.openxmlformats.org/drawingml/2006/main">
              <a:ext uri="{FF2B5EF4-FFF2-40B4-BE49-F238E27FC236}">
                <a16:creationId xmlns:a16="http://schemas.microsoft.com/office/drawing/2014/main" id="{D53E668C-73DC-4216-BF89-DCB888BF08A9}"/>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Model Validation and Evaluation Basics</a:t>
            </a:r>
          </a:p>
        </p:txBody>
      </p:sp>
      <p:sp>
        <p:nvSpPr>
          <p:cNvPr id="17" name="">
            <a:extLst xmlns:a="http://schemas.openxmlformats.org/drawingml/2006/main">
              <a:ext uri="{FF2B5EF4-FFF2-40B4-BE49-F238E27FC236}">
                <a16:creationId xmlns:a16="http://schemas.microsoft.com/office/drawing/2014/main" id="{5C084BE8-FF59-4072-A889-041A585B5786}"/>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285395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F4B1C00-C1D8-4E96-A55B-29A026402ED4}"/>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109B3AB6-F528-419D-9B00-7E78CABEE17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15835AAB-C836-4171-88CC-828C75673B13}"/>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8EBFEC3-59E5-4BAC-B3AA-438A4B1CDD5D}"/>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CE84383A-9667-4C4B-8E2A-0CC01A73C398}"/>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C56D363-010B-4BCC-A491-917EEDD67227}"/>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BA049BB7-13A2-4954-A7DF-D5EA8A173913}"/>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Test outputs against accepted standards</a:t>
            </a:r>
          </a:p>
        </p:txBody>
      </p:sp>
      <p:sp>
        <p:nvSpPr>
          <p:cNvPr id="8" name="">
            <a:extLst xmlns:a="http://schemas.openxmlformats.org/drawingml/2006/main">
              <a:ext uri="{FF2B5EF4-FFF2-40B4-BE49-F238E27FC236}">
                <a16:creationId xmlns:a16="http://schemas.microsoft.com/office/drawing/2014/main" id="{E5A9C125-71A3-4777-9C97-F103FCB0D800}"/>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1AB9E9C5-DF27-4A8C-8D38-C37C3CEF9CEB}"/>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BC073858-9045-434D-A57C-3268015FE2D5}"/>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D8427B6B-E71D-49C5-A6A6-DABD5D059A38}"/>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Compare subgroup performance</a:t>
            </a:r>
          </a:p>
        </p:txBody>
      </p:sp>
      <p:sp>
        <p:nvSpPr>
          <p:cNvPr id="12" name="">
            <a:extLst xmlns:a="http://schemas.openxmlformats.org/drawingml/2006/main">
              <a:ext uri="{FF2B5EF4-FFF2-40B4-BE49-F238E27FC236}">
                <a16:creationId xmlns:a16="http://schemas.microsoft.com/office/drawing/2014/main" id="{84C00DB4-2FB1-4F1A-ADDE-83D0E0442BBC}"/>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A478149A-E439-4EF8-9B05-AB01A6870073}"/>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336D9D8A-F41D-48D0-95EC-4C8A797E2B82}"/>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CD9203D2-D331-44B0-A953-9CC860D72F93}"/>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Set go/no-go thresholds</a:t>
            </a:r>
          </a:p>
        </p:txBody>
      </p:sp>
      <p:sp>
        <p:nvSpPr>
          <p:cNvPr id="16" name="">
            <a:extLst xmlns:a="http://schemas.openxmlformats.org/drawingml/2006/main">
              <a:ext uri="{FF2B5EF4-FFF2-40B4-BE49-F238E27FC236}">
                <a16:creationId xmlns:a16="http://schemas.microsoft.com/office/drawing/2014/main" id="{F9185557-46A9-4C65-A294-8D1B12EC5514}"/>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11E1F31C-2EB7-4B6A-AB67-238DDD12E42E}"/>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Model Validation and Evaluation Basics</a:t>
            </a:r>
          </a:p>
        </p:txBody>
      </p:sp>
      <p:sp>
        <p:nvSpPr>
          <p:cNvPr id="18" name="">
            <a:extLst xmlns:a="http://schemas.openxmlformats.org/drawingml/2006/main">
              <a:ext uri="{FF2B5EF4-FFF2-40B4-BE49-F238E27FC236}">
                <a16:creationId xmlns:a16="http://schemas.microsoft.com/office/drawing/2014/main" id="{271BAF58-9DF0-4322-AE86-E56FAB5CB2A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682045986"/>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05C37D7-8D90-4018-A4C2-0C83A33367B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629AEDF-186A-4D28-8864-FF2C83E99CA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A394C40E-D373-49CB-8DB3-01EE65CA9D4B}"/>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190526D-450D-4C3B-9CC1-E5807ADC7C17}"/>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29B8301A-8E18-4BC3-A42D-1D9B5191ED34}"/>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AF2BADB1-0D4E-45F0-A77B-ABFAE6B88BB0}"/>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5194B9D0-2CC5-4C87-9769-1A32CCC23142}"/>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What would count as acceptable performance for this workflow? Which groups or locations need subgroup review? What evidence should governance require before scale-up?</a:t>
            </a:r>
          </a:p>
        </p:txBody>
      </p:sp>
      <p:sp>
        <p:nvSpPr>
          <p:cNvPr id="8" name="">
            <a:extLst xmlns:a="http://schemas.openxmlformats.org/drawingml/2006/main">
              <a:ext uri="{FF2B5EF4-FFF2-40B4-BE49-F238E27FC236}">
                <a16:creationId xmlns:a16="http://schemas.microsoft.com/office/drawing/2014/main" id="{AEC05422-EF7F-49FC-A013-3FBF8825934C}"/>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BFACB550-03CF-4E9C-A608-41764B646BB7}"/>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6508F12D-390A-48E7-A18F-236B16D0E83D}"/>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5AB04641-989E-4A50-817F-A25C4BD88F5D}"/>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Design a validation plan for one proposed AI use case, including test examples, performance measures, subgroup checks, human review expectations, and go/no-go criteria.</a:t>
            </a:r>
          </a:p>
        </p:txBody>
      </p:sp>
      <p:sp>
        <p:nvSpPr>
          <p:cNvPr id="12" name="">
            <a:extLst xmlns:a="http://schemas.openxmlformats.org/drawingml/2006/main">
              <a:ext uri="{FF2B5EF4-FFF2-40B4-BE49-F238E27FC236}">
                <a16:creationId xmlns:a16="http://schemas.microsoft.com/office/drawing/2014/main" id="{DF69B095-CCF8-4484-84F0-12093F13B98E}"/>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Model Validation and Evaluation Basics</a:t>
            </a:r>
          </a:p>
        </p:txBody>
      </p:sp>
      <p:sp>
        <p:nvSpPr>
          <p:cNvPr id="13" name="">
            <a:extLst xmlns:a="http://schemas.openxmlformats.org/drawingml/2006/main">
              <a:ext uri="{FF2B5EF4-FFF2-40B4-BE49-F238E27FC236}">
                <a16:creationId xmlns:a16="http://schemas.microsoft.com/office/drawing/2014/main" id="{EFA5BE51-61DE-43C6-8DCD-EB19E23FC2F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3960477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AE5DC2F-6CC2-49C1-A257-1B2FBF25DF38}"/>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C8B076B-A46A-4DC2-B099-48F9B347559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2F698539-F3A9-4829-81BE-B7348C5DBD4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8E6AA05-8FF2-4256-BB40-E97706C93456}"/>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32EA5591-BA7C-4F3C-A443-B92140ABA0DC}"/>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E1B79071-0B1A-44E9-806F-5507B8E470BB}"/>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6D0933AE-C328-4E43-823B-6CCA0753CD2F}"/>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7, 11, 12, 13 and Tools 3, 14, 40, 41, 42, 44, 47.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9A2FB00F-D3D2-4FE8-8F32-E1B372705E58}"/>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9517FA48-12C5-4588-B925-54A1483F1318}"/>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9F83E445-8B50-48E8-9E2F-0B7FACF66050}"/>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FF46F01F-CDC6-4E47-B200-1C3555583E11}"/>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NIST AI Risk Management Framework: Risk and measurement framework for validation, monitoring, and governance. WHO: Regulatory considerations on artificial intelligence for health: Health AI validation, safety, transparency, and monitoring.</a:t>
            </a:r>
          </a:p>
        </p:txBody>
      </p:sp>
      <p:sp>
        <p:nvSpPr>
          <p:cNvPr id="12" name="">
            <a:extLst xmlns:a="http://schemas.openxmlformats.org/drawingml/2006/main">
              <a:ext uri="{FF2B5EF4-FFF2-40B4-BE49-F238E27FC236}">
                <a16:creationId xmlns:a16="http://schemas.microsoft.com/office/drawing/2014/main" id="{D9B2958C-E457-4F04-A7F0-CC83718B5FC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Model Validation and Evaluation Basics</a:t>
            </a:r>
          </a:p>
        </p:txBody>
      </p:sp>
      <p:sp>
        <p:nvSpPr>
          <p:cNvPr id="13" name="">
            <a:extLst xmlns:a="http://schemas.openxmlformats.org/drawingml/2006/main">
              <a:ext uri="{FF2B5EF4-FFF2-40B4-BE49-F238E27FC236}">
                <a16:creationId xmlns:a16="http://schemas.microsoft.com/office/drawing/2014/main" id="{9618D0DC-55BD-48A1-BFEE-B3CC69C272B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2472276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2026-07-02T17:47:04.3260000Z</dcterms:created>
  <dcterms:modified xsi:type="dcterms:W3CDTF">2026-07-02T17:47:04.3260000Z</dcterms:modified>
</coreProperties>
</file>