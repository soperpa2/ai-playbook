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2100" dirty="0"/>
          </a:p>
          <a:p>
            <a:r>
              <a:rPr lang="en-US" sz="21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 to public.</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 without.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AI Evaluation &amp; Outcomes Reporting to translate.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2100" dirty="0"/>
          </a:p>
          <a:p>
            <a:r>
              <a:rPr lang="en-US" sz="2100" dirty="0">
                <a:solidFill>
                  <a:srgbClr val="17364A"/>
                </a:solidFill>
                <a:latin typeface="Aptos" pitchFamily="34" charset="0"/>
                <a:ea typeface="Aptos" pitchFamily="34" charset="-122"/>
                <a:cs typeface="Aptos" pitchFamily="34" charset="-120"/>
              </a:rPr>
              <a:t>Explain the roles of eICR, Reportability Response, eRSD, and RCTC.</a:t>
            </a:r>
            <a:endParaRPr lang="en-US" sz="2100" dirty="0"/>
          </a:p>
          <a:p>
            <a:r>
              <a:rPr lang="en-US" sz="2100" dirty="0">
                <a:solidFill>
                  <a:srgbClr val="17364A"/>
                </a:solidFill>
                <a:latin typeface="Aptos" pitchFamily="34" charset="0"/>
                <a:ea typeface="Aptos" pitchFamily="34" charset="-122"/>
                <a:cs typeface="Aptos" pitchFamily="34" charset="-120"/>
              </a:rPr>
              <a:t>Identify eCR data quality, routing, and onboarding issues that can affect AI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2100" dirty="0"/>
          </a:p>
          <a:p>
            <a:r>
              <a:rPr lang="en-US" sz="21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2100" dirty="0"/>
          </a:p>
          <a:p>
            <a:r>
              <a:rPr lang="en-US" sz="2100" dirty="0">
                <a:solidFill>
                  <a:srgbClr val="17364A"/>
                </a:solidFill>
                <a:latin typeface="Aptos" pitchFamily="34" charset="0"/>
                <a:ea typeface="Aptos" pitchFamily="34" charset="-122"/>
                <a:cs typeface="Aptos" pitchFamily="34" charset="-120"/>
              </a:rPr>
              <a:t>It can reduce manual reporting burden and improve the speed of public health awareness.</a:t>
            </a:r>
            <a:endParaRPr lang="en-US" sz="2100" dirty="0"/>
          </a:p>
          <a:p>
            <a:r>
              <a:rPr lang="en-US" sz="2100" dirty="0">
                <a:solidFill>
                  <a:srgbClr val="17364A"/>
                </a:solidFill>
                <a:latin typeface="Aptos" pitchFamily="34" charset="0"/>
                <a:ea typeface="Aptos" pitchFamily="34" charset="-122"/>
                <a:cs typeface="Aptos" pitchFamily="34" charset="-120"/>
              </a:rPr>
              <a:t>However, eCR is not simply a data feed.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a:t>
            </a:r>
            <a:endParaRPr lang="en-US" sz="2100" dirty="0"/>
          </a:p>
          <a:p>
            <a:r>
              <a:rPr lang="en-US" sz="2100" dirty="0">
                <a:solidFill>
                  <a:srgbClr val="17364A"/>
                </a:solidFill>
                <a:latin typeface="Aptos" pitchFamily="34" charset="0"/>
                <a:ea typeface="Aptos" pitchFamily="34" charset="-122"/>
                <a:cs typeface="Aptos" pitchFamily="34" charset="-120"/>
              </a:rPr>
              <a:t>Electronic case reporting is the automated exchange of case report information from healthcare to.</a:t>
            </a:r>
            <a:endParaRPr lang="en-US" sz="2100" dirty="0"/>
          </a:p>
          <a:p>
            <a:r>
              <a:rPr lang="en-US" sz="2100" dirty="0">
                <a:solidFill>
                  <a:srgbClr val="17364A"/>
                </a:solidFill>
                <a:latin typeface="Aptos" pitchFamily="34" charset="0"/>
                <a:ea typeface="Aptos" pitchFamily="34" charset="-122"/>
                <a:cs typeface="Aptos" pitchFamily="34" charset="-120"/>
              </a:rPr>
              <a:t>It is designed to improve timeliness, completeness, and consistency in reportable condition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case reporting.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eRSD and RCTC.</a:t>
            </a:r>
            <a:endParaRPr lang="en-US" sz="2100" dirty="0"/>
          </a:p>
          <a:p>
            <a:r>
              <a:rPr lang="en-US" sz="2100" dirty="0">
                <a:solidFill>
                  <a:srgbClr val="17364A"/>
                </a:solidFill>
                <a:latin typeface="Aptos" pitchFamily="34" charset="0"/>
                <a:ea typeface="Aptos" pitchFamily="34" charset="-122"/>
                <a:cs typeface="Aptos" pitchFamily="34" charset="-120"/>
              </a:rPr>
              <a:t>Electronic Reporting and Surveillance Distribution supports the distribution of reporting criteria and.</a:t>
            </a:r>
            <a:endParaRPr lang="en-US" sz="2100" dirty="0"/>
          </a:p>
          <a:p>
            <a:r>
              <a:rPr lang="en-US" sz="2100" dirty="0">
                <a:solidFill>
                  <a:srgbClr val="17364A"/>
                </a:solidFill>
                <a:latin typeface="Aptos" pitchFamily="34" charset="0"/>
                <a:ea typeface="Aptos" pitchFamily="34" charset="-122"/>
                <a:cs typeface="Aptos" pitchFamily="34" charset="-120"/>
              </a:rPr>
              <a:t>Reportable Conditions Trigger Codes help EHRs determine when an eICR should be generated.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eRSD and RCTC.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2100" dirty="0"/>
          </a:p>
          <a:p>
            <a:r>
              <a:rPr lang="en-US" sz="2100" dirty="0">
                <a:solidFill>
                  <a:srgbClr val="17364A"/>
                </a:solidFill>
                <a:latin typeface="Aptos" pitchFamily="34" charset="0"/>
                <a:ea typeface="Aptos" pitchFamily="34" charset="-122"/>
                <a:cs typeface="Aptos" pitchFamily="34" charset="-120"/>
              </a:rPr>
              <a:t>The tool could highlight the suspected condition, key dates, lab evidence, symptoms, provider details,.</a:t>
            </a:r>
            <a:endParaRPr lang="en-US" sz="2100" dirty="0"/>
          </a:p>
          <a:p>
            <a:r>
              <a:rPr lang="en-US" sz="2100" dirty="0">
                <a:solidFill>
                  <a:srgbClr val="17364A"/>
                </a:solidFill>
                <a:latin typeface="Aptos" pitchFamily="34" charset="0"/>
                <a:ea typeface="Aptos" pitchFamily="34" charset="-122"/>
                <a:cs typeface="Aptos" pitchFamily="34" charset="-120"/>
              </a:rPr>
              <a:t>This could reduce staff burden, but only if users can inspect the source data and correct errors.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eCR workflow begins before a report reaches public health.</a:t>
            </a:r>
            <a:endParaRPr lang="en-US" sz="2100" dirty="0"/>
          </a:p>
          <a:p>
            <a:r>
              <a:rPr lang="en-US" sz="2100" dirty="0">
                <a:solidFill>
                  <a:srgbClr val="17364A"/>
                </a:solidFill>
                <a:latin typeface="Aptos" pitchFamily="34" charset="0"/>
                <a:ea typeface="Aptos" pitchFamily="34" charset="-122"/>
                <a:cs typeface="Aptos" pitchFamily="34" charset="-120"/>
              </a:rPr>
              <a:t>EHR systems use trigger criteria and value sets to identify encounters that may need reporting.</a:t>
            </a:r>
            <a:endParaRPr lang="en-US" sz="2100" dirty="0"/>
          </a:p>
          <a:p>
            <a:r>
              <a:rPr lang="en-US" sz="2100" dirty="0">
                <a:solidFill>
                  <a:srgbClr val="17364A"/>
                </a:solidFill>
                <a:latin typeface="Aptos" pitchFamily="34" charset="0"/>
                <a:ea typeface="Aptos" pitchFamily="34" charset="-122"/>
                <a:cs typeface="Aptos" pitchFamily="34" charset="-120"/>
              </a:rPr>
              <a:t>The eICR is generated and transmitted through an exchange process to the appropriate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eCR workflow begins before a report reaches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Incorrect trigger assumptions.</a:t>
            </a:r>
            <a:endParaRPr lang="en-US" sz="2100" dirty="0"/>
          </a:p>
          <a:p>
            <a:r>
              <a:rPr lang="en-US" sz="2100" dirty="0">
                <a:solidFill>
                  <a:srgbClr val="17364A"/>
                </a:solidFill>
                <a:latin typeface="Aptos" pitchFamily="34" charset="0"/>
                <a:ea typeface="Aptos" pitchFamily="34" charset="-122"/>
                <a:cs typeface="Aptos" pitchFamily="34" charset="-120"/>
              </a:rPr>
              <a:t>If trigger value sets or reporting criteria are outdated, the workflow may generate missing or.</a:t>
            </a:r>
            <a:endParaRPr lang="en-US" sz="2100" dirty="0"/>
          </a:p>
          <a:p>
            <a:r>
              <a:rPr lang="en-US" sz="2100" dirty="0">
                <a:solidFill>
                  <a:srgbClr val="17364A"/>
                </a:solidFill>
                <a:latin typeface="Aptos" pitchFamily="34" charset="0"/>
                <a:ea typeface="Aptos" pitchFamily="34" charset="-122"/>
                <a:cs typeface="Aptos" pitchFamily="34" charset="-120"/>
              </a:rPr>
              <a:t>Guardrails include current eRSD/RCTC management, onboarding checks, and periodic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Incorrect trigger assumptions.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Routing errors.</a:t>
            </a:r>
            <a:endParaRPr lang="en-US" sz="2100" dirty="0"/>
          </a:p>
          <a:p>
            <a:r>
              <a:rPr lang="en-US" sz="2100" dirty="0">
                <a:solidFill>
                  <a:srgbClr val="17364A"/>
                </a:solidFill>
                <a:latin typeface="Aptos" pitchFamily="34" charset="0"/>
                <a:ea typeface="Aptos" pitchFamily="34" charset="-122"/>
                <a:cs typeface="Aptos" pitchFamily="34" charset="-120"/>
              </a:rPr>
              <a:t>Incorrect jurisdiction or program routing can delay response.</a:t>
            </a:r>
            <a:endParaRPr lang="en-US" sz="2100" dirty="0"/>
          </a:p>
          <a:p>
            <a:r>
              <a:rPr lang="en-US" sz="2100" dirty="0">
                <a:solidFill>
                  <a:srgbClr val="17364A"/>
                </a:solidFill>
                <a:latin typeface="Aptos" pitchFamily="34" charset="0"/>
                <a:ea typeface="Aptos" pitchFamily="34" charset="-122"/>
                <a:cs typeface="Aptos" pitchFamily="34" charset="-120"/>
              </a:rPr>
              <a:t>Guardrails include routing validation, exception queues, and escalation procedures.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Routing errors.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2100" dirty="0"/>
          </a:p>
          <a:p>
            <a:r>
              <a:rPr lang="en-US" sz="2100" dirty="0">
                <a:solidFill>
                  <a:srgbClr val="17364A"/>
                </a:solidFill>
                <a:latin typeface="Aptos" pitchFamily="34" charset="0"/>
                <a:ea typeface="Aptos" pitchFamily="34" charset="-122"/>
                <a:cs typeface="Aptos" pitchFamily="34" charset="-120"/>
              </a:rPr>
              <a:t>Predictive models may support prioritization, but only after validation against public health outcomes.</a:t>
            </a:r>
            <a:endParaRPr lang="en-US" sz="2100" dirty="0"/>
          </a:p>
          <a:p>
            <a:r>
              <a:rPr lang="en-US" sz="2100" dirty="0">
                <a:solidFill>
                  <a:srgbClr val="17364A"/>
                </a:solidFill>
                <a:latin typeface="Aptos" pitchFamily="34" charset="0"/>
                <a:ea typeface="Aptos" pitchFamily="34" charset="-122"/>
                <a:cs typeface="Aptos" pitchFamily="34" charset="-120"/>
              </a:rPr>
              <a:t>RAG may provide disease-specific guidance to investigators, but document sources must be current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2100" dirty="0"/>
          </a:p>
          <a:p>
            <a:r>
              <a:rPr lang="en-US" sz="2100" dirty="0">
                <a:solidFill>
                  <a:srgbClr val="17364A"/>
                </a:solidFill>
                <a:latin typeface="Aptos" pitchFamily="34" charset="0"/>
                <a:ea typeface="Aptos" pitchFamily="34" charset="-122"/>
                <a:cs typeface="Aptos" pitchFamily="34" charset="-120"/>
              </a:rPr>
              <a:t>Which steps are automated and which remain manual?</a:t>
            </a:r>
            <a:endParaRPr lang="en-US" sz="2100" dirty="0"/>
          </a:p>
          <a:p>
            <a:r>
              <a:rPr lang="en-US" sz="2100" dirty="0">
                <a:solidFill>
                  <a:srgbClr val="17364A"/>
                </a:solidFill>
                <a:latin typeface="Aptos" pitchFamily="34" charset="0"/>
                <a:ea typeface="Aptos" pitchFamily="34" charset="-122"/>
                <a:cs typeface="Aptos" pitchFamily="34" charset="-120"/>
              </a:rPr>
              <a:t>Where are timeliness, completeness, routing, or duplication problems most common?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eCR tasks could AI support safely?</a:t>
            </a:r>
            <a:endParaRPr lang="en-US" sz="2100" dirty="0"/>
          </a:p>
          <a:p>
            <a:r>
              <a:rPr lang="en-US" sz="2100" dirty="0">
                <a:solidFill>
                  <a:srgbClr val="17364A"/>
                </a:solidFill>
                <a:latin typeface="Aptos" pitchFamily="34" charset="0"/>
                <a:ea typeface="Aptos" pitchFamily="34" charset="-122"/>
                <a:cs typeface="Aptos" pitchFamily="34" charset="-120"/>
              </a:rPr>
              <a:t>Which tasks require human review, legal authority, or epidemiologic judgment?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eCR tasks could AI support safely?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AI-readiness review for one eCR workflow.</a:t>
            </a:r>
            <a:endParaRPr lang="en-US" sz="2100" dirty="0"/>
          </a:p>
          <a:p>
            <a:r>
              <a:rPr lang="en-US" sz="2100" dirty="0">
                <a:solidFill>
                  <a:srgbClr val="17364A"/>
                </a:solidFill>
                <a:latin typeface="Aptos" pitchFamily="34" charset="0"/>
                <a:ea typeface="Aptos" pitchFamily="34" charset="-122"/>
                <a:cs typeface="Aptos" pitchFamily="34" charset="-120"/>
              </a:rPr>
              <a:t>Map the current workflow, identify data elements required for review, describe common data quality.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AI-readiness review for one eCR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workflow map</a:t>
            </a:r>
            <a:endParaRPr lang="en-US" sz="2100" dirty="0"/>
          </a:p>
          <a:p>
            <a:r>
              <a:rPr lang="en-US" sz="2100" dirty="0">
                <a:solidFill>
                  <a:srgbClr val="17364A"/>
                </a:solidFill>
                <a:latin typeface="Aptos" pitchFamily="34" charset="0"/>
                <a:ea typeface="Aptos" pitchFamily="34" charset="-122"/>
                <a:cs typeface="Aptos" pitchFamily="34" charset="-120"/>
              </a:rPr>
              <a:t>AI-readiness checklist</a:t>
            </a:r>
            <a:endParaRPr lang="en-US" sz="2100" dirty="0"/>
          </a:p>
          <a:p>
            <a:r>
              <a:rPr lang="en-US" sz="2100" dirty="0">
                <a:solidFill>
                  <a:srgbClr val="17364A"/>
                </a:solidFill>
                <a:latin typeface="Aptos" pitchFamily="34" charset="0"/>
                <a:ea typeface="Aptos" pitchFamily="34" charset="-122"/>
                <a:cs typeface="Aptos" pitchFamily="34" charset="-120"/>
              </a:rPr>
              <a:t>Validation scenarios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workflow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review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review and escalation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workflow map</a:t>
            </a:r>
            <a:endParaRPr lang="en-US" sz="2100" dirty="0"/>
          </a:p>
          <a:p>
            <a:r>
              <a:rPr lang="en-US" sz="2100" dirty="0">
                <a:solidFill>
                  <a:srgbClr val="17364A"/>
                </a:solidFill>
                <a:latin typeface="Aptos" pitchFamily="34" charset="0"/>
                <a:ea typeface="Aptos" pitchFamily="34" charset="-122"/>
                <a:cs typeface="Aptos" pitchFamily="34" charset="-120"/>
              </a:rPr>
              <a:t>AI-readiness checklist</a:t>
            </a:r>
            <a:endParaRPr lang="en-US" sz="2100" dirty="0"/>
          </a:p>
          <a:p>
            <a:r>
              <a:rPr lang="en-US" sz="2100" dirty="0">
                <a:solidFill>
                  <a:srgbClr val="17364A"/>
                </a:solidFill>
                <a:latin typeface="Aptos" pitchFamily="34" charset="0"/>
                <a:ea typeface="Aptos" pitchFamily="34" charset="-122"/>
                <a:cs typeface="Aptos" pitchFamily="34" charset="-120"/>
              </a:rPr>
              <a:t>Validation scenarios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workflow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eCR?</a:t>
            </a:r>
            <a:endParaRPr lang="en-US" sz="2100" dirty="0"/>
          </a:p>
          <a:p>
            <a:r>
              <a:rPr lang="en-US" sz="2100" dirty="0">
                <a:solidFill>
                  <a:srgbClr val="17364A"/>
                </a:solidFill>
                <a:latin typeface="Aptos" pitchFamily="34" charset="0"/>
                <a:ea typeface="Aptos" pitchFamily="34" charset="-122"/>
                <a:cs typeface="Aptos" pitchFamily="34" charset="-120"/>
              </a:rPr>
              <a:t>2. What is an eICR?</a:t>
            </a:r>
            <a:endParaRPr lang="en-US" sz="2100" dirty="0"/>
          </a:p>
          <a:p>
            <a:r>
              <a:rPr lang="en-US" sz="2100" dirty="0">
                <a:solidFill>
                  <a:srgbClr val="17364A"/>
                </a:solidFill>
                <a:latin typeface="Aptos" pitchFamily="34" charset="0"/>
                <a:ea typeface="Aptos" pitchFamily="34" charset="-122"/>
                <a:cs typeface="Aptos" pitchFamily="34" charset="-120"/>
              </a:rPr>
              <a:t>3. What do eRSD and RCTC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eCR?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2100" dirty="0"/>
          </a:p>
          <a:p>
            <a:r>
              <a:rPr lang="en-US" sz="2100" dirty="0">
                <a:solidFill>
                  <a:srgbClr val="17364A"/>
                </a:solidFill>
                <a:latin typeface="Aptos" pitchFamily="34" charset="0"/>
                <a:ea typeface="Aptos" pitchFamily="34" charset="-122"/>
                <a:cs typeface="Aptos" pitchFamily="34" charset="-120"/>
              </a:rPr>
              <a:t>AIMS eCR triggering documentation: https://ecr.aimsplatform.org/ehr-implementers/triggering/</a:t>
            </a:r>
            <a:endParaRPr lang="en-US" sz="2100" dirty="0"/>
          </a:p>
          <a:p>
            <a:r>
              <a:rPr lang="en-US" sz="2100" dirty="0">
                <a:solidFill>
                  <a:srgbClr val="17364A"/>
                </a:solidFill>
                <a:latin typeface="Aptos" pitchFamily="34" charset="0"/>
                <a:ea typeface="Aptos" pitchFamily="34" charset="-122"/>
                <a:cs typeface="Aptos" pitchFamily="34" charset="-120"/>
              </a:rPr>
              <a:t>HL7 eCR FHIR Implementation Guide: https://hl7.org/fhir/us/ecr/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2026-07-13T01:54:44Z</dcterms:created>
  <dcterms:modified xsi:type="dcterms:W3CDTF">2026-07-13T01:54:44Z</dcterms:modified>
</cp:coreProperties>
</file>