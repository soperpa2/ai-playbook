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320 AI Authority, Liability, and Public Health Decision-Making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public-health-executive-leadership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authority, liability, and public health decision-making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Authority, Liability, and Public Health Decision-Making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legal authority, delegated responsibility, accountability, and liability in AI-supported decisions.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authority, liability, and public health decision-making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Authority, Liability, and Public Health Decision-Making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Authority, Liability, and Public Health Decision-Making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authority, liability, and public health decision-making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Authority, Liability, and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Policy Role-Based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policy, governance-security, public-health-executive-leadership</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purpose of ai authority, liability, and public health decision-making in public health AI.</a:t>
            </a:r>
            <a:endParaRPr lang="en-US" sz="1450" dirty="0"/>
          </a:p>
          <a:p>
            <a:r>
              <a:rPr lang="en-US" sz="145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450" dirty="0"/>
          </a:p>
          <a:p>
            <a:r>
              <a:rPr lang="en-US" sz="145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450" dirty="0"/>
          </a:p>
          <a:p>
            <a:r>
              <a:rPr lang="en-US" sz="145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450" dirty="0"/>
          </a:p>
          <a:p>
            <a:r>
              <a:rPr lang="en-US" sz="1450" dirty="0">
                <a:solidFill>
                  <a:srgbClr val="17364A"/>
                </a:solidFill>
                <a:latin typeface="Aptos" pitchFamily="34" charset="0"/>
                <a:ea typeface="Aptos" pitchFamily="34" charset="-122"/>
                <a:cs typeface="Aptos" pitchFamily="34" charset="-120"/>
              </a:rPr>
              <a:t>Produce a practical artifact that supports readiness, governance, implementation, monitoring, or accountability.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450" dirty="0"/>
          </a:p>
          <a:p>
            <a:r>
              <a:rPr lang="en-US" sz="145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 practice.</a:t>
            </a:r>
            <a:endParaRPr lang="en-US" sz="1450" dirty="0"/>
          </a:p>
          <a:p>
            <a:r>
              <a:rPr lang="en-US" sz="145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450" dirty="0"/>
          </a:p>
          <a:p>
            <a:r>
              <a:rPr lang="en-US" sz="145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 when needed.</a:t>
            </a:r>
            <a:endParaRPr lang="en-US" sz="1450" dirty="0"/>
          </a:p>
          <a:p>
            <a:r>
              <a:rPr lang="en-US" sz="1450" dirty="0">
                <a:solidFill>
                  <a:srgbClr val="17364A"/>
                </a:solidFill>
                <a:latin typeface="Aptos" pitchFamily="34" charset="0"/>
                <a:ea typeface="Aptos" pitchFamily="34" charset="-122"/>
                <a:cs typeface="Aptos" pitchFamily="34" charset="-120"/>
              </a:rPr>
              <a:t>Operational safeguard: A procedure, control, or review step that reduces risk during day-to-day use.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Authority, Liability, and Public Health Decision-Making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agency is preparing to use AI in a workflow related to legal authority, delegated responsibility, accountability, and liability in AI-supported decisions.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public health decision or workflow does this topic affect? Who has authority to approve or pause the work? What evidence would show that the workflow is responsible and effective?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equity, privacy, legal, security, or public trust risks require review? How will the agency know when the workflow needs to be revised?</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practical ai authority, liability, and public health decision-making artifact for one AI-supported public health use case. The artifact should define the use case, affected roles, review criteria, safeguards, documentation expectations, escalation triggers, monitoring indicators, and next review date.</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Authority, Liability, and Public Health Decision-Making artifact Role and responsibility table Risk and safeguard summary</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Escalation and monitoring plan Approval or review note</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450" dirty="0"/>
          </a:p>
          <a:p>
            <a:r>
              <a:rPr lang="en-US" sz="1450" dirty="0">
                <a:solidFill>
                  <a:srgbClr val="17364A"/>
                </a:solidFill>
                <a:latin typeface="Aptos" pitchFamily="34" charset="0"/>
                <a:ea typeface="Aptos" pitchFamily="34" charset="-122"/>
                <a:cs typeface="Aptos" pitchFamily="34" charset="-120"/>
              </a:rPr>
              <a:t>Role and responsibility table</a:t>
            </a:r>
            <a:endParaRPr lang="en-US" sz="1450" dirty="0"/>
          </a:p>
          <a:p>
            <a:r>
              <a:rPr lang="en-US" sz="1450" dirty="0">
                <a:solidFill>
                  <a:srgbClr val="17364A"/>
                </a:solidFill>
                <a:latin typeface="Aptos" pitchFamily="34" charset="0"/>
                <a:ea typeface="Aptos" pitchFamily="34" charset="-122"/>
                <a:cs typeface="Aptos" pitchFamily="34" charset="-120"/>
              </a:rPr>
              <a:t>Risk and safeguard summary</a:t>
            </a:r>
            <a:endParaRPr lang="en-US" sz="1450" dirty="0"/>
          </a:p>
          <a:p>
            <a:r>
              <a:rPr lang="en-US" sz="1450" dirty="0">
                <a:solidFill>
                  <a:srgbClr val="17364A"/>
                </a:solidFill>
                <a:latin typeface="Aptos" pitchFamily="34" charset="0"/>
                <a:ea typeface="Aptos" pitchFamily="34" charset="-122"/>
                <a:cs typeface="Aptos" pitchFamily="34" charset="-120"/>
              </a:rPr>
              <a:t>Escalation and monitoring plan</a:t>
            </a:r>
            <a:endParaRPr lang="en-US" sz="1450" dirty="0"/>
          </a:p>
          <a:p>
            <a:r>
              <a:rPr lang="en-US" sz="1450" dirty="0">
                <a:solidFill>
                  <a:srgbClr val="17364A"/>
                </a:solidFill>
                <a:latin typeface="Aptos" pitchFamily="34" charset="0"/>
                <a:ea typeface="Aptos" pitchFamily="34" charset="-122"/>
                <a:cs typeface="Aptos" pitchFamily="34" charset="-120"/>
              </a:rPr>
              <a:t>Approval or review note</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evidence that ai authority, liability, and public health decision-making has been applied responsibly?</a:t>
            </a:r>
            <a:endParaRPr lang="en-US" sz="1450" dirty="0"/>
          </a:p>
          <a:p>
            <a:r>
              <a:rPr lang="en-US" sz="1450" dirty="0">
                <a:solidFill>
                  <a:srgbClr val="17364A"/>
                </a:solidFill>
                <a:latin typeface="Aptos" pitchFamily="34" charset="0"/>
                <a:ea typeface="Aptos" pitchFamily="34" charset="-122"/>
                <a:cs typeface="Aptos" pitchFamily="34" charset="-120"/>
              </a:rPr>
              <a:t>2. What is the best reason to assign an accountability owner?</a:t>
            </a:r>
            <a:endParaRPr lang="en-US" sz="1450" dirty="0"/>
          </a:p>
          <a:p>
            <a:r>
              <a:rPr lang="en-US" sz="1450" dirty="0">
                <a:solidFill>
                  <a:srgbClr val="17364A"/>
                </a:solidFill>
                <a:latin typeface="Aptos" pitchFamily="34" charset="0"/>
                <a:ea typeface="Aptos" pitchFamily="34" charset="-122"/>
                <a:cs typeface="Aptos" pitchFamily="34" charset="-120"/>
              </a:rPr>
              <a:t>3. When should an AI-supported workflow be escalated for review?</a:t>
            </a:r>
            <a:endParaRPr lang="en-US" sz="1450" dirty="0"/>
          </a:p>
          <a:p>
            <a:r>
              <a:rPr lang="en-US" sz="1450" dirty="0">
                <a:solidFill>
                  <a:srgbClr val="17364A"/>
                </a:solidFill>
                <a:latin typeface="Aptos" pitchFamily="34" charset="0"/>
                <a:ea typeface="Aptos" pitchFamily="34" charset="-122"/>
                <a:cs typeface="Aptos" pitchFamily="34" charset="-120"/>
              </a:rPr>
              <a:t>4. Which practice best supports public accountability?</a:t>
            </a:r>
            <a:endParaRPr lang="en-US" sz="1450" dirty="0"/>
          </a:p>
          <a:p>
            <a:r>
              <a:rPr lang="en-US" sz="1450" dirty="0">
                <a:solidFill>
                  <a:srgbClr val="17364A"/>
                </a:solidFill>
                <a:latin typeface="Aptos" pitchFamily="34" charset="0"/>
                <a:ea typeface="Aptos" pitchFamily="34" charset="-122"/>
                <a:cs typeface="Aptos" pitchFamily="34" charset="-120"/>
              </a:rPr>
              <a:t>5. What should happen when data sources, policy, vendor configuration, or workflow use changes?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and 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450" dirty="0"/>
          </a:p>
          <a:p>
            <a:r>
              <a:rPr lang="en-US" sz="14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ONC health IT, interoperability, and information blocking resources: https://www.healthit.gov/</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 emergency communications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Authority, Liability, and Public Health Decision-Making</dc:title>
  <dc:subject>AI Authority, Liability, and Public Health Decision-Making learning module</dc:subject>
  <dc:creator>Paula Soper</dc:creator>
  <cp:lastModifiedBy>Paula Soper</cp:lastModifiedBy>
  <cp:revision>1</cp:revision>
  <dcterms:created xsi:type="dcterms:W3CDTF">2026-07-12T18:22:14Z</dcterms:created>
  <dcterms:modified xsi:type="dcterms:W3CDTF">2026-07-12T18:22:14Z</dcterms:modified>
</cp:coreProperties>
</file>