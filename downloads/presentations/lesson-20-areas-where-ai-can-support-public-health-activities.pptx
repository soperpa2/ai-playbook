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a0e87832a9247e9" /><Relationship Type="http://schemas.openxmlformats.org/officeDocument/2006/relationships/extended-properties" Target="/docProps/app.xml" Id="R4f65711bad9641f1" /><Relationship Type="http://schemas.openxmlformats.org/officeDocument/2006/relationships/officeDocument" Target="/ppt/presentation.xml" Id="R74f87fe9b27940ce" /></Relationships>
</file>

<file path=ppt/presentation.xml><?xml version="1.0" encoding="utf-8"?>
<p:presentation xmlns:p="http://schemas.openxmlformats.org/presentationml/2006/main">
  <p:sldMasterIdLst>
    <p:sldMasterId xmlns:r="http://schemas.openxmlformats.org/officeDocument/2006/relationships" id="2147483648" r:id="Rae8a17dc294043fe"/>
  </p:sldMasterIdLst>
  <p:notesMasterIdLst>
    <p:notesMasterId xmlns:r="http://schemas.openxmlformats.org/officeDocument/2006/relationships" r:id="R44dae141aa5d47cf"/>
  </p:notesMasterIdLst>
  <p:sldIdLst>
    <p:sldId xmlns:r="http://schemas.openxmlformats.org/officeDocument/2006/relationships" id="256" r:id="R2f37e84ea3204419"/>
    <p:sldId xmlns:r="http://schemas.openxmlformats.org/officeDocument/2006/relationships" id="257" r:id="Rdeb2d871dad54cfb"/>
    <p:sldId xmlns:r="http://schemas.openxmlformats.org/officeDocument/2006/relationships" id="258" r:id="R369689aed1e749c5"/>
    <p:sldId xmlns:r="http://schemas.openxmlformats.org/officeDocument/2006/relationships" id="259" r:id="R6b2f46a6f9c64c0d"/>
    <p:sldId xmlns:r="http://schemas.openxmlformats.org/officeDocument/2006/relationships" id="260" r:id="R1bf0fd1558cd496f"/>
    <p:sldId xmlns:r="http://schemas.openxmlformats.org/officeDocument/2006/relationships" id="261" r:id="Rd20804e6e8be494e"/>
    <p:sldId xmlns:r="http://schemas.openxmlformats.org/officeDocument/2006/relationships" id="262" r:id="R7e24efc76d634911"/>
    <p:sldId xmlns:r="http://schemas.openxmlformats.org/officeDocument/2006/relationships" id="263" r:id="Rd88e420694964e54"/>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871ced701b949ab" /><Relationship Type="http://schemas.openxmlformats.org/officeDocument/2006/relationships/slideMaster" Target="/ppt/slideMasters/slideMaster1.xml" Id="Rae8a17dc294043fe" /><Relationship Type="http://schemas.openxmlformats.org/officeDocument/2006/relationships/notesMaster" Target="/ppt/notesMasters/notesMaster1.xml" Id="R44dae141aa5d47cf" /><Relationship Type="http://schemas.openxmlformats.org/officeDocument/2006/relationships/presProps" Target="/ppt/presProps.xml" Id="R0b2ba103908e4362" /><Relationship Type="http://schemas.openxmlformats.org/officeDocument/2006/relationships/tableStyles" Target="/ppt/tableStyles.xml" Id="Rc96b4c16ee8b4c94" /><Relationship Type="http://schemas.openxmlformats.org/officeDocument/2006/relationships/slide" Target="/ppt/slides/slide1.xml" Id="R2f37e84ea3204419" /><Relationship Type="http://schemas.openxmlformats.org/officeDocument/2006/relationships/slide" Target="/ppt/slides/slide2.xml" Id="Rdeb2d871dad54cfb" /><Relationship Type="http://schemas.openxmlformats.org/officeDocument/2006/relationships/slide" Target="/ppt/slides/slide3.xml" Id="R369689aed1e749c5" /><Relationship Type="http://schemas.openxmlformats.org/officeDocument/2006/relationships/slide" Target="/ppt/slides/slide4.xml" Id="R6b2f46a6f9c64c0d" /><Relationship Type="http://schemas.openxmlformats.org/officeDocument/2006/relationships/slide" Target="/ppt/slides/slide5.xml" Id="R1bf0fd1558cd496f" /><Relationship Type="http://schemas.openxmlformats.org/officeDocument/2006/relationships/slide" Target="/ppt/slides/slide6.xml" Id="Rd20804e6e8be494e" /><Relationship Type="http://schemas.openxmlformats.org/officeDocument/2006/relationships/slide" Target="/ppt/slides/slide7.xml" Id="R7e24efc76d634911" /><Relationship Type="http://schemas.openxmlformats.org/officeDocument/2006/relationships/slide" Target="/ppt/slides/slide8.xml" Id="Rd88e420694964e5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3d3a61806124a2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2a20917791e4cfe" /><Relationship Type="http://schemas.openxmlformats.org/officeDocument/2006/relationships/notesMaster" Target="/ppt/notesMasters/notesMaster1.xml" Id="Ra14c800cc7fb4158" /></Relationships>
</file>

<file path=ppt/notesSlides/_rels/notesSlide2.xml.rels>&#65279;<?xml version="1.0" encoding="utf-8"?><Relationships xmlns="http://schemas.openxmlformats.org/package/2006/relationships"><Relationship Type="http://schemas.openxmlformats.org/officeDocument/2006/relationships/slide" Target="/ppt/slides/slide2.xml" Id="Re128e8ac15654df2" /><Relationship Type="http://schemas.openxmlformats.org/officeDocument/2006/relationships/notesMaster" Target="/ppt/notesMasters/notesMaster1.xml" Id="Rd4d52d6b970b4b7a" /></Relationships>
</file>

<file path=ppt/notesSlides/_rels/notesSlide3.xml.rels>&#65279;<?xml version="1.0" encoding="utf-8"?><Relationships xmlns="http://schemas.openxmlformats.org/package/2006/relationships"><Relationship Type="http://schemas.openxmlformats.org/officeDocument/2006/relationships/slide" Target="/ppt/slides/slide3.xml" Id="R125ee434930c4e8a" /><Relationship Type="http://schemas.openxmlformats.org/officeDocument/2006/relationships/notesMaster" Target="/ppt/notesMasters/notesMaster1.xml" Id="Raa95666dc5d04beb" /></Relationships>
</file>

<file path=ppt/notesSlides/_rels/notesSlide4.xml.rels>&#65279;<?xml version="1.0" encoding="utf-8"?><Relationships xmlns="http://schemas.openxmlformats.org/package/2006/relationships"><Relationship Type="http://schemas.openxmlformats.org/officeDocument/2006/relationships/slide" Target="/ppt/slides/slide4.xml" Id="Rb7c5a6171c464f14" /><Relationship Type="http://schemas.openxmlformats.org/officeDocument/2006/relationships/notesMaster" Target="/ppt/notesMasters/notesMaster1.xml" Id="Rce211ed84aa142b5" /></Relationships>
</file>

<file path=ppt/notesSlides/_rels/notesSlide5.xml.rels>&#65279;<?xml version="1.0" encoding="utf-8"?><Relationships xmlns="http://schemas.openxmlformats.org/package/2006/relationships"><Relationship Type="http://schemas.openxmlformats.org/officeDocument/2006/relationships/slide" Target="/ppt/slides/slide5.xml" Id="R33a6732091704d5f" /><Relationship Type="http://schemas.openxmlformats.org/officeDocument/2006/relationships/notesMaster" Target="/ppt/notesMasters/notesMaster1.xml" Id="Rec550cb8d8514fc5" /></Relationships>
</file>

<file path=ppt/notesSlides/_rels/notesSlide6.xml.rels>&#65279;<?xml version="1.0" encoding="utf-8"?><Relationships xmlns="http://schemas.openxmlformats.org/package/2006/relationships"><Relationship Type="http://schemas.openxmlformats.org/officeDocument/2006/relationships/slide" Target="/ppt/slides/slide6.xml" Id="Rb98cf607f579417b" /><Relationship Type="http://schemas.openxmlformats.org/officeDocument/2006/relationships/notesMaster" Target="/ppt/notesMasters/notesMaster1.xml" Id="R86aa8c8bb22a41a9" /></Relationships>
</file>

<file path=ppt/notesSlides/_rels/notesSlide7.xml.rels>&#65279;<?xml version="1.0" encoding="utf-8"?><Relationships xmlns="http://schemas.openxmlformats.org/package/2006/relationships"><Relationship Type="http://schemas.openxmlformats.org/officeDocument/2006/relationships/slide" Target="/ppt/slides/slide7.xml" Id="Racf86c2876024281" /><Relationship Type="http://schemas.openxmlformats.org/officeDocument/2006/relationships/notesMaster" Target="/ppt/notesMasters/notesMaster1.xml" Id="Recaa07493fda4444" /></Relationships>
</file>

<file path=ppt/notesSlides/_rels/notesSlide8.xml.rels>&#65279;<?xml version="1.0" encoding="utf-8"?><Relationships xmlns="http://schemas.openxmlformats.org/package/2006/relationships"><Relationship Type="http://schemas.openxmlformats.org/officeDocument/2006/relationships/slide" Target="/ppt/slides/slide8.xml" Id="R99bf0d23c5094ff7" /><Relationship Type="http://schemas.openxmlformats.org/officeDocument/2006/relationships/notesMaster" Target="/ppt/notesMasters/notesMaster1.xml" Id="Rf562fe0c8b47480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participants to the Areas Where AI Can Support Public Health Activities lesson.</a:t>
            </a:r>
          </a:p>
          <a:p xmlns:a="http://schemas.openxmlformats.org/drawingml/2006/main">
            <a:r>
              <a:t>Explain that this deck is designed for staff training, leadership orientation, governance preparation, or cross-program discussion.</a:t>
            </a:r>
          </a:p>
          <a:p xmlns:a="http://schemas.openxmlformats.org/drawingml/2006/main">
            <a:r>
              <a:t>Frame the topic in plain language: Expanded examples showing how AI can support specific public health activities, what safeguards are needed, and which plays and tools help agencies move from idea to responsible implementation.</a:t>
            </a:r>
          </a:p>
          <a:p xmlns:a="http://schemas.openxmlformats.org/drawingml/2006/main">
            <a:r>
              <a:t>Invite participants to think about where this topic already appears in their department's workflows, vendor tools, data systems, communications, or planning conversations.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Areas Where AI Can Support Public Health Activities training module.</a:t>
            </a:r>
          </a:p>
          <a:p xmlns:a="http://schemas.openxmlformats.org/drawingml/2006/main">
            <a:r>
              <a:t>Use this slide to explain the practical public health reason for learning this topic before AI tools are approved or deployed.</a:t>
            </a:r>
          </a:p>
          <a:p xmlns:a="http://schemas.openxmlformats.org/drawingml/2006/main">
            <a:r>
              <a:t>Connect the discussion back to the playbook: this topic supports Plays 2, 3, 4, 7, 11, 12, 13 and Tools 3, 7, 13, 14, 19, 20, 22, 37, 39, 42.</a:t>
            </a:r>
          </a:p>
          <a:p xmlns:a="http://schemas.openxmlformats.org/drawingml/2006/main">
            <a:r>
              <a:t>Emphasize the core guardrail: These examples are planning prompts, not automatic recommendations to adopt AI without readiness assessment, governance review, stakeholder engagement, and monitoring.</a:t>
            </a:r>
          </a:p>
          <a:p xmlns:a="http://schemas.openxmlformats.org/drawingml/2006/main">
            <a:r>
              <a:t>Ask participants how this topic could affect their own program area, staff roles, community relationships, data, or public communications.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Areas Where AI Can Support Public Health Activities training module.</a:t>
            </a:r>
          </a:p>
          <a:p xmlns:a="http://schemas.openxmlformats.org/drawingml/2006/main">
            <a:r>
              <a:t>Walk through the objectives and connect each one to a practical implementation decision.</a:t>
            </a:r>
          </a:p>
          <a:p xmlns:a="http://schemas.openxmlformats.org/drawingml/2006/main">
            <a:r>
              <a:t>Connect the discussion back to the playbook: this topic supports Plays 2, 3, 4, 7, 11, 12, 13 and Tools 3, 7, 13, 14, 19, 20, 22, 37, 39, 42.</a:t>
            </a:r>
          </a:p>
          <a:p xmlns:a="http://schemas.openxmlformats.org/drawingml/2006/main">
            <a:r>
              <a:t>Explain that participants do not need technical expertise to use this material. The goal is enough shared understanding to participate in governance, readiness assessment, use case review, procurement, deployment, or monitoring.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Areas Where AI Can Support Public Health Activities training module.</a:t>
            </a:r>
          </a:p>
          <a:p xmlns:a="http://schemas.openxmlformats.org/drawingml/2006/main">
            <a:r>
              <a:t>Use this slide to provide the narrative overview and definition before moving into detailed application.</a:t>
            </a:r>
          </a:p>
          <a:p xmlns:a="http://schemas.openxmlformats.org/drawingml/2006/main">
            <a:r>
              <a:t>Connect the discussion back to the playbook: this topic supports Plays 2, 3, 4, 7, 11, 12, 13 and Tools 3, 7, 13, 14, 19, 20, 22, 37, 39, 42.</a:t>
            </a:r>
          </a:p>
          <a:p xmlns:a="http://schemas.openxmlformats.org/drawingml/2006/main">
            <a:r>
              <a:t>Ask the group to restate the topic in their own words.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Areas Where AI Can Support Public Health Activities training module.</a:t>
            </a:r>
          </a:p>
          <a:p xmlns:a="http://schemas.openxmlformats.org/drawingml/2006/main">
            <a:r>
              <a:t>Use this slide to turn the concept into practical behaviors, decisions, and safeguards.</a:t>
            </a:r>
          </a:p>
          <a:p xmlns:a="http://schemas.openxmlformats.org/drawingml/2006/main">
            <a:r>
              <a:t>Connect the discussion back to the playbook: this topic supports Plays 2, 3, 4, 7, 11, 12, 13 and Tools 3, 7, 13, 14, 19, 20, 22, 37, 39, 42.</a:t>
            </a:r>
          </a:p>
          <a:p xmlns:a="http://schemas.openxmlformats.org/drawingml/2006/main">
            <a:r>
              <a:t>Invite participants to identify where these practices would need to be documented in their own department.</a:t>
            </a:r>
          </a:p>
          <a:p xmlns:a="http://schemas.openxmlformats.org/drawingml/2006/main">
            <a:r>
              <a:t>Use the bullets as prompts for discussion rather than as a checklist to memorize.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Areas Where AI Can Support Public Health Activities training module.</a:t>
            </a:r>
          </a:p>
          <a:p xmlns:a="http://schemas.openxmlformats.org/drawingml/2006/main">
            <a:r>
              <a:t>Use this slide to make the topic concrete through public health workflow examples.</a:t>
            </a:r>
          </a:p>
          <a:p xmlns:a="http://schemas.openxmlformats.org/drawingml/2006/main">
            <a:r>
              <a:t>Connect the discussion back to the playbook: this topic supports Plays 2, 3, 4, 7, 11, 12, 13 and Tools 3, 7, 13, 14, 19, 20, 22, 37, 39, 42.</a:t>
            </a:r>
          </a:p>
          <a:p xmlns:a="http://schemas.openxmlformats.org/drawingml/2006/main">
            <a:r>
              <a:t>For each example, ask: What problem is being solved? What data would be used? Who reviews the AI output? What decision remains human? What could go wrong?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Areas Where AI Can Support Public Health Activities training module.</a:t>
            </a:r>
          </a:p>
          <a:p xmlns:a="http://schemas.openxmlformats.org/drawingml/2006/main">
            <a:r>
              <a:t>Use this slide for a facilitated activity near the end of the lesson.</a:t>
            </a:r>
          </a:p>
          <a:p xmlns:a="http://schemas.openxmlformats.org/drawingml/2006/main">
            <a:r>
              <a:t>Connect the discussion back to the playbook: this topic supports Plays 2, 3, 4, 7, 11, 12, 13 and Tools 3, 7, 13, 14, 19, 20, 22, 37, 39, 42.</a:t>
            </a:r>
          </a:p>
          <a:p xmlns:a="http://schemas.openxmlformats.org/drawingml/2006/main">
            <a:r>
              <a:t>Give participants time to work individually or in small groups. Ask them to produce a practical artifact that can feed into readiness assessment, governance review, use case prioritization, or implementation planning.</a:t>
            </a:r>
          </a:p>
          <a:p xmlns:a="http://schemas.openxmlformats.org/drawingml/2006/main">
            <a:r>
              <a:t>Expected takeaways include: AI opportunity list, Use case screening notes, Prioritized concepts for governance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Areas Where AI Can Support Public Health Activities training module.</a:t>
            </a:r>
          </a:p>
          <a:p xmlns:a="http://schemas.openxmlformats.org/drawingml/2006/main">
            <a:r>
              <a:t>Close by connecting the lesson to next actions and resources.</a:t>
            </a:r>
          </a:p>
          <a:p xmlns:a="http://schemas.openxmlformats.org/drawingml/2006/main">
            <a:r>
              <a:t>Connect the discussion back to the playbook: this topic supports Plays 2, 3, 4, 7, 11, 12, 13 and Tools 3, 7, 13, 14, 19, 20, 22, 37, 39, 42.</a:t>
            </a:r>
          </a:p>
          <a:p xmlns:a="http://schemas.openxmlformats.org/drawingml/2006/main">
            <a:r>
              <a:t>Point participants back to the playbook and toolkit resources page for additional references.</a:t>
            </a:r>
          </a:p>
          <a:p xmlns:a="http://schemas.openxmlformats.org/drawingml/2006/main">
            <a:r>
              <a:t>End by asking each participant or team to name one follow-up action they will take after the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439113e8cc34ae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dd5fcd619e543e6" /><Relationship Type="http://schemas.openxmlformats.org/officeDocument/2006/relationships/slideLayout" Target="/ppt/slideLayouts/slideLayout1.xml" Id="Re3f1405a084f478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3f1405a084f478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a6d089ca5cf457c" /><Relationship Type="http://schemas.openxmlformats.org/officeDocument/2006/relationships/image" Target="/ppt/media/image.png" Id="Rbce28d3436784a47" /><Relationship Type="http://schemas.openxmlformats.org/officeDocument/2006/relationships/notesSlide" Target="/ppt/notesSlides/notesSlide1.xml" Id="R3d0dbb11a9ae4fd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c286951798647af" /><Relationship Type="http://schemas.openxmlformats.org/officeDocument/2006/relationships/notesSlide" Target="/ppt/notesSlides/notesSlide2.xml" Id="R88e63049b7db426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e10806718f245fe" /><Relationship Type="http://schemas.openxmlformats.org/officeDocument/2006/relationships/notesSlide" Target="/ppt/notesSlides/notesSlide3.xml" Id="Rb4e066d3cb414fc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e40e00cf27e4eeb" /><Relationship Type="http://schemas.openxmlformats.org/officeDocument/2006/relationships/notesSlide" Target="/ppt/notesSlides/notesSlide4.xml" Id="Ra00a3dcde6ce439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b4911ee44054469" /><Relationship Type="http://schemas.openxmlformats.org/officeDocument/2006/relationships/notesSlide" Target="/ppt/notesSlides/notesSlide5.xml" Id="R7386df0d6d81493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8d58c8d595f40db" /><Relationship Type="http://schemas.openxmlformats.org/officeDocument/2006/relationships/notesSlide" Target="/ppt/notesSlides/notesSlide6.xml" Id="Rd313ee79c0684c9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f0fd92d4d804303" /><Relationship Type="http://schemas.openxmlformats.org/officeDocument/2006/relationships/notesSlide" Target="/ppt/notesSlides/notesSlide7.xml" Id="Ra83088ed5e8b4fa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ad3cf3bd8ca402c" /><Relationship Type="http://schemas.openxmlformats.org/officeDocument/2006/relationships/notesSlide" Target="/ppt/notesSlides/notesSlide8.xml" Id="Rb5571f282bd54d79" /></Relationships>
</file>

<file path=ppt/slides/slide1.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ce28d3436784a47"/>
          <a:stretch xmlns:a="http://schemas.openxmlformats.org/drawingml/2006/main"/>
        </p:blipFill>
        <p:spPr>
          <a:xfrm xmlns:a="http://schemas.openxmlformats.org/drawingml/2006/main">
            <a:off x="5316097" y="514350"/>
            <a:ext cx="1559806" cy="1524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D64BD1B-A4DB-45AB-9DCF-DE008FFC73E9}"/>
              </a:ext>
            </a:extLst>
          </p:cNvPr>
          <p:cNvSpPr>
            <a:spLocks xmlns:a="http://schemas.openxmlformats.org/drawingml/2006/main" noGrp="1"/>
          </p:cNvSpPr>
          <p:nvPr/>
        </p:nvSpPr>
        <p:spPr>
          <a:xfrm xmlns:a="http://schemas.openxmlformats.org/drawingml/2006/main">
            <a:off x="4953000" y="23050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287320"/>
                </a:solidFill>
              </a:defRPr>
            </a:pPr>
            <a:r>
              <a:rPr sz="1800" b="1">
                <a:solidFill>
                  <a:srgbClr val="287320"/>
                </a:solidFill>
              </a:rPr>
              <a:t>Lesson 20</a:t>
            </a:r>
          </a:p>
        </p:txBody>
      </p:sp>
      <p:sp>
        <p:nvSpPr>
          <p:cNvPr id="3" name="">
            <a:extLst xmlns:a="http://schemas.openxmlformats.org/drawingml/2006/main">
              <a:ext uri="{FF2B5EF4-FFF2-40B4-BE49-F238E27FC236}">
                <a16:creationId xmlns:a16="http://schemas.microsoft.com/office/drawing/2014/main" id="{9535CF94-90AB-4362-ACEF-9BA9ADBD45FB}"/>
              </a:ext>
            </a:extLst>
          </p:cNvPr>
          <p:cNvSpPr>
            <a:spLocks xmlns:a="http://schemas.openxmlformats.org/drawingml/2006/main" noGrp="1"/>
          </p:cNvSpPr>
          <p:nvPr/>
        </p:nvSpPr>
        <p:spPr>
          <a:xfrm xmlns:a="http://schemas.openxmlformats.org/drawingml/2006/main">
            <a:off x="1333500" y="2781300"/>
            <a:ext cx="952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300" b="1">
                <a:solidFill>
                  <a:srgbClr val="003B70"/>
                </a:solidFill>
              </a:defRPr>
            </a:pPr>
            <a:r>
              <a:rPr sz="3300" b="1">
                <a:solidFill>
                  <a:srgbClr val="003B70"/>
                </a:solidFill>
              </a:rPr>
              <a:t>Areas Where AI Can Support Public Health Activities</a:t>
            </a:r>
          </a:p>
        </p:txBody>
      </p:sp>
      <p:sp>
        <p:nvSpPr>
          <p:cNvPr id="4" name="">
            <a:extLst xmlns:a="http://schemas.openxmlformats.org/drawingml/2006/main">
              <a:ext uri="{FF2B5EF4-FFF2-40B4-BE49-F238E27FC236}">
                <a16:creationId xmlns:a16="http://schemas.microsoft.com/office/drawing/2014/main" id="{8BAB113D-9621-4A98-AE30-9C3442C28D78}"/>
              </a:ext>
            </a:extLst>
          </p:cNvPr>
          <p:cNvSpPr>
            <a:spLocks xmlns:a="http://schemas.openxmlformats.org/drawingml/2006/main" noGrp="1"/>
          </p:cNvSpPr>
          <p:nvPr/>
        </p:nvSpPr>
        <p:spPr>
          <a:xfrm xmlns:a="http://schemas.openxmlformats.org/drawingml/2006/main">
            <a:off x="3714750" y="38576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005DAA"/>
                </a:solidFill>
              </a:defRPr>
            </a:pPr>
            <a:r>
              <a:rPr sz="2025" b="1">
                <a:solidFill>
                  <a:srgbClr val="005DAA"/>
                </a:solidFill>
              </a:rPr>
              <a:t>Staff Training Module</a:t>
            </a:r>
          </a:p>
        </p:txBody>
      </p:sp>
      <p:sp>
        <p:nvSpPr>
          <p:cNvPr id="5" name="">
            <a:extLst xmlns:a="http://schemas.openxmlformats.org/drawingml/2006/main">
              <a:ext uri="{FF2B5EF4-FFF2-40B4-BE49-F238E27FC236}">
                <a16:creationId xmlns:a16="http://schemas.microsoft.com/office/drawing/2014/main" id="{519D0E94-6BD5-454F-ADA5-A22FE304A0E5}"/>
              </a:ext>
            </a:extLst>
          </p:cNvPr>
          <p:cNvSpPr>
            <a:spLocks xmlns:a="http://schemas.openxmlformats.org/drawingml/2006/main" noGrp="1"/>
          </p:cNvSpPr>
          <p:nvPr/>
        </p:nvSpPr>
        <p:spPr>
          <a:xfrm xmlns:a="http://schemas.openxmlformats.org/drawingml/2006/main">
            <a:off x="3429000" y="4495800"/>
            <a:ext cx="5334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665BFE75-799F-40AD-AFA0-381619EECB32}"/>
              </a:ext>
            </a:extLst>
          </p:cNvPr>
          <p:cNvSpPr>
            <a:spLocks xmlns:a="http://schemas.openxmlformats.org/drawingml/2006/main" noGrp="1"/>
          </p:cNvSpPr>
          <p:nvPr/>
        </p:nvSpPr>
        <p:spPr>
          <a:xfrm xmlns:a="http://schemas.openxmlformats.org/drawingml/2006/main">
            <a:off x="2286000" y="49053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287320"/>
                </a:solidFill>
              </a:defRPr>
            </a:pPr>
            <a:r>
              <a:rPr sz="1500" b="1">
                <a:solidFill>
                  <a:srgbClr val="287320"/>
                </a:solidFill>
              </a:rPr>
              <a:t>AI Playbook and Toolkit for Public Health Departments</a:t>
            </a:r>
          </a:p>
        </p:txBody>
      </p:sp>
    </p:spTree>
    <p:extLst>
      <p:ext uri="{BB962C8B-B14F-4D97-AF65-F5344CB8AC3E}">
        <p14:creationId xmlns:p14="http://schemas.microsoft.com/office/powerpoint/2010/main" val="85564092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FE0C2D7-5337-4A08-BA99-051F9AB35CFF}"/>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7C7DCD0C-78BB-4D53-BFE1-FAC2076AB3A2}"/>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Why this topic matters</a:t>
            </a:r>
          </a:p>
        </p:txBody>
      </p:sp>
      <p:sp>
        <p:nvSpPr>
          <p:cNvPr id="3" name="">
            <a:extLst xmlns:a="http://schemas.openxmlformats.org/drawingml/2006/main">
              <a:ext uri="{FF2B5EF4-FFF2-40B4-BE49-F238E27FC236}">
                <a16:creationId xmlns:a16="http://schemas.microsoft.com/office/drawing/2014/main" id="{42F7A095-D9BC-4312-9198-81481E4ECBF8}"/>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D8E91360-2A42-4A48-BB75-EE6B52431AC4}"/>
              </a:ext>
            </a:extLst>
          </p:cNvPr>
          <p:cNvSpPr>
            <a:spLocks xmlns:a="http://schemas.openxmlformats.org/drawingml/2006/main" noGrp="1"/>
          </p:cNvSpPr>
          <p:nvPr/>
        </p:nvSpPr>
        <p:spPr>
          <a:xfrm xmlns:a="http://schemas.openxmlformats.org/drawingml/2006/main">
            <a:off x="685800" y="171450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Expanded examples showing how AI can support specific public health activities, what safeguards are needed, and which plays and tools help agencies move from idea to responsible implementation.</a:t>
            </a:r>
          </a:p>
        </p:txBody>
      </p:sp>
      <p:sp>
        <p:nvSpPr>
          <p:cNvPr id="5" name="">
            <a:extLst xmlns:a="http://schemas.openxmlformats.org/drawingml/2006/main">
              <a:ext uri="{FF2B5EF4-FFF2-40B4-BE49-F238E27FC236}">
                <a16:creationId xmlns:a16="http://schemas.microsoft.com/office/drawing/2014/main" id="{34BE2834-5D8C-4E2A-9F21-6233E0217045}"/>
              </a:ext>
            </a:extLst>
          </p:cNvPr>
          <p:cNvSpPr>
            <a:spLocks xmlns:a="http://schemas.openxmlformats.org/drawingml/2006/main" noGrp="1"/>
          </p:cNvSpPr>
          <p:nvPr/>
        </p:nvSpPr>
        <p:spPr>
          <a:xfrm xmlns:a="http://schemas.openxmlformats.org/drawingml/2006/main">
            <a:off x="685800"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F6FDC382-7BAB-4D21-8C29-B33578C4FE04}"/>
              </a:ext>
            </a:extLst>
          </p:cNvPr>
          <p:cNvSpPr>
            <a:spLocks xmlns:a="http://schemas.openxmlformats.org/drawingml/2006/main" noGrp="1"/>
          </p:cNvSpPr>
          <p:nvPr/>
        </p:nvSpPr>
        <p:spPr>
          <a:xfrm xmlns:a="http://schemas.openxmlformats.org/drawingml/2006/main">
            <a:off x="685800" y="2905125"/>
            <a:ext cx="66675" cy="2190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4254708C-636E-4619-BDFB-8B2D32C564DD}"/>
              </a:ext>
            </a:extLst>
          </p:cNvPr>
          <p:cNvSpPr>
            <a:spLocks xmlns:a="http://schemas.openxmlformats.org/drawingml/2006/main" noGrp="1"/>
          </p:cNvSpPr>
          <p:nvPr/>
        </p:nvSpPr>
        <p:spPr>
          <a:xfrm xmlns:a="http://schemas.openxmlformats.org/drawingml/2006/main">
            <a:off x="914400"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Public health value</a:t>
            </a:r>
          </a:p>
        </p:txBody>
      </p:sp>
      <p:sp>
        <p:nvSpPr>
          <p:cNvPr id="8" name="">
            <a:extLst xmlns:a="http://schemas.openxmlformats.org/drawingml/2006/main">
              <a:ext uri="{FF2B5EF4-FFF2-40B4-BE49-F238E27FC236}">
                <a16:creationId xmlns:a16="http://schemas.microsoft.com/office/drawing/2014/main" id="{AE8D9852-628A-4841-AFD4-BA01CE72153F}"/>
              </a:ext>
            </a:extLst>
          </p:cNvPr>
          <p:cNvSpPr>
            <a:spLocks xmlns:a="http://schemas.openxmlformats.org/drawingml/2006/main" noGrp="1"/>
          </p:cNvSpPr>
          <p:nvPr/>
        </p:nvSpPr>
        <p:spPr>
          <a:xfrm xmlns:a="http://schemas.openxmlformats.org/drawingml/2006/main">
            <a:off x="914400"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Support areas help staff move from abstract AI concepts to concrete public health opportunities. They should be used to identify possible use cases, not to skip readiness, governance, stakeholder engagement, or risk review.</a:t>
            </a:r>
          </a:p>
        </p:txBody>
      </p:sp>
      <p:sp>
        <p:nvSpPr>
          <p:cNvPr id="9" name="">
            <a:extLst xmlns:a="http://schemas.openxmlformats.org/drawingml/2006/main">
              <a:ext uri="{FF2B5EF4-FFF2-40B4-BE49-F238E27FC236}">
                <a16:creationId xmlns:a16="http://schemas.microsoft.com/office/drawing/2014/main" id="{E26DB7E4-D15F-429C-A7F8-FCA1B3005322}"/>
              </a:ext>
            </a:extLst>
          </p:cNvPr>
          <p:cNvSpPr>
            <a:spLocks xmlns:a="http://schemas.openxmlformats.org/drawingml/2006/main" noGrp="1"/>
          </p:cNvSpPr>
          <p:nvPr/>
        </p:nvSpPr>
        <p:spPr>
          <a:xfrm xmlns:a="http://schemas.openxmlformats.org/drawingml/2006/main">
            <a:off x="5953125"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1B18903F-FEB7-412B-AFDE-A079DC6A97E6}"/>
              </a:ext>
            </a:extLst>
          </p:cNvPr>
          <p:cNvSpPr>
            <a:spLocks xmlns:a="http://schemas.openxmlformats.org/drawingml/2006/main" noGrp="1"/>
          </p:cNvSpPr>
          <p:nvPr/>
        </p:nvSpPr>
        <p:spPr>
          <a:xfrm xmlns:a="http://schemas.openxmlformats.org/drawingml/2006/main">
            <a:off x="5953125" y="2905125"/>
            <a:ext cx="66675" cy="2190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8FB0DA0B-5EF2-441A-95BA-31A20EF3F89A}"/>
              </a:ext>
            </a:extLst>
          </p:cNvPr>
          <p:cNvSpPr>
            <a:spLocks xmlns:a="http://schemas.openxmlformats.org/drawingml/2006/main" noGrp="1"/>
          </p:cNvSpPr>
          <p:nvPr/>
        </p:nvSpPr>
        <p:spPr>
          <a:xfrm xmlns:a="http://schemas.openxmlformats.org/drawingml/2006/main">
            <a:off x="6181725"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Guardrail</a:t>
            </a:r>
          </a:p>
        </p:txBody>
      </p:sp>
      <p:sp>
        <p:nvSpPr>
          <p:cNvPr id="12" name="">
            <a:extLst xmlns:a="http://schemas.openxmlformats.org/drawingml/2006/main">
              <a:ext uri="{FF2B5EF4-FFF2-40B4-BE49-F238E27FC236}">
                <a16:creationId xmlns:a16="http://schemas.microsoft.com/office/drawing/2014/main" id="{6F3BE199-B21A-4C42-8AD5-498AD81237E2}"/>
              </a:ext>
            </a:extLst>
          </p:cNvPr>
          <p:cNvSpPr>
            <a:spLocks xmlns:a="http://schemas.openxmlformats.org/drawingml/2006/main" noGrp="1"/>
          </p:cNvSpPr>
          <p:nvPr/>
        </p:nvSpPr>
        <p:spPr>
          <a:xfrm xmlns:a="http://schemas.openxmlformats.org/drawingml/2006/main">
            <a:off x="6181725"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These examples are planning prompts, not automatic recommendations to adopt AI without readiness assessment, governance review, stakeholder engagement, and monitoring.</a:t>
            </a:r>
          </a:p>
        </p:txBody>
      </p:sp>
      <p:sp>
        <p:nvSpPr>
          <p:cNvPr id="13" name="">
            <a:extLst xmlns:a="http://schemas.openxmlformats.org/drawingml/2006/main">
              <a:ext uri="{FF2B5EF4-FFF2-40B4-BE49-F238E27FC236}">
                <a16:creationId xmlns:a16="http://schemas.microsoft.com/office/drawing/2014/main" id="{B359B1A4-73AA-45FA-B2BE-1F6FC366FD15}"/>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Areas Where AI Can Support Public Health Activities</a:t>
            </a:r>
          </a:p>
        </p:txBody>
      </p:sp>
      <p:sp>
        <p:nvSpPr>
          <p:cNvPr id="14" name="">
            <a:extLst xmlns:a="http://schemas.openxmlformats.org/drawingml/2006/main">
              <a:ext uri="{FF2B5EF4-FFF2-40B4-BE49-F238E27FC236}">
                <a16:creationId xmlns:a16="http://schemas.microsoft.com/office/drawing/2014/main" id="{A34B26CF-59D1-4FB0-A44F-F5EDE02E6148}"/>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02</a:t>
            </a:r>
          </a:p>
        </p:txBody>
      </p:sp>
    </p:spTree>
    <p:extLst>
      <p:ext uri="{BB962C8B-B14F-4D97-AF65-F5344CB8AC3E}">
        <p14:creationId xmlns:p14="http://schemas.microsoft.com/office/powerpoint/2010/main" val="53661519"/>
      </p:ext>
    </p:extLst>
  </p:cSld>
</p:sld>
</file>

<file path=ppt/slides/slide3.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E6121C1-4A9F-48F0-AF75-F3377F526D1C}"/>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C75A1F65-4144-4CEC-B1A9-CBE3D94A937B}"/>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Learning objectives</a:t>
            </a:r>
          </a:p>
        </p:txBody>
      </p:sp>
      <p:sp>
        <p:nvSpPr>
          <p:cNvPr id="3" name="">
            <a:extLst xmlns:a="http://schemas.openxmlformats.org/drawingml/2006/main">
              <a:ext uri="{FF2B5EF4-FFF2-40B4-BE49-F238E27FC236}">
                <a16:creationId xmlns:a16="http://schemas.microsoft.com/office/drawing/2014/main" id="{A737BAFD-0BF0-43F6-97A6-F70DDBE15697}"/>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FD4E156C-612F-466A-A1D5-EF2ACB9A688D}"/>
              </a:ext>
            </a:extLst>
          </p:cNvPr>
          <p:cNvSpPr>
            <a:spLocks xmlns:a="http://schemas.openxmlformats.org/drawingml/2006/main" noGrp="1"/>
          </p:cNvSpPr>
          <p:nvPr/>
        </p:nvSpPr>
        <p:spPr>
          <a:xfrm xmlns:a="http://schemas.openxmlformats.org/drawingml/2006/main">
            <a:off x="685800" y="165735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2324A"/>
                </a:solidFill>
              </a:defRPr>
            </a:pPr>
            <a:r>
              <a:rPr sz="1875" b="1">
                <a:solidFill>
                  <a:srgbClr val="12324A"/>
                </a:solidFill>
              </a:rPr>
              <a:t>By the end of this lesson, staff should be able to:</a:t>
            </a:r>
          </a:p>
        </p:txBody>
      </p:sp>
      <p:sp>
        <p:nvSpPr>
          <p:cNvPr id="5" name="">
            <a:extLst xmlns:a="http://schemas.openxmlformats.org/drawingml/2006/main">
              <a:ext uri="{FF2B5EF4-FFF2-40B4-BE49-F238E27FC236}">
                <a16:creationId xmlns:a16="http://schemas.microsoft.com/office/drawing/2014/main" id="{04A6D0EB-B7A2-4088-B546-06AE946F86E3}"/>
              </a:ext>
            </a:extLst>
          </p:cNvPr>
          <p:cNvSpPr>
            <a:spLocks xmlns:a="http://schemas.openxmlformats.org/drawingml/2006/main" noGrp="1"/>
          </p:cNvSpPr>
          <p:nvPr/>
        </p:nvSpPr>
        <p:spPr>
          <a:xfrm xmlns:a="http://schemas.openxmlformats.org/drawingml/2006/main">
            <a:off x="1047750" y="2286000"/>
            <a:ext cx="942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24394A"/>
                </a:solidFill>
              </a:defRPr>
            </a:pPr>
            <a:r>
              <a:rPr sz="1725" b="0">
                <a:solidFill>
                  <a:srgbClr val="24394A"/>
                </a:solidFill>
              </a:rPr>
              <a:t>• Explain Areas Where AI Can Support Public Health Activities in plain language.</a:t>
            </a:r>
          </a:p>
          <a:p xmlns:a="http://schemas.openxmlformats.org/drawingml/2006/main">
            <a:pPr algn="l">
              <a:defRPr sz="1725" b="0">
                <a:solidFill>
                  <a:srgbClr val="24394A"/>
                </a:solidFill>
              </a:defRPr>
            </a:pPr>
            <a:r>
              <a:rPr sz="1725" b="0">
                <a:solidFill>
                  <a:srgbClr val="24394A"/>
                </a:solidFill>
              </a:rPr>
              <a:t>• Identify appropriate public health uses and limits.</a:t>
            </a:r>
          </a:p>
          <a:p xmlns:a="http://schemas.openxmlformats.org/drawingml/2006/main">
            <a:pPr algn="l">
              <a:defRPr sz="1725" b="0">
                <a:solidFill>
                  <a:srgbClr val="24394A"/>
                </a:solidFill>
              </a:defRPr>
            </a:pPr>
            <a:r>
              <a:rPr sz="1725" b="0">
                <a:solidFill>
                  <a:srgbClr val="24394A"/>
                </a:solidFill>
              </a:rPr>
              <a:t>• Describe human review, governance, equity, privacy, and monitoring expectations.</a:t>
            </a:r>
          </a:p>
          <a:p xmlns:a="http://schemas.openxmlformats.org/drawingml/2006/main">
            <a:pPr algn="l">
              <a:defRPr sz="1725" b="0">
                <a:solidFill>
                  <a:srgbClr val="24394A"/>
                </a:solidFill>
              </a:defRPr>
            </a:pPr>
            <a:r>
              <a:rPr sz="1725" b="0">
                <a:solidFill>
                  <a:srgbClr val="24394A"/>
                </a:solidFill>
              </a:rPr>
              <a:t>• Connect the topic to the related plays and tools.</a:t>
            </a:r>
          </a:p>
        </p:txBody>
      </p:sp>
      <p:sp>
        <p:nvSpPr>
          <p:cNvPr id="6" name="">
            <a:extLst xmlns:a="http://schemas.openxmlformats.org/drawingml/2006/main">
              <a:ext uri="{FF2B5EF4-FFF2-40B4-BE49-F238E27FC236}">
                <a16:creationId xmlns:a16="http://schemas.microsoft.com/office/drawing/2014/main" id="{1E6D5252-789B-4D5A-A854-D032EDA01C91}"/>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Areas Where AI Can Support Public Health Activities</a:t>
            </a:r>
          </a:p>
        </p:txBody>
      </p:sp>
      <p:sp>
        <p:nvSpPr>
          <p:cNvPr id="7" name="">
            <a:extLst xmlns:a="http://schemas.openxmlformats.org/drawingml/2006/main">
              <a:ext uri="{FF2B5EF4-FFF2-40B4-BE49-F238E27FC236}">
                <a16:creationId xmlns:a16="http://schemas.microsoft.com/office/drawing/2014/main" id="{713EB0F6-7418-44D6-A1A8-11E847B4BE98}"/>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03</a:t>
            </a:r>
          </a:p>
        </p:txBody>
      </p:sp>
    </p:spTree>
    <p:extLst>
      <p:ext uri="{BB962C8B-B14F-4D97-AF65-F5344CB8AC3E}">
        <p14:creationId xmlns:p14="http://schemas.microsoft.com/office/powerpoint/2010/main" val="47168469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1BD5B54-92F9-469F-8956-4D92527E3664}"/>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B886A8B2-0F18-471B-9E48-F6D86B91B0D1}"/>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Module overview</a:t>
            </a:r>
          </a:p>
        </p:txBody>
      </p:sp>
      <p:sp>
        <p:nvSpPr>
          <p:cNvPr id="3" name="">
            <a:extLst xmlns:a="http://schemas.openxmlformats.org/drawingml/2006/main">
              <a:ext uri="{FF2B5EF4-FFF2-40B4-BE49-F238E27FC236}">
                <a16:creationId xmlns:a16="http://schemas.microsoft.com/office/drawing/2014/main" id="{48565CB6-2BEB-4BC9-8475-CCDF6B92F3E4}"/>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AE262E7E-2344-45CE-A3BF-E56256CCB058}"/>
              </a:ext>
            </a:extLst>
          </p:cNvPr>
          <p:cNvSpPr>
            <a:spLocks xmlns:a="http://schemas.openxmlformats.org/drawingml/2006/main" noGrp="1"/>
          </p:cNvSpPr>
          <p:nvPr/>
        </p:nvSpPr>
        <p:spPr>
          <a:xfrm xmlns:a="http://schemas.openxmlformats.org/drawingml/2006/main">
            <a:off x="685800" y="1695450"/>
            <a:ext cx="1019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4394A"/>
                </a:solidFill>
              </a:defRPr>
            </a:pPr>
            <a:r>
              <a:rPr sz="1800" b="0">
                <a:solidFill>
                  <a:srgbClr val="24394A"/>
                </a:solidFill>
              </a:rPr>
              <a:t>Expanded examples showing how AI can support specific public health activities, what safeguards are needed, and which plays and tools help agencies move from idea to responsible implementation.</a:t>
            </a:r>
          </a:p>
        </p:txBody>
      </p:sp>
      <p:sp>
        <p:nvSpPr>
          <p:cNvPr id="5" name="">
            <a:extLst xmlns:a="http://schemas.openxmlformats.org/drawingml/2006/main">
              <a:ext uri="{FF2B5EF4-FFF2-40B4-BE49-F238E27FC236}">
                <a16:creationId xmlns:a16="http://schemas.microsoft.com/office/drawing/2014/main" id="{64491B1F-C3C8-43FE-A5F3-290BED5850A2}"/>
              </a:ext>
            </a:extLst>
          </p:cNvPr>
          <p:cNvSpPr>
            <a:spLocks xmlns:a="http://schemas.openxmlformats.org/drawingml/2006/main" noGrp="1"/>
          </p:cNvSpPr>
          <p:nvPr/>
        </p:nvSpPr>
        <p:spPr>
          <a:xfrm xmlns:a="http://schemas.openxmlformats.org/drawingml/2006/main">
            <a:off x="685800" y="3524250"/>
            <a:ext cx="9953625"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4AA0577C-FFB6-44B4-B6B0-F4176A4C8803}"/>
              </a:ext>
            </a:extLst>
          </p:cNvPr>
          <p:cNvSpPr>
            <a:spLocks xmlns:a="http://schemas.openxmlformats.org/drawingml/2006/main" noGrp="1"/>
          </p:cNvSpPr>
          <p:nvPr/>
        </p:nvSpPr>
        <p:spPr>
          <a:xfrm xmlns:a="http://schemas.openxmlformats.org/drawingml/2006/main">
            <a:off x="685800" y="3524250"/>
            <a:ext cx="66675" cy="138112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70791B03-F89C-408F-8678-813D070C8AD0}"/>
              </a:ext>
            </a:extLst>
          </p:cNvPr>
          <p:cNvSpPr>
            <a:spLocks xmlns:a="http://schemas.openxmlformats.org/drawingml/2006/main" noGrp="1"/>
          </p:cNvSpPr>
          <p:nvPr/>
        </p:nvSpPr>
        <p:spPr>
          <a:xfrm xmlns:a="http://schemas.openxmlformats.org/drawingml/2006/main">
            <a:off x="914400" y="3714750"/>
            <a:ext cx="9496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Working definition</a:t>
            </a:r>
          </a:p>
        </p:txBody>
      </p:sp>
      <p:sp>
        <p:nvSpPr>
          <p:cNvPr id="8" name="">
            <a:extLst xmlns:a="http://schemas.openxmlformats.org/drawingml/2006/main">
              <a:ext uri="{FF2B5EF4-FFF2-40B4-BE49-F238E27FC236}">
                <a16:creationId xmlns:a16="http://schemas.microsoft.com/office/drawing/2014/main" id="{3F16798F-F414-4A1D-ADFE-6D1F121AB973}"/>
              </a:ext>
            </a:extLst>
          </p:cNvPr>
          <p:cNvSpPr>
            <a:spLocks xmlns:a="http://schemas.openxmlformats.org/drawingml/2006/main" noGrp="1"/>
          </p:cNvSpPr>
          <p:nvPr/>
        </p:nvSpPr>
        <p:spPr>
          <a:xfrm xmlns:a="http://schemas.openxmlformats.org/drawingml/2006/main">
            <a:off x="914400" y="4171950"/>
            <a:ext cx="94964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Expanded examples showing how AI can support specific public health activities, what safeguards are needed, and which plays and tools help agencies move from idea to responsible implementation.</a:t>
            </a:r>
          </a:p>
        </p:txBody>
      </p:sp>
      <p:sp>
        <p:nvSpPr>
          <p:cNvPr id="9" name="">
            <a:extLst xmlns:a="http://schemas.openxmlformats.org/drawingml/2006/main">
              <a:ext uri="{FF2B5EF4-FFF2-40B4-BE49-F238E27FC236}">
                <a16:creationId xmlns:a16="http://schemas.microsoft.com/office/drawing/2014/main" id="{A88D5456-B2B6-4906-84D5-CC578CE044A0}"/>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Areas Where AI Can Support Public Health Activities</a:t>
            </a:r>
          </a:p>
        </p:txBody>
      </p:sp>
      <p:sp>
        <p:nvSpPr>
          <p:cNvPr id="10" name="">
            <a:extLst xmlns:a="http://schemas.openxmlformats.org/drawingml/2006/main">
              <a:ext uri="{FF2B5EF4-FFF2-40B4-BE49-F238E27FC236}">
                <a16:creationId xmlns:a16="http://schemas.microsoft.com/office/drawing/2014/main" id="{03E93F3F-10A0-4811-9840-2138DBA61564}"/>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04</a:t>
            </a:r>
          </a:p>
        </p:txBody>
      </p:sp>
    </p:spTree>
    <p:extLst>
      <p:ext uri="{BB962C8B-B14F-4D97-AF65-F5344CB8AC3E}">
        <p14:creationId xmlns:p14="http://schemas.microsoft.com/office/powerpoint/2010/main" val="956815691"/>
      </p:ext>
    </p:extLst>
  </p:cSld>
</p:sld>
</file>

<file path=ppt/slides/slide5.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B83422A-1FE7-4682-A77E-F3548D52F3F1}"/>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F944D0BA-F319-458B-B87E-661AA482A130}"/>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What this means in practice</a:t>
            </a:r>
          </a:p>
        </p:txBody>
      </p:sp>
      <p:sp>
        <p:nvSpPr>
          <p:cNvPr id="3" name="">
            <a:extLst xmlns:a="http://schemas.openxmlformats.org/drawingml/2006/main">
              <a:ext uri="{FF2B5EF4-FFF2-40B4-BE49-F238E27FC236}">
                <a16:creationId xmlns:a16="http://schemas.microsoft.com/office/drawing/2014/main" id="{3662841E-D29C-4876-9A5D-2522942F67F9}"/>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7974457C-3F3F-4739-BB2A-2F2E021BC04D}"/>
              </a:ext>
            </a:extLst>
          </p:cNvPr>
          <p:cNvSpPr>
            <a:spLocks xmlns:a="http://schemas.openxmlformats.org/drawingml/2006/main" noGrp="1"/>
          </p:cNvSpPr>
          <p:nvPr/>
        </p:nvSpPr>
        <p:spPr>
          <a:xfrm xmlns:a="http://schemas.openxmlformats.org/drawingml/2006/main">
            <a:off x="952500" y="1952625"/>
            <a:ext cx="990600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4394A"/>
                </a:solidFill>
              </a:defRPr>
            </a:pPr>
            <a:r>
              <a:rPr sz="1800" b="0">
                <a:solidFill>
                  <a:srgbClr val="24394A"/>
                </a:solidFill>
              </a:rPr>
              <a:t>• Expanded examples showing how AI can support specific public health activities, what safeguards are needed, and which plays and tools help agencies move from idea to.</a:t>
            </a:r>
          </a:p>
        </p:txBody>
      </p:sp>
      <p:sp>
        <p:nvSpPr>
          <p:cNvPr id="5" name="">
            <a:extLst xmlns:a="http://schemas.openxmlformats.org/drawingml/2006/main">
              <a:ext uri="{FF2B5EF4-FFF2-40B4-BE49-F238E27FC236}">
                <a16:creationId xmlns:a16="http://schemas.microsoft.com/office/drawing/2014/main" id="{0FAC5B27-352E-4989-8DC3-0068FA136977}"/>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Areas Where AI Can Support Public Health Activities</a:t>
            </a:r>
          </a:p>
        </p:txBody>
      </p:sp>
      <p:sp>
        <p:nvSpPr>
          <p:cNvPr id="6" name="">
            <a:extLst xmlns:a="http://schemas.openxmlformats.org/drawingml/2006/main">
              <a:ext uri="{FF2B5EF4-FFF2-40B4-BE49-F238E27FC236}">
                <a16:creationId xmlns:a16="http://schemas.microsoft.com/office/drawing/2014/main" id="{2F70C673-8984-45FE-9057-2D0AA6869274}"/>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05</a:t>
            </a:r>
          </a:p>
        </p:txBody>
      </p:sp>
    </p:spTree>
    <p:extLst>
      <p:ext uri="{BB962C8B-B14F-4D97-AF65-F5344CB8AC3E}">
        <p14:creationId xmlns:p14="http://schemas.microsoft.com/office/powerpoint/2010/main" val="146045513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EA122A2-1427-4167-BD6D-D43F106EDF62}"/>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E19F49AC-361D-4170-9A08-E36F49766C01}"/>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Public health application</a:t>
            </a:r>
          </a:p>
        </p:txBody>
      </p:sp>
      <p:sp>
        <p:nvSpPr>
          <p:cNvPr id="3" name="">
            <a:extLst xmlns:a="http://schemas.openxmlformats.org/drawingml/2006/main">
              <a:ext uri="{FF2B5EF4-FFF2-40B4-BE49-F238E27FC236}">
                <a16:creationId xmlns:a16="http://schemas.microsoft.com/office/drawing/2014/main" id="{FF3F9229-BA3A-4FE9-9F01-9A6974017CE1}"/>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BE6DF465-9934-4D97-9FDC-92913E4AA8EA}"/>
              </a:ext>
            </a:extLst>
          </p:cNvPr>
          <p:cNvSpPr>
            <a:spLocks xmlns:a="http://schemas.openxmlformats.org/drawingml/2006/main" noGrp="1"/>
          </p:cNvSpPr>
          <p:nvPr/>
        </p:nvSpPr>
        <p:spPr>
          <a:xfrm xmlns:a="http://schemas.openxmlformats.org/drawingml/2006/main">
            <a:off x="685800" y="17145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Use the topic to examine real workflows, not abstract technology.</a:t>
            </a:r>
          </a:p>
        </p:txBody>
      </p:sp>
      <p:sp>
        <p:nvSpPr>
          <p:cNvPr id="5" name="">
            <a:extLst xmlns:a="http://schemas.openxmlformats.org/drawingml/2006/main">
              <a:ext uri="{FF2B5EF4-FFF2-40B4-BE49-F238E27FC236}">
                <a16:creationId xmlns:a16="http://schemas.microsoft.com/office/drawing/2014/main" id="{711FE8F4-4907-474F-9123-694568B3D315}"/>
              </a:ext>
            </a:extLst>
          </p:cNvPr>
          <p:cNvSpPr>
            <a:spLocks xmlns:a="http://schemas.openxmlformats.org/drawingml/2006/main" noGrp="1"/>
          </p:cNvSpPr>
          <p:nvPr/>
        </p:nvSpPr>
        <p:spPr>
          <a:xfrm xmlns:a="http://schemas.openxmlformats.org/drawingml/2006/main">
            <a:off x="68580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41784C1F-8B74-46EA-8703-6184B11D20CF}"/>
              </a:ext>
            </a:extLst>
          </p:cNvPr>
          <p:cNvSpPr>
            <a:spLocks xmlns:a="http://schemas.openxmlformats.org/drawingml/2006/main" noGrp="1"/>
          </p:cNvSpPr>
          <p:nvPr/>
        </p:nvSpPr>
        <p:spPr>
          <a:xfrm xmlns:a="http://schemas.openxmlformats.org/drawingml/2006/main">
            <a:off x="68580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4757D2EE-56E5-41BF-AE37-B3A28750D9E8}"/>
              </a:ext>
            </a:extLst>
          </p:cNvPr>
          <p:cNvSpPr>
            <a:spLocks xmlns:a="http://schemas.openxmlformats.org/drawingml/2006/main" noGrp="1"/>
          </p:cNvSpPr>
          <p:nvPr/>
        </p:nvSpPr>
        <p:spPr>
          <a:xfrm xmlns:a="http://schemas.openxmlformats.org/drawingml/2006/main">
            <a:off x="91440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Surveillance and outbreak intelligence</a:t>
            </a:r>
          </a:p>
        </p:txBody>
      </p:sp>
      <p:sp>
        <p:nvSpPr>
          <p:cNvPr id="8" name="">
            <a:extLst xmlns:a="http://schemas.openxmlformats.org/drawingml/2006/main">
              <a:ext uri="{FF2B5EF4-FFF2-40B4-BE49-F238E27FC236}">
                <a16:creationId xmlns:a16="http://schemas.microsoft.com/office/drawing/2014/main" id="{F0955567-23C8-414D-997C-5C944A4063BD}"/>
              </a:ext>
            </a:extLst>
          </p:cNvPr>
          <p:cNvSpPr>
            <a:spLocks xmlns:a="http://schemas.openxmlformats.org/drawingml/2006/main" noGrp="1"/>
          </p:cNvSpPr>
          <p:nvPr/>
        </p:nvSpPr>
        <p:spPr>
          <a:xfrm xmlns:a="http://schemas.openxmlformats.org/drawingml/2006/main">
            <a:off x="91440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9" name="">
            <a:extLst xmlns:a="http://schemas.openxmlformats.org/drawingml/2006/main">
              <a:ext uri="{FF2B5EF4-FFF2-40B4-BE49-F238E27FC236}">
                <a16:creationId xmlns:a16="http://schemas.microsoft.com/office/drawing/2014/main" id="{F28C41BE-FB41-4DF9-A207-F2DB881C8C16}"/>
              </a:ext>
            </a:extLst>
          </p:cNvPr>
          <p:cNvSpPr>
            <a:spLocks xmlns:a="http://schemas.openxmlformats.org/drawingml/2006/main" noGrp="1"/>
          </p:cNvSpPr>
          <p:nvPr/>
        </p:nvSpPr>
        <p:spPr>
          <a:xfrm xmlns:a="http://schemas.openxmlformats.org/drawingml/2006/main">
            <a:off x="4257675"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2BAF3320-55B9-4481-887B-699927EC57EB}"/>
              </a:ext>
            </a:extLst>
          </p:cNvPr>
          <p:cNvSpPr>
            <a:spLocks xmlns:a="http://schemas.openxmlformats.org/drawingml/2006/main" noGrp="1"/>
          </p:cNvSpPr>
          <p:nvPr/>
        </p:nvSpPr>
        <p:spPr>
          <a:xfrm xmlns:a="http://schemas.openxmlformats.org/drawingml/2006/main">
            <a:off x="4257675" y="2571750"/>
            <a:ext cx="66675" cy="22383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10C89FAD-1DF1-4011-84CC-8BE846D08CC2}"/>
              </a:ext>
            </a:extLst>
          </p:cNvPr>
          <p:cNvSpPr>
            <a:spLocks xmlns:a="http://schemas.openxmlformats.org/drawingml/2006/main" noGrp="1"/>
          </p:cNvSpPr>
          <p:nvPr/>
        </p:nvSpPr>
        <p:spPr>
          <a:xfrm xmlns:a="http://schemas.openxmlformats.org/drawingml/2006/main">
            <a:off x="4486275"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Plain-language communication</a:t>
            </a:r>
          </a:p>
        </p:txBody>
      </p:sp>
      <p:sp>
        <p:nvSpPr>
          <p:cNvPr id="12" name="">
            <a:extLst xmlns:a="http://schemas.openxmlformats.org/drawingml/2006/main">
              <a:ext uri="{FF2B5EF4-FFF2-40B4-BE49-F238E27FC236}">
                <a16:creationId xmlns:a16="http://schemas.microsoft.com/office/drawing/2014/main" id="{10CDF753-4AE8-49F0-B2D8-4F2FF11D4E83}"/>
              </a:ext>
            </a:extLst>
          </p:cNvPr>
          <p:cNvSpPr>
            <a:spLocks xmlns:a="http://schemas.openxmlformats.org/drawingml/2006/main" noGrp="1"/>
          </p:cNvSpPr>
          <p:nvPr/>
        </p:nvSpPr>
        <p:spPr>
          <a:xfrm xmlns:a="http://schemas.openxmlformats.org/drawingml/2006/main">
            <a:off x="4486275"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3" name="">
            <a:extLst xmlns:a="http://schemas.openxmlformats.org/drawingml/2006/main">
              <a:ext uri="{FF2B5EF4-FFF2-40B4-BE49-F238E27FC236}">
                <a16:creationId xmlns:a16="http://schemas.microsoft.com/office/drawing/2014/main" id="{1FF0C645-F651-446C-847E-D9971F7785C6}"/>
              </a:ext>
            </a:extLst>
          </p:cNvPr>
          <p:cNvSpPr>
            <a:spLocks xmlns:a="http://schemas.openxmlformats.org/drawingml/2006/main" noGrp="1"/>
          </p:cNvSpPr>
          <p:nvPr/>
        </p:nvSpPr>
        <p:spPr>
          <a:xfrm xmlns:a="http://schemas.openxmlformats.org/drawingml/2006/main">
            <a:off x="782955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502DFF27-578D-4DD6-AE4F-EE142CF870FD}"/>
              </a:ext>
            </a:extLst>
          </p:cNvPr>
          <p:cNvSpPr>
            <a:spLocks xmlns:a="http://schemas.openxmlformats.org/drawingml/2006/main" noGrp="1"/>
          </p:cNvSpPr>
          <p:nvPr/>
        </p:nvSpPr>
        <p:spPr>
          <a:xfrm xmlns:a="http://schemas.openxmlformats.org/drawingml/2006/main">
            <a:off x="782955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5" name="">
            <a:extLst xmlns:a="http://schemas.openxmlformats.org/drawingml/2006/main">
              <a:ext uri="{FF2B5EF4-FFF2-40B4-BE49-F238E27FC236}">
                <a16:creationId xmlns:a16="http://schemas.microsoft.com/office/drawing/2014/main" id="{C5B0FD46-1B74-47AE-AA98-19C2EDE728A0}"/>
              </a:ext>
            </a:extLst>
          </p:cNvPr>
          <p:cNvSpPr>
            <a:spLocks xmlns:a="http://schemas.openxmlformats.org/drawingml/2006/main" noGrp="1"/>
          </p:cNvSpPr>
          <p:nvPr/>
        </p:nvSpPr>
        <p:spPr>
          <a:xfrm xmlns:a="http://schemas.openxmlformats.org/drawingml/2006/main">
            <a:off x="805815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Workflow routing</a:t>
            </a:r>
          </a:p>
        </p:txBody>
      </p:sp>
      <p:sp>
        <p:nvSpPr>
          <p:cNvPr id="16" name="">
            <a:extLst xmlns:a="http://schemas.openxmlformats.org/drawingml/2006/main">
              <a:ext uri="{FF2B5EF4-FFF2-40B4-BE49-F238E27FC236}">
                <a16:creationId xmlns:a16="http://schemas.microsoft.com/office/drawing/2014/main" id="{17D4D98D-E7FF-4C40-9AD3-C8F4C0A623B9}"/>
              </a:ext>
            </a:extLst>
          </p:cNvPr>
          <p:cNvSpPr>
            <a:spLocks xmlns:a="http://schemas.openxmlformats.org/drawingml/2006/main" noGrp="1"/>
          </p:cNvSpPr>
          <p:nvPr/>
        </p:nvSpPr>
        <p:spPr>
          <a:xfrm xmlns:a="http://schemas.openxmlformats.org/drawingml/2006/main">
            <a:off x="805815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7" name="">
            <a:extLst xmlns:a="http://schemas.openxmlformats.org/drawingml/2006/main">
              <a:ext uri="{FF2B5EF4-FFF2-40B4-BE49-F238E27FC236}">
                <a16:creationId xmlns:a16="http://schemas.microsoft.com/office/drawing/2014/main" id="{4779DDF6-EB06-4EB2-AABA-02624A1B1CD4}"/>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Areas Where AI Can Support Public Health Activities</a:t>
            </a:r>
          </a:p>
        </p:txBody>
      </p:sp>
      <p:sp>
        <p:nvSpPr>
          <p:cNvPr id="18" name="">
            <a:extLst xmlns:a="http://schemas.openxmlformats.org/drawingml/2006/main">
              <a:ext uri="{FF2B5EF4-FFF2-40B4-BE49-F238E27FC236}">
                <a16:creationId xmlns:a16="http://schemas.microsoft.com/office/drawing/2014/main" id="{615AE68B-4403-4B27-84A5-3F3B1F428177}"/>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06</a:t>
            </a:r>
          </a:p>
        </p:txBody>
      </p:sp>
    </p:spTree>
    <p:extLst>
      <p:ext uri="{BB962C8B-B14F-4D97-AF65-F5344CB8AC3E}">
        <p14:creationId xmlns:p14="http://schemas.microsoft.com/office/powerpoint/2010/main" val="88140502"/>
      </p:ext>
    </p:extLst>
  </p:cSld>
</p:sld>
</file>

<file path=ppt/slides/slide7.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264EB0D-43C3-4EA0-A47F-BD649ADB8FF7}"/>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EB6FA0DA-5DB6-4B56-93B5-533642BD5824}"/>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Facilitated discussion and exercise</a:t>
            </a:r>
          </a:p>
        </p:txBody>
      </p:sp>
      <p:sp>
        <p:nvSpPr>
          <p:cNvPr id="3" name="">
            <a:extLst xmlns:a="http://schemas.openxmlformats.org/drawingml/2006/main">
              <a:ext uri="{FF2B5EF4-FFF2-40B4-BE49-F238E27FC236}">
                <a16:creationId xmlns:a16="http://schemas.microsoft.com/office/drawing/2014/main" id="{2FE9F8D8-1FC1-43FC-94EE-FB590608AEC4}"/>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C89D2B40-983F-4032-904E-67F899987C41}"/>
              </a:ext>
            </a:extLst>
          </p:cNvPr>
          <p:cNvSpPr>
            <a:spLocks xmlns:a="http://schemas.openxmlformats.org/drawingml/2006/main" noGrp="1"/>
          </p:cNvSpPr>
          <p:nvPr/>
        </p:nvSpPr>
        <p:spPr>
          <a:xfrm xmlns:a="http://schemas.openxmlformats.org/drawingml/2006/main">
            <a:off x="685800"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C9C8B26C-09ED-4B26-913C-0CB9AA0FEDED}"/>
              </a:ext>
            </a:extLst>
          </p:cNvPr>
          <p:cNvSpPr>
            <a:spLocks xmlns:a="http://schemas.openxmlformats.org/drawingml/2006/main" noGrp="1"/>
          </p:cNvSpPr>
          <p:nvPr/>
        </p:nvSpPr>
        <p:spPr>
          <a:xfrm xmlns:a="http://schemas.openxmlformats.org/drawingml/2006/main">
            <a:off x="685800" y="1809750"/>
            <a:ext cx="66675" cy="2952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D0418433-9553-4BCF-914F-569275DD213B}"/>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Discussion questions</a:t>
            </a:r>
          </a:p>
        </p:txBody>
      </p:sp>
      <p:sp>
        <p:nvSpPr>
          <p:cNvPr id="7" name="">
            <a:extLst xmlns:a="http://schemas.openxmlformats.org/drawingml/2006/main">
              <a:ext uri="{FF2B5EF4-FFF2-40B4-BE49-F238E27FC236}">
                <a16:creationId xmlns:a16="http://schemas.microsoft.com/office/drawing/2014/main" id="{E26AD4F6-AC23-432C-850C-B025D3A15ABF}"/>
              </a:ext>
            </a:extLst>
          </p:cNvPr>
          <p:cNvSpPr>
            <a:spLocks xmlns:a="http://schemas.openxmlformats.org/drawingml/2006/main" noGrp="1"/>
          </p:cNvSpPr>
          <p:nvPr/>
        </p:nvSpPr>
        <p:spPr>
          <a:xfrm xmlns:a="http://schemas.openxmlformats.org/drawingml/2006/main">
            <a:off x="914400"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Which support areas align with current public health priorities? Which areas are feasible given current data, workforce, governance, and funding? Which areas could create equity, privacy, transparency, or public trust concerns?</a:t>
            </a:r>
          </a:p>
        </p:txBody>
      </p:sp>
      <p:sp>
        <p:nvSpPr>
          <p:cNvPr id="8" name="">
            <a:extLst xmlns:a="http://schemas.openxmlformats.org/drawingml/2006/main">
              <a:ext uri="{FF2B5EF4-FFF2-40B4-BE49-F238E27FC236}">
                <a16:creationId xmlns:a16="http://schemas.microsoft.com/office/drawing/2014/main" id="{825AF1CF-988E-406B-B281-8BEAD716AF95}"/>
              </a:ext>
            </a:extLst>
          </p:cNvPr>
          <p:cNvSpPr>
            <a:spLocks xmlns:a="http://schemas.openxmlformats.org/drawingml/2006/main" noGrp="1"/>
          </p:cNvSpPr>
          <p:nvPr/>
        </p:nvSpPr>
        <p:spPr>
          <a:xfrm xmlns:a="http://schemas.openxmlformats.org/drawingml/2006/main">
            <a:off x="5953125"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12E72420-B3CB-4892-AEBD-E35F40068EF9}"/>
              </a:ext>
            </a:extLst>
          </p:cNvPr>
          <p:cNvSpPr>
            <a:spLocks xmlns:a="http://schemas.openxmlformats.org/drawingml/2006/main" noGrp="1"/>
          </p:cNvSpPr>
          <p:nvPr/>
        </p:nvSpPr>
        <p:spPr>
          <a:xfrm xmlns:a="http://schemas.openxmlformats.org/drawingml/2006/main">
            <a:off x="5953125" y="1809750"/>
            <a:ext cx="66675" cy="2952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310535AD-F52B-42FC-8DDF-EDEF07EB1A22}"/>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Training exercise</a:t>
            </a:r>
          </a:p>
        </p:txBody>
      </p:sp>
      <p:sp>
        <p:nvSpPr>
          <p:cNvPr id="11" name="">
            <a:extLst xmlns:a="http://schemas.openxmlformats.org/drawingml/2006/main">
              <a:ext uri="{FF2B5EF4-FFF2-40B4-BE49-F238E27FC236}">
                <a16:creationId xmlns:a16="http://schemas.microsoft.com/office/drawing/2014/main" id="{C56C6478-4860-4FF5-BAF8-0527F52BA409}"/>
              </a:ext>
            </a:extLst>
          </p:cNvPr>
          <p:cNvSpPr>
            <a:spLocks xmlns:a="http://schemas.openxmlformats.org/drawingml/2006/main" noGrp="1"/>
          </p:cNvSpPr>
          <p:nvPr/>
        </p:nvSpPr>
        <p:spPr>
          <a:xfrm xmlns:a="http://schemas.openxmlformats.org/drawingml/2006/main">
            <a:off x="6181725"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Select three support areas and score each for public health value, feasibility, risk, equity impact, data readiness, staff readiness, and sustainment.</a:t>
            </a:r>
          </a:p>
        </p:txBody>
      </p:sp>
      <p:sp>
        <p:nvSpPr>
          <p:cNvPr id="12" name="">
            <a:extLst xmlns:a="http://schemas.openxmlformats.org/drawingml/2006/main">
              <a:ext uri="{FF2B5EF4-FFF2-40B4-BE49-F238E27FC236}">
                <a16:creationId xmlns:a16="http://schemas.microsoft.com/office/drawing/2014/main" id="{6B7D9988-7ADA-49F3-8AFD-9E9B09BFBB15}"/>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Areas Where AI Can Support Public Health Activities</a:t>
            </a:r>
          </a:p>
        </p:txBody>
      </p:sp>
      <p:sp>
        <p:nvSpPr>
          <p:cNvPr id="13" name="">
            <a:extLst xmlns:a="http://schemas.openxmlformats.org/drawingml/2006/main">
              <a:ext uri="{FF2B5EF4-FFF2-40B4-BE49-F238E27FC236}">
                <a16:creationId xmlns:a16="http://schemas.microsoft.com/office/drawing/2014/main" id="{9504A91B-E12F-4F05-A75C-7359F2674B45}"/>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07</a:t>
            </a:r>
          </a:p>
        </p:txBody>
      </p:sp>
    </p:spTree>
    <p:extLst>
      <p:ext uri="{BB962C8B-B14F-4D97-AF65-F5344CB8AC3E}">
        <p14:creationId xmlns:p14="http://schemas.microsoft.com/office/powerpoint/2010/main" val="117712592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F55F1C8-D192-4F82-B112-C35195F13CC5}"/>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BD8E9E2E-9CC8-407D-B8E1-17E6A79A2D18}"/>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Next steps and resources</a:t>
            </a:r>
          </a:p>
        </p:txBody>
      </p:sp>
      <p:sp>
        <p:nvSpPr>
          <p:cNvPr id="3" name="">
            <a:extLst xmlns:a="http://schemas.openxmlformats.org/drawingml/2006/main">
              <a:ext uri="{FF2B5EF4-FFF2-40B4-BE49-F238E27FC236}">
                <a16:creationId xmlns:a16="http://schemas.microsoft.com/office/drawing/2014/main" id="{7A0903DF-AC3F-47C3-A06D-87C8B6558531}"/>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47CC47FD-FD67-4D86-B818-7F2487EACE94}"/>
              </a:ext>
            </a:extLst>
          </p:cNvPr>
          <p:cNvSpPr>
            <a:spLocks xmlns:a="http://schemas.openxmlformats.org/drawingml/2006/main" noGrp="1"/>
          </p:cNvSpPr>
          <p:nvPr/>
        </p:nvSpPr>
        <p:spPr>
          <a:xfrm xmlns:a="http://schemas.openxmlformats.org/drawingml/2006/main">
            <a:off x="685800" y="1809750"/>
            <a:ext cx="476250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C7D65DC0-37FE-4B9D-9B56-7AB5A278AB5A}"/>
              </a:ext>
            </a:extLst>
          </p:cNvPr>
          <p:cNvSpPr>
            <a:spLocks xmlns:a="http://schemas.openxmlformats.org/drawingml/2006/main" noGrp="1"/>
          </p:cNvSpPr>
          <p:nvPr/>
        </p:nvSpPr>
        <p:spPr>
          <a:xfrm xmlns:a="http://schemas.openxmlformats.org/drawingml/2006/main">
            <a:off x="685800" y="1809750"/>
            <a:ext cx="66675" cy="209550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448F3B79-9B64-49DC-B08D-AB85438FE4D3}"/>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Apply the lesson</a:t>
            </a:r>
          </a:p>
        </p:txBody>
      </p:sp>
      <p:sp>
        <p:nvSpPr>
          <p:cNvPr id="7" name="">
            <a:extLst xmlns:a="http://schemas.openxmlformats.org/drawingml/2006/main">
              <a:ext uri="{FF2B5EF4-FFF2-40B4-BE49-F238E27FC236}">
                <a16:creationId xmlns:a16="http://schemas.microsoft.com/office/drawing/2014/main" id="{E64EE479-331D-4A66-86A4-322C2DB752FA}"/>
              </a:ext>
            </a:extLst>
          </p:cNvPr>
          <p:cNvSpPr>
            <a:spLocks xmlns:a="http://schemas.openxmlformats.org/drawingml/2006/main" noGrp="1"/>
          </p:cNvSpPr>
          <p:nvPr/>
        </p:nvSpPr>
        <p:spPr>
          <a:xfrm xmlns:a="http://schemas.openxmlformats.org/drawingml/2006/main">
            <a:off x="914400" y="2457450"/>
            <a:ext cx="43053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this topic with Plays 2, 3, 4, 7, 11, 12, 13 and Tools 3, 7, 13, 14, 19, 20, 22, 37, 39, 42. Turn the discussion into a documented question, decision, gap, or implementation artifact.</a:t>
            </a:r>
          </a:p>
        </p:txBody>
      </p:sp>
      <p:sp>
        <p:nvSpPr>
          <p:cNvPr id="8" name="">
            <a:extLst xmlns:a="http://schemas.openxmlformats.org/drawingml/2006/main">
              <a:ext uri="{FF2B5EF4-FFF2-40B4-BE49-F238E27FC236}">
                <a16:creationId xmlns:a16="http://schemas.microsoft.com/office/drawing/2014/main" id="{A36A101F-90CD-4067-8483-9AC7DAF63CEF}"/>
              </a:ext>
            </a:extLst>
          </p:cNvPr>
          <p:cNvSpPr>
            <a:spLocks xmlns:a="http://schemas.openxmlformats.org/drawingml/2006/main" noGrp="1"/>
          </p:cNvSpPr>
          <p:nvPr/>
        </p:nvSpPr>
        <p:spPr>
          <a:xfrm xmlns:a="http://schemas.openxmlformats.org/drawingml/2006/main">
            <a:off x="5953125" y="1809750"/>
            <a:ext cx="4762500" cy="3048000"/>
          </a:xfrm>
          <a:prstGeom xmlns:a="http://schemas.openxmlformats.org/drawingml/2006/main" prst="roundRect">
            <a:avLst>
              <a:gd name="adj" fmla="val 375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EE988ADA-A0F5-4EE8-A765-26B72053A9C1}"/>
              </a:ext>
            </a:extLst>
          </p:cNvPr>
          <p:cNvSpPr>
            <a:spLocks xmlns:a="http://schemas.openxmlformats.org/drawingml/2006/main" noGrp="1"/>
          </p:cNvSpPr>
          <p:nvPr/>
        </p:nvSpPr>
        <p:spPr>
          <a:xfrm xmlns:a="http://schemas.openxmlformats.org/drawingml/2006/main">
            <a:off x="5953125" y="1809750"/>
            <a:ext cx="66675" cy="304800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0" name="">
            <a:extLst xmlns:a="http://schemas.openxmlformats.org/drawingml/2006/main">
              <a:ext uri="{FF2B5EF4-FFF2-40B4-BE49-F238E27FC236}">
                <a16:creationId xmlns:a16="http://schemas.microsoft.com/office/drawing/2014/main" id="{DAD2A535-D874-4CB4-805F-2E3B55190D1E}"/>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References and resources</a:t>
            </a:r>
          </a:p>
        </p:txBody>
      </p:sp>
      <p:sp>
        <p:nvSpPr>
          <p:cNvPr id="11" name="">
            <a:extLst xmlns:a="http://schemas.openxmlformats.org/drawingml/2006/main">
              <a:ext uri="{FF2B5EF4-FFF2-40B4-BE49-F238E27FC236}">
                <a16:creationId xmlns:a16="http://schemas.microsoft.com/office/drawing/2014/main" id="{0B17F6EA-D121-451D-9554-893F9DEFFF70}"/>
              </a:ext>
            </a:extLst>
          </p:cNvPr>
          <p:cNvSpPr>
            <a:spLocks xmlns:a="http://schemas.openxmlformats.org/drawingml/2006/main" noGrp="1"/>
          </p:cNvSpPr>
          <p:nvPr/>
        </p:nvSpPr>
        <p:spPr>
          <a:xfrm xmlns:a="http://schemas.openxmlformats.org/drawingml/2006/main">
            <a:off x="6181725" y="2457450"/>
            <a:ext cx="43053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12" name="">
            <a:extLst xmlns:a="http://schemas.openxmlformats.org/drawingml/2006/main">
              <a:ext uri="{FF2B5EF4-FFF2-40B4-BE49-F238E27FC236}">
                <a16:creationId xmlns:a16="http://schemas.microsoft.com/office/drawing/2014/main" id="{3B91EC8C-32CE-4EDD-AD85-CF4FA60C965F}"/>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Areas Where AI Can Support Public Health Activities</a:t>
            </a:r>
          </a:p>
        </p:txBody>
      </p:sp>
      <p:sp>
        <p:nvSpPr>
          <p:cNvPr id="13" name="">
            <a:extLst xmlns:a="http://schemas.openxmlformats.org/drawingml/2006/main">
              <a:ext uri="{FF2B5EF4-FFF2-40B4-BE49-F238E27FC236}">
                <a16:creationId xmlns:a16="http://schemas.microsoft.com/office/drawing/2014/main" id="{2D07F8E9-4D4B-4B7D-BE3D-C1D62050FECA}"/>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08</a:t>
            </a:r>
          </a:p>
        </p:txBody>
      </p:sp>
    </p:spTree>
    <p:extLst>
      <p:ext uri="{BB962C8B-B14F-4D97-AF65-F5344CB8AC3E}">
        <p14:creationId xmlns:p14="http://schemas.microsoft.com/office/powerpoint/2010/main" val="18074281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2026-07-02T16:03:06.7660000Z</dcterms:created>
  <dcterms:modified xsi:type="dcterms:W3CDTF">2026-07-02T16:03:06.7660000Z</dcterms:modified>
</coreProperties>
</file>