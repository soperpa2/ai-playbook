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ANL 200 Natural Language Processing for Public Health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Context
Level: applied/foundational
Primary track: Analytics and Modeling Track
Appears in tracks: technical-architecture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Playbook Plays
Play 11: Build and Deploy AI Solutions - This lesson informs Play 11 by helping learners connect the lesson topic to build and deploy ai solutions work in the AI Playbook.
Play 2: Readiness Assessment - This lesson informs Play 2 by helping learners connect the lesson topic to readiness assessment work in the AI Playbook sequence.
Play 7: Prioritize Use Cases - This lesson informs Play 7 by helping learners connect the lesson topic to prioritize use cases work in the AI Playbook sequence.
Play 1: Vision &amp; Guardrails - This lesson informs Play 1 by helping learners connect the lesson topic to vision &amp; guardrails work in the AI Playbook sequence.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Related Toolkit Resources
Tool 4: AI Policy Landscape Scan (Worksheet) - Use AI Policy Landscape Scan to translate this lesson into a documented public health AI planning, governance, implementation,.
Tool 5: AI Environmental and Resource Impact Review (Checklist) - Use AI Environmental and Resource Impact Review to translate this lesson into a documented public health AI planning,.
Tool 6: Human-Centered AI Decision Rule Checklist (Checklist) - Use Human-Centered AI Decision Rule Checklist to translate this lesson into a documented public health AI planning, governance,.
Tool 8: AI Project Charter (Planning) - Use AI Project Charter to translate this lesson into a documented public health AI planning, governance, implementation, or.
Tool 9: Data Quality Assessment Checklist (Checklist) - Use this tool to complete or strengthen the practical exercise for the module using fictional, de-identified, or generalized.
Tool 10: Tiered Data Classification for AI Use (Worksheet) - Use this tool to complete or strengthen the practical exercise for the module using fictional, de-identified, or generalized.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Learning Objectives
Define NLP in plain language and distinguish common NLP tasks.
Identify public health workflows where NLP may be useful.
Assess risks related to accuracy, bias, privacy, hallucination, language, and missing context.
Define source verification and human review requirements for NLP outputs.
Produce an NLP evaluation plan for one public health workflow.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Module Overview
Natural language processing is a branch of AI that works with human language. Public health agencies often hold important information in free-text sources, including clinical notes, case narratives, call center logs, inspection reports, complaints, death certificate text, public comments, and community feedback. This module teaches learners how NLP can support public health work and how to evaluate its risks.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This Topic Matters for Public Health AI
NLP can reduce burden by helping staff find, organize, classify, extract, translate, or summarize information from large volumes of text. It can support case investigation, environmental health complaint triage, syndromic surveillance, public inquiry response, community engagement analysis, and policy review. However, text is often ambiguous, incomplete, sensitive, and context-dependent.
NLP outputs should not be treated as facts without review. A tool may omit important details, misread abbreviations, misunderstand negation, translate poorly, or generate a summary that sounds correct but is not supported by the source. Public health text may also include legal, clinical, cultural, or community context that a model does not understand.
For technical staff, NLP evaluation requires more than checking whether outputs sound fluent. The agency should define the task, intended use, prohibited use, source material, review process, performance measures, subgroup considerations, privacy safeguards, and escalation pathway.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Natural language processing. NLP refers to AI methods that process, analyze, classify, summarize, extract, translate, or generate human language. It can work with structured prompts, free-text notes, documents, emails, calls, complaints, or reports.
Information extraction. Information extraction pulls specific facts from text, such as symptoms, dates, locations, exposures, risk factors, facility names, or requested services. Extraction should be validated against source text.
Text classification. Text classification assigns text to categories, such as complaint type, urgency, topic, likely condition, or program area. Classification requires labeled examples, clear categories, and evaluation.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Core Concepts
Summarization. Summarization creates a shorter version of longer text. Public health summarization should preserve uncertainty, cite sources when possible, and avoid adding unsupported claims.
Hallucination. A hallucination is an AI-generated statement that is false, unsupported, or not present in the source material. Hallucination risk is especially important when summaries influence public health decisions or communications.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Public Health Example
A contact center may receive hundreds of public inquiries during an outbreak. NLP could classify messages by topic, identify urgent issues, and draft response summaries for staff review. This can improve timeliness, but messages may contain sensitive information, emotional language, misinformation, or ambiguous requests. Staff need review procedures and escalation criteria.
An environmental health program may use NLP to classify complaints about food safety, housing, water, pests, or nuisance conditions. The tool may help route complaints, but errors can affect response time and enforcement. The program should validate classification accuracy and ensure that original complaint text remains available to reviewers.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Technical Deep Dive
NLP implementation begins with task definition. Extraction, classification, summarization, translation, topic modeling, and question answering are different tasks with different evaluation methods. A tool that performs well at summarization may perform poorly at extracting dates or classifying urgency. Staff should define the task narrowly before selecting or testing a tool.
Evaluation should use representative source text. Test examples should include common language, uncommon language, abbreviations, misspellings, multilingual text, ambiguous statements, negation, sensitive information, and edge cases. Performance should be reviewed by people who understand the public health workflow, not only by technical staff.
Privacy and source traceability are central. NLP may process sensitive case notes, complaints, or community feedback. The agency must define whether the data can be used, where processing occurs, how outputs are stored, who can access them, and how source text is preserved. For consequential uses, users should be able to trace extracted facts or summaries back to the original text.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Unsupported summaries. NLP tools may omit, distort, or invent information. Guardrails include source review, citations, factuality checks, and human approval.
Language and accessibility gaps. Models may perform differently across languages, dialects, literacy levels, or disability-related communication needs. Guardrails include multilingual evaluation, accessibility review, and community context.
Privacy exposure. Free text may contain sensitive or unexpected personal information. Guardrails include approved environments, de-identification when appropriate, access controls, and retention rules.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Risks, Failure Modes, and Guardrails
Misclassification. Incorrect labels can affect routing or priority. Guardrails include validation, confidence thresholds, review queues, and monitoring of overrides.
Application guidance: Identify what could go wrong, who could be affected, what safeguards are needed, and what evidence should be reviewed before use expands.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Application to AI-Supported Workflows
Generative AI is often used for summarization, drafting, and question answering, but outputs must be checked against source material. Predictive analytics may use NLP-derived features, so extraction quality affects model performance. RAG systems use NLP to retrieve and summarize documents, which requires document governance and source citation. Agentic AI using NLP to trigger actions should require clear thresholds and human approval for consequential steps.
Application guidance: Use the concept to clarify workflow changes, dependencies, staffing, procurement requirements, training needs, and implementation checkpoints.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Which public health workflows involve large volumes of free text?
What task would NLP support: extraction, classification, summarization, translation, or topic detection?
What errors would be most harmful?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Reflection Questions
What source material must be retained for human review?
How will staff evaluate accuracy across languages, populations, and program areas?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Practical Exercise
Create an NLP evaluation plan for one public health workflow. Include the text source, NLP task, intended use, prohibited use, required human review, accuracy measures, bias or subgroup review, privacy safeguards, source citation or traceability expectations, and escalation process.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NLP use case description
NLP evaluation plan
Human review checklist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Artifact or Evidence
Source verification and privacy safeguards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Expected Assignment
NLP use case description
NLP evaluation plan
Human review checklist
Source verification and privacy safeguards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Knowledge Check
1. What is NLP?
2. Which task is an example of information extraction?
3. Why is source verification important for NLP outputs?
4. Which NLP use requires strong safeguards?
5. What is strong completion evidence for this module?
Application guidance: Use the assignment to test whether you can explain the concept, apply it to a realistic public health situation, and identify what would need review before the work moves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References and Resources
NIST Artificial Intelligence Risk Management Framework: https://www.nist.gov/itl/ai-risk-management-framework
NIST AI RMF Generative AI Profile: https://www.nist.gov/publications/artificial-intelligence-risk-management-framework-generative-artificial-intelligence
WHO Guidance on Large Multi-Modal Models: https://www.who.int/publications/i/item/9789240084759
CDC Public Health Data Strategy: https://www.cdc.gov/public-health-data-strategy/php/about/index.html
Agency privacy, records, data governance, and program policies
Application guidance: Use the concept to plan transparent communication, gather stakeholder input, protect trust, and make sure affected communities are considered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7FBFD"/>
          </a:solidFill>
          <a:ln w="12700">
            <a:solidFill>
              <a:srgbClr val="F7FBFD"/>
            </a:solidFill>
            <a:prstDash val="solid"/>
          </a:ln>
        </p:spPr>
      </p:sp>
      <p:pic>
        <p:nvPicPr>
          <p:cNvPr id="3" name="Image 0" descr="C:\Users\paula\Documents\Codex\2026-06-30\files-mentioned-by-the-user-ai\outputs\ai-playbook-site\assets\ai-playbook-logo-public-health.png">    </p:cNvPr>
          <p:cNvPicPr>
            <a:picLocks noChangeAspect="1"/>
          </p:cNvPicPr>
          <p:nvPr/>
        </p:nvPicPr>
        <p:blipFill>
          <a:blip r:embed="rId1"/>
          <a:stretch>
            <a:fillRect/>
          </a:stretch>
        </p:blipFill>
        <p:spPr>
          <a:xfrm>
            <a:off x="713232" y="566928"/>
            <a:ext cx="1353312" cy="1353312"/>
          </a:xfrm>
          <a:prstGeom prst="rect">
            <a:avLst/>
          </a:prstGeom>
        </p:spPr>
      </p:pic>
      <p:sp>
        <p:nvSpPr>
          <p:cNvPr id="4" name="Shape 1"/>
          <p:cNvSpPr/>
          <p:nvPr/>
        </p:nvSpPr>
        <p:spPr>
          <a:xfrm>
            <a:off x="713232" y="2240280"/>
            <a:ext cx="10698480" cy="0"/>
          </a:xfrm>
          <a:prstGeom prst="line">
            <a:avLst/>
          </a:prstGeom>
          <a:noFill/>
          <a:ln w="25400">
            <a:solidFill>
              <a:srgbClr val="2F8A28"/>
            </a:solidFill>
            <a:prstDash val="solid"/>
          </a:ln>
        </p:spPr>
      </p:sp>
      <p:sp>
        <p:nvSpPr>
          <p:cNvPr id="5" name="Text 2"/>
          <p:cNvSpPr/>
          <p:nvPr/>
        </p:nvSpPr>
        <p:spPr>
          <a:xfrm>
            <a:off x="749808" y="2487168"/>
            <a:ext cx="2926080" cy="274320"/>
          </a:xfrm>
          <a:prstGeom prst="rect">
            <a:avLst/>
          </a:prstGeom>
          <a:noFill/>
          <a:ln/>
        </p:spPr>
        <p:txBody>
          <a:bodyPr wrap="square" lIns="0" tIns="0" rIns="0" bIns="0" rtlCol="0" anchor="ctr"/>
          <a:lstStyle/>
          <a:p>
            <a:pPr indent="0" marL="0">
              <a:buNone/>
            </a:pPr>
            <a:r>
              <a:rPr lang="en-US" sz="1400" b="1" dirty="0">
                <a:solidFill>
                  <a:srgbClr val="2F8A28"/>
                </a:solidFill>
                <a:latin typeface="Aptos" pitchFamily="34" charset="0"/>
                <a:ea typeface="Aptos" pitchFamily="34" charset="-122"/>
                <a:cs typeface="Aptos" pitchFamily="34" charset="-120"/>
              </a:rPr>
              <a:t>ANL 200</a:t>
            </a:r>
            <a:endParaRPr lang="en-US" sz="1400" dirty="0"/>
          </a:p>
        </p:txBody>
      </p:sp>
      <p:sp>
        <p:nvSpPr>
          <p:cNvPr id="6" name="Text 3"/>
          <p:cNvSpPr/>
          <p:nvPr/>
        </p:nvSpPr>
        <p:spPr>
          <a:xfrm>
            <a:off x="713232" y="2816352"/>
            <a:ext cx="10607040" cy="868680"/>
          </a:xfrm>
          <a:prstGeom prst="rect">
            <a:avLst/>
          </a:prstGeom>
          <a:noFill/>
          <a:ln/>
        </p:spPr>
        <p:txBody>
          <a:bodyPr wrap="square" lIns="0" tIns="0" rIns="0" bIns="0" rtlCol="0" anchor="ctr">
            <a:normAutofit/>
          </a:bodyPr>
          <a:lstStyle/>
          <a:p>
            <a:pPr indent="0" marL="0">
              <a:buNone/>
            </a:pPr>
            <a:r>
              <a:rPr lang="en-US" sz="3200" b="1" dirty="0">
                <a:solidFill>
                  <a:srgbClr val="003A63"/>
                </a:solidFill>
                <a:latin typeface="Aptos Display" pitchFamily="34" charset="0"/>
                <a:ea typeface="Aptos Display" pitchFamily="34" charset="-122"/>
                <a:cs typeface="Aptos Display" pitchFamily="34" charset="-120"/>
              </a:rPr>
              <a:t>Natural Language Processing for Public Health</a:t>
            </a:r>
            <a:endParaRPr lang="en-US" sz="3200" dirty="0"/>
          </a:p>
        </p:txBody>
      </p:sp>
      <p:sp>
        <p:nvSpPr>
          <p:cNvPr id="7" name="Text 4"/>
          <p:cNvSpPr/>
          <p:nvPr/>
        </p:nvSpPr>
        <p:spPr>
          <a:xfrm>
            <a:off x="749808" y="3968496"/>
            <a:ext cx="8686800" cy="320040"/>
          </a:xfrm>
          <a:prstGeom prst="rect">
            <a:avLst/>
          </a:prstGeom>
          <a:noFill/>
          <a:ln/>
        </p:spPr>
        <p:txBody>
          <a:bodyPr wrap="square" lIns="0" tIns="0" rIns="0" bIns="0" rtlCol="0" anchor="ctr"/>
          <a:lstStyle/>
          <a:p>
            <a:pPr indent="0" marL="0">
              <a:buNone/>
            </a:pPr>
            <a:r>
              <a:rPr lang="en-US" sz="1800" dirty="0">
                <a:solidFill>
                  <a:srgbClr val="17364A"/>
                </a:solidFill>
                <a:latin typeface="Aptos" pitchFamily="34" charset="0"/>
                <a:ea typeface="Aptos" pitchFamily="34" charset="-122"/>
                <a:cs typeface="Aptos" pitchFamily="34" charset="-120"/>
              </a:rPr>
              <a:t>AI Playbook and Toolkit for Public Health Departments</a:t>
            </a:r>
            <a:endParaRPr lang="en-US" sz="1800" dirty="0"/>
          </a:p>
        </p:txBody>
      </p:sp>
      <p:sp>
        <p:nvSpPr>
          <p:cNvPr id="8"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What this module helps you do</a:t>
            </a:r>
            <a:endParaRPr lang="en-US" sz="3400" dirty="0"/>
          </a:p>
        </p:txBody>
      </p:sp>
      <p:sp>
        <p:nvSpPr>
          <p:cNvPr id="9" name="Text 7"/>
          <p:cNvSpPr/>
          <p:nvPr/>
        </p:nvSpPr>
        <p:spPr>
          <a:xfrm>
            <a:off x="868680" y="1508760"/>
            <a:ext cx="6446520" cy="2926080"/>
          </a:xfrm>
          <a:prstGeom prst="rect">
            <a:avLst/>
          </a:prstGeom>
          <a:noFill/>
          <a:ln/>
        </p:spPr>
        <p:txBody>
          <a:bodyPr wrap="square" lIns="1016" tIns="1016" rIns="1016" bIns="1016" rtlCol="0" anchor="t">
            <a:normAutofit/>
          </a:bodyPr>
          <a:lstStyle/>
          <a:p>
            <a:pPr indent="0" marL="0">
              <a:buNone/>
            </a:pPr>
            <a:r>
              <a:rPr lang="en-US" sz="2100" dirty="0">
                <a:solidFill>
                  <a:srgbClr val="003A63"/>
                </a:solidFill>
                <a:latin typeface="Aptos" pitchFamily="34" charset="0"/>
                <a:ea typeface="Aptos" pitchFamily="34" charset="-122"/>
                <a:cs typeface="Aptos" pitchFamily="34" charset="-120"/>
              </a:rPr>
              <a:t>• Natural language processing is a branch of AI that works with human language.</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Public health agencies often hold important information in free-text.</a:t>
            </a:r>
            <a:endParaRPr lang="en-US" sz="2100" dirty="0"/>
          </a:p>
          <a:p>
            <a:pPr indent="0" marL="0">
              <a:buNone/>
            </a:pPr>
            <a:r>
              <a:rPr lang="en-US" sz="2100" dirty="0">
                <a:solidFill>
                  <a:srgbClr val="003A63"/>
                </a:solidFill>
                <a:latin typeface="Aptos" pitchFamily="34" charset="0"/>
                <a:ea typeface="Aptos" pitchFamily="34" charset="-122"/>
                <a:cs typeface="Aptos" pitchFamily="34" charset="-120"/>
              </a:rPr>
              <a:t>• This module teaches learners how NLP can support public health work and how.</a:t>
            </a:r>
            <a:endParaRPr lang="en-US" sz="2100" dirty="0"/>
          </a:p>
        </p:txBody>
      </p:sp>
      <p:sp>
        <p:nvSpPr>
          <p:cNvPr id="10" name="Shape 8"/>
          <p:cNvSpPr/>
          <p:nvPr/>
        </p:nvSpPr>
        <p:spPr>
          <a:xfrm>
            <a:off x="7909560" y="1417320"/>
            <a:ext cx="3154680" cy="1920240"/>
          </a:xfrm>
          <a:prstGeom prst="roundRect">
            <a:avLst>
              <a:gd name="adj" fmla="val 5714"/>
            </a:avLst>
          </a:prstGeom>
          <a:solidFill>
            <a:srgbClr val="EAF6F8"/>
          </a:solidFill>
          <a:ln w="12700">
            <a:solidFill>
              <a:srgbClr val="B9D7E6"/>
            </a:solidFill>
            <a:prstDash val="solid"/>
          </a:ln>
        </p:spPr>
      </p:sp>
      <p:sp>
        <p:nvSpPr>
          <p:cNvPr id="11" name="Text 9"/>
          <p:cNvSpPr/>
          <p:nvPr/>
        </p:nvSpPr>
        <p:spPr>
          <a:xfrm>
            <a:off x="8074152" y="1545336"/>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Module details</a:t>
            </a:r>
            <a:endParaRPr lang="en-US" sz="1220" dirty="0"/>
          </a:p>
        </p:txBody>
      </p:sp>
      <p:sp>
        <p:nvSpPr>
          <p:cNvPr id="12" name="Text 10"/>
          <p:cNvSpPr/>
          <p:nvPr/>
        </p:nvSpPr>
        <p:spPr>
          <a:xfrm>
            <a:off x="8074152" y="1856232"/>
            <a:ext cx="2825496" cy="140817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Level: applied/foundational Primary track: Analytics and Modeling Track Appears.</a:t>
            </a:r>
            <a:endParaRPr lang="en-US" sz="1220" dirty="0"/>
          </a:p>
        </p:txBody>
      </p:sp>
      <p:sp>
        <p:nvSpPr>
          <p:cNvPr id="13" name="Shape 11"/>
          <p:cNvSpPr/>
          <p:nvPr/>
        </p:nvSpPr>
        <p:spPr>
          <a:xfrm>
            <a:off x="7909560" y="3675888"/>
            <a:ext cx="3154680" cy="1691640"/>
          </a:xfrm>
          <a:prstGeom prst="roundRect">
            <a:avLst>
              <a:gd name="adj" fmla="val 6486"/>
            </a:avLst>
          </a:prstGeom>
          <a:solidFill>
            <a:srgbClr val="FFFFFF"/>
          </a:solidFill>
          <a:ln w="12700">
            <a:solidFill>
              <a:srgbClr val="B9D7E6"/>
            </a:solidFill>
            <a:prstDash val="solid"/>
          </a:ln>
        </p:spPr>
      </p:sp>
      <p:sp>
        <p:nvSpPr>
          <p:cNvPr id="14" name="Text 12"/>
          <p:cNvSpPr/>
          <p:nvPr/>
        </p:nvSpPr>
        <p:spPr>
          <a:xfrm>
            <a:off x="8074152" y="3803904"/>
            <a:ext cx="28254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Learning sequence</a:t>
            </a:r>
            <a:endParaRPr lang="en-US" sz="1220" dirty="0"/>
          </a:p>
        </p:txBody>
      </p:sp>
      <p:sp>
        <p:nvSpPr>
          <p:cNvPr id="15" name="Text 13"/>
          <p:cNvSpPr/>
          <p:nvPr/>
        </p:nvSpPr>
        <p:spPr>
          <a:xfrm>
            <a:off x="8092440" y="4133088"/>
            <a:ext cx="2770632" cy="112471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Read the module for shared vocabulary and context.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Complete the practical exercise to apply the.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Use the notes and references for deeper review.</a:t>
            </a:r>
            <a:endParaRPr lang="en-US" sz="114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How this module connects to the playbook</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900" dirty="0">
                <a:solidFill>
                  <a:srgbClr val="003A63"/>
                </a:solidFill>
                <a:latin typeface="Aptos" pitchFamily="34" charset="0"/>
                <a:ea typeface="Aptos" pitchFamily="34" charset="-122"/>
                <a:cs typeface="Aptos" pitchFamily="34" charset="-120"/>
              </a:rPr>
              <a:t>• Play 11: Build and Deploy AI Solutions - This lesson informs Play 11 by.</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2: Readiness Assessment - This lesson informs Play 2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7: Prioritize Use Cases - This lesson informs Play 7 by helping.</a:t>
            </a:r>
            <a:endParaRPr lang="en-US" sz="1900" dirty="0"/>
          </a:p>
          <a:p>
            <a:pPr indent="0" marL="0">
              <a:buNone/>
            </a:pPr>
            <a:r>
              <a:rPr lang="en-US" sz="1900" dirty="0">
                <a:solidFill>
                  <a:srgbClr val="003A63"/>
                </a:solidFill>
                <a:latin typeface="Aptos" pitchFamily="34" charset="0"/>
                <a:ea typeface="Aptos" pitchFamily="34" charset="-122"/>
                <a:cs typeface="Aptos" pitchFamily="34" charset="-120"/>
              </a:rPr>
              <a:t>• Play 1: Vision &amp; Guardrails - This lesson informs Play 1 by helping learners.</a:t>
            </a:r>
            <a:endParaRPr lang="en-US" sz="1900" dirty="0"/>
          </a:p>
        </p:txBody>
      </p:sp>
      <p:sp>
        <p:nvSpPr>
          <p:cNvPr id="10" name="Shape 8"/>
          <p:cNvSpPr/>
          <p:nvPr/>
        </p:nvSpPr>
        <p:spPr>
          <a:xfrm>
            <a:off x="8046720" y="1417320"/>
            <a:ext cx="3063240" cy="2103120"/>
          </a:xfrm>
          <a:prstGeom prst="roundRect">
            <a:avLst>
              <a:gd name="adj" fmla="val 5217"/>
            </a:avLst>
          </a:prstGeom>
          <a:solidFill>
            <a:srgbClr val="EEF8ED"/>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Apply the lesson</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related plays to identify decisions, participants, timing, approvals,.</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play links to</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Locate the decision point in the playbook sequence.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Identify who should participate in the work.</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Document the review, approval, or implementation.</a:t>
            </a:r>
            <a:endParaRPr lang="en-US" sz="11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Related toolkit resources</a:t>
            </a:r>
            <a:endParaRPr lang="en-US" sz="3400" dirty="0"/>
          </a:p>
        </p:txBody>
      </p:sp>
      <p:sp>
        <p:nvSpPr>
          <p:cNvPr id="9" name="Text 7"/>
          <p:cNvSpPr/>
          <p:nvPr/>
        </p:nvSpPr>
        <p:spPr>
          <a:xfrm>
            <a:off x="868680" y="1508760"/>
            <a:ext cx="6812280" cy="3977640"/>
          </a:xfrm>
          <a:prstGeom prst="rect">
            <a:avLst/>
          </a:prstGeom>
          <a:noFill/>
          <a:ln/>
        </p:spPr>
        <p:txBody>
          <a:bodyPr wrap="square" lIns="1016" tIns="1016" rIns="1016" bIns="1016" rtlCol="0" anchor="t">
            <a:normAutofit/>
          </a:bodyPr>
          <a:lstStyle/>
          <a:p>
            <a:pPr indent="0" marL="0">
              <a:buNone/>
            </a:pPr>
            <a:r>
              <a:rPr lang="en-US" sz="1850" dirty="0">
                <a:solidFill>
                  <a:srgbClr val="003A63"/>
                </a:solidFill>
                <a:latin typeface="Aptos" pitchFamily="34" charset="0"/>
                <a:ea typeface="Aptos" pitchFamily="34" charset="-122"/>
                <a:cs typeface="Aptos" pitchFamily="34" charset="-120"/>
              </a:rPr>
              <a:t>• Tool 4: AI Policy Landscape Scan (Worksheet) - Use AI Policy Landscape Scan.</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5: AI Environmental and Resource Impact Review (Checklist) - Use AI.</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6: Human-Centered AI Decision Rule Checklist (Checklist) - Use.</a:t>
            </a:r>
            <a:endParaRPr lang="en-US" sz="1850" dirty="0"/>
          </a:p>
          <a:p>
            <a:pPr indent="0" marL="0">
              <a:buNone/>
            </a:pPr>
            <a:r>
              <a:rPr lang="en-US" sz="1850" dirty="0">
                <a:solidFill>
                  <a:srgbClr val="003A63"/>
                </a:solidFill>
                <a:latin typeface="Aptos" pitchFamily="34" charset="0"/>
                <a:ea typeface="Aptos" pitchFamily="34" charset="-122"/>
                <a:cs typeface="Aptos" pitchFamily="34" charset="-120"/>
              </a:rPr>
              <a:t>• Tool 8: AI Project Charter (Planning) - Use AI Project Charter to translate.</a:t>
            </a:r>
            <a:endParaRPr lang="en-US" sz="1850" dirty="0"/>
          </a:p>
        </p:txBody>
      </p:sp>
      <p:sp>
        <p:nvSpPr>
          <p:cNvPr id="10" name="Shape 8"/>
          <p:cNvSpPr/>
          <p:nvPr/>
        </p:nvSpPr>
        <p:spPr>
          <a:xfrm>
            <a:off x="8046720" y="1417320"/>
            <a:ext cx="3063240" cy="2103120"/>
          </a:xfrm>
          <a:prstGeom prst="roundRect">
            <a:avLst>
              <a:gd name="adj" fmla="val 5217"/>
            </a:avLst>
          </a:prstGeom>
          <a:solidFill>
            <a:srgbClr val="EAF6F8"/>
          </a:solidFill>
          <a:ln w="12700">
            <a:solidFill>
              <a:srgbClr val="B9D7E6"/>
            </a:solidFill>
            <a:prstDash val="solid"/>
          </a:ln>
        </p:spPr>
      </p:sp>
      <p:sp>
        <p:nvSpPr>
          <p:cNvPr id="11" name="Text 9"/>
          <p:cNvSpPr/>
          <p:nvPr/>
        </p:nvSpPr>
        <p:spPr>
          <a:xfrm>
            <a:off x="8211312" y="154533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Use the tools</a:t>
            </a:r>
            <a:endParaRPr lang="en-US" sz="1220" dirty="0"/>
          </a:p>
        </p:txBody>
      </p:sp>
      <p:sp>
        <p:nvSpPr>
          <p:cNvPr id="12" name="Text 10"/>
          <p:cNvSpPr/>
          <p:nvPr/>
        </p:nvSpPr>
        <p:spPr>
          <a:xfrm>
            <a:off x="8211312" y="1856232"/>
            <a:ext cx="2734056" cy="1591056"/>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linked tools when your department needs a structured worksheet, template,.</a:t>
            </a:r>
            <a:endParaRPr lang="en-US" sz="1220" dirty="0"/>
          </a:p>
        </p:txBody>
      </p:sp>
      <p:sp>
        <p:nvSpPr>
          <p:cNvPr id="13" name="Shape 11"/>
          <p:cNvSpPr/>
          <p:nvPr/>
        </p:nvSpPr>
        <p:spPr>
          <a:xfrm>
            <a:off x="8046720" y="3794760"/>
            <a:ext cx="3063240" cy="1600200"/>
          </a:xfrm>
          <a:prstGeom prst="roundRect">
            <a:avLst>
              <a:gd name="adj" fmla="val 6857"/>
            </a:avLst>
          </a:prstGeom>
          <a:solidFill>
            <a:srgbClr val="FFFFFF"/>
          </a:solidFill>
          <a:ln w="12700">
            <a:solidFill>
              <a:srgbClr val="B9D7E6"/>
            </a:solidFill>
            <a:prstDash val="solid"/>
          </a:ln>
        </p:spPr>
      </p:sp>
      <p:sp>
        <p:nvSpPr>
          <p:cNvPr id="14" name="Text 12"/>
          <p:cNvSpPr/>
          <p:nvPr/>
        </p:nvSpPr>
        <p:spPr>
          <a:xfrm>
            <a:off x="8211312" y="3922776"/>
            <a:ext cx="273405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Tool selection cues</a:t>
            </a:r>
            <a:endParaRPr lang="en-US" sz="1220" dirty="0"/>
          </a:p>
        </p:txBody>
      </p:sp>
      <p:sp>
        <p:nvSpPr>
          <p:cNvPr id="15" name="Text 13"/>
          <p:cNvSpPr/>
          <p:nvPr/>
        </p:nvSpPr>
        <p:spPr>
          <a:xfrm>
            <a:off x="8229600" y="4251960"/>
            <a:ext cx="2679192" cy="1033272"/>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Use a tool when no comparable local process exists.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Adapt existing department templates when they.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Save the completed artifact as evidence of the.</a:t>
            </a:r>
            <a:endParaRPr lang="en-US" sz="11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Learning Objectives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Define NLP in plain language and distinguish common NLP tasks.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Identify public health workflows where NLP may be useful.</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Assess risks related to accuracy, bias, privacy, hallucination, language,.</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Define NLP in plain language and distinguish common NLP tasks.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Define source verification and human review.</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Produce an NLP evaluation plan for one public.</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Module Overview</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Natural language processing is a branch of AI that works with human language.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agencies often hold important information in free-text.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module teaches learners how NLP can support public health work and how.</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Natural language processing is a branch of AI that works with human language.</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Why This Topic Matters for Public Health AI</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NLP can reduce burden by helping staff find, organize, classify, extract,.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support case investigation, environmental health complaint triage,.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However, text is often ambiguous, incomplete, sensitive,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NLP can reduce burden by helping staff find, organize, classify, extract,.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Natural language processing.</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refers to AI methods that process, analyze, classify, summarize,.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It can work with structured prompts, free-text notes, documents, emails,.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Natural language processing.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NLP refers to AI methods that process, analyze,.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Information extraction.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Information extraction pulls specific facts from.</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Core Concepts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Summarization.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Summarization creates a shorter version of longer text.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Public health summarization should preserve uncertainty, cite sources when.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Summarization.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Public health summarization should preserve.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Hallucination.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 hallucination is an AI-generated statement that.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Public Health Example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A contact center may receive hundreds of public inquiries during an outbreak.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could classify messages by topic, identify urgent issues, and draft.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This can improve timeliness, but messages may contain sensitive information,.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A contact center may receive hundreds of public inquiries during an outbreak.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NLP could classify messages by topic, identify.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This can improve timeliness, but messages may.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Staff need review procedures and escalation.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Technical Deep Dive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NLP implementation begins with task definition.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Extraction, classification, summarization, translation, topic modeling, and.</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A tool that performs well at summarization may perform poorly at extracting.</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NLP implementation begins with task definition.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19456"/>
          </a:xfrm>
          <a:prstGeom prst="rect">
            <a:avLst/>
          </a:prstGeom>
          <a:noFill/>
          <a:ln/>
        </p:spPr>
        <p:txBody>
          <a:bodyPr wrap="square" lIns="0" tIns="0" rIns="0" bIns="0" rtlCol="0" anchor="ctr">
            <a:normAutofit/>
          </a:bodyPr>
          <a:lstStyle/>
          <a:p>
            <a:pPr indent="0" marL="0">
              <a:buNone/>
            </a:pPr>
            <a:r>
              <a:rPr lang="en-US" sz="1160" b="1" dirty="0">
                <a:solidFill>
                  <a:srgbClr val="0068B7"/>
                </a:solidFill>
                <a:latin typeface="Aptos" pitchFamily="34" charset="0"/>
                <a:ea typeface="Aptos" pitchFamily="34" charset="-122"/>
                <a:cs typeface="Aptos" pitchFamily="34" charset="-120"/>
              </a:rPr>
              <a:t>Trust cycle</a:t>
            </a:r>
            <a:endParaRPr lang="en-US" sz="1160" dirty="0"/>
          </a:p>
        </p:txBody>
      </p:sp>
      <p:sp>
        <p:nvSpPr>
          <p:cNvPr id="15" name="Shape 13"/>
          <p:cNvSpPr/>
          <p:nvPr/>
        </p:nvSpPr>
        <p:spPr>
          <a:xfrm>
            <a:off x="8717280" y="3406140"/>
            <a:ext cx="164592" cy="0"/>
          </a:xfrm>
          <a:prstGeom prst="line">
            <a:avLst/>
          </a:prstGeom>
          <a:noFill/>
          <a:ln w="15240">
            <a:solidFill>
              <a:srgbClr val="8ABBD8"/>
            </a:solidFill>
            <a:prstDash val="solid"/>
          </a:ln>
        </p:spPr>
      </p:sp>
      <p:sp>
        <p:nvSpPr>
          <p:cNvPr id="16" name="Shape 14"/>
          <p:cNvSpPr/>
          <p:nvPr/>
        </p:nvSpPr>
        <p:spPr>
          <a:xfrm>
            <a:off x="7781544" y="3255264"/>
            <a:ext cx="935736" cy="301752"/>
          </a:xfrm>
          <a:prstGeom prst="roundRect">
            <a:avLst>
              <a:gd name="adj" fmla="val 24242"/>
            </a:avLst>
          </a:prstGeom>
          <a:solidFill>
            <a:srgbClr val="0068B7"/>
          </a:solidFill>
          <a:ln w="12700">
            <a:solidFill>
              <a:srgbClr val="0068B7"/>
            </a:solidFill>
            <a:prstDash val="solid"/>
          </a:ln>
        </p:spPr>
      </p:sp>
      <p:sp>
        <p:nvSpPr>
          <p:cNvPr id="17" name="Text 15"/>
          <p:cNvSpPr/>
          <p:nvPr/>
        </p:nvSpPr>
        <p:spPr>
          <a:xfrm>
            <a:off x="7818120"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Listen</a:t>
            </a:r>
            <a:endParaRPr lang="en-US" sz="880" dirty="0"/>
          </a:p>
        </p:txBody>
      </p:sp>
      <p:sp>
        <p:nvSpPr>
          <p:cNvPr id="18" name="Shape 16"/>
          <p:cNvSpPr/>
          <p:nvPr/>
        </p:nvSpPr>
        <p:spPr>
          <a:xfrm>
            <a:off x="9817608" y="3406140"/>
            <a:ext cx="164592" cy="0"/>
          </a:xfrm>
          <a:prstGeom prst="line">
            <a:avLst/>
          </a:prstGeom>
          <a:noFill/>
          <a:ln w="15240">
            <a:solidFill>
              <a:srgbClr val="8ABBD8"/>
            </a:solidFill>
            <a:prstDash val="solid"/>
          </a:ln>
        </p:spPr>
      </p:sp>
      <p:sp>
        <p:nvSpPr>
          <p:cNvPr id="19" name="Shape 17"/>
          <p:cNvSpPr/>
          <p:nvPr/>
        </p:nvSpPr>
        <p:spPr>
          <a:xfrm>
            <a:off x="8881872" y="3255264"/>
            <a:ext cx="935736" cy="301752"/>
          </a:xfrm>
          <a:prstGeom prst="roundRect">
            <a:avLst>
              <a:gd name="adj" fmla="val 24242"/>
            </a:avLst>
          </a:prstGeom>
          <a:solidFill>
            <a:srgbClr val="2F8A28"/>
          </a:solidFill>
          <a:ln w="12700">
            <a:solidFill>
              <a:srgbClr val="2F8A28"/>
            </a:solidFill>
            <a:prstDash val="solid"/>
          </a:ln>
        </p:spPr>
      </p:sp>
      <p:sp>
        <p:nvSpPr>
          <p:cNvPr id="20" name="Text 18"/>
          <p:cNvSpPr/>
          <p:nvPr/>
        </p:nvSpPr>
        <p:spPr>
          <a:xfrm>
            <a:off x="8918448"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Adapt</a:t>
            </a:r>
            <a:endParaRPr lang="en-US" sz="880" dirty="0"/>
          </a:p>
        </p:txBody>
      </p:sp>
      <p:sp>
        <p:nvSpPr>
          <p:cNvPr id="21" name="Shape 19"/>
          <p:cNvSpPr/>
          <p:nvPr/>
        </p:nvSpPr>
        <p:spPr>
          <a:xfrm>
            <a:off x="9982200" y="3255264"/>
            <a:ext cx="935736" cy="301752"/>
          </a:xfrm>
          <a:prstGeom prst="roundRect">
            <a:avLst>
              <a:gd name="adj" fmla="val 24242"/>
            </a:avLst>
          </a:prstGeom>
          <a:solidFill>
            <a:srgbClr val="6A4CA3"/>
          </a:solidFill>
          <a:ln w="12700">
            <a:solidFill>
              <a:srgbClr val="6A4CA3"/>
            </a:solidFill>
            <a:prstDash val="solid"/>
          </a:ln>
        </p:spPr>
      </p:sp>
      <p:sp>
        <p:nvSpPr>
          <p:cNvPr id="22" name="Text 20"/>
          <p:cNvSpPr/>
          <p:nvPr/>
        </p:nvSpPr>
        <p:spPr>
          <a:xfrm>
            <a:off x="10018776" y="3328416"/>
            <a:ext cx="862584" cy="146304"/>
          </a:xfrm>
          <a:prstGeom prst="rect">
            <a:avLst/>
          </a:prstGeom>
          <a:noFill/>
          <a:ln/>
        </p:spPr>
        <p:txBody>
          <a:bodyPr wrap="square" lIns="0" tIns="0" rIns="0" bIns="0" rtlCol="0" anchor="ctr">
            <a:normAutofit/>
          </a:bodyPr>
          <a:lstStyle/>
          <a:p>
            <a:pPr algn="ctr" indent="0" marL="0">
              <a:buNone/>
            </a:pPr>
            <a:r>
              <a:rPr lang="en-US" sz="880" b="1" dirty="0">
                <a:solidFill>
                  <a:srgbClr val="FFFFFF"/>
                </a:solidFill>
                <a:latin typeface="Aptos" pitchFamily="34" charset="0"/>
                <a:ea typeface="Aptos" pitchFamily="34" charset="-122"/>
                <a:cs typeface="Aptos" pitchFamily="34" charset="-120"/>
              </a:rPr>
              <a:t>Report</a:t>
            </a:r>
            <a:endParaRPr lang="en-US" sz="880" dirty="0"/>
          </a:p>
        </p:txBody>
      </p:sp>
      <p:sp>
        <p:nvSpPr>
          <p:cNvPr id="23" name="Text 21"/>
          <p:cNvSpPr/>
          <p:nvPr/>
        </p:nvSpPr>
        <p:spPr>
          <a:xfrm>
            <a:off x="7763256" y="3749040"/>
            <a:ext cx="3172968" cy="356616"/>
          </a:xfrm>
          <a:prstGeom prst="rect">
            <a:avLst/>
          </a:prstGeom>
          <a:noFill/>
          <a:ln/>
        </p:spPr>
        <p:txBody>
          <a:bodyPr wrap="square" lIns="254" tIns="254" rIns="254" bIns="254" rtlCol="0" anchor="t">
            <a:normAutofit/>
          </a:bodyPr>
          <a:lstStyle/>
          <a:p>
            <a:pPr indent="0" marL="0">
              <a:buNone/>
            </a:pPr>
            <a:r>
              <a:rPr lang="en-US" sz="1040" dirty="0">
                <a:solidFill>
                  <a:srgbClr val="17364A"/>
                </a:solidFill>
                <a:latin typeface="Aptos" pitchFamily="34" charset="0"/>
                <a:ea typeface="Aptos" pitchFamily="34" charset="-122"/>
                <a:cs typeface="Aptos" pitchFamily="34" charset="-120"/>
              </a:rPr>
              <a:t>Communication and engagement are stronger when feedback changes the.</a:t>
            </a:r>
            <a:endParaRPr lang="en-US" sz="1040" dirty="0"/>
          </a:p>
        </p:txBody>
      </p:sp>
      <p:sp>
        <p:nvSpPr>
          <p:cNvPr id="24" name="Shape 22"/>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25" name="Text 23"/>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26" name="Text 24"/>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Unsupported summaries.</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tools may omit, distort, or invent information.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source review, citations, factuality checks, and human.</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Unsupported summaries.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Language and accessibility gaps.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Models may perform differently across languages,.</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multilingual evaluation,.</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13</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Risks, Failure Modes, and Guardrails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Misclassification.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Incorrect labels can affect routing or priority.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Guardrails include validation, confidence thresholds, review queues, and.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Risk check</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Misclassification.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Misclassification.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Incorrect labels can affect routing or priority.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Guardrails include validation, confidence.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Safeguard to plan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Identify what could go wrong, who could be affected, what safeguards are needed,.</a:t>
            </a:r>
            <a:endParaRPr lang="en-US" sz="122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14</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Application to AI-Supported Workflows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Generative AI is often used for summarization, drafting, and question.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Predictive analytics may use NLP-derived features, so extraction quality.</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RAG systems use NLP to retrieve and summarize documents, which requires.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Implementation cue</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Generative AI is often used for summarization, drafting, and question answering,.</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Generative AI is often used for summarization,.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RAG systems use NLP to retrieve and summarize.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Agentic AI using NLP to trigger actions should.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Next action</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clarify workflow changes, dependencies, staffing, procurement.</a:t>
            </a:r>
            <a:endParaRPr lang="en-US" sz="122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15</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Which public health workflows involve large volumes of free text?</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task would NLP support: extraction, classification, summarization,.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What errors would be most harmful?</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Which public health workflows involve large volumes of free text?</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Which public health workflows involve large.</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task would NLP support: extraction,.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What errors would be most harmful?</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16</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Reflection Questions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What source material must be retained for human review?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How will staff evaluate accuracy across languages, populations, and program.</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source material must be retained for human review?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source material must be retained for human.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How will staff evaluate accuracy across languages,.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17</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Practical Exercise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Create an NLP evaluation plan for one public health workflow.</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Include the text source, NLP task, intended use, prohibited use, required.</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Create an NLP evaluation plan for one public health workflow.</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Create an NLP evaluation plan for one public.</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Include the text source, NLP task, intended use,.</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18</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NLP use case description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evaluation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Human review checklist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NLP use case description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NLP use case description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NLP evaluation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Human review checklist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19</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Artifact or Evidence Continued</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Source verification and privacy safeguards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Source verification and privacy safeguards</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Source verification and privacy safeguards</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20</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Expected Assignment</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NLP use case description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NLP evaluation plan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Human review checklist</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NLP use case description</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NLP use case description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NLP evaluation plan</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Human review checklist</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21</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Knowledge Check</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1. What is NLP?</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2. Which task is an example of information extraction?</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3. Why is source verification important for NLP outputs?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What is NLP?</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What is NLP?</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assignment to test whether you can explain the concept, apply it to a.</a:t>
            </a:r>
            <a:endParaRPr lang="en-US" sz="122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BFD"/>
        </a:solidFill>
      </p:bgPr>
    </p:bg>
    <p:spTree>
      <p:nvGrpSpPr>
        <p:cNvPr id="1" name=""/>
        <p:cNvGrpSpPr/>
        <p:nvPr/>
      </p:nvGrpSpPr>
      <p:grpSpPr>
        <a:xfrm>
          <a:off x="0" y="0"/>
          <a:ext cx="0" cy="0"/>
          <a:chOff x="0" y="0"/>
          <a:chExt cx="0" cy="0"/>
        </a:xfrm>
      </p:grpSpPr>
      <p:sp>
        <p:nvSpPr>
          <p:cNvPr id="2" name="Shape 0"/>
          <p:cNvSpPr/>
          <p:nvPr/>
        </p:nvSpPr>
        <p:spPr>
          <a:xfrm>
            <a:off x="0" y="0"/>
            <a:ext cx="12191695" cy="164592"/>
          </a:xfrm>
          <a:prstGeom prst="rect">
            <a:avLst/>
          </a:prstGeom>
          <a:solidFill>
            <a:srgbClr val="0068B7"/>
          </a:solidFill>
          <a:ln w="12700">
            <a:solidFill>
              <a:srgbClr val="0068B7"/>
            </a:solidFill>
            <a:prstDash val="solid"/>
          </a:ln>
        </p:spPr>
      </p:sp>
      <p:sp>
        <p:nvSpPr>
          <p:cNvPr id="3" name="Shape 1"/>
          <p:cNvSpPr/>
          <p:nvPr/>
        </p:nvSpPr>
        <p:spPr>
          <a:xfrm>
            <a:off x="0" y="164592"/>
            <a:ext cx="146304" cy="6693408"/>
          </a:xfrm>
          <a:prstGeom prst="rect">
            <a:avLst/>
          </a:prstGeom>
          <a:solidFill>
            <a:srgbClr val="2F8A28"/>
          </a:solidFill>
          <a:ln w="12700">
            <a:solidFill>
              <a:srgbClr val="2F8A28"/>
            </a:solidFill>
            <a:prstDash val="solid"/>
          </a:ln>
        </p:spPr>
      </p:sp>
      <p:sp>
        <p:nvSpPr>
          <p:cNvPr id="4" name="Text 2"/>
          <p:cNvSpPr/>
          <p:nvPr/>
        </p:nvSpPr>
        <p:spPr>
          <a:xfrm>
            <a:off x="502920" y="292608"/>
            <a:ext cx="10149840" cy="256032"/>
          </a:xfrm>
          <a:prstGeom prst="rect">
            <a:avLst/>
          </a:prstGeom>
          <a:noFill/>
          <a:ln/>
        </p:spPr>
        <p:txBody>
          <a:bodyPr wrap="square" lIns="0" tIns="0" rIns="0" bIns="0" rtlCol="0" anchor="ctr"/>
          <a:lstStyle/>
          <a:p>
            <a:pPr indent="0" marL="0">
              <a:buNone/>
            </a:pPr>
            <a:r>
              <a:rPr lang="en-US" sz="900" b="1" dirty="0">
                <a:solidFill>
                  <a:srgbClr val="5F7181"/>
                </a:solidFill>
                <a:latin typeface="Aptos" pitchFamily="34" charset="0"/>
                <a:ea typeface="Aptos" pitchFamily="34" charset="-122"/>
                <a:cs typeface="Aptos" pitchFamily="34" charset="-120"/>
              </a:rPr>
              <a:t>Natural Language Processing for Public Health</a:t>
            </a:r>
            <a:endParaRPr lang="en-US" sz="900" dirty="0"/>
          </a:p>
        </p:txBody>
      </p:sp>
      <p:sp>
        <p:nvSpPr>
          <p:cNvPr id="5" name="Text 3"/>
          <p:cNvSpPr/>
          <p:nvPr/>
        </p:nvSpPr>
        <p:spPr>
          <a:xfrm>
            <a:off x="502920" y="6537960"/>
            <a:ext cx="7772400" cy="201168"/>
          </a:xfrm>
          <a:prstGeom prst="rect">
            <a:avLst/>
          </a:prstGeom>
          <a:noFill/>
          <a:ln/>
        </p:spPr>
        <p:txBody>
          <a:bodyPr wrap="square" lIns="0" tIns="0" rIns="0" bIns="0" rtlCol="0" anchor="ctr"/>
          <a:lstStyle/>
          <a:p>
            <a:pPr indent="0" marL="0">
              <a:buNone/>
            </a:pPr>
            <a:r>
              <a:rPr lang="en-US" sz="800" dirty="0">
                <a:solidFill>
                  <a:srgbClr val="5F7181"/>
                </a:solidFill>
                <a:latin typeface="Aptos" pitchFamily="34" charset="0"/>
                <a:ea typeface="Aptos" pitchFamily="34" charset="-122"/>
                <a:cs typeface="Aptos" pitchFamily="34" charset="-120"/>
              </a:rPr>
              <a:t>AI Playbook and Toolkit for Public Health Departments</a:t>
            </a:r>
            <a:endParaRPr lang="en-US" sz="800" dirty="0"/>
          </a:p>
        </p:txBody>
      </p:sp>
      <p:sp>
        <p:nvSpPr>
          <p:cNvPr id="6" name="Text 4"/>
          <p:cNvSpPr/>
          <p:nvPr/>
        </p:nvSpPr>
        <p:spPr>
          <a:xfrm>
            <a:off x="9646920" y="6537960"/>
            <a:ext cx="1965960" cy="201168"/>
          </a:xfrm>
          <a:prstGeom prst="rect">
            <a:avLst/>
          </a:prstGeom>
          <a:noFill/>
          <a:ln/>
        </p:spPr>
        <p:txBody>
          <a:bodyPr wrap="square" lIns="0" tIns="0" rIns="0" bIns="0" rtlCol="0" anchor="ctr"/>
          <a:lstStyle/>
          <a:p>
            <a:pPr algn="r" indent="0" marL="0">
              <a:buNone/>
            </a:pPr>
            <a:r>
              <a:rPr lang="en-US" sz="800" dirty="0">
                <a:solidFill>
                  <a:srgbClr val="5F7181"/>
                </a:solidFill>
                <a:latin typeface="Aptos" pitchFamily="34" charset="0"/>
                <a:ea typeface="Aptos" pitchFamily="34" charset="-122"/>
                <a:cs typeface="Aptos" pitchFamily="34" charset="-120"/>
              </a:rPr>
              <a:t>Copyright Paula Soper</a:t>
            </a:r>
            <a:endParaRPr lang="en-US" sz="800" dirty="0"/>
          </a:p>
        </p:txBody>
      </p:sp>
      <p:sp>
        <p:nvSpPr>
          <p:cNvPr id="7" name="Text 5"/>
          <p:cNvSpPr/>
          <p:nvPr/>
        </p:nvSpPr>
        <p:spPr>
          <a:xfrm>
            <a:off x="11137392" y="6510528"/>
            <a:ext cx="411480" cy="201168"/>
          </a:xfrm>
          <a:prstGeom prst="rect">
            <a:avLst/>
          </a:prstGeom>
          <a:noFill/>
          <a:ln/>
        </p:spPr>
        <p:txBody>
          <a:bodyPr wrap="square" lIns="0" tIns="0" rIns="0" bIns="0" rtlCol="0" anchor="ctr"/>
          <a:lstStyle/>
          <a:p>
            <a:pPr algn="r" indent="0" marL="0">
              <a:buNone/>
            </a:pPr>
            <a:r>
              <a:rPr lang="en-US" sz="900" dirty="0">
                <a:solidFill>
                  <a:srgbClr val="5F7181"/>
                </a:solidFill>
                <a:latin typeface="Aptos" pitchFamily="34" charset="0"/>
                <a:ea typeface="Aptos" pitchFamily="34" charset="-122"/>
                <a:cs typeface="Aptos" pitchFamily="34" charset="-120"/>
              </a:rPr>
              <a:t>22</a:t>
            </a:r>
            <a:endParaRPr lang="en-US" sz="900" dirty="0"/>
          </a:p>
        </p:txBody>
      </p:sp>
      <p:sp>
        <p:nvSpPr>
          <p:cNvPr id="8" name="Text 6"/>
          <p:cNvSpPr/>
          <p:nvPr/>
        </p:nvSpPr>
        <p:spPr>
          <a:xfrm>
            <a:off x="640080" y="658368"/>
            <a:ext cx="10881360" cy="713232"/>
          </a:xfrm>
          <a:prstGeom prst="rect">
            <a:avLst/>
          </a:prstGeom>
          <a:noFill/>
          <a:ln/>
        </p:spPr>
        <p:txBody>
          <a:bodyPr wrap="square" lIns="0" tIns="0" rIns="0" bIns="0" rtlCol="0" anchor="ctr">
            <a:normAutofit/>
          </a:bodyPr>
          <a:lstStyle/>
          <a:p>
            <a:pPr indent="0" marL="0">
              <a:buNone/>
            </a:pPr>
            <a:r>
              <a:rPr lang="en-US" sz="3400" b="1" dirty="0">
                <a:solidFill>
                  <a:srgbClr val="003A63"/>
                </a:solidFill>
                <a:latin typeface="Aptos Display" pitchFamily="34" charset="0"/>
                <a:ea typeface="Aptos Display" pitchFamily="34" charset="-122"/>
                <a:cs typeface="Aptos Display" pitchFamily="34" charset="-120"/>
              </a:rPr>
              <a:t>References and Resources</a:t>
            </a:r>
            <a:endParaRPr lang="en-US" sz="3400" dirty="0"/>
          </a:p>
        </p:txBody>
      </p:sp>
      <p:sp>
        <p:nvSpPr>
          <p:cNvPr id="9" name="Text 7"/>
          <p:cNvSpPr/>
          <p:nvPr/>
        </p:nvSpPr>
        <p:spPr>
          <a:xfrm>
            <a:off x="822960" y="1463040"/>
            <a:ext cx="6565392" cy="4343400"/>
          </a:xfrm>
          <a:prstGeom prst="rect">
            <a:avLst/>
          </a:prstGeom>
          <a:noFill/>
          <a:ln/>
        </p:spPr>
        <p:txBody>
          <a:bodyPr wrap="square" lIns="1016" tIns="1016" rIns="1016" bIns="1016" rtlCol="0" anchor="t">
            <a:normAutofit/>
          </a:bodyPr>
          <a:lstStyle/>
          <a:p>
            <a:pPr indent="0" marL="0">
              <a:buNone/>
            </a:pPr>
            <a:r>
              <a:rPr lang="en-US" sz="1920" dirty="0">
                <a:solidFill>
                  <a:srgbClr val="003A63"/>
                </a:solidFill>
                <a:latin typeface="Aptos" pitchFamily="34" charset="0"/>
                <a:ea typeface="Aptos" pitchFamily="34" charset="-122"/>
                <a:cs typeface="Aptos" pitchFamily="34" charset="-120"/>
              </a:rPr>
              <a:t>• NIST Artificial Intelligence Risk Management Framework:.</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NIST AI RMF Generative AI Profile:.</a:t>
            </a:r>
            <a:endParaRPr lang="en-US" sz="1920" dirty="0"/>
          </a:p>
          <a:p>
            <a:pPr indent="0" marL="0">
              <a:buNone/>
            </a:pPr>
            <a:r>
              <a:rPr lang="en-US" sz="1920" dirty="0">
                <a:solidFill>
                  <a:srgbClr val="003A63"/>
                </a:solidFill>
                <a:latin typeface="Aptos" pitchFamily="34" charset="0"/>
                <a:ea typeface="Aptos" pitchFamily="34" charset="-122"/>
                <a:cs typeface="Aptos" pitchFamily="34" charset="-120"/>
              </a:rPr>
              <a:t>• WHO Guidance on Large Multi-Modal Models:.</a:t>
            </a:r>
            <a:endParaRPr lang="en-US" sz="1920" dirty="0"/>
          </a:p>
        </p:txBody>
      </p:sp>
      <p:sp>
        <p:nvSpPr>
          <p:cNvPr id="10" name="Shape 8"/>
          <p:cNvSpPr/>
          <p:nvPr/>
        </p:nvSpPr>
        <p:spPr>
          <a:xfrm>
            <a:off x="7543800" y="1325880"/>
            <a:ext cx="3611880" cy="1261872"/>
          </a:xfrm>
          <a:prstGeom prst="roundRect">
            <a:avLst>
              <a:gd name="adj" fmla="val 8696"/>
            </a:avLst>
          </a:prstGeom>
          <a:solidFill>
            <a:srgbClr val="EEF8ED"/>
          </a:solidFill>
          <a:ln w="12700">
            <a:solidFill>
              <a:srgbClr val="B9D7E6"/>
            </a:solidFill>
            <a:prstDash val="solid"/>
          </a:ln>
        </p:spPr>
      </p:sp>
      <p:sp>
        <p:nvSpPr>
          <p:cNvPr id="11" name="Text 9"/>
          <p:cNvSpPr/>
          <p:nvPr/>
        </p:nvSpPr>
        <p:spPr>
          <a:xfrm>
            <a:off x="7708392" y="145389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Public health lens</a:t>
            </a:r>
            <a:endParaRPr lang="en-US" sz="1220" dirty="0"/>
          </a:p>
        </p:txBody>
      </p:sp>
      <p:sp>
        <p:nvSpPr>
          <p:cNvPr id="12" name="Text 10"/>
          <p:cNvSpPr/>
          <p:nvPr/>
        </p:nvSpPr>
        <p:spPr>
          <a:xfrm>
            <a:off x="7708392" y="176479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NIST Artificial Intelligence Risk Management Framework:.</a:t>
            </a:r>
            <a:endParaRPr lang="en-US" sz="1220" dirty="0"/>
          </a:p>
        </p:txBody>
      </p:sp>
      <p:sp>
        <p:nvSpPr>
          <p:cNvPr id="13" name="Shape 11"/>
          <p:cNvSpPr/>
          <p:nvPr/>
        </p:nvSpPr>
        <p:spPr>
          <a:xfrm>
            <a:off x="7543800" y="2724912"/>
            <a:ext cx="3611880" cy="1527048"/>
          </a:xfrm>
          <a:prstGeom prst="roundRect">
            <a:avLst>
              <a:gd name="adj" fmla="val 7186"/>
            </a:avLst>
          </a:prstGeom>
          <a:solidFill>
            <a:srgbClr val="FFFFFF"/>
          </a:solidFill>
          <a:ln w="12700">
            <a:solidFill>
              <a:srgbClr val="B9D7E6"/>
            </a:solidFill>
            <a:prstDash val="solid"/>
          </a:ln>
        </p:spPr>
      </p:sp>
      <p:sp>
        <p:nvSpPr>
          <p:cNvPr id="14" name="Text 12"/>
          <p:cNvSpPr/>
          <p:nvPr/>
        </p:nvSpPr>
        <p:spPr>
          <a:xfrm>
            <a:off x="7708392" y="2852928"/>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Concept checkpoints</a:t>
            </a:r>
            <a:endParaRPr lang="en-US" sz="1220" dirty="0"/>
          </a:p>
        </p:txBody>
      </p:sp>
      <p:sp>
        <p:nvSpPr>
          <p:cNvPr id="15" name="Text 13"/>
          <p:cNvSpPr/>
          <p:nvPr/>
        </p:nvSpPr>
        <p:spPr>
          <a:xfrm>
            <a:off x="7726680" y="3182112"/>
            <a:ext cx="3227832" cy="960120"/>
          </a:xfrm>
          <a:prstGeom prst="rect">
            <a:avLst/>
          </a:prstGeom>
          <a:noFill/>
          <a:ln/>
        </p:spPr>
        <p:txBody>
          <a:bodyPr wrap="square" lIns="508" tIns="508" rIns="508" bIns="508" rtlCol="0" anchor="t">
            <a:normAutofit/>
          </a:bodyPr>
          <a:lstStyle/>
          <a:p>
            <a:pPr indent="0" marL="0">
              <a:buNone/>
            </a:pPr>
            <a:r>
              <a:rPr lang="en-US" sz="1140" dirty="0">
                <a:solidFill>
                  <a:srgbClr val="17364A"/>
                </a:solidFill>
                <a:latin typeface="Aptos" pitchFamily="34" charset="0"/>
                <a:ea typeface="Aptos" pitchFamily="34" charset="-122"/>
                <a:cs typeface="Aptos" pitchFamily="34" charset="-120"/>
              </a:rPr>
              <a:t>NIST Artificial Intelligence Risk Management.</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CDC Public Health Data Strategy:.</a:t>
            </a:r>
            <a:endParaRPr lang="en-US" sz="1140" dirty="0"/>
          </a:p>
          <a:p>
            <a:pPr indent="0" marL="0">
              <a:buNone/>
            </a:pPr>
            <a:r>
              <a:rPr lang="en-US" sz="1140" dirty="0">
                <a:solidFill>
                  <a:srgbClr val="17364A"/>
                </a:solidFill>
                <a:latin typeface="Aptos" pitchFamily="34" charset="0"/>
                <a:ea typeface="Aptos" pitchFamily="34" charset="-122"/>
                <a:cs typeface="Aptos" pitchFamily="34" charset="-120"/>
              </a:rPr>
              <a:t>Agency privacy, records, data governance, and.</a:t>
            </a:r>
            <a:endParaRPr lang="en-US" sz="1140" dirty="0"/>
          </a:p>
        </p:txBody>
      </p:sp>
      <p:sp>
        <p:nvSpPr>
          <p:cNvPr id="16" name="Shape 14"/>
          <p:cNvSpPr/>
          <p:nvPr/>
        </p:nvSpPr>
        <p:spPr>
          <a:xfrm>
            <a:off x="7543800" y="4389120"/>
            <a:ext cx="3611880" cy="1261872"/>
          </a:xfrm>
          <a:prstGeom prst="roundRect">
            <a:avLst>
              <a:gd name="adj" fmla="val 8696"/>
            </a:avLst>
          </a:prstGeom>
          <a:solidFill>
            <a:srgbClr val="EAF6F8"/>
          </a:solidFill>
          <a:ln w="12700">
            <a:solidFill>
              <a:srgbClr val="B9D7E6"/>
            </a:solidFill>
            <a:prstDash val="solid"/>
          </a:ln>
        </p:spPr>
      </p:sp>
      <p:sp>
        <p:nvSpPr>
          <p:cNvPr id="17" name="Text 15"/>
          <p:cNvSpPr/>
          <p:nvPr/>
        </p:nvSpPr>
        <p:spPr>
          <a:xfrm>
            <a:off x="7708392" y="4517136"/>
            <a:ext cx="3282696" cy="228600"/>
          </a:xfrm>
          <a:prstGeom prst="rect">
            <a:avLst/>
          </a:prstGeom>
          <a:noFill/>
          <a:ln/>
        </p:spPr>
        <p:txBody>
          <a:bodyPr wrap="square" lIns="0" tIns="0" rIns="0" bIns="0" rtlCol="0" anchor="ctr"/>
          <a:lstStyle/>
          <a:p>
            <a:pPr indent="0" marL="0">
              <a:buNone/>
            </a:pPr>
            <a:r>
              <a:rPr lang="en-US" sz="1220" b="1" dirty="0">
                <a:solidFill>
                  <a:srgbClr val="0068B7"/>
                </a:solidFill>
                <a:latin typeface="Aptos" pitchFamily="34" charset="0"/>
                <a:ea typeface="Aptos" pitchFamily="34" charset="-122"/>
                <a:cs typeface="Aptos" pitchFamily="34" charset="-120"/>
              </a:rPr>
              <a:t>Engagement move</a:t>
            </a:r>
            <a:endParaRPr lang="en-US" sz="1220" dirty="0"/>
          </a:p>
        </p:txBody>
      </p:sp>
      <p:sp>
        <p:nvSpPr>
          <p:cNvPr id="18" name="Text 16"/>
          <p:cNvSpPr/>
          <p:nvPr/>
        </p:nvSpPr>
        <p:spPr>
          <a:xfrm>
            <a:off x="7708392" y="4828032"/>
            <a:ext cx="3282696" cy="749808"/>
          </a:xfrm>
          <a:prstGeom prst="rect">
            <a:avLst/>
          </a:prstGeom>
          <a:noFill/>
          <a:ln/>
        </p:spPr>
        <p:txBody>
          <a:bodyPr wrap="square" lIns="254" tIns="254" rIns="254" bIns="254" rtlCol="0" anchor="t">
            <a:normAutofit/>
          </a:bodyPr>
          <a:lstStyle/>
          <a:p>
            <a:pPr indent="0" marL="0">
              <a:buNone/>
            </a:pPr>
            <a:r>
              <a:rPr lang="en-US" sz="1220" dirty="0">
                <a:solidFill>
                  <a:srgbClr val="17364A"/>
                </a:solidFill>
                <a:latin typeface="Aptos" pitchFamily="34" charset="0"/>
                <a:ea typeface="Aptos" pitchFamily="34" charset="-122"/>
                <a:cs typeface="Aptos" pitchFamily="34" charset="-120"/>
              </a:rPr>
              <a:t>Use the concept to plan transparent communication, gather stakeholder input,.</a:t>
            </a:r>
            <a:endParaRPr lang="en-US" sz="122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AI Playbook for Public Health</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 for Public Health</dc:title>
  <dc:subject>Natural Language Processing for Public Health learning module</dc:subject>
  <dc:creator>Paula Soper</dc:creator>
  <cp:lastModifiedBy>Paula Soper</cp:lastModifiedBy>
  <cp:revision>1</cp:revision>
  <dcterms:created xsi:type="dcterms:W3CDTF">2026-07-13T03:27:51Z</dcterms:created>
  <dcterms:modified xsi:type="dcterms:W3CDTF">2026-07-13T03:27:51Z</dcterms:modified>
</cp:coreProperties>
</file>