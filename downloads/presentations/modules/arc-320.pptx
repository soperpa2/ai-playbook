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agentic AI and orchestration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advisory outputs from tool-using or action-taking AI workflows.</a:t>
            </a:r>
            <a:endParaRPr lang="en-US" sz="2100" dirty="0"/>
          </a:p>
          <a:p>
            <a:r>
              <a:rPr lang="en-US" sz="2100" dirty="0">
                <a:solidFill>
                  <a:srgbClr val="17364A"/>
                </a:solidFill>
                <a:latin typeface="Aptos" pitchFamily="34" charset="0"/>
                <a:ea typeface="Aptos" pitchFamily="34" charset="-122"/>
                <a:cs typeface="Aptos" pitchFamily="34" charset="-120"/>
              </a:rPr>
              <a:t>Identify the components of an agentic workflow, including goals, tools, permissions, memory, planning,.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agentic AI and orchestration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components of an agentic workflow, including goals, tools, permissions,.</a:t>
            </a:r>
            <a:endParaRPr lang="en-US" sz="1380" dirty="0"/>
          </a:p>
          <a:p>
            <a:r>
              <a:rPr lang="en-US" sz="1380" dirty="0">
                <a:solidFill>
                  <a:srgbClr val="17364A"/>
                </a:solidFill>
                <a:latin typeface="Aptos" pitchFamily="34" charset="0"/>
                <a:ea typeface="Aptos" pitchFamily="34" charset="-122"/>
                <a:cs typeface="Aptos" pitchFamily="34" charset="-120"/>
              </a:rPr>
              <a:t>Assess risks from excessive agency, unauthorized actions, error propagation, prompt.</a:t>
            </a:r>
            <a:endParaRPr lang="en-US" sz="1380" dirty="0"/>
          </a:p>
          <a:p>
            <a:r>
              <a:rPr lang="en-US" sz="1380" dirty="0">
                <a:solidFill>
                  <a:srgbClr val="17364A"/>
                </a:solidFill>
                <a:latin typeface="Aptos" pitchFamily="34" charset="0"/>
                <a:ea typeface="Aptos" pitchFamily="34" charset="-122"/>
                <a:cs typeface="Aptos" pitchFamily="34" charset="-120"/>
              </a:rPr>
              <a:t>Design human-in-the-loop and human-on-the-loop controls for public health workflows.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agentic workflow control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agentic workflow control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AI refers to AI systems configured to pursue a goal through multiple steps, often.</a:t>
            </a:r>
            <a:endParaRPr lang="en-US" sz="1380" dirty="0"/>
          </a:p>
          <a:p>
            <a:r>
              <a:rPr lang="en-US" sz="1380" dirty="0">
                <a:solidFill>
                  <a:srgbClr val="17364A"/>
                </a:solidFill>
                <a:latin typeface="Aptos" pitchFamily="34" charset="0"/>
                <a:ea typeface="Aptos" pitchFamily="34" charset="-122"/>
                <a:cs typeface="Aptos" pitchFamily="34" charset="-120"/>
              </a:rPr>
              <a:t>In public health, agentic workflows may eventually support intake triage, document.</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to design agentic workflows with clear boundaries.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2100" dirty="0"/>
          </a:p>
          <a:p>
            <a:r>
              <a:rPr lang="en-US" sz="2100" dirty="0">
                <a:solidFill>
                  <a:srgbClr val="17364A"/>
                </a:solidFill>
                <a:latin typeface="Aptos" pitchFamily="34" charset="0"/>
                <a:ea typeface="Aptos" pitchFamily="34" charset="-122"/>
                <a:cs typeface="Aptos" pitchFamily="34" charset="-120"/>
              </a:rPr>
              <a:t>A chatbot that drafts a message is one level of risk.</a:t>
            </a:r>
            <a:endParaRPr lang="en-US" sz="2100" dirty="0"/>
          </a:p>
          <a:p>
            <a:r>
              <a:rPr lang="en-US" sz="2100" dirty="0">
                <a:solidFill>
                  <a:srgbClr val="17364A"/>
                </a:solidFill>
                <a:latin typeface="Aptos" pitchFamily="34" charset="0"/>
                <a:ea typeface="Aptos" pitchFamily="34" charset="-122"/>
                <a:cs typeface="Aptos" pitchFamily="34" charset="-120"/>
              </a:rPr>
              <a:t>An agent that sends the message, updates a case record, creates a task, or notifies a partner is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agent that sends the message, updates a case record, creates a task, or notifies a.</a:t>
            </a:r>
            <a:endParaRPr lang="en-US" sz="1380" dirty="0"/>
          </a:p>
          <a:p>
            <a:r>
              <a:rPr lang="en-US" sz="1380" dirty="0">
                <a:solidFill>
                  <a:srgbClr val="17364A"/>
                </a:solidFill>
                <a:latin typeface="Aptos" pitchFamily="34" charset="0"/>
                <a:ea typeface="Aptos" pitchFamily="34" charset="-122"/>
                <a:cs typeface="Aptos" pitchFamily="34" charset="-120"/>
              </a:rPr>
              <a:t>Action-taking systems require explicit governance because errors can propagate quickly.</a:t>
            </a:r>
            <a:endParaRPr lang="en-US" sz="1380" dirty="0"/>
          </a:p>
          <a:p>
            <a:r>
              <a:rPr lang="en-US" sz="1380" dirty="0">
                <a:solidFill>
                  <a:srgbClr val="17364A"/>
                </a:solidFill>
                <a:latin typeface="Aptos" pitchFamily="34" charset="0"/>
                <a:ea typeface="Aptos" pitchFamily="34" charset="-122"/>
                <a:cs typeface="Aptos" pitchFamily="34" charset="-120"/>
              </a:rPr>
              <a:t>Public health workflows often involve legal authority, sensitive data, vulnerable.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2100" dirty="0"/>
          </a:p>
          <a:p>
            <a:r>
              <a:rPr lang="en-US" sz="2100" dirty="0">
                <a:solidFill>
                  <a:srgbClr val="17364A"/>
                </a:solidFill>
                <a:latin typeface="Aptos" pitchFamily="34" charset="0"/>
                <a:ea typeface="Aptos" pitchFamily="34" charset="-122"/>
                <a:cs typeface="Aptos" pitchFamily="34" charset="-120"/>
              </a:rPr>
              <a:t>The agent could classify the inquiry, retrieve relevant approved guidance, draft a response, create a.</a:t>
            </a:r>
            <a:endParaRPr lang="en-US" sz="2100" dirty="0"/>
          </a:p>
          <a:p>
            <a:r>
              <a:rPr lang="en-US" sz="2100" dirty="0">
                <a:solidFill>
                  <a:srgbClr val="17364A"/>
                </a:solidFill>
                <a:latin typeface="Aptos" pitchFamily="34" charset="0"/>
                <a:ea typeface="Aptos" pitchFamily="34" charset="-122"/>
                <a:cs typeface="Aptos" pitchFamily="34" charset="-120"/>
              </a:rPr>
              <a:t>For low-risk general information, the agent might prepare a draft for staff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agent could classify the inquiry, retrieve relevant approved guidance, draft a.</a:t>
            </a:r>
            <a:endParaRPr lang="en-US" sz="1380" dirty="0"/>
          </a:p>
          <a:p>
            <a:r>
              <a:rPr lang="en-US" sz="1380" dirty="0">
                <a:solidFill>
                  <a:srgbClr val="17364A"/>
                </a:solidFill>
                <a:latin typeface="Aptos" pitchFamily="34" charset="0"/>
                <a:ea typeface="Aptos" pitchFamily="34" charset="-122"/>
                <a:cs typeface="Aptos" pitchFamily="34" charset="-120"/>
              </a:rPr>
              <a:t>For sensitive complaints, reportable disease concerns, media inquiries, or legal issues,.</a:t>
            </a:r>
            <a:endParaRPr lang="en-US" sz="1380" dirty="0"/>
          </a:p>
          <a:p>
            <a:r>
              <a:rPr lang="en-US" sz="1380" dirty="0">
                <a:solidFill>
                  <a:srgbClr val="17364A"/>
                </a:solidFill>
                <a:latin typeface="Aptos" pitchFamily="34" charset="0"/>
                <a:ea typeface="Aptos" pitchFamily="34" charset="-122"/>
                <a:cs typeface="Aptos" pitchFamily="34" charset="-120"/>
              </a:rPr>
              <a:t>This design requires orchestration rules.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design begins with the goal.</a:t>
            </a:r>
            <a:endParaRPr lang="en-US" sz="2100" dirty="0"/>
          </a:p>
          <a:p>
            <a:r>
              <a:rPr lang="en-US" sz="2100" dirty="0">
                <a:solidFill>
                  <a:srgbClr val="17364A"/>
                </a:solidFill>
                <a:latin typeface="Aptos" pitchFamily="34" charset="0"/>
                <a:ea typeface="Aptos" pitchFamily="34" charset="-122"/>
                <a:cs typeface="Aptos" pitchFamily="34" charset="-120"/>
              </a:rPr>
              <a:t>The goal should be narrow and operationally defined. “Help with surveillance” is too broad. “Draft a.</a:t>
            </a:r>
            <a:endParaRPr lang="en-US" sz="2100" dirty="0"/>
          </a:p>
          <a:p>
            <a:r>
              <a:rPr lang="en-US" sz="2100" dirty="0">
                <a:solidFill>
                  <a:srgbClr val="17364A"/>
                </a:solidFill>
                <a:latin typeface="Aptos" pitchFamily="34" charset="0"/>
                <a:ea typeface="Aptos" pitchFamily="34" charset="-122"/>
                <a:cs typeface="Aptos" pitchFamily="34" charset="-120"/>
              </a:rPr>
              <a:t>Narrow goals make it easier to define tools, permissions,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design begins with the goal.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goal should be narrow and operationally defined. “Help with surveillance” is too.</a:t>
            </a:r>
            <a:endParaRPr lang="en-US" sz="1380" dirty="0"/>
          </a:p>
          <a:p>
            <a:r>
              <a:rPr lang="en-US" sz="1380" dirty="0">
                <a:solidFill>
                  <a:srgbClr val="17364A"/>
                </a:solidFill>
                <a:latin typeface="Aptos" pitchFamily="34" charset="0"/>
                <a:ea typeface="Aptos" pitchFamily="34" charset="-122"/>
                <a:cs typeface="Aptos" pitchFamily="34" charset="-120"/>
              </a:rPr>
              <a:t>Tool access is a central design decision.</a:t>
            </a:r>
            <a:endParaRPr lang="en-US" sz="1380" dirty="0"/>
          </a:p>
          <a:p>
            <a:r>
              <a:rPr lang="en-US" sz="1380" dirty="0">
                <a:solidFill>
                  <a:srgbClr val="17364A"/>
                </a:solidFill>
                <a:latin typeface="Aptos" pitchFamily="34" charset="0"/>
                <a:ea typeface="Aptos" pitchFamily="34" charset="-122"/>
                <a:cs typeface="Aptos" pitchFamily="34" charset="-120"/>
              </a:rPr>
              <a:t>An agent may be allowed to search documents, query a database, create a task, send a draft.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oversight should match risk.</a:t>
            </a:r>
            <a:endParaRPr lang="en-US" sz="2100" dirty="0"/>
          </a:p>
          <a:p>
            <a:r>
              <a:rPr lang="en-US" sz="2100" dirty="0">
                <a:solidFill>
                  <a:srgbClr val="17364A"/>
                </a:solidFill>
                <a:latin typeface="Aptos" pitchFamily="34" charset="0"/>
                <a:ea typeface="Aptos" pitchFamily="34" charset="-122"/>
                <a:cs typeface="Aptos" pitchFamily="34" charset="-120"/>
              </a:rPr>
              <a:t>Human-in-the-loop approval is appropriate for actions that affect records, services, public.</a:t>
            </a:r>
            <a:endParaRPr lang="en-US" sz="2100" dirty="0"/>
          </a:p>
          <a:p>
            <a:r>
              <a:rPr lang="en-US" sz="2100" dirty="0">
                <a:solidFill>
                  <a:srgbClr val="17364A"/>
                </a:solidFill>
                <a:latin typeface="Aptos" pitchFamily="34" charset="0"/>
                <a:ea typeface="Aptos" pitchFamily="34" charset="-122"/>
                <a:cs typeface="Aptos" pitchFamily="34" charset="-120"/>
              </a:rPr>
              <a:t>Human-on-the-loop monitoring may be appropriate for lower-risk background tasks if users can intervene.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oversight should match risk.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Human-in-the-loop approval is appropriate for actions that affect records, services,.</a:t>
            </a:r>
            <a:endParaRPr lang="en-US" sz="1380" dirty="0"/>
          </a:p>
          <a:p>
            <a:r>
              <a:rPr lang="en-US" sz="1380" dirty="0">
                <a:solidFill>
                  <a:srgbClr val="17364A"/>
                </a:solidFill>
                <a:latin typeface="Aptos" pitchFamily="34" charset="0"/>
                <a:ea typeface="Aptos" pitchFamily="34" charset="-122"/>
                <a:cs typeface="Aptos" pitchFamily="34" charset="-120"/>
              </a:rPr>
              <a:t>Human-on-the-loop monitoring may be appropriate for lower-risk background tasks if users.</a:t>
            </a:r>
            <a:endParaRPr lang="en-US" sz="1380" dirty="0"/>
          </a:p>
          <a:p>
            <a:r>
              <a:rPr lang="en-US" sz="1380" dirty="0">
                <a:solidFill>
                  <a:srgbClr val="17364A"/>
                </a:solidFill>
                <a:latin typeface="Aptos" pitchFamily="34" charset="0"/>
                <a:ea typeface="Aptos" pitchFamily="34" charset="-122"/>
                <a:cs typeface="Aptos" pitchFamily="34" charset="-120"/>
              </a:rPr>
              <a:t>Fully automated action should be limited to low-risk, well-tested, reversible tasks.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Excessive agency.</a:t>
            </a:r>
            <a:endParaRPr lang="en-US" sz="2100" dirty="0"/>
          </a:p>
          <a:p>
            <a:r>
              <a:rPr lang="en-US" sz="2100" dirty="0">
                <a:solidFill>
                  <a:srgbClr val="17364A"/>
                </a:solidFill>
                <a:latin typeface="Aptos" pitchFamily="34" charset="0"/>
                <a:ea typeface="Aptos" pitchFamily="34" charset="-122"/>
                <a:cs typeface="Aptos" pitchFamily="34" charset="-120"/>
              </a:rPr>
              <a:t>An agent may take actions beyond intended scope.</a:t>
            </a:r>
            <a:endParaRPr lang="en-US" sz="2100" dirty="0"/>
          </a:p>
          <a:p>
            <a:r>
              <a:rPr lang="en-US" sz="2100" dirty="0">
                <a:solidFill>
                  <a:srgbClr val="17364A"/>
                </a:solidFill>
                <a:latin typeface="Aptos" pitchFamily="34" charset="0"/>
                <a:ea typeface="Aptos" pitchFamily="34" charset="-122"/>
                <a:cs typeface="Aptos" pitchFamily="34" charset="-120"/>
              </a:rPr>
              <a:t>Guardrails include narrow goals, allowed-action lists, prohibited actions, and approval gates.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Excessive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Unauthorized system access.</a:t>
            </a:r>
            <a:endParaRPr lang="en-US" sz="1380" dirty="0"/>
          </a:p>
          <a:p>
            <a:r>
              <a:rPr lang="en-US" sz="1380" dirty="0">
                <a:solidFill>
                  <a:srgbClr val="17364A"/>
                </a:solidFill>
                <a:latin typeface="Aptos" pitchFamily="34" charset="0"/>
                <a:ea typeface="Aptos" pitchFamily="34" charset="-122"/>
                <a:cs typeface="Aptos" pitchFamily="34" charset="-120"/>
              </a:rPr>
              <a:t>Tool access may expose sensitive data or functions.</a:t>
            </a:r>
            <a:endParaRPr lang="en-US" sz="1380" dirty="0"/>
          </a:p>
          <a:p>
            <a:r>
              <a:rPr lang="en-US" sz="1380" dirty="0">
                <a:solidFill>
                  <a:srgbClr val="17364A"/>
                </a:solidFill>
                <a:latin typeface="Aptos" pitchFamily="34" charset="0"/>
                <a:ea typeface="Aptos" pitchFamily="34" charset="-122"/>
                <a:cs typeface="Aptos" pitchFamily="34" charset="-120"/>
              </a:rPr>
              <a:t>Guardrails include least privilege, scoped credentials, role-based access, and audit logs.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Unclear accountability.</a:t>
            </a:r>
            <a:endParaRPr lang="en-US" sz="2100" dirty="0"/>
          </a:p>
          <a:p>
            <a:r>
              <a:rPr lang="en-US" sz="2100" dirty="0">
                <a:solidFill>
                  <a:srgbClr val="17364A"/>
                </a:solidFill>
                <a:latin typeface="Aptos" pitchFamily="34" charset="0"/>
                <a:ea typeface="Aptos" pitchFamily="34" charset="-122"/>
                <a:cs typeface="Aptos" pitchFamily="34" charset="-120"/>
              </a:rPr>
              <a:t>Staff may not know who is responsible for agent actions.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Unclear accountability.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Unclear accountability.</a:t>
            </a:r>
            <a:endParaRPr lang="en-US" sz="1380" dirty="0"/>
          </a:p>
          <a:p>
            <a:r>
              <a:rPr lang="en-US" sz="1380" dirty="0">
                <a:solidFill>
                  <a:srgbClr val="17364A"/>
                </a:solidFill>
                <a:latin typeface="Aptos" pitchFamily="34" charset="0"/>
                <a:ea typeface="Aptos" pitchFamily="34" charset="-122"/>
                <a:cs typeface="Aptos" pitchFamily="34" charset="-120"/>
              </a:rPr>
              <a:t>Staff may not know who is responsible for agent actions.</a:t>
            </a:r>
            <a:endParaRPr lang="en-US" sz="1380" dirty="0"/>
          </a:p>
          <a:p>
            <a:r>
              <a:rPr lang="en-US" sz="138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2100" dirty="0"/>
          </a:p>
          <a:p>
            <a:r>
              <a:rPr lang="en-US" sz="2100" dirty="0">
                <a:solidFill>
                  <a:srgbClr val="17364A"/>
                </a:solidFill>
                <a:latin typeface="Aptos" pitchFamily="34" charset="0"/>
                <a:ea typeface="Aptos" pitchFamily="34" charset="-122"/>
                <a:cs typeface="Aptos" pitchFamily="34" charset="-120"/>
              </a:rPr>
              <a:t>They are most appropriate when tasks are repetitive, bounded, reviewable, and supported by reliable data.</a:t>
            </a:r>
            <a:endParaRPr lang="en-US" sz="2100" dirty="0"/>
          </a:p>
          <a:p>
            <a:r>
              <a:rPr lang="en-US" sz="2100" dirty="0">
                <a:solidFill>
                  <a:srgbClr val="17364A"/>
                </a:solidFill>
                <a:latin typeface="Aptos" pitchFamily="34" charset="0"/>
                <a:ea typeface="Aptos" pitchFamily="34" charset="-122"/>
                <a:cs typeface="Aptos" pitchFamily="34" charset="-120"/>
              </a:rPr>
              <a:t>They are least appropriate when the task requires complex judgment, legal interpretation, community.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workflows may combine RAG, APIs, prompts, classification models, workflow rules,.</a:t>
            </a:r>
            <a:endParaRPr lang="en-US" sz="1380" dirty="0"/>
          </a:p>
          <a:p>
            <a:r>
              <a:rPr lang="en-US" sz="1380" dirty="0">
                <a:solidFill>
                  <a:srgbClr val="17364A"/>
                </a:solidFill>
                <a:latin typeface="Aptos" pitchFamily="34" charset="0"/>
                <a:ea typeface="Aptos" pitchFamily="34" charset="-122"/>
                <a:cs typeface="Aptos" pitchFamily="34" charset="-120"/>
              </a:rPr>
              <a:t>They are least appropriate when the task requires complex judgment, legal interpretation,.</a:t>
            </a:r>
            <a:endParaRPr lang="en-US" sz="1380" dirty="0"/>
          </a:p>
          <a:p>
            <a:r>
              <a:rPr lang="en-US" sz="1380" dirty="0">
                <a:solidFill>
                  <a:srgbClr val="17364A"/>
                </a:solidFill>
                <a:latin typeface="Aptos" pitchFamily="34" charset="0"/>
                <a:ea typeface="Aptos" pitchFamily="34" charset="-122"/>
                <a:cs typeface="Aptos" pitchFamily="34" charset="-120"/>
              </a:rPr>
              <a:t>Public health agencies should pilot agentic workflows in limited, low-risk settings before.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2100" dirty="0"/>
          </a:p>
          <a:p>
            <a:r>
              <a:rPr lang="en-US" sz="2100" dirty="0">
                <a:solidFill>
                  <a:srgbClr val="17364A"/>
                </a:solidFill>
                <a:latin typeface="Aptos" pitchFamily="34" charset="0"/>
                <a:ea typeface="Aptos" pitchFamily="34" charset="-122"/>
                <a:cs typeface="Aptos" pitchFamily="34" charset="-120"/>
              </a:rPr>
              <a:t>Which tools or systems would the agent access?</a:t>
            </a:r>
            <a:endParaRPr lang="en-US" sz="2100" dirty="0"/>
          </a:p>
          <a:p>
            <a:r>
              <a:rPr lang="en-US" sz="2100" dirty="0">
                <a:solidFill>
                  <a:srgbClr val="17364A"/>
                </a:solidFill>
                <a:latin typeface="Aptos" pitchFamily="34" charset="0"/>
                <a:ea typeface="Aptos" pitchFamily="34" charset="-122"/>
                <a:cs typeface="Aptos" pitchFamily="34" charset="-120"/>
              </a:rPr>
              <a:t>Which actions are allowed, prohibited, or require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380" dirty="0"/>
          </a:p>
          <a:p>
            <a:r>
              <a:rPr lang="en-US" sz="1380" dirty="0">
                <a:solidFill>
                  <a:srgbClr val="17364A"/>
                </a:solidFill>
                <a:latin typeface="Aptos" pitchFamily="34" charset="0"/>
                <a:ea typeface="Aptos" pitchFamily="34" charset="-122"/>
                <a:cs typeface="Aptos" pitchFamily="34" charset="-120"/>
              </a:rPr>
              <a:t>Which tools or systems would the agent access?</a:t>
            </a:r>
            <a:endParaRPr lang="en-US" sz="1380" dirty="0"/>
          </a:p>
          <a:p>
            <a:r>
              <a:rPr lang="en-US" sz="1380" dirty="0">
                <a:solidFill>
                  <a:srgbClr val="17364A"/>
                </a:solidFill>
                <a:latin typeface="Aptos" pitchFamily="34" charset="0"/>
                <a:ea typeface="Aptos" pitchFamily="34" charset="-122"/>
                <a:cs typeface="Aptos" pitchFamily="34" charset="-120"/>
              </a:rPr>
              <a:t>Which actions are allowed, prohibited, or require human approval?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agent behavior?</a:t>
            </a:r>
            <a:endParaRPr lang="en-US" sz="2100" dirty="0"/>
          </a:p>
          <a:p>
            <a:r>
              <a:rPr lang="en-US" sz="210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agent behavior?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logs are needed to reconstruct agent behavior?</a:t>
            </a:r>
            <a:endParaRPr lang="en-US" sz="1380" dirty="0"/>
          </a:p>
          <a:p>
            <a:r>
              <a:rPr lang="en-US" sz="138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Include the goal, trigger, data sources, tools, allowed actions, prohibited actions, approval points,.</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at least one low-risk pilot boundary and one condition that would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Include the goal, trigger, data sources, tools, allowed actions, prohibited actions,.</a:t>
            </a:r>
            <a:endParaRPr lang="en-US" sz="1380" dirty="0"/>
          </a:p>
          <a:p>
            <a:r>
              <a:rPr lang="en-US" sz="1380" dirty="0">
                <a:solidFill>
                  <a:srgbClr val="17364A"/>
                </a:solidFill>
                <a:latin typeface="Aptos" pitchFamily="34" charset="0"/>
                <a:ea typeface="Aptos" pitchFamily="34" charset="-122"/>
                <a:cs typeface="Aptos" pitchFamily="34" charset="-120"/>
              </a:rPr>
              <a:t>The plan should identify at least one low-risk pilot boundary and one condition that would.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workflow control plan</a:t>
            </a:r>
            <a:endParaRPr lang="en-US" sz="1380" dirty="0"/>
          </a:p>
          <a:p>
            <a:r>
              <a:rPr lang="en-US" sz="1380" dirty="0">
                <a:solidFill>
                  <a:srgbClr val="17364A"/>
                </a:solidFill>
                <a:latin typeface="Aptos" pitchFamily="34" charset="0"/>
                <a:ea typeface="Aptos" pitchFamily="34" charset="-122"/>
                <a:cs typeface="Aptos" pitchFamily="34" charset="-120"/>
              </a:rPr>
              <a:t>Allowed/prohibited action list</a:t>
            </a:r>
            <a:endParaRPr lang="en-US" sz="1380" dirty="0"/>
          </a:p>
          <a:p>
            <a:r>
              <a:rPr lang="en-US" sz="1380" dirty="0">
                <a:solidFill>
                  <a:srgbClr val="17364A"/>
                </a:solidFill>
                <a:latin typeface="Aptos" pitchFamily="34" charset="0"/>
                <a:ea typeface="Aptos" pitchFamily="34" charset="-122"/>
                <a:cs typeface="Aptos" pitchFamily="34" charset="-120"/>
              </a:rPr>
              <a:t>Human approval and escalation map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Tool-call logging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Tool-call logging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Tool-call logging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workflow control plan</a:t>
            </a:r>
            <a:endParaRPr lang="en-US" sz="1380" dirty="0"/>
          </a:p>
          <a:p>
            <a:r>
              <a:rPr lang="en-US" sz="1380" dirty="0">
                <a:solidFill>
                  <a:srgbClr val="17364A"/>
                </a:solidFill>
                <a:latin typeface="Aptos" pitchFamily="34" charset="0"/>
                <a:ea typeface="Aptos" pitchFamily="34" charset="-122"/>
                <a:cs typeface="Aptos" pitchFamily="34" charset="-120"/>
              </a:rPr>
              <a:t>Allowed/prohibited action list</a:t>
            </a:r>
            <a:endParaRPr lang="en-US" sz="1380" dirty="0"/>
          </a:p>
          <a:p>
            <a:r>
              <a:rPr lang="en-US" sz="1380" dirty="0">
                <a:solidFill>
                  <a:srgbClr val="17364A"/>
                </a:solidFill>
                <a:latin typeface="Aptos" pitchFamily="34" charset="0"/>
                <a:ea typeface="Aptos" pitchFamily="34" charset="-122"/>
                <a:cs typeface="Aptos" pitchFamily="34" charset="-120"/>
              </a:rPr>
              <a:t>Human approval and escalation map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makes agentic AI different from simple drafting support?</a:t>
            </a:r>
            <a:endParaRPr lang="en-US" sz="2100" dirty="0"/>
          </a:p>
          <a:p>
            <a:r>
              <a:rPr lang="en-US" sz="2100" dirty="0">
                <a:solidFill>
                  <a:srgbClr val="17364A"/>
                </a:solidFill>
                <a:latin typeface="Aptos" pitchFamily="34" charset="0"/>
                <a:ea typeface="Aptos" pitchFamily="34" charset="-122"/>
                <a:cs typeface="Aptos" pitchFamily="34" charset="-120"/>
              </a:rPr>
              <a:t>2. Which action usually requires stronger oversight?</a:t>
            </a:r>
            <a:endParaRPr lang="en-US" sz="2100" dirty="0"/>
          </a:p>
          <a:p>
            <a:r>
              <a:rPr lang="en-US" sz="2100" dirty="0">
                <a:solidFill>
                  <a:srgbClr val="17364A"/>
                </a:solidFill>
                <a:latin typeface="Aptos" pitchFamily="34" charset="0"/>
                <a:ea typeface="Aptos" pitchFamily="34" charset="-122"/>
                <a:cs typeface="Aptos" pitchFamily="34" charset="-120"/>
              </a:rPr>
              <a:t>3. What is orchestration?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makes agentic AI different from simple drafting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makes agentic AI different from simple drafting support?</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NIST Privacy Framework: https://www.nist.gov/privacy-framework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2026-07-13T02:11:42Z</dcterms:created>
  <dcterms:modified xsi:type="dcterms:W3CDTF">2026-07-13T02:11:42Z</dcterms:modified>
</cp:coreProperties>
</file>