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920c61b32c467b" /><Relationship Type="http://schemas.openxmlformats.org/officeDocument/2006/relationships/extended-properties" Target="/docProps/app.xml" Id="Rd682058a49164be7" /><Relationship Type="http://schemas.openxmlformats.org/officeDocument/2006/relationships/officeDocument" Target="/ppt/presentation.xml" Id="R24c3a31fd9da4198" /></Relationships>
</file>

<file path=ppt/presentation.xml><?xml version="1.0" encoding="utf-8"?>
<p:presentation xmlns:p="http://schemas.openxmlformats.org/presentationml/2006/main">
  <p:sldMasterIdLst>
    <p:sldMasterId xmlns:r="http://schemas.openxmlformats.org/officeDocument/2006/relationships" id="2147483648" r:id="Rfca47d09f5814d8a"/>
  </p:sldMasterIdLst>
  <p:notesMasterIdLst>
    <p:notesMasterId xmlns:r="http://schemas.openxmlformats.org/officeDocument/2006/relationships" r:id="Rc7b0432730294ae2"/>
  </p:notesMasterIdLst>
  <p:sldIdLst>
    <p:sldId xmlns:r="http://schemas.openxmlformats.org/officeDocument/2006/relationships" id="256" r:id="R512ec033f8874ca8"/>
    <p:sldId xmlns:r="http://schemas.openxmlformats.org/officeDocument/2006/relationships" id="257" r:id="R993586e631d24e10"/>
    <p:sldId xmlns:r="http://schemas.openxmlformats.org/officeDocument/2006/relationships" id="258" r:id="R1ae1960fad4749b1"/>
    <p:sldId xmlns:r="http://schemas.openxmlformats.org/officeDocument/2006/relationships" id="259" r:id="Ra4b74bcf69124c71"/>
    <p:sldId xmlns:r="http://schemas.openxmlformats.org/officeDocument/2006/relationships" id="260" r:id="R210827b81d324946"/>
    <p:sldId xmlns:r="http://schemas.openxmlformats.org/officeDocument/2006/relationships" id="261" r:id="R4641fabce1e942a9"/>
    <p:sldId xmlns:r="http://schemas.openxmlformats.org/officeDocument/2006/relationships" id="262" r:id="R708e46217d98464a"/>
    <p:sldId xmlns:r="http://schemas.openxmlformats.org/officeDocument/2006/relationships" id="263" r:id="R73ac61506f2f449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e01b483d29470b" /><Relationship Type="http://schemas.openxmlformats.org/officeDocument/2006/relationships/slideMaster" Target="/ppt/slideMasters/slideMaster1.xml" Id="Rfca47d09f5814d8a" /><Relationship Type="http://schemas.openxmlformats.org/officeDocument/2006/relationships/notesMaster" Target="/ppt/notesMasters/notesMaster1.xml" Id="Rc7b0432730294ae2" /><Relationship Type="http://schemas.openxmlformats.org/officeDocument/2006/relationships/presProps" Target="/ppt/presProps.xml" Id="R38866b7c12a246e3" /><Relationship Type="http://schemas.openxmlformats.org/officeDocument/2006/relationships/tableStyles" Target="/ppt/tableStyles.xml" Id="Rc9ca4d15e8304aa3" /><Relationship Type="http://schemas.openxmlformats.org/officeDocument/2006/relationships/slide" Target="/ppt/slides/slide1.xml" Id="R512ec033f8874ca8" /><Relationship Type="http://schemas.openxmlformats.org/officeDocument/2006/relationships/slide" Target="/ppt/slides/slide2.xml" Id="R993586e631d24e10" /><Relationship Type="http://schemas.openxmlformats.org/officeDocument/2006/relationships/slide" Target="/ppt/slides/slide3.xml" Id="R1ae1960fad4749b1" /><Relationship Type="http://schemas.openxmlformats.org/officeDocument/2006/relationships/slide" Target="/ppt/slides/slide4.xml" Id="Ra4b74bcf69124c71" /><Relationship Type="http://schemas.openxmlformats.org/officeDocument/2006/relationships/slide" Target="/ppt/slides/slide5.xml" Id="R210827b81d324946" /><Relationship Type="http://schemas.openxmlformats.org/officeDocument/2006/relationships/slide" Target="/ppt/slides/slide6.xml" Id="R4641fabce1e942a9" /><Relationship Type="http://schemas.openxmlformats.org/officeDocument/2006/relationships/slide" Target="/ppt/slides/slide7.xml" Id="R708e46217d98464a" /><Relationship Type="http://schemas.openxmlformats.org/officeDocument/2006/relationships/slide" Target="/ppt/slides/slide8.xml" Id="R73ac61506f2f44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5d94f64b8f43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c97e5d46c34056" /><Relationship Type="http://schemas.openxmlformats.org/officeDocument/2006/relationships/notesMaster" Target="/ppt/notesMasters/notesMaster1.xml" Id="Ra278f107746b4d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283cee4b9c476c" /><Relationship Type="http://schemas.openxmlformats.org/officeDocument/2006/relationships/notesMaster" Target="/ppt/notesMasters/notesMaster1.xml" Id="R0d4570168c6545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774b0199be4990" /><Relationship Type="http://schemas.openxmlformats.org/officeDocument/2006/relationships/notesMaster" Target="/ppt/notesMasters/notesMaster1.xml" Id="R8a9a84b06e8f4a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87ff4e781c4081" /><Relationship Type="http://schemas.openxmlformats.org/officeDocument/2006/relationships/notesMaster" Target="/ppt/notesMasters/notesMaster1.xml" Id="R791c77a2534941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3e9b0f5c9c421f" /><Relationship Type="http://schemas.openxmlformats.org/officeDocument/2006/relationships/notesMaster" Target="/ppt/notesMasters/notesMaster1.xml" Id="R23f06122678241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d770875cd342d2" /><Relationship Type="http://schemas.openxmlformats.org/officeDocument/2006/relationships/notesMaster" Target="/ppt/notesMasters/notesMaster1.xml" Id="Rd971d4efebae45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56ee0f37fa40fa" /><Relationship Type="http://schemas.openxmlformats.org/officeDocument/2006/relationships/notesMaster" Target="/ppt/notesMasters/notesMaster1.xml" Id="R101625a370bf49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c70f4099e64a53" /><Relationship Type="http://schemas.openxmlformats.org/officeDocument/2006/relationships/notesMaster" Target="/ppt/notesMasters/notesMaster1.xml" Id="R7c49d672ac6447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Environmental and Resource Impacts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can carry energy, water, hardware, e-waste, procurement, and environmental justice implications that should be considered before scale.</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7, 8 and Tools 5, 30, 33.</a:t>
            </a:r>
          </a:p>
          <a:p xmlns:a="http://schemas.openxmlformats.org/drawingml/2006/main">
            <a:r>
              <a:t>Emphasize the core guardrail: High-compute AI uses should be justified by public health value and reviewed for resource burden and environmental justice implications.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7, 8 and Tools 5, 30, 33.</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7, 8 and Tools 5, 30, 33.</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7, 8 and Tools 5, 30, 33.</a:t>
            </a:r>
          </a:p>
          <a:p xmlns:a="http://schemas.openxmlformats.org/drawingml/2006/main">
            <a:r>
              <a:t>Invite participants to identify where these practices would need to be documented in their own department.</a:t>
            </a:r>
          </a:p>
          <a:p xmlns:a="http://schemas.openxmlformats.org/drawingml/2006/main">
            <a:r>
              <a:t>Start with Review Questions,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7, 8 and Tools 5, 30, 33.</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7, 8 and Tools 5, 30, 33.</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Environmental and resource impact review, Lower-impact alternatives comparison, Procurement sustainability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7, 8 and Tools 5, 30, 33.</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cc27f13d4c48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f6f6ed156f4a32" /><Relationship Type="http://schemas.openxmlformats.org/officeDocument/2006/relationships/slideLayout" Target="/ppt/slideLayouts/slideLayout1.xml" Id="Rc7688d8f118547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688d8f118547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f1592a8b3d4be7" /><Relationship Type="http://schemas.openxmlformats.org/officeDocument/2006/relationships/image" Target="/ppt/media/image.png" Id="R13c3eca94b654e65" /><Relationship Type="http://schemas.openxmlformats.org/officeDocument/2006/relationships/notesSlide" Target="/ppt/notesSlides/notesSlide1.xml" Id="R64a5e2449a9748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c98da3795146a6" /><Relationship Type="http://schemas.openxmlformats.org/officeDocument/2006/relationships/notesSlide" Target="/ppt/notesSlides/notesSlide2.xml" Id="R03a8a6cf7c1840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b7fa083b564b9d" /><Relationship Type="http://schemas.openxmlformats.org/officeDocument/2006/relationships/notesSlide" Target="/ppt/notesSlides/notesSlide3.xml" Id="R63ced49257cf40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67c7a38be64a73" /><Relationship Type="http://schemas.openxmlformats.org/officeDocument/2006/relationships/notesSlide" Target="/ppt/notesSlides/notesSlide4.xml" Id="Rc1b7ab05e8724a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8cedc73799418a" /><Relationship Type="http://schemas.openxmlformats.org/officeDocument/2006/relationships/notesSlide" Target="/ppt/notesSlides/notesSlide5.xml" Id="R6ed0af37423e44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dab74a28824c9e" /><Relationship Type="http://schemas.openxmlformats.org/officeDocument/2006/relationships/notesSlide" Target="/ppt/notesSlides/notesSlide6.xml" Id="Rd16ac8e157cc48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8b85168cb24236" /><Relationship Type="http://schemas.openxmlformats.org/officeDocument/2006/relationships/notesSlide" Target="/ppt/notesSlides/notesSlide7.xml" Id="R279e1863db6647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2df75c51ec4b8d" /><Relationship Type="http://schemas.openxmlformats.org/officeDocument/2006/relationships/notesSlide" Target="/ppt/notesSlides/notesSlide8.xml" Id="Rbc3ff722b3e34427"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3c3eca94b654e65"/>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E4AFB1E-5968-4B8C-802B-056B4740D81D}"/>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16</a:t>
            </a:r>
          </a:p>
        </p:txBody>
      </p:sp>
      <p:sp>
        <p:nvSpPr>
          <p:cNvPr id="3" name="">
            <a:extLst xmlns:a="http://schemas.openxmlformats.org/drawingml/2006/main">
              <a:ext uri="{FF2B5EF4-FFF2-40B4-BE49-F238E27FC236}">
                <a16:creationId xmlns:a16="http://schemas.microsoft.com/office/drawing/2014/main" id="{95E69E13-82A6-4ED6-B7A9-A0C6CE4354C2}"/>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Environmental and Resource Impacts</a:t>
            </a:r>
          </a:p>
        </p:txBody>
      </p:sp>
      <p:sp>
        <p:nvSpPr>
          <p:cNvPr id="4" name="">
            <a:extLst xmlns:a="http://schemas.openxmlformats.org/drawingml/2006/main">
              <a:ext uri="{FF2B5EF4-FFF2-40B4-BE49-F238E27FC236}">
                <a16:creationId xmlns:a16="http://schemas.microsoft.com/office/drawing/2014/main" id="{1FC470A9-BBDB-46B6-B906-1720AD9D19F0}"/>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72E99923-4C8A-44A7-96C2-82907113EE14}"/>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D8661765-E9DA-40B8-A64D-A12674B34C9E}"/>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3038493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323E12-2EE9-4315-9E21-52F56D78C7F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B6155F7-BF42-43EC-B6CF-FB26D293E89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945B9571-5211-4FBE-B93F-D1CD1FA2817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3732684-9394-47AE-9E96-7D8699E97713}"/>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can carry energy, water, hardware, e-waste, procurement, and environmental justice implications that should be considered before scale.</a:t>
            </a:r>
          </a:p>
        </p:txBody>
      </p:sp>
      <p:sp>
        <p:nvSpPr>
          <p:cNvPr id="5" name="">
            <a:extLst xmlns:a="http://schemas.openxmlformats.org/drawingml/2006/main">
              <a:ext uri="{FF2B5EF4-FFF2-40B4-BE49-F238E27FC236}">
                <a16:creationId xmlns:a16="http://schemas.microsoft.com/office/drawing/2014/main" id="{1C14085D-4519-4387-BF01-748A5E1D90A3}"/>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62E8862-32D2-48DE-AF3B-DC6D07F79A99}"/>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7EF0441-91E1-4DBF-809B-AD396084C124}"/>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CA95B812-B7C5-4C33-AEA2-AF40D2191362}"/>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systems can have energy, water, hardware, cost, and environmental justice implications. Departments should consider whether the public health value of a high-compute use justifies its resource burden and whether lower-impact alternatives.</a:t>
            </a:r>
          </a:p>
        </p:txBody>
      </p:sp>
      <p:sp>
        <p:nvSpPr>
          <p:cNvPr id="9" name="">
            <a:extLst xmlns:a="http://schemas.openxmlformats.org/drawingml/2006/main">
              <a:ext uri="{FF2B5EF4-FFF2-40B4-BE49-F238E27FC236}">
                <a16:creationId xmlns:a16="http://schemas.microsoft.com/office/drawing/2014/main" id="{8DACDDC6-692E-4688-ADBF-2AB7FE3CCB79}"/>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F8F55D1-1685-41B1-B0CF-9134DDAC6E88}"/>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A4832330-BEE7-4574-9278-A59A41F5E4FF}"/>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D72D621F-2C16-4A9D-8F31-32D3B047F837}"/>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High-compute AI uses should be justified by public health value and reviewed for resource burden and environmental justice implications.</a:t>
            </a:r>
          </a:p>
        </p:txBody>
      </p:sp>
      <p:sp>
        <p:nvSpPr>
          <p:cNvPr id="13" name="">
            <a:extLst xmlns:a="http://schemas.openxmlformats.org/drawingml/2006/main">
              <a:ext uri="{FF2B5EF4-FFF2-40B4-BE49-F238E27FC236}">
                <a16:creationId xmlns:a16="http://schemas.microsoft.com/office/drawing/2014/main" id="{16E55B0A-C19D-4FA5-8DF0-DC7542CCDE5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4" name="">
            <a:extLst xmlns:a="http://schemas.openxmlformats.org/drawingml/2006/main">
              <a:ext uri="{FF2B5EF4-FFF2-40B4-BE49-F238E27FC236}">
                <a16:creationId xmlns:a16="http://schemas.microsoft.com/office/drawing/2014/main" id="{77B9F9DA-B094-40F5-A7BF-52B7890FD25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93267766"/>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DAF359-D586-412C-B023-5A7E515639D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3B8F57E-45D0-448C-AC41-DD2F7610550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6C3FA302-1079-45CF-9D89-E901B194B4F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41A0FB6-64AF-421C-9FFC-37D6FB4E204A}"/>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F727441C-8919-43B2-BA1D-4A9F65FE799B}"/>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Environmental and Resource Impacts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23362452-DDB6-4CC8-A833-CD1C8FB8376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7" name="">
            <a:extLst xmlns:a="http://schemas.openxmlformats.org/drawingml/2006/main">
              <a:ext uri="{FF2B5EF4-FFF2-40B4-BE49-F238E27FC236}">
                <a16:creationId xmlns:a16="http://schemas.microsoft.com/office/drawing/2014/main" id="{3CD49E44-29F5-4B3B-9B5E-6A2B275CAD0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3088774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4EDC6B-44B1-4569-91D8-6C629C2B4D4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1D76933-C1D6-4D66-80E1-0439133ADB4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360AF7FF-537D-4318-BB91-8E9A301893B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64C2541-E976-4F5D-9134-C933B610AD12}"/>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systems can require substantial compute, energy, water, hardware, and vendor infrastructure. Public health departments do not need to perform complex environmental modeling for every use, but they should consider whether a proposed AI use is proportionate to the public health value, whether lower-impact alternatives exist, and whether infrastructure burdens raise environmental justice concerns.</a:t>
            </a:r>
          </a:p>
        </p:txBody>
      </p:sp>
      <p:sp>
        <p:nvSpPr>
          <p:cNvPr id="5" name="">
            <a:extLst xmlns:a="http://schemas.openxmlformats.org/drawingml/2006/main">
              <a:ext uri="{FF2B5EF4-FFF2-40B4-BE49-F238E27FC236}">
                <a16:creationId xmlns:a16="http://schemas.microsoft.com/office/drawing/2014/main" id="{F7C87ECD-05AC-4AA7-97E5-955E3D0E3912}"/>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5FF785B-10AE-42DF-B0FF-22DC247FD6A5}"/>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C9BE716A-7AFD-4DBD-918D-10719AB86749}"/>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C95F312F-819F-4290-80BA-F7ED6C567534}"/>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can carry energy, water, hardware, e-waste, procurement, and environmental justice implications that should be considered before scale.</a:t>
            </a:r>
          </a:p>
        </p:txBody>
      </p:sp>
      <p:sp>
        <p:nvSpPr>
          <p:cNvPr id="9" name="">
            <a:extLst xmlns:a="http://schemas.openxmlformats.org/drawingml/2006/main">
              <a:ext uri="{FF2B5EF4-FFF2-40B4-BE49-F238E27FC236}">
                <a16:creationId xmlns:a16="http://schemas.microsoft.com/office/drawing/2014/main" id="{60DF0E5D-360F-44A1-8B16-AC0DCE120E6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0" name="">
            <a:extLst xmlns:a="http://schemas.openxmlformats.org/drawingml/2006/main">
              <a:ext uri="{FF2B5EF4-FFF2-40B4-BE49-F238E27FC236}">
                <a16:creationId xmlns:a16="http://schemas.microsoft.com/office/drawing/2014/main" id="{C6A12792-468A-4762-AAD1-73F9D4F9430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450367271"/>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3E6AFF-E28D-407E-A1F8-DA6E35ED3BC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C01A6DE-B01D-4231-BF69-BFEB1F2B112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404B73BB-8A85-42B6-B636-093A98D90E8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B9BDBE2-539D-45F1-AF1A-2B07C42BCC5C}"/>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45F167A-04CF-4ACD-8BCC-5CAB97F9270E}"/>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CFBE0EC7-4C1C-41C8-9FE6-5101C437E5A1}"/>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Questions</a:t>
            </a:r>
          </a:p>
        </p:txBody>
      </p:sp>
      <p:sp>
        <p:nvSpPr>
          <p:cNvPr id="7" name="">
            <a:extLst xmlns:a="http://schemas.openxmlformats.org/drawingml/2006/main">
              <a:ext uri="{FF2B5EF4-FFF2-40B4-BE49-F238E27FC236}">
                <a16:creationId xmlns:a16="http://schemas.microsoft.com/office/drawing/2014/main" id="{D92211F5-EDF4-4B2A-A21F-99C3F6E9B1CF}"/>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Is the AI use necessary, or could a simpler analytic, workflow, or rule-based approach achieve the same goal? Will the vendor disclose sustainability practices, data center location, energy use, water use, or environmental commitments? Does.</a:t>
            </a:r>
          </a:p>
        </p:txBody>
      </p:sp>
      <p:sp>
        <p:nvSpPr>
          <p:cNvPr id="8" name="">
            <a:extLst xmlns:a="http://schemas.openxmlformats.org/drawingml/2006/main">
              <a:ext uri="{FF2B5EF4-FFF2-40B4-BE49-F238E27FC236}">
                <a16:creationId xmlns:a16="http://schemas.microsoft.com/office/drawing/2014/main" id="{4B0ACD51-B182-486E-81DA-7816F5F74AAB}"/>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039B56A-F31B-40DB-A7CC-C4D800F1461E}"/>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D4A1FD44-3078-41C4-A00D-069E21684F3C}"/>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Procurement Relevance</a:t>
            </a:r>
          </a:p>
        </p:txBody>
      </p:sp>
      <p:sp>
        <p:nvSpPr>
          <p:cNvPr id="11" name="">
            <a:extLst xmlns:a="http://schemas.openxmlformats.org/drawingml/2006/main">
              <a:ext uri="{FF2B5EF4-FFF2-40B4-BE49-F238E27FC236}">
                <a16:creationId xmlns:a16="http://schemas.microsoft.com/office/drawing/2014/main" id="{C1161F24-FC62-4F2E-823F-469119834AEA}"/>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Ask vendors for sustainability, compute, hosting, and data center information when relevant. Compare lower-impact model sizes, retrieval approaches, or existing enterprise tools. Include resource impacts in funding and sustainment planning.</a:t>
            </a:r>
          </a:p>
        </p:txBody>
      </p:sp>
      <p:sp>
        <p:nvSpPr>
          <p:cNvPr id="12" name="">
            <a:extLst xmlns:a="http://schemas.openxmlformats.org/drawingml/2006/main">
              <a:ext uri="{FF2B5EF4-FFF2-40B4-BE49-F238E27FC236}">
                <a16:creationId xmlns:a16="http://schemas.microsoft.com/office/drawing/2014/main" id="{6B54BB70-BFB2-4BA4-8B50-21C6DE5B1DC4}"/>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140FD4C8-373C-47A7-9B11-0436E3EF6608}"/>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8F5BC0CF-D0D8-4B53-A7EE-B073B5FBD3CF}"/>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Decision Standard</a:t>
            </a:r>
          </a:p>
        </p:txBody>
      </p:sp>
      <p:sp>
        <p:nvSpPr>
          <p:cNvPr id="15" name="">
            <a:extLst xmlns:a="http://schemas.openxmlformats.org/drawingml/2006/main">
              <a:ext uri="{FF2B5EF4-FFF2-40B4-BE49-F238E27FC236}">
                <a16:creationId xmlns:a16="http://schemas.microsoft.com/office/drawing/2014/main" id="{DD4EE2B0-1BAE-4860-B042-828BADFEADEE}"/>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Higher resource burden should be justified by clear public health value, governance approval, and feasible sustainment. Environmental review should be documented for high-compute or large-scale deployments.</a:t>
            </a:r>
          </a:p>
        </p:txBody>
      </p:sp>
      <p:sp>
        <p:nvSpPr>
          <p:cNvPr id="16" name="">
            <a:extLst xmlns:a="http://schemas.openxmlformats.org/drawingml/2006/main">
              <a:ext uri="{FF2B5EF4-FFF2-40B4-BE49-F238E27FC236}">
                <a16:creationId xmlns:a16="http://schemas.microsoft.com/office/drawing/2014/main" id="{35B91F4F-1162-4672-A088-47729C498A5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7" name="">
            <a:extLst xmlns:a="http://schemas.openxmlformats.org/drawingml/2006/main">
              <a:ext uri="{FF2B5EF4-FFF2-40B4-BE49-F238E27FC236}">
                <a16:creationId xmlns:a16="http://schemas.microsoft.com/office/drawing/2014/main" id="{C35E6781-5F46-4B6C-B95D-2FBD809752D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2143118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F32D79-C659-4A41-AFF1-F40EB16CC89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6A6E790-8B57-444D-846F-74B1A034F20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681D77FC-32D6-4402-925C-DB58FCC6105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EA3B2F1-F508-4A9E-A4A6-1A9D79F41E5E}"/>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8B2D5D91-D637-4FC9-9E00-2E2F57B0C0C1}"/>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77F7933-8119-4190-B66B-2FC50A86D119}"/>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C619242E-E64B-42A1-BDBD-887DFC786F94}"/>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vendor sustainability claims</a:t>
            </a:r>
          </a:p>
        </p:txBody>
      </p:sp>
      <p:sp>
        <p:nvSpPr>
          <p:cNvPr id="8" name="">
            <a:extLst xmlns:a="http://schemas.openxmlformats.org/drawingml/2006/main">
              <a:ext uri="{FF2B5EF4-FFF2-40B4-BE49-F238E27FC236}">
                <a16:creationId xmlns:a16="http://schemas.microsoft.com/office/drawing/2014/main" id="{EFB84CCA-FB7F-4AF1-948A-F9867F8C4929}"/>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9809AD5B-E58D-4DF4-9D34-1854F8F1C580}"/>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3C54F6D-3E6A-4401-8556-4D21DC44B144}"/>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55E0D6E4-C705-4B64-94C2-F348A3CD8AB0}"/>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Compare lower-impact alternatives</a:t>
            </a:r>
          </a:p>
        </p:txBody>
      </p:sp>
      <p:sp>
        <p:nvSpPr>
          <p:cNvPr id="12" name="">
            <a:extLst xmlns:a="http://schemas.openxmlformats.org/drawingml/2006/main">
              <a:ext uri="{FF2B5EF4-FFF2-40B4-BE49-F238E27FC236}">
                <a16:creationId xmlns:a16="http://schemas.microsoft.com/office/drawing/2014/main" id="{C13B0D35-6B87-4BBE-B915-2BF829388772}"/>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31533FF4-BF2F-47B8-841F-DF76EE22E064}"/>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C418B71-1603-4DA6-A12A-D3086206790A}"/>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163B75FD-EBE9-4C58-AFE0-C08DFBD73590}"/>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Flag data center environmental justice concerns</a:t>
            </a:r>
          </a:p>
        </p:txBody>
      </p:sp>
      <p:sp>
        <p:nvSpPr>
          <p:cNvPr id="16" name="">
            <a:extLst xmlns:a="http://schemas.openxmlformats.org/drawingml/2006/main">
              <a:ext uri="{FF2B5EF4-FFF2-40B4-BE49-F238E27FC236}">
                <a16:creationId xmlns:a16="http://schemas.microsoft.com/office/drawing/2014/main" id="{833B04C1-4F83-4A86-8452-F632B2AF006B}"/>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BD1CCAE8-39CE-4535-BBCF-837E624D179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8" name="">
            <a:extLst xmlns:a="http://schemas.openxmlformats.org/drawingml/2006/main">
              <a:ext uri="{FF2B5EF4-FFF2-40B4-BE49-F238E27FC236}">
                <a16:creationId xmlns:a16="http://schemas.microsoft.com/office/drawing/2014/main" id="{0DACFE2B-248B-4594-96CD-5071576BA1D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642591344"/>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DEF341-D4CA-4117-A194-859413D097A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35438AF-FF15-4840-913E-E072B21DDEF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D6F23675-8698-4149-9505-29B9C95025B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425BD40-AB9A-42B5-A6B6-A64BC8DDD6C9}"/>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AC0B0CD-0479-427C-B8DB-22D1CC7FA2FE}"/>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5AEEC0EA-50B5-4405-A665-426C3DB6CD2E}"/>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4FE30F85-E574-4017-AB0F-F54C323B0645}"/>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Is AI necessary for this task, or would a simpler approach work? What sustainability and infrastructure information should vendors disclose? Could resource burdens affect communities already facing environmental inequities?</a:t>
            </a:r>
          </a:p>
        </p:txBody>
      </p:sp>
      <p:sp>
        <p:nvSpPr>
          <p:cNvPr id="8" name="">
            <a:extLst xmlns:a="http://schemas.openxmlformats.org/drawingml/2006/main">
              <a:ext uri="{FF2B5EF4-FFF2-40B4-BE49-F238E27FC236}">
                <a16:creationId xmlns:a16="http://schemas.microsoft.com/office/drawing/2014/main" id="{D6AFEBC2-7056-49FB-94B9-CF0AAADF3A3B}"/>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6970F7D-D358-494E-A459-95166C53DFF3}"/>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B958DECC-A31C-48D6-A0E5-4ABB6742A43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6892BD79-2F5A-4C90-8093-292E76FD435A}"/>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one proposed AI project and compare a high-compute option, a smaller model or RAG option, and a non-AI option. Document benefits, limitations, costs, and resource implications.</a:t>
            </a:r>
          </a:p>
        </p:txBody>
      </p:sp>
      <p:sp>
        <p:nvSpPr>
          <p:cNvPr id="12" name="">
            <a:extLst xmlns:a="http://schemas.openxmlformats.org/drawingml/2006/main">
              <a:ext uri="{FF2B5EF4-FFF2-40B4-BE49-F238E27FC236}">
                <a16:creationId xmlns:a16="http://schemas.microsoft.com/office/drawing/2014/main" id="{B422C694-A40A-4568-99BF-E533776D9AF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3" name="">
            <a:extLst xmlns:a="http://schemas.openxmlformats.org/drawingml/2006/main">
              <a:ext uri="{FF2B5EF4-FFF2-40B4-BE49-F238E27FC236}">
                <a16:creationId xmlns:a16="http://schemas.microsoft.com/office/drawing/2014/main" id="{AD11EEB1-4B47-4259-AFE8-109EC416816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6175410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875099-E6AB-467D-9F7F-F733F1AA166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B56AA2A-48FB-4FD9-9E3F-1AF91D783BC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867A29CC-84A2-415E-99D5-74AE11CF762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F1DC3A2-4302-4B4A-A99C-B759B9A91FAD}"/>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B1DD1A0-BD96-4633-82A1-FF6465913800}"/>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E0EAFAA4-4122-40F2-835B-F1F54374A65B}"/>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040EC016-55DE-400A-A4F8-9A70E7A2BAFD}"/>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7, 8 and Tools 5, 30, 33.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7A4339E4-9E90-409E-B06F-EA0062641243}"/>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3111593-71D5-47B7-990E-7F4E3F8FD827}"/>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51D31F69-C083-42A1-8294-FB670D4C08C8}"/>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5E6D6399-4C9D-4186-8A77-7D131D9E8073}"/>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Resource, public health systems, and responsible AI framing. EPA Environmental Justice: Environmental justice context for reviewing infrastructure, procurement, and community burden. NIST AI Risk Management.</a:t>
            </a:r>
          </a:p>
        </p:txBody>
      </p:sp>
      <p:sp>
        <p:nvSpPr>
          <p:cNvPr id="12" name="">
            <a:extLst xmlns:a="http://schemas.openxmlformats.org/drawingml/2006/main">
              <a:ext uri="{FF2B5EF4-FFF2-40B4-BE49-F238E27FC236}">
                <a16:creationId xmlns:a16="http://schemas.microsoft.com/office/drawing/2014/main" id="{A4F2F3DD-4C50-4BE0-9A9C-A65413EF815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3" name="">
            <a:extLst xmlns:a="http://schemas.openxmlformats.org/drawingml/2006/main">
              <a:ext uri="{FF2B5EF4-FFF2-40B4-BE49-F238E27FC236}">
                <a16:creationId xmlns:a16="http://schemas.microsoft.com/office/drawing/2014/main" id="{5A49D141-1282-494F-B089-9313C2E62B7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664433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2026-07-02T16:03:04.5480000Z</dcterms:created>
  <dcterms:modified xsi:type="dcterms:W3CDTF">2026-07-02T16:03:04.5480000Z</dcterms:modified>
</coreProperties>
</file>