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 400 Executive AI Decision Rights and Accountability
AI governance can only work when decision rights are clear. Leaders need to know who can approve a pilot, who can accept residual risk, who can authorize use of sensitive data, who can pause a tool, and who is accountable when an AI-supported workflow affects public health action. Ambiguous accountability is especially risky in public health because AI outputs may influence investigations, communications, referrals, resource allocation, and community trust. This module focuses on executive decision rights and accountability structures. Learners examine how to assign ownership across strategy, risk, technical implementation, program operations, privacy, legal, cybersecurity, procurement, communications, and community accountability. The module emphasizes that accountability cannot be delegated to a vendor or to the AI system itself. Public health agencies remain accountable for how AI is selected, used, monitored, and explained.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advanced/leadership
Primary track: Public Health Executive Leadership Track
Appears in tracks: governance-security
AI governance can only work when decision rights are clear. Leaders need to know who can approve a pilot, who can accept residual risk, who can authorize use of sensitive data, who can pause a tool, and who is accountable when an AI-supported workflow affects public health action. Ambiguous accountability is especially risky in public health because AI outputs may influence investigations, communications, referrals, resource allocation, and community trust. This module focuses on executive decision rights and accountability structures. Learners examine how to assign ownership across strategy, risk, technical implementation, program operations, privacy, legal, cybersecurity, procurement, communications, and community accountability. The module emphasizes that accountability cannot be delegated to a vendor or to the AI system itself. Public health agencies remain accountable for how AI is selected, used, monitored, and explained.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1: Vision &amp; Guardrails - This lesson informs Play 1 by helping learners connect the lesson topic to vision &amp; guardrails work in the AI Playbook sequence.
Play 3: Establish AI Governance - This lesson informs Play 3 by helping learners connect the lesson topic to establish ai governance work in the AI Playbook sequence.
Play 7: Prioritize Use Cases - This lesson informs Play 7 by helping learners connect the lesson topic to prioritize use cases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32: Vendor Evaluation Checklist (Checklist) - Use this tool to complete or strengthen the practical exercise for the module using fictional, de-identified, or generalized.
Tool 34: STLT AI Procurement and Vendor Addendum (Checklist) - Use this tool to complete or strengthen the practical exercise for the module using fictional, de-identified, or generalized.
Tool 3: Equity Impact Assessment Checklist (Checklist) - Use this tool to complete or strengthen the practical exercise for the module using fictional, de-identified, or generalized.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Human-Centered AI Decision Rule Checklist to translate this lesson into a documented public health AI planning, governance,.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why AI accountability must be assigned to people and roles rather than to tools or vendors.
Identify executive, program, technical, privacy, legal, security, and governance responsibilities for AI decisions.
Create a decision-rights matrix for AI use case approval, risk acceptance, monitoring, escalation, and retirement.
Distinguish between consultative input, approval authority, and operational ownership.
Define accountability expectations for vendor-supported AI tools and internally developed tools.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AI governance can only work when decision rights are clear. Leaders need to know who can approve a pilot, who can accept residual risk, who can authorize use of sensitive data, who can pause a tool, and who is accountable when an AI-supported workflow affects public health action. Ambiguous accountability is especially risky in public health because AI outputs may influence investigations, communications, referrals, resource allocation, and community trust.
This module focuses on executive decision rights and accountability structures. Learners examine how to assign ownership across strategy, risk, technical implementation, program operations, privacy, legal, cybersecurity, procurement, communications, and community accountability. The module emphasizes that accountability cannot be delegated to a vendor or to the AI system itself. Public health agencies remain accountable for how AI is selected, used, monitored, and explained.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module provides national-level training guidance for public health agencies and partners. It is not legal advice and does not replace review by agency legal counsel, privacy officers, procurement officials, civil rights staff, records officers, or other authorized decision-makers. Requirements may vary by state, locality, territory, Tribe, agency, funding source, data-sharing agreement, emergency authority, and organizational policy. Learners should use this module to identify the issues that require review and should confirm applicable requirements before approving, procuring, deploying, or publicly communicating about AI-supported work.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AI systems can distribute responsibility across many actors. A vendor may provide the model, IT may manage access, a program may define the workflow, an epidemiologist may review the output, and leadership may approve implementation. Without a formal accountability model, each actor may assume that another party is responsible for validation, monitoring, public explanation, or incident response.
Clear decision rights support trust and speed. When leaders know which decisions they own, they can act quickly when a tool performs poorly, when a privacy concern emerges, or when a public-facing communication needs review. Decision rights also prevent informal escalation patterns in which difficult decisions are delayed because no one is clearly authorized to accept, modify, or reject a proposed use.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local health department implements an AI-assisted tool to classify incoming environmental health complaints by topic and urgency. The vendor configured the model, IT manages access, environmental health staff review the queue, and the program director owns the workflow. A complaint is misclassified and a serious housing-related concern is not routed for timely follow-up.
A decision-rights matrix helps the agency respond. The program owner is accountable for workflow performance, the vendor must provide technical support and documentation, IT reviews logging and access, governance reviews whether use should continue, and an executive sponsor decides whether the risk requires pausing the tool. Because responsibilities are defined in advance, the agency can respond without confusion or blame shifting.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and Governance Deep Dive
Decision rights should be defined across the full AI lifecycle. During ideation, leadership may decide whether a use case aligns with agency priorities. During review, governance may decide whether the use case is low, moderate, or high risk. During procurement, authorized officials decide whether vendor claims, contract language, and technical requirements are sufficient. During implementation, program and technical owners decide whether acceptance criteria have been met. During operations, defined owners decide whether monitoring results require adjustment, escalation, or retirement.
A public health accountability model should separate approval authority from operational ownership. An executive may approve a use case, but the program owner remains accountable for how the workflow functions. A privacy officer may advise on data safeguards, but the program cannot treat that consultation as a substitute for ongoing compliance. A vendor may provide model documentation, but the agency must decide whether the documentation is sufficient for its context and authorities.
Decision rights should also include stop authority. Agencies often define who can approve a tool but fail to define who can pause it. Stop authority is essential for AI because model performance, data flows, user behavior, and public conditions can change over time. A clear pause process helps staff report concerns early rather than waiting for a serious incident.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One risk is accountability diffusion. When everyone is involved but no one is accountable, important concerns may go unresolved. A guardrail is to assign a named program owner and governance owner for every AI use case.
Another risk is inappropriate risk acceptance by staff who lack authority. A frontline supervisor may feel pressure to continue a tool despite known concerns. A guardrail is to define which risks can be accepted at the program level and which require executive or governance approval.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For generative AI, decision rights should clarify who approves public release of AI-assisted content. For predictive analytics, leaders should decide whether the score may inform resource allocation or only support review. For agentic AI, decision rights should define who authorizes system actions, rollback procedures, and changes to permissions. Accountability should remain tied to public health roles and legal authority.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current or proposed AI use case in your agency raises this leadership or governance issue most clearly?
Who currently has authority to make decisions about this issue, and is that authority documented?
What evidence would governance or leadership need before approving the use case?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staff, partners, or communities would be affected if this issue were handled poorly?
What policy, process, or artifact should be created or updated after this module?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decision-rights matrix for one AI use case. Include approval, data access, validation, launch, monitoring, incident escalation, risk acceptance, public communication, and retirement.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You Begin
Choose a real or realistic public health AI use case. Document assumptions, unresolved questions, and which agency roles would need to review the artifact before it is adopted. The exercise should produce a work product that could support governance review, leadership discussion, implementation planning, or policy development.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Decision-rights matrix; RACI table; risk acceptance thresholds; escalation authority list.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Decision-rights matrix; RACI table; risk acceptance thresholds; escalation authority list.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strongest reason this module topic belongs in AI leadership and governance training?
2. Which practice best supports accountable public health AI governance?
3. When should an AI use case be escalated for leadership or governance review?
4. What is weak evidence of completion for a leadership and governance module?
5. What should leaders do when an AI use case has meaningful benefits but unresolved risks?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NIST Artificial Intelligence Risk Management Framework (AI RMF 1.0): https://www.nist.gov/itl/ai-risk-management-framework
NIST Generative AI Profile: https://www.nist.gov/publications/artificial-intelligence-risk-management-framework-generative-artificial-intelligence
NIST Privacy Framework
CDC Public Health Data Strategy and Data Modernization resources: https://www.cdc.gov/public-health-data-strategy/php/about/index.html
WHO Ethics and Governance of Artificial Intelligence for Health: https://www.who.int/publications/i/item/9789240029200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OMB Memorandum M-24-10 on federal AI governance, risk management, and innovation, where relevant to public-sector governance models
Agency strategic plans, procurement policies, privacy policies, cybersecurity policies, records policies, and equity plans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EXE 400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Executive AI Decision Rights and Accountability</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Decision Rights and Accountability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governance can only work when decision rights are clear.</a:t>
            </a:r>
            <a:endParaRPr lang="en-US" sz="2100" dirty="0"/>
          </a:p>
          <a:p>
            <a:r>
              <a:rPr lang="en-US" sz="2100" dirty="0">
                <a:solidFill>
                  <a:srgbClr val="17364A"/>
                </a:solidFill>
                <a:latin typeface="Aptos" pitchFamily="34" charset="0"/>
                <a:ea typeface="Aptos" pitchFamily="34" charset="-122"/>
                <a:cs typeface="Aptos" pitchFamily="34" charset="-120"/>
              </a:rPr>
              <a:t>Leaders need to know who can approve a pilot, who can accept residual risk, who can authorize use of sensitive.</a:t>
            </a:r>
            <a:endParaRPr lang="en-US" sz="2100" dirty="0"/>
          </a:p>
          <a:p>
            <a:r>
              <a:rPr lang="en-US" sz="2100" dirty="0">
                <a:solidFill>
                  <a:srgbClr val="17364A"/>
                </a:solidFill>
                <a:latin typeface="Aptos" pitchFamily="34" charset="0"/>
                <a:ea typeface="Aptos" pitchFamily="34" charset="-122"/>
                <a:cs typeface="Aptos" pitchFamily="34" charset="-120"/>
              </a:rPr>
              <a:t>Ambiguous accountability is especially risky in public health because AI outputs may influence investigations,.</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advanced/leadership</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Public Health Executive Leadership Track</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governance-security</a:t>
            </a:r>
            <a:endParaRPr lang="en-US" sz="1550" dirty="0"/>
          </a:p>
        </p:txBody>
      </p:sp>
      <p:sp>
        <p:nvSpPr>
          <p:cNvPr id="13" name="Shape 11"/>
          <p:cNvSpPr/>
          <p:nvPr/>
        </p:nvSpPr>
        <p:spPr>
          <a:xfrm>
            <a:off x="7635240" y="3730752"/>
            <a:ext cx="103327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708392"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Learn</a:t>
            </a:r>
            <a:endParaRPr lang="en-US" sz="1500" dirty="0"/>
          </a:p>
        </p:txBody>
      </p:sp>
      <p:sp>
        <p:nvSpPr>
          <p:cNvPr id="15" name="Shape 13"/>
          <p:cNvSpPr/>
          <p:nvPr/>
        </p:nvSpPr>
        <p:spPr>
          <a:xfrm>
            <a:off x="8924544" y="3730752"/>
            <a:ext cx="1033272" cy="749808"/>
          </a:xfrm>
          <a:prstGeom prst="roundRect">
            <a:avLst>
              <a:gd name="adj" fmla="val 14634"/>
            </a:avLst>
          </a:prstGeom>
          <a:solidFill>
            <a:srgbClr val="2F8A28"/>
          </a:solidFill>
          <a:ln w="12700">
            <a:solidFill>
              <a:srgbClr val="2F8A28"/>
            </a:solidFill>
            <a:prstDash val="solid"/>
          </a:ln>
        </p:spPr>
      </p:sp>
      <p:sp>
        <p:nvSpPr>
          <p:cNvPr id="16" name="Text 14"/>
          <p:cNvSpPr/>
          <p:nvPr/>
        </p:nvSpPr>
        <p:spPr>
          <a:xfrm>
            <a:off x="8997696"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Apply</a:t>
            </a:r>
            <a:endParaRPr lang="en-US" sz="1500" dirty="0"/>
          </a:p>
        </p:txBody>
      </p:sp>
      <p:sp>
        <p:nvSpPr>
          <p:cNvPr id="17" name="Shape 15"/>
          <p:cNvSpPr/>
          <p:nvPr/>
        </p:nvSpPr>
        <p:spPr>
          <a:xfrm>
            <a:off x="10213848" y="3730752"/>
            <a:ext cx="1033272" cy="749808"/>
          </a:xfrm>
          <a:prstGeom prst="roundRect">
            <a:avLst>
              <a:gd name="adj" fmla="val 14634"/>
            </a:avLst>
          </a:prstGeom>
          <a:solidFill>
            <a:srgbClr val="6A4CA3"/>
          </a:solidFill>
          <a:ln w="12700">
            <a:solidFill>
              <a:srgbClr val="6A4CA3"/>
            </a:solidFill>
            <a:prstDash val="solid"/>
          </a:ln>
        </p:spPr>
      </p:sp>
      <p:sp>
        <p:nvSpPr>
          <p:cNvPr id="18" name="Text 16"/>
          <p:cNvSpPr/>
          <p:nvPr/>
        </p:nvSpPr>
        <p:spPr>
          <a:xfrm>
            <a:off x="10287000"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Document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Decision Rights and Accountability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a:p>
            <a:r>
              <a:rPr lang="en-US" sz="1900" dirty="0">
                <a:solidFill>
                  <a:srgbClr val="17364A"/>
                </a:solidFill>
                <a:latin typeface="Aptos" pitchFamily="34" charset="0"/>
                <a:ea typeface="Aptos" pitchFamily="34" charset="-122"/>
                <a:cs typeface="Aptos" pitchFamily="34" charset="-120"/>
              </a:rPr>
              <a:t>Play 1: Vision &amp; Guardrails - This lesson informs Play 1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3: Establish AI Governance - This lesson informs Play 3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7: Prioritize Use Cases - This lesson informs Play 7 by helping learners connect the lesson topic to.</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Lesson</a:t>
            </a:r>
            <a:endParaRPr lang="en-US" sz="1500" dirty="0"/>
          </a:p>
        </p:txBody>
      </p:sp>
      <p:sp>
        <p:nvSpPr>
          <p:cNvPr id="15" name="Shape 13"/>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6" name="Text 14"/>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Plays</a:t>
            </a:r>
            <a:endParaRPr lang="en-US" sz="1500" dirty="0"/>
          </a:p>
        </p:txBody>
      </p:sp>
      <p:sp>
        <p:nvSpPr>
          <p:cNvPr id="17" name="Shape 15"/>
          <p:cNvSpPr/>
          <p:nvPr/>
        </p:nvSpPr>
        <p:spPr>
          <a:xfrm>
            <a:off x="10274808" y="3977640"/>
            <a:ext cx="972312" cy="749808"/>
          </a:xfrm>
          <a:prstGeom prst="roundRect">
            <a:avLst>
              <a:gd name="adj" fmla="val 14634"/>
            </a:avLst>
          </a:prstGeom>
          <a:solidFill>
            <a:srgbClr val="6A4CA3"/>
          </a:solidFill>
          <a:ln w="12700">
            <a:solidFill>
              <a:srgbClr val="6A4CA3"/>
            </a:solidFill>
            <a:prstDash val="solid"/>
          </a:ln>
        </p:spPr>
      </p:sp>
      <p:sp>
        <p:nvSpPr>
          <p:cNvPr id="18" name="Text 16"/>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Decision Rights and Accountability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32: Vendor Evaluation Checklist (Checklist) - Use this tool to complete or strengthen the practical.</a:t>
            </a:r>
            <a:endParaRPr lang="en-US" sz="1850" dirty="0"/>
          </a:p>
          <a:p>
            <a:r>
              <a:rPr lang="en-US" sz="1850" dirty="0">
                <a:solidFill>
                  <a:srgbClr val="17364A"/>
                </a:solidFill>
                <a:latin typeface="Aptos" pitchFamily="34" charset="0"/>
                <a:ea typeface="Aptos" pitchFamily="34" charset="-122"/>
                <a:cs typeface="Aptos" pitchFamily="34" charset="-120"/>
              </a:rPr>
              <a:t>Tool 34: STLT AI Procurement and Vendor Addendum (Checklist) - Use this tool to complete or strengthen the.</a:t>
            </a:r>
            <a:endParaRPr lang="en-US" sz="1850" dirty="0"/>
          </a:p>
          <a:p>
            <a:r>
              <a:rPr lang="en-US" sz="1850" dirty="0">
                <a:solidFill>
                  <a:srgbClr val="17364A"/>
                </a:solidFill>
                <a:latin typeface="Aptos" pitchFamily="34" charset="0"/>
                <a:ea typeface="Aptos" pitchFamily="34" charset="-122"/>
                <a:cs typeface="Aptos" pitchFamily="34" charset="-120"/>
              </a:rPr>
              <a:t>Tool 3: Equity Impact Assessment Checklist (Checklist) - Use this tool to complete or strengthen the.</a:t>
            </a:r>
            <a:endParaRPr lang="en-US" sz="1850" dirty="0"/>
          </a:p>
          <a:p>
            <a:r>
              <a:rPr lang="en-US" sz="1850" dirty="0">
                <a:solidFill>
                  <a:srgbClr val="17364A"/>
                </a:solidFill>
                <a:latin typeface="Aptos" pitchFamily="34" charset="0"/>
                <a:ea typeface="Aptos" pitchFamily="34" charset="-122"/>
                <a:cs typeface="Aptos" pitchFamily="34" charset="-120"/>
              </a:rPr>
              <a:t>Tool 4: AI Policy Landscape Scan (Worksheet) - Use AI Policy Landscape Scan to translate this lesson into a.</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Concept</a:t>
            </a:r>
            <a:endParaRPr lang="en-US" sz="1500" dirty="0"/>
          </a:p>
        </p:txBody>
      </p:sp>
      <p:sp>
        <p:nvSpPr>
          <p:cNvPr id="15" name="Shape 13"/>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6" name="Text 14"/>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Tool</a:t>
            </a:r>
            <a:endParaRPr lang="en-US" sz="1500" dirty="0"/>
          </a:p>
        </p:txBody>
      </p:sp>
      <p:sp>
        <p:nvSpPr>
          <p:cNvPr id="17" name="Shape 15"/>
          <p:cNvSpPr/>
          <p:nvPr/>
        </p:nvSpPr>
        <p:spPr>
          <a:xfrm>
            <a:off x="10274808" y="3977640"/>
            <a:ext cx="972312" cy="749808"/>
          </a:xfrm>
          <a:prstGeom prst="roundRect">
            <a:avLst>
              <a:gd name="adj" fmla="val 14634"/>
            </a:avLst>
          </a:prstGeom>
          <a:solidFill>
            <a:srgbClr val="D69A2D"/>
          </a:solidFill>
          <a:ln w="12700">
            <a:solidFill>
              <a:srgbClr val="D69A2D"/>
            </a:solidFill>
            <a:prstDash val="solid"/>
          </a:ln>
        </p:spPr>
      </p:sp>
      <p:sp>
        <p:nvSpPr>
          <p:cNvPr id="18" name="Text 16"/>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Artifact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Decision Rights and Accountability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Explain why AI accountability must be assigned to people and roles rather than to tools or vendors.</a:t>
            </a:r>
            <a:endParaRPr lang="en-US" sz="2100" dirty="0"/>
          </a:p>
          <a:p>
            <a:r>
              <a:rPr lang="en-US" sz="2100" dirty="0">
                <a:solidFill>
                  <a:srgbClr val="17364A"/>
                </a:solidFill>
                <a:latin typeface="Aptos" pitchFamily="34" charset="0"/>
                <a:ea typeface="Aptos" pitchFamily="34" charset="-122"/>
                <a:cs typeface="Aptos" pitchFamily="34" charset="-120"/>
              </a:rPr>
              <a:t>Identify executive, program, technical, privacy, legal, security, and governance responsibilities for.</a:t>
            </a:r>
            <a:endParaRPr lang="en-US" sz="2100" dirty="0"/>
          </a:p>
          <a:p>
            <a:r>
              <a:rPr lang="en-US" sz="2100" dirty="0">
                <a:solidFill>
                  <a:srgbClr val="17364A"/>
                </a:solidFill>
                <a:latin typeface="Aptos" pitchFamily="34" charset="0"/>
                <a:ea typeface="Aptos" pitchFamily="34" charset="-122"/>
                <a:cs typeface="Aptos" pitchFamily="34" charset="-120"/>
              </a:rPr>
              <a:t>Create a decision-rights matrix for AI use case approval, risk acceptance, monitoring, escalation, and.</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Explain why AI accountability must be assigned to people and roles rather than to tools or vendors.</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8074152" y="3291840"/>
            <a:ext cx="2596896" cy="749808"/>
          </a:xfrm>
          <a:prstGeom prst="rect">
            <a:avLst/>
          </a:prstGeom>
          <a:solidFill>
            <a:srgbClr val="EAF6F8"/>
          </a:solidFill>
          <a:ln w="12700">
            <a:solidFill>
              <a:srgbClr val="8ABBD8"/>
            </a:solidFill>
            <a:prstDash val="solid"/>
          </a:ln>
        </p:spPr>
      </p:sp>
      <p:sp>
        <p:nvSpPr>
          <p:cNvPr id="15" name="Shape 13"/>
          <p:cNvSpPr/>
          <p:nvPr/>
        </p:nvSpPr>
        <p:spPr>
          <a:xfrm>
            <a:off x="8202168" y="3721608"/>
            <a:ext cx="2340864" cy="0"/>
          </a:xfrm>
          <a:prstGeom prst="line">
            <a:avLst/>
          </a:prstGeom>
          <a:noFill/>
          <a:ln w="19050">
            <a:solidFill>
              <a:srgbClr val="0068B7"/>
            </a:solidFill>
            <a:prstDash val="solid"/>
          </a:ln>
        </p:spPr>
      </p:sp>
      <p:sp>
        <p:nvSpPr>
          <p:cNvPr id="16" name="Shape 14"/>
          <p:cNvSpPr/>
          <p:nvPr/>
        </p:nvSpPr>
        <p:spPr>
          <a:xfrm>
            <a:off x="9198864" y="4206240"/>
            <a:ext cx="347472" cy="347472"/>
          </a:xfrm>
          <a:prstGeom prst="ellipse">
            <a:avLst/>
          </a:prstGeom>
          <a:solidFill>
            <a:srgbClr val="2F8A28"/>
          </a:solidFill>
          <a:ln w="12700">
            <a:solidFill>
              <a:srgbClr val="2F8A28"/>
            </a:solidFill>
            <a:prstDash val="solid"/>
          </a:ln>
        </p:spPr>
      </p:sp>
      <p:sp>
        <p:nvSpPr>
          <p:cNvPr id="17" name="Text 15"/>
          <p:cNvSpPr/>
          <p:nvPr/>
        </p:nvSpPr>
        <p:spPr>
          <a:xfrm>
            <a:off x="7909560" y="3977640"/>
            <a:ext cx="2926080" cy="182880"/>
          </a:xfrm>
          <a:prstGeom prst="rect">
            <a:avLst/>
          </a:prstGeom>
          <a:noFill/>
          <a:ln/>
        </p:spPr>
        <p:txBody>
          <a:bodyPr wrap="square" lIns="0" tIns="0" rIns="0" bIns="0" rtlCol="0" anchor="ctr"/>
          <a:lstStyle/>
          <a:p>
            <a:pPr algn="ctr" indent="0" marL="0">
              <a:buNone/>
            </a:pPr>
            <a:r>
              <a:rPr lang="en-US" sz="1000" dirty="0">
                <a:solidFill>
                  <a:srgbClr val="003A63"/>
                </a:solidFill>
                <a:latin typeface="Aptos" pitchFamily="34" charset="0"/>
                <a:ea typeface="Aptos" pitchFamily="34" charset="-122"/>
                <a:cs typeface="Aptos" pitchFamily="34" charset="-120"/>
              </a:rPr>
              <a:t>Concept to action</a:t>
            </a:r>
            <a:endParaRPr lang="en-US" sz="1000" dirty="0"/>
          </a:p>
        </p:txBody>
      </p:sp>
      <p:sp>
        <p:nvSpPr>
          <p:cNvPr id="18" name="Shape 16"/>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9" name="Text 17"/>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20" name="Text 18"/>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Decision Rights and Accountability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governance can only work when decision rights are clear.</a:t>
            </a:r>
            <a:endParaRPr lang="en-US" sz="2100" dirty="0"/>
          </a:p>
          <a:p>
            <a:r>
              <a:rPr lang="en-US" sz="2100" dirty="0">
                <a:solidFill>
                  <a:srgbClr val="17364A"/>
                </a:solidFill>
                <a:latin typeface="Aptos" pitchFamily="34" charset="0"/>
                <a:ea typeface="Aptos" pitchFamily="34" charset="-122"/>
                <a:cs typeface="Aptos" pitchFamily="34" charset="-120"/>
              </a:rPr>
              <a:t>Leaders need to know who can approve a pilot, who can accept residual risk, who can authorize use of.</a:t>
            </a:r>
            <a:endParaRPr lang="en-US" sz="2100" dirty="0"/>
          </a:p>
          <a:p>
            <a:r>
              <a:rPr lang="en-US" sz="2100" dirty="0">
                <a:solidFill>
                  <a:srgbClr val="17364A"/>
                </a:solidFill>
                <a:latin typeface="Aptos" pitchFamily="34" charset="0"/>
                <a:ea typeface="Aptos" pitchFamily="34" charset="-122"/>
                <a:cs typeface="Aptos" pitchFamily="34" charset="-120"/>
              </a:rPr>
              <a:t>Ambiguous accountability is especially risky in public health because AI outputs may influence.</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governance can only work when decision rights are clear.</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8074152" y="3291840"/>
            <a:ext cx="2596896" cy="749808"/>
          </a:xfrm>
          <a:prstGeom prst="rect">
            <a:avLst/>
          </a:prstGeom>
          <a:solidFill>
            <a:srgbClr val="EAF6F8"/>
          </a:solidFill>
          <a:ln w="12700">
            <a:solidFill>
              <a:srgbClr val="8ABBD8"/>
            </a:solidFill>
            <a:prstDash val="solid"/>
          </a:ln>
        </p:spPr>
      </p:sp>
      <p:sp>
        <p:nvSpPr>
          <p:cNvPr id="15" name="Shape 13"/>
          <p:cNvSpPr/>
          <p:nvPr/>
        </p:nvSpPr>
        <p:spPr>
          <a:xfrm>
            <a:off x="8202168" y="3721608"/>
            <a:ext cx="2340864" cy="0"/>
          </a:xfrm>
          <a:prstGeom prst="line">
            <a:avLst/>
          </a:prstGeom>
          <a:noFill/>
          <a:ln w="19050">
            <a:solidFill>
              <a:srgbClr val="0068B7"/>
            </a:solidFill>
            <a:prstDash val="solid"/>
          </a:ln>
        </p:spPr>
      </p:sp>
      <p:sp>
        <p:nvSpPr>
          <p:cNvPr id="16" name="Shape 14"/>
          <p:cNvSpPr/>
          <p:nvPr/>
        </p:nvSpPr>
        <p:spPr>
          <a:xfrm>
            <a:off x="9198864" y="4206240"/>
            <a:ext cx="347472" cy="347472"/>
          </a:xfrm>
          <a:prstGeom prst="ellipse">
            <a:avLst/>
          </a:prstGeom>
          <a:solidFill>
            <a:srgbClr val="2F8A28"/>
          </a:solidFill>
          <a:ln w="12700">
            <a:solidFill>
              <a:srgbClr val="2F8A28"/>
            </a:solidFill>
            <a:prstDash val="solid"/>
          </a:ln>
        </p:spPr>
      </p:sp>
      <p:sp>
        <p:nvSpPr>
          <p:cNvPr id="17" name="Text 15"/>
          <p:cNvSpPr/>
          <p:nvPr/>
        </p:nvSpPr>
        <p:spPr>
          <a:xfrm>
            <a:off x="7909560" y="3977640"/>
            <a:ext cx="2926080" cy="182880"/>
          </a:xfrm>
          <a:prstGeom prst="rect">
            <a:avLst/>
          </a:prstGeom>
          <a:noFill/>
          <a:ln/>
        </p:spPr>
        <p:txBody>
          <a:bodyPr wrap="square" lIns="0" tIns="0" rIns="0" bIns="0" rtlCol="0" anchor="ctr"/>
          <a:lstStyle/>
          <a:p>
            <a:pPr algn="ctr" indent="0" marL="0">
              <a:buNone/>
            </a:pPr>
            <a:r>
              <a:rPr lang="en-US" sz="1000" dirty="0">
                <a:solidFill>
                  <a:srgbClr val="003A63"/>
                </a:solidFill>
                <a:latin typeface="Aptos" pitchFamily="34" charset="0"/>
                <a:ea typeface="Aptos" pitchFamily="34" charset="-122"/>
                <a:cs typeface="Aptos" pitchFamily="34" charset="-120"/>
              </a:rPr>
              <a:t>Concept to action</a:t>
            </a:r>
            <a:endParaRPr lang="en-US" sz="1000" dirty="0"/>
          </a:p>
        </p:txBody>
      </p:sp>
      <p:sp>
        <p:nvSpPr>
          <p:cNvPr id="18" name="Shape 16"/>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9" name="Text 17"/>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20" name="Text 18"/>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purpose, responsible use, required safeguards, documentation, and the next action a department should take.</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Decision Rights and Accountability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module provides national-level training guidance for public health agencies and partners.</a:t>
            </a:r>
            <a:endParaRPr lang="en-US" sz="2100" dirty="0"/>
          </a:p>
          <a:p>
            <a:r>
              <a:rPr lang="en-US" sz="2100" dirty="0">
                <a:solidFill>
                  <a:srgbClr val="17364A"/>
                </a:solidFill>
                <a:latin typeface="Aptos" pitchFamily="34" charset="0"/>
                <a:ea typeface="Aptos" pitchFamily="34" charset="-122"/>
                <a:cs typeface="Aptos" pitchFamily="34" charset="-120"/>
              </a:rPr>
              <a:t>It is not legal advice and does not replace review by agency legal counsel, privacy officers,.</a:t>
            </a:r>
            <a:endParaRPr lang="en-US" sz="2100" dirty="0"/>
          </a:p>
          <a:p>
            <a:r>
              <a:rPr lang="en-US" sz="2100" dirty="0">
                <a:solidFill>
                  <a:srgbClr val="17364A"/>
                </a:solidFill>
                <a:latin typeface="Aptos" pitchFamily="34" charset="0"/>
                <a:ea typeface="Aptos" pitchFamily="34" charset="-122"/>
                <a:cs typeface="Aptos" pitchFamily="34" charset="-120"/>
              </a:rPr>
              <a:t>Requirements may vary by state, locality, territory, Tribe, agency, funding source, data-sharing.</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module provides national-level training guidance for public health agencies and partners.</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7891272" y="3108960"/>
            <a:ext cx="566928" cy="566928"/>
          </a:xfrm>
          <a:prstGeom prst="ellipse">
            <a:avLst/>
          </a:prstGeom>
          <a:solidFill>
            <a:srgbClr val="0068B7"/>
          </a:solidFill>
          <a:ln w="12700">
            <a:solidFill>
              <a:srgbClr val="0068B7"/>
            </a:solidFill>
            <a:prstDash val="solid"/>
          </a:ln>
        </p:spPr>
      </p:sp>
      <p:sp>
        <p:nvSpPr>
          <p:cNvPr id="15" name="Shape 13"/>
          <p:cNvSpPr/>
          <p:nvPr/>
        </p:nvSpPr>
        <p:spPr>
          <a:xfrm>
            <a:off x="10287000" y="3108960"/>
            <a:ext cx="566928" cy="566928"/>
          </a:xfrm>
          <a:prstGeom prst="ellipse">
            <a:avLst/>
          </a:prstGeom>
          <a:solidFill>
            <a:srgbClr val="2F8A28"/>
          </a:solidFill>
          <a:ln w="12700">
            <a:solidFill>
              <a:srgbClr val="2F8A28"/>
            </a:solidFill>
            <a:prstDash val="solid"/>
          </a:ln>
        </p:spPr>
      </p:sp>
      <p:sp>
        <p:nvSpPr>
          <p:cNvPr id="16" name="Shape 14"/>
          <p:cNvSpPr/>
          <p:nvPr/>
        </p:nvSpPr>
        <p:spPr>
          <a:xfrm>
            <a:off x="9089136" y="3456432"/>
            <a:ext cx="566928" cy="566928"/>
          </a:xfrm>
          <a:prstGeom prst="ellipse">
            <a:avLst/>
          </a:prstGeom>
          <a:solidFill>
            <a:srgbClr val="6A4CA3"/>
          </a:solidFill>
          <a:ln w="12700">
            <a:solidFill>
              <a:srgbClr val="6A4CA3"/>
            </a:solidFill>
            <a:prstDash val="solid"/>
          </a:ln>
        </p:spPr>
      </p:sp>
      <p:sp>
        <p:nvSpPr>
          <p:cNvPr id="17" name="Shape 15"/>
          <p:cNvSpPr/>
          <p:nvPr/>
        </p:nvSpPr>
        <p:spPr>
          <a:xfrm>
            <a:off x="8385048" y="3419856"/>
            <a:ext cx="1975104" cy="0"/>
          </a:xfrm>
          <a:prstGeom prst="line">
            <a:avLst/>
          </a:prstGeom>
          <a:noFill/>
          <a:ln w="25400">
            <a:solidFill>
              <a:srgbClr val="8ABBD8"/>
            </a:solidFill>
            <a:prstDash val="solid"/>
          </a:ln>
        </p:spPr>
      </p:sp>
      <p:sp>
        <p:nvSpPr>
          <p:cNvPr id="18" name="Shape 16"/>
          <p:cNvSpPr/>
          <p:nvPr/>
        </p:nvSpPr>
        <p:spPr>
          <a:xfrm>
            <a:off x="8202168" y="3630168"/>
            <a:ext cx="1170432" cy="118872"/>
          </a:xfrm>
          <a:prstGeom prst="line">
            <a:avLst/>
          </a:prstGeom>
          <a:noFill/>
          <a:ln w="25400">
            <a:solidFill>
              <a:srgbClr val="8ABBD8"/>
            </a:solidFill>
            <a:prstDash val="solid"/>
          </a:ln>
        </p:spPr>
      </p:sp>
      <p:sp>
        <p:nvSpPr>
          <p:cNvPr id="19" name="Shape 17"/>
          <p:cNvSpPr/>
          <p:nvPr/>
        </p:nvSpPr>
        <p:spPr>
          <a:xfrm>
            <a:off x="10543032" y="3630168"/>
            <a:ext cx="-1170432" cy="118872"/>
          </a:xfrm>
          <a:prstGeom prst="line">
            <a:avLst/>
          </a:prstGeom>
          <a:noFill/>
          <a:ln w="25400">
            <a:solidFill>
              <a:srgbClr val="8ABBD8"/>
            </a:solidFill>
            <a:prstDash val="solid"/>
          </a:ln>
        </p:spPr>
      </p:sp>
      <p:sp>
        <p:nvSpPr>
          <p:cNvPr id="20" name="Text 18"/>
          <p:cNvSpPr/>
          <p:nvPr/>
        </p:nvSpPr>
        <p:spPr>
          <a:xfrm>
            <a:off x="7863840" y="4069080"/>
            <a:ext cx="3017520" cy="164592"/>
          </a:xfrm>
          <a:prstGeom prst="rect">
            <a:avLst/>
          </a:prstGeom>
          <a:noFill/>
          <a:ln/>
        </p:spPr>
        <p:txBody>
          <a:bodyPr wrap="square" lIns="0" tIns="0" rIns="0" bIns="0" rtlCol="0" anchor="ctr"/>
          <a:lstStyle/>
          <a:p>
            <a:pPr algn="ctr" indent="0" marL="0">
              <a:buNone/>
            </a:pPr>
            <a:r>
              <a:rPr lang="en-US" sz="900" b="1" dirty="0">
                <a:solidFill>
                  <a:srgbClr val="003A63"/>
                </a:solidFill>
                <a:latin typeface="Aptos" pitchFamily="34" charset="0"/>
                <a:ea typeface="Aptos" pitchFamily="34" charset="-122"/>
                <a:cs typeface="Aptos" pitchFamily="34" charset="-120"/>
              </a:rPr>
              <a:t>Decision rights</a:t>
            </a:r>
            <a:endParaRPr lang="en-US" sz="900" dirty="0"/>
          </a:p>
        </p:txBody>
      </p:sp>
      <p:sp>
        <p:nvSpPr>
          <p:cNvPr id="21" name="Shape 19"/>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22" name="Text 20"/>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23" name="Text 21"/>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Translate this concept into clear decision rights, review steps, documentation expectations, and escalation paths before an AI-supported workflow is approved.</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Decision Rights and Accountability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systems can distribute responsibility across many actors.</a:t>
            </a:r>
            <a:endParaRPr lang="en-US" sz="2100" dirty="0"/>
          </a:p>
          <a:p>
            <a:r>
              <a:rPr lang="en-US" sz="2100" dirty="0">
                <a:solidFill>
                  <a:srgbClr val="17364A"/>
                </a:solidFill>
                <a:latin typeface="Aptos" pitchFamily="34" charset="0"/>
                <a:ea typeface="Aptos" pitchFamily="34" charset="-122"/>
                <a:cs typeface="Aptos" pitchFamily="34" charset="-120"/>
              </a:rPr>
              <a:t>A vendor may provide the model, IT may manage access, a program may define the workflow, an.</a:t>
            </a:r>
            <a:endParaRPr lang="en-US" sz="2100" dirty="0"/>
          </a:p>
          <a:p>
            <a:r>
              <a:rPr lang="en-US" sz="2100" dirty="0">
                <a:solidFill>
                  <a:srgbClr val="17364A"/>
                </a:solidFill>
                <a:latin typeface="Aptos" pitchFamily="34" charset="0"/>
                <a:ea typeface="Aptos" pitchFamily="34" charset="-122"/>
                <a:cs typeface="Aptos" pitchFamily="34" charset="-120"/>
              </a:rPr>
              <a:t>Without a formal accountability model, each actor may assume that another party is responsible for.</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systems can distribute responsibility across many actors.</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8074152" y="3291840"/>
            <a:ext cx="2596896" cy="749808"/>
          </a:xfrm>
          <a:prstGeom prst="rect">
            <a:avLst/>
          </a:prstGeom>
          <a:solidFill>
            <a:srgbClr val="EAF6F8"/>
          </a:solidFill>
          <a:ln w="12700">
            <a:solidFill>
              <a:srgbClr val="8ABBD8"/>
            </a:solidFill>
            <a:prstDash val="solid"/>
          </a:ln>
        </p:spPr>
      </p:sp>
      <p:sp>
        <p:nvSpPr>
          <p:cNvPr id="15" name="Shape 13"/>
          <p:cNvSpPr/>
          <p:nvPr/>
        </p:nvSpPr>
        <p:spPr>
          <a:xfrm>
            <a:off x="8202168" y="3721608"/>
            <a:ext cx="2340864" cy="0"/>
          </a:xfrm>
          <a:prstGeom prst="line">
            <a:avLst/>
          </a:prstGeom>
          <a:noFill/>
          <a:ln w="19050">
            <a:solidFill>
              <a:srgbClr val="0068B7"/>
            </a:solidFill>
            <a:prstDash val="solid"/>
          </a:ln>
        </p:spPr>
      </p:sp>
      <p:sp>
        <p:nvSpPr>
          <p:cNvPr id="16" name="Shape 14"/>
          <p:cNvSpPr/>
          <p:nvPr/>
        </p:nvSpPr>
        <p:spPr>
          <a:xfrm>
            <a:off x="9198864" y="4206240"/>
            <a:ext cx="347472" cy="347472"/>
          </a:xfrm>
          <a:prstGeom prst="ellipse">
            <a:avLst/>
          </a:prstGeom>
          <a:solidFill>
            <a:srgbClr val="2F8A28"/>
          </a:solidFill>
          <a:ln w="12700">
            <a:solidFill>
              <a:srgbClr val="2F8A28"/>
            </a:solidFill>
            <a:prstDash val="solid"/>
          </a:ln>
        </p:spPr>
      </p:sp>
      <p:sp>
        <p:nvSpPr>
          <p:cNvPr id="17" name="Text 15"/>
          <p:cNvSpPr/>
          <p:nvPr/>
        </p:nvSpPr>
        <p:spPr>
          <a:xfrm>
            <a:off x="7909560" y="3977640"/>
            <a:ext cx="2926080" cy="182880"/>
          </a:xfrm>
          <a:prstGeom prst="rect">
            <a:avLst/>
          </a:prstGeom>
          <a:noFill/>
          <a:ln/>
        </p:spPr>
        <p:txBody>
          <a:bodyPr wrap="square" lIns="0" tIns="0" rIns="0" bIns="0" rtlCol="0" anchor="ctr"/>
          <a:lstStyle/>
          <a:p>
            <a:pPr algn="ctr" indent="0" marL="0">
              <a:buNone/>
            </a:pPr>
            <a:r>
              <a:rPr lang="en-US" sz="1000" dirty="0">
                <a:solidFill>
                  <a:srgbClr val="003A63"/>
                </a:solidFill>
                <a:latin typeface="Aptos" pitchFamily="34" charset="0"/>
                <a:ea typeface="Aptos" pitchFamily="34" charset="-122"/>
                <a:cs typeface="Aptos" pitchFamily="34" charset="-120"/>
              </a:rPr>
              <a:t>Concept to action</a:t>
            </a:r>
            <a:endParaRPr lang="en-US" sz="1000" dirty="0"/>
          </a:p>
        </p:txBody>
      </p:sp>
      <p:sp>
        <p:nvSpPr>
          <p:cNvPr id="18" name="Shape 16"/>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9" name="Text 17"/>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20" name="Text 18"/>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purpose, responsible use, required safeguards, documentation, and the next action a department should take.</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Decision Rights and Accountability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local health department implements an AI-assisted tool to classify incoming environmental health.</a:t>
            </a:r>
            <a:endParaRPr lang="en-US" sz="2100" dirty="0"/>
          </a:p>
          <a:p>
            <a:r>
              <a:rPr lang="en-US" sz="2100" dirty="0">
                <a:solidFill>
                  <a:srgbClr val="17364A"/>
                </a:solidFill>
                <a:latin typeface="Aptos" pitchFamily="34" charset="0"/>
                <a:ea typeface="Aptos" pitchFamily="34" charset="-122"/>
                <a:cs typeface="Aptos" pitchFamily="34" charset="-120"/>
              </a:rPr>
              <a:t>The vendor configured the model, IT manages access, environmental health staff review the queue, and.</a:t>
            </a:r>
            <a:endParaRPr lang="en-US" sz="2100" dirty="0"/>
          </a:p>
          <a:p>
            <a:r>
              <a:rPr lang="en-US" sz="2100" dirty="0">
                <a:solidFill>
                  <a:srgbClr val="17364A"/>
                </a:solidFill>
                <a:latin typeface="Aptos" pitchFamily="34" charset="0"/>
                <a:ea typeface="Aptos" pitchFamily="34" charset="-122"/>
                <a:cs typeface="Aptos" pitchFamily="34" charset="-120"/>
              </a:rPr>
              <a:t>A complaint is misclassified and a serious housing-related concern is not routed for timely follow-up.</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local health department implements an AI-assisted tool to classify incoming environmental health.</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8074152" y="3291840"/>
            <a:ext cx="2596896" cy="749808"/>
          </a:xfrm>
          <a:prstGeom prst="rect">
            <a:avLst/>
          </a:prstGeom>
          <a:solidFill>
            <a:srgbClr val="EAF6F8"/>
          </a:solidFill>
          <a:ln w="12700">
            <a:solidFill>
              <a:srgbClr val="8ABBD8"/>
            </a:solidFill>
            <a:prstDash val="solid"/>
          </a:ln>
        </p:spPr>
      </p:sp>
      <p:sp>
        <p:nvSpPr>
          <p:cNvPr id="15" name="Shape 13"/>
          <p:cNvSpPr/>
          <p:nvPr/>
        </p:nvSpPr>
        <p:spPr>
          <a:xfrm>
            <a:off x="8202168" y="3721608"/>
            <a:ext cx="2340864" cy="0"/>
          </a:xfrm>
          <a:prstGeom prst="line">
            <a:avLst/>
          </a:prstGeom>
          <a:noFill/>
          <a:ln w="19050">
            <a:solidFill>
              <a:srgbClr val="0068B7"/>
            </a:solidFill>
            <a:prstDash val="solid"/>
          </a:ln>
        </p:spPr>
      </p:sp>
      <p:sp>
        <p:nvSpPr>
          <p:cNvPr id="16" name="Shape 14"/>
          <p:cNvSpPr/>
          <p:nvPr/>
        </p:nvSpPr>
        <p:spPr>
          <a:xfrm>
            <a:off x="9198864" y="4206240"/>
            <a:ext cx="347472" cy="347472"/>
          </a:xfrm>
          <a:prstGeom prst="ellipse">
            <a:avLst/>
          </a:prstGeom>
          <a:solidFill>
            <a:srgbClr val="2F8A28"/>
          </a:solidFill>
          <a:ln w="12700">
            <a:solidFill>
              <a:srgbClr val="2F8A28"/>
            </a:solidFill>
            <a:prstDash val="solid"/>
          </a:ln>
        </p:spPr>
      </p:sp>
      <p:sp>
        <p:nvSpPr>
          <p:cNvPr id="17" name="Text 15"/>
          <p:cNvSpPr/>
          <p:nvPr/>
        </p:nvSpPr>
        <p:spPr>
          <a:xfrm>
            <a:off x="7909560" y="3977640"/>
            <a:ext cx="2926080" cy="182880"/>
          </a:xfrm>
          <a:prstGeom prst="rect">
            <a:avLst/>
          </a:prstGeom>
          <a:noFill/>
          <a:ln/>
        </p:spPr>
        <p:txBody>
          <a:bodyPr wrap="square" lIns="0" tIns="0" rIns="0" bIns="0" rtlCol="0" anchor="ctr"/>
          <a:lstStyle/>
          <a:p>
            <a:pPr algn="ctr" indent="0" marL="0">
              <a:buNone/>
            </a:pPr>
            <a:r>
              <a:rPr lang="en-US" sz="1000" dirty="0">
                <a:solidFill>
                  <a:srgbClr val="003A63"/>
                </a:solidFill>
                <a:latin typeface="Aptos" pitchFamily="34" charset="0"/>
                <a:ea typeface="Aptos" pitchFamily="34" charset="-122"/>
                <a:cs typeface="Aptos" pitchFamily="34" charset="-120"/>
              </a:rPr>
              <a:t>Concept to action</a:t>
            </a:r>
            <a:endParaRPr lang="en-US" sz="1000" dirty="0"/>
          </a:p>
        </p:txBody>
      </p:sp>
      <p:sp>
        <p:nvSpPr>
          <p:cNvPr id="18" name="Shape 16"/>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9" name="Text 17"/>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20" name="Text 18"/>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purpose, responsible use, required safeguards, documentation, and the next action a department should take.</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Decision Rights and Accountability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and Governance Deep Dive</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Decision rights should be defined across the full AI lifecycle.</a:t>
            </a:r>
            <a:endParaRPr lang="en-US" sz="2100" dirty="0"/>
          </a:p>
          <a:p>
            <a:r>
              <a:rPr lang="en-US" sz="2100" dirty="0">
                <a:solidFill>
                  <a:srgbClr val="17364A"/>
                </a:solidFill>
                <a:latin typeface="Aptos" pitchFamily="34" charset="0"/>
                <a:ea typeface="Aptos" pitchFamily="34" charset="-122"/>
                <a:cs typeface="Aptos" pitchFamily="34" charset="-120"/>
              </a:rPr>
              <a:t>During ideation, leadership may decide whether a use case aligns with agency priorities.</a:t>
            </a:r>
            <a:endParaRPr lang="en-US" sz="2100" dirty="0"/>
          </a:p>
          <a:p>
            <a:r>
              <a:rPr lang="en-US" sz="2100" dirty="0">
                <a:solidFill>
                  <a:srgbClr val="17364A"/>
                </a:solidFill>
                <a:latin typeface="Aptos" pitchFamily="34" charset="0"/>
                <a:ea typeface="Aptos" pitchFamily="34" charset="-122"/>
                <a:cs typeface="Aptos" pitchFamily="34" charset="-120"/>
              </a:rPr>
              <a:t>During review, governance may decide whether the use case is low, moderate, or high risk.</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Decision rights should be defined across the full AI lifecycle.</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7891272" y="3108960"/>
            <a:ext cx="566928" cy="566928"/>
          </a:xfrm>
          <a:prstGeom prst="ellipse">
            <a:avLst/>
          </a:prstGeom>
          <a:solidFill>
            <a:srgbClr val="0068B7"/>
          </a:solidFill>
          <a:ln w="12700">
            <a:solidFill>
              <a:srgbClr val="0068B7"/>
            </a:solidFill>
            <a:prstDash val="solid"/>
          </a:ln>
        </p:spPr>
      </p:sp>
      <p:sp>
        <p:nvSpPr>
          <p:cNvPr id="15" name="Shape 13"/>
          <p:cNvSpPr/>
          <p:nvPr/>
        </p:nvSpPr>
        <p:spPr>
          <a:xfrm>
            <a:off x="10287000" y="3108960"/>
            <a:ext cx="566928" cy="566928"/>
          </a:xfrm>
          <a:prstGeom prst="ellipse">
            <a:avLst/>
          </a:prstGeom>
          <a:solidFill>
            <a:srgbClr val="2F8A28"/>
          </a:solidFill>
          <a:ln w="12700">
            <a:solidFill>
              <a:srgbClr val="2F8A28"/>
            </a:solidFill>
            <a:prstDash val="solid"/>
          </a:ln>
        </p:spPr>
      </p:sp>
      <p:sp>
        <p:nvSpPr>
          <p:cNvPr id="16" name="Shape 14"/>
          <p:cNvSpPr/>
          <p:nvPr/>
        </p:nvSpPr>
        <p:spPr>
          <a:xfrm>
            <a:off x="9089136" y="3456432"/>
            <a:ext cx="566928" cy="566928"/>
          </a:xfrm>
          <a:prstGeom prst="ellipse">
            <a:avLst/>
          </a:prstGeom>
          <a:solidFill>
            <a:srgbClr val="6A4CA3"/>
          </a:solidFill>
          <a:ln w="12700">
            <a:solidFill>
              <a:srgbClr val="6A4CA3"/>
            </a:solidFill>
            <a:prstDash val="solid"/>
          </a:ln>
        </p:spPr>
      </p:sp>
      <p:sp>
        <p:nvSpPr>
          <p:cNvPr id="17" name="Shape 15"/>
          <p:cNvSpPr/>
          <p:nvPr/>
        </p:nvSpPr>
        <p:spPr>
          <a:xfrm>
            <a:off x="8385048" y="3419856"/>
            <a:ext cx="1975104" cy="0"/>
          </a:xfrm>
          <a:prstGeom prst="line">
            <a:avLst/>
          </a:prstGeom>
          <a:noFill/>
          <a:ln w="25400">
            <a:solidFill>
              <a:srgbClr val="8ABBD8"/>
            </a:solidFill>
            <a:prstDash val="solid"/>
          </a:ln>
        </p:spPr>
      </p:sp>
      <p:sp>
        <p:nvSpPr>
          <p:cNvPr id="18" name="Shape 16"/>
          <p:cNvSpPr/>
          <p:nvPr/>
        </p:nvSpPr>
        <p:spPr>
          <a:xfrm>
            <a:off x="8202168" y="3630168"/>
            <a:ext cx="1170432" cy="118872"/>
          </a:xfrm>
          <a:prstGeom prst="line">
            <a:avLst/>
          </a:prstGeom>
          <a:noFill/>
          <a:ln w="25400">
            <a:solidFill>
              <a:srgbClr val="8ABBD8"/>
            </a:solidFill>
            <a:prstDash val="solid"/>
          </a:ln>
        </p:spPr>
      </p:sp>
      <p:sp>
        <p:nvSpPr>
          <p:cNvPr id="19" name="Shape 17"/>
          <p:cNvSpPr/>
          <p:nvPr/>
        </p:nvSpPr>
        <p:spPr>
          <a:xfrm>
            <a:off x="10543032" y="3630168"/>
            <a:ext cx="-1170432" cy="118872"/>
          </a:xfrm>
          <a:prstGeom prst="line">
            <a:avLst/>
          </a:prstGeom>
          <a:noFill/>
          <a:ln w="25400">
            <a:solidFill>
              <a:srgbClr val="8ABBD8"/>
            </a:solidFill>
            <a:prstDash val="solid"/>
          </a:ln>
        </p:spPr>
      </p:sp>
      <p:sp>
        <p:nvSpPr>
          <p:cNvPr id="20" name="Text 18"/>
          <p:cNvSpPr/>
          <p:nvPr/>
        </p:nvSpPr>
        <p:spPr>
          <a:xfrm>
            <a:off x="7863840" y="4069080"/>
            <a:ext cx="3017520" cy="164592"/>
          </a:xfrm>
          <a:prstGeom prst="rect">
            <a:avLst/>
          </a:prstGeom>
          <a:noFill/>
          <a:ln/>
        </p:spPr>
        <p:txBody>
          <a:bodyPr wrap="square" lIns="0" tIns="0" rIns="0" bIns="0" rtlCol="0" anchor="ctr"/>
          <a:lstStyle/>
          <a:p>
            <a:pPr algn="ctr" indent="0" marL="0">
              <a:buNone/>
            </a:pPr>
            <a:r>
              <a:rPr lang="en-US" sz="900" b="1" dirty="0">
                <a:solidFill>
                  <a:srgbClr val="003A63"/>
                </a:solidFill>
                <a:latin typeface="Aptos" pitchFamily="34" charset="0"/>
                <a:ea typeface="Aptos" pitchFamily="34" charset="-122"/>
                <a:cs typeface="Aptos" pitchFamily="34" charset="-120"/>
              </a:rPr>
              <a:t>Decision rights</a:t>
            </a:r>
            <a:endParaRPr lang="en-US" sz="900" dirty="0"/>
          </a:p>
        </p:txBody>
      </p:sp>
      <p:sp>
        <p:nvSpPr>
          <p:cNvPr id="21" name="Shape 19"/>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22" name="Text 20"/>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23" name="Text 21"/>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Translate this concept into clear decision rights, review steps, documentation expectations, and escalation paths before an AI-supported workflow is approved.</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Decision Rights and Accountability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One risk is accountability diffusion.</a:t>
            </a:r>
            <a:endParaRPr lang="en-US" sz="2100" dirty="0"/>
          </a:p>
          <a:p>
            <a:r>
              <a:rPr lang="en-US" sz="2100" dirty="0">
                <a:solidFill>
                  <a:srgbClr val="17364A"/>
                </a:solidFill>
                <a:latin typeface="Aptos" pitchFamily="34" charset="0"/>
                <a:ea typeface="Aptos" pitchFamily="34" charset="-122"/>
                <a:cs typeface="Aptos" pitchFamily="34" charset="-120"/>
              </a:rPr>
              <a:t>When everyone is involved but no one is accountable, important concerns may go unresolved.</a:t>
            </a:r>
            <a:endParaRPr lang="en-US" sz="2100" dirty="0"/>
          </a:p>
          <a:p>
            <a:r>
              <a:rPr lang="en-US" sz="2100" dirty="0">
                <a:solidFill>
                  <a:srgbClr val="17364A"/>
                </a:solidFill>
                <a:latin typeface="Aptos" pitchFamily="34" charset="0"/>
                <a:ea typeface="Aptos" pitchFamily="34" charset="-122"/>
                <a:cs typeface="Aptos" pitchFamily="34" charset="-120"/>
              </a:rPr>
              <a:t>A guardrail is to assign a named program owner and governance owner for every AI use case.</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One risk is accountability diffusion.</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8046720" y="3108960"/>
            <a:ext cx="2651760" cy="896112"/>
          </a:xfrm>
          <a:prstGeom prst="arc">
            <a:avLst/>
          </a:prstGeom>
          <a:noFill/>
          <a:ln w="25400">
            <a:solidFill>
              <a:srgbClr val="0068B7"/>
            </a:solidFill>
            <a:prstDash val="solid"/>
          </a:ln>
        </p:spPr>
      </p:sp>
      <p:sp>
        <p:nvSpPr>
          <p:cNvPr id="15" name="Text 13"/>
          <p:cNvSpPr/>
          <p:nvPr/>
        </p:nvSpPr>
        <p:spPr>
          <a:xfrm>
            <a:off x="7909560" y="3099816"/>
            <a:ext cx="2926080" cy="256032"/>
          </a:xfrm>
          <a:prstGeom prst="rect">
            <a:avLst/>
          </a:prstGeom>
          <a:noFill/>
          <a:ln/>
        </p:spPr>
        <p:txBody>
          <a:bodyPr wrap="square" lIns="0" tIns="0" rIns="0" bIns="0" rtlCol="0" anchor="ctr"/>
          <a:lstStyle/>
          <a:p>
            <a:pPr algn="ctr" indent="0" marL="0">
              <a:buNone/>
            </a:pPr>
            <a:r>
              <a:rPr lang="en-US" sz="1500" b="1" dirty="0">
                <a:solidFill>
                  <a:srgbClr val="003A63"/>
                </a:solidFill>
                <a:latin typeface="Aptos" pitchFamily="34" charset="0"/>
                <a:ea typeface="Aptos" pitchFamily="34" charset="-122"/>
                <a:cs typeface="Aptos" pitchFamily="34" charset="-120"/>
              </a:rPr>
              <a:t>Risk</a:t>
            </a:r>
            <a:endParaRPr lang="en-US" sz="1500" dirty="0"/>
          </a:p>
        </p:txBody>
      </p:sp>
      <p:sp>
        <p:nvSpPr>
          <p:cNvPr id="16" name="Shape 14"/>
          <p:cNvSpPr/>
          <p:nvPr/>
        </p:nvSpPr>
        <p:spPr>
          <a:xfrm>
            <a:off x="8366760" y="3639312"/>
            <a:ext cx="2011680" cy="0"/>
          </a:xfrm>
          <a:prstGeom prst="line">
            <a:avLst/>
          </a:prstGeom>
          <a:noFill/>
          <a:ln w="63500">
            <a:solidFill>
              <a:srgbClr val="2F8A28"/>
            </a:solidFill>
            <a:prstDash val="solid"/>
          </a:ln>
        </p:spPr>
      </p:sp>
      <p:sp>
        <p:nvSpPr>
          <p:cNvPr id="17" name="Text 15"/>
          <p:cNvSpPr/>
          <p:nvPr/>
        </p:nvSpPr>
        <p:spPr>
          <a:xfrm>
            <a:off x="7909560" y="3849624"/>
            <a:ext cx="2926080" cy="164592"/>
          </a:xfrm>
          <a:prstGeom prst="rect">
            <a:avLst/>
          </a:prstGeom>
          <a:noFill/>
          <a:ln/>
        </p:spPr>
        <p:txBody>
          <a:bodyPr wrap="square" lIns="0" tIns="0" rIns="0" bIns="0" rtlCol="0" anchor="ctr"/>
          <a:lstStyle/>
          <a:p>
            <a:pPr algn="ctr" indent="0" marL="0">
              <a:buNone/>
            </a:pPr>
            <a:r>
              <a:rPr lang="en-US" sz="900" dirty="0">
                <a:solidFill>
                  <a:srgbClr val="003A63"/>
                </a:solidFill>
                <a:latin typeface="Aptos" pitchFamily="34" charset="0"/>
                <a:ea typeface="Aptos" pitchFamily="34" charset="-122"/>
                <a:cs typeface="Aptos" pitchFamily="34" charset="-120"/>
              </a:rPr>
              <a:t>Human review</a:t>
            </a:r>
            <a:endParaRPr lang="en-US" sz="900" dirty="0"/>
          </a:p>
        </p:txBody>
      </p:sp>
      <p:sp>
        <p:nvSpPr>
          <p:cNvPr id="18" name="Shape 16"/>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9" name="Text 17"/>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20" name="Text 18"/>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Identify what could go wrong, who could be affected, what safeguards are needed, and what evidence should be reviewed before use expands.</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Decision Rights and Accountability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For generative AI, decision rights should clarify who approves public release of AI-assisted content.</a:t>
            </a:r>
            <a:endParaRPr lang="en-US" sz="2100" dirty="0"/>
          </a:p>
          <a:p>
            <a:r>
              <a:rPr lang="en-US" sz="2100" dirty="0">
                <a:solidFill>
                  <a:srgbClr val="17364A"/>
                </a:solidFill>
                <a:latin typeface="Aptos" pitchFamily="34" charset="0"/>
                <a:ea typeface="Aptos" pitchFamily="34" charset="-122"/>
                <a:cs typeface="Aptos" pitchFamily="34" charset="-120"/>
              </a:rPr>
              <a:t>For predictive analytics, leaders should decide whether the score may inform resource allocation or.</a:t>
            </a:r>
            <a:endParaRPr lang="en-US" sz="2100" dirty="0"/>
          </a:p>
          <a:p>
            <a:r>
              <a:rPr lang="en-US" sz="2100" dirty="0">
                <a:solidFill>
                  <a:srgbClr val="17364A"/>
                </a:solidFill>
                <a:latin typeface="Aptos" pitchFamily="34" charset="0"/>
                <a:ea typeface="Aptos" pitchFamily="34" charset="-122"/>
                <a:cs typeface="Aptos" pitchFamily="34" charset="-120"/>
              </a:rPr>
              <a:t>For agentic AI, decision rights should define who authorizes system actions, rollback procedures, and.</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For generative AI, decision rights should clarify who approves public release of AI-assisted content.</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7927848" y="3319272"/>
            <a:ext cx="792480" cy="749808"/>
          </a:xfrm>
          <a:prstGeom prst="roundRect">
            <a:avLst>
              <a:gd name="adj" fmla="val 14634"/>
            </a:avLst>
          </a:prstGeom>
          <a:solidFill>
            <a:srgbClr val="0068B7"/>
          </a:solidFill>
          <a:ln w="12700">
            <a:solidFill>
              <a:srgbClr val="0068B7"/>
            </a:solidFill>
            <a:prstDash val="solid"/>
          </a:ln>
        </p:spPr>
      </p:sp>
      <p:sp>
        <p:nvSpPr>
          <p:cNvPr id="15" name="Text 13"/>
          <p:cNvSpPr/>
          <p:nvPr/>
        </p:nvSpPr>
        <p:spPr>
          <a:xfrm>
            <a:off x="8001000" y="3511296"/>
            <a:ext cx="646176"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Plan</a:t>
            </a:r>
            <a:endParaRPr lang="en-US" sz="1500" dirty="0"/>
          </a:p>
        </p:txBody>
      </p:sp>
      <p:sp>
        <p:nvSpPr>
          <p:cNvPr id="16" name="Shape 14"/>
          <p:cNvSpPr/>
          <p:nvPr/>
        </p:nvSpPr>
        <p:spPr>
          <a:xfrm>
            <a:off x="8976360" y="3319272"/>
            <a:ext cx="792480"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049512" y="3511296"/>
            <a:ext cx="646176"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a:t>
            </a:r>
            <a:endParaRPr lang="en-US" sz="1500" dirty="0"/>
          </a:p>
        </p:txBody>
      </p:sp>
      <p:sp>
        <p:nvSpPr>
          <p:cNvPr id="18" name="Shape 16"/>
          <p:cNvSpPr/>
          <p:nvPr/>
        </p:nvSpPr>
        <p:spPr>
          <a:xfrm>
            <a:off x="10024872" y="3319272"/>
            <a:ext cx="792480" cy="749808"/>
          </a:xfrm>
          <a:prstGeom prst="roundRect">
            <a:avLst>
              <a:gd name="adj" fmla="val 14634"/>
            </a:avLst>
          </a:prstGeom>
          <a:solidFill>
            <a:srgbClr val="D69A2D"/>
          </a:solidFill>
          <a:ln w="12700">
            <a:solidFill>
              <a:srgbClr val="D69A2D"/>
            </a:solidFill>
            <a:prstDash val="solid"/>
          </a:ln>
        </p:spPr>
      </p:sp>
      <p:sp>
        <p:nvSpPr>
          <p:cNvPr id="19" name="Text 17"/>
          <p:cNvSpPr/>
          <p:nvPr/>
        </p:nvSpPr>
        <p:spPr>
          <a:xfrm>
            <a:off x="10098024" y="3511296"/>
            <a:ext cx="646176"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Review</a:t>
            </a:r>
            <a:endParaRPr lang="en-US" sz="1500" dirty="0"/>
          </a:p>
        </p:txBody>
      </p:sp>
      <p:sp>
        <p:nvSpPr>
          <p:cNvPr id="20" name="Shape 18"/>
          <p:cNvSpPr/>
          <p:nvPr/>
        </p:nvSpPr>
        <p:spPr>
          <a:xfrm>
            <a:off x="8293608" y="4389120"/>
            <a:ext cx="2157984" cy="0"/>
          </a:xfrm>
          <a:prstGeom prst="line">
            <a:avLst/>
          </a:prstGeom>
          <a:noFill/>
          <a:ln w="25400">
            <a:solidFill>
              <a:srgbClr val="8ABBD8"/>
            </a:solidFill>
            <a:prstDash val="solid"/>
          </a:ln>
        </p:spPr>
      </p:sp>
      <p:sp>
        <p:nvSpPr>
          <p:cNvPr id="21" name="Text 19"/>
          <p:cNvSpPr/>
          <p:nvPr/>
        </p:nvSpPr>
        <p:spPr>
          <a:xfrm>
            <a:off x="7909560" y="3977640"/>
            <a:ext cx="2926080" cy="182880"/>
          </a:xfrm>
          <a:prstGeom prst="rect">
            <a:avLst/>
          </a:prstGeom>
          <a:noFill/>
          <a:ln/>
        </p:spPr>
        <p:txBody>
          <a:bodyPr wrap="square" lIns="0" tIns="0" rIns="0" bIns="0" rtlCol="0" anchor="ctr"/>
          <a:lstStyle/>
          <a:p>
            <a:pPr algn="ctr" indent="0" marL="0">
              <a:buNone/>
            </a:pPr>
            <a:r>
              <a:rPr lang="en-US" sz="1000" dirty="0">
                <a:solidFill>
                  <a:srgbClr val="003A63"/>
                </a:solidFill>
                <a:latin typeface="Aptos" pitchFamily="34" charset="0"/>
                <a:ea typeface="Aptos" pitchFamily="34" charset="-122"/>
                <a:cs typeface="Aptos" pitchFamily="34" charset="-120"/>
              </a:rPr>
              <a:t>Dependencies visible</a:t>
            </a:r>
            <a:endParaRPr lang="en-US" sz="1000" dirty="0"/>
          </a:p>
        </p:txBody>
      </p:sp>
      <p:sp>
        <p:nvSpPr>
          <p:cNvPr id="22" name="Shape 20"/>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23" name="Text 21"/>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24" name="Text 22"/>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concept to clarify workflow changes, dependencies, staffing, procurement requirements, training needs, and implementation checkpoints.</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Decision Rights and Accountability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Which current or proposed AI use case in your agency raises this leadership or governance issue most.</a:t>
            </a:r>
            <a:endParaRPr lang="en-US" sz="2100" dirty="0"/>
          </a:p>
          <a:p>
            <a:r>
              <a:rPr lang="en-US" sz="2100" dirty="0">
                <a:solidFill>
                  <a:srgbClr val="17364A"/>
                </a:solidFill>
                <a:latin typeface="Aptos" pitchFamily="34" charset="0"/>
                <a:ea typeface="Aptos" pitchFamily="34" charset="-122"/>
                <a:cs typeface="Aptos" pitchFamily="34" charset="-120"/>
              </a:rPr>
              <a:t>Who currently has authority to make decisions about this issue, and is that authority documented?</a:t>
            </a:r>
            <a:endParaRPr lang="en-US" sz="2100" dirty="0"/>
          </a:p>
          <a:p>
            <a:r>
              <a:rPr lang="en-US" sz="2100" dirty="0">
                <a:solidFill>
                  <a:srgbClr val="17364A"/>
                </a:solidFill>
                <a:latin typeface="Aptos" pitchFamily="34" charset="0"/>
                <a:ea typeface="Aptos" pitchFamily="34" charset="-122"/>
                <a:cs typeface="Aptos" pitchFamily="34" charset="-120"/>
              </a:rPr>
              <a:t>What evidence would governance or leadership need before approving the use case?</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Which current or proposed AI use case in your agency raises this leadership or governance issue most.</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8074152" y="3291840"/>
            <a:ext cx="2596896" cy="749808"/>
          </a:xfrm>
          <a:prstGeom prst="rect">
            <a:avLst/>
          </a:prstGeom>
          <a:solidFill>
            <a:srgbClr val="EAF6F8"/>
          </a:solidFill>
          <a:ln w="12700">
            <a:solidFill>
              <a:srgbClr val="8ABBD8"/>
            </a:solidFill>
            <a:prstDash val="solid"/>
          </a:ln>
        </p:spPr>
      </p:sp>
      <p:sp>
        <p:nvSpPr>
          <p:cNvPr id="15" name="Shape 13"/>
          <p:cNvSpPr/>
          <p:nvPr/>
        </p:nvSpPr>
        <p:spPr>
          <a:xfrm>
            <a:off x="8202168" y="3721608"/>
            <a:ext cx="2340864" cy="0"/>
          </a:xfrm>
          <a:prstGeom prst="line">
            <a:avLst/>
          </a:prstGeom>
          <a:noFill/>
          <a:ln w="19050">
            <a:solidFill>
              <a:srgbClr val="0068B7"/>
            </a:solidFill>
            <a:prstDash val="solid"/>
          </a:ln>
        </p:spPr>
      </p:sp>
      <p:sp>
        <p:nvSpPr>
          <p:cNvPr id="16" name="Shape 14"/>
          <p:cNvSpPr/>
          <p:nvPr/>
        </p:nvSpPr>
        <p:spPr>
          <a:xfrm>
            <a:off x="9198864" y="4206240"/>
            <a:ext cx="347472" cy="347472"/>
          </a:xfrm>
          <a:prstGeom prst="ellipse">
            <a:avLst/>
          </a:prstGeom>
          <a:solidFill>
            <a:srgbClr val="2F8A28"/>
          </a:solidFill>
          <a:ln w="12700">
            <a:solidFill>
              <a:srgbClr val="2F8A28"/>
            </a:solidFill>
            <a:prstDash val="solid"/>
          </a:ln>
        </p:spPr>
      </p:sp>
      <p:sp>
        <p:nvSpPr>
          <p:cNvPr id="17" name="Text 15"/>
          <p:cNvSpPr/>
          <p:nvPr/>
        </p:nvSpPr>
        <p:spPr>
          <a:xfrm>
            <a:off x="7909560" y="3977640"/>
            <a:ext cx="2926080" cy="182880"/>
          </a:xfrm>
          <a:prstGeom prst="rect">
            <a:avLst/>
          </a:prstGeom>
          <a:noFill/>
          <a:ln/>
        </p:spPr>
        <p:txBody>
          <a:bodyPr wrap="square" lIns="0" tIns="0" rIns="0" bIns="0" rtlCol="0" anchor="ctr"/>
          <a:lstStyle/>
          <a:p>
            <a:pPr algn="ctr" indent="0" marL="0">
              <a:buNone/>
            </a:pPr>
            <a:r>
              <a:rPr lang="en-US" sz="1000" dirty="0">
                <a:solidFill>
                  <a:srgbClr val="003A63"/>
                </a:solidFill>
                <a:latin typeface="Aptos" pitchFamily="34" charset="0"/>
                <a:ea typeface="Aptos" pitchFamily="34" charset="-122"/>
                <a:cs typeface="Aptos" pitchFamily="34" charset="-120"/>
              </a:rPr>
              <a:t>Concept to action</a:t>
            </a:r>
            <a:endParaRPr lang="en-US" sz="1000" dirty="0"/>
          </a:p>
        </p:txBody>
      </p:sp>
      <p:sp>
        <p:nvSpPr>
          <p:cNvPr id="18" name="Shape 16"/>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9" name="Text 17"/>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20" name="Text 18"/>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purpose, responsible use, required safeguards, documentation, and the next action a department should take.</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Decision Rights and Accountability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Which staff, partners, or communities would be affected if this issue were handled poorly?</a:t>
            </a:r>
            <a:endParaRPr lang="en-US" sz="2100" dirty="0"/>
          </a:p>
          <a:p>
            <a:r>
              <a:rPr lang="en-US" sz="2100" dirty="0">
                <a:solidFill>
                  <a:srgbClr val="17364A"/>
                </a:solidFill>
                <a:latin typeface="Aptos" pitchFamily="34" charset="0"/>
                <a:ea typeface="Aptos" pitchFamily="34" charset="-122"/>
                <a:cs typeface="Aptos" pitchFamily="34" charset="-120"/>
              </a:rPr>
              <a:t>What policy, process, or artifact should be created or updated after this module?</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Which staff, partners, or communities would be affected if this issue were handled poorly?</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8074152" y="3291840"/>
            <a:ext cx="2596896" cy="749808"/>
          </a:xfrm>
          <a:prstGeom prst="rect">
            <a:avLst/>
          </a:prstGeom>
          <a:solidFill>
            <a:srgbClr val="EAF6F8"/>
          </a:solidFill>
          <a:ln w="12700">
            <a:solidFill>
              <a:srgbClr val="8ABBD8"/>
            </a:solidFill>
            <a:prstDash val="solid"/>
          </a:ln>
        </p:spPr>
      </p:sp>
      <p:sp>
        <p:nvSpPr>
          <p:cNvPr id="15" name="Shape 13"/>
          <p:cNvSpPr/>
          <p:nvPr/>
        </p:nvSpPr>
        <p:spPr>
          <a:xfrm>
            <a:off x="8202168" y="3721608"/>
            <a:ext cx="2340864" cy="0"/>
          </a:xfrm>
          <a:prstGeom prst="line">
            <a:avLst/>
          </a:prstGeom>
          <a:noFill/>
          <a:ln w="19050">
            <a:solidFill>
              <a:srgbClr val="0068B7"/>
            </a:solidFill>
            <a:prstDash val="solid"/>
          </a:ln>
        </p:spPr>
      </p:sp>
      <p:sp>
        <p:nvSpPr>
          <p:cNvPr id="16" name="Shape 14"/>
          <p:cNvSpPr/>
          <p:nvPr/>
        </p:nvSpPr>
        <p:spPr>
          <a:xfrm>
            <a:off x="9198864" y="4206240"/>
            <a:ext cx="347472" cy="347472"/>
          </a:xfrm>
          <a:prstGeom prst="ellipse">
            <a:avLst/>
          </a:prstGeom>
          <a:solidFill>
            <a:srgbClr val="2F8A28"/>
          </a:solidFill>
          <a:ln w="12700">
            <a:solidFill>
              <a:srgbClr val="2F8A28"/>
            </a:solidFill>
            <a:prstDash val="solid"/>
          </a:ln>
        </p:spPr>
      </p:sp>
      <p:sp>
        <p:nvSpPr>
          <p:cNvPr id="17" name="Text 15"/>
          <p:cNvSpPr/>
          <p:nvPr/>
        </p:nvSpPr>
        <p:spPr>
          <a:xfrm>
            <a:off x="7909560" y="3977640"/>
            <a:ext cx="2926080" cy="182880"/>
          </a:xfrm>
          <a:prstGeom prst="rect">
            <a:avLst/>
          </a:prstGeom>
          <a:noFill/>
          <a:ln/>
        </p:spPr>
        <p:txBody>
          <a:bodyPr wrap="square" lIns="0" tIns="0" rIns="0" bIns="0" rtlCol="0" anchor="ctr"/>
          <a:lstStyle/>
          <a:p>
            <a:pPr algn="ctr" indent="0" marL="0">
              <a:buNone/>
            </a:pPr>
            <a:r>
              <a:rPr lang="en-US" sz="1000" dirty="0">
                <a:solidFill>
                  <a:srgbClr val="003A63"/>
                </a:solidFill>
                <a:latin typeface="Aptos" pitchFamily="34" charset="0"/>
                <a:ea typeface="Aptos" pitchFamily="34" charset="-122"/>
                <a:cs typeface="Aptos" pitchFamily="34" charset="-120"/>
              </a:rPr>
              <a:t>Concept to action</a:t>
            </a:r>
            <a:endParaRPr lang="en-US" sz="1000" dirty="0"/>
          </a:p>
        </p:txBody>
      </p:sp>
      <p:sp>
        <p:nvSpPr>
          <p:cNvPr id="18" name="Shape 16"/>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9" name="Text 17"/>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20" name="Text 18"/>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purpose, responsible use, required safeguards, documentation, and the next action a department should take.</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Decision Rights and Accountability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Create a decision-rights matrix for one AI use case.</a:t>
            </a:r>
            <a:endParaRPr lang="en-US" sz="2100" dirty="0"/>
          </a:p>
          <a:p>
            <a:r>
              <a:rPr lang="en-US" sz="2100" dirty="0">
                <a:solidFill>
                  <a:srgbClr val="17364A"/>
                </a:solidFill>
                <a:latin typeface="Aptos" pitchFamily="34" charset="0"/>
                <a:ea typeface="Aptos" pitchFamily="34" charset="-122"/>
                <a:cs typeface="Aptos" pitchFamily="34" charset="-120"/>
              </a:rPr>
              <a:t>Include approval, data access, validation, launch, monitoring, incident escalation, risk acceptance,.</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Create a decision-rights matrix for one AI use case.</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8074152" y="3291840"/>
            <a:ext cx="2596896" cy="749808"/>
          </a:xfrm>
          <a:prstGeom prst="rect">
            <a:avLst/>
          </a:prstGeom>
          <a:solidFill>
            <a:srgbClr val="EAF6F8"/>
          </a:solidFill>
          <a:ln w="12700">
            <a:solidFill>
              <a:srgbClr val="8ABBD8"/>
            </a:solidFill>
            <a:prstDash val="solid"/>
          </a:ln>
        </p:spPr>
      </p:sp>
      <p:sp>
        <p:nvSpPr>
          <p:cNvPr id="15" name="Shape 13"/>
          <p:cNvSpPr/>
          <p:nvPr/>
        </p:nvSpPr>
        <p:spPr>
          <a:xfrm>
            <a:off x="8202168" y="3721608"/>
            <a:ext cx="2340864" cy="0"/>
          </a:xfrm>
          <a:prstGeom prst="line">
            <a:avLst/>
          </a:prstGeom>
          <a:noFill/>
          <a:ln w="19050">
            <a:solidFill>
              <a:srgbClr val="0068B7"/>
            </a:solidFill>
            <a:prstDash val="solid"/>
          </a:ln>
        </p:spPr>
      </p:sp>
      <p:sp>
        <p:nvSpPr>
          <p:cNvPr id="16" name="Shape 14"/>
          <p:cNvSpPr/>
          <p:nvPr/>
        </p:nvSpPr>
        <p:spPr>
          <a:xfrm>
            <a:off x="9198864" y="4206240"/>
            <a:ext cx="347472" cy="347472"/>
          </a:xfrm>
          <a:prstGeom prst="ellipse">
            <a:avLst/>
          </a:prstGeom>
          <a:solidFill>
            <a:srgbClr val="2F8A28"/>
          </a:solidFill>
          <a:ln w="12700">
            <a:solidFill>
              <a:srgbClr val="2F8A28"/>
            </a:solidFill>
            <a:prstDash val="solid"/>
          </a:ln>
        </p:spPr>
      </p:sp>
      <p:sp>
        <p:nvSpPr>
          <p:cNvPr id="17" name="Text 15"/>
          <p:cNvSpPr/>
          <p:nvPr/>
        </p:nvSpPr>
        <p:spPr>
          <a:xfrm>
            <a:off x="7909560" y="3977640"/>
            <a:ext cx="2926080" cy="182880"/>
          </a:xfrm>
          <a:prstGeom prst="rect">
            <a:avLst/>
          </a:prstGeom>
          <a:noFill/>
          <a:ln/>
        </p:spPr>
        <p:txBody>
          <a:bodyPr wrap="square" lIns="0" tIns="0" rIns="0" bIns="0" rtlCol="0" anchor="ctr"/>
          <a:lstStyle/>
          <a:p>
            <a:pPr algn="ctr" indent="0" marL="0">
              <a:buNone/>
            </a:pPr>
            <a:r>
              <a:rPr lang="en-US" sz="1000" dirty="0">
                <a:solidFill>
                  <a:srgbClr val="003A63"/>
                </a:solidFill>
                <a:latin typeface="Aptos" pitchFamily="34" charset="0"/>
                <a:ea typeface="Aptos" pitchFamily="34" charset="-122"/>
                <a:cs typeface="Aptos" pitchFamily="34" charset="-120"/>
              </a:rPr>
              <a:t>Concept to action</a:t>
            </a:r>
            <a:endParaRPr lang="en-US" sz="1000" dirty="0"/>
          </a:p>
        </p:txBody>
      </p:sp>
      <p:sp>
        <p:nvSpPr>
          <p:cNvPr id="18" name="Shape 16"/>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9" name="Text 17"/>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20" name="Text 18"/>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Decision Rights and Accountability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Before You Begin</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Choose a real or realistic public health AI use case.</a:t>
            </a:r>
            <a:endParaRPr lang="en-US" sz="2100" dirty="0"/>
          </a:p>
          <a:p>
            <a:r>
              <a:rPr lang="en-US" sz="2100" dirty="0">
                <a:solidFill>
                  <a:srgbClr val="17364A"/>
                </a:solidFill>
                <a:latin typeface="Aptos" pitchFamily="34" charset="0"/>
                <a:ea typeface="Aptos" pitchFamily="34" charset="-122"/>
                <a:cs typeface="Aptos" pitchFamily="34" charset="-120"/>
              </a:rPr>
              <a:t>Document assumptions, unresolved questions, and which agency roles would need to review the artifact.</a:t>
            </a:r>
            <a:endParaRPr lang="en-US" sz="2100" dirty="0"/>
          </a:p>
          <a:p>
            <a:r>
              <a:rPr lang="en-US" sz="2100" dirty="0">
                <a:solidFill>
                  <a:srgbClr val="17364A"/>
                </a:solidFill>
                <a:latin typeface="Aptos" pitchFamily="34" charset="0"/>
                <a:ea typeface="Aptos" pitchFamily="34" charset="-122"/>
                <a:cs typeface="Aptos" pitchFamily="34" charset="-120"/>
              </a:rPr>
              <a:t>The exercise should produce a work product that could support governance review, leadership discussion,.</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Choose a real or realistic public health AI use case.</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8074152" y="3291840"/>
            <a:ext cx="2596896" cy="749808"/>
          </a:xfrm>
          <a:prstGeom prst="rect">
            <a:avLst/>
          </a:prstGeom>
          <a:solidFill>
            <a:srgbClr val="EAF6F8"/>
          </a:solidFill>
          <a:ln w="12700">
            <a:solidFill>
              <a:srgbClr val="8ABBD8"/>
            </a:solidFill>
            <a:prstDash val="solid"/>
          </a:ln>
        </p:spPr>
      </p:sp>
      <p:sp>
        <p:nvSpPr>
          <p:cNvPr id="15" name="Shape 13"/>
          <p:cNvSpPr/>
          <p:nvPr/>
        </p:nvSpPr>
        <p:spPr>
          <a:xfrm>
            <a:off x="8202168" y="3721608"/>
            <a:ext cx="2340864" cy="0"/>
          </a:xfrm>
          <a:prstGeom prst="line">
            <a:avLst/>
          </a:prstGeom>
          <a:noFill/>
          <a:ln w="19050">
            <a:solidFill>
              <a:srgbClr val="0068B7"/>
            </a:solidFill>
            <a:prstDash val="solid"/>
          </a:ln>
        </p:spPr>
      </p:sp>
      <p:sp>
        <p:nvSpPr>
          <p:cNvPr id="16" name="Shape 14"/>
          <p:cNvSpPr/>
          <p:nvPr/>
        </p:nvSpPr>
        <p:spPr>
          <a:xfrm>
            <a:off x="9198864" y="4206240"/>
            <a:ext cx="347472" cy="347472"/>
          </a:xfrm>
          <a:prstGeom prst="ellipse">
            <a:avLst/>
          </a:prstGeom>
          <a:solidFill>
            <a:srgbClr val="2F8A28"/>
          </a:solidFill>
          <a:ln w="12700">
            <a:solidFill>
              <a:srgbClr val="2F8A28"/>
            </a:solidFill>
            <a:prstDash val="solid"/>
          </a:ln>
        </p:spPr>
      </p:sp>
      <p:sp>
        <p:nvSpPr>
          <p:cNvPr id="17" name="Text 15"/>
          <p:cNvSpPr/>
          <p:nvPr/>
        </p:nvSpPr>
        <p:spPr>
          <a:xfrm>
            <a:off x="7909560" y="3977640"/>
            <a:ext cx="2926080" cy="182880"/>
          </a:xfrm>
          <a:prstGeom prst="rect">
            <a:avLst/>
          </a:prstGeom>
          <a:noFill/>
          <a:ln/>
        </p:spPr>
        <p:txBody>
          <a:bodyPr wrap="square" lIns="0" tIns="0" rIns="0" bIns="0" rtlCol="0" anchor="ctr"/>
          <a:lstStyle/>
          <a:p>
            <a:pPr algn="ctr" indent="0" marL="0">
              <a:buNone/>
            </a:pPr>
            <a:r>
              <a:rPr lang="en-US" sz="1000" dirty="0">
                <a:solidFill>
                  <a:srgbClr val="003A63"/>
                </a:solidFill>
                <a:latin typeface="Aptos" pitchFamily="34" charset="0"/>
                <a:ea typeface="Aptos" pitchFamily="34" charset="-122"/>
                <a:cs typeface="Aptos" pitchFamily="34" charset="-120"/>
              </a:rPr>
              <a:t>Concept to action</a:t>
            </a:r>
            <a:endParaRPr lang="en-US" sz="1000" dirty="0"/>
          </a:p>
        </p:txBody>
      </p:sp>
      <p:sp>
        <p:nvSpPr>
          <p:cNvPr id="18" name="Shape 16"/>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9" name="Text 17"/>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20" name="Text 18"/>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purpose, responsible use, required safeguards, documentation, and the next action a department should take.</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Decision Rights and Accountability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Decision-rights matrix; RACI table; risk acceptance thresholds; escalation authority list.</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Decision-rights matrix; RACI table; risk acceptance thresholds; escalation authority list.</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8074152" y="3291840"/>
            <a:ext cx="2596896" cy="749808"/>
          </a:xfrm>
          <a:prstGeom prst="rect">
            <a:avLst/>
          </a:prstGeom>
          <a:solidFill>
            <a:srgbClr val="EAF6F8"/>
          </a:solidFill>
          <a:ln w="12700">
            <a:solidFill>
              <a:srgbClr val="8ABBD8"/>
            </a:solidFill>
            <a:prstDash val="solid"/>
          </a:ln>
        </p:spPr>
      </p:sp>
      <p:sp>
        <p:nvSpPr>
          <p:cNvPr id="15" name="Shape 13"/>
          <p:cNvSpPr/>
          <p:nvPr/>
        </p:nvSpPr>
        <p:spPr>
          <a:xfrm>
            <a:off x="8202168" y="3721608"/>
            <a:ext cx="2340864" cy="0"/>
          </a:xfrm>
          <a:prstGeom prst="line">
            <a:avLst/>
          </a:prstGeom>
          <a:noFill/>
          <a:ln w="19050">
            <a:solidFill>
              <a:srgbClr val="0068B7"/>
            </a:solidFill>
            <a:prstDash val="solid"/>
          </a:ln>
        </p:spPr>
      </p:sp>
      <p:sp>
        <p:nvSpPr>
          <p:cNvPr id="16" name="Shape 14"/>
          <p:cNvSpPr/>
          <p:nvPr/>
        </p:nvSpPr>
        <p:spPr>
          <a:xfrm>
            <a:off x="9198864" y="4206240"/>
            <a:ext cx="347472" cy="347472"/>
          </a:xfrm>
          <a:prstGeom prst="ellipse">
            <a:avLst/>
          </a:prstGeom>
          <a:solidFill>
            <a:srgbClr val="2F8A28"/>
          </a:solidFill>
          <a:ln w="12700">
            <a:solidFill>
              <a:srgbClr val="2F8A28"/>
            </a:solidFill>
            <a:prstDash val="solid"/>
          </a:ln>
        </p:spPr>
      </p:sp>
      <p:sp>
        <p:nvSpPr>
          <p:cNvPr id="17" name="Text 15"/>
          <p:cNvSpPr/>
          <p:nvPr/>
        </p:nvSpPr>
        <p:spPr>
          <a:xfrm>
            <a:off x="7909560" y="3977640"/>
            <a:ext cx="2926080" cy="182880"/>
          </a:xfrm>
          <a:prstGeom prst="rect">
            <a:avLst/>
          </a:prstGeom>
          <a:noFill/>
          <a:ln/>
        </p:spPr>
        <p:txBody>
          <a:bodyPr wrap="square" lIns="0" tIns="0" rIns="0" bIns="0" rtlCol="0" anchor="ctr"/>
          <a:lstStyle/>
          <a:p>
            <a:pPr algn="ctr" indent="0" marL="0">
              <a:buNone/>
            </a:pPr>
            <a:r>
              <a:rPr lang="en-US" sz="1000" dirty="0">
                <a:solidFill>
                  <a:srgbClr val="003A63"/>
                </a:solidFill>
                <a:latin typeface="Aptos" pitchFamily="34" charset="0"/>
                <a:ea typeface="Aptos" pitchFamily="34" charset="-122"/>
                <a:cs typeface="Aptos" pitchFamily="34" charset="-120"/>
              </a:rPr>
              <a:t>Concept to action</a:t>
            </a:r>
            <a:endParaRPr lang="en-US" sz="1000" dirty="0"/>
          </a:p>
        </p:txBody>
      </p:sp>
      <p:sp>
        <p:nvSpPr>
          <p:cNvPr id="18" name="Shape 16"/>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9" name="Text 17"/>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20" name="Text 18"/>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purpose, responsible use, required safeguards, documentation, and the next action a department should take.</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Decision Rights and Accountability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Decision-rights matrix; RACI table; risk acceptance thresholds; escalation authority list.</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Decision-rights matrix; RACI table; risk acceptance thresholds; escalation authority list.</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8074152" y="3291840"/>
            <a:ext cx="2596896" cy="749808"/>
          </a:xfrm>
          <a:prstGeom prst="rect">
            <a:avLst/>
          </a:prstGeom>
          <a:solidFill>
            <a:srgbClr val="EAF6F8"/>
          </a:solidFill>
          <a:ln w="12700">
            <a:solidFill>
              <a:srgbClr val="8ABBD8"/>
            </a:solidFill>
            <a:prstDash val="solid"/>
          </a:ln>
        </p:spPr>
      </p:sp>
      <p:sp>
        <p:nvSpPr>
          <p:cNvPr id="15" name="Shape 13"/>
          <p:cNvSpPr/>
          <p:nvPr/>
        </p:nvSpPr>
        <p:spPr>
          <a:xfrm>
            <a:off x="8202168" y="3721608"/>
            <a:ext cx="2340864" cy="0"/>
          </a:xfrm>
          <a:prstGeom prst="line">
            <a:avLst/>
          </a:prstGeom>
          <a:noFill/>
          <a:ln w="19050">
            <a:solidFill>
              <a:srgbClr val="0068B7"/>
            </a:solidFill>
            <a:prstDash val="solid"/>
          </a:ln>
        </p:spPr>
      </p:sp>
      <p:sp>
        <p:nvSpPr>
          <p:cNvPr id="16" name="Shape 14"/>
          <p:cNvSpPr/>
          <p:nvPr/>
        </p:nvSpPr>
        <p:spPr>
          <a:xfrm>
            <a:off x="9198864" y="4206240"/>
            <a:ext cx="347472" cy="347472"/>
          </a:xfrm>
          <a:prstGeom prst="ellipse">
            <a:avLst/>
          </a:prstGeom>
          <a:solidFill>
            <a:srgbClr val="2F8A28"/>
          </a:solidFill>
          <a:ln w="12700">
            <a:solidFill>
              <a:srgbClr val="2F8A28"/>
            </a:solidFill>
            <a:prstDash val="solid"/>
          </a:ln>
        </p:spPr>
      </p:sp>
      <p:sp>
        <p:nvSpPr>
          <p:cNvPr id="17" name="Text 15"/>
          <p:cNvSpPr/>
          <p:nvPr/>
        </p:nvSpPr>
        <p:spPr>
          <a:xfrm>
            <a:off x="7909560" y="3977640"/>
            <a:ext cx="2926080" cy="182880"/>
          </a:xfrm>
          <a:prstGeom prst="rect">
            <a:avLst/>
          </a:prstGeom>
          <a:noFill/>
          <a:ln/>
        </p:spPr>
        <p:txBody>
          <a:bodyPr wrap="square" lIns="0" tIns="0" rIns="0" bIns="0" rtlCol="0" anchor="ctr"/>
          <a:lstStyle/>
          <a:p>
            <a:pPr algn="ctr" indent="0" marL="0">
              <a:buNone/>
            </a:pPr>
            <a:r>
              <a:rPr lang="en-US" sz="1000" dirty="0">
                <a:solidFill>
                  <a:srgbClr val="003A63"/>
                </a:solidFill>
                <a:latin typeface="Aptos" pitchFamily="34" charset="0"/>
                <a:ea typeface="Aptos" pitchFamily="34" charset="-122"/>
                <a:cs typeface="Aptos" pitchFamily="34" charset="-120"/>
              </a:rPr>
              <a:t>Concept to action</a:t>
            </a:r>
            <a:endParaRPr lang="en-US" sz="1000" dirty="0"/>
          </a:p>
        </p:txBody>
      </p:sp>
      <p:sp>
        <p:nvSpPr>
          <p:cNvPr id="18" name="Shape 16"/>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9" name="Text 17"/>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20" name="Text 18"/>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Decision Rights and Accountability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What is the strongest reason this module topic belongs in AI leadership and governance training?</a:t>
            </a:r>
            <a:endParaRPr lang="en-US" sz="2100" dirty="0"/>
          </a:p>
          <a:p>
            <a:r>
              <a:rPr lang="en-US" sz="2100" dirty="0">
                <a:solidFill>
                  <a:srgbClr val="17364A"/>
                </a:solidFill>
                <a:latin typeface="Aptos" pitchFamily="34" charset="0"/>
                <a:ea typeface="Aptos" pitchFamily="34" charset="-122"/>
                <a:cs typeface="Aptos" pitchFamily="34" charset="-120"/>
              </a:rPr>
              <a:t>2. Which practice best supports accountable public health AI governance?</a:t>
            </a:r>
            <a:endParaRPr lang="en-US" sz="2100" dirty="0"/>
          </a:p>
          <a:p>
            <a:r>
              <a:rPr lang="en-US" sz="2100" dirty="0">
                <a:solidFill>
                  <a:srgbClr val="17364A"/>
                </a:solidFill>
                <a:latin typeface="Aptos" pitchFamily="34" charset="0"/>
                <a:ea typeface="Aptos" pitchFamily="34" charset="-122"/>
                <a:cs typeface="Aptos" pitchFamily="34" charset="-120"/>
              </a:rPr>
              <a:t>3. When should an AI use case be escalated for leadership or governance review?</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What is the strongest reason this module topic belongs in AI leadership and governance training?</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8074152" y="3291840"/>
            <a:ext cx="2596896" cy="749808"/>
          </a:xfrm>
          <a:prstGeom prst="rect">
            <a:avLst/>
          </a:prstGeom>
          <a:solidFill>
            <a:srgbClr val="EAF6F8"/>
          </a:solidFill>
          <a:ln w="12700">
            <a:solidFill>
              <a:srgbClr val="8ABBD8"/>
            </a:solidFill>
            <a:prstDash val="solid"/>
          </a:ln>
        </p:spPr>
      </p:sp>
      <p:sp>
        <p:nvSpPr>
          <p:cNvPr id="15" name="Shape 13"/>
          <p:cNvSpPr/>
          <p:nvPr/>
        </p:nvSpPr>
        <p:spPr>
          <a:xfrm>
            <a:off x="8202168" y="3721608"/>
            <a:ext cx="2340864" cy="0"/>
          </a:xfrm>
          <a:prstGeom prst="line">
            <a:avLst/>
          </a:prstGeom>
          <a:noFill/>
          <a:ln w="19050">
            <a:solidFill>
              <a:srgbClr val="0068B7"/>
            </a:solidFill>
            <a:prstDash val="solid"/>
          </a:ln>
        </p:spPr>
      </p:sp>
      <p:sp>
        <p:nvSpPr>
          <p:cNvPr id="16" name="Shape 14"/>
          <p:cNvSpPr/>
          <p:nvPr/>
        </p:nvSpPr>
        <p:spPr>
          <a:xfrm>
            <a:off x="9198864" y="4206240"/>
            <a:ext cx="347472" cy="347472"/>
          </a:xfrm>
          <a:prstGeom prst="ellipse">
            <a:avLst/>
          </a:prstGeom>
          <a:solidFill>
            <a:srgbClr val="2F8A28"/>
          </a:solidFill>
          <a:ln w="12700">
            <a:solidFill>
              <a:srgbClr val="2F8A28"/>
            </a:solidFill>
            <a:prstDash val="solid"/>
          </a:ln>
        </p:spPr>
      </p:sp>
      <p:sp>
        <p:nvSpPr>
          <p:cNvPr id="17" name="Text 15"/>
          <p:cNvSpPr/>
          <p:nvPr/>
        </p:nvSpPr>
        <p:spPr>
          <a:xfrm>
            <a:off x="7909560" y="3977640"/>
            <a:ext cx="2926080" cy="182880"/>
          </a:xfrm>
          <a:prstGeom prst="rect">
            <a:avLst/>
          </a:prstGeom>
          <a:noFill/>
          <a:ln/>
        </p:spPr>
        <p:txBody>
          <a:bodyPr wrap="square" lIns="0" tIns="0" rIns="0" bIns="0" rtlCol="0" anchor="ctr"/>
          <a:lstStyle/>
          <a:p>
            <a:pPr algn="ctr" indent="0" marL="0">
              <a:buNone/>
            </a:pPr>
            <a:r>
              <a:rPr lang="en-US" sz="1000" dirty="0">
                <a:solidFill>
                  <a:srgbClr val="003A63"/>
                </a:solidFill>
                <a:latin typeface="Aptos" pitchFamily="34" charset="0"/>
                <a:ea typeface="Aptos" pitchFamily="34" charset="-122"/>
                <a:cs typeface="Aptos" pitchFamily="34" charset="-120"/>
              </a:rPr>
              <a:t>Concept to action</a:t>
            </a:r>
            <a:endParaRPr lang="en-US" sz="1000" dirty="0"/>
          </a:p>
        </p:txBody>
      </p:sp>
      <p:sp>
        <p:nvSpPr>
          <p:cNvPr id="18" name="Shape 16"/>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9" name="Text 17"/>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20" name="Text 18"/>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Decision Rights and Accountability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NIST Artificial Intelligence Risk Management Framework (AI RMF 1.0):.</a:t>
            </a:r>
            <a:endParaRPr lang="en-US" sz="2100" dirty="0"/>
          </a:p>
          <a:p>
            <a:r>
              <a:rPr lang="en-US" sz="2100" dirty="0">
                <a:solidFill>
                  <a:srgbClr val="17364A"/>
                </a:solidFill>
                <a:latin typeface="Aptos" pitchFamily="34" charset="0"/>
                <a:ea typeface="Aptos" pitchFamily="34" charset="-122"/>
                <a:cs typeface="Aptos" pitchFamily="34" charset="-120"/>
              </a:rPr>
              <a:t>NIST Generative AI Profile:.</a:t>
            </a:r>
            <a:endParaRPr lang="en-US" sz="2100" dirty="0"/>
          </a:p>
          <a:p>
            <a:r>
              <a:rPr lang="en-US" sz="2100" dirty="0">
                <a:solidFill>
                  <a:srgbClr val="17364A"/>
                </a:solidFill>
                <a:latin typeface="Aptos" pitchFamily="34" charset="0"/>
                <a:ea typeface="Aptos" pitchFamily="34" charset="-122"/>
                <a:cs typeface="Aptos" pitchFamily="34" charset="-120"/>
              </a:rPr>
              <a:t>NIST Privacy Framework</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NIST Artificial Intelligence Risk Management Framework (AI RMF 1.0):.</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8074152" y="3291840"/>
            <a:ext cx="2596896" cy="749808"/>
          </a:xfrm>
          <a:prstGeom prst="rect">
            <a:avLst/>
          </a:prstGeom>
          <a:solidFill>
            <a:srgbClr val="EAF6F8"/>
          </a:solidFill>
          <a:ln w="12700">
            <a:solidFill>
              <a:srgbClr val="8ABBD8"/>
            </a:solidFill>
            <a:prstDash val="solid"/>
          </a:ln>
        </p:spPr>
      </p:sp>
      <p:sp>
        <p:nvSpPr>
          <p:cNvPr id="15" name="Shape 13"/>
          <p:cNvSpPr/>
          <p:nvPr/>
        </p:nvSpPr>
        <p:spPr>
          <a:xfrm>
            <a:off x="8202168" y="3721608"/>
            <a:ext cx="2340864" cy="0"/>
          </a:xfrm>
          <a:prstGeom prst="line">
            <a:avLst/>
          </a:prstGeom>
          <a:noFill/>
          <a:ln w="19050">
            <a:solidFill>
              <a:srgbClr val="0068B7"/>
            </a:solidFill>
            <a:prstDash val="solid"/>
          </a:ln>
        </p:spPr>
      </p:sp>
      <p:sp>
        <p:nvSpPr>
          <p:cNvPr id="16" name="Shape 14"/>
          <p:cNvSpPr/>
          <p:nvPr/>
        </p:nvSpPr>
        <p:spPr>
          <a:xfrm>
            <a:off x="9198864" y="4206240"/>
            <a:ext cx="347472" cy="347472"/>
          </a:xfrm>
          <a:prstGeom prst="ellipse">
            <a:avLst/>
          </a:prstGeom>
          <a:solidFill>
            <a:srgbClr val="2F8A28"/>
          </a:solidFill>
          <a:ln w="12700">
            <a:solidFill>
              <a:srgbClr val="2F8A28"/>
            </a:solidFill>
            <a:prstDash val="solid"/>
          </a:ln>
        </p:spPr>
      </p:sp>
      <p:sp>
        <p:nvSpPr>
          <p:cNvPr id="17" name="Text 15"/>
          <p:cNvSpPr/>
          <p:nvPr/>
        </p:nvSpPr>
        <p:spPr>
          <a:xfrm>
            <a:off x="7909560" y="3977640"/>
            <a:ext cx="2926080" cy="182880"/>
          </a:xfrm>
          <a:prstGeom prst="rect">
            <a:avLst/>
          </a:prstGeom>
          <a:noFill/>
          <a:ln/>
        </p:spPr>
        <p:txBody>
          <a:bodyPr wrap="square" lIns="0" tIns="0" rIns="0" bIns="0" rtlCol="0" anchor="ctr"/>
          <a:lstStyle/>
          <a:p>
            <a:pPr algn="ctr" indent="0" marL="0">
              <a:buNone/>
            </a:pPr>
            <a:r>
              <a:rPr lang="en-US" sz="1000" dirty="0">
                <a:solidFill>
                  <a:srgbClr val="003A63"/>
                </a:solidFill>
                <a:latin typeface="Aptos" pitchFamily="34" charset="0"/>
                <a:ea typeface="Aptos" pitchFamily="34" charset="-122"/>
                <a:cs typeface="Aptos" pitchFamily="34" charset="-120"/>
              </a:rPr>
              <a:t>Concept to action</a:t>
            </a:r>
            <a:endParaRPr lang="en-US" sz="1000" dirty="0"/>
          </a:p>
        </p:txBody>
      </p:sp>
      <p:sp>
        <p:nvSpPr>
          <p:cNvPr id="18" name="Shape 16"/>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9" name="Text 17"/>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20" name="Text 18"/>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purpose, responsible use, required safeguards, documentation, and the next action a department should take.</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Decision Rights and Accountability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OMB Memorandum M-24-10 on federal AI governance, risk management, and innovation, where relevant to.</a:t>
            </a:r>
            <a:endParaRPr lang="en-US" sz="2100" dirty="0"/>
          </a:p>
          <a:p>
            <a:r>
              <a:rPr lang="en-US" sz="2100" dirty="0">
                <a:solidFill>
                  <a:srgbClr val="17364A"/>
                </a:solidFill>
                <a:latin typeface="Aptos" pitchFamily="34" charset="0"/>
                <a:ea typeface="Aptos" pitchFamily="34" charset="-122"/>
                <a:cs typeface="Aptos" pitchFamily="34" charset="-120"/>
              </a:rPr>
              <a:t>Agency strategic plans, procurement policies, privacy policies, cybersecurity policies, records.</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OMB Memorandum M-24-10 on federal AI governance, risk management, and innovation, where relevant to.</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8074152" y="3291840"/>
            <a:ext cx="2596896" cy="749808"/>
          </a:xfrm>
          <a:prstGeom prst="rect">
            <a:avLst/>
          </a:prstGeom>
          <a:solidFill>
            <a:srgbClr val="EAF6F8"/>
          </a:solidFill>
          <a:ln w="12700">
            <a:solidFill>
              <a:srgbClr val="8ABBD8"/>
            </a:solidFill>
            <a:prstDash val="solid"/>
          </a:ln>
        </p:spPr>
      </p:sp>
      <p:sp>
        <p:nvSpPr>
          <p:cNvPr id="15" name="Shape 13"/>
          <p:cNvSpPr/>
          <p:nvPr/>
        </p:nvSpPr>
        <p:spPr>
          <a:xfrm>
            <a:off x="8202168" y="3721608"/>
            <a:ext cx="2340864" cy="0"/>
          </a:xfrm>
          <a:prstGeom prst="line">
            <a:avLst/>
          </a:prstGeom>
          <a:noFill/>
          <a:ln w="19050">
            <a:solidFill>
              <a:srgbClr val="0068B7"/>
            </a:solidFill>
            <a:prstDash val="solid"/>
          </a:ln>
        </p:spPr>
      </p:sp>
      <p:sp>
        <p:nvSpPr>
          <p:cNvPr id="16" name="Shape 14"/>
          <p:cNvSpPr/>
          <p:nvPr/>
        </p:nvSpPr>
        <p:spPr>
          <a:xfrm>
            <a:off x="9198864" y="4206240"/>
            <a:ext cx="347472" cy="347472"/>
          </a:xfrm>
          <a:prstGeom prst="ellipse">
            <a:avLst/>
          </a:prstGeom>
          <a:solidFill>
            <a:srgbClr val="2F8A28"/>
          </a:solidFill>
          <a:ln w="12700">
            <a:solidFill>
              <a:srgbClr val="2F8A28"/>
            </a:solidFill>
            <a:prstDash val="solid"/>
          </a:ln>
        </p:spPr>
      </p:sp>
      <p:sp>
        <p:nvSpPr>
          <p:cNvPr id="17" name="Text 15"/>
          <p:cNvSpPr/>
          <p:nvPr/>
        </p:nvSpPr>
        <p:spPr>
          <a:xfrm>
            <a:off x="7909560" y="3977640"/>
            <a:ext cx="2926080" cy="182880"/>
          </a:xfrm>
          <a:prstGeom prst="rect">
            <a:avLst/>
          </a:prstGeom>
          <a:noFill/>
          <a:ln/>
        </p:spPr>
        <p:txBody>
          <a:bodyPr wrap="square" lIns="0" tIns="0" rIns="0" bIns="0" rtlCol="0" anchor="ctr"/>
          <a:lstStyle/>
          <a:p>
            <a:pPr algn="ctr" indent="0" marL="0">
              <a:buNone/>
            </a:pPr>
            <a:r>
              <a:rPr lang="en-US" sz="1000" dirty="0">
                <a:solidFill>
                  <a:srgbClr val="003A63"/>
                </a:solidFill>
                <a:latin typeface="Aptos" pitchFamily="34" charset="0"/>
                <a:ea typeface="Aptos" pitchFamily="34" charset="-122"/>
                <a:cs typeface="Aptos" pitchFamily="34" charset="-120"/>
              </a:rPr>
              <a:t>Concept to action</a:t>
            </a:r>
            <a:endParaRPr lang="en-US" sz="1000" dirty="0"/>
          </a:p>
        </p:txBody>
      </p:sp>
      <p:sp>
        <p:nvSpPr>
          <p:cNvPr id="18" name="Shape 16"/>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9" name="Text 17"/>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20" name="Text 18"/>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purpose, responsible use, required safeguards, documentation, and the next action a department should take.</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Executive AI Decision Rights and Accountability</dc:title>
  <dc:subject>Executive AI Decision Rights and Accountability learning module</dc:subject>
  <dc:creator>Paula Soper</dc:creator>
  <cp:lastModifiedBy>Paula Soper</cp:lastModifiedBy>
  <cp:revision>1</cp:revision>
  <dcterms:created xsi:type="dcterms:W3CDTF">2026-07-13T01:54:44Z</dcterms:created>
  <dcterms:modified xsi:type="dcterms:W3CDTF">2026-07-13T01:54:44Z</dcterms:modified>
</cp:coreProperties>
</file>