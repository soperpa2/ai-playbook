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OPS 300 MLOps and LLMOps for Public Health
MLOps and LLMOps are the lifecycle practices used to develop, test, deploy, monitor, update, and retire AI systems. Public health agencies need these practices because AI performance can change over time as data, reporting patterns, policies, users, and workflows change. This module focuses on model registries, versioning, testing, drift monitoring, evaluation datasets, release controls, rollback, and post-deployment governance.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Operations and Data Quality Track
Appears in tracks: operations-data-quality
MLOps and LLMOps are the lifecycle practices used to develop, test, deploy, monitor, update, and retire AI systems. Public health agencies need these practices because AI performance can change over time as data, reporting patterns, policies, users, and workflows change. This module focuses on model registries, versioning, testing, drift monitoring, evaluation datasets, release controls, rollback, and post-deployment governance.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13: Monitor and Evaluate AI Systems - This lesson informs Play 13 by helping learners connect the lesson topic to monitor and evaluate ai systems work in the AI Playbook.
Play 1: Vision &amp; Guardrails - This lesson informs Play 1 by helping learners connect the lesson topic to vision &amp; guardrails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this tool to complete or strengthen the practical exercise for the module using fictional, de-identified, or generalized.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purpose of mlops and llmops for public health in public health AI work.
Identify the technical, operational, privacy, security, equity, and governance issues associated with the topic.
Apply the topic to a real or realistic public health workflow, system, or implementation scenario.
Recognize common failure modes that can affect safety, accuracy, trust, workflow fit, or sustainability.
Identify practical guardrails that should be documented before implementation.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Produce a AI operations plan that can support readiness assessment, governance review, procurement, implementation, or monitoring.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MLOps and LLMOps are the lifecycle practices used to develop, test, deploy, monitor, update, and retire AI systems. Public health agencies need these practices because AI performance can change over time as data, reporting patterns, policies, users, and workflows change. This module focuses on model registries, versioning, testing, drift monitoring, evaluation datasets, release controls, rollback, and post-deployment governance.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MLOps and LLMOps for Public Health matters because AI systems are embedded in public health programs, data systems, and decision processes rather than operating in isolation. The topic affects whether AI outputs are accurate, explainable, safe, equitable, secure, and sustainable. Agencies that ignore this area may create tools that work in a demonstration but fail in actual practice.
The topic also affects accountability. Public health agencies must be able to explain how data are used, why a tool was approved, what evidence supports the workflow, who reviews outputs, and what happens when the system fails. These responsibilities become more important as AI tools move from experimentation into operational use.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MLOps refers to operational practices for managing machine learning models through their lifecycle. LLMOps applies similar practices to large language model applications, including prompts, retrieval sources, evaluation datasets, guardrails, and model versions. These practices make AI systems more reliable, auditable, and maintainable.
Model versioning is the practice of tracking which version of a model, prompt, retrieval corpus, evaluation dataset, or configuration was used. Versioning matters because public health staff may need to reconstruct why an output changed or why an incident occurred.
Drift occurs when data patterns, user behavior, or model performance change over time. In public health, drift may occur because a new lab begins reporting, a case definition changes, a provider changes coding practices, or community conditions shift. Monitoring drift helps agencies decide when retesting or retraining is needed.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syndromic surveillance team may use an anomaly detection model to flag unusual emergency department visit patterns. The model may perform well during testing, but performance can change when chief complaint text changes, new facilities join the feed, or seasonal patterns shift. An MLOps plan would define monitoring indicators, evaluation frequency, responsible staff, retraining rules, and rollback procedures.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Operational AI management starts before deployment. Teams should define an intended use, baseline performance, evaluation datasets, release criteria, monitoring indicators, and an owner responsible for review. Without these elements, agencies may not know whether the deployed system is still behaving as approved.
LLMOps adds additional elements because generative systems depend on prompts, retrieval documents, context windows, model settings, safety filters, and human review workflows. A change in any of these components can change outputs. Agencies should track prompt templates, source document updates, model upgrades, and evaluation results.
Rollback is a critical safeguard. If a new model version, prompt, data pipeline, or retrieval index creates errors, staff need a documented way to return to the prior approved version or disable the AI function. Rollback authority should be defined before deployment.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treating the topic as a technical detail rather than a public health control. When staff do not connect technical decisions to authority, workflow, equity, privacy, security, and accountability, the agency may adopt a tool that appears useful but cannot be sustained or defended.
Another risk is relying on vendor claims without agency-defined evidence. Vendors may provide demonstrations, dashboards, or summary metrics that do not match the agency workflow or data environment. A guardrail is to require documentation, test results, acceptance criteria, and agency-controlled review.
A third risk is failing to plan for change. Public health data, policies, systems, and emergencies change. Any technical approach must include monitoring, review, versioning, escalation, and retirement pathways so the agency can respond when assumptions no longer hold.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predictive analytics, RAG, automation, and agentic workflows all depend on the controls described in this module. The controls should be scaled to the risk of the use case. A tool that drafts internal training text may require lighter review than a tool that updates case records, prioritizes outreach, or supports public communication during an emergency.
The module should be applied during readiness assessment, procurement, implementation planning, pilot testing, and post-deployment monitoring. Learners should document how the topic affects data, systems, users, safeguards, and decision-making for the selected workflow.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Where does this topic appear in one current or proposed AI workflow in your agency?
What decisions, data sources, users, or partners would be affected if this area is poorly designed?
What evidence would governance reviewers need before approving the workflow?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safeguards should be required before pilot testing?
Who owns ongoing monitoring and review?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AI operations plan for one real or realistic public health AI workflow. The artifact should describe the use case, affected users, data sources, system dependencies, risks, guardrails, review points, and unresolved questions.
The exercise should produce a work product that could be used in a governance meeting, procurement review, implementation planning session, pilot evaluation, or monitoring review. Learners should document assumptions and identify which staff or partners need to be consulted.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The expected artifact is a completed AI operations plan. It should be specific to a public health workflow and should include technical dependencies, governance questions, human review expectations, monitoring indicators, and unresolved risks.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The expected artifact is a completed AI operations plan. It should be specific to a public health workflow and should include technical dependencies, governance questions, human review expectations, monitoring indicators, and unresolved risks.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best reason to address mlops and llmops for public health before deployment?
2. Which practice best supports responsible implementation?
3. Which statement best describes a common failure mode?
4. What should be included in the practical artifact for this module?
5. When should the issue be escalated for governance or leadership review?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AI Risk Management Framework: https://www.nist.gov/itl/ai-risk-management-framework
Platform-specific MLOps and LLMOps documentation for approved agency tools
NIST Generative AI Profile: https://www.nist.gov/publications/artificial-intelligence-risk-management-framework-generative-artificial-intelligence
CDC Public Health Data Strategy and Data Modernization resources: https://www.cdc.gov/public-health-data-strategy/php/about/index.html
OWASP Top 10 for LLM Applications, when security or AI integrations are relevant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Agency privacy, cybersecurity, data governance, procurement, and records management policies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OPS 300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MLOps and LLMOps for Public Health</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MLOps and LLMOps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MLOps and LLMOps are the lifecycle practices used to develop, test, deploy, monitor, update,.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Public health agencies need these practices because AI performance can change over time as.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This module focuses on model registries, versioning, testing, drift monitoring, evaluation.</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892808"/>
            <a:ext cx="2825496" cy="135331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Level: intermediate/practitioner Primary track: Operations and Data Quality Track Appears in tracks: operations-data-quality</a:t>
            </a:r>
            <a:endParaRPr lang="en-US" sz="13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22192"/>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Learning sequence</a:t>
            </a:r>
            <a:endParaRPr lang="en-US" sz="1300" dirty="0"/>
          </a:p>
        </p:txBody>
      </p:sp>
      <p:sp>
        <p:nvSpPr>
          <p:cNvPr id="15" name="Text 13"/>
          <p:cNvSpPr/>
          <p:nvPr/>
        </p:nvSpPr>
        <p:spPr>
          <a:xfrm>
            <a:off x="8092440" y="4187952"/>
            <a:ext cx="2770632" cy="103327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Read the module for shared vocabulary and context.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Complete the practical exercise to apply the concept.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Use the notes and references for deeper review.</a:t>
            </a:r>
            <a:endParaRPr lang="en-US" sz="12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MLOps and LLMOps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2: Readiness Assessment - This lesson informs Play 2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13: Monitor and Evaluate AI Systems - This lesson informs Play 13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 connect the.</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play links to</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Locate the decision point in the playbook sequence.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Identify who should participate in the work.</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Document the review, approval, or implementation step.</a:t>
            </a:r>
            <a:endParaRPr lang="en-US" sz="122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MLOps and LLMOps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 to translate this.</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5: AI Environmental and Resource Impact Review (Checklist) - Use this tool to complete or.</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6: Human-Centered AI Decision Rule Checklist (Checklist) - Use Human-Centered AI Decision.</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8: AI Project Charter (Planning) - Use AI Project Charter to translate this lesson into a.</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Tool selection cues</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a tool when no comparable local process exists.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Adapt existing department templates when they already fit the.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Save the completed artifact as evidence of the decision.</a:t>
            </a:r>
            <a:endParaRPr lang="en-US" sz="12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MLOps and LLMOps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Explain the purpose of mlops and llmops for public health in public health AI work.</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Identify the technical, operational, privacy, security, equity, and governance issues.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Apply the topic to a real or realistic public health workflow, system, or implementation.</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Explain the purpose of mlops and llmops for public health in public health AI work.</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the technical, operational, privacy, security, equity,.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Recognize common failure modes that can affect safety, accuracy,.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Identify practical guardrails that should be documented before.</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MLOps and LLMOps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Produce a AI operations plan that can support readiness assessment, governance review,.</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Produce a AI operations plan that can support readiness assessment, governance review, procurement,.</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Produce a AI operations plan that can support readiness.</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MLOps and LLMOps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MLOps and LLMOps are the lifecycle practices used to develop, test, deploy, monitor, update,.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Public health agencies need these practices because AI performance can change over time as.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This module focuses on model registries, versioning, testing, drift monitoring, evaluation.</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MLOps and LLMOps are the lifecycle practices used to develop, test, deploy, monitor, update, and retire.</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MLOps and LLMOps are the lifecycle practices used to develop,.</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Public health agencies need these practices because AI performance.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This module focuses on model registries, versioning, testing,.</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MLOps and LLMOps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MLOps and LLMOps for Public Health matters because AI systems are embedded in public health.</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topic affects whether AI outputs are accurate, explainable, safe, equitable, secure, and.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Agencies that ignore this area may create tools that work in a demonstration but fail in.</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MLOps and LLMOps for Public Health matters because AI systems are embedded in public health programs,.</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MLOps and LLMOps for Public Health matters because AI systems are.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topic also affects accountability.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Public health agencies must be able to explain how data are used,.</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MLOps and LLMOps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MLOps refers to operational practices for managing machine learning models through their.</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LLMOps applies similar practices to large language model applications, including prompts,.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These practices make AI systems more reliable, auditable, and maintainable.</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MLOps refers to operational practices for managing machine learning models through their lifecycle.</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LLMOps applies similar practices to large language model.</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Model versioning is the practice of tracking which version of a.</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Versioning matters because public health staff may need to.</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MLOps and LLMOps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 syndromic surveillance team may use an anomaly detection model to flag unusual emergency.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model may perform well during testing, but performance can change when chief complaint text.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An MLOps plan would define monitoring indicators, evaluation frequency, responsible staff,.</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 syndromic surveillance team may use an anomaly detection model to flag unusual emergency department.</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syndromic surveillance team may use an anomaly detection model.</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model may perform well during testing, but performance can.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An MLOps plan would define monitoring indicators, evaluation.</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MLOps and LLMOps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Operational AI management starts before deployment.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Teams should define an intended use, baseline performance, evaluation datasets, release.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Without these elements, agencies may not know whether the deployed system is still behaving as.</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Operational AI management starts before deployment.</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Teams should define an intended use, baseline performance,.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LLMOps adds additional elements because generative systems depend.</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 change in any of these components can change outputs.</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MLOps and LLMOps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 common failure mode is treating the topic as a technical detail rather than a public health.</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When staff do not connect technical decisions to authority, workflow, equity, privacy,.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Another risk is relying on vendor claims without agency-defined evidence.</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 common failure mode is treating the topic as a technical detail rather than a public health control.</a:t>
            </a:r>
            <a:endParaRPr lang="en-US" sz="1320" dirty="0"/>
          </a:p>
        </p:txBody>
      </p:sp>
      <p:sp>
        <p:nvSpPr>
          <p:cNvPr id="13" name="Shape 11"/>
          <p:cNvSpPr/>
          <p:nvPr/>
        </p:nvSpPr>
        <p:spPr>
          <a:xfrm>
            <a:off x="7635240" y="2718511"/>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846527"/>
            <a:ext cx="3145536" cy="237744"/>
          </a:xfrm>
          <a:prstGeom prst="rect">
            <a:avLst/>
          </a:prstGeom>
          <a:noFill/>
          <a:ln/>
        </p:spPr>
        <p:txBody>
          <a:bodyPr wrap="square" lIns="0" tIns="0" rIns="0" bIns="0" rtlCol="0" anchor="ctr"/>
          <a:lstStyle/>
          <a:p>
            <a:pPr indent="0" marL="0">
              <a:buNone/>
            </a:pPr>
            <a:r>
              <a:rPr lang="en-US" sz="1250" b="1" dirty="0">
                <a:solidFill>
                  <a:srgbClr val="0068B7"/>
                </a:solidFill>
                <a:latin typeface="Aptos" pitchFamily="34" charset="0"/>
                <a:ea typeface="Aptos" pitchFamily="34" charset="-122"/>
                <a:cs typeface="Aptos" pitchFamily="34" charset="-120"/>
              </a:rPr>
              <a:t>Risk control loop</a:t>
            </a:r>
            <a:endParaRPr lang="en-US" sz="1250" dirty="0"/>
          </a:p>
        </p:txBody>
      </p:sp>
      <p:sp>
        <p:nvSpPr>
          <p:cNvPr id="15" name="Shape 13"/>
          <p:cNvSpPr/>
          <p:nvPr/>
        </p:nvSpPr>
        <p:spPr>
          <a:xfrm>
            <a:off x="8763000" y="3399739"/>
            <a:ext cx="164592" cy="0"/>
          </a:xfrm>
          <a:prstGeom prst="line">
            <a:avLst/>
          </a:prstGeom>
          <a:noFill/>
          <a:ln w="15240">
            <a:solidFill>
              <a:srgbClr val="8ABBD8"/>
            </a:solidFill>
            <a:prstDash val="solid"/>
          </a:ln>
        </p:spPr>
      </p:sp>
      <p:sp>
        <p:nvSpPr>
          <p:cNvPr id="16" name="Shape 14"/>
          <p:cNvSpPr/>
          <p:nvPr/>
        </p:nvSpPr>
        <p:spPr>
          <a:xfrm>
            <a:off x="7872984" y="3248863"/>
            <a:ext cx="89001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909560"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Identify</a:t>
            </a:r>
            <a:endParaRPr lang="en-US" sz="880" dirty="0"/>
          </a:p>
        </p:txBody>
      </p:sp>
      <p:sp>
        <p:nvSpPr>
          <p:cNvPr id="18" name="Shape 16"/>
          <p:cNvSpPr/>
          <p:nvPr/>
        </p:nvSpPr>
        <p:spPr>
          <a:xfrm>
            <a:off x="9817608" y="3399739"/>
            <a:ext cx="164592" cy="0"/>
          </a:xfrm>
          <a:prstGeom prst="line">
            <a:avLst/>
          </a:prstGeom>
          <a:noFill/>
          <a:ln w="15240">
            <a:solidFill>
              <a:srgbClr val="8ABBD8"/>
            </a:solidFill>
            <a:prstDash val="solid"/>
          </a:ln>
        </p:spPr>
      </p:sp>
      <p:sp>
        <p:nvSpPr>
          <p:cNvPr id="19" name="Shape 17"/>
          <p:cNvSpPr/>
          <p:nvPr/>
        </p:nvSpPr>
        <p:spPr>
          <a:xfrm>
            <a:off x="8927592" y="3248863"/>
            <a:ext cx="89001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64168"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Control</a:t>
            </a:r>
            <a:endParaRPr lang="en-US" sz="880" dirty="0"/>
          </a:p>
        </p:txBody>
      </p:sp>
      <p:sp>
        <p:nvSpPr>
          <p:cNvPr id="21" name="Shape 19"/>
          <p:cNvSpPr/>
          <p:nvPr/>
        </p:nvSpPr>
        <p:spPr>
          <a:xfrm>
            <a:off x="9982200" y="3248863"/>
            <a:ext cx="89001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Monitor</a:t>
            </a:r>
            <a:endParaRPr lang="en-US" sz="880" dirty="0"/>
          </a:p>
        </p:txBody>
      </p:sp>
      <p:sp>
        <p:nvSpPr>
          <p:cNvPr id="23" name="Text 21"/>
          <p:cNvSpPr/>
          <p:nvPr/>
        </p:nvSpPr>
        <p:spPr>
          <a:xfrm>
            <a:off x="7854696" y="3742639"/>
            <a:ext cx="3035808" cy="365760"/>
          </a:xfrm>
          <a:prstGeom prst="rect">
            <a:avLst/>
          </a:prstGeom>
          <a:noFill/>
          <a:ln/>
        </p:spPr>
        <p:txBody>
          <a:bodyPr wrap="square" lIns="254" tIns="254" rIns="254" bIns="254" rtlCol="0" anchor="t">
            <a:normAutofit/>
          </a:bodyPr>
          <a:lstStyle/>
          <a:p>
            <a:pPr indent="0" marL="0">
              <a:buNone/>
            </a:pPr>
            <a:r>
              <a:rPr lang="en-US" sz="1120" dirty="0">
                <a:solidFill>
                  <a:srgbClr val="17364A"/>
                </a:solidFill>
                <a:latin typeface="Aptos" pitchFamily="34" charset="0"/>
                <a:ea typeface="Aptos" pitchFamily="34" charset="-122"/>
                <a:cs typeface="Aptos" pitchFamily="34" charset="-120"/>
              </a:rPr>
              <a:t>Responsible use depends on finding risks early, applying safeguards, and watching for drift or harm over time.</a:t>
            </a:r>
            <a:endParaRPr lang="en-US" sz="1120" dirty="0"/>
          </a:p>
        </p:txBody>
      </p:sp>
      <p:sp>
        <p:nvSpPr>
          <p:cNvPr id="24" name="Shape 22"/>
          <p:cNvSpPr/>
          <p:nvPr/>
        </p:nvSpPr>
        <p:spPr>
          <a:xfrm>
            <a:off x="7635240" y="4391863"/>
            <a:ext cx="3474720" cy="1255471"/>
          </a:xfrm>
          <a:prstGeom prst="roundRect">
            <a:avLst>
              <a:gd name="adj" fmla="val 8740"/>
            </a:avLst>
          </a:prstGeom>
          <a:solidFill>
            <a:srgbClr val="EAF6F8"/>
          </a:solidFill>
          <a:ln w="12700">
            <a:solidFill>
              <a:srgbClr val="B9D7E6"/>
            </a:solidFill>
            <a:prstDash val="solid"/>
          </a:ln>
        </p:spPr>
      </p:sp>
      <p:sp>
        <p:nvSpPr>
          <p:cNvPr id="25" name="Text 23"/>
          <p:cNvSpPr/>
          <p:nvPr/>
        </p:nvSpPr>
        <p:spPr>
          <a:xfrm>
            <a:off x="7799832" y="4538167"/>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6" name="Text 24"/>
          <p:cNvSpPr/>
          <p:nvPr/>
        </p:nvSpPr>
        <p:spPr>
          <a:xfrm>
            <a:off x="7799832" y="4867351"/>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a:t>
            </a:r>
            <a:endParaRPr lang="en-US" sz="13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MLOps and LLMOps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Generative AI, predictive analytics, RAG, automation, and agentic workflows all depend on the.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controls should be scaled to the risk of the use case.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tool that drafts internal training text may require lighter review than a tool that updates.</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Generative AI, predictive analytics, RAG, automation, and agentic workflows all depend on the controls.</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46527"/>
            <a:ext cx="3145536" cy="237744"/>
          </a:xfrm>
          <a:prstGeom prst="rect">
            <a:avLst/>
          </a:prstGeom>
          <a:noFill/>
          <a:ln/>
        </p:spPr>
        <p:txBody>
          <a:bodyPr wrap="square" lIns="0" tIns="0" rIns="0" bIns="0" rtlCol="0" anchor="ctr"/>
          <a:lstStyle/>
          <a:p>
            <a:pPr indent="0" marL="0">
              <a:buNone/>
            </a:pPr>
            <a:r>
              <a:rPr lang="en-US" sz="1250" b="1" dirty="0">
                <a:solidFill>
                  <a:srgbClr val="0068B7"/>
                </a:solidFill>
                <a:latin typeface="Aptos" pitchFamily="34" charset="0"/>
                <a:ea typeface="Aptos" pitchFamily="34" charset="-122"/>
                <a:cs typeface="Aptos" pitchFamily="34" charset="-120"/>
              </a:rPr>
              <a:t>Implementation path</a:t>
            </a:r>
            <a:endParaRPr lang="en-US" sz="1250" dirty="0"/>
          </a:p>
        </p:txBody>
      </p:sp>
      <p:sp>
        <p:nvSpPr>
          <p:cNvPr id="15" name="Shape 13"/>
          <p:cNvSpPr/>
          <p:nvPr/>
        </p:nvSpPr>
        <p:spPr>
          <a:xfrm>
            <a:off x="8763000" y="3399739"/>
            <a:ext cx="164592" cy="0"/>
          </a:xfrm>
          <a:prstGeom prst="line">
            <a:avLst/>
          </a:prstGeom>
          <a:noFill/>
          <a:ln w="15240">
            <a:solidFill>
              <a:srgbClr val="8ABBD8"/>
            </a:solidFill>
            <a:prstDash val="solid"/>
          </a:ln>
        </p:spPr>
      </p:sp>
      <p:sp>
        <p:nvSpPr>
          <p:cNvPr id="16" name="Shape 14"/>
          <p:cNvSpPr/>
          <p:nvPr/>
        </p:nvSpPr>
        <p:spPr>
          <a:xfrm>
            <a:off x="7872984" y="3248863"/>
            <a:ext cx="89001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909560"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Need</a:t>
            </a:r>
            <a:endParaRPr lang="en-US" sz="880" dirty="0"/>
          </a:p>
        </p:txBody>
      </p:sp>
      <p:sp>
        <p:nvSpPr>
          <p:cNvPr id="18" name="Shape 16"/>
          <p:cNvSpPr/>
          <p:nvPr/>
        </p:nvSpPr>
        <p:spPr>
          <a:xfrm>
            <a:off x="9817608" y="3399739"/>
            <a:ext cx="164592" cy="0"/>
          </a:xfrm>
          <a:prstGeom prst="line">
            <a:avLst/>
          </a:prstGeom>
          <a:noFill/>
          <a:ln w="15240">
            <a:solidFill>
              <a:srgbClr val="8ABBD8"/>
            </a:solidFill>
            <a:prstDash val="solid"/>
          </a:ln>
        </p:spPr>
      </p:sp>
      <p:sp>
        <p:nvSpPr>
          <p:cNvPr id="19" name="Shape 17"/>
          <p:cNvSpPr/>
          <p:nvPr/>
        </p:nvSpPr>
        <p:spPr>
          <a:xfrm>
            <a:off x="8927592" y="3248863"/>
            <a:ext cx="89001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64168"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Build</a:t>
            </a:r>
            <a:endParaRPr lang="en-US" sz="880" dirty="0"/>
          </a:p>
        </p:txBody>
      </p:sp>
      <p:sp>
        <p:nvSpPr>
          <p:cNvPr id="21" name="Shape 19"/>
          <p:cNvSpPr/>
          <p:nvPr/>
        </p:nvSpPr>
        <p:spPr>
          <a:xfrm>
            <a:off x="9982200" y="3248863"/>
            <a:ext cx="89001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Adopt</a:t>
            </a:r>
            <a:endParaRPr lang="en-US" sz="880" dirty="0"/>
          </a:p>
        </p:txBody>
      </p:sp>
      <p:sp>
        <p:nvSpPr>
          <p:cNvPr id="23" name="Text 21"/>
          <p:cNvSpPr/>
          <p:nvPr/>
        </p:nvSpPr>
        <p:spPr>
          <a:xfrm>
            <a:off x="7854696" y="3742639"/>
            <a:ext cx="3035808" cy="158191"/>
          </a:xfrm>
          <a:prstGeom prst="rect">
            <a:avLst/>
          </a:prstGeom>
          <a:noFill/>
          <a:ln/>
        </p:spPr>
        <p:txBody>
          <a:bodyPr wrap="square" lIns="254" tIns="254" rIns="254" bIns="254" rtlCol="0" anchor="t">
            <a:normAutofit/>
          </a:bodyPr>
          <a:lstStyle/>
          <a:p>
            <a:pPr indent="0" marL="0">
              <a:buNone/>
            </a:pPr>
            <a:r>
              <a:rPr lang="en-US" sz="1120" dirty="0">
                <a:solidFill>
                  <a:srgbClr val="17364A"/>
                </a:solidFill>
                <a:latin typeface="Aptos" pitchFamily="34" charset="0"/>
                <a:ea typeface="Aptos" pitchFamily="34" charset="-122"/>
                <a:cs typeface="Aptos" pitchFamily="34" charset="-120"/>
              </a:rPr>
              <a:t>Implementation work should make dependencies, approvals, training, and sustainment visible before launch.</a:t>
            </a:r>
            <a:endParaRPr lang="en-US" sz="1120" dirty="0"/>
          </a:p>
        </p:txBody>
      </p:sp>
      <p:sp>
        <p:nvSpPr>
          <p:cNvPr id="24" name="Shape 22"/>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25" name="Text 23"/>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6" name="Text 24"/>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3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MLOps and LLMOps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Where does this topic appear in one current or proposed AI workflow in your agency?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What decisions, data sources, users, or partners would be affected if this area is poorly.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What evidence would governance reviewers need before approving the workflow?</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Where does this topic appear in one current or proposed AI workflow in your agency?</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Where does this topic appear in one current or proposed AI.</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decisions, data sources, users, or partners would be affected.</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evidence would governance reviewers need before approving the.</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MLOps and LLMOps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Which safeguards should be required before pilot testing?</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Who owns ongoing monitoring and review?</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Which safeguards should be required before pilot testing?</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Which safeguards should be required before pilot testing?</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Who owns ongoing monitoring and review?</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MLOps and LLMOps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Create a AI operations plan for one real or realistic public health AI workflow.</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artifact should describe the use case, affected users, data sources, system dependencies,.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exercise should produce a work product that could be used in a governance meeting,.</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Create a AI operations plan for one real or realistic public health AI workflow.</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The artifact should describe the use case, affected users, data.</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exercise should produce a work product that could be used in a.</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Learners should document assumptions and identify which staff or.</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MLOps and LLMOps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The expected artifact is a completed AI operations plan.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should be specific to a public health workflow and should include technical dependencies,.</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The expected artifact is a completed AI operations plan.</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The expected artifact is a completed AI operations plan.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It should be specific to a public health workflow and should.</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MLOps and LLMOps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The expected artifact is a completed AI operations plan. It should be specific to a public.</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The expected artifact is a completed AI operations plan. It should be specific to a public health.</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The expected artifact is a completed AI operations plan.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It should be specific to a public health workflow and should.</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MLOps and LLMOps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1. What is the best reason to address mlops and llmops for public health before deployment?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2. Which practice best supports responsible implementation?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3. Which statement best describes a common failure mode?</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1. What is the best reason to address mlops and llmops for public health before.</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1.</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is the best reason to address mlops and llmops for public.</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2.</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MLOps and LLMOps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NIST AI Risk Management Framework: https://www.nist.gov/itl/ai-risk-management-framework</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Platform-specific MLOps and LLMOps documentation for approved agency tools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NIST Generative AI Profile:.</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NIST AI Risk Management Framework: https://www.nist.gov/itl/ai-risk-management-framework</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OWASP Top 10 for LLM Applications, when security or AI.</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MLOps and LLMOps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Agency privacy, cybersecurity, data governance, procurement, and records management policies</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Agency privacy, cybersecurity, data governance, procurement, and records management.</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Agency privacy, cybersecurity, data governance, procurement, and.</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MLOps and LLMOps for Public Health</dc:title>
  <dc:subject>MLOps and LLMOps for Public Health learning module</dc:subject>
  <dc:creator>Paula Soper</dc:creator>
  <cp:lastModifiedBy>Paula Soper</cp:lastModifiedBy>
  <cp:revision>1</cp:revision>
  <dcterms:created xsi:type="dcterms:W3CDTF">2026-07-13T02:33:45Z</dcterms:created>
  <dcterms:modified xsi:type="dcterms:W3CDTF">2026-07-13T02:33:45Z</dcterms:modified>
</cp:coreProperties>
</file>