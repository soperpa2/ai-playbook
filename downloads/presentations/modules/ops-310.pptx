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310 Measuring AI Value, Performance, and Operational Impact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measuring ai value, performance, and operational impact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value and impact measurement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should be evaluated not only by model accuracy, but also by whether they improve public health operations and outcomes. This module teaches learners to define measures for timeliness, quality, equity, staff burden, cost, user satisfaction, safety, trust, and sustainability. It helps agencies avoid adopting AI because it is novel and instead assess whether it creates measurable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Measuring AI Value, Performance, and Operational Impact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value is the benefit created by an AI-supported workflow relative to its costs, risks, and alternatives. Value may include faster response, improved quality, reduced burden, better access, stronger equity, improved documentation, or better use of limited resources.
Model performance measures how well the AI system performs a technical task. Operational impact measures whether the workflow actually improves public health practice. A model can have strong technical metrics and still fail to reduce burden, improve timeliness, or support equitable outcomes.
Evaluation should be planned before implementation. Agencies should define baseline measures, target outcomes, data sources, review frequency, and decision rules for continuation, modification, scaling, or retirement.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deploy AI to summarize case reports with the goal of reducing investigator burden. Accuracy alone is not enough to prove value. The agency should also measure review time, editing burden, error types, investigator satisfaction, case completion timeliness, escalation frequency, subgroup performance, and whether staff continue to trust and use the tool appropriately.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Value measurement begins with a theory of change. The team should explain how the AI capability is expected to improve the workflow and which outcomes should change. For example, a summarization tool may reduce review time, improve completeness, and allow staff to focus on complex cases. These assumptions should be tested rather than assumed.
Measures should include technical, operational, equity, and governance indicators. Technical indicators may include accuracy, error rates, latency, and uptime. Operational indicators may include timeliness, backlog, staff burden, user adoption, and quality. Equity indicators may include subgroup performance, access, language, disability, and community impact. Governance indicators may include documentation completeness, incident reports, and monitoring review completion.
Agencies should define action thresholds. If the tool produces too many errors, increases burden, performs poorly for a subgroup, or creates trust concerns, the agency should know whether to retrain, revise, restrict, pause, or retire the tool. Value measurement should support decisions, not merely reporting.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value and impact measurement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value and impact measurement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value and impact measurement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measuring ai value, performance, and operational impact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CDC Public Health Data Strategy: https://www.cdc.gov/public-health-data-strategy/php/about/index.html
NIST Artificial Intelligence Risk Management Framework: https://www.nist.gov/itl/ai-risk-management-framework
NIST AI RMF Generative AI Profile: https://www.nist.gov/publications/artificial-intelligence-risk-management-framework-generative-artificial-intelligence
Agency performance management, quality improvement, equity, and evaluation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Measuring AI Value, Performance, and Operational Impact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define measures for timeliness, quality, equity, staff burden, cost, user.</a:t>
            </a:r>
            <a:endParaRPr lang="en-US" sz="2100" dirty="0"/>
          </a:p>
          <a:p>
            <a:r>
              <a:rPr lang="en-US" sz="2100" dirty="0">
                <a:solidFill>
                  <a:srgbClr val="17364A"/>
                </a:solidFill>
                <a:latin typeface="Aptos" pitchFamily="34" charset="0"/>
                <a:ea typeface="Aptos" pitchFamily="34" charset="-122"/>
                <a:cs typeface="Aptos" pitchFamily="34" charset="-120"/>
              </a:rPr>
              <a:t>It helps agencies avoid adopting AI because it is novel and instead assess whether it creates measurable public.</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measuring ai value, performance, and operational impact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the technical, operational, privacy, security, equity, and governance issues.</a:t>
            </a:r>
            <a:endParaRPr lang="en-US" sz="1380" dirty="0"/>
          </a:p>
          <a:p>
            <a:r>
              <a:rPr lang="en-US" sz="1380" dirty="0">
                <a:solidFill>
                  <a:srgbClr val="17364A"/>
                </a:solidFill>
                <a:latin typeface="Aptos" pitchFamily="34" charset="0"/>
                <a:ea typeface="Aptos" pitchFamily="34" charset="-122"/>
                <a:cs typeface="Aptos" pitchFamily="34" charset="-120"/>
              </a:rPr>
              <a:t>Recognize common failure modes that can affect safety, accuracy, trust, workflow fit, or.</a:t>
            </a:r>
            <a:endParaRPr lang="en-US" sz="1380" dirty="0"/>
          </a:p>
          <a:p>
            <a:r>
              <a:rPr lang="en-US" sz="138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value and impact measurement plan that can support readiness assessment, governance.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AI value and impact measurement plan that can support readiness assessment,.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define measures for timeliness, quality, equity, staff burden, cost,.</a:t>
            </a:r>
            <a:endParaRPr lang="en-US" sz="2100" dirty="0"/>
          </a:p>
          <a:p>
            <a:r>
              <a:rPr lang="en-US" sz="2100" dirty="0">
                <a:solidFill>
                  <a:srgbClr val="17364A"/>
                </a:solidFill>
                <a:latin typeface="Aptos" pitchFamily="34" charset="0"/>
                <a:ea typeface="Aptos" pitchFamily="34" charset="-122"/>
                <a:cs typeface="Aptos" pitchFamily="34" charset="-120"/>
              </a:rPr>
              <a:t>It helps agencies avoid adopting AI because it is novel and instead assess whether it creates.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should be evaluated not only by model accuracy, but also by whether they improve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tools should be evaluated not only by model accuracy, but also by whether they improve.</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to define measures for timeliness, quality, equity, staff.</a:t>
            </a:r>
            <a:endParaRPr lang="en-US" sz="1380" dirty="0"/>
          </a:p>
          <a:p>
            <a:r>
              <a:rPr lang="en-US" sz="1380" dirty="0">
                <a:solidFill>
                  <a:srgbClr val="17364A"/>
                </a:solidFill>
                <a:latin typeface="Aptos" pitchFamily="34" charset="0"/>
                <a:ea typeface="Aptos" pitchFamily="34" charset="-122"/>
                <a:cs typeface="Aptos" pitchFamily="34" charset="-120"/>
              </a:rPr>
              <a:t>It helps agencies avoid adopting AI because it is novel and instead assess whether it.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Measuring AI Value, Performance, and Operational Impact matters because AI systems are embedded in.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Measuring AI Value, Performance, and Operational Impact matters because AI systems are.</a:t>
            </a:r>
            <a:endParaRPr lang="en-US" sz="1380" dirty="0"/>
          </a:p>
          <a:p>
            <a:r>
              <a:rPr lang="en-US" sz="1380" dirty="0">
                <a:solidFill>
                  <a:srgbClr val="17364A"/>
                </a:solidFill>
                <a:latin typeface="Aptos" pitchFamily="34" charset="0"/>
                <a:ea typeface="Aptos" pitchFamily="34" charset="-122"/>
                <a:cs typeface="Aptos" pitchFamily="34" charset="-120"/>
              </a:rPr>
              <a:t>The topic also affects accountability.</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must be able to explain how data are used, why a tool was approved,.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value is the benefit created by an AI-supported workflow relative to its costs, risks, and.</a:t>
            </a:r>
            <a:endParaRPr lang="en-US" sz="2100" dirty="0"/>
          </a:p>
          <a:p>
            <a:r>
              <a:rPr lang="en-US" sz="2100" dirty="0">
                <a:solidFill>
                  <a:srgbClr val="17364A"/>
                </a:solidFill>
                <a:latin typeface="Aptos" pitchFamily="34" charset="0"/>
                <a:ea typeface="Aptos" pitchFamily="34" charset="-122"/>
                <a:cs typeface="Aptos" pitchFamily="34" charset="-120"/>
              </a:rPr>
              <a:t>Value may include faster response, improved quality, reduced burden, better access, stronger equity,.</a:t>
            </a:r>
            <a:endParaRPr lang="en-US" sz="2100" dirty="0"/>
          </a:p>
          <a:p>
            <a:r>
              <a:rPr lang="en-US" sz="2100" dirty="0">
                <a:solidFill>
                  <a:srgbClr val="17364A"/>
                </a:solidFill>
                <a:latin typeface="Aptos" pitchFamily="34" charset="0"/>
                <a:ea typeface="Aptos" pitchFamily="34" charset="-122"/>
                <a:cs typeface="Aptos" pitchFamily="34" charset="-120"/>
              </a:rPr>
              <a:t>Model performance measures how well the AI system performs a technical task.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value is the benefit created by an AI-supported workflow relative to its costs, risks,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value is the benefit created by an AI-supported workflow relative to its costs, risks,.</a:t>
            </a:r>
            <a:endParaRPr lang="en-US" sz="1380" dirty="0"/>
          </a:p>
          <a:p>
            <a:r>
              <a:rPr lang="en-US" sz="1380" dirty="0">
                <a:solidFill>
                  <a:srgbClr val="17364A"/>
                </a:solidFill>
                <a:latin typeface="Aptos" pitchFamily="34" charset="0"/>
                <a:ea typeface="Aptos" pitchFamily="34" charset="-122"/>
                <a:cs typeface="Aptos" pitchFamily="34" charset="-120"/>
              </a:rPr>
              <a:t>Value may include faster response, improved quality, reduced burden, better access,.</a:t>
            </a:r>
            <a:endParaRPr lang="en-US" sz="1380" dirty="0"/>
          </a:p>
          <a:p>
            <a:r>
              <a:rPr lang="en-US" sz="1380" dirty="0">
                <a:solidFill>
                  <a:srgbClr val="17364A"/>
                </a:solidFill>
                <a:latin typeface="Aptos" pitchFamily="34" charset="0"/>
                <a:ea typeface="Aptos" pitchFamily="34" charset="-122"/>
                <a:cs typeface="Aptos" pitchFamily="34" charset="-120"/>
              </a:rPr>
              <a:t>Operational impact measures whether the workflow actually improves public health practice.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a:t>
            </a:r>
            <a:endParaRPr lang="en-US" sz="2100" dirty="0"/>
          </a:p>
          <a:p>
            <a:r>
              <a:rPr lang="en-US" sz="2100" dirty="0">
                <a:solidFill>
                  <a:srgbClr val="17364A"/>
                </a:solidFill>
                <a:latin typeface="Aptos" pitchFamily="34" charset="0"/>
                <a:ea typeface="Aptos" pitchFamily="34" charset="-122"/>
                <a:cs typeface="Aptos" pitchFamily="34" charset="-120"/>
              </a:rPr>
              <a:t>Accuracy alone is not enough to prove value.</a:t>
            </a:r>
            <a:endParaRPr lang="en-US" sz="2100" dirty="0"/>
          </a:p>
          <a:p>
            <a:r>
              <a:rPr lang="en-US" sz="2100" dirty="0">
                <a:solidFill>
                  <a:srgbClr val="17364A"/>
                </a:solidFill>
                <a:latin typeface="Aptos" pitchFamily="34" charset="0"/>
                <a:ea typeface="Aptos" pitchFamily="34" charset="-122"/>
                <a:cs typeface="Aptos" pitchFamily="34" charset="-120"/>
              </a:rPr>
              <a:t>The agency should also measure review time, editing burden, error types, investigator satisfaction,.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deploy AI to summarize case reports with the goal of reducing investigator.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health department may deploy AI to summarize case reports with the goal of reducing.</a:t>
            </a:r>
            <a:endParaRPr lang="en-US" sz="1380" dirty="0"/>
          </a:p>
          <a:p>
            <a:r>
              <a:rPr lang="en-US" sz="1380" dirty="0">
                <a:solidFill>
                  <a:srgbClr val="17364A"/>
                </a:solidFill>
                <a:latin typeface="Aptos" pitchFamily="34" charset="0"/>
                <a:ea typeface="Aptos" pitchFamily="34" charset="-122"/>
                <a:cs typeface="Aptos" pitchFamily="34" charset="-120"/>
              </a:rPr>
              <a:t>The agency should also measure review time, editing burden, error types, investigator.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Value measurement begins with a theory of change.</a:t>
            </a:r>
            <a:endParaRPr lang="en-US" sz="2100" dirty="0"/>
          </a:p>
          <a:p>
            <a:r>
              <a:rPr lang="en-US" sz="2100" dirty="0">
                <a:solidFill>
                  <a:srgbClr val="17364A"/>
                </a:solidFill>
                <a:latin typeface="Aptos" pitchFamily="34" charset="0"/>
                <a:ea typeface="Aptos" pitchFamily="34" charset="-122"/>
                <a:cs typeface="Aptos" pitchFamily="34" charset="-120"/>
              </a:rPr>
              <a:t>The team should explain how the AI capability is expected to improve the workflow and which outcomes.</a:t>
            </a:r>
            <a:endParaRPr lang="en-US" sz="2100" dirty="0"/>
          </a:p>
          <a:p>
            <a:r>
              <a:rPr lang="en-US" sz="2100" dirty="0">
                <a:solidFill>
                  <a:srgbClr val="17364A"/>
                </a:solidFill>
                <a:latin typeface="Aptos" pitchFamily="34" charset="0"/>
                <a:ea typeface="Aptos" pitchFamily="34" charset="-122"/>
                <a:cs typeface="Aptos" pitchFamily="34" charset="-120"/>
              </a:rPr>
              <a:t>For example, a summarization tool may reduce review time, improve completeness, and allow staff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Value measurement begins with a theory of change.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team should explain how the AI capability is expected to improve the workflow and.</a:t>
            </a:r>
            <a:endParaRPr lang="en-US" sz="1380" dirty="0"/>
          </a:p>
          <a:p>
            <a:r>
              <a:rPr lang="en-US" sz="1380" dirty="0">
                <a:solidFill>
                  <a:srgbClr val="17364A"/>
                </a:solidFill>
                <a:latin typeface="Aptos" pitchFamily="34" charset="0"/>
                <a:ea typeface="Aptos" pitchFamily="34" charset="-122"/>
                <a:cs typeface="Aptos" pitchFamily="34" charset="-120"/>
              </a:rPr>
              <a:t>For example, a summarization tool may reduce review time, improve completeness, and allow.</a:t>
            </a:r>
            <a:endParaRPr lang="en-US" sz="1380" dirty="0"/>
          </a:p>
          <a:p>
            <a:r>
              <a:rPr lang="en-US" sz="1380" dirty="0">
                <a:solidFill>
                  <a:srgbClr val="17364A"/>
                </a:solidFill>
                <a:latin typeface="Aptos" pitchFamily="34" charset="0"/>
                <a:ea typeface="Aptos" pitchFamily="34" charset="-122"/>
                <a:cs typeface="Aptos" pitchFamily="34" charset="-120"/>
              </a:rPr>
              <a:t>These assumptions should be tested rather than assumed.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staff do not connect technical decisions to authority, workflow, equity, privacy,.</a:t>
            </a:r>
            <a:endParaRPr lang="en-US" sz="1380" dirty="0"/>
          </a:p>
          <a:p>
            <a:r>
              <a:rPr lang="en-US" sz="1380" dirty="0">
                <a:solidFill>
                  <a:srgbClr val="17364A"/>
                </a:solidFill>
                <a:latin typeface="Aptos" pitchFamily="34" charset="0"/>
                <a:ea typeface="Aptos" pitchFamily="34" charset="-122"/>
                <a:cs typeface="Aptos" pitchFamily="34" charset="-120"/>
              </a:rPr>
              <a:t>Vendors may provide demonstrations, dashboards, or summary metrics that do not match the.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documentation, test results, acceptance criteria,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predictive analytics, RAG, automation, and agentic workflows all depend on.</a:t>
            </a:r>
            <a:endParaRPr lang="en-US" sz="1380" dirty="0"/>
          </a:p>
          <a:p>
            <a:r>
              <a:rPr lang="en-US" sz="1380" dirty="0">
                <a:solidFill>
                  <a:srgbClr val="17364A"/>
                </a:solidFill>
                <a:latin typeface="Aptos" pitchFamily="34" charset="0"/>
                <a:ea typeface="Aptos" pitchFamily="34" charset="-122"/>
                <a:cs typeface="Aptos" pitchFamily="34" charset="-120"/>
              </a:rPr>
              <a:t>A tool that drafts internal training text may require lighter review than a tool that.</a:t>
            </a:r>
            <a:endParaRPr lang="en-US" sz="1380" dirty="0"/>
          </a:p>
          <a:p>
            <a:r>
              <a:rPr lang="en-US" sz="1380" dirty="0">
                <a:solidFill>
                  <a:srgbClr val="17364A"/>
                </a:solidFill>
                <a:latin typeface="Aptos" pitchFamily="34" charset="0"/>
                <a:ea typeface="Aptos" pitchFamily="34" charset="-122"/>
                <a:cs typeface="Aptos" pitchFamily="34" charset="-120"/>
              </a:rPr>
              <a:t>The module should be applied during readiness assessment, procurement,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80" dirty="0"/>
          </a:p>
          <a:p>
            <a:r>
              <a:rPr lang="en-US" sz="1380" dirty="0">
                <a:solidFill>
                  <a:srgbClr val="17364A"/>
                </a:solidFill>
                <a:latin typeface="Aptos" pitchFamily="34" charset="0"/>
                <a:ea typeface="Aptos" pitchFamily="34" charset="-122"/>
                <a:cs typeface="Aptos" pitchFamily="34" charset="-120"/>
              </a:rPr>
              <a:t>What decisions, data sources, users, or partners would be affected if this area is poorly.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safeguards should be required before pilot testing?</a:t>
            </a:r>
            <a:endParaRPr lang="en-US" sz="1380" dirty="0"/>
          </a:p>
          <a:p>
            <a:r>
              <a:rPr lang="en-US" sz="1380" dirty="0">
                <a:solidFill>
                  <a:srgbClr val="17364A"/>
                </a:solidFill>
                <a:latin typeface="Aptos" pitchFamily="34" charset="0"/>
                <a:ea typeface="Aptos" pitchFamily="34" charset="-122"/>
                <a:cs typeface="Aptos" pitchFamily="34" charset="-120"/>
              </a:rPr>
              <a:t>Who owns ongoing monitoring and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value and impact measurement plan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artifact should describe the use case, affected users, data sources, system.</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be used in a governance meeting,.</a:t>
            </a:r>
            <a:endParaRPr lang="en-US" sz="1380" dirty="0"/>
          </a:p>
          <a:p>
            <a:r>
              <a:rPr lang="en-US" sz="1380" dirty="0">
                <a:solidFill>
                  <a:srgbClr val="17364A"/>
                </a:solidFill>
                <a:latin typeface="Aptos" pitchFamily="34" charset="0"/>
                <a:ea typeface="Aptos" pitchFamily="34" charset="-122"/>
                <a:cs typeface="Aptos" pitchFamily="34" charset="-120"/>
              </a:rPr>
              <a:t>Learners should document assumptions and identify which staff or partners need to be.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value and impact measurement plan. It should be specific to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value and impact measurement plan.</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measuring ai value, performance, and operational impact before.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reason to address measuring ai value, performance, and operational impact.</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Measuring AI Value, Performance, and Operational Impact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Evaluation Framework: https://www.cdc.gov/evaluation/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NIST AI RMF Generative AI Profile:.</a:t>
            </a:r>
            <a:endParaRPr lang="en-US" sz="1380" dirty="0"/>
          </a:p>
          <a:p>
            <a:r>
              <a:rPr lang="en-US" sz="1380" dirty="0">
                <a:solidFill>
                  <a:srgbClr val="17364A"/>
                </a:solidFill>
                <a:latin typeface="Aptos" pitchFamily="34" charset="0"/>
                <a:ea typeface="Aptos" pitchFamily="34" charset="-122"/>
                <a:cs typeface="Aptos" pitchFamily="34" charset="-120"/>
              </a:rPr>
              <a:t>Agency performance management, quality improvement, equity, and evaluation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Value, Performance, and Operational Impact</dc:title>
  <dc:subject>Measuring AI Value, Performance, and Operational Impact learning module</dc:subject>
  <dc:creator>Paula Soper</dc:creator>
  <cp:lastModifiedBy>Paula Soper</cp:lastModifiedBy>
  <cp:revision>1</cp:revision>
  <dcterms:created xsi:type="dcterms:W3CDTF">2026-07-13T02:11:44Z</dcterms:created>
  <dcterms:modified xsi:type="dcterms:W3CDTF">2026-07-13T02:11:44Z</dcterms:modified>
</cp:coreProperties>
</file>