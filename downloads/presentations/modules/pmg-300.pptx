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300 AI Vendor Implementation Management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governance-security, technical-architecture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AI Vision &amp; Principles Workshop to translate this lesson into a documented public health AI planning, governance,.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ai vendor implementation management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managing vendor delivery, configuration, testing, issue resolution, acceptance, and transition to operations.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AI Vendor Implementation Management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managing vendor delivery, configuration, testing, issue resolution, acceptance, and transition to operations.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ai vendor implementation management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AI Vendor Implementation Management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AI Vendor Implementation Management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ai vendor implementation management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Vendor Implementation Management</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 and.</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 decisions,.</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 used in.</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Program Management Role-Based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program-management, governance-security, technical-architecture</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2: Readiness Assessment - This lesson informs Play 2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3: Establish AI Governance - This lesson informs Play 3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AI Vision &amp; Principles Workshop to translate this.</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AI Environmental and Resource Impact.</a:t>
            </a:r>
            <a:endParaRPr lang="en-US" sz="1850" dirty="0"/>
          </a:p>
          <a:p>
            <a:r>
              <a:rPr lang="en-US" sz="1850" dirty="0">
                <a:solidFill>
                  <a:srgbClr val="17364A"/>
                </a:solidFill>
                <a:latin typeface="Aptos" pitchFamily="34" charset="0"/>
                <a:ea typeface="Aptos" pitchFamily="34" charset="-122"/>
                <a:cs typeface="Aptos" pitchFamily="34" charset="-120"/>
              </a:rPr>
              <a:t>Tool 6: Human-Centered AI Decision Rule Checklist (Checklist) - Use Human-Centered AI Decision Rule.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2100" dirty="0"/>
          </a:p>
          <a:p>
            <a:r>
              <a:rPr lang="en-US" sz="2100" dirty="0">
                <a:solidFill>
                  <a:srgbClr val="17364A"/>
                </a:solidFill>
                <a:latin typeface="Aptos" pitchFamily="34" charset="0"/>
                <a:ea typeface="Aptos" pitchFamily="34" charset="-122"/>
                <a:cs typeface="Aptos" pitchFamily="34" charset="-120"/>
              </a:rPr>
              <a:t>Identify the roles, decisions, risks, and documentation needed for the topic.</a:t>
            </a:r>
            <a:endParaRPr lang="en-US" sz="2100" dirty="0"/>
          </a:p>
          <a:p>
            <a:r>
              <a:rPr lang="en-US" sz="2100" dirty="0">
                <a:solidFill>
                  <a:srgbClr val="17364A"/>
                </a:solidFill>
                <a:latin typeface="Aptos" pitchFamily="34" charset="0"/>
                <a:ea typeface="Aptos" pitchFamily="34" charset="-122"/>
                <a:cs typeface="Aptos" pitchFamily="34" charset="-120"/>
              </a:rPr>
              <a:t>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the purpose of ai vendor implementation management in public health AI.</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a:t>
            </a:r>
            <a:endParaRPr lang="en-US" sz="2100" dirty="0"/>
          </a:p>
          <a:p>
            <a:r>
              <a:rPr lang="en-US" sz="2100" dirty="0">
                <a:solidFill>
                  <a:srgbClr val="17364A"/>
                </a:solidFill>
                <a:latin typeface="Aptos" pitchFamily="34" charset="0"/>
                <a:ea typeface="Aptos" pitchFamily="34" charset="-122"/>
                <a:cs typeface="Aptos" pitchFamily="34" charset="-120"/>
              </a:rPr>
              <a:t>It is designed for public health staff who must translate responsible AI principles into repeatable.</a:t>
            </a:r>
            <a:endParaRPr lang="en-US" sz="2100" dirty="0"/>
          </a:p>
          <a:p>
            <a:r>
              <a:rPr lang="en-US" sz="2100" dirty="0">
                <a:solidFill>
                  <a:srgbClr val="17364A"/>
                </a:solidFill>
                <a:latin typeface="Aptos" pitchFamily="34" charset="0"/>
                <a:ea typeface="Aptos" pitchFamily="34" charset="-122"/>
                <a:cs typeface="Aptos" pitchFamily="34" charset="-120"/>
              </a:rPr>
              <a:t>The module helps learners move beyond general awareness by producing a practical artifact that can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focuses on managing vendor delivery, configuration, testing, issue resolution, acceptance,.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2100" dirty="0"/>
          </a:p>
          <a:p>
            <a:r>
              <a:rPr lang="en-US" sz="2100" dirty="0">
                <a:solidFill>
                  <a:srgbClr val="17364A"/>
                </a:solidFill>
                <a:latin typeface="Aptos" pitchFamily="34" charset="0"/>
                <a:ea typeface="Aptos" pitchFamily="34" charset="-122"/>
                <a:cs typeface="Aptos" pitchFamily="34" charset="-120"/>
              </a:rPr>
              <a:t>Evidence artifact: A document, log, checklist, test result, approval record, or review note that.</a:t>
            </a:r>
            <a:endParaRPr lang="en-US" sz="2100" dirty="0"/>
          </a:p>
          <a:p>
            <a:r>
              <a:rPr lang="en-US" sz="2100" dirty="0">
                <a:solidFill>
                  <a:srgbClr val="17364A"/>
                </a:solidFill>
                <a:latin typeface="Aptos" pitchFamily="34" charset="0"/>
                <a:ea typeface="Aptos" pitchFamily="34" charset="-122"/>
                <a:cs typeface="Aptos" pitchFamily="34" charset="-120"/>
              </a:rPr>
              <a:t>Escalation pathway: A defined route for raising concerns to the appropriate reviewer or decision-maker.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2100" dirty="0"/>
          </a:p>
          <a:p>
            <a:r>
              <a:rPr lang="en-US" sz="2100" dirty="0">
                <a:solidFill>
                  <a:srgbClr val="17364A"/>
                </a:solidFill>
                <a:latin typeface="Aptos" pitchFamily="34" charset="0"/>
                <a:ea typeface="Aptos" pitchFamily="34" charset="-122"/>
                <a:cs typeface="Aptos" pitchFamily="34" charset="-120"/>
              </a:rPr>
              <a:t>It is not legal advice and does not replace review by agency legal counsel, privacy officers,.</a:t>
            </a:r>
            <a:endParaRPr lang="en-US" sz="2100" dirty="0"/>
          </a:p>
          <a:p>
            <a:r>
              <a:rPr lang="en-US" sz="2100" dirty="0">
                <a:solidFill>
                  <a:srgbClr val="17364A"/>
                </a:solidFill>
                <a:latin typeface="Aptos" pitchFamily="34" charset="0"/>
                <a:ea typeface="Aptos" pitchFamily="34" charset="-122"/>
                <a:cs typeface="Aptos" pitchFamily="34" charset="-120"/>
              </a:rPr>
              <a:t>Requirements may vary by state, locality, territory, Tribe, agency, funding source, data-sharing.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891272" y="3108960"/>
            <a:ext cx="566928" cy="566928"/>
          </a:xfrm>
          <a:prstGeom prst="ellipse">
            <a:avLst/>
          </a:prstGeom>
          <a:solidFill>
            <a:srgbClr val="0068B7"/>
          </a:solidFill>
          <a:ln w="12700">
            <a:solidFill>
              <a:srgbClr val="0068B7"/>
            </a:solidFill>
            <a:prstDash val="solid"/>
          </a:ln>
        </p:spPr>
      </p:sp>
      <p:sp>
        <p:nvSpPr>
          <p:cNvPr id="15" name="Shape 13"/>
          <p:cNvSpPr/>
          <p:nvPr/>
        </p:nvSpPr>
        <p:spPr>
          <a:xfrm>
            <a:off x="10287000" y="3108960"/>
            <a:ext cx="566928" cy="566928"/>
          </a:xfrm>
          <a:prstGeom prst="ellipse">
            <a:avLst/>
          </a:prstGeom>
          <a:solidFill>
            <a:srgbClr val="2F8A28"/>
          </a:solidFill>
          <a:ln w="12700">
            <a:solidFill>
              <a:srgbClr val="2F8A28"/>
            </a:solidFill>
            <a:prstDash val="solid"/>
          </a:ln>
        </p:spPr>
      </p:sp>
      <p:sp>
        <p:nvSpPr>
          <p:cNvPr id="16" name="Shape 14"/>
          <p:cNvSpPr/>
          <p:nvPr/>
        </p:nvSpPr>
        <p:spPr>
          <a:xfrm>
            <a:off x="9089136" y="3456432"/>
            <a:ext cx="566928" cy="566928"/>
          </a:xfrm>
          <a:prstGeom prst="ellipse">
            <a:avLst/>
          </a:prstGeom>
          <a:solidFill>
            <a:srgbClr val="6A4CA3"/>
          </a:solidFill>
          <a:ln w="12700">
            <a:solidFill>
              <a:srgbClr val="6A4CA3"/>
            </a:solidFill>
            <a:prstDash val="solid"/>
          </a:ln>
        </p:spPr>
      </p:sp>
      <p:sp>
        <p:nvSpPr>
          <p:cNvPr id="17" name="Shape 15"/>
          <p:cNvSpPr/>
          <p:nvPr/>
        </p:nvSpPr>
        <p:spPr>
          <a:xfrm>
            <a:off x="8385048" y="3419856"/>
            <a:ext cx="1975104" cy="0"/>
          </a:xfrm>
          <a:prstGeom prst="line">
            <a:avLst/>
          </a:prstGeom>
          <a:noFill/>
          <a:ln w="25400">
            <a:solidFill>
              <a:srgbClr val="8ABBD8"/>
            </a:solidFill>
            <a:prstDash val="solid"/>
          </a:ln>
        </p:spPr>
      </p:sp>
      <p:sp>
        <p:nvSpPr>
          <p:cNvPr id="18" name="Shape 16"/>
          <p:cNvSpPr/>
          <p:nvPr/>
        </p:nvSpPr>
        <p:spPr>
          <a:xfrm>
            <a:off x="8202168" y="3630168"/>
            <a:ext cx="1170432" cy="118872"/>
          </a:xfrm>
          <a:prstGeom prst="line">
            <a:avLst/>
          </a:prstGeom>
          <a:noFill/>
          <a:ln w="25400">
            <a:solidFill>
              <a:srgbClr val="8ABBD8"/>
            </a:solidFill>
            <a:prstDash val="solid"/>
          </a:ln>
        </p:spPr>
      </p:sp>
      <p:sp>
        <p:nvSpPr>
          <p:cNvPr id="19" name="Shape 17"/>
          <p:cNvSpPr/>
          <p:nvPr/>
        </p:nvSpPr>
        <p:spPr>
          <a:xfrm>
            <a:off x="10543032" y="3630168"/>
            <a:ext cx="-1170432" cy="118872"/>
          </a:xfrm>
          <a:prstGeom prst="line">
            <a:avLst/>
          </a:prstGeom>
          <a:noFill/>
          <a:ln w="25400">
            <a:solidFill>
              <a:srgbClr val="8ABBD8"/>
            </a:solidFill>
            <a:prstDash val="solid"/>
          </a:ln>
        </p:spPr>
      </p:sp>
      <p:sp>
        <p:nvSpPr>
          <p:cNvPr id="20" name="Text 18"/>
          <p:cNvSpPr/>
          <p:nvPr/>
        </p:nvSpPr>
        <p:spPr>
          <a:xfrm>
            <a:off x="7863840" y="4069080"/>
            <a:ext cx="3017520" cy="164592"/>
          </a:xfrm>
          <a:prstGeom prst="rect">
            <a:avLst/>
          </a:prstGeom>
          <a:noFill/>
          <a:ln/>
        </p:spPr>
        <p:txBody>
          <a:bodyPr wrap="square" lIns="0" tIns="0" rIns="0" bIns="0" rtlCol="0" anchor="ctr"/>
          <a:lstStyle/>
          <a:p>
            <a:pPr algn="ctr" indent="0" marL="0">
              <a:buNone/>
            </a:pPr>
            <a:r>
              <a:rPr lang="en-US" sz="900" b="1" dirty="0">
                <a:solidFill>
                  <a:srgbClr val="003A63"/>
                </a:solidFill>
                <a:latin typeface="Aptos" pitchFamily="34" charset="0"/>
                <a:ea typeface="Aptos" pitchFamily="34" charset="-122"/>
                <a:cs typeface="Aptos" pitchFamily="34" charset="-120"/>
              </a:rPr>
              <a:t>Decision rights</a:t>
            </a:r>
            <a:endParaRPr lang="en-US" sz="900" dirty="0"/>
          </a:p>
        </p:txBody>
      </p:sp>
      <p:sp>
        <p:nvSpPr>
          <p:cNvPr id="21" name="Shape 19"/>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2" name="Text 20"/>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3" name="Text 21"/>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a:t>
            </a:r>
            <a:endParaRPr lang="en-US" sz="2100" dirty="0"/>
          </a:p>
          <a:p>
            <a:r>
              <a:rPr lang="en-US" sz="2100" dirty="0">
                <a:solidFill>
                  <a:srgbClr val="17364A"/>
                </a:solidFill>
                <a:latin typeface="Aptos" pitchFamily="34" charset="0"/>
                <a:ea typeface="Aptos" pitchFamily="34" charset="-122"/>
                <a:cs typeface="Aptos" pitchFamily="34" charset="-120"/>
              </a:rPr>
              <a:t>Without a structured approach, staff may rely on informal practices, vendor assurances, or one-time.</a:t>
            </a:r>
            <a:endParaRPr lang="en-US" sz="2100" dirty="0"/>
          </a:p>
          <a:p>
            <a:r>
              <a:rPr lang="en-US" sz="2100" dirty="0">
                <a:solidFill>
                  <a:srgbClr val="17364A"/>
                </a:solidFill>
                <a:latin typeface="Aptos" pitchFamily="34" charset="0"/>
                <a:ea typeface="Aptos" pitchFamily="34" charset="-122"/>
                <a:cs typeface="Aptos" pitchFamily="34" charset="-120"/>
              </a:rPr>
              <a:t>Public health agencies operate under legal authorities, public accountability, resource constraints,.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matters because AI adoption changes how public health agencies.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a:t>
            </a:r>
            <a:endParaRPr lang="en-US" sz="2100" dirty="0"/>
          </a:p>
          <a:p>
            <a:r>
              <a:rPr lang="en-US" sz="2100" dirty="0">
                <a:solidFill>
                  <a:srgbClr val="17364A"/>
                </a:solidFill>
                <a:latin typeface="Aptos" pitchFamily="34" charset="0"/>
                <a:ea typeface="Aptos" pitchFamily="34" charset="-122"/>
                <a:cs typeface="Aptos" pitchFamily="34" charset="-120"/>
              </a:rPr>
              <a:t>The project team initially treats the tool as a helpful efficiency aid, but governance reviewers.</a:t>
            </a:r>
            <a:endParaRPr lang="en-US" sz="2100" dirty="0"/>
          </a:p>
          <a:p>
            <a:r>
              <a:rPr lang="en-US" sz="2100" dirty="0">
                <a:solidFill>
                  <a:srgbClr val="17364A"/>
                </a:solidFill>
                <a:latin typeface="Aptos" pitchFamily="34" charset="0"/>
                <a:ea typeface="Aptos" pitchFamily="34" charset="-122"/>
                <a:cs typeface="Aptos" pitchFamily="34" charset="-120"/>
              </a:rPr>
              <a:t>The agency responds by creating a clear artifact that defines intended use, prohibited use, responsible.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public health agency is preparing to use AI in a workflow related to managing vendor delivery,.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2100" dirty="0"/>
          </a:p>
          <a:p>
            <a:r>
              <a:rPr lang="en-US" sz="2100" dirty="0">
                <a:solidFill>
                  <a:srgbClr val="17364A"/>
                </a:solidFill>
                <a:latin typeface="Aptos" pitchFamily="34" charset="0"/>
                <a:ea typeface="Aptos" pitchFamily="34" charset="-122"/>
                <a:cs typeface="Aptos" pitchFamily="34" charset="-120"/>
              </a:rPr>
              <a:t>Staff should identify who is affected, what data are used, what AI output is produced, who reviews the.</a:t>
            </a:r>
            <a:endParaRPr lang="en-US" sz="2100" dirty="0"/>
          </a:p>
          <a:p>
            <a:r>
              <a:rPr lang="en-US" sz="2100" dirty="0">
                <a:solidFill>
                  <a:srgbClr val="17364A"/>
                </a:solidFill>
                <a:latin typeface="Aptos" pitchFamily="34" charset="0"/>
                <a:ea typeface="Aptos" pitchFamily="34" charset="-122"/>
                <a:cs typeface="Aptos" pitchFamily="34" charset="-120"/>
              </a:rPr>
              <a:t>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2100" dirty="0"/>
          </a:p>
          <a:p>
            <a:r>
              <a:rPr lang="en-US" sz="2100" dirty="0">
                <a:solidFill>
                  <a:srgbClr val="17364A"/>
                </a:solidFill>
                <a:latin typeface="Aptos" pitchFamily="34" charset="0"/>
                <a:ea typeface="Aptos" pitchFamily="34" charset="-122"/>
                <a:cs typeface="Aptos" pitchFamily="34" charset="-120"/>
              </a:rPr>
              <a:t>AI risks can change when data sources, models, vendors, policies, users, or public expectations change.</a:t>
            </a:r>
            <a:endParaRPr lang="en-US" sz="2100" dirty="0"/>
          </a:p>
          <a:p>
            <a:r>
              <a:rPr lang="en-US" sz="2100" dirty="0">
                <a:solidFill>
                  <a:srgbClr val="17364A"/>
                </a:solidFill>
                <a:latin typeface="Aptos" pitchFamily="34" charset="0"/>
                <a:ea typeface="Aptos" pitchFamily="34" charset="-122"/>
                <a:cs typeface="Aptos" pitchFamily="34" charset="-120"/>
              </a:rPr>
              <a:t>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2100" dirty="0"/>
          </a:p>
          <a:p>
            <a:r>
              <a:rPr lang="en-US" sz="2100" dirty="0">
                <a:solidFill>
                  <a:srgbClr val="17364A"/>
                </a:solidFill>
                <a:latin typeface="Aptos" pitchFamily="34" charset="0"/>
                <a:ea typeface="Aptos" pitchFamily="34" charset="-122"/>
                <a:cs typeface="Aptos" pitchFamily="34" charset="-120"/>
              </a:rPr>
              <a:t>The more sensitive the data, the more consequential the output, or the more automated the action,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public health decision or workflow does this topic affect?</a:t>
            </a:r>
            <a:endParaRPr lang="en-US" sz="2100" dirty="0"/>
          </a:p>
          <a:p>
            <a:r>
              <a:rPr lang="en-US" sz="2100" dirty="0">
                <a:solidFill>
                  <a:srgbClr val="17364A"/>
                </a:solidFill>
                <a:latin typeface="Aptos" pitchFamily="34" charset="0"/>
                <a:ea typeface="Aptos" pitchFamily="34" charset="-122"/>
                <a:cs typeface="Aptos" pitchFamily="34" charset="-120"/>
              </a:rPr>
              <a:t>Who has authority to approve or pause the work?</a:t>
            </a:r>
            <a:endParaRPr lang="en-US" sz="2100" dirty="0"/>
          </a:p>
          <a:p>
            <a:r>
              <a:rPr lang="en-US" sz="2100" dirty="0">
                <a:solidFill>
                  <a:srgbClr val="17364A"/>
                </a:solidFill>
                <a:latin typeface="Aptos" pitchFamily="34" charset="0"/>
                <a:ea typeface="Aptos" pitchFamily="34" charset="-122"/>
                <a:cs typeface="Aptos" pitchFamily="34" charset="-120"/>
              </a:rPr>
              <a:t>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public health decision or workflow does this topic affect?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2100" dirty="0"/>
          </a:p>
          <a:p>
            <a:r>
              <a:rPr lang="en-US" sz="2100" dirty="0">
                <a:solidFill>
                  <a:srgbClr val="17364A"/>
                </a:solidFill>
                <a:latin typeface="Aptos" pitchFamily="34" charset="0"/>
                <a:ea typeface="Aptos" pitchFamily="34" charset="-122"/>
                <a:cs typeface="Aptos" pitchFamily="34" charset="-120"/>
              </a:rPr>
              <a:t>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a:t>
            </a:r>
            <a:endParaRPr lang="en-US" sz="2100" dirty="0"/>
          </a:p>
          <a:p>
            <a:r>
              <a:rPr lang="en-US" sz="2100" dirty="0">
                <a:solidFill>
                  <a:srgbClr val="17364A"/>
                </a:solidFill>
                <a:latin typeface="Aptos" pitchFamily="34" charset="0"/>
                <a:ea typeface="Aptos" pitchFamily="34" charset="-122"/>
                <a:cs typeface="Aptos" pitchFamily="34" charset="-120"/>
              </a:rPr>
              <a:t>The artifact should define the use case, affected roles, review criteria, safeguards,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practical ai vendor implementation management artifact for one AI-supported public health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Escalation and monitoring plan</a:t>
            </a:r>
            <a:endParaRPr lang="en-US" sz="2100" dirty="0"/>
          </a:p>
          <a:p>
            <a:r>
              <a:rPr lang="en-US" sz="2100" dirty="0">
                <a:solidFill>
                  <a:srgbClr val="17364A"/>
                </a:solidFill>
                <a:latin typeface="Aptos" pitchFamily="34" charset="0"/>
                <a:ea typeface="Aptos" pitchFamily="34" charset="-122"/>
                <a:cs typeface="Aptos" pitchFamily="34" charset="-120"/>
              </a:rPr>
              <a:t>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Escalation and monitoring plan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Vendor Implementation Management artifact</a:t>
            </a:r>
            <a:endParaRPr lang="en-US" sz="2100" dirty="0"/>
          </a:p>
          <a:p>
            <a:r>
              <a:rPr lang="en-US" sz="2100" dirty="0">
                <a:solidFill>
                  <a:srgbClr val="17364A"/>
                </a:solidFill>
                <a:latin typeface="Aptos" pitchFamily="34" charset="0"/>
                <a:ea typeface="Aptos" pitchFamily="34" charset="-122"/>
                <a:cs typeface="Aptos" pitchFamily="34" charset="-120"/>
              </a:rPr>
              <a:t>Role and responsibility table</a:t>
            </a:r>
            <a:endParaRPr lang="en-US" sz="2100" dirty="0"/>
          </a:p>
          <a:p>
            <a:r>
              <a:rPr lang="en-US" sz="2100" dirty="0">
                <a:solidFill>
                  <a:srgbClr val="17364A"/>
                </a:solidFill>
                <a:latin typeface="Aptos" pitchFamily="34" charset="0"/>
                <a:ea typeface="Aptos" pitchFamily="34" charset="-122"/>
                <a:cs typeface="Aptos" pitchFamily="34" charset="-120"/>
              </a:rPr>
              <a:t>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Vendor Implementation Management artifact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2100" dirty="0"/>
          </a:p>
          <a:p>
            <a:r>
              <a:rPr lang="en-US" sz="2100" dirty="0">
                <a:solidFill>
                  <a:srgbClr val="17364A"/>
                </a:solidFill>
                <a:latin typeface="Aptos" pitchFamily="34" charset="0"/>
                <a:ea typeface="Aptos" pitchFamily="34" charset="-122"/>
                <a:cs typeface="Aptos" pitchFamily="34" charset="-120"/>
              </a:rPr>
              <a:t>2. What is the best reason to assign an accountability owner?</a:t>
            </a:r>
            <a:endParaRPr lang="en-US" sz="2100" dirty="0"/>
          </a:p>
          <a:p>
            <a:r>
              <a:rPr lang="en-US" sz="2100" dirty="0">
                <a:solidFill>
                  <a:srgbClr val="17364A"/>
                </a:solidFill>
                <a:latin typeface="Aptos" pitchFamily="34" charset="0"/>
                <a:ea typeface="Aptos" pitchFamily="34" charset="-122"/>
                <a:cs typeface="Aptos" pitchFamily="34" charset="-120"/>
              </a:rPr>
              <a:t>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evidence that ai vendor implementation management has been applied responsibly?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 and 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Vendor Implementation Management</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7927848" y="3319272"/>
            <a:ext cx="792480" cy="749808"/>
          </a:xfrm>
          <a:prstGeom prst="roundRect">
            <a:avLst>
              <a:gd name="adj" fmla="val 14634"/>
            </a:avLst>
          </a:prstGeom>
          <a:solidFill>
            <a:srgbClr val="0068B7"/>
          </a:solidFill>
          <a:ln w="12700">
            <a:solidFill>
              <a:srgbClr val="0068B7"/>
            </a:solidFill>
            <a:prstDash val="solid"/>
          </a:ln>
        </p:spPr>
      </p:sp>
      <p:sp>
        <p:nvSpPr>
          <p:cNvPr id="15" name="Text 13"/>
          <p:cNvSpPr/>
          <p:nvPr/>
        </p:nvSpPr>
        <p:spPr>
          <a:xfrm>
            <a:off x="8001000"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Plan</a:t>
            </a:r>
            <a:endParaRPr lang="en-US" sz="1500" dirty="0"/>
          </a:p>
        </p:txBody>
      </p:sp>
      <p:sp>
        <p:nvSpPr>
          <p:cNvPr id="16" name="Shape 14"/>
          <p:cNvSpPr/>
          <p:nvPr/>
        </p:nvSpPr>
        <p:spPr>
          <a:xfrm>
            <a:off x="8976360" y="3319272"/>
            <a:ext cx="792480" cy="749808"/>
          </a:xfrm>
          <a:prstGeom prst="roundRect">
            <a:avLst>
              <a:gd name="adj" fmla="val 14634"/>
            </a:avLst>
          </a:prstGeom>
          <a:solidFill>
            <a:srgbClr val="2F8A28"/>
          </a:solidFill>
          <a:ln w="12700">
            <a:solidFill>
              <a:srgbClr val="2F8A28"/>
            </a:solidFill>
            <a:prstDash val="solid"/>
          </a:ln>
        </p:spPr>
      </p:sp>
      <p:sp>
        <p:nvSpPr>
          <p:cNvPr id="17" name="Text 15"/>
          <p:cNvSpPr/>
          <p:nvPr/>
        </p:nvSpPr>
        <p:spPr>
          <a:xfrm>
            <a:off x="9049512"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a:t>
            </a:r>
            <a:endParaRPr lang="en-US" sz="1500" dirty="0"/>
          </a:p>
        </p:txBody>
      </p:sp>
      <p:sp>
        <p:nvSpPr>
          <p:cNvPr id="18" name="Shape 16"/>
          <p:cNvSpPr/>
          <p:nvPr/>
        </p:nvSpPr>
        <p:spPr>
          <a:xfrm>
            <a:off x="10024872" y="3319272"/>
            <a:ext cx="792480" cy="749808"/>
          </a:xfrm>
          <a:prstGeom prst="roundRect">
            <a:avLst>
              <a:gd name="adj" fmla="val 14634"/>
            </a:avLst>
          </a:prstGeom>
          <a:solidFill>
            <a:srgbClr val="D69A2D"/>
          </a:solidFill>
          <a:ln w="12700">
            <a:solidFill>
              <a:srgbClr val="D69A2D"/>
            </a:solidFill>
            <a:prstDash val="solid"/>
          </a:ln>
        </p:spPr>
      </p:sp>
      <p:sp>
        <p:nvSpPr>
          <p:cNvPr id="19" name="Text 17"/>
          <p:cNvSpPr/>
          <p:nvPr/>
        </p:nvSpPr>
        <p:spPr>
          <a:xfrm>
            <a:off x="10098024" y="3511296"/>
            <a:ext cx="646176"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Review</a:t>
            </a:r>
            <a:endParaRPr lang="en-US" sz="1500" dirty="0"/>
          </a:p>
        </p:txBody>
      </p:sp>
      <p:sp>
        <p:nvSpPr>
          <p:cNvPr id="20" name="Shape 18"/>
          <p:cNvSpPr/>
          <p:nvPr/>
        </p:nvSpPr>
        <p:spPr>
          <a:xfrm>
            <a:off x="8293608" y="4389120"/>
            <a:ext cx="2157984" cy="0"/>
          </a:xfrm>
          <a:prstGeom prst="line">
            <a:avLst/>
          </a:prstGeom>
          <a:noFill/>
          <a:ln w="25400">
            <a:solidFill>
              <a:srgbClr val="8ABBD8"/>
            </a:solidFill>
            <a:prstDash val="solid"/>
          </a:ln>
        </p:spPr>
      </p:sp>
      <p:sp>
        <p:nvSpPr>
          <p:cNvPr id="21" name="Text 19"/>
          <p:cNvSpPr/>
          <p:nvPr/>
        </p:nvSpPr>
        <p:spPr>
          <a:xfrm>
            <a:off x="7909560" y="3977640"/>
            <a:ext cx="2926080" cy="182880"/>
          </a:xfrm>
          <a:prstGeom prst="rect">
            <a:avLst/>
          </a:prstGeom>
          <a:noFill/>
          <a:ln/>
        </p:spPr>
        <p:txBody>
          <a:bodyPr wrap="square" lIns="0" tIns="0" rIns="0" bIns="0" rtlCol="0" anchor="ctr"/>
          <a:lstStyle/>
          <a:p>
            <a:pPr algn="ctr" indent="0" marL="0">
              <a:buNone/>
            </a:pPr>
            <a:r>
              <a:rPr lang="en-US" sz="1000" dirty="0">
                <a:solidFill>
                  <a:srgbClr val="003A63"/>
                </a:solidFill>
                <a:latin typeface="Aptos" pitchFamily="34" charset="0"/>
                <a:ea typeface="Aptos" pitchFamily="34" charset="-122"/>
                <a:cs typeface="Aptos" pitchFamily="34" charset="-120"/>
              </a:rPr>
              <a:t>Dependencies visible</a:t>
            </a:r>
            <a:endParaRPr lang="en-US" sz="1000" dirty="0"/>
          </a:p>
        </p:txBody>
      </p:sp>
      <p:sp>
        <p:nvSpPr>
          <p:cNvPr id="22" name="Shape 20"/>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3" name="Text 21"/>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4" name="Text 22"/>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Vendor Implementation Management</dc:title>
  <dc:subject>AI Vendor Implementation Management learning module</dc:subject>
  <dc:creator>Paula Soper</dc:creator>
  <cp:lastModifiedBy>Paula Soper</cp:lastModifiedBy>
  <cp:revision>1</cp:revision>
  <dcterms:created xsi:type="dcterms:W3CDTF">2026-07-13T01:54:45Z</dcterms:created>
  <dcterms:modified xsi:type="dcterms:W3CDTF">2026-07-13T01:54:45Z</dcterms:modified>
</cp:coreProperties>
</file>