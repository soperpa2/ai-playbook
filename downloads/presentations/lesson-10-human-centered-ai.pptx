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Human-Centered AI is designed for an individual learner using the AI Playbook and Toolkit for Public Health Departments.
Human-centered AI keeps you and other public health professionals, affected communities, and accountable decision-makers at the center of design, review, and action.
Use the notes in this deck as additional reading and context. They are not written as presenter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the concept in plain language for colleagues, leaders, partners, and community-facing discussions.
Identify where the concept affects AI planning, governance, procurement, implementation, monitoring, public trust, or public health decision-making.
Apply the concept to a concrete public health workflow using the linked plays, tools, safeguards, and documentation expectations.
Complete a practical activity that produces an artifact you can use in readiness assessment, governance review, implementation planning, or monitoring.
Produce or contribute to: Human decision rule.
Produce or contribute to: User and community needs summary.
Produce or contribute to: Appeal, correction, or feedback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Human-centered AI begins with the people affected by a workflow: public health staff, community members, partners, and decision-makers. The goal is not to automate as much as possible. The goal is to improve public health work while preserving human judgment, relationships, dignity, explainability, and accountability.
Human-centered AI keeps people at the center of design and accountability. In public health, this includes staff who use the system, leaders who are responsible for decisions, partners who depend on agency information, and communities affected by the workflow.
The purpose of human-centered AI is not simply to keep a human somewhere in the loop. It is to define meaningful human authority: who reviews outputs, who can override recommendations, who explains decisions, and how people can raise concerns or correct errors.
Your training should focus on decision rules. For every AI-supported workflow, you should be able to say what AI may do, what it may not do, what humans must approve, and how concerns will be escalated.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Community engagement: Meaningful involvement of affected communities, partners, and stakeholders in defining problems, reviewing risks, shaping safeguards, and evaluating whether AI use supports public trust and public health goals.
Explainability: The ability to describe how an AI system produced or contributed to an output in terms that decision-makers, staff, and affected communities can understand.
Human-in-the-loop: A workflow design in which a person reviews, approves, corrects, or overrides AI outputs before they affect decisions, services, communications, or public health action.
Public accountability: The obligation to explain, document, justify, monitor, and correct AI use because public health agencies act under public authority and serve communities that may be affected by their decisions.
Scale decision: A governance decision about whether to expand, revise, pause, stop, or retire an AI pilot based on evidence from validation, user feedback, equity review, performance monitoring, costs, and operational readiness.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Transparency: Clear communication about when AI is used, why it is used, what data are involved, what humans decide, what limitations exist, and how concerns can be raised.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Human decision rule is a core concept for this lesson because it turns human-centered ai from an abstract AI topic into something you can recognize in daily public health work. A written statement defining what AI may do, what it may recommend, what humans must approve, and what the AI may never do.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Correction pathway is a core concept for this lesson because it turns human-centered ai from an abstract AI topic into something you can recognize in daily public health work. A process for people or staff to challenge, correct, or report a problem with an AI-supported output.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Affected users is a core concept for this lesson because it turns human-centered ai from an abstract AI topic into something you can recognize in daily public health work. Staff, partners, community members, or clients who experience the workflow or its outcomes.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Define human decision owners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Require expert review before public communications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Document appeal or correction pathways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apply this module, begin with a real or realistic public health workflow and describe the task in plain language before naming an AI tool. Use the related plays (Play 1, Play 7, Play 11, Play 12, Play 13) to identify the decisions, approvals, people, and timing needed for responsible implementation. Use the related tools (Tool 6, Tool 19, Tool 46) to create documentation that can be reviewed, saved, revised, and used as evidence of readiness. The practical exercise asks you to produce evidence that can feed into that work: For one proposed use case, write a human decision rule that defines what AI may support, what it may recommend, what a human must approve, and what the AI may not do.
The main guardrail for this lesson is that AI should support judgment, not replace community relationships, public accountability, or final decisions in consequential workflows.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Human-centered AI keeps public health purpose, staff expertise, and community accountability at the center. This is especially important when AI affects outreach, communication, prioritization, inspections, surveillance, or services.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one proposed use case, write a human decision rule that defines what AI may support, what it may recommend, what a human must approve, and what the AI may not do.
Human decision rule
User and community needs summary
Appeal, correction, or feedback pathway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Who is affected by the workflow and who has been consulted?
What decision remains with a named human owner?
How can people ask questions, correct information, or challenge an outcome?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Blueprint for an AI Bill of Rights: Principles for automated systems that preserve human agency, notice, explanation, and safeguards. https://bidenwhitehouse.archives.gov/ostp/ai-bill-of-rights/
NIST AI Risk Management Framework: Useful for defining human oversight, decision accountability, and risk controls. https://www.nist.gov/itl/ai-risk-management-framework
ASPPH AI Framework Report: Public health-specific framing for human-centered AI and accountable implementation. https://aspph.org/initiatives/ai-for-public-health/ai-framework-report/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13232" y="2542032"/>
            <a:ext cx="10607040" cy="777240"/>
          </a:xfrm>
          <a:prstGeom prst="rect">
            <a:avLst/>
          </a:prstGeom>
          <a:noFill/>
          <a:ln/>
        </p:spPr>
        <p:txBody>
          <a:bodyPr wrap="square" lIns="0" tIns="0" rIns="0" bIns="0" rtlCol="0" anchor="ct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Human-Centered AI</a:t>
            </a:r>
            <a:endParaRPr lang="en-US" sz="3400" dirty="0"/>
          </a:p>
        </p:txBody>
      </p:sp>
      <p:sp>
        <p:nvSpPr>
          <p:cNvPr id="6" name="Text 3"/>
          <p:cNvSpPr/>
          <p:nvPr/>
        </p:nvSpPr>
        <p:spPr>
          <a:xfrm>
            <a:off x="749808" y="3456432"/>
            <a:ext cx="365760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Learning Module</a:t>
            </a:r>
            <a:endParaRPr lang="en-US" sz="1400" dirty="0"/>
          </a:p>
        </p:txBody>
      </p:sp>
      <p:sp>
        <p:nvSpPr>
          <p:cNvPr id="7" name="Text 4"/>
          <p:cNvSpPr/>
          <p:nvPr/>
        </p:nvSpPr>
        <p:spPr>
          <a:xfrm>
            <a:off x="749808" y="3886200"/>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Learning Objectives</a:t>
            </a:r>
            <a:endParaRPr lang="en-US" sz="2800" dirty="0"/>
          </a:p>
        </p:txBody>
      </p:sp>
      <p:sp>
        <p:nvSpPr>
          <p:cNvPr id="7" name="Text 5"/>
          <p:cNvSpPr/>
          <p:nvPr/>
        </p:nvSpPr>
        <p:spPr>
          <a:xfrm>
            <a:off x="822960" y="1417320"/>
            <a:ext cx="10332720" cy="4480560"/>
          </a:xfrm>
          <a:prstGeom prst="rect">
            <a:avLst/>
          </a:prstGeom>
          <a:noFill/>
          <a:ln/>
        </p:spPr>
        <p:txBody>
          <a:bodyPr wrap="square" lIns="635" tIns="635" rIns="635" bIns="635" rtlCol="0" anchor="t">
            <a:normAutofit/>
          </a:bodyPr>
          <a:lstStyle/>
          <a:p>
            <a:r>
              <a:rPr lang="en-US" sz="1600" dirty="0">
                <a:solidFill>
                  <a:srgbClr val="17364A"/>
                </a:solidFill>
                <a:latin typeface="Aptos" pitchFamily="34" charset="0"/>
                <a:ea typeface="Aptos" pitchFamily="34" charset="-122"/>
                <a:cs typeface="Aptos" pitchFamily="34" charset="-120"/>
              </a:rPr>
              <a:t>Define the concept in plain language for colleagues, leaders, partners, and community-facing discussions.</a:t>
            </a:r>
            <a:endParaRPr lang="en-US" sz="1600" dirty="0"/>
          </a:p>
          <a:p>
            <a:r>
              <a:rPr lang="en-US" sz="1600" dirty="0">
                <a:solidFill>
                  <a:srgbClr val="17364A"/>
                </a:solidFill>
                <a:latin typeface="Aptos" pitchFamily="34" charset="0"/>
                <a:ea typeface="Aptos" pitchFamily="34" charset="-122"/>
                <a:cs typeface="Aptos" pitchFamily="34" charset="-120"/>
              </a:rPr>
              <a:t>Identify where the concept affects AI planning, governance, procurement, implementation, monitoring, public trust, or public health decision-making.</a:t>
            </a:r>
            <a:endParaRPr lang="en-US" sz="1600" dirty="0"/>
          </a:p>
          <a:p>
            <a:r>
              <a:rPr lang="en-US" sz="1600" dirty="0">
                <a:solidFill>
                  <a:srgbClr val="17364A"/>
                </a:solidFill>
                <a:latin typeface="Aptos" pitchFamily="34" charset="0"/>
                <a:ea typeface="Aptos" pitchFamily="34" charset="-122"/>
                <a:cs typeface="Aptos" pitchFamily="34" charset="-120"/>
              </a:rPr>
              <a:t>Apply the concept to a concrete public health workflow using the linked plays, tools, safeguards, and documentation expectations.</a:t>
            </a:r>
            <a:endParaRPr lang="en-US" sz="1600" dirty="0"/>
          </a:p>
          <a:p>
            <a:r>
              <a:rPr lang="en-US" sz="1600" dirty="0">
                <a:solidFill>
                  <a:srgbClr val="17364A"/>
                </a:solidFill>
                <a:latin typeface="Aptos" pitchFamily="34" charset="0"/>
                <a:ea typeface="Aptos" pitchFamily="34" charset="-122"/>
                <a:cs typeface="Aptos" pitchFamily="34" charset="-120"/>
              </a:rPr>
              <a:t>Complete a practical activity that produces an artifact you can use in readiness assessment, governance review, implementation planning, or monitoring.</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Human decision rule.</a:t>
            </a:r>
            <a:endParaRPr lang="en-US" sz="1600" dirty="0"/>
          </a:p>
          <a:p>
            <a:r>
              <a:rPr lang="en-US" sz="1600" dirty="0">
                <a:solidFill>
                  <a:srgbClr val="17364A"/>
                </a:solidFill>
                <a:latin typeface="Aptos" pitchFamily="34" charset="0"/>
                <a:ea typeface="Aptos" pitchFamily="34" charset="-122"/>
                <a:cs typeface="Aptos" pitchFamily="34" charset="-120"/>
              </a:rPr>
              <a:t>Produce or contribute to: User and community needs summary.</a:t>
            </a:r>
            <a:endParaRPr lang="en-US" sz="16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Module Overview</a:t>
            </a:r>
            <a:endParaRPr lang="en-US" sz="2800" dirty="0"/>
          </a:p>
        </p:txBody>
      </p:sp>
      <p:sp>
        <p:nvSpPr>
          <p:cNvPr id="7" name="Text 5"/>
          <p:cNvSpPr/>
          <p:nvPr/>
        </p:nvSpPr>
        <p:spPr>
          <a:xfrm>
            <a:off x="822960" y="1325880"/>
            <a:ext cx="10424160" cy="4434840"/>
          </a:xfrm>
          <a:prstGeom prst="rect">
            <a:avLst/>
          </a:prstGeom>
          <a:noFill/>
          <a:ln/>
        </p:spPr>
        <p:txBody>
          <a:bodyPr wrap="square" lIns="1016" tIns="1016" rIns="1016" bIns="1016" rtlCol="0" anchor="t">
            <a:normAutofit/>
          </a:bodyPr>
          <a:lstStyle/>
          <a:p>
            <a:pPr indent="0" marL="0">
              <a:buNone/>
            </a:pPr>
            <a:r>
              <a:rPr lang="en-US" sz="1600" dirty="0">
                <a:solidFill>
                  <a:srgbClr val="17364A"/>
                </a:solidFill>
                <a:latin typeface="Aptos" pitchFamily="34" charset="0"/>
                <a:ea typeface="Aptos" pitchFamily="34" charset="-122"/>
                <a:cs typeface="Aptos" pitchFamily="34" charset="-120"/>
              </a:rPr>
              <a:t>Human-centered AI begins with the people affected by a workflow: public health staff, community members, partners, and decision-makers. The goal is not to automate as much as possible. The goal is to improve public health work while preserving human judgment, relationships, dignity, explainability, and accountability.</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Definitions</a:t>
            </a:r>
            <a:endParaRPr lang="en-US" sz="2800" dirty="0"/>
          </a:p>
        </p:txBody>
      </p:sp>
      <p:sp>
        <p:nvSpPr>
          <p:cNvPr id="7" name="Text 5"/>
          <p:cNvSpPr/>
          <p:nvPr/>
        </p:nvSpPr>
        <p:spPr>
          <a:xfrm>
            <a:off x="822960" y="1325880"/>
            <a:ext cx="10378440" cy="4754880"/>
          </a:xfrm>
          <a:prstGeom prst="rect">
            <a:avLst/>
          </a:prstGeom>
          <a:noFill/>
          <a:ln/>
        </p:spPr>
        <p:txBody>
          <a:bodyPr wrap="square" lIns="635" tIns="635" rIns="635" bIns="635" rtlCol="0" anchor="t">
            <a:normAutofit/>
          </a:bodyPr>
          <a:lstStyle/>
          <a:p>
            <a:r>
              <a:rPr lang="en-US" sz="1320" dirty="0">
                <a:solidFill>
                  <a:srgbClr val="17364A"/>
                </a:solidFill>
                <a:latin typeface="Aptos" pitchFamily="34" charset="0"/>
                <a:ea typeface="Aptos" pitchFamily="34" charset="-122"/>
                <a:cs typeface="Aptos" pitchFamily="34" charset="-120"/>
              </a:rPr>
              <a:t>Community engagement: Meaningful involvement of affected communities, partners, and stakeholders in defining problems, reviewing risks, shaping safeguards, and evaluating whether AI use supports public trust and public health goals.</a:t>
            </a:r>
            <a:endParaRPr lang="en-US" sz="1320" dirty="0"/>
          </a:p>
          <a:p>
            <a:r>
              <a:rPr lang="en-US" sz="1320" dirty="0">
                <a:solidFill>
                  <a:srgbClr val="17364A"/>
                </a:solidFill>
                <a:latin typeface="Aptos" pitchFamily="34" charset="0"/>
                <a:ea typeface="Aptos" pitchFamily="34" charset="-122"/>
                <a:cs typeface="Aptos" pitchFamily="34" charset="-120"/>
              </a:rPr>
              <a:t>Explainability: The ability to describe how an AI system produced or contributed to an output in terms that decision-makers, staff, and affected communities can understand.</a:t>
            </a:r>
            <a:endParaRPr lang="en-US" sz="1320" dirty="0"/>
          </a:p>
          <a:p>
            <a:r>
              <a:rPr lang="en-US" sz="1320" dirty="0">
                <a:solidFill>
                  <a:srgbClr val="17364A"/>
                </a:solidFill>
                <a:latin typeface="Aptos" pitchFamily="34" charset="0"/>
                <a:ea typeface="Aptos" pitchFamily="34" charset="-122"/>
                <a:cs typeface="Aptos" pitchFamily="34" charset="-120"/>
              </a:rPr>
              <a:t>Human-in-the-loop: A workflow design in which a person reviews, approves, corrects, or overrides AI outputs before they affect decisions, services, communications, or public health action.</a:t>
            </a:r>
            <a:endParaRPr lang="en-US" sz="1320" dirty="0"/>
          </a:p>
          <a:p>
            <a:r>
              <a:rPr lang="en-US" sz="1320" dirty="0">
                <a:solidFill>
                  <a:srgbClr val="17364A"/>
                </a:solidFill>
                <a:latin typeface="Aptos" pitchFamily="34" charset="0"/>
                <a:ea typeface="Aptos" pitchFamily="34" charset="-122"/>
                <a:cs typeface="Aptos" pitchFamily="34" charset="-120"/>
              </a:rPr>
              <a:t>Public accountability: The obligation to explain, document, justify, monitor, and correct AI use because public health agencies act under public authority and serve communities that may be affected by their decisions.</a:t>
            </a:r>
            <a:endParaRPr lang="en-US" sz="1320" dirty="0"/>
          </a:p>
          <a:p>
            <a:r>
              <a:rPr lang="en-US" sz="1320" dirty="0">
                <a:solidFill>
                  <a:srgbClr val="17364A"/>
                </a:solidFill>
                <a:latin typeface="Aptos" pitchFamily="34" charset="0"/>
                <a:ea typeface="Aptos" pitchFamily="34" charset="-122"/>
                <a:cs typeface="Aptos" pitchFamily="34" charset="-120"/>
              </a:rPr>
              <a:t>Scale decision: A governance decision about whether to expand, revise, pause, stop, or retire an AI pilot based on evidence from validation, user feedback, equity review, performance monitoring, costs, and operational.</a:t>
            </a:r>
            <a:endParaRPr lang="en-US" sz="13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Definitions Continued</a:t>
            </a:r>
            <a:endParaRPr lang="en-US" sz="2800" dirty="0"/>
          </a:p>
        </p:txBody>
      </p:sp>
      <p:sp>
        <p:nvSpPr>
          <p:cNvPr id="7" name="Text 5"/>
          <p:cNvSpPr/>
          <p:nvPr/>
        </p:nvSpPr>
        <p:spPr>
          <a:xfrm>
            <a:off x="822960" y="1325880"/>
            <a:ext cx="10378440" cy="4754880"/>
          </a:xfrm>
          <a:prstGeom prst="rect">
            <a:avLst/>
          </a:prstGeom>
          <a:noFill/>
          <a:ln/>
        </p:spPr>
        <p:txBody>
          <a:bodyPr wrap="square" lIns="635" tIns="635" rIns="635" bIns="635" rtlCol="0" anchor="t">
            <a:normAutofit/>
          </a:bodyPr>
          <a:lstStyle/>
          <a:p>
            <a:r>
              <a:rPr lang="en-US" sz="1320" dirty="0">
                <a:solidFill>
                  <a:srgbClr val="17364A"/>
                </a:solidFill>
                <a:latin typeface="Aptos" pitchFamily="34" charset="0"/>
                <a:ea typeface="Aptos" pitchFamily="34" charset="-122"/>
                <a:cs typeface="Aptos" pitchFamily="34" charset="-120"/>
              </a:rPr>
              <a:t>Transparency: Clear communication about when AI is used, why it is used, what data are involved, what humans decide, what limitations exist, and how concerns can be raised.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Core Concepts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Human decision rule is a core concept for this lesson because it turns human-centered ai from an abstract AI topic into something you can recognize in daily public health work. A written statement defining what AI may do, what it may recommend, what humans must approve, and what the AI may never do.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Correction pathway is a core concept for this lesson because it turns human-centered ai from an abstract AI topic into something you can recognize in daily public health work. A process for people or staff to challenge, correct, or report a problem with an AI-supported output.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 Affected users is a core concept for this lesson because it turns human-centered ai from an abstract AI topic into something you can recognize in daily public health work. Staff, partners, community members, or clients who experience the workflow or its outcomes. When you encounter this concept, ask what data are involved, who is accountable for the result, what human review is required, and how the work should be documented. That habit helps you connect the lesson to concrete governance, privacy, equity, workforce, procurement, implementation, and monitoring decisions rather than treating AI as a stand-alone technology issue.</a:t>
            </a:r>
            <a:endParaRPr lang="en-US" sz="138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Public Health Application</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Define human decision owners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Require expert review before public communications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 Document appeal or correction pathways is a useful way to apply this lesson because it gives you a concrete workflow to test against the concept. This example should be examined as a workflow, not simply as a possible AI feature. Start by identifying the public health problem, the source information, the users, the people affected, and the decision that remains human. Then document the safeguards needed before the idea could become an approved use case. In practice, you should identify the expected public health value, the staff role responsible for review, the data sensitivity, and the point where governance approval is required. If those elements cannot be described clearly, the idea should remain in exploration rather than moving into procurement, piloting, or deployment.</a:t>
            </a:r>
            <a:endParaRPr lang="en-US" sz="138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Implementation Guidance</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To apply this module, begin with a real or realistic public health workflow and describe the task in plain language before naming an AI tool. Use the related plays (Play 1, Play 7, Play 11, Play 12, Play 13) to identify the decisions, approvals, people, and timing needed for responsible implementation. Use the related tools (Tool 6, Tool 19, Tool 46) to create documentation that can be reviewed, saved, revised, and used as evidence of readiness. The practical exercise asks you to produce evidence that can feed into that work: For one proposed use case, write a human decision rule that defines what AI may support, what it may recommend, what a human must approve, and what the AI may not do. The main guardrail for this lesson is that AI should support judgment, not replace community relationships, public accountability, or final decisions in consequential workflows. Treat that guardrail as an operational requirement, not a warning label at the end of the lesson. Before using AI in this area, identify what could go wrong, who would notice the problem, how the concern would be escalated, and what authority exists to pause or change the work. That approach makes risk management part of routine public health practice rather than a separate technical review. If your department already has a relevant process, such as data governance, technology governance, quality improvement, procurement review, privacy review, emergency response planning, or workforce development, use that process as the starting point. The playbook tools are meant to fill gaps where a method or documentation process does not already exist. There is no need to recreate the wheel when an existing process can be extended to include AI-specific questions, evidence, approval points, and monitoring expectations. This keeps AI governance connected to normal public health operations instead of creating a parallel paperwork system.</a:t>
            </a:r>
            <a:endParaRPr lang="en-US" sz="138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Using Plays and Tools</a:t>
            </a:r>
            <a:endParaRPr lang="en-US" sz="2800" dirty="0"/>
          </a:p>
        </p:txBody>
      </p:sp>
      <p:sp>
        <p:nvSpPr>
          <p:cNvPr id="7" name="Text 5"/>
          <p:cNvSpPr/>
          <p:nvPr/>
        </p:nvSpPr>
        <p:spPr>
          <a:xfrm>
            <a:off x="822960" y="1325880"/>
            <a:ext cx="10378440" cy="4800600"/>
          </a:xfrm>
          <a:prstGeom prst="rect">
            <a:avLst/>
          </a:prstGeom>
          <a:noFill/>
          <a:ln/>
        </p:spPr>
        <p:txBody>
          <a:bodyPr wrap="square" lIns="1016" tIns="1016" rIns="1016" bIns="1016" rtlCol="0" anchor="t">
            <a:normAutofit/>
          </a:bodyPr>
          <a:lstStyle/>
          <a:p>
            <a:pPr indent="0" marL="0">
              <a:buNone/>
            </a:pPr>
            <a:r>
              <a:rPr lang="en-US" sz="1380" dirty="0">
                <a:solidFill>
                  <a:srgbClr val="17364A"/>
                </a:solidFill>
                <a:latin typeface="Aptos" pitchFamily="34" charset="0"/>
                <a:ea typeface="Aptos" pitchFamily="34" charset="-122"/>
                <a:cs typeface="Aptos" pitchFamily="34" charset="-120"/>
              </a:rPr>
              <a:t>The related plays help you decide where this topic fits in the planning and implementation sequence. The related tools help you convert the lesson into a documented artifact, such as a review checklist, inventory record, policy scan, implementation note, communication plan, training assignment, risk register, or monitoring record. Use the assessment results as a starting recommendation, but adjust the path based on what your department has already completed and what is most useful for your public health goals. When a play or tool is not needed, document why it was deferred so future reviewers understand the decision. This matters for your practice because Human-centered AI keeps public health purpose, staff expertise, and community accountability at the center. This is especially important when AI affects outreach, communication, prioritization, inspections, surveillance, or services. Use that purpose to decide how much documentation, governance review, stakeholder input, and monitoring are proportionate to the risk and public health impact of the work. A low-risk internal learning activity may need only basic documentation, while a public-facing or decision-support workflow may need formal review, validation, transparency, and ongoing oversight.</a:t>
            </a:r>
            <a:endParaRPr lang="en-US" sz="138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Practical Exercise</a:t>
            </a:r>
            <a:endParaRPr lang="en-US" sz="2800" dirty="0"/>
          </a:p>
        </p:txBody>
      </p:sp>
      <p:sp>
        <p:nvSpPr>
          <p:cNvPr id="7" name="Text 5"/>
          <p:cNvSpPr/>
          <p:nvPr/>
        </p:nvSpPr>
        <p:spPr>
          <a:xfrm>
            <a:off x="822960" y="1234440"/>
            <a:ext cx="10378440" cy="2011680"/>
          </a:xfrm>
          <a:prstGeom prst="rect">
            <a:avLst/>
          </a:prstGeom>
          <a:noFill/>
          <a:ln/>
        </p:spPr>
        <p:txBody>
          <a:bodyPr wrap="square" lIns="1016" tIns="1016" rIns="1016" bIns="1016" rtlCol="0" anchor="t">
            <a:normAutofit/>
          </a:bodyPr>
          <a:lstStyle/>
          <a:p>
            <a:pPr indent="0" marL="0">
              <a:buNone/>
            </a:pPr>
            <a:r>
              <a:rPr lang="en-US" sz="1520" dirty="0">
                <a:solidFill>
                  <a:srgbClr val="17364A"/>
                </a:solidFill>
                <a:latin typeface="Aptos" pitchFamily="34" charset="0"/>
                <a:ea typeface="Aptos" pitchFamily="34" charset="-122"/>
                <a:cs typeface="Aptos" pitchFamily="34" charset="-120"/>
              </a:rPr>
              <a:t>For one proposed use case, write a human decision rule that defines what AI may support, what it may recommend, what a human must approve, and what the AI may not do.</a:t>
            </a:r>
            <a:endParaRPr lang="en-US" sz="1520" dirty="0"/>
          </a:p>
        </p:txBody>
      </p:sp>
      <p:sp>
        <p:nvSpPr>
          <p:cNvPr id="8" name="Text 6"/>
          <p:cNvSpPr/>
          <p:nvPr/>
        </p:nvSpPr>
        <p:spPr>
          <a:xfrm>
            <a:off x="822960" y="3520440"/>
            <a:ext cx="10378440" cy="1828800"/>
          </a:xfrm>
          <a:prstGeom prst="rect">
            <a:avLst/>
          </a:prstGeom>
          <a:noFill/>
          <a:ln/>
        </p:spPr>
        <p:txBody>
          <a:bodyPr wrap="square" lIns="635" tIns="635" rIns="635" bIns="635" rtlCol="0" anchor="t">
            <a:normAutofit/>
          </a:bodyPr>
          <a:lstStyle/>
          <a:p>
            <a:r>
              <a:rPr lang="en-US" sz="1400" dirty="0">
                <a:solidFill>
                  <a:srgbClr val="17364A"/>
                </a:solidFill>
                <a:latin typeface="Aptos" pitchFamily="34" charset="0"/>
                <a:ea typeface="Aptos" pitchFamily="34" charset="-122"/>
                <a:cs typeface="Aptos" pitchFamily="34" charset="-120"/>
              </a:rPr>
              <a:t>Expected artifact: Human decision rule</a:t>
            </a:r>
            <a:endParaRPr lang="en-US" sz="1400" dirty="0"/>
          </a:p>
          <a:p>
            <a:r>
              <a:rPr lang="en-US" sz="1400" dirty="0">
                <a:solidFill>
                  <a:srgbClr val="17364A"/>
                </a:solidFill>
                <a:latin typeface="Aptos" pitchFamily="34" charset="0"/>
                <a:ea typeface="Aptos" pitchFamily="34" charset="-122"/>
                <a:cs typeface="Aptos" pitchFamily="34" charset="-120"/>
              </a:rPr>
              <a:t>Expected artifact: User and community needs summary</a:t>
            </a:r>
            <a:endParaRPr lang="en-US" sz="1400" dirty="0"/>
          </a:p>
          <a:p>
            <a:r>
              <a:rPr lang="en-US" sz="1400" dirty="0">
                <a:solidFill>
                  <a:srgbClr val="17364A"/>
                </a:solidFill>
                <a:latin typeface="Aptos" pitchFamily="34" charset="0"/>
                <a:ea typeface="Aptos" pitchFamily="34" charset="-122"/>
                <a:cs typeface="Aptos" pitchFamily="34" charset="-120"/>
              </a:rPr>
              <a:t>Expected artifact: Appeal, correction, or feedback pathway</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Reflection Questions</a:t>
            </a:r>
            <a:endParaRPr lang="en-US" sz="2800" dirty="0"/>
          </a:p>
        </p:txBody>
      </p:sp>
      <p:sp>
        <p:nvSpPr>
          <p:cNvPr id="7" name="Text 5"/>
          <p:cNvSpPr/>
          <p:nvPr/>
        </p:nvSpPr>
        <p:spPr>
          <a:xfrm>
            <a:off x="822960" y="1325880"/>
            <a:ext cx="10378440" cy="4572000"/>
          </a:xfrm>
          <a:prstGeom prst="rect">
            <a:avLst/>
          </a:prstGeom>
          <a:noFill/>
          <a:ln/>
        </p:spPr>
        <p:txBody>
          <a:bodyPr wrap="square" lIns="635" tIns="635" rIns="635" bIns="635" rtlCol="0" anchor="t">
            <a:normAutofit/>
          </a:bodyPr>
          <a:lstStyle/>
          <a:p>
            <a:r>
              <a:rPr lang="en-US" sz="1500" dirty="0">
                <a:solidFill>
                  <a:srgbClr val="17364A"/>
                </a:solidFill>
                <a:latin typeface="Aptos" pitchFamily="34" charset="0"/>
                <a:ea typeface="Aptos" pitchFamily="34" charset="-122"/>
                <a:cs typeface="Aptos" pitchFamily="34" charset="-120"/>
              </a:rPr>
              <a:t>Who is affected by the workflow and who has been consulted?</a:t>
            </a:r>
            <a:endParaRPr lang="en-US" sz="1500" dirty="0"/>
          </a:p>
          <a:p>
            <a:r>
              <a:rPr lang="en-US" sz="1500" dirty="0">
                <a:solidFill>
                  <a:srgbClr val="17364A"/>
                </a:solidFill>
                <a:latin typeface="Aptos" pitchFamily="34" charset="0"/>
                <a:ea typeface="Aptos" pitchFamily="34" charset="-122"/>
                <a:cs typeface="Aptos" pitchFamily="34" charset="-120"/>
              </a:rPr>
              <a:t>What decision remains with a named human owner?</a:t>
            </a:r>
            <a:endParaRPr lang="en-US" sz="1500" dirty="0"/>
          </a:p>
          <a:p>
            <a:r>
              <a:rPr lang="en-US" sz="1500" dirty="0">
                <a:solidFill>
                  <a:srgbClr val="17364A"/>
                </a:solidFill>
                <a:latin typeface="Aptos" pitchFamily="34" charset="0"/>
                <a:ea typeface="Aptos" pitchFamily="34" charset="-122"/>
                <a:cs typeface="Aptos" pitchFamily="34" charset="-120"/>
              </a:rPr>
              <a:t>How can people ask questions, correct information, or challenge an outcome?</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Text 1"/>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Human-Centered AI</a:t>
            </a:r>
            <a:endParaRPr lang="en-US" sz="900" dirty="0"/>
          </a:p>
        </p:txBody>
      </p:sp>
      <p:sp>
        <p:nvSpPr>
          <p:cNvPr id="4" name="Text 2"/>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5" name="Text 3"/>
          <p:cNvSpPr/>
          <p:nvPr/>
        </p:nvSpPr>
        <p:spPr>
          <a:xfrm>
            <a:off x="9966960" y="6537960"/>
            <a:ext cx="164592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 Paula Soper</a:t>
            </a:r>
            <a:endParaRPr lang="en-US" sz="800" dirty="0"/>
          </a:p>
        </p:txBody>
      </p:sp>
      <p:sp>
        <p:nvSpPr>
          <p:cNvPr id="6" name="Text 4"/>
          <p:cNvSpPr/>
          <p:nvPr/>
        </p:nvSpPr>
        <p:spPr>
          <a:xfrm>
            <a:off x="640080" y="658368"/>
            <a:ext cx="10881360" cy="502920"/>
          </a:xfrm>
          <a:prstGeom prst="rect">
            <a:avLst/>
          </a:prstGeom>
          <a:noFill/>
          <a:ln/>
        </p:spPr>
        <p:txBody>
          <a:bodyPr wrap="square" lIns="0" tIns="0" rIns="0" bIns="0" rtlCol="0" anchor="ctr"/>
          <a:lstStyle/>
          <a:p>
            <a:pPr indent="0" marL="0">
              <a:buNone/>
            </a:pPr>
            <a:r>
              <a:rPr lang="en-US" sz="2800" b="1" dirty="0">
                <a:solidFill>
                  <a:srgbClr val="003A63"/>
                </a:solidFill>
                <a:latin typeface="Aptos Display" pitchFamily="34" charset="0"/>
                <a:ea typeface="Aptos Display" pitchFamily="34" charset="-122"/>
                <a:cs typeface="Aptos Display" pitchFamily="34" charset="-120"/>
              </a:rPr>
              <a:t>References and Resources</a:t>
            </a:r>
            <a:endParaRPr lang="en-US" sz="2800" dirty="0"/>
          </a:p>
        </p:txBody>
      </p:sp>
      <p:sp>
        <p:nvSpPr>
          <p:cNvPr id="7" name="Text 5"/>
          <p:cNvSpPr/>
          <p:nvPr/>
        </p:nvSpPr>
        <p:spPr>
          <a:xfrm>
            <a:off x="822960" y="1280160"/>
            <a:ext cx="10378440" cy="4800600"/>
          </a:xfrm>
          <a:prstGeom prst="rect">
            <a:avLst/>
          </a:prstGeom>
          <a:noFill/>
          <a:ln/>
        </p:spPr>
        <p:txBody>
          <a:bodyPr wrap="square" lIns="635" tIns="635" rIns="635" bIns="635" rtlCol="0" anchor="t">
            <a:normAutofit/>
          </a:bodyPr>
          <a:lstStyle/>
          <a:p>
            <a:r>
              <a:rPr lang="en-US" sz="1280" dirty="0">
                <a:solidFill>
                  <a:srgbClr val="17364A"/>
                </a:solidFill>
                <a:latin typeface="Aptos" pitchFamily="34" charset="0"/>
                <a:ea typeface="Aptos" pitchFamily="34" charset="-122"/>
                <a:cs typeface="Aptos" pitchFamily="34" charset="-120"/>
              </a:rPr>
              <a:t>Blueprint for an AI Bill of Rights: Principles for automated systems that preserve human agency, notice, explanation, and safeguards.</a:t>
            </a:r>
            <a:endParaRPr lang="en-US" sz="1280" dirty="0"/>
          </a:p>
          <a:p>
            <a:r>
              <a:rPr lang="en-US" sz="1280" dirty="0">
                <a:solidFill>
                  <a:srgbClr val="17364A"/>
                </a:solidFill>
                <a:latin typeface="Aptos" pitchFamily="34" charset="0"/>
                <a:ea typeface="Aptos" pitchFamily="34" charset="-122"/>
                <a:cs typeface="Aptos" pitchFamily="34" charset="-120"/>
              </a:rPr>
              <a:t>NIST AI Risk Management Framework: Useful for defining human oversight, decision accountability, and risk controls.</a:t>
            </a:r>
            <a:endParaRPr lang="en-US" sz="1280" dirty="0"/>
          </a:p>
          <a:p>
            <a:r>
              <a:rPr lang="en-US" sz="1280" dirty="0">
                <a:solidFill>
                  <a:srgbClr val="17364A"/>
                </a:solidFill>
                <a:latin typeface="Aptos" pitchFamily="34" charset="0"/>
                <a:ea typeface="Aptos" pitchFamily="34" charset="-122"/>
                <a:cs typeface="Aptos" pitchFamily="34" charset="-120"/>
              </a:rPr>
              <a:t>ASPPH AI Framework Report: Public health-specific framing for human-centered AI and accountable implementation.</a:t>
            </a:r>
            <a:endParaRPr lang="en-US" sz="128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Human-Centered AI</dc:title>
  <dc:subject>Human-Centered AI learning module</dc:subject>
  <dc:creator>Paula Soper</dc:creator>
  <cp:lastModifiedBy>Paula Soper</cp:lastModifiedBy>
  <cp:revision>1</cp:revision>
  <dcterms:created xsi:type="dcterms:W3CDTF">2026-07-09T20:18:52Z</dcterms:created>
  <dcterms:modified xsi:type="dcterms:W3CDTF">2026-07-09T20:18:52Z</dcterms:modified>
</cp:coreProperties>
</file>