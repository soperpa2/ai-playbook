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350 Communicating Model Results and Uncertainty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communications, public-health-executive-leadership, epidemiology, governance-security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model results in plain language for nontechnical audiences.
Distinguish uncertainty, variability, error, bias, and data limitations.
Identify when model results should include confidence intervals, prediction intervals, caveats, or subgroup findings.
Avoid overclaiming, causal overreach, and false precision in AI communications.
Create a model communication brief for a public health decision-maker.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Uncertainty: The degree to which an estimate, prediction, or conclusion may be imprecise or incomplete.
Prediction interval: A range that estimates where a future observation may fall.
Confidence interval: A range that expresses uncertainty around an estimated parameter.
Calibration: How closely predicted probabilities match observed outcomes.
Caveat: A clear statement of limitation, condition, or caution.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Model outputs can influence urgent decisions. A forecast may affect staffing, a risk score may affect outreach, and a hotspot map may affect deployment of field teams. If uncertainty is not explained clearly, decision-makers may treat estimates as facts or ignore important limitations.
Public health communication must balance clarity and caution. Too much technical detail can obscure the message, but too little detail can hide uncertainty. A strong communication product explains what the model suggests, what it does not show, how reliable it is, and what human judgment or additional evidence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epidemiology team uses a time-series model to forecast emergency department visits for respiratory illness. The forecast shows a possible increase over the next two weeks, but the prediction interval is wide because reporting patterns changed after a holiday. A strong communication brief would state that visits may rise, explain the uncertainty, identify possible reasons for reduced confidence, and recommend preparedness actions that are proportional to the evidence.
The brief should not say that the model proves an outbreak is occurring. It should present the forecast as one input into surveillance judgment, alongside laboratory data, provider reports, syndromic trends, and field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Model communication begins with the decision context. The same model output may be communicated differently to a technical team, health officer, program manager, community partner, or public audience. Technical users may need details about metrics and data limitations, while executives may need decision implications, confidence, and recommended actions.
Uncertainty should be explained visually and verbally. Trend lines, ranges, maps, and risk categories can help, but they can also imply precision that the model does not have. Labels should avoid unsupported certainty. Words such as likely, possible, estimated, preliminary, and subject to change can be helpful when used consistently.
Subgroup findings require special care. If model performance differs by age, race, ethnicity, language, geography, disability, housing status, or data source, communications should avoid presenting aggregate performance as universal. Decision-makers need to know whether a model is less reliable for some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false precision. A model may produce a number such as 82.4 percent risk, but the data and validation may not support that level of exactness. A guardrail is to use appropriate rounding, risk categories, and uncertainty statements.
Another failure mode is hiding limitations to make results look more actionable. This can erode trust if the model later performs poorly. A guardrail is to include a standard limitations section in model briefs and require review before results are shared outside the technical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can help draft summaries of model findings, but the draft must be checked by analysts who understand the model. Predictive analytics, outbreak forecasts, risk stratification tools, and geospatial models all require communication practices that preserve uncertainty. RAG systems used for briefings should cite source reports and validation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Who needs to understand this model result?
What decision will the result support?
What uncertainty or limitation could change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Are there subgroup performance concerns?
What wording would prevent overclaiming?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one-page model communication brief. Include the decision question, model result, uncertainty, validation status, limitations, subgroup considerations, recommended use, prohibited use,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Model communication brief
Plain-language uncertainty statement
Subgroup caveat if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Review sign-off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Model communication brief
Plain-language uncertainty statement
Subgroup caveat if relevant
Review sign-off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communicate uncertainty with model results?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Communicating Model Results and Uncertainty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explain model outputs, uncertainty, limitations, and appropriate use without.</a:t>
            </a:r>
            <a:endParaRPr lang="en-US" sz="2100" dirty="0"/>
          </a:p>
          <a:p>
            <a:r>
              <a:rPr lang="en-US" sz="2100" dirty="0">
                <a:solidFill>
                  <a:srgbClr val="17364A"/>
                </a:solidFill>
                <a:latin typeface="Aptos" pitchFamily="34" charset="0"/>
                <a:ea typeface="Aptos" pitchFamily="34" charset="-122"/>
                <a:cs typeface="Aptos" pitchFamily="34" charset="-120"/>
              </a:rPr>
              <a:t>The module focuses on practical communication.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 communications, public-health-executive-leadership, epidemiology,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model results in plain language for nontechnical audiences.</a:t>
            </a:r>
            <a:endParaRPr lang="en-US" sz="2100" dirty="0"/>
          </a:p>
          <a:p>
            <a:r>
              <a:rPr lang="en-US" sz="2100" dirty="0">
                <a:solidFill>
                  <a:srgbClr val="17364A"/>
                </a:solidFill>
                <a:latin typeface="Aptos" pitchFamily="34" charset="0"/>
                <a:ea typeface="Aptos" pitchFamily="34" charset="-122"/>
                <a:cs typeface="Aptos" pitchFamily="34" charset="-120"/>
              </a:rPr>
              <a:t>Distinguish uncertainty, variability, error, bias, and data limitations.</a:t>
            </a:r>
            <a:endParaRPr lang="en-US" sz="2100" dirty="0"/>
          </a:p>
          <a:p>
            <a:r>
              <a:rPr lang="en-US" sz="2100" dirty="0">
                <a:solidFill>
                  <a:srgbClr val="17364A"/>
                </a:solidFill>
                <a:latin typeface="Aptos" pitchFamily="34" charset="0"/>
                <a:ea typeface="Aptos" pitchFamily="34" charset="-122"/>
                <a:cs typeface="Aptos" pitchFamily="34" charset="-120"/>
              </a:rPr>
              <a:t>Identify when model results should include confidence intervals, prediction intervals, caveats,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model results in plain language for nontechnical audiences.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explain model outputs, uncertainty, limitations, and appropriate.</a:t>
            </a:r>
            <a:endParaRPr lang="en-US" sz="2100" dirty="0"/>
          </a:p>
          <a:p>
            <a:r>
              <a:rPr lang="en-US" sz="2100" dirty="0">
                <a:solidFill>
                  <a:srgbClr val="17364A"/>
                </a:solidFill>
                <a:latin typeface="Aptos" pitchFamily="34" charset="0"/>
                <a:ea typeface="Aptos" pitchFamily="34" charset="-122"/>
                <a:cs typeface="Aptos" pitchFamily="34" charset="-120"/>
              </a:rPr>
              <a:t>The module focuses on practical communication.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Uncertainty: The degree to which an estimate, prediction, or conclusion may be imprecise or incomplete.</a:t>
            </a:r>
            <a:endParaRPr lang="en-US" sz="2100" dirty="0"/>
          </a:p>
          <a:p>
            <a:r>
              <a:rPr lang="en-US" sz="2100" dirty="0">
                <a:solidFill>
                  <a:srgbClr val="17364A"/>
                </a:solidFill>
                <a:latin typeface="Aptos" pitchFamily="34" charset="0"/>
                <a:ea typeface="Aptos" pitchFamily="34" charset="-122"/>
                <a:cs typeface="Aptos" pitchFamily="34" charset="-120"/>
              </a:rPr>
              <a:t>Prediction interval: A range that estimates where a future observation may fall.</a:t>
            </a:r>
            <a:endParaRPr lang="en-US" sz="2100" dirty="0"/>
          </a:p>
          <a:p>
            <a:r>
              <a:rPr lang="en-US" sz="2100" dirty="0">
                <a:solidFill>
                  <a:srgbClr val="17364A"/>
                </a:solidFill>
                <a:latin typeface="Aptos" pitchFamily="34" charset="0"/>
                <a:ea typeface="Aptos" pitchFamily="34" charset="-122"/>
                <a:cs typeface="Aptos" pitchFamily="34" charset="-120"/>
              </a:rPr>
              <a:t>Confidence interval: A range that expresses uncertainty around an estimated parameter.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Uncertainty: The degree to which an estimate, prediction, or conclusion may be imprecise or incomplete.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outputs can influence urgent decisions.</a:t>
            </a:r>
            <a:endParaRPr lang="en-US" sz="2100" dirty="0"/>
          </a:p>
          <a:p>
            <a:r>
              <a:rPr lang="en-US" sz="2100" dirty="0">
                <a:solidFill>
                  <a:srgbClr val="17364A"/>
                </a:solidFill>
                <a:latin typeface="Aptos" pitchFamily="34" charset="0"/>
                <a:ea typeface="Aptos" pitchFamily="34" charset="-122"/>
                <a:cs typeface="Aptos" pitchFamily="34" charset="-120"/>
              </a:rPr>
              <a:t>A forecast may affect staffing, a risk score may affect outreach, and a hotspot map may affect.</a:t>
            </a:r>
            <a:endParaRPr lang="en-US" sz="2100" dirty="0"/>
          </a:p>
          <a:p>
            <a:r>
              <a:rPr lang="en-US" sz="2100" dirty="0">
                <a:solidFill>
                  <a:srgbClr val="17364A"/>
                </a:solidFill>
                <a:latin typeface="Aptos" pitchFamily="34" charset="0"/>
                <a:ea typeface="Aptos" pitchFamily="34" charset="-122"/>
                <a:cs typeface="Aptos" pitchFamily="34" charset="-120"/>
              </a:rPr>
              <a:t>If uncertainty is not explained clearly, decision-makers may treat estimates as facts or ignore.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outputs can influence urgent decisions.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epidemiology team uses a time-series model to forecast emergency department visits for respiratory.</a:t>
            </a:r>
            <a:endParaRPr lang="en-US" sz="2100" dirty="0"/>
          </a:p>
          <a:p>
            <a:r>
              <a:rPr lang="en-US" sz="2100" dirty="0">
                <a:solidFill>
                  <a:srgbClr val="17364A"/>
                </a:solidFill>
                <a:latin typeface="Aptos" pitchFamily="34" charset="0"/>
                <a:ea typeface="Aptos" pitchFamily="34" charset="-122"/>
                <a:cs typeface="Aptos" pitchFamily="34" charset="-120"/>
              </a:rPr>
              <a:t>The forecast shows a possible increase over the next two weeks, but the prediction interval is wide.</a:t>
            </a:r>
            <a:endParaRPr lang="en-US" sz="2100" dirty="0"/>
          </a:p>
          <a:p>
            <a:r>
              <a:rPr lang="en-US" sz="2100" dirty="0">
                <a:solidFill>
                  <a:srgbClr val="17364A"/>
                </a:solidFill>
                <a:latin typeface="Aptos" pitchFamily="34" charset="0"/>
                <a:ea typeface="Aptos" pitchFamily="34" charset="-122"/>
                <a:cs typeface="Aptos" pitchFamily="34" charset="-120"/>
              </a:rPr>
              <a:t>A strong communication brief would state that visits may rise, explain the uncertainty, identify.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epidemiology team uses a time-series model to forecast emergency department visits for respiratory.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communication begins with the decision context.</a:t>
            </a:r>
            <a:endParaRPr lang="en-US" sz="2100" dirty="0"/>
          </a:p>
          <a:p>
            <a:r>
              <a:rPr lang="en-US" sz="2100" dirty="0">
                <a:solidFill>
                  <a:srgbClr val="17364A"/>
                </a:solidFill>
                <a:latin typeface="Aptos" pitchFamily="34" charset="0"/>
                <a:ea typeface="Aptos" pitchFamily="34" charset="-122"/>
                <a:cs typeface="Aptos" pitchFamily="34" charset="-120"/>
              </a:rPr>
              <a:t>The same model output may be communicated differently to a technical team, health officer, program.</a:t>
            </a:r>
            <a:endParaRPr lang="en-US" sz="2100" dirty="0"/>
          </a:p>
          <a:p>
            <a:r>
              <a:rPr lang="en-US" sz="2100" dirty="0">
                <a:solidFill>
                  <a:srgbClr val="17364A"/>
                </a:solidFill>
                <a:latin typeface="Aptos" pitchFamily="34" charset="0"/>
                <a:ea typeface="Aptos" pitchFamily="34" charset="-122"/>
                <a:cs typeface="Aptos" pitchFamily="34" charset="-120"/>
              </a:rPr>
              <a:t>Technical users may need details about metrics and data limitations, while executives may need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communication begins with the decision context.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failure mode is false precision.</a:t>
            </a:r>
            <a:endParaRPr lang="en-US" sz="2100" dirty="0"/>
          </a:p>
          <a:p>
            <a:r>
              <a:rPr lang="en-US" sz="2100" dirty="0">
                <a:solidFill>
                  <a:srgbClr val="17364A"/>
                </a:solidFill>
                <a:latin typeface="Aptos" pitchFamily="34" charset="0"/>
                <a:ea typeface="Aptos" pitchFamily="34" charset="-122"/>
                <a:cs typeface="Aptos" pitchFamily="34" charset="-120"/>
              </a:rPr>
              <a:t>A model may produce a number such as 82.4 percent risk, but the data and validation may not support.</a:t>
            </a:r>
            <a:endParaRPr lang="en-US" sz="2100" dirty="0"/>
          </a:p>
          <a:p>
            <a:r>
              <a:rPr lang="en-US" sz="2100" dirty="0">
                <a:solidFill>
                  <a:srgbClr val="17364A"/>
                </a:solidFill>
                <a:latin typeface="Aptos" pitchFamily="34" charset="0"/>
                <a:ea typeface="Aptos" pitchFamily="34" charset="-122"/>
                <a:cs typeface="Aptos" pitchFamily="34" charset="-120"/>
              </a:rPr>
              <a:t>A guardrail is to use appropriate rounding, risk categories, and uncertainty statements.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failure mode is false precision.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help draft summaries of model findings, but the draft must be checked by analysts who.</a:t>
            </a:r>
            <a:endParaRPr lang="en-US" sz="2100" dirty="0"/>
          </a:p>
          <a:p>
            <a:r>
              <a:rPr lang="en-US" sz="2100" dirty="0">
                <a:solidFill>
                  <a:srgbClr val="17364A"/>
                </a:solidFill>
                <a:latin typeface="Aptos" pitchFamily="34" charset="0"/>
                <a:ea typeface="Aptos" pitchFamily="34" charset="-122"/>
                <a:cs typeface="Aptos" pitchFamily="34" charset="-120"/>
              </a:rPr>
              <a:t>Predictive analytics, outbreak forecasts, risk stratification tools, and geospatial models all require.</a:t>
            </a:r>
            <a:endParaRPr lang="en-US" sz="2100" dirty="0"/>
          </a:p>
          <a:p>
            <a:r>
              <a:rPr lang="en-US" sz="2100" dirty="0">
                <a:solidFill>
                  <a:srgbClr val="17364A"/>
                </a:solidFill>
                <a:latin typeface="Aptos" pitchFamily="34" charset="0"/>
                <a:ea typeface="Aptos" pitchFamily="34" charset="-122"/>
                <a:cs typeface="Aptos" pitchFamily="34" charset="-120"/>
              </a:rPr>
              <a:t>RAG systems used for briefings should cite source reports and validation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can help draft summaries of model findings, but the draft must be checked by analysts who.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Who needs to understand this model result?</a:t>
            </a:r>
            <a:endParaRPr lang="en-US" sz="2100" dirty="0"/>
          </a:p>
          <a:p>
            <a:r>
              <a:rPr lang="en-US" sz="2100" dirty="0">
                <a:solidFill>
                  <a:srgbClr val="17364A"/>
                </a:solidFill>
                <a:latin typeface="Aptos" pitchFamily="34" charset="0"/>
                <a:ea typeface="Aptos" pitchFamily="34" charset="-122"/>
                <a:cs typeface="Aptos" pitchFamily="34" charset="-120"/>
              </a:rPr>
              <a:t>What decision will the result support?</a:t>
            </a:r>
            <a:endParaRPr lang="en-US" sz="2100" dirty="0"/>
          </a:p>
          <a:p>
            <a:r>
              <a:rPr lang="en-US" sz="2100" dirty="0">
                <a:solidFill>
                  <a:srgbClr val="17364A"/>
                </a:solidFill>
                <a:latin typeface="Aptos" pitchFamily="34" charset="0"/>
                <a:ea typeface="Aptos" pitchFamily="34" charset="-122"/>
                <a:cs typeface="Aptos" pitchFamily="34" charset="-120"/>
              </a:rPr>
              <a:t>What uncertainty or limitation could change the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Who needs to understand this model result?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Are there subgroup performance concerns?</a:t>
            </a:r>
            <a:endParaRPr lang="en-US" sz="2100" dirty="0"/>
          </a:p>
          <a:p>
            <a:r>
              <a:rPr lang="en-US" sz="2100" dirty="0">
                <a:solidFill>
                  <a:srgbClr val="17364A"/>
                </a:solidFill>
                <a:latin typeface="Aptos" pitchFamily="34" charset="0"/>
                <a:ea typeface="Aptos" pitchFamily="34" charset="-122"/>
                <a:cs typeface="Aptos" pitchFamily="34" charset="-120"/>
              </a:rPr>
              <a:t>What wording would prevent overclaiming?</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Are there subgroup performance concerns?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one-page model communication brief.</a:t>
            </a:r>
            <a:endParaRPr lang="en-US" sz="2100" dirty="0"/>
          </a:p>
          <a:p>
            <a:r>
              <a:rPr lang="en-US" sz="2100" dirty="0">
                <a:solidFill>
                  <a:srgbClr val="17364A"/>
                </a:solidFill>
                <a:latin typeface="Aptos" pitchFamily="34" charset="0"/>
                <a:ea typeface="Aptos" pitchFamily="34" charset="-122"/>
                <a:cs typeface="Aptos" pitchFamily="34" charset="-120"/>
              </a:rPr>
              <a:t>Include the decision question, model result, uncertainty, validation status, limitations, subgroup.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one-page model communication brief.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communication brief</a:t>
            </a:r>
            <a:endParaRPr lang="en-US" sz="2100" dirty="0"/>
          </a:p>
          <a:p>
            <a:r>
              <a:rPr lang="en-US" sz="2100" dirty="0">
                <a:solidFill>
                  <a:srgbClr val="17364A"/>
                </a:solidFill>
                <a:latin typeface="Aptos" pitchFamily="34" charset="0"/>
                <a:ea typeface="Aptos" pitchFamily="34" charset="-122"/>
                <a:cs typeface="Aptos" pitchFamily="34" charset="-120"/>
              </a:rPr>
              <a:t>Plain-language uncertainty statement</a:t>
            </a:r>
            <a:endParaRPr lang="en-US" sz="2100" dirty="0"/>
          </a:p>
          <a:p>
            <a:r>
              <a:rPr lang="en-US" sz="2100" dirty="0">
                <a:solidFill>
                  <a:srgbClr val="17364A"/>
                </a:solidFill>
                <a:latin typeface="Aptos" pitchFamily="34" charset="0"/>
                <a:ea typeface="Aptos" pitchFamily="34" charset="-122"/>
                <a:cs typeface="Aptos" pitchFamily="34" charset="-120"/>
              </a:rPr>
              <a:t>Subgroup caveat if relevant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communication brief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Review sign-off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Review sign-off note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communication brief</a:t>
            </a:r>
            <a:endParaRPr lang="en-US" sz="2100" dirty="0"/>
          </a:p>
          <a:p>
            <a:r>
              <a:rPr lang="en-US" sz="2100" dirty="0">
                <a:solidFill>
                  <a:srgbClr val="17364A"/>
                </a:solidFill>
                <a:latin typeface="Aptos" pitchFamily="34" charset="0"/>
                <a:ea typeface="Aptos" pitchFamily="34" charset="-122"/>
                <a:cs typeface="Aptos" pitchFamily="34" charset="-120"/>
              </a:rPr>
              <a:t>Plain-language uncertainty statement</a:t>
            </a:r>
            <a:endParaRPr lang="en-US" sz="2100" dirty="0"/>
          </a:p>
          <a:p>
            <a:r>
              <a:rPr lang="en-US" sz="2100" dirty="0">
                <a:solidFill>
                  <a:srgbClr val="17364A"/>
                </a:solidFill>
                <a:latin typeface="Aptos" pitchFamily="34" charset="0"/>
                <a:ea typeface="Aptos" pitchFamily="34" charset="-122"/>
                <a:cs typeface="Aptos" pitchFamily="34" charset="-120"/>
              </a:rPr>
              <a:t>Subgroup caveat if relevant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communication brief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communicate uncertainty with model results?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communicate uncertainty with model results?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Model Results and Uncertainty</dc:title>
  <dc:subject>Communicating Model Results and Uncertainty learning module</dc:subject>
  <dc:creator>Paula Soper</dc:creator>
  <cp:lastModifiedBy>Paula Soper</cp:lastModifiedBy>
  <cp:revision>1</cp:revision>
  <dcterms:created xsi:type="dcterms:W3CDTF">2026-07-12T19:55:20Z</dcterms:created>
  <dcterms:modified xsi:type="dcterms:W3CDTF">2026-07-12T19:55:20Z</dcterms:modified>
</cp:coreProperties>
</file>