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230 Electronic Case Reporting Technical Workflow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
Play 12: Execute Governance and Oversight - This lesson informs Play 12 by helping learners connect the lesson topic to execute governance and oversight work in the AI Playbook.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AI Evaluation &amp; Outcomes Reporting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basic eCR workflow from EHR trigger to public health action.
Explain the roles of eICR, Reportability Response, eRSD, and RCTC.
Identify eCR data quality, routing, and onboarding issues that can affect AI use.
Assess where AI may support eCR workflows and where human review remains required.
Produce an AI-readiness review for an eCR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eCR matters for AI because it brings structured, timely, clinically relevant information into public health workflows. It can reduce manual reporting burden and improve the speed of public health awareness. However, eCR is not simply a data feed. It includes trigger logic, routing, standards, jurisdictional rules, provider workflows, public health system intake, and case investigation processes.
AI may support eCR by summarizing incoming reports, identifying missing information, prioritizing work queues, flagging possible duplicates, or assisting with routing. These uses can be valuable, but they depend on accurate trigger criteria, complete eICR content, correct reportability logic, and careful human review. An AI tool should not silently decide that a case is irrelevant, close a record, or override public health reporting rules.
Understanding eCR also helps staff distinguish automation from judgment. eCR can automate exchange and reporting logic, but public health professionals still interpret context, apply jurisdictional procedures, communicate with providers, and document final decisions. AI should be designed to support those responsibilities rather than obscure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Electronic case reporting. Electronic case reporting is the automated exchange of case report information from healthcare to public health. It is designed to improve timeliness, completeness, and consistency in reportable condition workflows.
eICR. The electronic initial case report is the structured report sent from healthcare to public health. It may include patient demographics, encounter details, diagnoses, lab results, medications, pregnancy status, provider information, and other clinically relevant data.
Reportability Response. A Reportability Response communicates information back to the reporting system or provider, such as whether a case is reportable and what next steps or guidance may apply. It supports a more interactive reporting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eRSD and RCTC. Electronic Reporting and Surveillance Distribution supports the distribution of reporting criteria and trigger code value sets. Reportable Conditions Trigger Codes help EHRs determine when an eICR should be generated. These components are essential to reliable and current triggering.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jurisdiction may receive eICRs for a reportable condition and want AI to create an investigator-facing summary. The tool could highlight the suspected condition, key dates, lab evidence, symptoms, provider details, pregnancy status, missing fields, and previous related records. This could reduce staff burden, but only if users can inspect the source data and correct errors.
Another jurisdiction may want to use AI to triage incoming eICRs by urgency. This use has higher risk because prioritization may affect response timing. The agency would need to validate the triage logic, assess false positives and false negatives, review subgroup performance, and ensure that staff can override the AI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eCR workflow begins before a report reaches public health. EHR systems use trigger criteria and value sets to identify encounters that may need reporting. The eICR is generated and transmitted through an exchange process to the appropriate public health jurisdiction. Public health systems then receive, parse, route, review, and incorporate the information into surveillance workflows.
AI readiness depends on several technical questions. Staff need to know which eICR sections are available, how data are mapped into the surveillance system, whether narrative text is included, how person and case matching occur, and how missing or conflicting information is displayed. They also need to know whether the AI tool uses only the eICR, the surveillance record, prior case history, or external guidance documents.
Validation should include realistic eCR scenarios. Test cases should include complete reports, incomplete reports, duplicate reports, conflicting lab and diagnosis information, reports from different provider types, and cases requiring escalation. The goal is to test whether the AI-supported workflow helps staff review reports more effectively without hiding uncertainty or creating unsafe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Incorrect trigger assumptions. If trigger value sets or reporting criteria are outdated, the workflow may generate missing or inappropriate reports. Guardrails include current eRSD/RCTC management, onboarding checks, and periodic review.
Unsupported summaries. Generative AI summaries may include statements not supported by the eICR. Guardrails include source citations, side-by-side review, and user correction workflows.
Unsafe triage. AI prioritization may delay review of important cases if false negatives occur. Guardrails include validation, monitoring, threshold review, and human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Routing errors. Incorrect jurisdiction or program routing can delay response. Guardrails include routing validation, exception queues,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eICR content, but summaries should display source evidence and uncertainty. Predictive models may support prioritization, but only after validation against public health outcomes and review workflows. RAG may provide disease-specific guidance to investigators, but document sources must be current and authoritative. Agentic AI could create follow-up tasks, but task creation should be constrained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your agency receive, review, or process case reports today?
Which steps are automated and which remain manual?
Where are timeliness, completeness, routing, or duplication problems most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eCR tasks could AI support safely?
Which tasks require human review, legal authority, or epidemiologic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AI-readiness review for one eCR workflow. Map the current workflow, identify data elements required for review, describe common data quality gaps, define the AI-supported task under consideration, and specify human review, validation, monitoring, and escalation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eCR workflow map
AI-readiness checklist
Validation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Human review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eCR workflow map
AI-readiness checklist
Validation scenarios
Human review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eCR?
2. What is an eICR?
3. What do eRSD and RCTC support?
4. Which AI-supported eCR use requires particularly careful validation?
5. What should be documented before using AI in an eCR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Electronic Case Reporting resources: https://www.cdc.gov/ecr/php/index.html
AIMS eCR triggering documentation: https://ecr.aimsplatform.org/ehr-implementers/triggering/
HL7 eCR FHIR Implementation Guide: https://hl7.org/fhir/us/ecr/
Jurisdictional eCR onboarding and surveillance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Electronic Case Reporting Technical Workflow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case reporting is one of the clearest examples of public health automation.</a:t>
            </a:r>
            <a:endParaRPr lang="en-US" sz="2100" dirty="0"/>
          </a:p>
          <a:p>
            <a:r>
              <a:rPr lang="en-US" sz="2100" dirty="0">
                <a:solidFill>
                  <a:srgbClr val="17364A"/>
                </a:solidFill>
                <a:latin typeface="Aptos" pitchFamily="34" charset="0"/>
                <a:ea typeface="Aptos" pitchFamily="34" charset="-122"/>
                <a:cs typeface="Aptos" pitchFamily="34" charset="-120"/>
              </a:rPr>
              <a:t>It uses data from electronic health records and reporting logic to support more timely case reporting to public.</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eCR works technically and how AI might support eCR-related workflows without.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AI Evaluation &amp; Outcomes Reporting to translate.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basic eCR workflow from EHR trigger to public health action.</a:t>
            </a:r>
            <a:endParaRPr lang="en-US" sz="2100" dirty="0"/>
          </a:p>
          <a:p>
            <a:r>
              <a:rPr lang="en-US" sz="2100" dirty="0">
                <a:solidFill>
                  <a:srgbClr val="17364A"/>
                </a:solidFill>
                <a:latin typeface="Aptos" pitchFamily="34" charset="0"/>
                <a:ea typeface="Aptos" pitchFamily="34" charset="-122"/>
                <a:cs typeface="Aptos" pitchFamily="34" charset="-120"/>
              </a:rPr>
              <a:t>Explain the roles of eICR, Reportability Response, eRSD, and RCTC.</a:t>
            </a:r>
            <a:endParaRPr lang="en-US" sz="2100" dirty="0"/>
          </a:p>
          <a:p>
            <a:r>
              <a:rPr lang="en-US" sz="2100" dirty="0">
                <a:solidFill>
                  <a:srgbClr val="17364A"/>
                </a:solidFill>
                <a:latin typeface="Aptos" pitchFamily="34" charset="0"/>
                <a:ea typeface="Aptos" pitchFamily="34" charset="-122"/>
                <a:cs typeface="Aptos" pitchFamily="34" charset="-120"/>
              </a:rPr>
              <a:t>Identify eCR data quality, routing, and onboarding issues that can affect AI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basic eCR workflow from EHR trigger to public health action.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case reporting is one of the clearest examples of public health automation.</a:t>
            </a:r>
            <a:endParaRPr lang="en-US" sz="2100" dirty="0"/>
          </a:p>
          <a:p>
            <a:r>
              <a:rPr lang="en-US" sz="2100" dirty="0">
                <a:solidFill>
                  <a:srgbClr val="17364A"/>
                </a:solidFill>
                <a:latin typeface="Aptos" pitchFamily="34" charset="0"/>
                <a:ea typeface="Aptos" pitchFamily="34" charset="-122"/>
                <a:cs typeface="Aptos" pitchFamily="34" charset="-120"/>
              </a:rPr>
              <a:t>It uses data from electronic health records and reporting logic to support more timely case reporting.</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eCR works technically and how AI might support eCR-related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Electronic case reporting is one of the clearest examples of public health automation.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eCR matters for AI because it brings structured, timely, clinically relevant information into public.</a:t>
            </a:r>
            <a:endParaRPr lang="en-US" sz="2100" dirty="0"/>
          </a:p>
          <a:p>
            <a:r>
              <a:rPr lang="en-US" sz="2100" dirty="0">
                <a:solidFill>
                  <a:srgbClr val="17364A"/>
                </a:solidFill>
                <a:latin typeface="Aptos" pitchFamily="34" charset="0"/>
                <a:ea typeface="Aptos" pitchFamily="34" charset="-122"/>
                <a:cs typeface="Aptos" pitchFamily="34" charset="-120"/>
              </a:rPr>
              <a:t>It can reduce manual reporting burden and improve the speed of public health awareness.</a:t>
            </a:r>
            <a:endParaRPr lang="en-US" sz="2100" dirty="0"/>
          </a:p>
          <a:p>
            <a:r>
              <a:rPr lang="en-US" sz="2100" dirty="0">
                <a:solidFill>
                  <a:srgbClr val="17364A"/>
                </a:solidFill>
                <a:latin typeface="Aptos" pitchFamily="34" charset="0"/>
                <a:ea typeface="Aptos" pitchFamily="34" charset="-122"/>
                <a:cs typeface="Aptos" pitchFamily="34" charset="-120"/>
              </a:rPr>
              <a:t>However, eCR is not simply a data feed.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eCR matters for AI because it brings structured, timely, clinically relevant information into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case reporting.</a:t>
            </a:r>
            <a:endParaRPr lang="en-US" sz="2100" dirty="0"/>
          </a:p>
          <a:p>
            <a:r>
              <a:rPr lang="en-US" sz="2100" dirty="0">
                <a:solidFill>
                  <a:srgbClr val="17364A"/>
                </a:solidFill>
                <a:latin typeface="Aptos" pitchFamily="34" charset="0"/>
                <a:ea typeface="Aptos" pitchFamily="34" charset="-122"/>
                <a:cs typeface="Aptos" pitchFamily="34" charset="-120"/>
              </a:rPr>
              <a:t>Electronic case reporting is the automated exchange of case report information from healthcare to.</a:t>
            </a:r>
            <a:endParaRPr lang="en-US" sz="2100" dirty="0"/>
          </a:p>
          <a:p>
            <a:r>
              <a:rPr lang="en-US" sz="2100" dirty="0">
                <a:solidFill>
                  <a:srgbClr val="17364A"/>
                </a:solidFill>
                <a:latin typeface="Aptos" pitchFamily="34" charset="0"/>
                <a:ea typeface="Aptos" pitchFamily="34" charset="-122"/>
                <a:cs typeface="Aptos" pitchFamily="34" charset="-120"/>
              </a:rPr>
              <a:t>It is designed to improve timeliness, completeness, and consistency in reportable condition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Electronic case reporting.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eRSD and RCTC.</a:t>
            </a:r>
            <a:endParaRPr lang="en-US" sz="2100" dirty="0"/>
          </a:p>
          <a:p>
            <a:r>
              <a:rPr lang="en-US" sz="2100" dirty="0">
                <a:solidFill>
                  <a:srgbClr val="17364A"/>
                </a:solidFill>
                <a:latin typeface="Aptos" pitchFamily="34" charset="0"/>
                <a:ea typeface="Aptos" pitchFamily="34" charset="-122"/>
                <a:cs typeface="Aptos" pitchFamily="34" charset="-120"/>
              </a:rPr>
              <a:t>Electronic Reporting and Surveillance Distribution supports the distribution of reporting criteria and.</a:t>
            </a:r>
            <a:endParaRPr lang="en-US" sz="2100" dirty="0"/>
          </a:p>
          <a:p>
            <a:r>
              <a:rPr lang="en-US" sz="2100" dirty="0">
                <a:solidFill>
                  <a:srgbClr val="17364A"/>
                </a:solidFill>
                <a:latin typeface="Aptos" pitchFamily="34" charset="0"/>
                <a:ea typeface="Aptos" pitchFamily="34" charset="-122"/>
                <a:cs typeface="Aptos" pitchFamily="34" charset="-120"/>
              </a:rPr>
              <a:t>Reportable Conditions Trigger Codes help EHRs determine when an eICR should be generated.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eRSD and RCTC.</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jurisdiction may receive eICRs for a reportable condition and want AI to create an.</a:t>
            </a:r>
            <a:endParaRPr lang="en-US" sz="2100" dirty="0"/>
          </a:p>
          <a:p>
            <a:r>
              <a:rPr lang="en-US" sz="2100" dirty="0">
                <a:solidFill>
                  <a:srgbClr val="17364A"/>
                </a:solidFill>
                <a:latin typeface="Aptos" pitchFamily="34" charset="0"/>
                <a:ea typeface="Aptos" pitchFamily="34" charset="-122"/>
                <a:cs typeface="Aptos" pitchFamily="34" charset="-120"/>
              </a:rPr>
              <a:t>The tool could highlight the suspected condition, key dates, lab evidence, symptoms, provider details,.</a:t>
            </a:r>
            <a:endParaRPr lang="en-US" sz="2100" dirty="0"/>
          </a:p>
          <a:p>
            <a:r>
              <a:rPr lang="en-US" sz="2100" dirty="0">
                <a:solidFill>
                  <a:srgbClr val="17364A"/>
                </a:solidFill>
                <a:latin typeface="Aptos" pitchFamily="34" charset="0"/>
                <a:ea typeface="Aptos" pitchFamily="34" charset="-122"/>
                <a:cs typeface="Aptos" pitchFamily="34" charset="-120"/>
              </a:rPr>
              <a:t>This could reduce staff burden, but only if users can inspect the source data and correct errors.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jurisdiction may receive eICRs for a reportable condition and want AI to create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eCR workflow begins before a report reaches public health.</a:t>
            </a:r>
            <a:endParaRPr lang="en-US" sz="2100" dirty="0"/>
          </a:p>
          <a:p>
            <a:r>
              <a:rPr lang="en-US" sz="2100" dirty="0">
                <a:solidFill>
                  <a:srgbClr val="17364A"/>
                </a:solidFill>
                <a:latin typeface="Aptos" pitchFamily="34" charset="0"/>
                <a:ea typeface="Aptos" pitchFamily="34" charset="-122"/>
                <a:cs typeface="Aptos" pitchFamily="34" charset="-120"/>
              </a:rPr>
              <a:t>EHR systems use trigger criteria and value sets to identify encounters that may need reporting.</a:t>
            </a:r>
            <a:endParaRPr lang="en-US" sz="2100" dirty="0"/>
          </a:p>
          <a:p>
            <a:r>
              <a:rPr lang="en-US" sz="2100" dirty="0">
                <a:solidFill>
                  <a:srgbClr val="17364A"/>
                </a:solidFill>
                <a:latin typeface="Aptos" pitchFamily="34" charset="0"/>
                <a:ea typeface="Aptos" pitchFamily="34" charset="-122"/>
                <a:cs typeface="Aptos" pitchFamily="34" charset="-120"/>
              </a:rPr>
              <a:t>The eICR is generated and transmitted through an exchange process to the appropriate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eCR workflow begins before a report reaches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Incorrect trigger assumptions.</a:t>
            </a:r>
            <a:endParaRPr lang="en-US" sz="2100" dirty="0"/>
          </a:p>
          <a:p>
            <a:r>
              <a:rPr lang="en-US" sz="2100" dirty="0">
                <a:solidFill>
                  <a:srgbClr val="17364A"/>
                </a:solidFill>
                <a:latin typeface="Aptos" pitchFamily="34" charset="0"/>
                <a:ea typeface="Aptos" pitchFamily="34" charset="-122"/>
                <a:cs typeface="Aptos" pitchFamily="34" charset="-120"/>
              </a:rPr>
              <a:t>If trigger value sets or reporting criteria are outdated, the workflow may generate missing or.</a:t>
            </a:r>
            <a:endParaRPr lang="en-US" sz="2100" dirty="0"/>
          </a:p>
          <a:p>
            <a:r>
              <a:rPr lang="en-US" sz="2100" dirty="0">
                <a:solidFill>
                  <a:srgbClr val="17364A"/>
                </a:solidFill>
                <a:latin typeface="Aptos" pitchFamily="34" charset="0"/>
                <a:ea typeface="Aptos" pitchFamily="34" charset="-122"/>
                <a:cs typeface="Aptos" pitchFamily="34" charset="-120"/>
              </a:rPr>
              <a:t>Guardrails include current eRSD/RCTC management, onboarding checks, and periodic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Incorrect trigger assumptions.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Routing errors.</a:t>
            </a:r>
            <a:endParaRPr lang="en-US" sz="2100" dirty="0"/>
          </a:p>
          <a:p>
            <a:r>
              <a:rPr lang="en-US" sz="2100" dirty="0">
                <a:solidFill>
                  <a:srgbClr val="17364A"/>
                </a:solidFill>
                <a:latin typeface="Aptos" pitchFamily="34" charset="0"/>
                <a:ea typeface="Aptos" pitchFamily="34" charset="-122"/>
                <a:cs typeface="Aptos" pitchFamily="34" charset="-120"/>
              </a:rPr>
              <a:t>Incorrect jurisdiction or program routing can delay response.</a:t>
            </a:r>
            <a:endParaRPr lang="en-US" sz="2100" dirty="0"/>
          </a:p>
          <a:p>
            <a:r>
              <a:rPr lang="en-US" sz="2100" dirty="0">
                <a:solidFill>
                  <a:srgbClr val="17364A"/>
                </a:solidFill>
                <a:latin typeface="Aptos" pitchFamily="34" charset="0"/>
                <a:ea typeface="Aptos" pitchFamily="34" charset="-122"/>
                <a:cs typeface="Aptos" pitchFamily="34" charset="-120"/>
              </a:rPr>
              <a:t>Guardrails include routing validation, exception queues, and escalation procedures.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Routing errors.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summarize eICR content, but summaries should display source evidence and uncertainty.</a:t>
            </a:r>
            <a:endParaRPr lang="en-US" sz="2100" dirty="0"/>
          </a:p>
          <a:p>
            <a:r>
              <a:rPr lang="en-US" sz="2100" dirty="0">
                <a:solidFill>
                  <a:srgbClr val="17364A"/>
                </a:solidFill>
                <a:latin typeface="Aptos" pitchFamily="34" charset="0"/>
                <a:ea typeface="Aptos" pitchFamily="34" charset="-122"/>
                <a:cs typeface="Aptos" pitchFamily="34" charset="-120"/>
              </a:rPr>
              <a:t>Predictive models may support prioritization, but only after validation against public health outcomes.</a:t>
            </a:r>
            <a:endParaRPr lang="en-US" sz="2100" dirty="0"/>
          </a:p>
          <a:p>
            <a:r>
              <a:rPr lang="en-US" sz="2100" dirty="0">
                <a:solidFill>
                  <a:srgbClr val="17364A"/>
                </a:solidFill>
                <a:latin typeface="Aptos" pitchFamily="34" charset="0"/>
                <a:ea typeface="Aptos" pitchFamily="34" charset="-122"/>
                <a:cs typeface="Aptos" pitchFamily="34" charset="-120"/>
              </a:rPr>
              <a:t>RAG may provide disease-specific guidance to investigators, but document sources must be current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summarize eICR content, but summaries should display source evidence and uncertainty.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your agency receive, review, or process case reports today?</a:t>
            </a:r>
            <a:endParaRPr lang="en-US" sz="2100" dirty="0"/>
          </a:p>
          <a:p>
            <a:r>
              <a:rPr lang="en-US" sz="2100" dirty="0">
                <a:solidFill>
                  <a:srgbClr val="17364A"/>
                </a:solidFill>
                <a:latin typeface="Aptos" pitchFamily="34" charset="0"/>
                <a:ea typeface="Aptos" pitchFamily="34" charset="-122"/>
                <a:cs typeface="Aptos" pitchFamily="34" charset="-120"/>
              </a:rPr>
              <a:t>Which steps are automated and which remain manual?</a:t>
            </a:r>
            <a:endParaRPr lang="en-US" sz="2100" dirty="0"/>
          </a:p>
          <a:p>
            <a:r>
              <a:rPr lang="en-US" sz="2100" dirty="0">
                <a:solidFill>
                  <a:srgbClr val="17364A"/>
                </a:solidFill>
                <a:latin typeface="Aptos" pitchFamily="34" charset="0"/>
                <a:ea typeface="Aptos" pitchFamily="34" charset="-122"/>
                <a:cs typeface="Aptos" pitchFamily="34" charset="-120"/>
              </a:rPr>
              <a:t>Where are timeliness, completeness, routing, or duplication problems most common?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your agency receive, review, or process case reports today?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eCR tasks could AI support safely?</a:t>
            </a:r>
            <a:endParaRPr lang="en-US" sz="2100" dirty="0"/>
          </a:p>
          <a:p>
            <a:r>
              <a:rPr lang="en-US" sz="2100" dirty="0">
                <a:solidFill>
                  <a:srgbClr val="17364A"/>
                </a:solidFill>
                <a:latin typeface="Aptos" pitchFamily="34" charset="0"/>
                <a:ea typeface="Aptos" pitchFamily="34" charset="-122"/>
                <a:cs typeface="Aptos" pitchFamily="34" charset="-120"/>
              </a:rPr>
              <a:t>Which tasks require human review, legal authority, or epidemiologic judgment?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eCR tasks could AI support safely?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AI-readiness review for one eCR workflow.</a:t>
            </a:r>
            <a:endParaRPr lang="en-US" sz="2100" dirty="0"/>
          </a:p>
          <a:p>
            <a:r>
              <a:rPr lang="en-US" sz="2100" dirty="0">
                <a:solidFill>
                  <a:srgbClr val="17364A"/>
                </a:solidFill>
                <a:latin typeface="Aptos" pitchFamily="34" charset="0"/>
                <a:ea typeface="Aptos" pitchFamily="34" charset="-122"/>
                <a:cs typeface="Aptos" pitchFamily="34" charset="-120"/>
              </a:rPr>
              <a:t>Map the current workflow, identify data elements required for review, describe common data quality.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AI-readiness review for one eCR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eCR workflow map</a:t>
            </a:r>
            <a:endParaRPr lang="en-US" sz="2100" dirty="0"/>
          </a:p>
          <a:p>
            <a:r>
              <a:rPr lang="en-US" sz="2100" dirty="0">
                <a:solidFill>
                  <a:srgbClr val="17364A"/>
                </a:solidFill>
                <a:latin typeface="Aptos" pitchFamily="34" charset="0"/>
                <a:ea typeface="Aptos" pitchFamily="34" charset="-122"/>
                <a:cs typeface="Aptos" pitchFamily="34" charset="-120"/>
              </a:rPr>
              <a:t>AI-readiness checklist</a:t>
            </a:r>
            <a:endParaRPr lang="en-US" sz="2100" dirty="0"/>
          </a:p>
          <a:p>
            <a:r>
              <a:rPr lang="en-US" sz="2100" dirty="0">
                <a:solidFill>
                  <a:srgbClr val="17364A"/>
                </a:solidFill>
                <a:latin typeface="Aptos" pitchFamily="34" charset="0"/>
                <a:ea typeface="Aptos" pitchFamily="34" charset="-122"/>
                <a:cs typeface="Aptos" pitchFamily="34" charset="-120"/>
              </a:rPr>
              <a:t>Validation scenarios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eCR workflow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review and escalation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review and escalation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eCR workflow map</a:t>
            </a:r>
            <a:endParaRPr lang="en-US" sz="2100" dirty="0"/>
          </a:p>
          <a:p>
            <a:r>
              <a:rPr lang="en-US" sz="2100" dirty="0">
                <a:solidFill>
                  <a:srgbClr val="17364A"/>
                </a:solidFill>
                <a:latin typeface="Aptos" pitchFamily="34" charset="0"/>
                <a:ea typeface="Aptos" pitchFamily="34" charset="-122"/>
                <a:cs typeface="Aptos" pitchFamily="34" charset="-120"/>
              </a:rPr>
              <a:t>AI-readiness checklist</a:t>
            </a:r>
            <a:endParaRPr lang="en-US" sz="2100" dirty="0"/>
          </a:p>
          <a:p>
            <a:r>
              <a:rPr lang="en-US" sz="2100" dirty="0">
                <a:solidFill>
                  <a:srgbClr val="17364A"/>
                </a:solidFill>
                <a:latin typeface="Aptos" pitchFamily="34" charset="0"/>
                <a:ea typeface="Aptos" pitchFamily="34" charset="-122"/>
                <a:cs typeface="Aptos" pitchFamily="34" charset="-120"/>
              </a:rPr>
              <a:t>Validation scenarios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eCR workflow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eCR?</a:t>
            </a:r>
            <a:endParaRPr lang="en-US" sz="2100" dirty="0"/>
          </a:p>
          <a:p>
            <a:r>
              <a:rPr lang="en-US" sz="2100" dirty="0">
                <a:solidFill>
                  <a:srgbClr val="17364A"/>
                </a:solidFill>
                <a:latin typeface="Aptos" pitchFamily="34" charset="0"/>
                <a:ea typeface="Aptos" pitchFamily="34" charset="-122"/>
                <a:cs typeface="Aptos" pitchFamily="34" charset="-120"/>
              </a:rPr>
              <a:t>2. What is an eICR?</a:t>
            </a:r>
            <a:endParaRPr lang="en-US" sz="2100" dirty="0"/>
          </a:p>
          <a:p>
            <a:r>
              <a:rPr lang="en-US" sz="2100" dirty="0">
                <a:solidFill>
                  <a:srgbClr val="17364A"/>
                </a:solidFill>
                <a:latin typeface="Aptos" pitchFamily="34" charset="0"/>
                <a:ea typeface="Aptos" pitchFamily="34" charset="-122"/>
                <a:cs typeface="Aptos" pitchFamily="34" charset="-120"/>
              </a:rPr>
              <a:t>3. What do eRSD and RCTC support?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eCR?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Electronic Case Reporting resources: https://www.cdc.gov/ecr/php/index.html</a:t>
            </a:r>
            <a:endParaRPr lang="en-US" sz="2100" dirty="0"/>
          </a:p>
          <a:p>
            <a:r>
              <a:rPr lang="en-US" sz="2100" dirty="0">
                <a:solidFill>
                  <a:srgbClr val="17364A"/>
                </a:solidFill>
                <a:latin typeface="Aptos" pitchFamily="34" charset="0"/>
                <a:ea typeface="Aptos" pitchFamily="34" charset="-122"/>
                <a:cs typeface="Aptos" pitchFamily="34" charset="-120"/>
              </a:rPr>
              <a:t>AIMS eCR triggering documentation: https://ecr.aimsplatform.org/ehr-implementers/triggering/</a:t>
            </a:r>
            <a:endParaRPr lang="en-US" sz="2100" dirty="0"/>
          </a:p>
          <a:p>
            <a:r>
              <a:rPr lang="en-US" sz="2100" dirty="0">
                <a:solidFill>
                  <a:srgbClr val="17364A"/>
                </a:solidFill>
                <a:latin typeface="Aptos" pitchFamily="34" charset="0"/>
                <a:ea typeface="Aptos" pitchFamily="34" charset="-122"/>
                <a:cs typeface="Aptos" pitchFamily="34" charset="-120"/>
              </a:rPr>
              <a:t>HL7 eCR FHIR Implementation Guide: https://hl7.org/fhir/us/ecr/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Electronic Case Reporting resources: https://www.cdc.gov/ecr/php/index.html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Case Reporting Technical Workflow</dc:title>
  <dc:subject>Electronic Case Reporting Technical Workflow learning module</dc:subject>
  <dc:creator>Paula Soper</dc:creator>
  <cp:lastModifiedBy>Paula Soper</cp:lastModifiedBy>
  <cp:revision>1</cp:revision>
  <dcterms:created xsi:type="dcterms:W3CDTF">2026-07-12T19:55:20Z</dcterms:created>
  <dcterms:modified xsi:type="dcterms:W3CDTF">2026-07-12T19:55:20Z</dcterms:modified>
</cp:coreProperties>
</file>