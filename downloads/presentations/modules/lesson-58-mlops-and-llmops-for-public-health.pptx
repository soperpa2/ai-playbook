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OPS 300 MLOps and LLMOps for Public Health
MLOps and LLMOps are the lifecycle practices used to develop, test, deploy, monitor, update, and retire AI systems. Public health agencies need these practices because AI performance can change over time as data, reporting patterns, policies, users, and workflows change. This module focuses on model registries, versioning, testing, drift monitoring, evaluation datasets, release controls, rollback, and post-deployment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Operations and Data Quality Track
Appears in tracks: operations-data-quality
MLOps and LLMOps are the lifecycle practices used to develop, test, deploy, monitor, update, and retire AI systems. Public health agencies need these practices because AI performance can change over time as data, reporting patterns, policies, users, and workflows change. This module focuses on model registries, versioning, testing, drift monitoring, evaluation datasets, release controls, rollback, and post-deployment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13: Monitor and Evaluate AI Systems - This lesson informs Play 13 by helping learners connect the lesson topic to monitor and evaluate ai systems work in the AI Playbook.
Play 1: Vision &amp; Guardrails - This lesson informs Play 1 by helping learners connect the lesson topic to vision &amp; guardrails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this tool to complete or strengthen the practical exercise for the module using fictional, de-identified, or generalized.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mlops and llmops for public health in public health AI work.
Identify the technical, operational, privacy, security, equity, and governance issues associated with the topic.
Apply the topic to a real or realistic public health workflow, system, or implementation scenario.
Recognize common failure modes that can affect safety, accuracy, trust, workflow fit, or sustainability.
Identify practical guardrails that should be documented before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 AI operations plan that can support readiness assessment, governance review, procurement, implementation, or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MLOps and LLMOps are the lifecycle practices used to develop, test, deploy, monitor, update, and retire AI systems. Public health agencies need these practices because AI performance can change over time as data, reporting patterns, policies, users, and workflows change. This module focuses on model registries, versioning, testing, drift monitoring, evaluation datasets, release controls, rollback, and post-deployment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MLOps and LLMOps for Public Health matters because AI systems are embedded in public health programs, data systems, and decision processes rather than operating in isolation. The topic affects whether AI outputs are accurate, explainable, safe, equitable, secure, and sustainable. Agencies that ignore this area may create tools that work in a demonstration but fail in actual practice.
The topic also affects accountability. Public health agencies must be able to explain how data are used, why a tool was approved, what evidence supports the workflow, who reviews outputs, and what happens when the system fails. These responsibilities become more important as AI tools move from experimentation into operational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MLOps refers to operational practices for managing machine learning models through their lifecycle. LLMOps applies similar practices to large language model applications, including prompts, retrieval sources, evaluation datasets, guardrails, and model versions. These practices make AI systems more reliable, auditable, and maintainable.
Model versioning is the practice of tracking which version of a model, prompt, retrieval corpus, evaluation dataset, or configuration was used. Versioning matters because public health staff may need to reconstruct why an output changed or why an incident occurred.
Drift occurs when data patterns, user behavior, or model performance change over time. In public health, drift may occur because a new lab begins reporting, a case definition changes, a provider changes coding practices, or community conditions shift. Monitoring drift helps agencies decide when retesting or retraining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syndromic surveillance team may use an anomaly detection model to flag unusual emergency department visit patterns. The model may perform well during testing, but performance can change when chief complaint text changes, new facilities join the feed, or seasonal patterns shift. An MLOps plan would define monitoring indicators, evaluation frequency, responsible staff, retraining rules, and rollback procedures.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Operational AI management starts before deployment. Teams should define an intended use, baseline performance, evaluation datasets, release criteria, monitoring indicators, and an owner responsible for review. Without these elements, agencies may not know whether the deployed system is still behaving as approved.
LLMOps adds additional elements because generative systems depend on prompts, retrieval documents, context windows, model settings, safety filters, and human review workflows. A change in any of these components can change outputs. Agencies should track prompt templates, source document updates, model upgrades, and evaluation results.
Rollback is a critical safeguard. If a new model version, prompt, data pipeline, or retrieval index creates errors, staff need a documented way to return to the prior approved version or disable the AI function. Rollback authority should be defined before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technical detail rather than a public health control. When staff do not connect technical decisions to authority, workflow, equity, privacy, security, and accountability, the agency may adopt a tool that appears useful but cannot be sustained or defended.
Another risk is relying on vendor claims without agency-defined evidence. Vendors may provide demonstrations, dashboards, or summary metrics that do not match the agency workflow or data environment. A guardrail is to require documentation, test results, acceptance criteria, and agency-controlled review.
A third risk is failing to plan for change. Public health data, policies, systems, and emergencies change. Any technical approach must include monitoring, review, versioning, escalation, and retirement pathways so the agency can respond when assumptions no longer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predictive analytics, RAG, automation, and agentic workflows all depend on the controls described in this module. The controls should be scaled to the risk of the use case. A tool that drafts internal training text may require lighter review than a tool that updates case records, prioritizes outreach, or supports public communication during an emergency.
The module should be applied during readiness assessment, procurement, implementation planning, pilot testing, and post-deployment monitoring. Learners should document how the topic affects data, systems, users, safeguards, and decision-making for the selected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does this topic appear in one current or proposed AI workflow in your agency?
What decisions, data sources, users, or partners would be affected if this area is poorly designed?
What evidence would governance reviewers need before approving the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safeguards should be required before pilot testing?
Who owns ongoing monitoring and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AI operations plan for one real or realistic public health AI workflow. The artifact should describe the use case, affected users, data sources, system dependencies, risks, guardrails, review points, and unresolved questions.
The exercise should produce a work product that could be used in a governance meeting, procurement review, implementation planning session, pilot evaluation, or monitoring review. Learners should document assumptions and identify which staff or partners need to be consulted.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The expected artifact is a completed AI operations plan. It should be specific to a public health workflow and should include technical dependencies, governance questions, human review expectations, monitoring indicators, and unresolved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The expected artifact is a completed AI operations plan. It should be specific to a public health workflow and should include technical dependencies, governance questions, human review expectations, monitoring indicators, and unresolved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best reason to address mlops and llmops for public health before deployment?
2. Which practice best supports responsible implementation?
3. Which statement best describes a common failure mode?
4. What should be included in the practical artifact for this module?
5. When should the issue be escalated for governance or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AI Risk Management Framework: https://www.nist.gov/itl/ai-risk-management-framework
Platform-specific MLOps and LLMOps documentation for approved agency tools
NIST Generative AI Profile: https://www.nist.gov/publications/artificial-intelligence-risk-management-framework-generative-artificial-intelligence
CDC Public Health Data Strategy and Data Modernization resources: https://www.cdc.gov/public-health-data-strategy/php/about/index.html
OWASP Top 10 for LLM Applications, when security or AI integrations are relevant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privacy, cybersecurity, data governance, procurement, and records management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OPS 300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MLOps and LLMOps for Public Health</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MLOps and LLMOps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What this module helps you do</a:t>
            </a:r>
            <a:endParaRPr lang="en-US" sz="2700" dirty="0"/>
          </a:p>
        </p:txBody>
      </p:sp>
      <p:sp>
        <p:nvSpPr>
          <p:cNvPr id="8" name="Text 6"/>
          <p:cNvSpPr/>
          <p:nvPr/>
        </p:nvSpPr>
        <p:spPr>
          <a:xfrm>
            <a:off x="868680" y="1417320"/>
            <a:ext cx="6675120" cy="3291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MLOps and LLMOps are the lifecycle practices used to develop, test, deploy, monitor, update, and retire AI systems.</a:t>
            </a:r>
            <a:endParaRPr lang="en-US" sz="1700" dirty="0"/>
          </a:p>
          <a:p>
            <a:r>
              <a:rPr lang="en-US" sz="1700" dirty="0">
                <a:solidFill>
                  <a:srgbClr val="17364A"/>
                </a:solidFill>
                <a:latin typeface="Aptos" pitchFamily="34" charset="0"/>
                <a:ea typeface="Aptos" pitchFamily="34" charset="-122"/>
                <a:cs typeface="Aptos" pitchFamily="34" charset="-120"/>
              </a:rPr>
              <a:t>Public health agencies need these practices because AI performance can change over time as data, reporting patterns, policies, users, and workflows.</a:t>
            </a:r>
            <a:endParaRPr lang="en-US" sz="1700" dirty="0"/>
          </a:p>
          <a:p>
            <a:r>
              <a:rPr lang="en-US" sz="1700" dirty="0">
                <a:solidFill>
                  <a:srgbClr val="17364A"/>
                </a:solidFill>
                <a:latin typeface="Aptos" pitchFamily="34" charset="0"/>
                <a:ea typeface="Aptos" pitchFamily="34" charset="-122"/>
                <a:cs typeface="Aptos" pitchFamily="34" charset="-120"/>
              </a:rPr>
              <a:t>This module focuses on model registries, versioning, testing, drift monitoring, evaluation datasets, release controls, rollback, and post-deployment.</a:t>
            </a:r>
            <a:endParaRPr lang="en-US" sz="1700" dirty="0"/>
          </a:p>
        </p:txBody>
      </p:sp>
      <p:sp>
        <p:nvSpPr>
          <p:cNvPr id="9" name="Shape 7"/>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Module details</a:t>
            </a:r>
            <a:endParaRPr lang="en-US" sz="950" dirty="0"/>
          </a:p>
        </p:txBody>
      </p:sp>
      <p:sp>
        <p:nvSpPr>
          <p:cNvPr id="11" name="Text 9"/>
          <p:cNvSpPr/>
          <p:nvPr/>
        </p:nvSpPr>
        <p:spPr>
          <a:xfrm>
            <a:off x="8074152" y="1856232"/>
            <a:ext cx="2825496" cy="135331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Level: intermediate/practitioner</a:t>
            </a:r>
            <a:endParaRPr lang="en-US" sz="1250" dirty="0"/>
          </a:p>
          <a:p>
            <a:pPr indent="0" marL="0">
              <a:buNone/>
            </a:pPr>
            <a:r>
              <a:rPr lang="en-US" sz="1250" dirty="0">
                <a:solidFill>
                  <a:srgbClr val="17364A"/>
                </a:solidFill>
                <a:latin typeface="Aptos" pitchFamily="34" charset="0"/>
                <a:ea typeface="Aptos" pitchFamily="34" charset="-122"/>
                <a:cs typeface="Aptos" pitchFamily="34" charset="-120"/>
              </a:rPr>
              <a:t>Primary track: Operations and Data Quality Track</a:t>
            </a:r>
            <a:endParaRPr lang="en-US" sz="1250" dirty="0"/>
          </a:p>
          <a:p>
            <a:pPr indent="0" marL="0">
              <a:buNone/>
            </a:pPr>
            <a:r>
              <a:rPr lang="en-US" sz="1250" dirty="0">
                <a:solidFill>
                  <a:srgbClr val="17364A"/>
                </a:solidFill>
                <a:latin typeface="Aptos" pitchFamily="34" charset="0"/>
                <a:ea typeface="Aptos" pitchFamily="34" charset="-122"/>
                <a:cs typeface="Aptos" pitchFamily="34" charset="-120"/>
              </a:rPr>
              <a:t>Appears in tracks: operations-data-quality</a:t>
            </a:r>
            <a:endParaRPr lang="en-US" sz="1250" dirty="0"/>
          </a:p>
        </p:txBody>
      </p:sp>
      <p:sp>
        <p:nvSpPr>
          <p:cNvPr id="12" name="Shape 10"/>
          <p:cNvSpPr/>
          <p:nvPr/>
        </p:nvSpPr>
        <p:spPr>
          <a:xfrm>
            <a:off x="7909560" y="3611880"/>
            <a:ext cx="3154680" cy="1783080"/>
          </a:xfrm>
          <a:prstGeom prst="roundRect">
            <a:avLst>
              <a:gd name="adj" fmla="val 6154"/>
            </a:avLst>
          </a:prstGeom>
          <a:solidFill>
            <a:srgbClr val="EEF8ED"/>
          </a:solidFill>
          <a:ln w="12700">
            <a:solidFill>
              <a:srgbClr val="B9D7E6"/>
            </a:solidFill>
            <a:prstDash val="solid"/>
          </a:ln>
        </p:spPr>
      </p:sp>
      <p:sp>
        <p:nvSpPr>
          <p:cNvPr id="13" name="Text 11"/>
          <p:cNvSpPr/>
          <p:nvPr/>
        </p:nvSpPr>
        <p:spPr>
          <a:xfrm>
            <a:off x="8074152" y="375818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Learning approach</a:t>
            </a:r>
            <a:endParaRPr lang="en-US" sz="950" dirty="0"/>
          </a:p>
        </p:txBody>
      </p:sp>
      <p:sp>
        <p:nvSpPr>
          <p:cNvPr id="14" name="Text 12"/>
          <p:cNvSpPr/>
          <p:nvPr/>
        </p:nvSpPr>
        <p:spPr>
          <a:xfrm>
            <a:off x="8074152" y="4050792"/>
            <a:ext cx="2825496" cy="121615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Review the core ideas, complete the practical exercise, check your understanding, and use the related plays and tools to apply the lesson.</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MLOps and LLMOps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2700" dirty="0"/>
          </a:p>
        </p:txBody>
      </p:sp>
      <p:sp>
        <p:nvSpPr>
          <p:cNvPr id="8" name="Text 6"/>
          <p:cNvSpPr/>
          <p:nvPr/>
        </p:nvSpPr>
        <p:spPr>
          <a:xfrm>
            <a:off x="868680" y="1417320"/>
            <a:ext cx="6903720" cy="4480560"/>
          </a:xfrm>
          <a:prstGeom prst="rect">
            <a:avLst/>
          </a:prstGeom>
          <a:noFill/>
          <a:ln/>
        </p:spPr>
        <p:txBody>
          <a:bodyPr wrap="square" lIns="635" tIns="635" rIns="635" bIns="635" rtlCol="0" anchor="t">
            <a:normAutofit/>
          </a:bodyPr>
          <a:lstStyle/>
          <a:p>
            <a:r>
              <a:rPr lang="en-US" sz="154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 topic to build and deploy.</a:t>
            </a:r>
            <a:endParaRPr lang="en-US" sz="1540" dirty="0"/>
          </a:p>
          <a:p>
            <a:r>
              <a:rPr lang="en-US" sz="154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 readiness assessment work.</a:t>
            </a:r>
            <a:endParaRPr lang="en-US" sz="1540" dirty="0"/>
          </a:p>
          <a:p>
            <a:r>
              <a:rPr lang="en-US" sz="1540" dirty="0">
                <a:solidFill>
                  <a:srgbClr val="17364A"/>
                </a:solidFill>
                <a:latin typeface="Aptos" pitchFamily="34" charset="0"/>
                <a:ea typeface="Aptos" pitchFamily="34" charset="-122"/>
                <a:cs typeface="Aptos" pitchFamily="34" charset="-120"/>
              </a:rPr>
              <a:t>Play 13: Monitor and Evaluate AI Systems - This lesson informs Play 13 by helping learners connect the lesson topic to monitor and.</a:t>
            </a:r>
            <a:endParaRPr lang="en-US" sz="1540" dirty="0"/>
          </a:p>
          <a:p>
            <a:r>
              <a:rPr lang="en-US" sz="154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 vision &amp; guardrails work in.</a:t>
            </a:r>
            <a:endParaRPr lang="en-US" sz="1540" dirty="0"/>
          </a:p>
        </p:txBody>
      </p:sp>
      <p:sp>
        <p:nvSpPr>
          <p:cNvPr id="9" name="Shape 7"/>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0" name="Text 8"/>
          <p:cNvSpPr/>
          <p:nvPr/>
        </p:nvSpPr>
        <p:spPr>
          <a:xfrm>
            <a:off x="8211312" y="156362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Apply the lesson</a:t>
            </a:r>
            <a:endParaRPr lang="en-US" sz="950" dirty="0"/>
          </a:p>
        </p:txBody>
      </p:sp>
      <p:sp>
        <p:nvSpPr>
          <p:cNvPr id="11" name="Text 9"/>
          <p:cNvSpPr/>
          <p:nvPr/>
        </p:nvSpPr>
        <p:spPr>
          <a:xfrm>
            <a:off x="8211312" y="1856232"/>
            <a:ext cx="2734056" cy="153619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250" dirty="0"/>
          </a:p>
        </p:txBody>
      </p:sp>
      <p:sp>
        <p:nvSpPr>
          <p:cNvPr id="12" name="Shape 10"/>
          <p:cNvSpPr/>
          <p:nvPr/>
        </p:nvSpPr>
        <p:spPr>
          <a:xfrm>
            <a:off x="8046720" y="3794760"/>
            <a:ext cx="3063240" cy="1508760"/>
          </a:xfrm>
          <a:prstGeom prst="roundRect">
            <a:avLst>
              <a:gd name="adj" fmla="val 7273"/>
            </a:avLst>
          </a:prstGeom>
          <a:solidFill>
            <a:srgbClr val="FFF4D9"/>
          </a:solidFill>
          <a:ln w="12700">
            <a:solidFill>
              <a:srgbClr val="B9D7E6"/>
            </a:solidFill>
            <a:prstDash val="solid"/>
          </a:ln>
        </p:spPr>
      </p:sp>
      <p:sp>
        <p:nvSpPr>
          <p:cNvPr id="13" name="Text 11"/>
          <p:cNvSpPr/>
          <p:nvPr/>
        </p:nvSpPr>
        <p:spPr>
          <a:xfrm>
            <a:off x="8211312" y="394106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Keep in mind</a:t>
            </a:r>
            <a:endParaRPr lang="en-US" sz="950" dirty="0"/>
          </a:p>
        </p:txBody>
      </p:sp>
      <p:sp>
        <p:nvSpPr>
          <p:cNvPr id="14" name="Text 12"/>
          <p:cNvSpPr/>
          <p:nvPr/>
        </p:nvSpPr>
        <p:spPr>
          <a:xfrm>
            <a:off x="8211312" y="4233672"/>
            <a:ext cx="2734056" cy="9418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The playbook connection helps turn training into agency work, not just individual knowledge.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MLOps and LLMOps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Related toolkit resources</a:t>
            </a:r>
            <a:endParaRPr lang="en-US" sz="2700" dirty="0"/>
          </a:p>
        </p:txBody>
      </p:sp>
      <p:sp>
        <p:nvSpPr>
          <p:cNvPr id="8" name="Text 6"/>
          <p:cNvSpPr/>
          <p:nvPr/>
        </p:nvSpPr>
        <p:spPr>
          <a:xfrm>
            <a:off x="868680" y="1417320"/>
            <a:ext cx="6903720" cy="4480560"/>
          </a:xfrm>
          <a:prstGeom prst="rect">
            <a:avLst/>
          </a:prstGeom>
          <a:noFill/>
          <a:ln/>
        </p:spPr>
        <p:txBody>
          <a:bodyPr wrap="square" lIns="635" tIns="635" rIns="635" bIns="635" rtlCol="0" anchor="t">
            <a:normAutofit/>
          </a:bodyPr>
          <a:lstStyle/>
          <a:p>
            <a:r>
              <a:rPr lang="en-US" sz="146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 documented public health.</a:t>
            </a:r>
            <a:endParaRPr lang="en-US" sz="1460" dirty="0"/>
          </a:p>
          <a:p>
            <a:r>
              <a:rPr lang="en-US" sz="1460" dirty="0">
                <a:solidFill>
                  <a:srgbClr val="17364A"/>
                </a:solidFill>
                <a:latin typeface="Aptos" pitchFamily="34" charset="0"/>
                <a:ea typeface="Aptos" pitchFamily="34" charset="-122"/>
                <a:cs typeface="Aptos" pitchFamily="34" charset="-120"/>
              </a:rPr>
              <a:t>Tool 5: AI Environmental and Resource Impact Review (Checklist) - Use this tool to complete or strengthen the practical exercise for.</a:t>
            </a:r>
            <a:endParaRPr lang="en-US" sz="1460" dirty="0"/>
          </a:p>
          <a:p>
            <a:r>
              <a:rPr lang="en-US" sz="146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 Checklist to translate this.</a:t>
            </a:r>
            <a:endParaRPr lang="en-US" sz="1460" dirty="0"/>
          </a:p>
          <a:p>
            <a:r>
              <a:rPr lang="en-US" sz="1460" dirty="0">
                <a:solidFill>
                  <a:srgbClr val="17364A"/>
                </a:solidFill>
                <a:latin typeface="Aptos" pitchFamily="34" charset="0"/>
                <a:ea typeface="Aptos" pitchFamily="34" charset="-122"/>
                <a:cs typeface="Aptos" pitchFamily="34" charset="-120"/>
              </a:rPr>
              <a:t>Tool 8: AI Project Charter (Planning) - Use AI Project Charter to translate this lesson into a documented public health AI planning,.</a:t>
            </a:r>
            <a:endParaRPr lang="en-US" sz="1460" dirty="0"/>
          </a:p>
          <a:p>
            <a:r>
              <a:rPr lang="en-US" sz="1460" dirty="0">
                <a:solidFill>
                  <a:srgbClr val="17364A"/>
                </a:solidFill>
                <a:latin typeface="Aptos" pitchFamily="34" charset="0"/>
                <a:ea typeface="Aptos" pitchFamily="34" charset="-122"/>
                <a:cs typeface="Aptos" pitchFamily="34" charset="-120"/>
              </a:rPr>
              <a:t>Tool 9: Data Quality Assessment Checklist (Checklist) - Use this tool to complete or strengthen the practical exercise for the module.</a:t>
            </a:r>
            <a:endParaRPr lang="en-US" sz="1460" dirty="0"/>
          </a:p>
        </p:txBody>
      </p:sp>
      <p:sp>
        <p:nvSpPr>
          <p:cNvPr id="9" name="Shape 7"/>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0" name="Text 8"/>
          <p:cNvSpPr/>
          <p:nvPr/>
        </p:nvSpPr>
        <p:spPr>
          <a:xfrm>
            <a:off x="8211312" y="156362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the tools</a:t>
            </a:r>
            <a:endParaRPr lang="en-US" sz="950" dirty="0"/>
          </a:p>
        </p:txBody>
      </p:sp>
      <p:sp>
        <p:nvSpPr>
          <p:cNvPr id="11" name="Text 9"/>
          <p:cNvSpPr/>
          <p:nvPr/>
        </p:nvSpPr>
        <p:spPr>
          <a:xfrm>
            <a:off x="8211312" y="1856232"/>
            <a:ext cx="2734056" cy="153619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250" dirty="0"/>
          </a:p>
        </p:txBody>
      </p:sp>
      <p:sp>
        <p:nvSpPr>
          <p:cNvPr id="12" name="Shape 10"/>
          <p:cNvSpPr/>
          <p:nvPr/>
        </p:nvSpPr>
        <p:spPr>
          <a:xfrm>
            <a:off x="8046720" y="3794760"/>
            <a:ext cx="3063240" cy="1508760"/>
          </a:xfrm>
          <a:prstGeom prst="roundRect">
            <a:avLst>
              <a:gd name="adj" fmla="val 7273"/>
            </a:avLst>
          </a:prstGeom>
          <a:solidFill>
            <a:srgbClr val="EEF8ED"/>
          </a:solidFill>
          <a:ln w="12700">
            <a:solidFill>
              <a:srgbClr val="B9D7E6"/>
            </a:solidFill>
            <a:prstDash val="solid"/>
          </a:ln>
        </p:spPr>
      </p:sp>
      <p:sp>
        <p:nvSpPr>
          <p:cNvPr id="13" name="Text 11"/>
          <p:cNvSpPr/>
          <p:nvPr/>
        </p:nvSpPr>
        <p:spPr>
          <a:xfrm>
            <a:off x="8211312" y="394106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Avoid duplication</a:t>
            </a:r>
            <a:endParaRPr lang="en-US" sz="950" dirty="0"/>
          </a:p>
        </p:txBody>
      </p:sp>
      <p:sp>
        <p:nvSpPr>
          <p:cNvPr id="14" name="Text 12"/>
          <p:cNvSpPr/>
          <p:nvPr/>
        </p:nvSpPr>
        <p:spPr>
          <a:xfrm>
            <a:off x="8211312" y="4233672"/>
            <a:ext cx="2734056" cy="9418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If your department already has a strong equivalent tool, adapt or use the existing process instead of recreating it.</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MLOps and LLMOps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Learning Objectives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Explain the purpose of mlops and llmops for public health in public health AI work.</a:t>
            </a:r>
            <a:endParaRPr lang="en-US" sz="1700" dirty="0"/>
          </a:p>
          <a:p>
            <a:r>
              <a:rPr lang="en-US" sz="1700" dirty="0">
                <a:solidFill>
                  <a:srgbClr val="17364A"/>
                </a:solidFill>
                <a:latin typeface="Aptos" pitchFamily="34" charset="0"/>
                <a:ea typeface="Aptos" pitchFamily="34" charset="-122"/>
                <a:cs typeface="Aptos" pitchFamily="34" charset="-120"/>
              </a:rPr>
              <a:t>Identify the technical, operational, privacy, security, equity, and governance issues associated with the topic.</a:t>
            </a:r>
            <a:endParaRPr lang="en-US" sz="1700" dirty="0"/>
          </a:p>
          <a:p>
            <a:r>
              <a:rPr lang="en-US" sz="1700" dirty="0">
                <a:solidFill>
                  <a:srgbClr val="17364A"/>
                </a:solidFill>
                <a:latin typeface="Aptos" pitchFamily="34" charset="0"/>
                <a:ea typeface="Aptos" pitchFamily="34" charset="-122"/>
                <a:cs typeface="Aptos" pitchFamily="34" charset="-120"/>
              </a:rPr>
              <a:t>Apply the topic to a real or realistic public health workflow, system, or implementation scenario.</a:t>
            </a:r>
            <a:endParaRPr lang="en-US" sz="1700" dirty="0"/>
          </a:p>
          <a:p>
            <a:r>
              <a:rPr lang="en-US" sz="1700" dirty="0">
                <a:solidFill>
                  <a:srgbClr val="17364A"/>
                </a:solidFill>
                <a:latin typeface="Aptos" pitchFamily="34" charset="0"/>
                <a:ea typeface="Aptos" pitchFamily="34" charset="-122"/>
                <a:cs typeface="Aptos" pitchFamily="34" charset="-120"/>
              </a:rPr>
              <a:t>Recognize common failure modes that can affect safety, accuracy, trust, workflow fit, or sustainability.</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Explain the purpose of mlops and llmops for public health in public health AI work.</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MLOps and LLMOps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Learning Objectives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Produce a AI operations plan that can support readiness assessment, governance review, procurement, implementation, or.</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Produce a AI operations plan that can support readiness assessment, governance review, procurement, implementation, or.</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MLOps and LLMOps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Overview</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MLOps and LLMOps are the lifecycle practices used to develop, test, deploy, monitor, update, and retire AI systems.</a:t>
            </a:r>
            <a:endParaRPr lang="en-US" sz="1700" dirty="0"/>
          </a:p>
          <a:p>
            <a:r>
              <a:rPr lang="en-US" sz="1700" dirty="0">
                <a:solidFill>
                  <a:srgbClr val="17364A"/>
                </a:solidFill>
                <a:latin typeface="Aptos" pitchFamily="34" charset="0"/>
                <a:ea typeface="Aptos" pitchFamily="34" charset="-122"/>
                <a:cs typeface="Aptos" pitchFamily="34" charset="-120"/>
              </a:rPr>
              <a:t>Public health agencies need these practices because AI performance can change over time as data, reporting patterns,.</a:t>
            </a:r>
            <a:endParaRPr lang="en-US" sz="1700" dirty="0"/>
          </a:p>
          <a:p>
            <a:r>
              <a:rPr lang="en-US" sz="1700" dirty="0">
                <a:solidFill>
                  <a:srgbClr val="17364A"/>
                </a:solidFill>
                <a:latin typeface="Aptos" pitchFamily="34" charset="0"/>
                <a:ea typeface="Aptos" pitchFamily="34" charset="-122"/>
                <a:cs typeface="Aptos" pitchFamily="34" charset="-120"/>
              </a:rPr>
              <a:t>This module focuses on model registries, versioning, testing, drift monitoring, evaluation datasets, release controls,.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MLOps and LLMOps are the lifecycle practices used to develop, test, deploy, monitor, update, and retire AI systems.</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MLOps and LLMOps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MLOps and LLMOps for Public Health matters because AI systems are embedded in public health programs, data systems, and.</a:t>
            </a:r>
            <a:endParaRPr lang="en-US" sz="1700" dirty="0"/>
          </a:p>
          <a:p>
            <a:r>
              <a:rPr lang="en-US" sz="1700" dirty="0">
                <a:solidFill>
                  <a:srgbClr val="17364A"/>
                </a:solidFill>
                <a:latin typeface="Aptos" pitchFamily="34" charset="0"/>
                <a:ea typeface="Aptos" pitchFamily="34" charset="-122"/>
                <a:cs typeface="Aptos" pitchFamily="34" charset="-120"/>
              </a:rPr>
              <a:t>The topic affects whether AI outputs are accurate, explainable, safe, equitable, secure, and sustainable.</a:t>
            </a:r>
            <a:endParaRPr lang="en-US" sz="1700" dirty="0"/>
          </a:p>
          <a:p>
            <a:r>
              <a:rPr lang="en-US" sz="1700" dirty="0">
                <a:solidFill>
                  <a:srgbClr val="17364A"/>
                </a:solidFill>
                <a:latin typeface="Aptos" pitchFamily="34" charset="0"/>
                <a:ea typeface="Aptos" pitchFamily="34" charset="-122"/>
                <a:cs typeface="Aptos" pitchFamily="34" charset="-120"/>
              </a:rPr>
              <a:t>Agencies that ignore this area may create tools that work in a demonstration but fail in actual practice.</a:t>
            </a:r>
            <a:endParaRPr lang="en-US" sz="1700" dirty="0"/>
          </a:p>
          <a:p>
            <a:r>
              <a:rPr lang="en-US" sz="1700" dirty="0">
                <a:solidFill>
                  <a:srgbClr val="17364A"/>
                </a:solidFill>
                <a:latin typeface="Aptos" pitchFamily="34" charset="0"/>
                <a:ea typeface="Aptos" pitchFamily="34" charset="-122"/>
                <a:cs typeface="Aptos" pitchFamily="34" charset="-120"/>
              </a:rPr>
              <a:t>The topic also affects accountability.</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MLOps and LLMOps for Public Health matters because AI systems are embedded in public health programs, data systems, and.</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MLOps and LLMOps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Core Concepts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MLOps refers to operational practices for managing machine learning models through their lifecycle.</a:t>
            </a:r>
            <a:endParaRPr lang="en-US" sz="1700" dirty="0"/>
          </a:p>
          <a:p>
            <a:r>
              <a:rPr lang="en-US" sz="1700" dirty="0">
                <a:solidFill>
                  <a:srgbClr val="17364A"/>
                </a:solidFill>
                <a:latin typeface="Aptos" pitchFamily="34" charset="0"/>
                <a:ea typeface="Aptos" pitchFamily="34" charset="-122"/>
                <a:cs typeface="Aptos" pitchFamily="34" charset="-120"/>
              </a:rPr>
              <a:t>LLMOps applies similar practices to large language model applications, including prompts, retrieval sources, evaluation.</a:t>
            </a:r>
            <a:endParaRPr lang="en-US" sz="1700" dirty="0"/>
          </a:p>
          <a:p>
            <a:r>
              <a:rPr lang="en-US" sz="1700" dirty="0">
                <a:solidFill>
                  <a:srgbClr val="17364A"/>
                </a:solidFill>
                <a:latin typeface="Aptos" pitchFamily="34" charset="0"/>
                <a:ea typeface="Aptos" pitchFamily="34" charset="-122"/>
                <a:cs typeface="Aptos" pitchFamily="34" charset="-120"/>
              </a:rPr>
              <a:t>These practices make AI systems more reliable, auditable, and maintainable.</a:t>
            </a:r>
            <a:endParaRPr lang="en-US" sz="1700" dirty="0"/>
          </a:p>
          <a:p>
            <a:r>
              <a:rPr lang="en-US" sz="1700" dirty="0">
                <a:solidFill>
                  <a:srgbClr val="17364A"/>
                </a:solidFill>
                <a:latin typeface="Aptos" pitchFamily="34" charset="0"/>
                <a:ea typeface="Aptos" pitchFamily="34" charset="-122"/>
                <a:cs typeface="Aptos" pitchFamily="34" charset="-120"/>
              </a:rPr>
              <a:t>Model versioning is the practice of tracking which version of a model, prompt, retrieval corpus, evaluation dataset, or.</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MLOps refers to operational practices for managing machine learning models through their lifecycle.</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MLOps and LLMOps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Public Health Example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A syndromic surveillance team may use an anomaly detection model to flag unusual emergency department visit patterns.</a:t>
            </a:r>
            <a:endParaRPr lang="en-US" sz="1700" dirty="0"/>
          </a:p>
          <a:p>
            <a:r>
              <a:rPr lang="en-US" sz="1700" dirty="0">
                <a:solidFill>
                  <a:srgbClr val="17364A"/>
                </a:solidFill>
                <a:latin typeface="Aptos" pitchFamily="34" charset="0"/>
                <a:ea typeface="Aptos" pitchFamily="34" charset="-122"/>
                <a:cs typeface="Aptos" pitchFamily="34" charset="-120"/>
              </a:rPr>
              <a:t>The model may perform well during testing, but performance can change when chief complaint text changes, new facilities.</a:t>
            </a:r>
            <a:endParaRPr lang="en-US" sz="1700" dirty="0"/>
          </a:p>
          <a:p>
            <a:r>
              <a:rPr lang="en-US" sz="1700" dirty="0">
                <a:solidFill>
                  <a:srgbClr val="17364A"/>
                </a:solidFill>
                <a:latin typeface="Aptos" pitchFamily="34" charset="0"/>
                <a:ea typeface="Aptos" pitchFamily="34" charset="-122"/>
                <a:cs typeface="Aptos" pitchFamily="34" charset="-120"/>
              </a:rPr>
              <a:t>An MLOps plan would define monitoring indicators, evaluation frequency, responsible staff, retraining rules, and rollback.</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A syndromic surveillance team may use an anomaly detection model to flag unusual emergency department visit patterns.</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MLOps and LLMOps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Technical Deep Dive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Operational AI management starts before deployment.</a:t>
            </a:r>
            <a:endParaRPr lang="en-US" sz="1700" dirty="0"/>
          </a:p>
          <a:p>
            <a:r>
              <a:rPr lang="en-US" sz="1700" dirty="0">
                <a:solidFill>
                  <a:srgbClr val="17364A"/>
                </a:solidFill>
                <a:latin typeface="Aptos" pitchFamily="34" charset="0"/>
                <a:ea typeface="Aptos" pitchFamily="34" charset="-122"/>
                <a:cs typeface="Aptos" pitchFamily="34" charset="-120"/>
              </a:rPr>
              <a:t>Teams should define an intended use, baseline performance, evaluation datasets, release criteria, monitoring indicators,.</a:t>
            </a:r>
            <a:endParaRPr lang="en-US" sz="1700" dirty="0"/>
          </a:p>
          <a:p>
            <a:r>
              <a:rPr lang="en-US" sz="1700" dirty="0">
                <a:solidFill>
                  <a:srgbClr val="17364A"/>
                </a:solidFill>
                <a:latin typeface="Aptos" pitchFamily="34" charset="0"/>
                <a:ea typeface="Aptos" pitchFamily="34" charset="-122"/>
                <a:cs typeface="Aptos" pitchFamily="34" charset="-120"/>
              </a:rPr>
              <a:t>Without these elements, agencies may not know whether the deployed system is still behaving as approved.</a:t>
            </a:r>
            <a:endParaRPr lang="en-US" sz="1700" dirty="0"/>
          </a:p>
          <a:p>
            <a:r>
              <a:rPr lang="en-US" sz="1700" dirty="0">
                <a:solidFill>
                  <a:srgbClr val="17364A"/>
                </a:solidFill>
                <a:latin typeface="Aptos" pitchFamily="34" charset="0"/>
                <a:ea typeface="Aptos" pitchFamily="34" charset="-122"/>
                <a:cs typeface="Aptos" pitchFamily="34" charset="-120"/>
              </a:rPr>
              <a:t>LLMOps adds additional elements because generative systems depend on prompts, retrieval documents, context windows, model.</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Operational AI management starts before deployment.</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MLOps and LLMOps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A common failure mode is treating the topic as a technical detail rather than a public health control.</a:t>
            </a:r>
            <a:endParaRPr lang="en-US" sz="1700" dirty="0"/>
          </a:p>
          <a:p>
            <a:r>
              <a:rPr lang="en-US" sz="1700" dirty="0">
                <a:solidFill>
                  <a:srgbClr val="17364A"/>
                </a:solidFill>
                <a:latin typeface="Aptos" pitchFamily="34" charset="0"/>
                <a:ea typeface="Aptos" pitchFamily="34" charset="-122"/>
                <a:cs typeface="Aptos" pitchFamily="34" charset="-120"/>
              </a:rPr>
              <a:t>When staff do not connect technical decisions to authority, workflow, equity, privacy, security, and accountability, the.</a:t>
            </a:r>
            <a:endParaRPr lang="en-US" sz="1700" dirty="0"/>
          </a:p>
          <a:p>
            <a:r>
              <a:rPr lang="en-US" sz="1700" dirty="0">
                <a:solidFill>
                  <a:srgbClr val="17364A"/>
                </a:solidFill>
                <a:latin typeface="Aptos" pitchFamily="34" charset="0"/>
                <a:ea typeface="Aptos" pitchFamily="34" charset="-122"/>
                <a:cs typeface="Aptos" pitchFamily="34" charset="-120"/>
              </a:rPr>
              <a:t>Another risk is relying on vendor claims without agency-defined evidence.</a:t>
            </a:r>
            <a:endParaRPr lang="en-US" sz="1700" dirty="0"/>
          </a:p>
          <a:p>
            <a:r>
              <a:rPr lang="en-US" sz="1700" dirty="0">
                <a:solidFill>
                  <a:srgbClr val="17364A"/>
                </a:solidFill>
                <a:latin typeface="Aptos" pitchFamily="34" charset="0"/>
                <a:ea typeface="Aptos" pitchFamily="34" charset="-122"/>
                <a:cs typeface="Aptos" pitchFamily="34" charset="-120"/>
              </a:rPr>
              <a:t>Vendors may provide demonstrations, dashboards, or summary metrics that do not match the agency workflow or data environment.</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A common failure mode is treating the topic as a technical detail rather than a public health control.</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MLOps and LLMOps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Generative AI, predictive analytics, RAG, automation, and agentic workflows all depend on the controls described in this.</a:t>
            </a:r>
            <a:endParaRPr lang="en-US" sz="1700" dirty="0"/>
          </a:p>
          <a:p>
            <a:r>
              <a:rPr lang="en-US" sz="1700" dirty="0">
                <a:solidFill>
                  <a:srgbClr val="17364A"/>
                </a:solidFill>
                <a:latin typeface="Aptos" pitchFamily="34" charset="0"/>
                <a:ea typeface="Aptos" pitchFamily="34" charset="-122"/>
                <a:cs typeface="Aptos" pitchFamily="34" charset="-120"/>
              </a:rPr>
              <a:t>The controls should be scaled to the risk of the use case.</a:t>
            </a:r>
            <a:endParaRPr lang="en-US" sz="1700" dirty="0"/>
          </a:p>
          <a:p>
            <a:r>
              <a:rPr lang="en-US" sz="1700" dirty="0">
                <a:solidFill>
                  <a:srgbClr val="17364A"/>
                </a:solidFill>
                <a:latin typeface="Aptos" pitchFamily="34" charset="0"/>
                <a:ea typeface="Aptos" pitchFamily="34" charset="-122"/>
                <a:cs typeface="Aptos" pitchFamily="34" charset="-120"/>
              </a:rPr>
              <a:t>A tool that drafts internal training text may require lighter review than a tool that updates case records, prioritizes.</a:t>
            </a:r>
            <a:endParaRPr lang="en-US" sz="1700" dirty="0"/>
          </a:p>
          <a:p>
            <a:r>
              <a:rPr lang="en-US" sz="1700" dirty="0">
                <a:solidFill>
                  <a:srgbClr val="17364A"/>
                </a:solidFill>
                <a:latin typeface="Aptos" pitchFamily="34" charset="0"/>
                <a:ea typeface="Aptos" pitchFamily="34" charset="-122"/>
                <a:cs typeface="Aptos" pitchFamily="34" charset="-120"/>
              </a:rPr>
              <a:t>The module should be applied during readiness assessment, procurement, implementation planning, pilot testing, and.</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Generative AI, predictive analytics, RAG, automation, and agentic workflows all depend on the controls described in this.</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MLOps and LLMOps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Where does this topic appear in one current or proposed AI workflow in your agency?</a:t>
            </a:r>
            <a:endParaRPr lang="en-US" sz="1700" dirty="0"/>
          </a:p>
          <a:p>
            <a:r>
              <a:rPr lang="en-US" sz="1700" dirty="0">
                <a:solidFill>
                  <a:srgbClr val="17364A"/>
                </a:solidFill>
                <a:latin typeface="Aptos" pitchFamily="34" charset="0"/>
                <a:ea typeface="Aptos" pitchFamily="34" charset="-122"/>
                <a:cs typeface="Aptos" pitchFamily="34" charset="-120"/>
              </a:rPr>
              <a:t>What decisions, data sources, users, or partners would be affected if this area is poorly designed?</a:t>
            </a:r>
            <a:endParaRPr lang="en-US" sz="1700" dirty="0"/>
          </a:p>
          <a:p>
            <a:r>
              <a:rPr lang="en-US" sz="1700" dirty="0">
                <a:solidFill>
                  <a:srgbClr val="17364A"/>
                </a:solidFill>
                <a:latin typeface="Aptos" pitchFamily="34" charset="0"/>
                <a:ea typeface="Aptos" pitchFamily="34" charset="-122"/>
                <a:cs typeface="Aptos" pitchFamily="34" charset="-120"/>
              </a:rPr>
              <a:t>What evidence would governance reviewers need before approving the workflow?</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Where does this topic appear in one current or proposed AI workflow in your agency?</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MLOps and LLMOps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Which safeguards should be required before pilot testing?</a:t>
            </a:r>
            <a:endParaRPr lang="en-US" sz="1700" dirty="0"/>
          </a:p>
          <a:p>
            <a:r>
              <a:rPr lang="en-US" sz="1700" dirty="0">
                <a:solidFill>
                  <a:srgbClr val="17364A"/>
                </a:solidFill>
                <a:latin typeface="Aptos" pitchFamily="34" charset="0"/>
                <a:ea typeface="Aptos" pitchFamily="34" charset="-122"/>
                <a:cs typeface="Aptos" pitchFamily="34" charset="-120"/>
              </a:rPr>
              <a:t>Who owns ongoing monitoring and review?</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Which safeguards should be required before pilot testing?</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MLOps and LLMOps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Practical Exercise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Create a AI operations plan for one real or realistic public health AI workflow.</a:t>
            </a:r>
            <a:endParaRPr lang="en-US" sz="1700" dirty="0"/>
          </a:p>
          <a:p>
            <a:r>
              <a:rPr lang="en-US" sz="1700" dirty="0">
                <a:solidFill>
                  <a:srgbClr val="17364A"/>
                </a:solidFill>
                <a:latin typeface="Aptos" pitchFamily="34" charset="0"/>
                <a:ea typeface="Aptos" pitchFamily="34" charset="-122"/>
                <a:cs typeface="Aptos" pitchFamily="34" charset="-120"/>
              </a:rPr>
              <a:t>The artifact should describe the use case, affected users, data sources, system dependencies, risks, guardrails, review.</a:t>
            </a:r>
            <a:endParaRPr lang="en-US" sz="1700" dirty="0"/>
          </a:p>
          <a:p>
            <a:r>
              <a:rPr lang="en-US" sz="1700" dirty="0">
                <a:solidFill>
                  <a:srgbClr val="17364A"/>
                </a:solidFill>
                <a:latin typeface="Aptos" pitchFamily="34" charset="0"/>
                <a:ea typeface="Aptos" pitchFamily="34" charset="-122"/>
                <a:cs typeface="Aptos" pitchFamily="34" charset="-120"/>
              </a:rPr>
              <a:t>The exercise should produce a work product that could be used in a governance meeting, procurement review, implementation.</a:t>
            </a:r>
            <a:endParaRPr lang="en-US" sz="1700" dirty="0"/>
          </a:p>
          <a:p>
            <a:r>
              <a:rPr lang="en-US" sz="1700" dirty="0">
                <a:solidFill>
                  <a:srgbClr val="17364A"/>
                </a:solidFill>
                <a:latin typeface="Aptos" pitchFamily="34" charset="0"/>
                <a:ea typeface="Aptos" pitchFamily="34" charset="-122"/>
                <a:cs typeface="Aptos" pitchFamily="34" charset="-120"/>
              </a:rPr>
              <a:t>Learners should document assumptions and identify which staff or partners need to be consulted.</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Create a AI operations plan for one real or realistic public health AI workflow.</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MLOps and LLMOps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The expected artifact is a completed AI operations plan.</a:t>
            </a:r>
            <a:endParaRPr lang="en-US" sz="1700" dirty="0"/>
          </a:p>
          <a:p>
            <a:r>
              <a:rPr lang="en-US" sz="1700" dirty="0">
                <a:solidFill>
                  <a:srgbClr val="17364A"/>
                </a:solidFill>
                <a:latin typeface="Aptos" pitchFamily="34" charset="0"/>
                <a:ea typeface="Aptos" pitchFamily="34" charset="-122"/>
                <a:cs typeface="Aptos" pitchFamily="34" charset="-120"/>
              </a:rPr>
              <a:t>It should be specific to a public health workflow and should include technical dependencies, governance questions, human.</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The expected artifact is a completed AI operations plan.</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MLOps and LLMOps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Assignment</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The expected artifact is a completed AI operations plan. It should be specific to a public health workflow and should include.</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The expected artifact is a completed AI operations plan. It should be specific to a public health workflow and should include.</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MLOps and LLMOps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Knowledge Check</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1. What is the best reason to address mlops and llmops for public health before deployment?</a:t>
            </a:r>
            <a:endParaRPr lang="en-US" sz="1700" dirty="0"/>
          </a:p>
          <a:p>
            <a:r>
              <a:rPr lang="en-US" sz="1700" dirty="0">
                <a:solidFill>
                  <a:srgbClr val="17364A"/>
                </a:solidFill>
                <a:latin typeface="Aptos" pitchFamily="34" charset="0"/>
                <a:ea typeface="Aptos" pitchFamily="34" charset="-122"/>
                <a:cs typeface="Aptos" pitchFamily="34" charset="-120"/>
              </a:rPr>
              <a:t>2. Which practice best supports responsible implementation?</a:t>
            </a:r>
            <a:endParaRPr lang="en-US" sz="1700" dirty="0"/>
          </a:p>
          <a:p>
            <a:r>
              <a:rPr lang="en-US" sz="1700" dirty="0">
                <a:solidFill>
                  <a:srgbClr val="17364A"/>
                </a:solidFill>
                <a:latin typeface="Aptos" pitchFamily="34" charset="0"/>
                <a:ea typeface="Aptos" pitchFamily="34" charset="-122"/>
                <a:cs typeface="Aptos" pitchFamily="34" charset="-120"/>
              </a:rPr>
              <a:t>3. Which statement best describes a common failure mode?</a:t>
            </a:r>
            <a:endParaRPr lang="en-US" sz="1700" dirty="0"/>
          </a:p>
          <a:p>
            <a:r>
              <a:rPr lang="en-US" sz="1700" dirty="0">
                <a:solidFill>
                  <a:srgbClr val="17364A"/>
                </a:solidFill>
                <a:latin typeface="Aptos" pitchFamily="34" charset="0"/>
                <a:ea typeface="Aptos" pitchFamily="34" charset="-122"/>
                <a:cs typeface="Aptos" pitchFamily="34" charset="-120"/>
              </a:rPr>
              <a:t>4. What should be included in the practical artifact for this module?</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1. What is the best reason to address mlops and llmops for public health before deployment?</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MLOps and LLMOps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NIST AI Risk Management Framework: https://www.nist.gov/itl/ai-risk-management-framework</a:t>
            </a:r>
            <a:endParaRPr lang="en-US" sz="1700" dirty="0"/>
          </a:p>
          <a:p>
            <a:r>
              <a:rPr lang="en-US" sz="1700" dirty="0">
                <a:solidFill>
                  <a:srgbClr val="17364A"/>
                </a:solidFill>
                <a:latin typeface="Aptos" pitchFamily="34" charset="0"/>
                <a:ea typeface="Aptos" pitchFamily="34" charset="-122"/>
                <a:cs typeface="Aptos" pitchFamily="34" charset="-120"/>
              </a:rPr>
              <a:t>Platform-specific MLOps and LLMOps documentation for approved agency tools</a:t>
            </a:r>
            <a:endParaRPr lang="en-US" sz="1700" dirty="0"/>
          </a:p>
          <a:p>
            <a:r>
              <a:rPr lang="en-US" sz="1700" dirty="0">
                <a:solidFill>
                  <a:srgbClr val="17364A"/>
                </a:solidFill>
                <a:latin typeface="Aptos" pitchFamily="34" charset="0"/>
                <a:ea typeface="Aptos" pitchFamily="34" charset="-122"/>
                <a:cs typeface="Aptos" pitchFamily="34" charset="-120"/>
              </a:rPr>
              <a:t>NIST Generative AI Profile:.</a:t>
            </a:r>
            <a:endParaRPr lang="en-US" sz="1700" dirty="0"/>
          </a:p>
          <a:p>
            <a:r>
              <a:rPr lang="en-US" sz="170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NIST AI Risk Management Framework: https://www.nist.gov/itl/ai-risk-management-framework</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MLOps and LLMOps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Agency privacy, cybersecurity, data governance, procurement, and records management policies</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Agency privacy, cybersecurity, data governance, procurement, and records management policies</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MLOps and LLMOps for Public Health</dc:title>
  <dc:subject>MLOps and LLMOps for Public Health learning module</dc:subject>
  <dc:creator>Paula Soper</dc:creator>
  <cp:lastModifiedBy>Paula Soper</cp:lastModifiedBy>
  <cp:revision>1</cp:revision>
  <dcterms:created xsi:type="dcterms:W3CDTF">2026-07-12T18:54:58Z</dcterms:created>
  <dcterms:modified xsi:type="dcterms:W3CDTF">2026-07-12T18:54:58Z</dcterms:modified>
</cp:coreProperties>
</file>