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 IISs,.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 FHIR,.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among HL7 v2 messages, CDA documents, FHIR resources, and APIs.</a:t>
            </a:r>
            <a:endParaRPr lang="en-US" sz="2100" dirty="0"/>
          </a:p>
          <a:p>
            <a:r>
              <a:rPr lang="en-US" sz="2100" dirty="0">
                <a:solidFill>
                  <a:srgbClr val="17364A"/>
                </a:solidFill>
                <a:latin typeface="Aptos" pitchFamily="34" charset="0"/>
                <a:ea typeface="Aptos" pitchFamily="34" charset="-122"/>
                <a:cs typeface="Aptos" pitchFamily="34" charset="-120"/>
              </a:rPr>
              <a:t>Identify where interoperability standards appear in public health workflows.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implementation guides and terminology standards.</a:t>
            </a:r>
            <a:endParaRPr lang="en-US" sz="1380" dirty="0"/>
          </a:p>
          <a:p>
            <a:r>
              <a:rPr lang="en-US" sz="1380" dirty="0">
                <a:solidFill>
                  <a:srgbClr val="17364A"/>
                </a:solidFill>
                <a:latin typeface="Aptos" pitchFamily="34" charset="0"/>
                <a:ea typeface="Aptos" pitchFamily="34" charset="-122"/>
                <a:cs typeface="Aptos" pitchFamily="34" charset="-120"/>
              </a:rPr>
              <a:t>Develop interoperability requirements and vendor questions for AI-supported workflows.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Interoperability is the discipline that makes this exchange possible across EHRs,.</a:t>
            </a:r>
            <a:endParaRPr lang="en-US" sz="1380" dirty="0"/>
          </a:p>
          <a:p>
            <a:r>
              <a:rPr lang="en-US" sz="1380" dirty="0">
                <a:solidFill>
                  <a:srgbClr val="17364A"/>
                </a:solidFill>
                <a:latin typeface="Aptos" pitchFamily="34" charset="0"/>
                <a:ea typeface="Aptos" pitchFamily="34" charset="-122"/>
                <a:cs typeface="Aptos" pitchFamily="34" charset="-120"/>
              </a:rPr>
              <a:t>This module introduces the major standards that public health staff encounter, including.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2100" dirty="0"/>
          </a:p>
          <a:p>
            <a:r>
              <a:rPr lang="en-US" sz="2100" dirty="0">
                <a:solidFill>
                  <a:srgbClr val="17364A"/>
                </a:solidFill>
                <a:latin typeface="Aptos" pitchFamily="34" charset="0"/>
                <a:ea typeface="Aptos" pitchFamily="34" charset="-122"/>
                <a:cs typeface="Aptos" pitchFamily="34" charset="-120"/>
              </a:rPr>
              <a:t>A public health agency may receive data from hundreds or thousands of healthcare and laboratory partners.</a:t>
            </a:r>
            <a:endParaRPr lang="en-US" sz="2100" dirty="0"/>
          </a:p>
          <a:p>
            <a:r>
              <a:rPr lang="en-US" sz="2100" dirty="0">
                <a:solidFill>
                  <a:srgbClr val="17364A"/>
                </a:solidFill>
                <a:latin typeface="Aptos" pitchFamily="34" charset="0"/>
                <a:ea typeface="Aptos" pitchFamily="34" charset="-122"/>
                <a:cs typeface="Aptos" pitchFamily="34" charset="-120"/>
              </a:rPr>
              <a:t>Without consistent standards, data exchange becomes a patchwork of custom interfaces, manual uploads,.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Without consistent standards, data exchange becomes a patchwork of custom interfaces,.</a:t>
            </a:r>
            <a:endParaRPr lang="en-US" sz="1380" dirty="0"/>
          </a:p>
          <a:p>
            <a:r>
              <a:rPr lang="en-US" sz="1380" dirty="0">
                <a:solidFill>
                  <a:srgbClr val="17364A"/>
                </a:solidFill>
                <a:latin typeface="Aptos" pitchFamily="34" charset="0"/>
                <a:ea typeface="Aptos" pitchFamily="34" charset="-122"/>
                <a:cs typeface="Aptos" pitchFamily="34" charset="-120"/>
              </a:rPr>
              <a:t>AI tools built on top of that environment may appear sophisticated while depending on.</a:t>
            </a:r>
            <a:endParaRPr lang="en-US" sz="1380" dirty="0"/>
          </a:p>
          <a:p>
            <a:r>
              <a:rPr lang="en-US" sz="1380" dirty="0">
                <a:solidFill>
                  <a:srgbClr val="17364A"/>
                </a:solidFill>
                <a:latin typeface="Aptos" pitchFamily="34" charset="0"/>
                <a:ea typeface="Aptos" pitchFamily="34" charset="-122"/>
                <a:cs typeface="Aptos" pitchFamily="34" charset="-120"/>
              </a:rPr>
              <a:t>Standards also affect equity and efficiency.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v2.</a:t>
            </a:r>
            <a:endParaRPr lang="en-US" sz="2100" dirty="0"/>
          </a:p>
          <a:p>
            <a:r>
              <a:rPr lang="en-US" sz="2100" dirty="0">
                <a:solidFill>
                  <a:srgbClr val="17364A"/>
                </a:solidFill>
                <a:latin typeface="Aptos" pitchFamily="34" charset="0"/>
                <a:ea typeface="Aptos" pitchFamily="34" charset="-122"/>
                <a:cs typeface="Aptos" pitchFamily="34" charset="-120"/>
              </a:rPr>
              <a:t>HL7 v2 is a widely used message-based standard in healthcare and public health.</a:t>
            </a:r>
            <a:endParaRPr lang="en-US" sz="2100" dirty="0"/>
          </a:p>
          <a:p>
            <a:r>
              <a:rPr lang="en-US" sz="2100" dirty="0">
                <a:solidFill>
                  <a:srgbClr val="17364A"/>
                </a:solidFill>
                <a:latin typeface="Aptos" pitchFamily="34" charset="0"/>
                <a:ea typeface="Aptos" pitchFamily="34" charset="-122"/>
                <a:cs typeface="Aptos" pitchFamily="34" charset="-120"/>
              </a:rPr>
              <a:t>It is common in laboratory reporting, immunization messaging, admission-discharge-transfer.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v2.</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common in laboratory reporting, immunization messaging, admission-discharge-transfer.</a:t>
            </a:r>
            <a:endParaRPr lang="en-US" sz="1380" dirty="0"/>
          </a:p>
          <a:p>
            <a:r>
              <a:rPr lang="en-US" sz="1380" dirty="0">
                <a:solidFill>
                  <a:srgbClr val="17364A"/>
                </a:solidFill>
                <a:latin typeface="Aptos" pitchFamily="34" charset="0"/>
                <a:ea typeface="Aptos" pitchFamily="34" charset="-122"/>
                <a:cs typeface="Aptos" pitchFamily="34" charset="-120"/>
              </a:rPr>
              <a:t>HL7 v2 is mature and widely deployed, but messages can vary by implementation, making.</a:t>
            </a:r>
            <a:endParaRPr lang="en-US" sz="1380" dirty="0"/>
          </a:p>
          <a:p>
            <a:r>
              <a:rPr lang="en-US" sz="1380" dirty="0">
                <a:solidFill>
                  <a:srgbClr val="17364A"/>
                </a:solidFill>
                <a:latin typeface="Aptos" pitchFamily="34" charset="0"/>
                <a:ea typeface="Aptos" pitchFamily="34" charset="-122"/>
                <a:cs typeface="Aptos" pitchFamily="34" charset="-120"/>
              </a:rPr>
              <a:t>CDA.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API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In AI workflows, APIs may support retrieval, task creation, status updates, or integration with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 AI workflows, APIs may support retrieval, task creation, status updates, or integration.</a:t>
            </a:r>
            <a:endParaRPr lang="en-US" sz="1380" dirty="0"/>
          </a:p>
          <a:p>
            <a:r>
              <a:rPr lang="en-US" sz="1380" dirty="0">
                <a:solidFill>
                  <a:srgbClr val="17364A"/>
                </a:solidFill>
                <a:latin typeface="Aptos" pitchFamily="34" charset="0"/>
                <a:ea typeface="Aptos" pitchFamily="34" charset="-122"/>
                <a:cs typeface="Aptos" pitchFamily="34" charset="-120"/>
              </a:rPr>
              <a:t>API access must be governed by permissions, authentication, rate limits, logging, and.</a:t>
            </a:r>
            <a:endParaRPr lang="en-US" sz="1380" dirty="0"/>
          </a:p>
          <a:p>
            <a:r>
              <a:rPr lang="en-US" sz="1380" dirty="0">
                <a:solidFill>
                  <a:srgbClr val="17364A"/>
                </a:solidFill>
                <a:latin typeface="Aptos" pitchFamily="34" charset="0"/>
                <a:ea typeface="Aptos" pitchFamily="34" charset="-122"/>
                <a:cs typeface="Aptos" pitchFamily="34" charset="-120"/>
              </a:rPr>
              <a:t>Implementation guide.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2100" dirty="0"/>
          </a:p>
          <a:p>
            <a:r>
              <a:rPr lang="en-US" sz="2100" dirty="0">
                <a:solidFill>
                  <a:srgbClr val="17364A"/>
                </a:solidFill>
                <a:latin typeface="Aptos" pitchFamily="34" charset="0"/>
                <a:ea typeface="Aptos" pitchFamily="34" charset="-122"/>
                <a:cs typeface="Aptos" pitchFamily="34" charset="-120"/>
              </a:rPr>
              <a:t>If an AI tool is used to identify vaccination gaps or generate reminder lists, it depends on correctly.</a:t>
            </a:r>
            <a:endParaRPr lang="en-US" sz="2100" dirty="0"/>
          </a:p>
          <a:p>
            <a:r>
              <a:rPr lang="en-US" sz="2100" dirty="0">
                <a:solidFill>
                  <a:srgbClr val="17364A"/>
                </a:solidFill>
                <a:latin typeface="Aptos" pitchFamily="34" charset="0"/>
                <a:ea typeface="Aptos" pitchFamily="34" charset="-122"/>
                <a:cs typeface="Aptos" pitchFamily="34" charset="-120"/>
              </a:rPr>
              <a:t>Interoperability failures can look like epidemiologic gaps even when the problem is actually message.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an AI tool is used to identify vaccination gaps or generate reminder lists, it depends.</a:t>
            </a:r>
            <a:endParaRPr lang="en-US" sz="1380" dirty="0"/>
          </a:p>
          <a:p>
            <a:r>
              <a:rPr lang="en-US" sz="1380" dirty="0">
                <a:solidFill>
                  <a:srgbClr val="17364A"/>
                </a:solidFill>
                <a:latin typeface="Aptos" pitchFamily="34" charset="0"/>
                <a:ea typeface="Aptos" pitchFamily="34" charset="-122"/>
                <a:cs typeface="Aptos" pitchFamily="34" charset="-120"/>
              </a:rPr>
              <a:t>Interoperability failures can look like epidemiologic gaps even when the problem is.</a:t>
            </a:r>
            <a:endParaRPr lang="en-US" sz="1380" dirty="0"/>
          </a:p>
          <a:p>
            <a:r>
              <a:rPr lang="en-US" sz="1380" dirty="0">
                <a:solidFill>
                  <a:srgbClr val="17364A"/>
                </a:solidFill>
                <a:latin typeface="Aptos" pitchFamily="34" charset="0"/>
                <a:ea typeface="Aptos" pitchFamily="34" charset="-122"/>
                <a:cs typeface="Aptos" pitchFamily="34" charset="-120"/>
              </a:rPr>
              <a:t>A public health agency exploring AI-supported case summaries from EHR data may need to.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2100" dirty="0"/>
          </a:p>
          <a:p>
            <a:r>
              <a:rPr lang="en-US" sz="2100" dirty="0">
                <a:solidFill>
                  <a:srgbClr val="17364A"/>
                </a:solidFill>
                <a:latin typeface="Aptos" pitchFamily="34" charset="0"/>
                <a:ea typeface="Aptos" pitchFamily="34" charset="-122"/>
                <a:cs typeface="Aptos" pitchFamily="34" charset="-120"/>
              </a:rPr>
              <a:t>Staff should ask whether the workflow uses messages, documents, resources, files, or manual entry.</a:t>
            </a:r>
            <a:endParaRPr lang="en-US" sz="2100" dirty="0"/>
          </a:p>
          <a:p>
            <a:r>
              <a:rPr lang="en-US" sz="2100" dirty="0">
                <a:solidFill>
                  <a:srgbClr val="17364A"/>
                </a:solidFill>
                <a:latin typeface="Aptos" pitchFamily="34" charset="0"/>
                <a:ea typeface="Aptos" pitchFamily="34" charset="-122"/>
                <a:cs typeface="Aptos" pitchFamily="34" charset="-120"/>
              </a:rPr>
              <a:t>They should also identify required terminology systems, such as LOINC, SNOMED CT, CVX, ICD-10-CM, UCUM,.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Interoperability review starts by identifying the sending system, receiving system,.</a:t>
            </a:r>
            <a:endParaRPr lang="en-US" sz="1380" dirty="0"/>
          </a:p>
          <a:p>
            <a:r>
              <a:rPr lang="en-US" sz="1380" dirty="0">
                <a:solidFill>
                  <a:srgbClr val="17364A"/>
                </a:solidFill>
                <a:latin typeface="Aptos" pitchFamily="34" charset="0"/>
                <a:ea typeface="Aptos" pitchFamily="34" charset="-122"/>
                <a:cs typeface="Aptos" pitchFamily="34" charset="-120"/>
              </a:rPr>
              <a:t>They should also identify required terminology systems, such as LOINC, SNOMED CT, CVX,.</a:t>
            </a:r>
            <a:endParaRPr lang="en-US" sz="1380" dirty="0"/>
          </a:p>
          <a:p>
            <a:r>
              <a:rPr lang="en-US" sz="1380" dirty="0">
                <a:solidFill>
                  <a:srgbClr val="17364A"/>
                </a:solidFill>
                <a:latin typeface="Aptos" pitchFamily="34" charset="0"/>
                <a:ea typeface="Aptos" pitchFamily="34" charset="-122"/>
                <a:cs typeface="Aptos" pitchFamily="34" charset="-120"/>
              </a:rPr>
              <a:t>Validation is a central part of interoperability.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standards claims.</a:t>
            </a:r>
            <a:endParaRPr lang="en-US" sz="2100" dirty="0"/>
          </a:p>
          <a:p>
            <a:r>
              <a:rPr lang="en-US" sz="2100" dirty="0">
                <a:solidFill>
                  <a:srgbClr val="17364A"/>
                </a:solidFill>
                <a:latin typeface="Aptos" pitchFamily="34" charset="0"/>
                <a:ea typeface="Aptos" pitchFamily="34" charset="-122"/>
                <a:cs typeface="Aptos" pitchFamily="34" charset="-120"/>
              </a:rPr>
              <a:t>Vendors may claim standards support without demonstrating required profiles, data elements, or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conformance testing, test messages, implementation guide references, and acceptance.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standards claims.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Guardrails include conformance testing, test messages, implementation guide references,.</a:t>
            </a:r>
            <a:endParaRPr lang="en-US" sz="1380" dirty="0"/>
          </a:p>
          <a:p>
            <a:r>
              <a:rPr lang="en-US" sz="1380" dirty="0">
                <a:solidFill>
                  <a:srgbClr val="17364A"/>
                </a:solidFill>
                <a:latin typeface="Aptos" pitchFamily="34" charset="0"/>
                <a:ea typeface="Aptos" pitchFamily="34" charset="-122"/>
                <a:cs typeface="Aptos" pitchFamily="34" charset="-120"/>
              </a:rPr>
              <a:t>Manual workarounds.</a:t>
            </a:r>
            <a:endParaRPr lang="en-US" sz="1380" dirty="0"/>
          </a:p>
          <a:p>
            <a:r>
              <a:rPr lang="en-US" sz="1380" dirty="0">
                <a:solidFill>
                  <a:srgbClr val="17364A"/>
                </a:solidFill>
                <a:latin typeface="Aptos" pitchFamily="34" charset="0"/>
                <a:ea typeface="Aptos" pitchFamily="34" charset="-122"/>
                <a:cs typeface="Aptos" pitchFamily="34" charset="-120"/>
              </a:rPr>
              <a:t>Weak interoperability can lead to copying and pasting sensitive data into AI tools.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Over-reliance on structured data.</a:t>
            </a:r>
            <a:endParaRPr lang="en-US" sz="2100" dirty="0"/>
          </a:p>
          <a:p>
            <a:r>
              <a:rPr lang="en-US" sz="210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workflow validation, and documentation of known data gaps.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Over-reliance on structured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Over-reliance on structured data.</a:t>
            </a:r>
            <a:endParaRPr lang="en-US" sz="1380" dirty="0"/>
          </a:p>
          <a:p>
            <a:r>
              <a:rPr lang="en-US" sz="138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1380" dirty="0"/>
          </a:p>
          <a:p>
            <a:r>
              <a:rPr lang="en-US" sz="1380" dirty="0">
                <a:solidFill>
                  <a:srgbClr val="17364A"/>
                </a:solidFill>
                <a:latin typeface="Aptos" pitchFamily="34" charset="0"/>
                <a:ea typeface="Aptos" pitchFamily="34" charset="-122"/>
                <a:cs typeface="Aptos" pitchFamily="34" charset="-120"/>
              </a:rPr>
              <a:t>Guardrails include source review, workflow validation, and documentation of known data gaps.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depend on standardized fields and terminology, so interoperability gaps can.</a:t>
            </a:r>
            <a:endParaRPr lang="en-US" sz="2100" dirty="0"/>
          </a:p>
          <a:p>
            <a:r>
              <a:rPr lang="en-US" sz="2100" dirty="0">
                <a:solidFill>
                  <a:srgbClr val="17364A"/>
                </a:solidFill>
                <a:latin typeface="Aptos" pitchFamily="34" charset="0"/>
                <a:ea typeface="Aptos" pitchFamily="34" charset="-122"/>
                <a:cs typeface="Aptos" pitchFamily="34" charset="-120"/>
              </a:rPr>
              <a:t>RAG tools may retrieve implementation guides or agency protocols, but document governance is needed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summarize structured and narrative data received through interoperable.</a:t>
            </a:r>
            <a:endParaRPr lang="en-US" sz="1380" dirty="0"/>
          </a:p>
          <a:p>
            <a:r>
              <a:rPr lang="en-US" sz="1380" dirty="0">
                <a:solidFill>
                  <a:srgbClr val="17364A"/>
                </a:solidFill>
                <a:latin typeface="Aptos" pitchFamily="34" charset="0"/>
                <a:ea typeface="Aptos" pitchFamily="34" charset="-122"/>
                <a:cs typeface="Aptos" pitchFamily="34" charset="-120"/>
              </a:rPr>
              <a:t>Predictive analytics may depend on standardized fields and terminology, so.</a:t>
            </a:r>
            <a:endParaRPr lang="en-US" sz="1380" dirty="0"/>
          </a:p>
          <a:p>
            <a:r>
              <a:rPr lang="en-US" sz="1380" dirty="0">
                <a:solidFill>
                  <a:srgbClr val="17364A"/>
                </a:solidFill>
                <a:latin typeface="Aptos" pitchFamily="34" charset="0"/>
                <a:ea typeface="Aptos" pitchFamily="34" charset="-122"/>
                <a:cs typeface="Aptos" pitchFamily="34" charset="-120"/>
              </a:rPr>
              <a:t>RAG tools may retrieve implementation guides or agency protocols, but document governance.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2100" dirty="0"/>
          </a:p>
          <a:p>
            <a:r>
              <a:rPr lang="en-US" sz="2100" dirty="0">
                <a:solidFill>
                  <a:srgbClr val="17364A"/>
                </a:solidFill>
                <a:latin typeface="Aptos" pitchFamily="34" charset="0"/>
                <a:ea typeface="Aptos" pitchFamily="34" charset="-122"/>
                <a:cs typeface="Aptos" pitchFamily="34" charset="-120"/>
              </a:rPr>
              <a:t>Which workflows still depend on manual uploads or copy-paste processes?</a:t>
            </a:r>
            <a:endParaRPr lang="en-US" sz="2100" dirty="0"/>
          </a:p>
          <a:p>
            <a:r>
              <a:rPr lang="en-US" sz="210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380" dirty="0"/>
          </a:p>
          <a:p>
            <a:r>
              <a:rPr lang="en-US" sz="1380" dirty="0">
                <a:solidFill>
                  <a:srgbClr val="17364A"/>
                </a:solidFill>
                <a:latin typeface="Aptos" pitchFamily="34" charset="0"/>
                <a:ea typeface="Aptos" pitchFamily="34" charset="-122"/>
                <a:cs typeface="Aptos" pitchFamily="34" charset="-120"/>
              </a:rPr>
              <a:t>Which workflows still depend on manual uploads or copy-paste processes?</a:t>
            </a:r>
            <a:endParaRPr lang="en-US" sz="1380" dirty="0"/>
          </a:p>
          <a:p>
            <a:r>
              <a:rPr lang="en-US" sz="138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terminology standards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How would interoperability gaps affect AI outputs or equity?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terminology standards are required for the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terminology standards are required for the workflow?</a:t>
            </a:r>
            <a:endParaRPr lang="en-US" sz="1380" dirty="0"/>
          </a:p>
          <a:p>
            <a:r>
              <a:rPr lang="en-US" sz="1380" dirty="0">
                <a:solidFill>
                  <a:srgbClr val="17364A"/>
                </a:solidFill>
                <a:latin typeface="Aptos" pitchFamily="34" charset="0"/>
                <a:ea typeface="Aptos" pitchFamily="34" charset="-122"/>
                <a:cs typeface="Aptos" pitchFamily="34" charset="-120"/>
              </a:rPr>
              <a:t>How would interoperability gaps affect AI outputs or equity?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sending and receiving systems, exchange standard, required data elements, terminology.</a:t>
            </a:r>
            <a:endParaRPr lang="en-US" sz="2100" dirty="0"/>
          </a:p>
          <a:p>
            <a:r>
              <a:rPr lang="en-US" sz="2100" dirty="0">
                <a:solidFill>
                  <a:srgbClr val="17364A"/>
                </a:solidFill>
                <a:latin typeface="Aptos" pitchFamily="34" charset="0"/>
                <a:ea typeface="Aptos" pitchFamily="34" charset="-122"/>
                <a:cs typeface="Aptos" pitchFamily="34" charset="-120"/>
              </a:rPr>
              <a:t>Include at least one test scenario that would show whether the exchange supports the public health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sending and receiving systems, exchange standard, required data elements,.</a:t>
            </a:r>
            <a:endParaRPr lang="en-US" sz="1380" dirty="0"/>
          </a:p>
          <a:p>
            <a:r>
              <a:rPr lang="en-US" sz="1380" dirty="0">
                <a:solidFill>
                  <a:srgbClr val="17364A"/>
                </a:solidFill>
                <a:latin typeface="Aptos" pitchFamily="34" charset="0"/>
                <a:ea typeface="Aptos" pitchFamily="34" charset="-122"/>
                <a:cs typeface="Aptos" pitchFamily="34" charset="-120"/>
              </a:rPr>
              <a:t>Include at least one test scenario that would show whether the exchange supports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Interoperability checklist</a:t>
            </a:r>
            <a:endParaRPr lang="en-US" sz="1380" dirty="0"/>
          </a:p>
          <a:p>
            <a:r>
              <a:rPr lang="en-US" sz="1380" dirty="0">
                <a:solidFill>
                  <a:srgbClr val="17364A"/>
                </a:solidFill>
                <a:latin typeface="Aptos" pitchFamily="34" charset="0"/>
                <a:ea typeface="Aptos" pitchFamily="34" charset="-122"/>
                <a:cs typeface="Aptos" pitchFamily="34" charset="-120"/>
              </a:rPr>
              <a:t>Data exchange diagram</a:t>
            </a:r>
            <a:endParaRPr lang="en-US" sz="1380" dirty="0"/>
          </a:p>
          <a:p>
            <a:r>
              <a:rPr lang="en-US" sz="1380" dirty="0">
                <a:solidFill>
                  <a:srgbClr val="17364A"/>
                </a:solidFill>
                <a:latin typeface="Aptos" pitchFamily="34" charset="0"/>
                <a:ea typeface="Aptos" pitchFamily="34" charset="-122"/>
                <a:cs typeface="Aptos" pitchFamily="34" charset="-120"/>
              </a:rPr>
              <a:t>Vendor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Test scenario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Test scenario and acceptance criteria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Test scenario and acceptance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Interoperability checklist</a:t>
            </a:r>
            <a:endParaRPr lang="en-US" sz="1380" dirty="0"/>
          </a:p>
          <a:p>
            <a:r>
              <a:rPr lang="en-US" sz="1380" dirty="0">
                <a:solidFill>
                  <a:srgbClr val="17364A"/>
                </a:solidFill>
                <a:latin typeface="Aptos" pitchFamily="34" charset="0"/>
                <a:ea typeface="Aptos" pitchFamily="34" charset="-122"/>
                <a:cs typeface="Aptos" pitchFamily="34" charset="-120"/>
              </a:rPr>
              <a:t>Data exchange diagram</a:t>
            </a:r>
            <a:endParaRPr lang="en-US" sz="1380" dirty="0"/>
          </a:p>
          <a:p>
            <a:r>
              <a:rPr lang="en-US" sz="1380" dirty="0">
                <a:solidFill>
                  <a:srgbClr val="17364A"/>
                </a:solidFill>
                <a:latin typeface="Aptos" pitchFamily="34" charset="0"/>
                <a:ea typeface="Aptos" pitchFamily="34" charset="-122"/>
                <a:cs typeface="Aptos" pitchFamily="34" charset="-120"/>
              </a:rPr>
              <a:t>Vendor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2. What is FHIR commonly used for?</a:t>
            </a:r>
            <a:endParaRPr lang="en-US" sz="2100" dirty="0"/>
          </a:p>
          <a:p>
            <a:r>
              <a:rPr lang="en-US" sz="2100" dirty="0">
                <a:solidFill>
                  <a:srgbClr val="17364A"/>
                </a:solidFill>
                <a:latin typeface="Aptos" pitchFamily="34" charset="0"/>
                <a:ea typeface="Aptos" pitchFamily="34" charset="-122"/>
                <a:cs typeface="Aptos" pitchFamily="34" charset="-120"/>
              </a:rPr>
              <a:t>3. What is an implementation guide?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does interoperability matter for AI-supported public health workflows?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and implementation guides: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and implementation guides: https://hl7.org/fhir/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a:p>
            <a:r>
              <a:rPr lang="en-US" sz="1380" dirty="0">
                <a:solidFill>
                  <a:srgbClr val="17364A"/>
                </a:solidFill>
                <a:latin typeface="Aptos" pitchFamily="34" charset="0"/>
                <a:ea typeface="Aptos" pitchFamily="34" charset="-122"/>
                <a:cs typeface="Aptos" pitchFamily="34" charset="-120"/>
              </a:rPr>
              <a:t>Public health implementation guides for eCR, ELR, IIS, and syndromic surveillance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2026-07-13T02:11:42Z</dcterms:created>
  <dcterms:modified xsi:type="dcterms:W3CDTF">2026-07-13T02:11:42Z</dcterms:modified>
</cp:coreProperties>
</file>