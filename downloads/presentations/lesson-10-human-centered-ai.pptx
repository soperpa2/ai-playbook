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b91d7789074cd5" /><Relationship Type="http://schemas.openxmlformats.org/officeDocument/2006/relationships/extended-properties" Target="/docProps/app.xml" Id="R5fa0937d05da449c" /><Relationship Type="http://schemas.openxmlformats.org/officeDocument/2006/relationships/officeDocument" Target="/ppt/presentation.xml" Id="R71aaf766b1b24622" /></Relationships>
</file>

<file path=ppt/presentation.xml><?xml version="1.0" encoding="utf-8"?>
<p:presentation xmlns:p="http://schemas.openxmlformats.org/presentationml/2006/main">
  <p:sldMasterIdLst>
    <p:sldMasterId xmlns:r="http://schemas.openxmlformats.org/officeDocument/2006/relationships" id="2147483648" r:id="R2866fa0c20e64b9b"/>
  </p:sldMasterIdLst>
  <p:notesMasterIdLst>
    <p:notesMasterId xmlns:r="http://schemas.openxmlformats.org/officeDocument/2006/relationships" r:id="R4a58332e193c41f4"/>
  </p:notesMasterIdLst>
  <p:sldIdLst>
    <p:sldId xmlns:r="http://schemas.openxmlformats.org/officeDocument/2006/relationships" id="256" r:id="R79f5b0c734ea4690"/>
    <p:sldId xmlns:r="http://schemas.openxmlformats.org/officeDocument/2006/relationships" id="257" r:id="R78b52d2bd0294ae7"/>
    <p:sldId xmlns:r="http://schemas.openxmlformats.org/officeDocument/2006/relationships" id="258" r:id="Rc822c9eeb1504b17"/>
    <p:sldId xmlns:r="http://schemas.openxmlformats.org/officeDocument/2006/relationships" id="259" r:id="R87173d6d937143f5"/>
    <p:sldId xmlns:r="http://schemas.openxmlformats.org/officeDocument/2006/relationships" id="260" r:id="R92df736f348747bf"/>
    <p:sldId xmlns:r="http://schemas.openxmlformats.org/officeDocument/2006/relationships" id="261" r:id="Rfbf6a1137c38449a"/>
    <p:sldId xmlns:r="http://schemas.openxmlformats.org/officeDocument/2006/relationships" id="262" r:id="R53fc16b14f5246ed"/>
    <p:sldId xmlns:r="http://schemas.openxmlformats.org/officeDocument/2006/relationships" id="263" r:id="Re09b8c1a790c467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0de8e7c53144fa" /><Relationship Type="http://schemas.openxmlformats.org/officeDocument/2006/relationships/slideMaster" Target="/ppt/slideMasters/slideMaster1.xml" Id="R2866fa0c20e64b9b" /><Relationship Type="http://schemas.openxmlformats.org/officeDocument/2006/relationships/notesMaster" Target="/ppt/notesMasters/notesMaster1.xml" Id="R4a58332e193c41f4" /><Relationship Type="http://schemas.openxmlformats.org/officeDocument/2006/relationships/presProps" Target="/ppt/presProps.xml" Id="Rfa995d278bc544a8" /><Relationship Type="http://schemas.openxmlformats.org/officeDocument/2006/relationships/tableStyles" Target="/ppt/tableStyles.xml" Id="R348f01a9457b4714" /><Relationship Type="http://schemas.openxmlformats.org/officeDocument/2006/relationships/slide" Target="/ppt/slides/slide1.xml" Id="R79f5b0c734ea4690" /><Relationship Type="http://schemas.openxmlformats.org/officeDocument/2006/relationships/slide" Target="/ppt/slides/slide2.xml" Id="R78b52d2bd0294ae7" /><Relationship Type="http://schemas.openxmlformats.org/officeDocument/2006/relationships/slide" Target="/ppt/slides/slide3.xml" Id="Rc822c9eeb1504b17" /><Relationship Type="http://schemas.openxmlformats.org/officeDocument/2006/relationships/slide" Target="/ppt/slides/slide4.xml" Id="R87173d6d937143f5" /><Relationship Type="http://schemas.openxmlformats.org/officeDocument/2006/relationships/slide" Target="/ppt/slides/slide5.xml" Id="R92df736f348747bf" /><Relationship Type="http://schemas.openxmlformats.org/officeDocument/2006/relationships/slide" Target="/ppt/slides/slide6.xml" Id="Rfbf6a1137c38449a" /><Relationship Type="http://schemas.openxmlformats.org/officeDocument/2006/relationships/slide" Target="/ppt/slides/slide7.xml" Id="R53fc16b14f5246ed" /><Relationship Type="http://schemas.openxmlformats.org/officeDocument/2006/relationships/slide" Target="/ppt/slides/slide8.xml" Id="Re09b8c1a790c46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873567a7b145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b6488039924e44" /><Relationship Type="http://schemas.openxmlformats.org/officeDocument/2006/relationships/notesMaster" Target="/ppt/notesMasters/notesMaster1.xml" Id="Rc1581eb038b944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2d9504a6e3455e" /><Relationship Type="http://schemas.openxmlformats.org/officeDocument/2006/relationships/notesMaster" Target="/ppt/notesMasters/notesMaster1.xml" Id="Rbb91bb4bf69443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f31dd7decb45c0" /><Relationship Type="http://schemas.openxmlformats.org/officeDocument/2006/relationships/notesMaster" Target="/ppt/notesMasters/notesMaster1.xml" Id="Rda36edefb62746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d259ca0b9a40f8" /><Relationship Type="http://schemas.openxmlformats.org/officeDocument/2006/relationships/notesMaster" Target="/ppt/notesMasters/notesMaster1.xml" Id="Rf1e8fd6d3a284b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cd6715b3d24ffb" /><Relationship Type="http://schemas.openxmlformats.org/officeDocument/2006/relationships/notesMaster" Target="/ppt/notesMasters/notesMaster1.xml" Id="R3f8fd9ff381243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100b552d064ff5" /><Relationship Type="http://schemas.openxmlformats.org/officeDocument/2006/relationships/notesMaster" Target="/ppt/notesMasters/notesMaster1.xml" Id="Rcad360bb654648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599787cdd4415e" /><Relationship Type="http://schemas.openxmlformats.org/officeDocument/2006/relationships/notesMaster" Target="/ppt/notesMasters/notesMaster1.xml" Id="Rbd8b04060c914a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20158d09cd408e" /><Relationship Type="http://schemas.openxmlformats.org/officeDocument/2006/relationships/notesMaster" Target="/ppt/notesMasters/notesMaster1.xml" Id="R1145a96cfea44c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Human-Centered AI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Human-centered AI keeps public health professionals, affected communities, and accountable decision-makers at the center of design, review, and action.</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Human-Centered AI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1, 7, 11, 12, 13 and Tools 6, 19, 41.</a:t>
            </a:r>
          </a:p>
          <a:p xmlns:a="http://schemas.openxmlformats.org/drawingml/2006/main">
            <a:r>
              <a:t>Emphasize the core guardrail: AI should support judgment, not replace community relationships, public accountability, or final decisions in consequential workflows.</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Human-Centered AI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1, 7, 11, 12, 13 and Tools 6, 19, 41.</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Human-Centered AI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1, 7, 11, 12, 13 and Tools 6, 19, 41.</a:t>
            </a:r>
          </a:p>
          <a:p xmlns:a="http://schemas.openxmlformats.org/drawingml/2006/main">
            <a:r>
              <a:t>Reinforce this definition: Definition: Human-centered AI is designed to assist people, not displace accountability. Public health staff, communities, and accountable leaders remain responsible for interpretation, judgment, relationship-building, and consequential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Human-Centered AI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1, 7, 11, 12, 13 and Tools 6, 19, 41.</a:t>
            </a:r>
          </a:p>
          <a:p xmlns:a="http://schemas.openxmlformats.org/drawingml/2006/main">
            <a:r>
              <a:t>Invite participants to identify where these practices would need to be documented in their own department.</a:t>
            </a:r>
          </a:p>
          <a:p xmlns:a="http://schemas.openxmlformats.org/drawingml/2006/main">
            <a:r>
              <a:t>Start with Design Principles,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Human-Centered AI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1, 7, 11, 12, 13 and Tools 6, 19, 41.</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Human-Centered AI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1, 7, 11, 12, 13 and Tools 6, 19, 41.</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Human decision rule, User and community needs summary, Appeal, correction, or feedback pathway.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Human-Centered AI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1, 7, 11, 12, 13 and Tools 6, 19, 41.</a:t>
            </a:r>
          </a:p>
          <a:p xmlns:a="http://schemas.openxmlformats.org/drawingml/2006/main">
            <a:r>
              <a:t>Point participants to the first resource: Blueprint for an AI Bill of Rights.</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9e45b392eb45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2510ca20f447ef" /><Relationship Type="http://schemas.openxmlformats.org/officeDocument/2006/relationships/slideLayout" Target="/ppt/slideLayouts/slideLayout1.xml" Id="R0086b193fdbb46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86b193fdbb46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7836232d4d4a2e" /><Relationship Type="http://schemas.openxmlformats.org/officeDocument/2006/relationships/image" Target="/ppt/media/image.png" Id="R40d2cd43d7b545af" /><Relationship Type="http://schemas.openxmlformats.org/officeDocument/2006/relationships/notesSlide" Target="/ppt/notesSlides/notesSlide1.xml" Id="Ra9db123314e24f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f01e28067c74278" /><Relationship Type="http://schemas.openxmlformats.org/officeDocument/2006/relationships/notesSlide" Target="/ppt/notesSlides/notesSlide2.xml" Id="R5ccf7d4fa2344d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7fff1301f54bad" /><Relationship Type="http://schemas.openxmlformats.org/officeDocument/2006/relationships/notesSlide" Target="/ppt/notesSlides/notesSlide3.xml" Id="R3620c26780e245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f20b9a94634748" /><Relationship Type="http://schemas.openxmlformats.org/officeDocument/2006/relationships/notesSlide" Target="/ppt/notesSlides/notesSlide4.xml" Id="R9a9eb2e7498249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fd2ac2e3c04c1e" /><Relationship Type="http://schemas.openxmlformats.org/officeDocument/2006/relationships/notesSlide" Target="/ppt/notesSlides/notesSlide5.xml" Id="Rdf9831fb1ac54e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05c0df2c4c145a4" /><Relationship Type="http://schemas.openxmlformats.org/officeDocument/2006/relationships/notesSlide" Target="/ppt/notesSlides/notesSlide6.xml" Id="Rfa1889ef35ab44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f4aad50aa3c4f44" /><Relationship Type="http://schemas.openxmlformats.org/officeDocument/2006/relationships/notesSlide" Target="/ppt/notesSlides/notesSlide7.xml" Id="R06800983863742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9492e41c5d445dd" /><Relationship Type="http://schemas.openxmlformats.org/officeDocument/2006/relationships/notesSlide" Target="/ppt/notesSlides/notesSlide8.xml" Id="R38ccb36818144086"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0d2cd43d7b545af"/>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4FC21DC-91C4-411F-BEC1-EB3EA2B1A4EA}"/>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10</a:t>
            </a:r>
          </a:p>
        </p:txBody>
      </p:sp>
      <p:sp>
        <p:nvSpPr>
          <p:cNvPr id="3" name="">
            <a:extLst xmlns:a="http://schemas.openxmlformats.org/drawingml/2006/main">
              <a:ext uri="{FF2B5EF4-FFF2-40B4-BE49-F238E27FC236}">
                <a16:creationId xmlns:a16="http://schemas.microsoft.com/office/drawing/2014/main" id="{30562B1D-C6BD-44F7-B562-C621B75C5671}"/>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Human-Centered AI</a:t>
            </a:r>
          </a:p>
        </p:txBody>
      </p:sp>
      <p:sp>
        <p:nvSpPr>
          <p:cNvPr id="4" name="">
            <a:extLst xmlns:a="http://schemas.openxmlformats.org/drawingml/2006/main">
              <a:ext uri="{FF2B5EF4-FFF2-40B4-BE49-F238E27FC236}">
                <a16:creationId xmlns:a16="http://schemas.microsoft.com/office/drawing/2014/main" id="{0394409A-4A16-4820-B251-8C4DC25AF8D4}"/>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9D23C861-E737-4531-A515-B89B4831DD1B}"/>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DAF2BFC7-E000-4B65-916D-7BA658798210}"/>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3580745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C90083F-ADE5-4035-9285-A88A68BAA5E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0650617-F258-400B-8EA7-1F9E66EF41C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13F08C86-6080-43BB-8406-5745E005183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13DF491E-CA29-4929-A425-83B97D44C3DD}"/>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Human-centered AI keeps public health professionals, affected communities, and accountable decision-makers at the center of design, review, and action.</a:t>
            </a:r>
          </a:p>
        </p:txBody>
      </p:sp>
      <p:sp>
        <p:nvSpPr>
          <p:cNvPr id="5" name="">
            <a:extLst xmlns:a="http://schemas.openxmlformats.org/drawingml/2006/main">
              <a:ext uri="{FF2B5EF4-FFF2-40B4-BE49-F238E27FC236}">
                <a16:creationId xmlns:a16="http://schemas.microsoft.com/office/drawing/2014/main" id="{39DE32AC-F450-4706-8839-77475381CB2B}"/>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92E83218-2A0C-44F4-B726-1E4CC80AE768}"/>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9D6B26C8-B0B6-44CC-9F34-66A8B23C582A}"/>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6D97112B-9F95-4C7D-A01F-31F9196E1514}"/>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Human-centered AI keeps public health purpose, staff expertise, and community accountability at the center. This is especially important when AI affects outreach, communication, prioritization, inspections, surveillance, or services.</a:t>
            </a:r>
          </a:p>
        </p:txBody>
      </p:sp>
      <p:sp>
        <p:nvSpPr>
          <p:cNvPr id="9" name="">
            <a:extLst xmlns:a="http://schemas.openxmlformats.org/drawingml/2006/main">
              <a:ext uri="{FF2B5EF4-FFF2-40B4-BE49-F238E27FC236}">
                <a16:creationId xmlns:a16="http://schemas.microsoft.com/office/drawing/2014/main" id="{1013F75F-11EA-4DBC-BFBE-5173CB2938F6}"/>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06F232FA-81E7-4F5E-B575-DB5F821A673D}"/>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5066DD52-7503-4F60-B7E4-7E608120F307}"/>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DAF682CE-9C42-41BB-8585-3FC3EB11ED1F}"/>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should support judgment, not replace community relationships, public accountability, or final decisions in consequential workflows.</a:t>
            </a:r>
          </a:p>
        </p:txBody>
      </p:sp>
      <p:sp>
        <p:nvSpPr>
          <p:cNvPr id="13" name="">
            <a:extLst xmlns:a="http://schemas.openxmlformats.org/drawingml/2006/main">
              <a:ext uri="{FF2B5EF4-FFF2-40B4-BE49-F238E27FC236}">
                <a16:creationId xmlns:a16="http://schemas.microsoft.com/office/drawing/2014/main" id="{ADC93E09-9EC7-42B7-B00B-84D34B351AB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Human-Centered AI</a:t>
            </a:r>
          </a:p>
        </p:txBody>
      </p:sp>
      <p:sp>
        <p:nvSpPr>
          <p:cNvPr id="14" name="">
            <a:extLst xmlns:a="http://schemas.openxmlformats.org/drawingml/2006/main">
              <a:ext uri="{FF2B5EF4-FFF2-40B4-BE49-F238E27FC236}">
                <a16:creationId xmlns:a16="http://schemas.microsoft.com/office/drawing/2014/main" id="{3054457F-7674-4ADF-A562-DCBB2B5C6E62}"/>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705771950"/>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20030FF-4E10-4D24-8E23-F487760D27C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E1BCF80-6460-45AC-ACF9-3C3BF30B8F1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E2E99EB8-1260-44F1-8359-47A3CE78C33C}"/>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F941C4E-F4C9-483C-B8C6-D04D73AA95CB}"/>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E991603A-58C4-4633-9A9E-B9F7ED49C77F}"/>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Human-Centered AI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BF55F9AC-D96A-4BFB-98D8-5882987A4DA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Human-Centered AI</a:t>
            </a:r>
          </a:p>
        </p:txBody>
      </p:sp>
      <p:sp>
        <p:nvSpPr>
          <p:cNvPr id="7" name="">
            <a:extLst xmlns:a="http://schemas.openxmlformats.org/drawingml/2006/main">
              <a:ext uri="{FF2B5EF4-FFF2-40B4-BE49-F238E27FC236}">
                <a16:creationId xmlns:a16="http://schemas.microsoft.com/office/drawing/2014/main" id="{26E901D7-B493-4B59-8E56-EF4A495EBA0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4253288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70C5CFA-1E49-4612-8D16-976E6088607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BEDF596-940A-4DC5-A200-234B618BA74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AE4119C5-8503-4375-B657-D42A0617C13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E05420E3-67ED-418F-AACB-E3A9DC64C8EE}"/>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Human-centered AI begins with the people affected by a workflow: public health staff, community members, partners, and decision-makers. The goal is not to automate as much as possible. The goal is to improve public health work while preserving human judgment, relationships, dignity, explainability, and accountability.</a:t>
            </a:r>
          </a:p>
        </p:txBody>
      </p:sp>
      <p:sp>
        <p:nvSpPr>
          <p:cNvPr id="5" name="">
            <a:extLst xmlns:a="http://schemas.openxmlformats.org/drawingml/2006/main">
              <a:ext uri="{FF2B5EF4-FFF2-40B4-BE49-F238E27FC236}">
                <a16:creationId xmlns:a16="http://schemas.microsoft.com/office/drawing/2014/main" id="{6A43E1E5-AFE7-48E5-BB27-BBCC0F3AC1C8}"/>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50976D4E-FC13-48CD-82A4-1FD9B4223E44}"/>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B2996CAE-7098-4E00-B0E6-3416C2F22FA8}"/>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Key definition</a:t>
            </a:r>
          </a:p>
        </p:txBody>
      </p:sp>
      <p:sp>
        <p:nvSpPr>
          <p:cNvPr id="8" name="">
            <a:extLst xmlns:a="http://schemas.openxmlformats.org/drawingml/2006/main">
              <a:ext uri="{FF2B5EF4-FFF2-40B4-BE49-F238E27FC236}">
                <a16:creationId xmlns:a16="http://schemas.microsoft.com/office/drawing/2014/main" id="{6FB8845D-2946-4CCB-9BC7-CD40FD6737BB}"/>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Definition: Human-centered AI is designed to assist people, not displace accountability. Public health staff, communities, and accountable leaders remain responsible for interpretation, judgment, relationship-building, and consequential.</a:t>
            </a:r>
          </a:p>
        </p:txBody>
      </p:sp>
      <p:sp>
        <p:nvSpPr>
          <p:cNvPr id="9" name="">
            <a:extLst xmlns:a="http://schemas.openxmlformats.org/drawingml/2006/main">
              <a:ext uri="{FF2B5EF4-FFF2-40B4-BE49-F238E27FC236}">
                <a16:creationId xmlns:a16="http://schemas.microsoft.com/office/drawing/2014/main" id="{7087AE4E-5FBB-4825-BE36-2AC19313679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Human-Centered AI</a:t>
            </a:r>
          </a:p>
        </p:txBody>
      </p:sp>
      <p:sp>
        <p:nvSpPr>
          <p:cNvPr id="10" name="">
            <a:extLst xmlns:a="http://schemas.openxmlformats.org/drawingml/2006/main">
              <a:ext uri="{FF2B5EF4-FFF2-40B4-BE49-F238E27FC236}">
                <a16:creationId xmlns:a16="http://schemas.microsoft.com/office/drawing/2014/main" id="{0D9BF2A3-8FEC-4DD8-8257-6F7D291C556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522293971"/>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D15E9B1-9971-46D5-A95E-9A171AB80FF0}"/>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B17CAF0-AE9B-4D54-B8DF-DE87B381BBF0}"/>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42156FCE-7D54-4013-9C53-C6FBFFDC77B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E201865-B701-483F-A4DF-C18F355EC7F4}"/>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1DB31207-B4FE-47D1-A8A5-4A74409D3D5A}"/>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5F2FCB75-893C-4CE9-94FE-0470DC5377E3}"/>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Design Principles</a:t>
            </a:r>
          </a:p>
        </p:txBody>
      </p:sp>
      <p:sp>
        <p:nvSpPr>
          <p:cNvPr id="7" name="">
            <a:extLst xmlns:a="http://schemas.openxmlformats.org/drawingml/2006/main">
              <a:ext uri="{FF2B5EF4-FFF2-40B4-BE49-F238E27FC236}">
                <a16:creationId xmlns:a16="http://schemas.microsoft.com/office/drawing/2014/main" id="{D0338839-82E3-416B-8514-EA91989318E6}"/>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Start with a public health problem and affected users, not with a tool. Define what humans must decide, approve, explain, or correct. Make AI outputs reviewable, editable, and contestable. Design for the staff who will use the system and the.</a:t>
            </a:r>
          </a:p>
        </p:txBody>
      </p:sp>
      <p:sp>
        <p:nvSpPr>
          <p:cNvPr id="8" name="">
            <a:extLst xmlns:a="http://schemas.openxmlformats.org/drawingml/2006/main">
              <a:ext uri="{FF2B5EF4-FFF2-40B4-BE49-F238E27FC236}">
                <a16:creationId xmlns:a16="http://schemas.microsoft.com/office/drawing/2014/main" id="{A4AE5CDA-599E-4330-A4FA-026725661D97}"/>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05FA11F4-EC94-4617-9D5E-53B598C5DCB5}"/>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D04D7A1F-36CB-4196-B46A-10F42630B22E}"/>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Workflow Practices</a:t>
            </a:r>
          </a:p>
        </p:txBody>
      </p:sp>
      <p:sp>
        <p:nvSpPr>
          <p:cNvPr id="11" name="">
            <a:extLst xmlns:a="http://schemas.openxmlformats.org/drawingml/2006/main">
              <a:ext uri="{FF2B5EF4-FFF2-40B4-BE49-F238E27FC236}">
                <a16:creationId xmlns:a16="http://schemas.microsoft.com/office/drawing/2014/main" id="{11C5A8BA-3E41-47F4-8307-1C1D37050E12}"/>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Name the decision owner for every AI-supported workflow. Require expert review before public-facing communication, enforcement, resource allocation, or clinical/care coordination action. Document correction, appeal, complaint, and escalation.</a:t>
            </a:r>
          </a:p>
        </p:txBody>
      </p:sp>
      <p:sp>
        <p:nvSpPr>
          <p:cNvPr id="12" name="">
            <a:extLst xmlns:a="http://schemas.openxmlformats.org/drawingml/2006/main">
              <a:ext uri="{FF2B5EF4-FFF2-40B4-BE49-F238E27FC236}">
                <a16:creationId xmlns:a16="http://schemas.microsoft.com/office/drawing/2014/main" id="{B40810BB-C748-4587-80A6-22CC0554207E}"/>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008427B0-457C-42C8-86EF-8095F35B6CBC}"/>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CD47F08E-457F-4D8E-8D4F-88908BA9A75E}"/>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Community Accountability</a:t>
            </a:r>
          </a:p>
        </p:txBody>
      </p:sp>
      <p:sp>
        <p:nvSpPr>
          <p:cNvPr id="15" name="">
            <a:extLst xmlns:a="http://schemas.openxmlformats.org/drawingml/2006/main">
              <a:ext uri="{FF2B5EF4-FFF2-40B4-BE49-F238E27FC236}">
                <a16:creationId xmlns:a16="http://schemas.microsoft.com/office/drawing/2014/main" id="{0C0FA96A-F79D-4D69-9D81-7D0902D533A1}"/>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engagement to identify concerns before launch, especially for high-impact or community-facing systems. Explain AI use in plain language and invite feedback. Avoid deploying systems where affected people cannot understand or challenge the.</a:t>
            </a:r>
          </a:p>
        </p:txBody>
      </p:sp>
      <p:sp>
        <p:nvSpPr>
          <p:cNvPr id="16" name="">
            <a:extLst xmlns:a="http://schemas.openxmlformats.org/drawingml/2006/main">
              <a:ext uri="{FF2B5EF4-FFF2-40B4-BE49-F238E27FC236}">
                <a16:creationId xmlns:a16="http://schemas.microsoft.com/office/drawing/2014/main" id="{284118E2-1BAF-4BD7-8E5D-B36013C0C244}"/>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Human-Centered AI</a:t>
            </a:r>
          </a:p>
        </p:txBody>
      </p:sp>
      <p:sp>
        <p:nvSpPr>
          <p:cNvPr id="17" name="">
            <a:extLst xmlns:a="http://schemas.openxmlformats.org/drawingml/2006/main">
              <a:ext uri="{FF2B5EF4-FFF2-40B4-BE49-F238E27FC236}">
                <a16:creationId xmlns:a16="http://schemas.microsoft.com/office/drawing/2014/main" id="{687A2CCC-55D1-4A9E-A3BF-B79F24FA7E0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0570795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0B97906-9B38-483C-AAA8-B16FB1C82B7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DE38B5E-A0FE-44E8-9E1B-79E6B44F2D4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99AD9390-5EE7-4FBF-ACAD-DC930F0D9A1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439D8FF-7158-4161-BC8E-580ED328A157}"/>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D87F41B3-2D7A-4E01-BB2E-CCDAF0B80AE5}"/>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99E6D494-F966-44BB-93D0-79BAAD105715}"/>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A0326BF6-C084-411D-94EB-59EFFB00134D}"/>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Define human decision owners</a:t>
            </a:r>
          </a:p>
        </p:txBody>
      </p:sp>
      <p:sp>
        <p:nvSpPr>
          <p:cNvPr id="8" name="">
            <a:extLst xmlns:a="http://schemas.openxmlformats.org/drawingml/2006/main">
              <a:ext uri="{FF2B5EF4-FFF2-40B4-BE49-F238E27FC236}">
                <a16:creationId xmlns:a16="http://schemas.microsoft.com/office/drawing/2014/main" id="{3CABD10C-3986-49D4-9367-5953DC449963}"/>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5EA51267-3652-438C-883F-6531EFD11F49}"/>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E98C7F6B-BAE9-49DB-B036-FC1BCCA86854}"/>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CDA0EFCA-786A-4055-8D11-CB32A974F904}"/>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Require expert review before public communications</a:t>
            </a:r>
          </a:p>
        </p:txBody>
      </p:sp>
      <p:sp>
        <p:nvSpPr>
          <p:cNvPr id="12" name="">
            <a:extLst xmlns:a="http://schemas.openxmlformats.org/drawingml/2006/main">
              <a:ext uri="{FF2B5EF4-FFF2-40B4-BE49-F238E27FC236}">
                <a16:creationId xmlns:a16="http://schemas.microsoft.com/office/drawing/2014/main" id="{BA77ADE3-FFCE-4D2A-84F0-46A4A5EC333F}"/>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39D594A6-9BE5-450C-B253-12497BE14AE3}"/>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B687F69B-981D-4BE0-9FA3-3DA0A2FCAC26}"/>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D960CC3B-8F15-4049-AD46-DF72A1E2A3CD}"/>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Document appeal or correction pathways</a:t>
            </a:r>
          </a:p>
        </p:txBody>
      </p:sp>
      <p:sp>
        <p:nvSpPr>
          <p:cNvPr id="16" name="">
            <a:extLst xmlns:a="http://schemas.openxmlformats.org/drawingml/2006/main">
              <a:ext uri="{FF2B5EF4-FFF2-40B4-BE49-F238E27FC236}">
                <a16:creationId xmlns:a16="http://schemas.microsoft.com/office/drawing/2014/main" id="{901C2DFF-FC39-45A8-8B25-780B2B12F25F}"/>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53BE408D-93B8-414A-B53E-36CC1BA7B9E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Human-Centered AI</a:t>
            </a:r>
          </a:p>
        </p:txBody>
      </p:sp>
      <p:sp>
        <p:nvSpPr>
          <p:cNvPr id="18" name="">
            <a:extLst xmlns:a="http://schemas.openxmlformats.org/drawingml/2006/main">
              <a:ext uri="{FF2B5EF4-FFF2-40B4-BE49-F238E27FC236}">
                <a16:creationId xmlns:a16="http://schemas.microsoft.com/office/drawing/2014/main" id="{12F7B525-DE21-448D-ADB9-0513A130F37D}"/>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2045872439"/>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6905B7C-7937-48C3-956F-EAB022D2602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D7A6438F-8BB7-424A-B336-78336AFCD66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D2075833-6800-4E24-98D4-424157F329A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1F3D6127-FFBC-4785-B8EE-A451937D82DD}"/>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C803858D-C9AB-41A7-88CA-757A3848A597}"/>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A8B5C308-24BC-4480-939C-8315E1D63717}"/>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8503F070-5E0C-480D-BDEA-8777E8C88ECE}"/>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Who is affected by the workflow and who has been consulted? What decision remains with a named human owner? How can people ask questions, correct information, or challenge an outcome?</a:t>
            </a:r>
          </a:p>
        </p:txBody>
      </p:sp>
      <p:sp>
        <p:nvSpPr>
          <p:cNvPr id="8" name="">
            <a:extLst xmlns:a="http://schemas.openxmlformats.org/drawingml/2006/main">
              <a:ext uri="{FF2B5EF4-FFF2-40B4-BE49-F238E27FC236}">
                <a16:creationId xmlns:a16="http://schemas.microsoft.com/office/drawing/2014/main" id="{80CB095B-48E7-44C2-9C54-E2CE3B3E964B}"/>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1A0F3DAE-9C01-4108-BB13-23EFFA637FE1}"/>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03E6CDF7-5155-4DF3-A084-CCBDA5A27336}"/>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AE90E90D-34AF-4E2F-92A7-FB205CA09AD2}"/>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For one proposed use case, write a human decision rule that defines what AI may support, what it may recommend, what a human must approve, and what the AI may not do.</a:t>
            </a:r>
          </a:p>
        </p:txBody>
      </p:sp>
      <p:sp>
        <p:nvSpPr>
          <p:cNvPr id="12" name="">
            <a:extLst xmlns:a="http://schemas.openxmlformats.org/drawingml/2006/main">
              <a:ext uri="{FF2B5EF4-FFF2-40B4-BE49-F238E27FC236}">
                <a16:creationId xmlns:a16="http://schemas.microsoft.com/office/drawing/2014/main" id="{5E23BC6F-2B1B-49C4-8A77-6E0F40655FDC}"/>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Human-Centered AI</a:t>
            </a:r>
          </a:p>
        </p:txBody>
      </p:sp>
      <p:sp>
        <p:nvSpPr>
          <p:cNvPr id="13" name="">
            <a:extLst xmlns:a="http://schemas.openxmlformats.org/drawingml/2006/main">
              <a:ext uri="{FF2B5EF4-FFF2-40B4-BE49-F238E27FC236}">
                <a16:creationId xmlns:a16="http://schemas.microsoft.com/office/drawing/2014/main" id="{D41FB4CD-54B7-471B-A387-410A73FA185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843175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32F760-B743-4D9F-9162-C6E4ABCFC35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2C0F9BD-0779-4E87-87CA-3A3582E16E0A}"/>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ED46FDC3-42D4-4EEB-B9EE-F1BC44556510}"/>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E1802153-6D52-4BA8-981E-7D8495B3E640}"/>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78684066-4C78-45A1-9759-48A120FCE0BF}"/>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8B5708EC-64F2-4B81-A625-11B3A5BA70A2}"/>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5AC6BDC5-1058-4F7C-B4CE-3F6F10345C77}"/>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1, 7, 11, 12, 13 and Tools 6, 19, 41.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6D770B10-EDEE-4230-A0E8-C6452FAD3DC7}"/>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A57C485C-4921-47FA-80DE-E2B3B0C1A6C6}"/>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1AF1F24F-C301-4E76-A3F6-CE1F13F798E2}"/>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EA33F10C-EA7B-46C7-B245-C20567EDE9E2}"/>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Blueprint for an AI Bill of Rights: Principles for automated systems that preserve human agency, notice, explanation, and safeguards. NIST AI Risk Management Framework: Useful for defining human oversight, decision accountability, and risk.</a:t>
            </a:r>
          </a:p>
        </p:txBody>
      </p:sp>
      <p:sp>
        <p:nvSpPr>
          <p:cNvPr id="12" name="">
            <a:extLst xmlns:a="http://schemas.openxmlformats.org/drawingml/2006/main">
              <a:ext uri="{FF2B5EF4-FFF2-40B4-BE49-F238E27FC236}">
                <a16:creationId xmlns:a16="http://schemas.microsoft.com/office/drawing/2014/main" id="{4EA6841D-3C2B-4B65-A620-3B008D443B2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Human-Centered AI</a:t>
            </a:r>
          </a:p>
        </p:txBody>
      </p:sp>
      <p:sp>
        <p:nvSpPr>
          <p:cNvPr id="13" name="">
            <a:extLst xmlns:a="http://schemas.openxmlformats.org/drawingml/2006/main">
              <a:ext uri="{FF2B5EF4-FFF2-40B4-BE49-F238E27FC236}">
                <a16:creationId xmlns:a16="http://schemas.microsoft.com/office/drawing/2014/main" id="{8427E436-0DA0-443B-A01E-A2225994929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4205400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2026-07-02T16:03:01.2350000Z</dcterms:created>
  <dcterms:modified xsi:type="dcterms:W3CDTF">2026-07-02T16:03:01.2350000Z</dcterms:modified>
</coreProperties>
</file>