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2100" dirty="0"/>
          </a:p>
          <a:p>
            <a:r>
              <a:rPr lang="en-US" sz="21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 create.</a:t>
            </a:r>
            <a:endParaRPr lang="en-US" sz="2100" dirty="0"/>
          </a:p>
          <a:p>
            <a:r>
              <a:rPr lang="en-US" sz="21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 integrations,.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what APIs, webhooks, and event-driven workflows do.</a:t>
            </a:r>
            <a:endParaRPr lang="en-US" sz="2100" dirty="0"/>
          </a:p>
          <a:p>
            <a:r>
              <a:rPr lang="en-US" sz="2100" dirty="0">
                <a:solidFill>
                  <a:srgbClr val="17364A"/>
                </a:solidFill>
                <a:latin typeface="Aptos" pitchFamily="34" charset="0"/>
                <a:ea typeface="Aptos" pitchFamily="34" charset="-122"/>
                <a:cs typeface="Aptos" pitchFamily="34" charset="-120"/>
              </a:rPr>
              <a:t>Distinguish between read-only access, write-back, and triggered actions.</a:t>
            </a:r>
            <a:endParaRPr lang="en-US" sz="2100" dirty="0"/>
          </a:p>
          <a:p>
            <a:r>
              <a:rPr lang="en-US" sz="2100" dirty="0">
                <a:solidFill>
                  <a:srgbClr val="17364A"/>
                </a:solidFill>
                <a:latin typeface="Aptos" pitchFamily="34" charset="0"/>
                <a:ea typeface="Aptos" pitchFamily="34" charset="-122"/>
                <a:cs typeface="Aptos" pitchFamily="34" charset="-120"/>
              </a:rPr>
              <a:t>Identify security, privacy, logging, and access-control requirements for AI integrations.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what APIs, webhooks, and event-driven workflows do.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Assess where human approval is required before an AI-triggered action occurs.</a:t>
            </a:r>
            <a:endParaRPr lang="en-US" sz="1380" dirty="0"/>
          </a:p>
          <a:p>
            <a:r>
              <a:rPr lang="en-US" sz="1380" dirty="0">
                <a:solidFill>
                  <a:srgbClr val="17364A"/>
                </a:solidFill>
                <a:latin typeface="Aptos" pitchFamily="34" charset="0"/>
                <a:ea typeface="Aptos" pitchFamily="34" charset="-122"/>
                <a:cs typeface="Aptos" pitchFamily="34" charset="-120"/>
              </a:rPr>
              <a:t>Produce an API and event workflow review worksheet.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2100" dirty="0"/>
          </a:p>
          <a:p>
            <a:r>
              <a:rPr lang="en-US" sz="21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a:t>
            </a:r>
            <a:endParaRPr lang="en-US" sz="2100" dirty="0"/>
          </a:p>
          <a:p>
            <a:r>
              <a:rPr lang="en-US" sz="21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They are especially important for AI because many AI tools need to retrieve data, send.</a:t>
            </a:r>
            <a:endParaRPr lang="en-US" sz="1380" dirty="0"/>
          </a:p>
          <a:p>
            <a:r>
              <a:rPr lang="en-US" sz="1380" dirty="0">
                <a:solidFill>
                  <a:srgbClr val="17364A"/>
                </a:solidFill>
                <a:latin typeface="Aptos" pitchFamily="34" charset="0"/>
                <a:ea typeface="Aptos" pitchFamily="34" charset="-122"/>
                <a:cs typeface="Aptos" pitchFamily="34" charset="-120"/>
              </a:rPr>
              <a:t>This module teaches non-developer public health staff enough technical understanding to.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2100" dirty="0"/>
          </a:p>
          <a:p>
            <a:r>
              <a:rPr lang="en-US" sz="2100" dirty="0">
                <a:solidFill>
                  <a:srgbClr val="17364A"/>
                </a:solidFill>
                <a:latin typeface="Aptos" pitchFamily="34" charset="0"/>
                <a:ea typeface="Aptos" pitchFamily="34" charset="-122"/>
                <a:cs typeface="Aptos" pitchFamily="34" charset="-120"/>
              </a:rPr>
              <a:t>In public health, APIs may retrieve case information, query FHIR resources, send status updates, create.</a:t>
            </a:r>
            <a:endParaRPr lang="en-US" sz="2100" dirty="0"/>
          </a:p>
          <a:p>
            <a:r>
              <a:rPr lang="en-US" sz="2100" dirty="0">
                <a:solidFill>
                  <a:srgbClr val="17364A"/>
                </a:solidFill>
                <a:latin typeface="Aptos" pitchFamily="34" charset="0"/>
                <a:ea typeface="Aptos" pitchFamily="34" charset="-122"/>
                <a:cs typeface="Aptos" pitchFamily="34" charset="-120"/>
              </a:rPr>
              <a:t>Webhooks can notify a system when a defined event occurs, such as receipt of a new lab result or change.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 public health, APIs may retrieve case information, query FHIR resources, send status.</a:t>
            </a:r>
            <a:endParaRPr lang="en-US" sz="1380" dirty="0"/>
          </a:p>
          <a:p>
            <a:r>
              <a:rPr lang="en-US" sz="1380" dirty="0">
                <a:solidFill>
                  <a:srgbClr val="17364A"/>
                </a:solidFill>
                <a:latin typeface="Aptos" pitchFamily="34" charset="0"/>
                <a:ea typeface="Aptos" pitchFamily="34" charset="-122"/>
                <a:cs typeface="Aptos" pitchFamily="34" charset="-120"/>
              </a:rPr>
              <a:t>Webhooks can notify a system when a defined event occurs, such as receipt of a new lab.</a:t>
            </a:r>
            <a:endParaRPr lang="en-US" sz="1380" dirty="0"/>
          </a:p>
          <a:p>
            <a:r>
              <a:rPr lang="en-US" sz="1380" dirty="0">
                <a:solidFill>
                  <a:srgbClr val="17364A"/>
                </a:solidFill>
                <a:latin typeface="Aptos" pitchFamily="34" charset="0"/>
                <a:ea typeface="Aptos" pitchFamily="34" charset="-122"/>
                <a:cs typeface="Aptos" pitchFamily="34" charset="-120"/>
              </a:rPr>
              <a:t>Event-driven workflows can help public health teams respond faster, but they also require.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a:t>
            </a:r>
            <a:endParaRPr lang="en-US" sz="2100" dirty="0"/>
          </a:p>
          <a:p>
            <a:r>
              <a:rPr lang="en-US" sz="2100" dirty="0">
                <a:solidFill>
                  <a:srgbClr val="17364A"/>
                </a:solidFill>
                <a:latin typeface="Aptos" pitchFamily="34" charset="0"/>
                <a:ea typeface="Aptos" pitchFamily="34" charset="-122"/>
                <a:cs typeface="Aptos" pitchFamily="34" charset="-120"/>
              </a:rPr>
              <a:t>An application programming interface allows one system to request data or services from another system.</a:t>
            </a:r>
            <a:endParaRPr lang="en-US" sz="2100" dirty="0"/>
          </a:p>
          <a:p>
            <a:r>
              <a:rPr lang="en-US" sz="2100" dirty="0">
                <a:solidFill>
                  <a:srgbClr val="17364A"/>
                </a:solidFill>
                <a:latin typeface="Aptos" pitchFamily="34" charset="0"/>
                <a:ea typeface="Aptos" pitchFamily="34" charset="-122"/>
                <a:cs typeface="Aptos" pitchFamily="34" charset="-120"/>
              </a:rPr>
              <a:t>APIs are useful for structured exchange, but they must be governed through authentication,.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APIs are useful for structured exchange, but they must be governed through authentication,.</a:t>
            </a:r>
            <a:endParaRPr lang="en-US" sz="1380" dirty="0"/>
          </a:p>
          <a:p>
            <a:r>
              <a:rPr lang="en-US" sz="1380" dirty="0">
                <a:solidFill>
                  <a:srgbClr val="17364A"/>
                </a:solidFill>
                <a:latin typeface="Aptos" pitchFamily="34" charset="0"/>
                <a:ea typeface="Aptos" pitchFamily="34" charset="-122"/>
                <a:cs typeface="Aptos" pitchFamily="34" charset="-120"/>
              </a:rPr>
              <a:t>Webhook.</a:t>
            </a:r>
            <a:endParaRPr lang="en-US" sz="1380" dirty="0"/>
          </a:p>
          <a:p>
            <a:r>
              <a:rPr lang="en-US" sz="1380" dirty="0">
                <a:solidFill>
                  <a:srgbClr val="17364A"/>
                </a:solidFill>
                <a:latin typeface="Aptos" pitchFamily="34" charset="0"/>
                <a:ea typeface="Aptos" pitchFamily="34" charset="-122"/>
                <a:cs typeface="Aptos" pitchFamily="34" charset="-120"/>
              </a:rPr>
              <a:t>A webhook sends information automatically when a defined event occurs.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Read-only versus write-back.</a:t>
            </a:r>
            <a:endParaRPr lang="en-US" sz="2100" dirty="0"/>
          </a:p>
          <a:p>
            <a:r>
              <a:rPr lang="en-US" sz="2100" dirty="0">
                <a:solidFill>
                  <a:srgbClr val="17364A"/>
                </a:solidFill>
                <a:latin typeface="Aptos" pitchFamily="34" charset="0"/>
                <a:ea typeface="Aptos" pitchFamily="34" charset="-122"/>
                <a:cs typeface="Aptos" pitchFamily="34" charset="-120"/>
              </a:rPr>
              <a:t>Read-only access allows a tool to view or retrieve information.</a:t>
            </a:r>
            <a:endParaRPr lang="en-US" sz="2100" dirty="0"/>
          </a:p>
          <a:p>
            <a:r>
              <a:rPr lang="en-US" sz="2100" dirty="0">
                <a:solidFill>
                  <a:srgbClr val="17364A"/>
                </a:solidFill>
                <a:latin typeface="Aptos" pitchFamily="34" charset="0"/>
                <a:ea typeface="Aptos" pitchFamily="34" charset="-122"/>
                <a:cs typeface="Aptos" pitchFamily="34" charset="-120"/>
              </a:rPr>
              <a:t>Write-back allows a tool to update, create, or delete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Read-only versus write-back.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Read-only versus write-back.</a:t>
            </a:r>
            <a:endParaRPr lang="en-US" sz="1380" dirty="0"/>
          </a:p>
          <a:p>
            <a:r>
              <a:rPr lang="en-US" sz="1380" dirty="0">
                <a:solidFill>
                  <a:srgbClr val="17364A"/>
                </a:solidFill>
                <a:latin typeface="Aptos" pitchFamily="34" charset="0"/>
                <a:ea typeface="Aptos" pitchFamily="34" charset="-122"/>
                <a:cs typeface="Aptos" pitchFamily="34" charset="-120"/>
              </a:rPr>
              <a:t>Read-only access allows a tool to view or retrieve information.</a:t>
            </a:r>
            <a:endParaRPr lang="en-US" sz="1380" dirty="0"/>
          </a:p>
          <a:p>
            <a:r>
              <a:rPr lang="en-US" sz="1380" dirty="0">
                <a:solidFill>
                  <a:srgbClr val="17364A"/>
                </a:solidFill>
                <a:latin typeface="Aptos" pitchFamily="34" charset="0"/>
                <a:ea typeface="Aptos" pitchFamily="34" charset="-122"/>
                <a:cs typeface="Aptos" pitchFamily="34" charset="-120"/>
              </a:rPr>
              <a:t>Write-back allows a tool to update, create, or delete information.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a:t>
            </a:r>
            <a:endParaRPr lang="en-US" sz="2100" dirty="0"/>
          </a:p>
          <a:p>
            <a:r>
              <a:rPr lang="en-US" sz="2100" dirty="0">
                <a:solidFill>
                  <a:srgbClr val="17364A"/>
                </a:solidFill>
                <a:latin typeface="Aptos" pitchFamily="34" charset="0"/>
                <a:ea typeface="Aptos" pitchFamily="34" charset="-122"/>
                <a:cs typeface="Aptos" pitchFamily="34" charset="-120"/>
              </a:rPr>
              <a:t>A webhook could trigger the review when a complaint is submitted.</a:t>
            </a:r>
            <a:endParaRPr lang="en-US" sz="2100" dirty="0"/>
          </a:p>
          <a:p>
            <a:r>
              <a:rPr lang="en-US" sz="2100" dirty="0">
                <a:solidFill>
                  <a:srgbClr val="17364A"/>
                </a:solidFill>
                <a:latin typeface="Aptos" pitchFamily="34" charset="0"/>
                <a:ea typeface="Aptos" pitchFamily="34" charset="-122"/>
                <a:cs typeface="Aptos" pitchFamily="34" charset="-120"/>
              </a:rPr>
              <a:t>The tool might assign a category, draft a summary, and create a task for human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AI tool may be configured to review new environmental health complaints as they arrive.</a:t>
            </a:r>
            <a:endParaRPr lang="en-US" sz="1380" dirty="0"/>
          </a:p>
          <a:p>
            <a:r>
              <a:rPr lang="en-US" sz="1380" dirty="0">
                <a:solidFill>
                  <a:srgbClr val="17364A"/>
                </a:solidFill>
                <a:latin typeface="Aptos" pitchFamily="34" charset="0"/>
                <a:ea typeface="Aptos" pitchFamily="34" charset="-122"/>
                <a:cs typeface="Aptos" pitchFamily="34" charset="-120"/>
              </a:rPr>
              <a:t>This workflow could improve triage, but it must log the AI classification, preserve the.</a:t>
            </a:r>
            <a:endParaRPr lang="en-US" sz="1380" dirty="0"/>
          </a:p>
          <a:p>
            <a:r>
              <a:rPr lang="en-US" sz="1380" dirty="0">
                <a:solidFill>
                  <a:srgbClr val="17364A"/>
                </a:solidFill>
                <a:latin typeface="Aptos" pitchFamily="34" charset="0"/>
                <a:ea typeface="Aptos" pitchFamily="34" charset="-122"/>
                <a:cs typeface="Aptos" pitchFamily="34" charset="-120"/>
              </a:rPr>
              <a:t>A higher-risk example is an agentic tool that updates a case management system after.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review should begin with purpose and permissions.</a:t>
            </a:r>
            <a:endParaRPr lang="en-US" sz="2100" dirty="0"/>
          </a:p>
          <a:p>
            <a:r>
              <a:rPr lang="en-US" sz="2100" dirty="0">
                <a:solidFill>
                  <a:srgbClr val="17364A"/>
                </a:solidFill>
                <a:latin typeface="Aptos" pitchFamily="34" charset="0"/>
                <a:ea typeface="Aptos" pitchFamily="34" charset="-122"/>
                <a:cs typeface="Aptos" pitchFamily="34" charset="-120"/>
              </a:rPr>
              <a:t>Staff should ask what data the AI tool needs, whether the access is read-only or write-back, which.</a:t>
            </a:r>
            <a:endParaRPr lang="en-US" sz="2100" dirty="0"/>
          </a:p>
          <a:p>
            <a:r>
              <a:rPr lang="en-US" sz="2100" dirty="0">
                <a:solidFill>
                  <a:srgbClr val="17364A"/>
                </a:solidFill>
                <a:latin typeface="Aptos" pitchFamily="34" charset="0"/>
                <a:ea typeface="Aptos" pitchFamily="34" charset="-122"/>
                <a:cs typeface="Aptos" pitchFamily="34" charset="-120"/>
              </a:rPr>
              <a:t>Permissions should follow least privilege, meaning the tool receives only the access required for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review should begin with purpose and permissions.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ask what data the AI tool needs, whether the access is read-only or.</a:t>
            </a:r>
            <a:endParaRPr lang="en-US" sz="1380" dirty="0"/>
          </a:p>
          <a:p>
            <a:r>
              <a:rPr lang="en-US" sz="1380" dirty="0">
                <a:solidFill>
                  <a:srgbClr val="17364A"/>
                </a:solidFill>
                <a:latin typeface="Aptos" pitchFamily="34" charset="0"/>
                <a:ea typeface="Aptos" pitchFamily="34" charset="-122"/>
                <a:cs typeface="Aptos" pitchFamily="34" charset="-120"/>
              </a:rPr>
              <a:t>Permissions should follow least privilege, meaning the tool receives only the access.</a:t>
            </a:r>
            <a:endParaRPr lang="en-US" sz="1380" dirty="0"/>
          </a:p>
          <a:p>
            <a:r>
              <a:rPr lang="en-US" sz="1380" dirty="0">
                <a:solidFill>
                  <a:srgbClr val="17364A"/>
                </a:solidFill>
                <a:latin typeface="Aptos" pitchFamily="34" charset="0"/>
                <a:ea typeface="Aptos" pitchFamily="34" charset="-122"/>
                <a:cs typeface="Aptos" pitchFamily="34" charset="-120"/>
              </a:rPr>
              <a:t>Event-driven workflows should be designed with failure in mind.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Over-permissioned integrations.</a:t>
            </a:r>
            <a:endParaRPr lang="en-US" sz="2100" dirty="0"/>
          </a:p>
          <a:p>
            <a:r>
              <a:rPr lang="en-US" sz="2100" dirty="0">
                <a:solidFill>
                  <a:srgbClr val="17364A"/>
                </a:solidFill>
                <a:latin typeface="Aptos" pitchFamily="34" charset="0"/>
                <a:ea typeface="Aptos" pitchFamily="34" charset="-122"/>
                <a:cs typeface="Aptos" pitchFamily="34" charset="-120"/>
              </a:rPr>
              <a:t>AI tools may receive broader access than needed.</a:t>
            </a:r>
            <a:endParaRPr lang="en-US" sz="2100" dirty="0"/>
          </a:p>
          <a:p>
            <a:r>
              <a:rPr lang="en-US" sz="2100" dirty="0">
                <a:solidFill>
                  <a:srgbClr val="17364A"/>
                </a:solidFill>
                <a:latin typeface="Aptos" pitchFamily="34" charset="0"/>
                <a:ea typeface="Aptos" pitchFamily="34" charset="-122"/>
                <a:cs typeface="Aptos" pitchFamily="34" charset="-120"/>
              </a:rPr>
              <a:t>Guardrails include least-privilege scopes, role-based access, periodic access review, and credential.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Over-permissioned integrations.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Guardrails include least-privilege scopes, role-based access, periodic access review, and.</a:t>
            </a:r>
            <a:endParaRPr lang="en-US" sz="1380" dirty="0"/>
          </a:p>
          <a:p>
            <a:r>
              <a:rPr lang="en-US" sz="1380" dirty="0">
                <a:solidFill>
                  <a:srgbClr val="17364A"/>
                </a:solidFill>
                <a:latin typeface="Aptos" pitchFamily="34" charset="0"/>
                <a:ea typeface="Aptos" pitchFamily="34" charset="-122"/>
                <a:cs typeface="Aptos" pitchFamily="34" charset="-120"/>
              </a:rPr>
              <a:t>Unreviewed write-back.</a:t>
            </a:r>
            <a:endParaRPr lang="en-US" sz="1380" dirty="0"/>
          </a:p>
          <a:p>
            <a:r>
              <a:rPr lang="en-US" sz="1380" dirty="0">
                <a:solidFill>
                  <a:srgbClr val="17364A"/>
                </a:solidFill>
                <a:latin typeface="Aptos" pitchFamily="34" charset="0"/>
                <a:ea typeface="Aptos" pitchFamily="34" charset="-122"/>
                <a:cs typeface="Aptos" pitchFamily="34" charset="-120"/>
              </a:rPr>
              <a:t>Automated updates can alter official records without adequate oversight.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Poor error handling.</a:t>
            </a:r>
            <a:endParaRPr lang="en-US" sz="2100" dirty="0"/>
          </a:p>
          <a:p>
            <a:r>
              <a:rPr lang="en-US" sz="2100" dirty="0">
                <a:solidFill>
                  <a:srgbClr val="17364A"/>
                </a:solidFill>
                <a:latin typeface="Aptos" pitchFamily="34" charset="0"/>
                <a:ea typeface="Aptos" pitchFamily="34" charset="-122"/>
                <a:cs typeface="Aptos" pitchFamily="34" charset="-120"/>
              </a:rPr>
              <a:t>Failed API calls may produce incomplete workflows.</a:t>
            </a:r>
            <a:endParaRPr lang="en-US" sz="2100" dirty="0"/>
          </a:p>
          <a:p>
            <a:r>
              <a:rPr lang="en-US" sz="2100" dirty="0">
                <a:solidFill>
                  <a:srgbClr val="17364A"/>
                </a:solidFill>
                <a:latin typeface="Aptos" pitchFamily="34" charset="0"/>
                <a:ea typeface="Aptos" pitchFamily="34" charset="-122"/>
                <a:cs typeface="Aptos" pitchFamily="34" charset="-120"/>
              </a:rPr>
              <a:t>Guardrails include status indicators, retry rules, exception queues, and staff notification.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Poor error handling.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Poor error handling.</a:t>
            </a:r>
            <a:endParaRPr lang="en-US" sz="1380" dirty="0"/>
          </a:p>
          <a:p>
            <a:r>
              <a:rPr lang="en-US" sz="1380" dirty="0">
                <a:solidFill>
                  <a:srgbClr val="17364A"/>
                </a:solidFill>
                <a:latin typeface="Aptos" pitchFamily="34" charset="0"/>
                <a:ea typeface="Aptos" pitchFamily="34" charset="-122"/>
                <a:cs typeface="Aptos" pitchFamily="34" charset="-120"/>
              </a:rPr>
              <a:t>Failed API calls may produce incomplete workflows.</a:t>
            </a:r>
            <a:endParaRPr lang="en-US" sz="1380" dirty="0"/>
          </a:p>
          <a:p>
            <a:r>
              <a:rPr lang="en-US" sz="1380" dirty="0">
                <a:solidFill>
                  <a:srgbClr val="17364A"/>
                </a:solidFill>
                <a:latin typeface="Aptos" pitchFamily="34" charset="0"/>
                <a:ea typeface="Aptos" pitchFamily="34" charset="-122"/>
                <a:cs typeface="Aptos" pitchFamily="34" charset="-120"/>
              </a:rPr>
              <a:t>Guardrails include status indicators, retry rules, exception queues, and staff notification.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2100" dirty="0"/>
          </a:p>
          <a:p>
            <a:r>
              <a:rPr lang="en-US" sz="2100" dirty="0">
                <a:solidFill>
                  <a:srgbClr val="17364A"/>
                </a:solidFill>
                <a:latin typeface="Aptos" pitchFamily="34" charset="0"/>
                <a:ea typeface="Aptos" pitchFamily="34" charset="-122"/>
                <a:cs typeface="Aptos" pitchFamily="34" charset="-120"/>
              </a:rPr>
              <a:t>Predictive tools may call services that return risk scores or features.</a:t>
            </a:r>
            <a:endParaRPr lang="en-US" sz="2100" dirty="0"/>
          </a:p>
          <a:p>
            <a:r>
              <a:rPr lang="en-US" sz="2100" dirty="0">
                <a:solidFill>
                  <a:srgbClr val="17364A"/>
                </a:solidFill>
                <a:latin typeface="Aptos" pitchFamily="34" charset="0"/>
                <a:ea typeface="Aptos" pitchFamily="34" charset="-122"/>
                <a:cs typeface="Aptos" pitchFamily="34" charset="-120"/>
              </a:rPr>
              <a:t>RAG systems may use APIs to retrieve approved documents.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380" dirty="0"/>
          </a:p>
          <a:p>
            <a:r>
              <a:rPr lang="en-US" sz="1380" dirty="0">
                <a:solidFill>
                  <a:srgbClr val="17364A"/>
                </a:solidFill>
                <a:latin typeface="Aptos" pitchFamily="34" charset="0"/>
                <a:ea typeface="Aptos" pitchFamily="34" charset="-122"/>
                <a:cs typeface="Aptos" pitchFamily="34" charset="-120"/>
              </a:rPr>
              <a:t>Predictive tools may call services that return risk scores or features.</a:t>
            </a:r>
            <a:endParaRPr lang="en-US" sz="1380" dirty="0"/>
          </a:p>
          <a:p>
            <a:r>
              <a:rPr lang="en-US" sz="1380" dirty="0">
                <a:solidFill>
                  <a:srgbClr val="17364A"/>
                </a:solidFill>
                <a:latin typeface="Aptos" pitchFamily="34" charset="0"/>
                <a:ea typeface="Aptos" pitchFamily="34" charset="-122"/>
                <a:cs typeface="Aptos" pitchFamily="34" charset="-120"/>
              </a:rPr>
              <a:t>RAG systems may use APIs to retrieve approved documents.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2100" dirty="0"/>
          </a:p>
          <a:p>
            <a:r>
              <a:rPr lang="en-US" sz="2100" dirty="0">
                <a:solidFill>
                  <a:srgbClr val="17364A"/>
                </a:solidFill>
                <a:latin typeface="Aptos" pitchFamily="34" charset="0"/>
                <a:ea typeface="Aptos" pitchFamily="34" charset="-122"/>
                <a:cs typeface="Aptos" pitchFamily="34" charset="-120"/>
              </a:rPr>
              <a:t>Which AI-supported actions should be read-only?</a:t>
            </a:r>
            <a:endParaRPr lang="en-US" sz="2100" dirty="0"/>
          </a:p>
          <a:p>
            <a:r>
              <a:rPr lang="en-US" sz="2100" dirty="0">
                <a:solidFill>
                  <a:srgbClr val="17364A"/>
                </a:solidFill>
                <a:latin typeface="Aptos" pitchFamily="34" charset="0"/>
                <a:ea typeface="Aptos" pitchFamily="34" charset="-122"/>
                <a:cs typeface="Aptos" pitchFamily="34" charset="-120"/>
              </a:rPr>
              <a:t>Which actions would require human approval before write-back?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380" dirty="0"/>
          </a:p>
          <a:p>
            <a:r>
              <a:rPr lang="en-US" sz="1380" dirty="0">
                <a:solidFill>
                  <a:srgbClr val="17364A"/>
                </a:solidFill>
                <a:latin typeface="Aptos" pitchFamily="34" charset="0"/>
                <a:ea typeface="Aptos" pitchFamily="34" charset="-122"/>
                <a:cs typeface="Aptos" pitchFamily="34" charset="-120"/>
              </a:rPr>
              <a:t>Which AI-supported actions should be read-only?</a:t>
            </a:r>
            <a:endParaRPr lang="en-US" sz="1380" dirty="0"/>
          </a:p>
          <a:p>
            <a:r>
              <a:rPr lang="en-US" sz="1380" dirty="0">
                <a:solidFill>
                  <a:srgbClr val="17364A"/>
                </a:solidFill>
                <a:latin typeface="Aptos" pitchFamily="34" charset="0"/>
                <a:ea typeface="Aptos" pitchFamily="34" charset="-122"/>
                <a:cs typeface="Aptos" pitchFamily="34" charset="-120"/>
              </a:rPr>
              <a:t>Which actions would require human approval before write-back?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logs are needed to reconstruct what happened?</a:t>
            </a:r>
            <a:endParaRPr lang="en-US" sz="2100" dirty="0"/>
          </a:p>
          <a:p>
            <a:r>
              <a:rPr lang="en-US" sz="2100" dirty="0">
                <a:solidFill>
                  <a:srgbClr val="17364A"/>
                </a:solidFill>
                <a:latin typeface="Aptos" pitchFamily="34" charset="0"/>
                <a:ea typeface="Aptos" pitchFamily="34" charset="-122"/>
                <a:cs typeface="Aptos" pitchFamily="34" charset="-120"/>
              </a:rPr>
              <a:t>What should happen if an API call fails or returns unexpected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logs are needed to reconstruct what happened?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logs are needed to reconstruct what happened?</a:t>
            </a:r>
            <a:endParaRPr lang="en-US" sz="1380" dirty="0"/>
          </a:p>
          <a:p>
            <a:r>
              <a:rPr lang="en-US" sz="1380" dirty="0">
                <a:solidFill>
                  <a:srgbClr val="17364A"/>
                </a:solidFill>
                <a:latin typeface="Aptos" pitchFamily="34" charset="0"/>
                <a:ea typeface="Aptos" pitchFamily="34" charset="-122"/>
                <a:cs typeface="Aptos" pitchFamily="34" charset="-120"/>
              </a:rPr>
              <a:t>What should happen if an API call fails or returns unexpected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2100" dirty="0"/>
          </a:p>
          <a:p>
            <a:r>
              <a:rPr lang="en-US" sz="2100" dirty="0">
                <a:solidFill>
                  <a:srgbClr val="17364A"/>
                </a:solidFill>
                <a:latin typeface="Aptos" pitchFamily="34" charset="0"/>
                <a:ea typeface="Aptos" pitchFamily="34" charset="-122"/>
                <a:cs typeface="Aptos" pitchFamily="34" charset="-120"/>
              </a:rPr>
              <a:t>Include the triggering event, systems involved, data exchanged, read/write permissions, authentication.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380" dirty="0"/>
          </a:p>
          <a:p>
            <a:r>
              <a:rPr lang="en-US" sz="1380" dirty="0">
                <a:solidFill>
                  <a:srgbClr val="17364A"/>
                </a:solidFill>
                <a:latin typeface="Aptos" pitchFamily="34" charset="0"/>
                <a:ea typeface="Aptos" pitchFamily="34" charset="-122"/>
                <a:cs typeface="Aptos" pitchFamily="34" charset="-120"/>
              </a:rPr>
              <a:t>Include the triggering event, systems involved, data exchanged, read/write permissions,.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and event workflow worksheet</a:t>
            </a:r>
            <a:endParaRPr lang="en-US" sz="2100" dirty="0"/>
          </a:p>
          <a:p>
            <a:r>
              <a:rPr lang="en-US" sz="2100" dirty="0">
                <a:solidFill>
                  <a:srgbClr val="17364A"/>
                </a:solidFill>
                <a:latin typeface="Aptos" pitchFamily="34" charset="0"/>
                <a:ea typeface="Aptos" pitchFamily="34" charset="-122"/>
                <a:cs typeface="Aptos" pitchFamily="34" charset="-120"/>
              </a:rPr>
              <a:t>Integration risk questions</a:t>
            </a:r>
            <a:endParaRPr lang="en-US" sz="2100" dirty="0"/>
          </a:p>
          <a:p>
            <a:r>
              <a:rPr lang="en-US" sz="2100" dirty="0">
                <a:solidFill>
                  <a:srgbClr val="17364A"/>
                </a:solidFill>
                <a:latin typeface="Aptos" pitchFamily="34" charset="0"/>
                <a:ea typeface="Aptos" pitchFamily="34" charset="-122"/>
                <a:cs typeface="Aptos" pitchFamily="34" charset="-120"/>
              </a:rPr>
              <a:t>Access control recommendations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and event workflow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API and event workflow worksheet</a:t>
            </a:r>
            <a:endParaRPr lang="en-US" sz="1380" dirty="0"/>
          </a:p>
          <a:p>
            <a:r>
              <a:rPr lang="en-US" sz="1380" dirty="0">
                <a:solidFill>
                  <a:srgbClr val="17364A"/>
                </a:solidFill>
                <a:latin typeface="Aptos" pitchFamily="34" charset="0"/>
                <a:ea typeface="Aptos" pitchFamily="34" charset="-122"/>
                <a:cs typeface="Aptos" pitchFamily="34" charset="-120"/>
              </a:rPr>
              <a:t>Integration risk questions</a:t>
            </a:r>
            <a:endParaRPr lang="en-US" sz="1380" dirty="0"/>
          </a:p>
          <a:p>
            <a:r>
              <a:rPr lang="en-US" sz="1380" dirty="0">
                <a:solidFill>
                  <a:srgbClr val="17364A"/>
                </a:solidFill>
                <a:latin typeface="Aptos" pitchFamily="34" charset="0"/>
                <a:ea typeface="Aptos" pitchFamily="34" charset="-122"/>
                <a:cs typeface="Aptos" pitchFamily="34" charset="-120"/>
              </a:rPr>
              <a:t>Access control recommendations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Audit log requirements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Audit log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and event workflow worksheet</a:t>
            </a:r>
            <a:endParaRPr lang="en-US" sz="2100" dirty="0"/>
          </a:p>
          <a:p>
            <a:r>
              <a:rPr lang="en-US" sz="2100" dirty="0">
                <a:solidFill>
                  <a:srgbClr val="17364A"/>
                </a:solidFill>
                <a:latin typeface="Aptos" pitchFamily="34" charset="0"/>
                <a:ea typeface="Aptos" pitchFamily="34" charset="-122"/>
                <a:cs typeface="Aptos" pitchFamily="34" charset="-120"/>
              </a:rPr>
              <a:t>Integration risk questions</a:t>
            </a:r>
            <a:endParaRPr lang="en-US" sz="2100" dirty="0"/>
          </a:p>
          <a:p>
            <a:r>
              <a:rPr lang="en-US" sz="2100" dirty="0">
                <a:solidFill>
                  <a:srgbClr val="17364A"/>
                </a:solidFill>
                <a:latin typeface="Aptos" pitchFamily="34" charset="0"/>
                <a:ea typeface="Aptos" pitchFamily="34" charset="-122"/>
                <a:cs typeface="Aptos" pitchFamily="34" charset="-120"/>
              </a:rPr>
              <a:t>Access control recommendations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and event workflow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API and event workflow worksheet</a:t>
            </a:r>
            <a:endParaRPr lang="en-US" sz="1380" dirty="0"/>
          </a:p>
          <a:p>
            <a:r>
              <a:rPr lang="en-US" sz="1380" dirty="0">
                <a:solidFill>
                  <a:srgbClr val="17364A"/>
                </a:solidFill>
                <a:latin typeface="Aptos" pitchFamily="34" charset="0"/>
                <a:ea typeface="Aptos" pitchFamily="34" charset="-122"/>
                <a:cs typeface="Aptos" pitchFamily="34" charset="-120"/>
              </a:rPr>
              <a:t>Integration risk questions</a:t>
            </a:r>
            <a:endParaRPr lang="en-US" sz="1380" dirty="0"/>
          </a:p>
          <a:p>
            <a:r>
              <a:rPr lang="en-US" sz="1380" dirty="0">
                <a:solidFill>
                  <a:srgbClr val="17364A"/>
                </a:solidFill>
                <a:latin typeface="Aptos" pitchFamily="34" charset="0"/>
                <a:ea typeface="Aptos" pitchFamily="34" charset="-122"/>
                <a:cs typeface="Aptos" pitchFamily="34" charset="-120"/>
              </a:rPr>
              <a:t>Access control recommendations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an API allow systems to do?</a:t>
            </a:r>
            <a:endParaRPr lang="en-US" sz="2100" dirty="0"/>
          </a:p>
          <a:p>
            <a:r>
              <a:rPr lang="en-US" sz="2100" dirty="0">
                <a:solidFill>
                  <a:srgbClr val="17364A"/>
                </a:solidFill>
                <a:latin typeface="Aptos" pitchFamily="34" charset="0"/>
                <a:ea typeface="Aptos" pitchFamily="34" charset="-122"/>
                <a:cs typeface="Aptos" pitchFamily="34" charset="-120"/>
              </a:rPr>
              <a:t>2. What is a webhook?</a:t>
            </a:r>
            <a:endParaRPr lang="en-US" sz="2100" dirty="0"/>
          </a:p>
          <a:p>
            <a:r>
              <a:rPr lang="en-US" sz="2100" dirty="0">
                <a:solidFill>
                  <a:srgbClr val="17364A"/>
                </a:solidFill>
                <a:latin typeface="Aptos" pitchFamily="34" charset="0"/>
                <a:ea typeface="Aptos" pitchFamily="34" charset="-122"/>
                <a:cs typeface="Aptos" pitchFamily="34" charset="-120"/>
              </a:rPr>
              <a:t>3. Why do AI integrations need access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an API allow systems to do?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does an API allow systems to do?</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API documentation: https://hl7.org/fhir/</a:t>
            </a:r>
            <a:endParaRPr lang="en-US" sz="2100" dirty="0"/>
          </a:p>
          <a:p>
            <a:r>
              <a:rPr lang="en-US" sz="2100" dirty="0">
                <a:solidFill>
                  <a:srgbClr val="17364A"/>
                </a:solidFill>
                <a:latin typeface="Aptos" pitchFamily="34" charset="0"/>
                <a:ea typeface="Aptos" pitchFamily="34" charset="-122"/>
                <a:cs typeface="Aptos" pitchFamily="34" charset="-120"/>
              </a:rPr>
              <a:t>ONC interoperability resources</a:t>
            </a:r>
            <a:endParaRPr lang="en-US" sz="2100" dirty="0"/>
          </a:p>
          <a:p>
            <a:r>
              <a:rPr lang="en-US" sz="2100" dirty="0">
                <a:solidFill>
                  <a:srgbClr val="17364A"/>
                </a:solidFill>
                <a:latin typeface="Aptos" pitchFamily="34" charset="0"/>
                <a:ea typeface="Aptos" pitchFamily="34" charset="-122"/>
                <a:cs typeface="Aptos" pitchFamily="34" charset="-120"/>
              </a:rPr>
              <a:t>Agency cybersecurity and access control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API documentation: https://hl7.org/fhir/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HL7 FHIR API documentation: https://hl7.org/fhir/</a:t>
            </a:r>
            <a:endParaRPr lang="en-US" sz="1380" dirty="0"/>
          </a:p>
          <a:p>
            <a:r>
              <a:rPr lang="en-US" sz="1380" dirty="0">
                <a:solidFill>
                  <a:srgbClr val="17364A"/>
                </a:solidFill>
                <a:latin typeface="Aptos" pitchFamily="34" charset="0"/>
                <a:ea typeface="Aptos" pitchFamily="34" charset="-122"/>
                <a:cs typeface="Aptos" pitchFamily="34" charset="-120"/>
              </a:rPr>
              <a:t>ONC interoperability resources</a:t>
            </a:r>
            <a:endParaRPr lang="en-US" sz="1380" dirty="0"/>
          </a:p>
          <a:p>
            <a:r>
              <a:rPr lang="en-US" sz="1380" dirty="0">
                <a:solidFill>
                  <a:srgbClr val="17364A"/>
                </a:solidFill>
                <a:latin typeface="Aptos" pitchFamily="34" charset="0"/>
                <a:ea typeface="Aptos" pitchFamily="34" charset="-122"/>
                <a:cs typeface="Aptos" pitchFamily="34" charset="-120"/>
              </a:rPr>
              <a:t>Agency cybersecurity and access control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2026-07-13T02:11:42Z</dcterms:created>
  <dcterms:modified xsi:type="dcterms:W3CDTF">2026-07-13T02:11:42Z</dcterms:modified>
</cp:coreProperties>
</file>