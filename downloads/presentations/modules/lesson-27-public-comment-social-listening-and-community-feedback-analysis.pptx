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 220 Public Comment, Social Listening, and Community Feedback Analysis
This module focuses on ethical analysis of public comments, social listening data, and community feedback.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Communications Role-Based Track
Appears in tracks: communications, policy, ai-for-social-good, governance-security
This module focuses on ethical analysis of public comments, social listening data, and community feedback.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 Vision &amp; Guardrails - This lesson informs Play 1 by helping learners connect the lesson topic to vision &amp; guardrails work in the AI Playbook sequence.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3: Establish AI Governance - This lesson informs Play 3 by helping learners connect the lesson topic to establish ai governance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1: AI Vision &amp; Principles Workshop (Workshop) - Use AI Vision &amp; Principles Workshop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public comment, social listening, and community feedback analysis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ethical analysis of public comments, social listening data, and community feedback.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Public Comment, Social Listening, and Community Feedback Analysis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ethical analysis of public comments, social listening data, and community feedback.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public comment, social listening, and community feedback analysis artifact for one AI-supported public health use case. The artifact should define the use case, affected roles, review criteria, safeguards, documentation expectations, escalation triggers, monitoring indicators, and next review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Public Comment, Social Listening, and Community Feedback Analysis artifact
Role and responsibility table
Risk and safeguard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Public Comment, Social Listening, and Community Feedback Analysis artifact
Role and responsibility table
Risk and safeguard summary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public comment, social listening, and community feedback analysis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COM 220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Public Comment, Social Listening, and Community Feedback Analysis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What this module helps you do</a:t>
            </a:r>
            <a:endParaRPr lang="en-US" sz="2700" dirty="0"/>
          </a:p>
        </p:txBody>
      </p:sp>
      <p:sp>
        <p:nvSpPr>
          <p:cNvPr id="8" name="Text 6"/>
          <p:cNvSpPr/>
          <p:nvPr/>
        </p:nvSpPr>
        <p:spPr>
          <a:xfrm>
            <a:off x="868680" y="1417320"/>
            <a:ext cx="6675120" cy="3291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This module focuses on ethical analysis of public comments, social listening data, and community feedback.</a:t>
            </a:r>
            <a:endParaRPr lang="en-US" sz="1700" dirty="0"/>
          </a:p>
          <a:p>
            <a:r>
              <a:rPr lang="en-US" sz="17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 decisions, documents, workflows, and oversight.</a:t>
            </a:r>
            <a:endParaRPr lang="en-US" sz="1700" dirty="0"/>
          </a:p>
          <a:p>
            <a:r>
              <a:rPr lang="en-US" sz="17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 used in governance review, implementation.</a:t>
            </a:r>
            <a:endParaRPr lang="en-US" sz="1700" dirty="0"/>
          </a:p>
          <a:p>
            <a:r>
              <a:rPr lang="en-US" sz="1700" dirty="0">
                <a:solidFill>
                  <a:srgbClr val="17364A"/>
                </a:solidFill>
                <a:latin typeface="Aptos" pitchFamily="34" charset="0"/>
                <a:ea typeface="Aptos" pitchFamily="34" charset="-122"/>
                <a:cs typeface="Aptos" pitchFamily="34" charset="-120"/>
              </a:rPr>
              <a:t>It emphasizes paragraph-based reasoning, defined responsibilities, and documentation that can withstand public health, legal, privacy, equity, and.</a:t>
            </a:r>
            <a:endParaRPr lang="en-US" sz="1700" dirty="0"/>
          </a:p>
        </p:txBody>
      </p:sp>
      <p:sp>
        <p:nvSpPr>
          <p:cNvPr id="9" name="Shape 7"/>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Module details</a:t>
            </a:r>
            <a:endParaRPr lang="en-US" sz="950" dirty="0"/>
          </a:p>
        </p:txBody>
      </p:sp>
      <p:sp>
        <p:nvSpPr>
          <p:cNvPr id="11" name="Text 9"/>
          <p:cNvSpPr/>
          <p:nvPr/>
        </p:nvSpPr>
        <p:spPr>
          <a:xfrm>
            <a:off x="8074152" y="1856232"/>
            <a:ext cx="2825496" cy="135331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Level: applied/foundational</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Primary track: Communications Role-Based Track</a:t>
            </a:r>
            <a:endParaRPr lang="en-US" sz="1250" dirty="0"/>
          </a:p>
          <a:p>
            <a:pPr indent="0" marL="0">
              <a:buNone/>
            </a:pPr>
            <a:r>
              <a:rPr lang="en-US" sz="1250" dirty="0">
                <a:solidFill>
                  <a:srgbClr val="17364A"/>
                </a:solidFill>
                <a:latin typeface="Aptos" pitchFamily="34" charset="0"/>
                <a:ea typeface="Aptos" pitchFamily="34" charset="-122"/>
                <a:cs typeface="Aptos" pitchFamily="34" charset="-120"/>
              </a:rPr>
              <a:t>Appears in tracks: communications, policy, ai-for-social-good, governance-security</a:t>
            </a:r>
            <a:endParaRPr lang="en-US" sz="1250" dirty="0"/>
          </a:p>
        </p:txBody>
      </p:sp>
      <p:sp>
        <p:nvSpPr>
          <p:cNvPr id="12" name="Shape 10"/>
          <p:cNvSpPr/>
          <p:nvPr/>
        </p:nvSpPr>
        <p:spPr>
          <a:xfrm>
            <a:off x="7909560" y="3611880"/>
            <a:ext cx="3154680" cy="1783080"/>
          </a:xfrm>
          <a:prstGeom prst="roundRect">
            <a:avLst>
              <a:gd name="adj" fmla="val 6154"/>
            </a:avLst>
          </a:prstGeom>
          <a:solidFill>
            <a:srgbClr val="EEF8ED"/>
          </a:solidFill>
          <a:ln w="12700">
            <a:solidFill>
              <a:srgbClr val="B9D7E6"/>
            </a:solidFill>
            <a:prstDash val="solid"/>
          </a:ln>
        </p:spPr>
      </p:sp>
      <p:sp>
        <p:nvSpPr>
          <p:cNvPr id="13" name="Text 11"/>
          <p:cNvSpPr/>
          <p:nvPr/>
        </p:nvSpPr>
        <p:spPr>
          <a:xfrm>
            <a:off x="8074152" y="375818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Learning approach</a:t>
            </a:r>
            <a:endParaRPr lang="en-US" sz="950" dirty="0"/>
          </a:p>
        </p:txBody>
      </p:sp>
      <p:sp>
        <p:nvSpPr>
          <p:cNvPr id="14" name="Text 12"/>
          <p:cNvSpPr/>
          <p:nvPr/>
        </p:nvSpPr>
        <p:spPr>
          <a:xfrm>
            <a:off x="8074152" y="4050792"/>
            <a:ext cx="2825496" cy="121615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Review the core ideas, complete the practical exercise, check your understanding, and use the related plays and tools to apply the lesson.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54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 vision &amp; guardrails work in.</a:t>
            </a:r>
            <a:endParaRPr lang="en-US" sz="1540" dirty="0"/>
          </a:p>
          <a:p>
            <a:r>
              <a:rPr lang="en-US" sz="154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 topic to build and deploy.</a:t>
            </a:r>
            <a:endParaRPr lang="en-US" sz="1540" dirty="0"/>
          </a:p>
          <a:p>
            <a:r>
              <a:rPr lang="en-US" sz="1540" dirty="0">
                <a:solidFill>
                  <a:srgbClr val="17364A"/>
                </a:solidFill>
                <a:latin typeface="Aptos" pitchFamily="34" charset="0"/>
                <a:ea typeface="Aptos" pitchFamily="34" charset="-122"/>
                <a:cs typeface="Aptos" pitchFamily="34" charset="-120"/>
              </a:rPr>
              <a:t>Play 2: Readiness Assessment - This lesson informs Play 2 by helping learners connect the lesson topic to readiness assessment work.</a:t>
            </a:r>
            <a:endParaRPr lang="en-US" sz="1540" dirty="0"/>
          </a:p>
          <a:p>
            <a:r>
              <a:rPr lang="en-US" sz="154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 establish ai governance.</a:t>
            </a:r>
            <a:endParaRPr lang="en-US" sz="1540" dirty="0"/>
          </a:p>
        </p:txBody>
      </p:sp>
      <p:sp>
        <p:nvSpPr>
          <p:cNvPr id="9" name="Shape 7"/>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Apply the lesson</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250" dirty="0"/>
          </a:p>
        </p:txBody>
      </p:sp>
      <p:sp>
        <p:nvSpPr>
          <p:cNvPr id="12" name="Shape 10"/>
          <p:cNvSpPr/>
          <p:nvPr/>
        </p:nvSpPr>
        <p:spPr>
          <a:xfrm>
            <a:off x="8046720" y="3794760"/>
            <a:ext cx="3063240" cy="1508760"/>
          </a:xfrm>
          <a:prstGeom prst="roundRect">
            <a:avLst>
              <a:gd name="adj" fmla="val 7273"/>
            </a:avLst>
          </a:prstGeom>
          <a:solidFill>
            <a:srgbClr val="FFF4D9"/>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Keep in mind</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The playbook connection helps turn training into agency work, not just individual knowledge.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Related toolkit resources</a:t>
            </a:r>
            <a:endParaRPr lang="en-US" sz="2700" dirty="0"/>
          </a:p>
        </p:txBody>
      </p:sp>
      <p:sp>
        <p:nvSpPr>
          <p:cNvPr id="8" name="Text 6"/>
          <p:cNvSpPr/>
          <p:nvPr/>
        </p:nvSpPr>
        <p:spPr>
          <a:xfrm>
            <a:off x="868680" y="1417320"/>
            <a:ext cx="6903720" cy="4480560"/>
          </a:xfrm>
          <a:prstGeom prst="rect">
            <a:avLst/>
          </a:prstGeom>
          <a:noFill/>
          <a:ln/>
        </p:spPr>
        <p:txBody>
          <a:bodyPr wrap="square" lIns="635" tIns="635" rIns="635" bIns="635" rtlCol="0" anchor="t">
            <a:normAutofit/>
          </a:bodyPr>
          <a:lstStyle/>
          <a:p>
            <a:r>
              <a:rPr lang="en-US" sz="1460" dirty="0">
                <a:solidFill>
                  <a:srgbClr val="17364A"/>
                </a:solidFill>
                <a:latin typeface="Aptos" pitchFamily="34" charset="0"/>
                <a:ea typeface="Aptos" pitchFamily="34" charset="-122"/>
                <a:cs typeface="Aptos" pitchFamily="34" charset="-120"/>
              </a:rPr>
              <a:t>Tool 1: AI Vision &amp; Principles Workshop (Workshop) - Use AI Vision &amp; Principles Workshop to translate this lesson into a documented.</a:t>
            </a:r>
            <a:endParaRPr lang="en-US" sz="1460" dirty="0"/>
          </a:p>
          <a:p>
            <a:r>
              <a:rPr lang="en-US" sz="146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 documented public health.</a:t>
            </a:r>
            <a:endParaRPr lang="en-US" sz="1460" dirty="0"/>
          </a:p>
          <a:p>
            <a:r>
              <a:rPr lang="en-US" sz="1460" dirty="0">
                <a:solidFill>
                  <a:srgbClr val="17364A"/>
                </a:solidFill>
                <a:latin typeface="Aptos" pitchFamily="34" charset="0"/>
                <a:ea typeface="Aptos" pitchFamily="34" charset="-122"/>
                <a:cs typeface="Aptos" pitchFamily="34" charset="-120"/>
              </a:rPr>
              <a:t>Tool 5: AI Environmental and Resource Impact Review (Checklist) - Use AI Environmental and Resource Impact Review to translate this.</a:t>
            </a:r>
            <a:endParaRPr lang="en-US" sz="1460" dirty="0"/>
          </a:p>
          <a:p>
            <a:r>
              <a:rPr lang="en-US" sz="1460" dirty="0">
                <a:solidFill>
                  <a:srgbClr val="17364A"/>
                </a:solidFill>
                <a:latin typeface="Aptos" pitchFamily="34" charset="0"/>
                <a:ea typeface="Aptos" pitchFamily="34" charset="-122"/>
                <a:cs typeface="Aptos" pitchFamily="34" charset="-120"/>
              </a:rPr>
              <a:t>Tool 6: Human-Centered AI Decision Rule Checklist (Checklist) - Use Human-Centered AI Decision Rule Checklist to translate this.</a:t>
            </a:r>
            <a:endParaRPr lang="en-US" sz="1460" dirty="0"/>
          </a:p>
          <a:p>
            <a:r>
              <a:rPr lang="en-US" sz="1460" dirty="0">
                <a:solidFill>
                  <a:srgbClr val="17364A"/>
                </a:solidFill>
                <a:latin typeface="Aptos" pitchFamily="34" charset="0"/>
                <a:ea typeface="Aptos" pitchFamily="34" charset="-122"/>
                <a:cs typeface="Aptos" pitchFamily="34" charset="-120"/>
              </a:rPr>
              <a:t>Tool 8: AI Project Charter (Planning) - Use AI Project Charter to translate this lesson into a documented public health AI planning,.</a:t>
            </a:r>
            <a:endParaRPr lang="en-US" sz="1460" dirty="0"/>
          </a:p>
        </p:txBody>
      </p:sp>
      <p:sp>
        <p:nvSpPr>
          <p:cNvPr id="9" name="Shape 7"/>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0" name="Text 8"/>
          <p:cNvSpPr/>
          <p:nvPr/>
        </p:nvSpPr>
        <p:spPr>
          <a:xfrm>
            <a:off x="8211312" y="156362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the tools</a:t>
            </a:r>
            <a:endParaRPr lang="en-US" sz="950" dirty="0"/>
          </a:p>
        </p:txBody>
      </p:sp>
      <p:sp>
        <p:nvSpPr>
          <p:cNvPr id="11" name="Text 9"/>
          <p:cNvSpPr/>
          <p:nvPr/>
        </p:nvSpPr>
        <p:spPr>
          <a:xfrm>
            <a:off x="8211312" y="1856232"/>
            <a:ext cx="2734056" cy="153619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250" dirty="0"/>
          </a:p>
        </p:txBody>
      </p:sp>
      <p:sp>
        <p:nvSpPr>
          <p:cNvPr id="12" name="Shape 10"/>
          <p:cNvSpPr/>
          <p:nvPr/>
        </p:nvSpPr>
        <p:spPr>
          <a:xfrm>
            <a:off x="8046720" y="3794760"/>
            <a:ext cx="3063240" cy="1508760"/>
          </a:xfrm>
          <a:prstGeom prst="roundRect">
            <a:avLst>
              <a:gd name="adj" fmla="val 7273"/>
            </a:avLst>
          </a:prstGeom>
          <a:solidFill>
            <a:srgbClr val="EEF8ED"/>
          </a:solidFill>
          <a:ln w="12700">
            <a:solidFill>
              <a:srgbClr val="B9D7E6"/>
            </a:solidFill>
            <a:prstDash val="solid"/>
          </a:ln>
        </p:spPr>
      </p:sp>
      <p:sp>
        <p:nvSpPr>
          <p:cNvPr id="13" name="Text 11"/>
          <p:cNvSpPr/>
          <p:nvPr/>
        </p:nvSpPr>
        <p:spPr>
          <a:xfrm>
            <a:off x="8211312" y="3941064"/>
            <a:ext cx="273405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Avoid duplication</a:t>
            </a:r>
            <a:endParaRPr lang="en-US" sz="950" dirty="0"/>
          </a:p>
        </p:txBody>
      </p:sp>
      <p:sp>
        <p:nvSpPr>
          <p:cNvPr id="14" name="Text 12"/>
          <p:cNvSpPr/>
          <p:nvPr/>
        </p:nvSpPr>
        <p:spPr>
          <a:xfrm>
            <a:off x="8211312" y="4233672"/>
            <a:ext cx="2734056" cy="9418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If your department already has a strong equivalent tool, adapt or use the existing process instead of recreating it.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Explain the purpose of public comment, social listening, and community feedback analysis in public health AI.</a:t>
            </a:r>
            <a:endParaRPr lang="en-US" sz="1700" dirty="0"/>
          </a:p>
          <a:p>
            <a:r>
              <a:rPr lang="en-US" sz="1700" dirty="0">
                <a:solidFill>
                  <a:srgbClr val="17364A"/>
                </a:solidFill>
                <a:latin typeface="Aptos" pitchFamily="34" charset="0"/>
                <a:ea typeface="Aptos" pitchFamily="34" charset="-122"/>
                <a:cs typeface="Aptos" pitchFamily="34" charset="-120"/>
              </a:rPr>
              <a:t>Identify the roles, decisions, risks, and documentation needed for the topic.</a:t>
            </a:r>
            <a:endParaRPr lang="en-US" sz="1700" dirty="0"/>
          </a:p>
          <a:p>
            <a:r>
              <a:rPr lang="en-US" sz="1700" dirty="0">
                <a:solidFill>
                  <a:srgbClr val="17364A"/>
                </a:solidFill>
                <a:latin typeface="Aptos" pitchFamily="34" charset="0"/>
                <a:ea typeface="Aptos" pitchFamily="34" charset="-122"/>
                <a:cs typeface="Aptos" pitchFamily="34" charset="-120"/>
              </a:rPr>
              <a:t>Apply the topic to a real or realistic public health workflow or decision.</a:t>
            </a:r>
            <a:endParaRPr lang="en-US" sz="1700" dirty="0"/>
          </a:p>
          <a:p>
            <a:r>
              <a:rPr lang="en-US" sz="1700" dirty="0">
                <a:solidFill>
                  <a:srgbClr val="17364A"/>
                </a:solidFill>
                <a:latin typeface="Aptos" pitchFamily="34" charset="0"/>
                <a:ea typeface="Aptos" pitchFamily="34" charset="-122"/>
                <a:cs typeface="Aptos" pitchFamily="34" charset="-120"/>
              </a:rPr>
              <a:t>Recognize equity, privacy, security, legal, operational, and public trust implications.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Explain the purpose of public comment, social listening, and community feedback analysis in public health AI.</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This module focuses on ethical analysis of public comments, social listening data, and community feedback.</a:t>
            </a:r>
            <a:endParaRPr lang="en-US" sz="1700" dirty="0"/>
          </a:p>
          <a:p>
            <a:r>
              <a:rPr lang="en-US" sz="1700" dirty="0">
                <a:solidFill>
                  <a:srgbClr val="17364A"/>
                </a:solidFill>
                <a:latin typeface="Aptos" pitchFamily="34" charset="0"/>
                <a:ea typeface="Aptos" pitchFamily="34" charset="-122"/>
                <a:cs typeface="Aptos" pitchFamily="34" charset="-120"/>
              </a:rPr>
              <a:t>It is designed for public health staff who must translate responsible AI principles into repeatable decisions, documents,.</a:t>
            </a:r>
            <a:endParaRPr lang="en-US" sz="1700" dirty="0"/>
          </a:p>
          <a:p>
            <a:r>
              <a:rPr lang="en-US" sz="1700" dirty="0">
                <a:solidFill>
                  <a:srgbClr val="17364A"/>
                </a:solidFill>
                <a:latin typeface="Aptos" pitchFamily="34" charset="0"/>
                <a:ea typeface="Aptos" pitchFamily="34" charset="-122"/>
                <a:cs typeface="Aptos" pitchFamily="34" charset="-120"/>
              </a:rPr>
              <a:t>The module helps learners move beyond general awareness by producing a practical artifact that can be used in governance.</a:t>
            </a:r>
            <a:endParaRPr lang="en-US" sz="1700" dirty="0"/>
          </a:p>
          <a:p>
            <a:r>
              <a:rPr lang="en-US" sz="1700" dirty="0">
                <a:solidFill>
                  <a:srgbClr val="17364A"/>
                </a:solidFill>
                <a:latin typeface="Aptos" pitchFamily="34" charset="0"/>
                <a:ea typeface="Aptos" pitchFamily="34" charset="-122"/>
                <a:cs typeface="Aptos" pitchFamily="34" charset="-120"/>
              </a:rPr>
              <a:t>It emphasizes paragraph-based reasoning, defined responsibilities, and documentation that can withstand public health,.</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This module focuses on ethical analysis of public comments, social listening data, and community feedback.</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Definitions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Decision right: The authority to approve, deny, modify, pause, or escalate an AI use case or operational decision.</a:t>
            </a:r>
            <a:endParaRPr lang="en-US" sz="1700" dirty="0"/>
          </a:p>
          <a:p>
            <a:r>
              <a:rPr lang="en-US" sz="1700" dirty="0">
                <a:solidFill>
                  <a:srgbClr val="17364A"/>
                </a:solidFill>
                <a:latin typeface="Aptos" pitchFamily="34" charset="0"/>
                <a:ea typeface="Aptos" pitchFamily="34" charset="-122"/>
                <a:cs typeface="Aptos" pitchFamily="34" charset="-120"/>
              </a:rPr>
              <a:t>Evidence artifact: A document, log, checklist, test result, approval record, or review note that demonstrates responsible AI.</a:t>
            </a:r>
            <a:endParaRPr lang="en-US" sz="1700" dirty="0"/>
          </a:p>
          <a:p>
            <a:r>
              <a:rPr lang="en-US" sz="1700" dirty="0">
                <a:solidFill>
                  <a:srgbClr val="17364A"/>
                </a:solidFill>
                <a:latin typeface="Aptos" pitchFamily="34" charset="0"/>
                <a:ea typeface="Aptos" pitchFamily="34" charset="-122"/>
                <a:cs typeface="Aptos" pitchFamily="34" charset="-120"/>
              </a:rPr>
              <a:t>Escalation pathway: A defined route for raising concerns to the appropriate reviewer or decision-maker.</a:t>
            </a:r>
            <a:endParaRPr lang="en-US" sz="1700" dirty="0"/>
          </a:p>
          <a:p>
            <a:r>
              <a:rPr lang="en-US" sz="1700" dirty="0">
                <a:solidFill>
                  <a:srgbClr val="17364A"/>
                </a:solidFill>
                <a:latin typeface="Aptos" pitchFamily="34" charset="0"/>
                <a:ea typeface="Aptos" pitchFamily="34" charset="-122"/>
                <a:cs typeface="Aptos" pitchFamily="34" charset="-120"/>
              </a:rPr>
              <a:t>Accountability owner: The person or role responsible for ensuring that an AI use case is governed, monitored, and corrected.</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Decision right: The authority to approve, deny, modify, pause, or escalate an AI use case or operational decision.</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Jurisdiction and Agency Policy Note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700" dirty="0"/>
          </a:p>
          <a:p>
            <a:r>
              <a:rPr lang="en-US" sz="1700" dirty="0">
                <a:solidFill>
                  <a:srgbClr val="17364A"/>
                </a:solidFill>
                <a:latin typeface="Aptos" pitchFamily="34" charset="0"/>
                <a:ea typeface="Aptos" pitchFamily="34" charset="-122"/>
                <a:cs typeface="Aptos" pitchFamily="34" charset="-120"/>
              </a:rPr>
              <a:t>It is not legal advice and does not replace review by agency legal counsel, privacy officers, procurement officials, civil.</a:t>
            </a:r>
            <a:endParaRPr lang="en-US" sz="1700" dirty="0"/>
          </a:p>
          <a:p>
            <a:r>
              <a:rPr lang="en-US" sz="1700" dirty="0">
                <a:solidFill>
                  <a:srgbClr val="17364A"/>
                </a:solidFill>
                <a:latin typeface="Aptos" pitchFamily="34" charset="0"/>
                <a:ea typeface="Aptos" pitchFamily="34" charset="-122"/>
                <a:cs typeface="Aptos" pitchFamily="34" charset="-120"/>
              </a:rPr>
              <a:t>Requirements may vary by state, locality, territory, Tribe, agency, funding source, data-sharing agreement, emergency.</a:t>
            </a:r>
            <a:endParaRPr lang="en-US" sz="1700" dirty="0"/>
          </a:p>
          <a:p>
            <a:r>
              <a:rPr lang="en-US" sz="1700" dirty="0">
                <a:solidFill>
                  <a:srgbClr val="17364A"/>
                </a:solidFill>
                <a:latin typeface="Aptos" pitchFamily="34" charset="0"/>
                <a:ea typeface="Aptos" pitchFamily="34" charset="-122"/>
                <a:cs typeface="Aptos" pitchFamily="34" charset="-120"/>
              </a:rPr>
              <a:t>Learners should use this module to identify the issues that require review and should confirm applicable requirements.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Public Comment, Social Listening, and Community Feedback Analysis matters because AI adoption changes how public health.</a:t>
            </a:r>
            <a:endParaRPr lang="en-US" sz="1700" dirty="0"/>
          </a:p>
          <a:p>
            <a:r>
              <a:rPr lang="en-US" sz="1700" dirty="0">
                <a:solidFill>
                  <a:srgbClr val="17364A"/>
                </a:solidFill>
                <a:latin typeface="Aptos" pitchFamily="34" charset="0"/>
                <a:ea typeface="Aptos" pitchFamily="34" charset="-122"/>
                <a:cs typeface="Aptos" pitchFamily="34" charset="-120"/>
              </a:rPr>
              <a:t>Without a structured approach, staff may rely on informal practices, vendor assurances, or one-time approvals that do not.</a:t>
            </a:r>
            <a:endParaRPr lang="en-US" sz="1700" dirty="0"/>
          </a:p>
          <a:p>
            <a:r>
              <a:rPr lang="en-US" sz="1700" dirty="0">
                <a:solidFill>
                  <a:srgbClr val="17364A"/>
                </a:solidFill>
                <a:latin typeface="Aptos" pitchFamily="34" charset="0"/>
                <a:ea typeface="Aptos" pitchFamily="34" charset="-122"/>
                <a:cs typeface="Aptos" pitchFamily="34" charset="-120"/>
              </a:rPr>
              <a:t>Public health agencies operate under legal authorities, public accountability, resource constraints, and community trust.</a:t>
            </a:r>
            <a:endParaRPr lang="en-US" sz="1700" dirty="0"/>
          </a:p>
          <a:p>
            <a:r>
              <a:rPr lang="en-US" sz="1700" dirty="0">
                <a:solidFill>
                  <a:srgbClr val="17364A"/>
                </a:solidFill>
                <a:latin typeface="Aptos" pitchFamily="34" charset="0"/>
                <a:ea typeface="Aptos" pitchFamily="34" charset="-122"/>
                <a:cs typeface="Aptos" pitchFamily="34" charset="-120"/>
              </a:rPr>
              <a:t>A module on this topic helps agencies define repeatable expectations before urgent situations arise.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Public Comment, Social Listening, and Community Feedback Analysis matters because AI adoption changes how public health.</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 public health agency is preparing to use AI in a workflow related to ethical analysis of public comments, social.</a:t>
            </a:r>
            <a:endParaRPr lang="en-US" sz="1700" dirty="0"/>
          </a:p>
          <a:p>
            <a:r>
              <a:rPr lang="en-US" sz="1700" dirty="0">
                <a:solidFill>
                  <a:srgbClr val="17364A"/>
                </a:solidFill>
                <a:latin typeface="Aptos" pitchFamily="34" charset="0"/>
                <a:ea typeface="Aptos" pitchFamily="34" charset="-122"/>
                <a:cs typeface="Aptos" pitchFamily="34" charset="-120"/>
              </a:rPr>
              <a:t>The project team initially treats the tool as a helpful efficiency aid, but governance reviewers recognize that the.</a:t>
            </a:r>
            <a:endParaRPr lang="en-US" sz="1700" dirty="0"/>
          </a:p>
          <a:p>
            <a:r>
              <a:rPr lang="en-US" sz="1700" dirty="0">
                <a:solidFill>
                  <a:srgbClr val="17364A"/>
                </a:solidFill>
                <a:latin typeface="Aptos" pitchFamily="34" charset="0"/>
                <a:ea typeface="Aptos" pitchFamily="34" charset="-122"/>
                <a:cs typeface="Aptos" pitchFamily="34" charset="-120"/>
              </a:rPr>
              <a:t>The agency responds by creating a clear artifact that defines intended use, prohibited use, responsible roles, review.</a:t>
            </a:r>
            <a:endParaRPr lang="en-US" sz="1700" dirty="0"/>
          </a:p>
          <a:p>
            <a:r>
              <a:rPr lang="en-US" sz="1700" dirty="0">
                <a:solidFill>
                  <a:srgbClr val="17364A"/>
                </a:solidFill>
                <a:latin typeface="Aptos" pitchFamily="34" charset="0"/>
                <a:ea typeface="Aptos" pitchFamily="34" charset="-122"/>
                <a:cs typeface="Aptos" pitchFamily="34" charset="-120"/>
              </a:rPr>
              <a:t>This converts a broad AI idea into a manageable public health practice.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 public health agency is preparing to use AI in a workflow related to ethical analysis of public comments, social.</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Topic Deep Dive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700" dirty="0"/>
          </a:p>
          <a:p>
            <a:r>
              <a:rPr lang="en-US" sz="1700" dirty="0">
                <a:solidFill>
                  <a:srgbClr val="17364A"/>
                </a:solidFill>
                <a:latin typeface="Aptos" pitchFamily="34" charset="0"/>
                <a:ea typeface="Aptos" pitchFamily="34" charset="-122"/>
                <a:cs typeface="Aptos" pitchFamily="34" charset="-120"/>
              </a:rPr>
              <a:t>Staff should identify who is affected, what data are used, what AI output is produced, who reviews the output, and what.</a:t>
            </a:r>
            <a:endParaRPr lang="en-US" sz="1700" dirty="0"/>
          </a:p>
          <a:p>
            <a:r>
              <a:rPr lang="en-US" sz="1700" dirty="0">
                <a:solidFill>
                  <a:srgbClr val="17364A"/>
                </a:solidFill>
                <a:latin typeface="Aptos" pitchFamily="34" charset="0"/>
                <a:ea typeface="Aptos" pitchFamily="34" charset="-122"/>
                <a:cs typeface="Aptos" pitchFamily="34" charset="-120"/>
              </a:rPr>
              <a:t>This prevents the module from becoming abstract and anchors the work in public health practice.</a:t>
            </a:r>
            <a:endParaRPr lang="en-US" sz="1700" dirty="0"/>
          </a:p>
          <a:p>
            <a:r>
              <a:rPr lang="en-US" sz="1700" dirty="0">
                <a:solidFill>
                  <a:srgbClr val="17364A"/>
                </a:solidFill>
                <a:latin typeface="Aptos" pitchFamily="34" charset="0"/>
                <a:ea typeface="Aptos" pitchFamily="34" charset="-122"/>
                <a:cs typeface="Aptos" pitchFamily="34" charset="-120"/>
              </a:rPr>
              <a:t>The second step is to assign responsibilities.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The first step in this topic is to define the decision or workflow clearly.</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700" dirty="0"/>
          </a:p>
          <a:p>
            <a:r>
              <a:rPr lang="en-US" sz="1700" dirty="0">
                <a:solidFill>
                  <a:srgbClr val="17364A"/>
                </a:solidFill>
                <a:latin typeface="Aptos" pitchFamily="34" charset="0"/>
                <a:ea typeface="Aptos" pitchFamily="34" charset="-122"/>
                <a:cs typeface="Aptos" pitchFamily="34" charset="-120"/>
              </a:rPr>
              <a:t>AI risks can change when data sources, models, vendors, policies, users, or public expectations change.</a:t>
            </a:r>
            <a:endParaRPr lang="en-US" sz="1700" dirty="0"/>
          </a:p>
          <a:p>
            <a:r>
              <a:rPr lang="en-US" sz="1700" dirty="0">
                <a:solidFill>
                  <a:srgbClr val="17364A"/>
                </a:solidFill>
                <a:latin typeface="Aptos" pitchFamily="34" charset="0"/>
                <a:ea typeface="Aptos" pitchFamily="34" charset="-122"/>
                <a:cs typeface="Aptos" pitchFamily="34" charset="-120"/>
              </a:rPr>
              <a:t>A guardrail is to define review intervals and change triggers.</a:t>
            </a:r>
            <a:endParaRPr lang="en-US" sz="1700" dirty="0"/>
          </a:p>
          <a:p>
            <a:r>
              <a:rPr lang="en-US" sz="1700" dirty="0">
                <a:solidFill>
                  <a:srgbClr val="17364A"/>
                </a:solidFill>
                <a:latin typeface="Aptos" pitchFamily="34" charset="0"/>
                <a:ea typeface="Aptos" pitchFamily="34" charset="-122"/>
                <a:cs typeface="Aptos" pitchFamily="34" charset="-120"/>
              </a:rPr>
              <a:t>Another failure mode is unclear ownership.</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 common failure mode is treating the topic as a one-time checklist.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This topic applies across generative AI, predictive analytics, NLP, RAG, automation, and agentic workflows.</a:t>
            </a:r>
            <a:endParaRPr lang="en-US" sz="1700" dirty="0"/>
          </a:p>
          <a:p>
            <a:r>
              <a:rPr lang="en-US" sz="1700" dirty="0">
                <a:solidFill>
                  <a:srgbClr val="17364A"/>
                </a:solidFill>
                <a:latin typeface="Aptos" pitchFamily="34" charset="0"/>
                <a:ea typeface="Aptos" pitchFamily="34" charset="-122"/>
                <a:cs typeface="Aptos" pitchFamily="34" charset="-120"/>
              </a:rPr>
              <a:t>The more sensitive the data, the more consequential the output, or the more automated the action, the stronger the.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This topic applies across generative AI, predictive analytics, NLP, RAG, automation, and agentic workflows.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What public health decision or workflow does this topic affect?</a:t>
            </a:r>
            <a:endParaRPr lang="en-US" sz="1700" dirty="0"/>
          </a:p>
          <a:p>
            <a:r>
              <a:rPr lang="en-US" sz="1700" dirty="0">
                <a:solidFill>
                  <a:srgbClr val="17364A"/>
                </a:solidFill>
                <a:latin typeface="Aptos" pitchFamily="34" charset="0"/>
                <a:ea typeface="Aptos" pitchFamily="34" charset="-122"/>
                <a:cs typeface="Aptos" pitchFamily="34" charset="-120"/>
              </a:rPr>
              <a:t>Who has authority to approve or pause the work?</a:t>
            </a:r>
            <a:endParaRPr lang="en-US" sz="1700" dirty="0"/>
          </a:p>
          <a:p>
            <a:r>
              <a:rPr lang="en-US" sz="1700" dirty="0">
                <a:solidFill>
                  <a:srgbClr val="17364A"/>
                </a:solidFill>
                <a:latin typeface="Aptos" pitchFamily="34" charset="0"/>
                <a:ea typeface="Aptos" pitchFamily="34" charset="-122"/>
                <a:cs typeface="Aptos" pitchFamily="34" charset="-120"/>
              </a:rPr>
              <a:t>What evidence would show that the workflow is responsible and effective?</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What public health decision or workflow does this topic affect?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700" dirty="0"/>
          </a:p>
          <a:p>
            <a:r>
              <a:rPr lang="en-US" sz="1700" dirty="0">
                <a:solidFill>
                  <a:srgbClr val="17364A"/>
                </a:solidFill>
                <a:latin typeface="Aptos" pitchFamily="34" charset="0"/>
                <a:ea typeface="Aptos" pitchFamily="34" charset="-122"/>
                <a:cs typeface="Aptos" pitchFamily="34" charset="-120"/>
              </a:rPr>
              <a:t>How will the agency know when the workflow needs to be revised?</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What equity, privacy, legal, security, or public trust risks require review?</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Create a practical public comment, social listening, and community feedback analysis artifact for one AI-supported public.</a:t>
            </a:r>
            <a:endParaRPr lang="en-US" sz="1700" dirty="0"/>
          </a:p>
          <a:p>
            <a:r>
              <a:rPr lang="en-US" sz="1700" dirty="0">
                <a:solidFill>
                  <a:srgbClr val="17364A"/>
                </a:solidFill>
                <a:latin typeface="Aptos" pitchFamily="34" charset="0"/>
                <a:ea typeface="Aptos" pitchFamily="34" charset="-122"/>
                <a:cs typeface="Aptos" pitchFamily="34" charset="-120"/>
              </a:rPr>
              <a:t>The artifact should define the use case, affected roles, review criteria, safeguards, documentation expectations,.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Create a practical public comment, social listening, and community feedback analysis artifact for one AI-supported public.</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Public Comment, Social Listening, and Community Feedback Analysis artifact</a:t>
            </a:r>
            <a:endParaRPr lang="en-US" sz="1700" dirty="0"/>
          </a:p>
          <a:p>
            <a:r>
              <a:rPr lang="en-US" sz="1700" dirty="0">
                <a:solidFill>
                  <a:srgbClr val="17364A"/>
                </a:solidFill>
                <a:latin typeface="Aptos" pitchFamily="34" charset="0"/>
                <a:ea typeface="Aptos" pitchFamily="34" charset="-122"/>
                <a:cs typeface="Aptos" pitchFamily="34" charset="-120"/>
              </a:rPr>
              <a:t>Role and responsibility table</a:t>
            </a:r>
            <a:endParaRPr lang="en-US" sz="1700" dirty="0"/>
          </a:p>
          <a:p>
            <a:r>
              <a:rPr lang="en-US" sz="1700" dirty="0">
                <a:solidFill>
                  <a:srgbClr val="17364A"/>
                </a:solidFill>
                <a:latin typeface="Aptos" pitchFamily="34" charset="0"/>
                <a:ea typeface="Aptos" pitchFamily="34" charset="-122"/>
                <a:cs typeface="Aptos" pitchFamily="34" charset="-120"/>
              </a:rPr>
              <a:t>Risk and safeguard summary</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Public Comment, Social Listening, and Community Feedback Analysis artifact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Escalation and monitoring plan</a:t>
            </a:r>
            <a:endParaRPr lang="en-US" sz="1700" dirty="0"/>
          </a:p>
          <a:p>
            <a:r>
              <a:rPr lang="en-US" sz="1700" dirty="0">
                <a:solidFill>
                  <a:srgbClr val="17364A"/>
                </a:solidFill>
                <a:latin typeface="Aptos" pitchFamily="34" charset="0"/>
                <a:ea typeface="Aptos" pitchFamily="34" charset="-122"/>
                <a:cs typeface="Aptos" pitchFamily="34" charset="-120"/>
              </a:rPr>
              <a:t>Approval or review note</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Escalation and monitoring plan</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Public Comment, Social Listening, and Community Feedback Analysis artifact</a:t>
            </a:r>
            <a:endParaRPr lang="en-US" sz="1700" dirty="0"/>
          </a:p>
          <a:p>
            <a:r>
              <a:rPr lang="en-US" sz="1700" dirty="0">
                <a:solidFill>
                  <a:srgbClr val="17364A"/>
                </a:solidFill>
                <a:latin typeface="Aptos" pitchFamily="34" charset="0"/>
                <a:ea typeface="Aptos" pitchFamily="34" charset="-122"/>
                <a:cs typeface="Aptos" pitchFamily="34" charset="-120"/>
              </a:rPr>
              <a:t>Role and responsibility table</a:t>
            </a:r>
            <a:endParaRPr lang="en-US" sz="1700" dirty="0"/>
          </a:p>
          <a:p>
            <a:r>
              <a:rPr lang="en-US" sz="1700" dirty="0">
                <a:solidFill>
                  <a:srgbClr val="17364A"/>
                </a:solidFill>
                <a:latin typeface="Aptos" pitchFamily="34" charset="0"/>
                <a:ea typeface="Aptos" pitchFamily="34" charset="-122"/>
                <a:cs typeface="Aptos" pitchFamily="34" charset="-120"/>
              </a:rPr>
              <a:t>Risk and safeguard summary</a:t>
            </a:r>
            <a:endParaRPr lang="en-US" sz="1700" dirty="0"/>
          </a:p>
          <a:p>
            <a:r>
              <a:rPr lang="en-US" sz="1700" dirty="0">
                <a:solidFill>
                  <a:srgbClr val="17364A"/>
                </a:solidFill>
                <a:latin typeface="Aptos" pitchFamily="34" charset="0"/>
                <a:ea typeface="Aptos" pitchFamily="34" charset="-122"/>
                <a:cs typeface="Aptos" pitchFamily="34" charset="-120"/>
              </a:rPr>
              <a:t>Escalation and monitoring plan</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Public Comment, Social Listening, and Community Feedback Analysis artifact</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1. What is the strongest evidence that public comment, social listening, and community feedback analysis has been applied.</a:t>
            </a:r>
            <a:endParaRPr lang="en-US" sz="1700" dirty="0"/>
          </a:p>
          <a:p>
            <a:r>
              <a:rPr lang="en-US" sz="1700" dirty="0">
                <a:solidFill>
                  <a:srgbClr val="17364A"/>
                </a:solidFill>
                <a:latin typeface="Aptos" pitchFamily="34" charset="0"/>
                <a:ea typeface="Aptos" pitchFamily="34" charset="-122"/>
                <a:cs typeface="Aptos" pitchFamily="34" charset="-120"/>
              </a:rPr>
              <a:t>2. What is the best reason to assign an accountability owner?</a:t>
            </a:r>
            <a:endParaRPr lang="en-US" sz="1700" dirty="0"/>
          </a:p>
          <a:p>
            <a:r>
              <a:rPr lang="en-US" sz="1700" dirty="0">
                <a:solidFill>
                  <a:srgbClr val="17364A"/>
                </a:solidFill>
                <a:latin typeface="Aptos" pitchFamily="34" charset="0"/>
                <a:ea typeface="Aptos" pitchFamily="34" charset="-122"/>
                <a:cs typeface="Aptos" pitchFamily="34" charset="-120"/>
              </a:rPr>
              <a:t>3. When should an AI-supported workflow be escalated for review?</a:t>
            </a:r>
            <a:endParaRPr lang="en-US" sz="1700" dirty="0"/>
          </a:p>
          <a:p>
            <a:r>
              <a:rPr lang="en-US" sz="1700" dirty="0">
                <a:solidFill>
                  <a:srgbClr val="17364A"/>
                </a:solidFill>
                <a:latin typeface="Aptos" pitchFamily="34" charset="0"/>
                <a:ea typeface="Aptos" pitchFamily="34" charset="-122"/>
                <a:cs typeface="Aptos" pitchFamily="34" charset="-120"/>
              </a:rPr>
              <a:t>4. Which practice best supports public accountability?</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1. What is the strongest evidence that public comment, social listening, and community feedback analysis has been applied.</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Shape 5"/>
          <p:cNvSpPr/>
          <p:nvPr/>
        </p:nvSpPr>
        <p:spPr>
          <a:xfrm>
            <a:off x="640080" y="658368"/>
            <a:ext cx="420624" cy="420624"/>
          </a:xfrm>
          <a:prstGeom prst="ellipse">
            <a:avLst/>
          </a:prstGeom>
          <a:solidFill>
            <a:srgbClr val="0068B7"/>
          </a:solidFill>
          <a:ln w="12700">
            <a:solidFill>
              <a:srgbClr val="0068B7"/>
            </a:solidFill>
            <a:prstDash val="solid"/>
          </a:ln>
        </p:spPr>
      </p:sp>
      <p:sp>
        <p:nvSpPr>
          <p:cNvPr id="8" name="Text 6"/>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9" name="Text 7"/>
          <p:cNvSpPr/>
          <p:nvPr/>
        </p:nvSpPr>
        <p:spPr>
          <a:xfrm>
            <a:off x="640080" y="621792"/>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10" name="Text 8"/>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700" dirty="0"/>
          </a:p>
          <a:p>
            <a:r>
              <a:rPr lang="en-US" sz="1700" dirty="0">
                <a:solidFill>
                  <a:srgbClr val="17364A"/>
                </a:solidFill>
                <a:latin typeface="Aptos" pitchFamily="34" charset="0"/>
                <a:ea typeface="Aptos" pitchFamily="34" charset="-122"/>
                <a:cs typeface="Aptos" pitchFamily="34" charset="-120"/>
              </a:rPr>
              <a:t>NIST Artificial Intelligence Risk Management Framework and NIST Generative AI Profile:.</a:t>
            </a:r>
            <a:endParaRPr lang="en-US" sz="1700" dirty="0"/>
          </a:p>
          <a:p>
            <a:r>
              <a:rPr lang="en-US" sz="1700" dirty="0">
                <a:solidFill>
                  <a:srgbClr val="17364A"/>
                </a:solidFill>
                <a:latin typeface="Aptos" pitchFamily="34" charset="0"/>
                <a:ea typeface="Aptos" pitchFamily="34" charset="-122"/>
                <a:cs typeface="Aptos" pitchFamily="34" charset="-120"/>
              </a:rPr>
              <a:t>WHO Ethics and Governance of Artificial Intelligence for Health guidance: https://www.who.int/publications/i/item/9789240029200</a:t>
            </a:r>
            <a:endParaRPr lang="en-US" sz="1700" dirty="0"/>
          </a:p>
          <a:p>
            <a:r>
              <a:rPr lang="en-US" sz="1700" dirty="0">
                <a:solidFill>
                  <a:srgbClr val="17364A"/>
                </a:solidFill>
                <a:latin typeface="Aptos" pitchFamily="34" charset="0"/>
                <a:ea typeface="Aptos" pitchFamily="34" charset="-122"/>
                <a:cs typeface="Aptos" pitchFamily="34" charset="-120"/>
              </a:rPr>
              <a:t>OWASP Top 10 for Large Language Model Applications: https://owasp.org/www-project-top-10-for-large-language-model-applications/</a:t>
            </a:r>
            <a:endParaRPr lang="en-US" sz="1700" dirty="0"/>
          </a:p>
        </p:txBody>
      </p:sp>
      <p:sp>
        <p:nvSpPr>
          <p:cNvPr id="11" name="Shape 9"/>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2" name="Text 10"/>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3" name="Text 11"/>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1250" dirty="0"/>
          </a:p>
        </p:txBody>
      </p:sp>
      <p:sp>
        <p:nvSpPr>
          <p:cNvPr id="14" name="Shape 12"/>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5" name="Text 13"/>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6" name="Text 14"/>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Comment, Social Listening, and Community Feedback Analysis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7" name="Text 5"/>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 Continued</a:t>
            </a:r>
            <a:endParaRPr lang="en-US" sz="2700" dirty="0"/>
          </a:p>
        </p:txBody>
      </p:sp>
      <p:sp>
        <p:nvSpPr>
          <p:cNvPr id="8" name="Text 6"/>
          <p:cNvSpPr/>
          <p:nvPr/>
        </p:nvSpPr>
        <p:spPr>
          <a:xfrm>
            <a:off x="868680" y="1417320"/>
            <a:ext cx="6675120" cy="4434840"/>
          </a:xfrm>
          <a:prstGeom prst="rect">
            <a:avLst/>
          </a:prstGeom>
          <a:noFill/>
          <a:ln/>
        </p:spPr>
        <p:txBody>
          <a:bodyPr wrap="square" lIns="635" tIns="635" rIns="635" bIns="635" rtlCol="0" anchor="t">
            <a:normAutofit/>
          </a:bodyPr>
          <a:lstStyle/>
          <a:p>
            <a:r>
              <a:rPr lang="en-US" sz="170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 language access, and.</a:t>
            </a:r>
            <a:endParaRPr lang="en-US" sz="1700" dirty="0"/>
          </a:p>
        </p:txBody>
      </p:sp>
      <p:sp>
        <p:nvSpPr>
          <p:cNvPr id="9" name="Shape 7"/>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0" name="Text 8"/>
          <p:cNvSpPr/>
          <p:nvPr/>
        </p:nvSpPr>
        <p:spPr>
          <a:xfrm>
            <a:off x="8074152" y="156362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Key idea</a:t>
            </a:r>
            <a:endParaRPr lang="en-US" sz="950" dirty="0"/>
          </a:p>
        </p:txBody>
      </p:sp>
      <p:sp>
        <p:nvSpPr>
          <p:cNvPr id="11" name="Text 9"/>
          <p:cNvSpPr/>
          <p:nvPr/>
        </p:nvSpPr>
        <p:spPr>
          <a:xfrm>
            <a:off x="8074152" y="1856232"/>
            <a:ext cx="2825496" cy="126187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 language access, and.</a:t>
            </a:r>
            <a:endParaRPr lang="en-US" sz="1250" dirty="0"/>
          </a:p>
        </p:txBody>
      </p:sp>
      <p:sp>
        <p:nvSpPr>
          <p:cNvPr id="12" name="Shape 10"/>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3" name="Text 11"/>
          <p:cNvSpPr/>
          <p:nvPr/>
        </p:nvSpPr>
        <p:spPr>
          <a:xfrm>
            <a:off x="8074152" y="3666744"/>
            <a:ext cx="2825496" cy="201168"/>
          </a:xfrm>
          <a:prstGeom prst="rect">
            <a:avLst/>
          </a:prstGeom>
          <a:noFill/>
          <a:ln/>
        </p:spPr>
        <p:txBody>
          <a:bodyPr wrap="square" lIns="0" tIns="0" rIns="0" bIns="0" rtlCol="0" anchor="ctr"/>
          <a:lstStyle/>
          <a:p>
            <a:pPr indent="0" marL="0">
              <a:buNone/>
            </a:pPr>
            <a:r>
              <a:rPr lang="en-US" sz="950" b="1" dirty="0">
                <a:solidFill>
                  <a:srgbClr val="0068B7"/>
                </a:solidFill>
                <a:latin typeface="Aptos" pitchFamily="34" charset="0"/>
                <a:ea typeface="Aptos" pitchFamily="34" charset="-122"/>
                <a:cs typeface="Aptos" pitchFamily="34" charset="-120"/>
              </a:rPr>
              <a:t>Use this for</a:t>
            </a:r>
            <a:endParaRPr lang="en-US" sz="950" dirty="0"/>
          </a:p>
        </p:txBody>
      </p:sp>
      <p:sp>
        <p:nvSpPr>
          <p:cNvPr id="14" name="Text 12"/>
          <p:cNvSpPr/>
          <p:nvPr/>
        </p:nvSpPr>
        <p:spPr>
          <a:xfrm>
            <a:off x="8074152" y="3959352"/>
            <a:ext cx="2825496" cy="1170432"/>
          </a:xfrm>
          <a:prstGeom prst="rect">
            <a:avLst/>
          </a:prstGeom>
          <a:noFill/>
          <a:ln/>
        </p:spPr>
        <p:txBody>
          <a:bodyPr wrap="square" lIns="0" tIns="0" rIns="0" bIns="0" rtlCol="0" anchor="t">
            <a:normAutofit/>
          </a:bodyPr>
          <a:lstStyle/>
          <a:p>
            <a:pPr indent="0" marL="0">
              <a:buNone/>
            </a:pPr>
            <a:r>
              <a:rPr lang="en-US" sz="12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Public Comment, Social Listening, and Community Feedback Analysis</dc:title>
  <dc:subject>Public Comment, Social Listening, and Community Feedback Analysis learning module</dc:subject>
  <dc:creator>Paula Soper</dc:creator>
  <cp:lastModifiedBy>Paula Soper</cp:lastModifiedBy>
  <cp:revision>1</cp:revision>
  <dcterms:created xsi:type="dcterms:W3CDTF">2026-07-12T18:54:57Z</dcterms:created>
  <dcterms:modified xsi:type="dcterms:W3CDTF">2026-07-12T18:54:57Z</dcterms:modified>
</cp:coreProperties>
</file>