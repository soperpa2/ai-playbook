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7efef7e7c74cb1" /><Relationship Type="http://schemas.openxmlformats.org/officeDocument/2006/relationships/extended-properties" Target="/docProps/app.xml" Id="R2df147bd51834a9d" /><Relationship Type="http://schemas.openxmlformats.org/officeDocument/2006/relationships/officeDocument" Target="/ppt/presentation.xml" Id="R74a4cb1a4a104525" /></Relationships>
</file>

<file path=ppt/presentation.xml><?xml version="1.0" encoding="utf-8"?>
<p:presentation xmlns:p="http://schemas.openxmlformats.org/presentationml/2006/main">
  <p:sldMasterIdLst>
    <p:sldMasterId xmlns:r="http://schemas.openxmlformats.org/officeDocument/2006/relationships" id="2147483648" r:id="R4d4a5a361300458a"/>
  </p:sldMasterIdLst>
  <p:notesMasterIdLst>
    <p:notesMasterId xmlns:r="http://schemas.openxmlformats.org/officeDocument/2006/relationships" r:id="R55f0f98e98a245cf"/>
  </p:notesMasterIdLst>
  <p:sldIdLst>
    <p:sldId xmlns:r="http://schemas.openxmlformats.org/officeDocument/2006/relationships" id="256" r:id="R48f39677b2174798"/>
    <p:sldId xmlns:r="http://schemas.openxmlformats.org/officeDocument/2006/relationships" id="257" r:id="Re8eb572703ca4c80"/>
    <p:sldId xmlns:r="http://schemas.openxmlformats.org/officeDocument/2006/relationships" id="258" r:id="Rfb7cdeadf1604662"/>
    <p:sldId xmlns:r="http://schemas.openxmlformats.org/officeDocument/2006/relationships" id="259" r:id="R4ffb54e15d674c61"/>
    <p:sldId xmlns:r="http://schemas.openxmlformats.org/officeDocument/2006/relationships" id="260" r:id="R75f3ca5fd4f6458d"/>
    <p:sldId xmlns:r="http://schemas.openxmlformats.org/officeDocument/2006/relationships" id="261" r:id="Re658c6546f08491b"/>
    <p:sldId xmlns:r="http://schemas.openxmlformats.org/officeDocument/2006/relationships" id="262" r:id="R390fbf7895174e00"/>
    <p:sldId xmlns:r="http://schemas.openxmlformats.org/officeDocument/2006/relationships" id="263" r:id="R50d7cbc383bf4ac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bfb3b076894761" /><Relationship Type="http://schemas.openxmlformats.org/officeDocument/2006/relationships/slideMaster" Target="/ppt/slideMasters/slideMaster1.xml" Id="R4d4a5a361300458a" /><Relationship Type="http://schemas.openxmlformats.org/officeDocument/2006/relationships/notesMaster" Target="/ppt/notesMasters/notesMaster1.xml" Id="R55f0f98e98a245cf" /><Relationship Type="http://schemas.openxmlformats.org/officeDocument/2006/relationships/presProps" Target="/ppt/presProps.xml" Id="R76bf1bf37a0142c0" /><Relationship Type="http://schemas.openxmlformats.org/officeDocument/2006/relationships/tableStyles" Target="/ppt/tableStyles.xml" Id="R4244b9836def431b" /><Relationship Type="http://schemas.openxmlformats.org/officeDocument/2006/relationships/slide" Target="/ppt/slides/slide1.xml" Id="R48f39677b2174798" /><Relationship Type="http://schemas.openxmlformats.org/officeDocument/2006/relationships/slide" Target="/ppt/slides/slide2.xml" Id="Re8eb572703ca4c80" /><Relationship Type="http://schemas.openxmlformats.org/officeDocument/2006/relationships/slide" Target="/ppt/slides/slide3.xml" Id="Rfb7cdeadf1604662" /><Relationship Type="http://schemas.openxmlformats.org/officeDocument/2006/relationships/slide" Target="/ppt/slides/slide4.xml" Id="R4ffb54e15d674c61" /><Relationship Type="http://schemas.openxmlformats.org/officeDocument/2006/relationships/slide" Target="/ppt/slides/slide5.xml" Id="R75f3ca5fd4f6458d" /><Relationship Type="http://schemas.openxmlformats.org/officeDocument/2006/relationships/slide" Target="/ppt/slides/slide6.xml" Id="Re658c6546f08491b" /><Relationship Type="http://schemas.openxmlformats.org/officeDocument/2006/relationships/slide" Target="/ppt/slides/slide7.xml" Id="R390fbf7895174e00" /><Relationship Type="http://schemas.openxmlformats.org/officeDocument/2006/relationships/slide" Target="/ppt/slides/slide8.xml" Id="R50d7cbc383bf4a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086667841d4a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59411e0c52458f" /><Relationship Type="http://schemas.openxmlformats.org/officeDocument/2006/relationships/notesMaster" Target="/ppt/notesMasters/notesMaster1.xml" Id="Rb4904a5ffea548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9a0b5781274a21" /><Relationship Type="http://schemas.openxmlformats.org/officeDocument/2006/relationships/notesMaster" Target="/ppt/notesMasters/notesMaster1.xml" Id="Rd3aa06141c8548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7fca66a5e543b0" /><Relationship Type="http://schemas.openxmlformats.org/officeDocument/2006/relationships/notesMaster" Target="/ppt/notesMasters/notesMaster1.xml" Id="R9b472a74eff94a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d3ec376b32474e" /><Relationship Type="http://schemas.openxmlformats.org/officeDocument/2006/relationships/notesMaster" Target="/ppt/notesMasters/notesMaster1.xml" Id="R98be5ce6255142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bdf784ea104cf7" /><Relationship Type="http://schemas.openxmlformats.org/officeDocument/2006/relationships/notesMaster" Target="/ppt/notesMasters/notesMaster1.xml" Id="R97feaf7d3e304f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ebf46e13574483" /><Relationship Type="http://schemas.openxmlformats.org/officeDocument/2006/relationships/notesMaster" Target="/ppt/notesMasters/notesMaster1.xml" Id="Rb8f9bfce0e4749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11e7bc27bd4b07" /><Relationship Type="http://schemas.openxmlformats.org/officeDocument/2006/relationships/notesMaster" Target="/ppt/notesMasters/notesMaster1.xml" Id="Rab8b6514a96a4e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d75e8518794a03" /><Relationship Type="http://schemas.openxmlformats.org/officeDocument/2006/relationships/notesMaster" Target="/ppt/notesMasters/notesMaster1.xml" Id="R6981f4e046cf47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Automation Bias and Over-Trust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Automation bias occurs when people accept AI outputs too readily because they appear confident, precise, or authoritative.</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3, 7, 11, 12, 13 and Tools 14, 40, 46, 6.</a:t>
            </a:r>
          </a:p>
          <a:p xmlns:a="http://schemas.openxmlformats.org/drawingml/2006/main">
            <a:r>
              <a:t>Emphasize the core guardrail: Repeated exposure to fluent AI outputs can reduce scrutiny unless workflows require deliberate review and documentation.</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3, 7, 11, 12, 13 and Tools 14, 40, 46, 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3, 7, 11, 12, 13 and Tools 14, 40, 46, 6.</a:t>
            </a:r>
          </a:p>
          <a:p xmlns:a="http://schemas.openxmlformats.org/drawingml/2006/main">
            <a:r>
              <a:t>Reinforce this definition: Definition: Automation bias occurs when people over-rely on AI outputs because the system appears fast, confident, technical, or authoritative. Over-trust can be especially risky in high-pressure public health 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3, 7, 11, 12, 13 and Tools 14, 40, 46, 6.</a:t>
            </a:r>
          </a:p>
          <a:p xmlns:a="http://schemas.openxmlformats.org/drawingml/2006/main">
            <a:r>
              <a:t>Invite participants to identify where these practices would need to be documented in their own department.</a:t>
            </a:r>
          </a:p>
          <a:p xmlns:a="http://schemas.openxmlformats.org/drawingml/2006/main">
            <a:r>
              <a:t>Start with Warning Signs,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3, 7, 11, 12, 13 and Tools 14, 40, 46, 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3, 7, 11, 12, 13 and Tools 14, 40, 46, 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Automation bias review checklist, Decision owner sign-off process, Override and correction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3, 7, 11, 12, 13 and Tools 14, 40, 46, 6.</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199b4c364742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be1a4bf8984e26" /><Relationship Type="http://schemas.openxmlformats.org/officeDocument/2006/relationships/slideLayout" Target="/ppt/slideLayouts/slideLayout1.xml" Id="R1f22a669457449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22a669457449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fcdef59b62450d" /><Relationship Type="http://schemas.openxmlformats.org/officeDocument/2006/relationships/image" Target="/ppt/media/image.png" Id="R11065bf5a1074a86" /><Relationship Type="http://schemas.openxmlformats.org/officeDocument/2006/relationships/notesSlide" Target="/ppt/notesSlides/notesSlide1.xml" Id="R8a82bba3ac5c41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cf8c0314c5442a" /><Relationship Type="http://schemas.openxmlformats.org/officeDocument/2006/relationships/notesSlide" Target="/ppt/notesSlides/notesSlide2.xml" Id="R389df5cff15441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75644b4eab470e" /><Relationship Type="http://schemas.openxmlformats.org/officeDocument/2006/relationships/notesSlide" Target="/ppt/notesSlides/notesSlide3.xml" Id="R5f7e321c1ab54a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316efe4ff74d58" /><Relationship Type="http://schemas.openxmlformats.org/officeDocument/2006/relationships/notesSlide" Target="/ppt/notesSlides/notesSlide4.xml" Id="R7b1238ecaf3d43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ff5cce6f45460a" /><Relationship Type="http://schemas.openxmlformats.org/officeDocument/2006/relationships/notesSlide" Target="/ppt/notesSlides/notesSlide5.xml" Id="R1dcf5803c48a49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b08c5ad6c54eb5" /><Relationship Type="http://schemas.openxmlformats.org/officeDocument/2006/relationships/notesSlide" Target="/ppt/notesSlides/notesSlide6.xml" Id="R0e93b1c4541f41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f3234735cc4e24" /><Relationship Type="http://schemas.openxmlformats.org/officeDocument/2006/relationships/notesSlide" Target="/ppt/notesSlides/notesSlide7.xml" Id="R02e4ac3eb61845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e0f09d9878472a" /><Relationship Type="http://schemas.openxmlformats.org/officeDocument/2006/relationships/notesSlide" Target="/ppt/notesSlides/notesSlide8.xml" Id="R108393a664584c63"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1065bf5a1074a86"/>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E2ADEA6-14DF-4AB8-B6B5-FB3D1338FE25}"/>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11</a:t>
            </a:r>
          </a:p>
        </p:txBody>
      </p:sp>
      <p:sp>
        <p:nvSpPr>
          <p:cNvPr id="3" name="">
            <a:extLst xmlns:a="http://schemas.openxmlformats.org/drawingml/2006/main">
              <a:ext uri="{FF2B5EF4-FFF2-40B4-BE49-F238E27FC236}">
                <a16:creationId xmlns:a16="http://schemas.microsoft.com/office/drawing/2014/main" id="{BB09E2A4-6CBD-45FC-A3A6-2CB2FCE0636F}"/>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Automation Bias and Over-Trust</a:t>
            </a:r>
          </a:p>
        </p:txBody>
      </p:sp>
      <p:sp>
        <p:nvSpPr>
          <p:cNvPr id="4" name="">
            <a:extLst xmlns:a="http://schemas.openxmlformats.org/drawingml/2006/main">
              <a:ext uri="{FF2B5EF4-FFF2-40B4-BE49-F238E27FC236}">
                <a16:creationId xmlns:a16="http://schemas.microsoft.com/office/drawing/2014/main" id="{241CE92F-71F7-4EB3-8CE2-9231370B13F9}"/>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70148352-342A-4EAD-9FD6-8FC60490CD77}"/>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4732D3A0-8ABA-471C-A58E-9C3F75F440B5}"/>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3952896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CD9C73E-FAAC-4589-833A-3647D023C47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4174CF1-4C42-4B8B-9D43-9E20BAB1432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79E8C4FC-EDA2-44CE-947B-AAAF2476661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D7DDE09-7A3F-446A-878C-23824CC2D6A7}"/>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Automation bias occurs when people accept AI outputs too readily because they appear confident, precise, or authoritative.</a:t>
            </a:r>
          </a:p>
        </p:txBody>
      </p:sp>
      <p:sp>
        <p:nvSpPr>
          <p:cNvPr id="5" name="">
            <a:extLst xmlns:a="http://schemas.openxmlformats.org/drawingml/2006/main">
              <a:ext uri="{FF2B5EF4-FFF2-40B4-BE49-F238E27FC236}">
                <a16:creationId xmlns:a16="http://schemas.microsoft.com/office/drawing/2014/main" id="{54C6EC54-3F10-4DE5-9B2D-1F8072097BDD}"/>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65841C3-4773-4D3D-8208-D1F07A77E8D7}"/>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E6655D34-86E7-4CA1-A513-AEF00679A575}"/>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55BADF10-EAF0-4CD7-8B83-791EDF481E26}"/>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Automation bias is a practical operational risk. Staff may over-trust outputs that are fluent, precise, or repeated often. Public health workflows need review steps that make skepticism normal and expected.</a:t>
            </a:r>
          </a:p>
        </p:txBody>
      </p:sp>
      <p:sp>
        <p:nvSpPr>
          <p:cNvPr id="9" name="">
            <a:extLst xmlns:a="http://schemas.openxmlformats.org/drawingml/2006/main">
              <a:ext uri="{FF2B5EF4-FFF2-40B4-BE49-F238E27FC236}">
                <a16:creationId xmlns:a16="http://schemas.microsoft.com/office/drawing/2014/main" id="{17A2B8A0-41D2-4CDB-B4B8-D28859C7A570}"/>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9A4AD15-6BD4-4B08-B14B-84F8C174E8D2}"/>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D1F3DC1F-DF42-46A2-ADF8-3C8AF4773E03}"/>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6F98C27A-35C6-4FFD-AADA-39CF88C7C5FC}"/>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Repeated exposure to fluent AI outputs can reduce scrutiny unless workflows require deliberate review and documentation.</a:t>
            </a:r>
          </a:p>
        </p:txBody>
      </p:sp>
      <p:sp>
        <p:nvSpPr>
          <p:cNvPr id="13" name="">
            <a:extLst xmlns:a="http://schemas.openxmlformats.org/drawingml/2006/main">
              <a:ext uri="{FF2B5EF4-FFF2-40B4-BE49-F238E27FC236}">
                <a16:creationId xmlns:a16="http://schemas.microsoft.com/office/drawing/2014/main" id="{08C9DDE3-7954-4380-8200-B38F83A5301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4" name="">
            <a:extLst xmlns:a="http://schemas.openxmlformats.org/drawingml/2006/main">
              <a:ext uri="{FF2B5EF4-FFF2-40B4-BE49-F238E27FC236}">
                <a16:creationId xmlns:a16="http://schemas.microsoft.com/office/drawing/2014/main" id="{F766DADA-EB6B-4DF0-B720-128176041B4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48791550"/>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269B01-F0B6-41B7-9F2F-0123172FE05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AFA0D71-4AA8-4B21-AF07-3B888D89DF4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2D1FF66B-A5B0-4B2E-A0F7-34CFCA2892A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4D02C5A-3950-4534-B6BF-8FF074859307}"/>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8D5F3DFF-CDB8-4EFE-B117-43FEE28FDE53}"/>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Automation Bias and Over-Trust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B269395B-6563-46DD-8BDF-00C4BA62BCA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7" name="">
            <a:extLst xmlns:a="http://schemas.openxmlformats.org/drawingml/2006/main">
              <a:ext uri="{FF2B5EF4-FFF2-40B4-BE49-F238E27FC236}">
                <a16:creationId xmlns:a16="http://schemas.microsoft.com/office/drawing/2014/main" id="{A5812C2E-E54D-414E-BA2D-F0A16B1314E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8914900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95EF78-771D-4987-A432-6656720F3EF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9BF7A2A-45D4-4349-A6B0-4E7B4E4BE31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8434CFA3-FB7D-4483-8BDE-1F30DDD8C63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8AE1402-AACB-4346-A1FB-951D5ED3C313}"/>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Automation bias occurs when people give too much weight to AI output because it appears confident, precise, or authoritative. In public health, this can affect surveillance review, risk scoring, inspection documentation, prioritization, public messaging, or resource decisions. Deliberate review practices are needed so AI supports, rather than substitutes for, professional judgment.</a:t>
            </a:r>
          </a:p>
        </p:txBody>
      </p:sp>
      <p:sp>
        <p:nvSpPr>
          <p:cNvPr id="5" name="">
            <a:extLst xmlns:a="http://schemas.openxmlformats.org/drawingml/2006/main">
              <a:ext uri="{FF2B5EF4-FFF2-40B4-BE49-F238E27FC236}">
                <a16:creationId xmlns:a16="http://schemas.microsoft.com/office/drawing/2014/main" id="{CC1A69F4-79DA-4638-A660-BBBE824E5D2F}"/>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2EA2C4A-4F3F-497B-AB8C-95980C7C01EB}"/>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AFF819A-B81B-4918-BE54-E5CB416848D9}"/>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36D873B8-FAAF-4216-AF7C-7724CB9AE409}"/>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Definition: Automation bias occurs when people over-rely on AI outputs because the system appears fast, confident, technical, or authoritative. Over-trust can be especially risky in high-pressure public health settings.</a:t>
            </a:r>
          </a:p>
        </p:txBody>
      </p:sp>
      <p:sp>
        <p:nvSpPr>
          <p:cNvPr id="9" name="">
            <a:extLst xmlns:a="http://schemas.openxmlformats.org/drawingml/2006/main">
              <a:ext uri="{FF2B5EF4-FFF2-40B4-BE49-F238E27FC236}">
                <a16:creationId xmlns:a16="http://schemas.microsoft.com/office/drawing/2014/main" id="{16D05B05-EAF0-4B94-A96A-02970A97AC8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0" name="">
            <a:extLst xmlns:a="http://schemas.openxmlformats.org/drawingml/2006/main">
              <a:ext uri="{FF2B5EF4-FFF2-40B4-BE49-F238E27FC236}">
                <a16:creationId xmlns:a16="http://schemas.microsoft.com/office/drawing/2014/main" id="{045AF0BD-EBD0-4951-840C-69666B36A2A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221401952"/>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7FAFEA-E954-4CF5-8571-2C5E3FAB476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43427DA-07A6-4C3C-97EE-607C208EC51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28087F4E-35F9-4A30-99C0-46DD5F1AEB9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16CB23A-8BC9-48AD-A311-1BC9BFD514C8}"/>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1271A24-DE2C-4F8C-A307-A8CF2345205F}"/>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E99FADD8-67B1-497F-AAB9-808C7433D090}"/>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Warning Signs</a:t>
            </a:r>
          </a:p>
        </p:txBody>
      </p:sp>
      <p:sp>
        <p:nvSpPr>
          <p:cNvPr id="7" name="">
            <a:extLst xmlns:a="http://schemas.openxmlformats.org/drawingml/2006/main">
              <a:ext uri="{FF2B5EF4-FFF2-40B4-BE49-F238E27FC236}">
                <a16:creationId xmlns:a16="http://schemas.microsoft.com/office/drawing/2014/main" id="{7550A3BD-AB7A-45D7-B839-7D047D16D9B2}"/>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Staff stop checking sources because AI summaries are usually fluent. Risk scores become the primary basis for decisions without review of context. Draft messages are approved without checking public health guidance, equity implications, or.</a:t>
            </a:r>
          </a:p>
        </p:txBody>
      </p:sp>
      <p:sp>
        <p:nvSpPr>
          <p:cNvPr id="8" name="">
            <a:extLst xmlns:a="http://schemas.openxmlformats.org/drawingml/2006/main">
              <a:ext uri="{FF2B5EF4-FFF2-40B4-BE49-F238E27FC236}">
                <a16:creationId xmlns:a16="http://schemas.microsoft.com/office/drawing/2014/main" id="{78D120A8-459B-4F5D-B303-0F3B197B4E16}"/>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F54F9BD-8852-44DE-A297-247BAA957310}"/>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6F4B1BDE-F3FB-4F73-82AF-C9ECDBBE3A77}"/>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Controls</a:t>
            </a:r>
          </a:p>
        </p:txBody>
      </p:sp>
      <p:sp>
        <p:nvSpPr>
          <p:cNvPr id="11" name="">
            <a:extLst xmlns:a="http://schemas.openxmlformats.org/drawingml/2006/main">
              <a:ext uri="{FF2B5EF4-FFF2-40B4-BE49-F238E27FC236}">
                <a16:creationId xmlns:a16="http://schemas.microsoft.com/office/drawing/2014/main" id="{DF95AC5D-160A-4D74-BF23-80D0C5BE9B74}"/>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second-review requirements for high-impact outputs. Require confidence, limitation, source, and uncertainty notes in briefs. Separate AI recommendations from human decisions in documentation. Train staff to look for omissions, unsupported.</a:t>
            </a:r>
          </a:p>
        </p:txBody>
      </p:sp>
      <p:sp>
        <p:nvSpPr>
          <p:cNvPr id="12" name="">
            <a:extLst xmlns:a="http://schemas.openxmlformats.org/drawingml/2006/main">
              <a:ext uri="{FF2B5EF4-FFF2-40B4-BE49-F238E27FC236}">
                <a16:creationId xmlns:a16="http://schemas.microsoft.com/office/drawing/2014/main" id="{902BE84A-F86C-4709-BD02-6665EF83F0E6}"/>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CCDA71A5-74AA-4FDD-BD96-4C8129519E13}"/>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D75755A1-34D6-45B7-B267-465548724C4D}"/>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Monitoring</a:t>
            </a:r>
          </a:p>
        </p:txBody>
      </p:sp>
      <p:sp>
        <p:nvSpPr>
          <p:cNvPr id="15" name="">
            <a:extLst xmlns:a="http://schemas.openxmlformats.org/drawingml/2006/main">
              <a:ext uri="{FF2B5EF4-FFF2-40B4-BE49-F238E27FC236}">
                <a16:creationId xmlns:a16="http://schemas.microsoft.com/office/drawing/2014/main" id="{163F8B3F-5BC6-4C30-9C47-780F3DBACA6B}"/>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Audit samples of AI-assisted work. Track overrides, corrections, incidents, complaints, and false positives or false negatives. Review whether staff are using the tool as intended or developing unsafe shortcuts.</a:t>
            </a:r>
          </a:p>
        </p:txBody>
      </p:sp>
      <p:sp>
        <p:nvSpPr>
          <p:cNvPr id="16" name="">
            <a:extLst xmlns:a="http://schemas.openxmlformats.org/drawingml/2006/main">
              <a:ext uri="{FF2B5EF4-FFF2-40B4-BE49-F238E27FC236}">
                <a16:creationId xmlns:a16="http://schemas.microsoft.com/office/drawing/2014/main" id="{6437A6E7-0553-4224-A817-CF37E8000B4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7" name="">
            <a:extLst xmlns:a="http://schemas.openxmlformats.org/drawingml/2006/main">
              <a:ext uri="{FF2B5EF4-FFF2-40B4-BE49-F238E27FC236}">
                <a16:creationId xmlns:a16="http://schemas.microsoft.com/office/drawing/2014/main" id="{C2AC3453-C1FB-4B2E-AE14-F34C59C753C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4850267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4D9352-B9A6-4A89-B42F-D9AEF2977AF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0A5BD62-DA02-4A19-BA1F-E2039127098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E66ECC8B-B3AB-43DB-924D-386BD5168BE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974F50C-16D4-4E7D-8D3B-A00D5B6B0E35}"/>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96050488-C27C-40E9-93B7-06BC29E9B87F}"/>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DFCE6E2-FD87-429C-A7E7-22C2DE702118}"/>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580E5BB0-76FE-4F11-A59C-3AC05AABC748}"/>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Second-review requirements</a:t>
            </a:r>
          </a:p>
        </p:txBody>
      </p:sp>
      <p:sp>
        <p:nvSpPr>
          <p:cNvPr id="8" name="">
            <a:extLst xmlns:a="http://schemas.openxmlformats.org/drawingml/2006/main">
              <a:ext uri="{FF2B5EF4-FFF2-40B4-BE49-F238E27FC236}">
                <a16:creationId xmlns:a16="http://schemas.microsoft.com/office/drawing/2014/main" id="{192F6639-175A-4CE4-8C59-F9E741D230FB}"/>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74867E23-F1E6-4529-9D4B-2DA26D62E4A7}"/>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4194468-80FF-48C7-A00E-338F90EFC4BB}"/>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6582F620-8A81-432A-943E-E90A3FEFC079}"/>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Decision owner sign-off</a:t>
            </a:r>
          </a:p>
        </p:txBody>
      </p:sp>
      <p:sp>
        <p:nvSpPr>
          <p:cNvPr id="12" name="">
            <a:extLst xmlns:a="http://schemas.openxmlformats.org/drawingml/2006/main">
              <a:ext uri="{FF2B5EF4-FFF2-40B4-BE49-F238E27FC236}">
                <a16:creationId xmlns:a16="http://schemas.microsoft.com/office/drawing/2014/main" id="{CFC49DC1-E119-4D84-AFEE-66A7FF4E477D}"/>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1ABC7FB3-B302-4321-95BE-7405042AA149}"/>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E6BF6862-A72A-41E9-B9BD-19550945A91D}"/>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02BF759B-49B5-4E80-9B7F-9E216B6A9C5A}"/>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Confidence and limitation notes in briefs</a:t>
            </a:r>
          </a:p>
        </p:txBody>
      </p:sp>
      <p:sp>
        <p:nvSpPr>
          <p:cNvPr id="16" name="">
            <a:extLst xmlns:a="http://schemas.openxmlformats.org/drawingml/2006/main">
              <a:ext uri="{FF2B5EF4-FFF2-40B4-BE49-F238E27FC236}">
                <a16:creationId xmlns:a16="http://schemas.microsoft.com/office/drawing/2014/main" id="{8A77C1F4-F235-4360-A639-3776681262EF}"/>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87634F62-524B-4850-818A-92836CD0B8F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8" name="">
            <a:extLst xmlns:a="http://schemas.openxmlformats.org/drawingml/2006/main">
              <a:ext uri="{FF2B5EF4-FFF2-40B4-BE49-F238E27FC236}">
                <a16:creationId xmlns:a16="http://schemas.microsoft.com/office/drawing/2014/main" id="{165AB0F7-C20F-40F7-9609-D470C314CFD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563144547"/>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2FAF3C-36C9-44EC-ABF4-0AAC95B3AF5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6BB3ABC-2ED1-42E1-81FD-F5354033105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056F9225-08A9-43D3-8A99-F464D1435A6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B5F576A-4A11-41FF-8EA2-2885AAEC7103}"/>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F2FC18C-F2C4-471D-8A83-E43D4E869E55}"/>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0E6399D4-EAC7-4916-ACE1-4DCC35B7FB84}"/>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6B98FE16-D382-4002-B51E-11BEE3834208}"/>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Where might staff accept AI output too quickly? What second-review or sign-off is needed for high-impact outputs? How will overrides, corrections, and disagreements be documented?</a:t>
            </a:r>
          </a:p>
        </p:txBody>
      </p:sp>
      <p:sp>
        <p:nvSpPr>
          <p:cNvPr id="8" name="">
            <a:extLst xmlns:a="http://schemas.openxmlformats.org/drawingml/2006/main">
              <a:ext uri="{FF2B5EF4-FFF2-40B4-BE49-F238E27FC236}">
                <a16:creationId xmlns:a16="http://schemas.microsoft.com/office/drawing/2014/main" id="{29A1E89A-67B5-433C-B435-7BF5EEE414A0}"/>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9D0DCC3-6AE1-4C0C-8277-BFEAD33380A1}"/>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1FEC2589-05F6-45F8-9A45-750ADCA5E641}"/>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7531452A-83A8-4B8A-89A8-68FC066C37D3}"/>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Take one AI-assisted output and design a review form that asks staff to check sources, uncertainty, missing context, subgroup impact, and whether the recommendation should be accepted, modified, or rejected.</a:t>
            </a:r>
          </a:p>
        </p:txBody>
      </p:sp>
      <p:sp>
        <p:nvSpPr>
          <p:cNvPr id="12" name="">
            <a:extLst xmlns:a="http://schemas.openxmlformats.org/drawingml/2006/main">
              <a:ext uri="{FF2B5EF4-FFF2-40B4-BE49-F238E27FC236}">
                <a16:creationId xmlns:a16="http://schemas.microsoft.com/office/drawing/2014/main" id="{4742E749-F8E1-4252-A1E0-262226E1424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3" name="">
            <a:extLst xmlns:a="http://schemas.openxmlformats.org/drawingml/2006/main">
              <a:ext uri="{FF2B5EF4-FFF2-40B4-BE49-F238E27FC236}">
                <a16:creationId xmlns:a16="http://schemas.microsoft.com/office/drawing/2014/main" id="{0092E2F6-E275-419B-B375-430BC3F8B20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0133303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AF2A0E-EBDF-4814-9DE0-6B92CB03F51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409806E-AEF8-403D-932C-4DE6C2FEB42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A688818C-8120-40A2-87C2-F5E18586447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96B8FC2-FF89-4FE5-A391-5ED92D9059E2}"/>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5188000-C99C-41F7-A282-8A3995234013}"/>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06B3C251-CD96-4D21-8D25-768FDFD174F6}"/>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A0266466-828B-4CCE-ACFE-74F3E038D5F0}"/>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3, 7, 11, 12, 13 and Tools 14, 40, 46, 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D88B1295-2795-4BF7-8C1B-94038E466507}"/>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D37A0B3E-26DD-46DB-A760-EFC36721C8A3}"/>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024CE52F-9B40-495D-BE8F-DC589536CF7E}"/>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E9061600-DCC5-47EA-8C74-6E5BE7377EFB}"/>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Risk controls for over-trust, human review, testing, and monitoring. HHS Civil Rights and AI: Equity and civil rights considerations when automated systems influence decisions. WHO: Ethics and governance of.</a:t>
            </a:r>
          </a:p>
        </p:txBody>
      </p:sp>
      <p:sp>
        <p:nvSpPr>
          <p:cNvPr id="12" name="">
            <a:extLst xmlns:a="http://schemas.openxmlformats.org/drawingml/2006/main">
              <a:ext uri="{FF2B5EF4-FFF2-40B4-BE49-F238E27FC236}">
                <a16:creationId xmlns:a16="http://schemas.microsoft.com/office/drawing/2014/main" id="{5DB902C1-C340-42C6-AC9D-AA3BD973305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3" name="">
            <a:extLst xmlns:a="http://schemas.openxmlformats.org/drawingml/2006/main">
              <a:ext uri="{FF2B5EF4-FFF2-40B4-BE49-F238E27FC236}">
                <a16:creationId xmlns:a16="http://schemas.microsoft.com/office/drawing/2014/main" id="{4B1CEFB4-82F1-4F87-904D-08A31B39ADD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9977361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2026-07-02T17:47:02.7440000Z</dcterms:created>
  <dcterms:modified xsi:type="dcterms:W3CDTF">2026-07-02T17:47:02.7440000Z</dcterms:modified>
</coreProperties>
</file>