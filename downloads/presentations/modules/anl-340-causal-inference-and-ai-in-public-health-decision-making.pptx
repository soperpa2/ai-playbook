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340 Causal Inference and AI in Public Health Decision-Making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epidemiology, policy, governance-security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Distinguish prediction from causal inference in public health AI.
Explain why correlation and prediction do not establish causation.
Identify confounding, selection bias, collider bias, and temporal ambiguity in public health data.
Recognize when a decision requires causal evidence rather than risk prediction alone.
Identify appropriate evidence sources for evaluating interventions or policy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Create a causal question framing worksheet for an AI-supported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Prediction: An estimate of what is likely to happen based on observed patterns.
Causal inference: The process of estimating whether and how an exposure, policy, program, or intervention changes an outcome.
Confounding: A distortion that occurs when another factor is related to both the exposure and the outcome.
Counterfactual: The outcome that would have occurred under a different condition or intervention.
Quasi-experimental design: An evaluation approach that estimates causal effects without random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can make weak evidence appear stronger than it is. A model may predict which communities have higher hospitalization risk, but that does not prove which intervention will reduce hospitalization. A model may find that people who receive a service have better outcomes, but that pattern may reflect who was able to access the service rather than the effect of the service itself.
Public health decisions often involve resource allocation, program design, policy evaluation, and equity tradeoffs. These decisions require clarity about whether the agency is asking a prediction question, an explanation question, or an intervention question. Causal inference helps agencies avoid treating AI-generated associations as proof of program effectiveness.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uses an AI model to predict which neighborhoods are likely to experience low vaccination coverage. The model may help target outreach, but it does not prove why coverage is low or which outreach strategy will work. If leaders want to know whether mobile clinics, reminder messages, school partnerships, or community health workers caused an improvement, they need an evaluation design that supports causal inference.
This distinction prevents overclaiming. The AI model can support prioritization and hypothesis generation, while causal methods can support evaluation of the chosen intervention. Both are valuable, but they answer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Causal inference begins with a clearly framed question. A useful structure is: among which population, what is the intervention or exposure, what is the comparison, what outcome is measured, and over what time period? Without this structure, teams may ask a model to answer a question that the available data cannot support.
Confounding is one of the most important threats. For example, a program may appear to improve outcomes because participants were already more connected to care. Selection bias may occur when data include only people who interacted with a system. Temporal ambiguity may occur when it is unclear whether the exposure occurred before the outcome. AI can detect patterns in these data, but it does not automatically solve the causal design problem.
Methods such as matching, regression adjustment, difference-in-differences, interrupted time series, regression discontinuity, and instrumental variables may be useful when randomization is not possible. These methods require assumptions that should be documented and reviewed. Public health staff should know when to consult epidemiologists, statisticians, or evaluators before making causal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The main failure mode is causal overreach. A dashboard or AI report may state that a program reduced disease, improved access, or changed behavior when the evidence only shows association. A guardrail is to require causal language review before results are used in reports, funding decisions, policy recommendations, or public communications.
Another risk is inequitable inference. Data may be more complete for some groups than others, and interventions may reach groups differently. A guardrail is to examine whether assumptions hold across populations and whether subgroup effects or access barriers are hidden by aggregate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Predictive models can identify risk, but causal inference is needed to decide what action is likely to change that risk. Generative AI may help draft evaluation questions or summarize literature, but humans must verify methods and assumptions. AI-supported decision-making should label outputs clearly as prediction, association, causal evidence, or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outputs in your agency could be mistaken for causal evidence?
Which decisions require knowing what intervention will change an outcome?
What confounders are likely in your program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comparison group could support evaluation?
Who should review causal claims before public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causal question framing worksheet for an AI-supported decision. Identify the population, intervention or exposure, comparison, outcome, time period, likely confounders, data limitations, and what evidence would be needed before making a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Causal question framing worksheet
List of assumptions and likely confounders
Recommended evaluation design or expert consultation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Plain-language statement distinguishing prediction from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Causal question framing worksheet
List of assumptions and likely confounders
Recommended evaluation design or expert consultation need
Plain-language statement distinguishing prediction from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distinguishes prediction from causal inference?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Causal Inference and AI in Public Health Decision-Making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 what action.</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distinguish prediction from causal inference so AI outputs are not misused as evidence.</a:t>
            </a:r>
            <a:endParaRPr lang="en-US" sz="2100" dirty="0"/>
          </a:p>
          <a:p>
            <a:r>
              <a:rPr lang="en-US" sz="2100" dirty="0">
                <a:solidFill>
                  <a:srgbClr val="17364A"/>
                </a:solidFill>
                <a:latin typeface="Aptos" pitchFamily="34" charset="0"/>
                <a:ea typeface="Aptos" pitchFamily="34" charset="-122"/>
                <a:cs typeface="Aptos" pitchFamily="34" charset="-120"/>
              </a:rPr>
              <a:t>Learners examine confounding, bias, comparison groups, counterfactual reasoning, directed acyclic graphs,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 epidemiology, policy,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Distinguish prediction from causal inference in public health AI.</a:t>
            </a:r>
            <a:endParaRPr lang="en-US" sz="2100" dirty="0"/>
          </a:p>
          <a:p>
            <a:r>
              <a:rPr lang="en-US" sz="2100" dirty="0">
                <a:solidFill>
                  <a:srgbClr val="17364A"/>
                </a:solidFill>
                <a:latin typeface="Aptos" pitchFamily="34" charset="0"/>
                <a:ea typeface="Aptos" pitchFamily="34" charset="-122"/>
                <a:cs typeface="Aptos" pitchFamily="34" charset="-120"/>
              </a:rPr>
              <a:t>Explain why correlation and prediction do not establish causation.</a:t>
            </a:r>
            <a:endParaRPr lang="en-US" sz="2100" dirty="0"/>
          </a:p>
          <a:p>
            <a:r>
              <a:rPr lang="en-US" sz="2100" dirty="0">
                <a:solidFill>
                  <a:srgbClr val="17364A"/>
                </a:solidFill>
                <a:latin typeface="Aptos" pitchFamily="34" charset="0"/>
                <a:ea typeface="Aptos" pitchFamily="34" charset="-122"/>
                <a:cs typeface="Aptos" pitchFamily="34" charset="-120"/>
              </a:rPr>
              <a:t>Identify confounding, selection bias, collider bias, and temporal ambiguity in public health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Distinguish prediction from causal inference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distinguish prediction from causal inference so AI outputs are not misused.</a:t>
            </a:r>
            <a:endParaRPr lang="en-US" sz="2100" dirty="0"/>
          </a:p>
          <a:p>
            <a:r>
              <a:rPr lang="en-US" sz="2100" dirty="0">
                <a:solidFill>
                  <a:srgbClr val="17364A"/>
                </a:solidFill>
                <a:latin typeface="Aptos" pitchFamily="34" charset="0"/>
                <a:ea typeface="Aptos" pitchFamily="34" charset="-122"/>
                <a:cs typeface="Aptos" pitchFamily="34" charset="-120"/>
              </a:rPr>
              <a:t>Learners examine confounding, bias, comparison groups, counterfactual reasoning, directed acyclic.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Prediction: An estimate of what is likely to happen based on observed patterns.</a:t>
            </a:r>
            <a:endParaRPr lang="en-US" sz="2100" dirty="0"/>
          </a:p>
          <a:p>
            <a:r>
              <a:rPr lang="en-US" sz="2100" dirty="0">
                <a:solidFill>
                  <a:srgbClr val="17364A"/>
                </a:solidFill>
                <a:latin typeface="Aptos" pitchFamily="34" charset="0"/>
                <a:ea typeface="Aptos" pitchFamily="34" charset="-122"/>
                <a:cs typeface="Aptos" pitchFamily="34" charset="-120"/>
              </a:rPr>
              <a:t>Causal inference: The process of estimating whether and how an exposure, policy, program, or.</a:t>
            </a:r>
            <a:endParaRPr lang="en-US" sz="2100" dirty="0"/>
          </a:p>
          <a:p>
            <a:r>
              <a:rPr lang="en-US" sz="2100" dirty="0">
                <a:solidFill>
                  <a:srgbClr val="17364A"/>
                </a:solidFill>
                <a:latin typeface="Aptos" pitchFamily="34" charset="0"/>
                <a:ea typeface="Aptos" pitchFamily="34" charset="-122"/>
                <a:cs typeface="Aptos" pitchFamily="34" charset="-120"/>
              </a:rPr>
              <a:t>Confounding: A distortion that occurs when another factor is related to both the exposure and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Prediction: An estimate of what is likely to happen based on observed patterns.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make weak evidence appear stronger than it is.</a:t>
            </a:r>
            <a:endParaRPr lang="en-US" sz="2100" dirty="0"/>
          </a:p>
          <a:p>
            <a:r>
              <a:rPr lang="en-US" sz="2100" dirty="0">
                <a:solidFill>
                  <a:srgbClr val="17364A"/>
                </a:solidFill>
                <a:latin typeface="Aptos" pitchFamily="34" charset="0"/>
                <a:ea typeface="Aptos" pitchFamily="34" charset="-122"/>
                <a:cs typeface="Aptos" pitchFamily="34" charset="-120"/>
              </a:rPr>
              <a:t>A model may predict which communities have higher hospitalization risk, but that does not prove which.</a:t>
            </a:r>
            <a:endParaRPr lang="en-US" sz="2100" dirty="0"/>
          </a:p>
          <a:p>
            <a:r>
              <a:rPr lang="en-US" sz="2100" dirty="0">
                <a:solidFill>
                  <a:srgbClr val="17364A"/>
                </a:solidFill>
                <a:latin typeface="Aptos" pitchFamily="34" charset="0"/>
                <a:ea typeface="Aptos" pitchFamily="34" charset="-122"/>
                <a:cs typeface="Aptos" pitchFamily="34" charset="-120"/>
              </a:rPr>
              <a:t>A model may find that people who receive a service have better outcomes, but that pattern may reflect.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make weak evidence appear stronger than it is.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uses an AI model to predict which neighborhoods are likely to experience low.</a:t>
            </a:r>
            <a:endParaRPr lang="en-US" sz="2100" dirty="0"/>
          </a:p>
          <a:p>
            <a:r>
              <a:rPr lang="en-US" sz="2100" dirty="0">
                <a:solidFill>
                  <a:srgbClr val="17364A"/>
                </a:solidFill>
                <a:latin typeface="Aptos" pitchFamily="34" charset="0"/>
                <a:ea typeface="Aptos" pitchFamily="34" charset="-122"/>
                <a:cs typeface="Aptos" pitchFamily="34" charset="-120"/>
              </a:rPr>
              <a:t>The model may help target outreach, but it does not prove why coverage is low or which outreach.</a:t>
            </a:r>
            <a:endParaRPr lang="en-US" sz="2100" dirty="0"/>
          </a:p>
          <a:p>
            <a:r>
              <a:rPr lang="en-US" sz="2100" dirty="0">
                <a:solidFill>
                  <a:srgbClr val="17364A"/>
                </a:solidFill>
                <a:latin typeface="Aptos" pitchFamily="34" charset="0"/>
                <a:ea typeface="Aptos" pitchFamily="34" charset="-122"/>
                <a:cs typeface="Aptos" pitchFamily="34" charset="-120"/>
              </a:rPr>
              <a:t>If leaders want to know whether mobile clinics, reminder messages, school partnerships, or community.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uses an AI model to predict which neighborhoods are likely to experience 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Causal inference begins with a clearly framed question.</a:t>
            </a:r>
            <a:endParaRPr lang="en-US" sz="2100" dirty="0"/>
          </a:p>
          <a:p>
            <a:r>
              <a:rPr lang="en-US" sz="2100" dirty="0">
                <a:solidFill>
                  <a:srgbClr val="17364A"/>
                </a:solidFill>
                <a:latin typeface="Aptos" pitchFamily="34" charset="0"/>
                <a:ea typeface="Aptos" pitchFamily="34" charset="-122"/>
                <a:cs typeface="Aptos" pitchFamily="34" charset="-120"/>
              </a:rPr>
              <a:t>A useful structure is: among which population, what is the intervention or exposure, what is the.</a:t>
            </a:r>
            <a:endParaRPr lang="en-US" sz="2100" dirty="0"/>
          </a:p>
          <a:p>
            <a:r>
              <a:rPr lang="en-US" sz="2100" dirty="0">
                <a:solidFill>
                  <a:srgbClr val="17364A"/>
                </a:solidFill>
                <a:latin typeface="Aptos" pitchFamily="34" charset="0"/>
                <a:ea typeface="Aptos" pitchFamily="34" charset="-122"/>
                <a:cs typeface="Aptos" pitchFamily="34" charset="-120"/>
              </a:rPr>
              <a:t>Without this structure, teams may ask a model to answer a question that the available data cannot.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Causal inference begins with a clearly framed question.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main failure mode is causal overreach.</a:t>
            </a:r>
            <a:endParaRPr lang="en-US" sz="2100" dirty="0"/>
          </a:p>
          <a:p>
            <a:r>
              <a:rPr lang="en-US" sz="2100" dirty="0">
                <a:solidFill>
                  <a:srgbClr val="17364A"/>
                </a:solidFill>
                <a:latin typeface="Aptos" pitchFamily="34" charset="0"/>
                <a:ea typeface="Aptos" pitchFamily="34" charset="-122"/>
                <a:cs typeface="Aptos" pitchFamily="34" charset="-120"/>
              </a:rPr>
              <a:t>A dashboard or AI report may state that a program reduced disease, improved access, or changed behavior.</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causal language review before results are used in reports, funding decisions,.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main failure mode is causal overreach.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models can identify risk, but causal inference is needed to decide what action is likely to.</a:t>
            </a:r>
            <a:endParaRPr lang="en-US" sz="2100" dirty="0"/>
          </a:p>
          <a:p>
            <a:r>
              <a:rPr lang="en-US" sz="2100" dirty="0">
                <a:solidFill>
                  <a:srgbClr val="17364A"/>
                </a:solidFill>
                <a:latin typeface="Aptos" pitchFamily="34" charset="0"/>
                <a:ea typeface="Aptos" pitchFamily="34" charset="-122"/>
                <a:cs typeface="Aptos" pitchFamily="34" charset="-120"/>
              </a:rPr>
              <a:t>Generative AI may help draft evaluation questions or summarize literature, but humans must verify.</a:t>
            </a:r>
            <a:endParaRPr lang="en-US" sz="2100" dirty="0"/>
          </a:p>
          <a:p>
            <a:r>
              <a:rPr lang="en-US" sz="2100" dirty="0">
                <a:solidFill>
                  <a:srgbClr val="17364A"/>
                </a:solidFill>
                <a:latin typeface="Aptos" pitchFamily="34" charset="0"/>
                <a:ea typeface="Aptos" pitchFamily="34" charset="-122"/>
                <a:cs typeface="Aptos" pitchFamily="34" charset="-120"/>
              </a:rPr>
              <a:t>AI-supported decision-making should label outputs clearly as prediction, association, causal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models can identify risk, but causal inference is needed to decide what action is likely 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AI outputs in your agency could be mistaken for causal evidence?</a:t>
            </a:r>
            <a:endParaRPr lang="en-US" sz="2100" dirty="0"/>
          </a:p>
          <a:p>
            <a:r>
              <a:rPr lang="en-US" sz="2100" dirty="0">
                <a:solidFill>
                  <a:srgbClr val="17364A"/>
                </a:solidFill>
                <a:latin typeface="Aptos" pitchFamily="34" charset="0"/>
                <a:ea typeface="Aptos" pitchFamily="34" charset="-122"/>
                <a:cs typeface="Aptos" pitchFamily="34" charset="-120"/>
              </a:rPr>
              <a:t>Which decisions require knowing what intervention will change an outcome?</a:t>
            </a:r>
            <a:endParaRPr lang="en-US" sz="2100" dirty="0"/>
          </a:p>
          <a:p>
            <a:r>
              <a:rPr lang="en-US" sz="2100" dirty="0">
                <a:solidFill>
                  <a:srgbClr val="17364A"/>
                </a:solidFill>
                <a:latin typeface="Aptos" pitchFamily="34" charset="0"/>
                <a:ea typeface="Aptos" pitchFamily="34" charset="-122"/>
                <a:cs typeface="Aptos" pitchFamily="34" charset="-120"/>
              </a:rPr>
              <a:t>What confounders are likely in your program area?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AI outputs in your agency could be mistaken for causal evidence?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comparison group could support evaluation?</a:t>
            </a:r>
            <a:endParaRPr lang="en-US" sz="2100" dirty="0"/>
          </a:p>
          <a:p>
            <a:r>
              <a:rPr lang="en-US" sz="2100" dirty="0">
                <a:solidFill>
                  <a:srgbClr val="17364A"/>
                </a:solidFill>
                <a:latin typeface="Aptos" pitchFamily="34" charset="0"/>
                <a:ea typeface="Aptos" pitchFamily="34" charset="-122"/>
                <a:cs typeface="Aptos" pitchFamily="34" charset="-120"/>
              </a:rPr>
              <a:t>Who should review causal claims before public release?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comparison group could support evaluation?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2100" dirty="0"/>
          </a:p>
          <a:p>
            <a:r>
              <a:rPr lang="en-US" sz="2100" dirty="0">
                <a:solidFill>
                  <a:srgbClr val="17364A"/>
                </a:solidFill>
                <a:latin typeface="Aptos" pitchFamily="34" charset="0"/>
                <a:ea typeface="Aptos" pitchFamily="34" charset="-122"/>
                <a:cs typeface="Aptos" pitchFamily="34" charset="-120"/>
              </a:rPr>
              <a:t>Identify the population, intervention or exposure, comparison, outcome, time period, likely.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Causal question framing worksheet</a:t>
            </a:r>
            <a:endParaRPr lang="en-US" sz="2100" dirty="0"/>
          </a:p>
          <a:p>
            <a:r>
              <a:rPr lang="en-US" sz="2100" dirty="0">
                <a:solidFill>
                  <a:srgbClr val="17364A"/>
                </a:solidFill>
                <a:latin typeface="Aptos" pitchFamily="34" charset="0"/>
                <a:ea typeface="Aptos" pitchFamily="34" charset="-122"/>
                <a:cs typeface="Aptos" pitchFamily="34" charset="-120"/>
              </a:rPr>
              <a:t>List of assumptions and likely confounders</a:t>
            </a:r>
            <a:endParaRPr lang="en-US" sz="2100" dirty="0"/>
          </a:p>
          <a:p>
            <a:r>
              <a:rPr lang="en-US" sz="2100" dirty="0">
                <a:solidFill>
                  <a:srgbClr val="17364A"/>
                </a:solidFill>
                <a:latin typeface="Aptos" pitchFamily="34" charset="0"/>
                <a:ea typeface="Aptos" pitchFamily="34" charset="-122"/>
                <a:cs typeface="Aptos" pitchFamily="34" charset="-120"/>
              </a:rPr>
              <a:t>Recommended evaluation design or expert consultation need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Causal question framing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Causal question framing worksheet</a:t>
            </a:r>
            <a:endParaRPr lang="en-US" sz="2100" dirty="0"/>
          </a:p>
          <a:p>
            <a:r>
              <a:rPr lang="en-US" sz="2100" dirty="0">
                <a:solidFill>
                  <a:srgbClr val="17364A"/>
                </a:solidFill>
                <a:latin typeface="Aptos" pitchFamily="34" charset="0"/>
                <a:ea typeface="Aptos" pitchFamily="34" charset="-122"/>
                <a:cs typeface="Aptos" pitchFamily="34" charset="-120"/>
              </a:rPr>
              <a:t>List of assumptions and likely confounders</a:t>
            </a:r>
            <a:endParaRPr lang="en-US" sz="2100" dirty="0"/>
          </a:p>
          <a:p>
            <a:r>
              <a:rPr lang="en-US" sz="2100" dirty="0">
                <a:solidFill>
                  <a:srgbClr val="17364A"/>
                </a:solidFill>
                <a:latin typeface="Aptos" pitchFamily="34" charset="0"/>
                <a:ea typeface="Aptos" pitchFamily="34" charset="-122"/>
                <a:cs typeface="Aptos" pitchFamily="34" charset="-120"/>
              </a:rPr>
              <a:t>Recommended evaluation design or expert consultation need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Causal question framing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distinguishes prediction from causal inference?</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distinguishes prediction from causal inference?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 Inference and AI in Public Health Decision-Making</dc:title>
  <dc:subject>Causal Inference and AI in Public Health Decision-Making learning module</dc:subject>
  <dc:creator>Paula Soper</dc:creator>
  <cp:lastModifiedBy>Paula Soper</cp:lastModifiedBy>
  <cp:revision>1</cp:revision>
  <dcterms:created xsi:type="dcterms:W3CDTF">2026-07-12T19:55:20Z</dcterms:created>
  <dcterms:modified xsi:type="dcterms:W3CDTF">2026-07-12T19:55:20Z</dcterms:modified>
</cp:coreProperties>
</file>