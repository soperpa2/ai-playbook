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20: Community Engagement Planning (Planning) - Use this tool to complete or strengthen the practical exercise for the module using fictional, de-identified, or generalized.
Tool 21: Stakeholder Mapping &amp; RACI (Template) - Use this tool to complete or strengthen the practical exercise for the module using fictional, de-identified, or generalized.
Tool 22: Missing Voices Analysis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 well-being, reduce.</a:t>
            </a:r>
            <a:endParaRPr lang="en-US" sz="2100" dirty="0"/>
          </a:p>
          <a:p>
            <a:r>
              <a:rPr lang="en-US" sz="2100" dirty="0">
                <a:solidFill>
                  <a:srgbClr val="17364A"/>
                </a:solidFill>
                <a:latin typeface="Aptos" pitchFamily="34" charset="0"/>
                <a:ea typeface="Aptos" pitchFamily="34" charset="-122"/>
                <a:cs typeface="Aptos" pitchFamily="34" charset="-120"/>
              </a:rPr>
              <a:t>For public health, this concept is not abstract.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already work to prevent disease, protect communities, improve access, and reduce inequities.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Shared Foundational / Introductory Course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policy, communications</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20: Community Engagement Planning (Planning)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21: Stakeholder Mapping &amp; RACI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22: Missing Voices Analysis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for Social Good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public benefit from novelty, efficiency, or automation alone.</a:t>
            </a:r>
            <a:endParaRPr lang="en-US" sz="2100" dirty="0"/>
          </a:p>
          <a:p>
            <a:r>
              <a:rPr lang="en-US" sz="2100" dirty="0">
                <a:solidFill>
                  <a:srgbClr val="17364A"/>
                </a:solidFill>
                <a:latin typeface="Aptos" pitchFamily="34" charset="0"/>
                <a:ea typeface="Aptos" pitchFamily="34" charset="-122"/>
                <a:cs typeface="Aptos" pitchFamily="34" charset="-120"/>
              </a:rPr>
              <a:t>Identify how AI can support public health values, including equity, transparency,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for Social Good in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a:t>
            </a:r>
            <a:endParaRPr lang="en-US" sz="2100" dirty="0"/>
          </a:p>
          <a:p>
            <a:r>
              <a:rPr lang="en-US" sz="2100" dirty="0">
                <a:solidFill>
                  <a:srgbClr val="17364A"/>
                </a:solidFill>
                <a:latin typeface="Aptos" pitchFamily="34" charset="0"/>
                <a:ea typeface="Aptos" pitchFamily="34" charset="-122"/>
                <a:cs typeface="Aptos" pitchFamily="34" charset="-120"/>
              </a:rPr>
              <a:t>For public health, this concept is not abstract.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already work to prevent disease, protect communities, improve access, and reduce.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a:t>
            </a:r>
            <a:endParaRPr lang="en-US" sz="2100" dirty="0"/>
          </a:p>
          <a:p>
            <a:r>
              <a:rPr lang="en-US" sz="2100" dirty="0">
                <a:solidFill>
                  <a:srgbClr val="17364A"/>
                </a:solidFill>
                <a:latin typeface="Aptos" pitchFamily="34" charset="0"/>
                <a:ea typeface="Aptos" pitchFamily="34" charset="-122"/>
                <a:cs typeface="Aptos" pitchFamily="34" charset="-120"/>
              </a:rPr>
              <a:t>AI can help agencies identify emerging needs, improve access to information, reduce administrative.</a:t>
            </a:r>
            <a:endParaRPr lang="en-US" sz="2100" dirty="0"/>
          </a:p>
          <a:p>
            <a:r>
              <a:rPr lang="en-US" sz="2100" dirty="0">
                <a:solidFill>
                  <a:srgbClr val="17364A"/>
                </a:solidFill>
                <a:latin typeface="Aptos" pitchFamily="34" charset="0"/>
                <a:ea typeface="Aptos" pitchFamily="34" charset="-122"/>
                <a:cs typeface="Aptos" pitchFamily="34" charset="-120"/>
              </a:rPr>
              <a:t>These benefits are especially important when agencies face workforce shortages, fragmented systems,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2100" dirty="0"/>
          </a:p>
          <a:p>
            <a:r>
              <a:rPr lang="en-US" sz="2100" dirty="0">
                <a:solidFill>
                  <a:srgbClr val="17364A"/>
                </a:solidFill>
                <a:latin typeface="Aptos" pitchFamily="34" charset="0"/>
                <a:ea typeface="Aptos" pitchFamily="34" charset="-122"/>
                <a:cs typeface="Aptos" pitchFamily="34" charset="-120"/>
              </a:rPr>
              <a:t>A tool could help staff identify service gaps, summarize eligibility rules, translate plain-language.</a:t>
            </a:r>
            <a:endParaRPr lang="en-US" sz="2100" dirty="0"/>
          </a:p>
          <a:p>
            <a:r>
              <a:rPr lang="en-US" sz="2100" dirty="0">
                <a:solidFill>
                  <a:srgbClr val="17364A"/>
                </a:solidFill>
                <a:latin typeface="Aptos" pitchFamily="34" charset="0"/>
                <a:ea typeface="Aptos" pitchFamily="34" charset="-122"/>
                <a:cs typeface="Aptos" pitchFamily="34" charset="-120"/>
              </a:rPr>
              <a:t>If designed well, the tool could reduce administrative burden and improve timely access to services.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begins with problem definition.</a:t>
            </a:r>
            <a:endParaRPr lang="en-US" sz="2100" dirty="0"/>
          </a:p>
          <a:p>
            <a:r>
              <a:rPr lang="en-US" sz="2100" dirty="0">
                <a:solidFill>
                  <a:srgbClr val="17364A"/>
                </a:solidFill>
                <a:latin typeface="Aptos" pitchFamily="34" charset="0"/>
                <a:ea typeface="Aptos" pitchFamily="34" charset="-122"/>
                <a:cs typeface="Aptos" pitchFamily="34" charset="-120"/>
              </a:rPr>
              <a:t>The problem should be a public health problem, not a technology opportunity.</a:t>
            </a:r>
            <a:endParaRPr lang="en-US" sz="2100" dirty="0"/>
          </a:p>
          <a:p>
            <a:r>
              <a:rPr lang="en-US" sz="2100" dirty="0">
                <a:solidFill>
                  <a:srgbClr val="17364A"/>
                </a:solidFill>
                <a:latin typeface="Aptos" pitchFamily="34" charset="0"/>
                <a:ea typeface="Aptos" pitchFamily="34" charset="-122"/>
                <a:cs typeface="Aptos" pitchFamily="34" charset="-120"/>
              </a:rPr>
              <a:t>For example, “use a chatbot” is not a problem definition. “Reduce delays in connecting families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begins with problem definition.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2100" dirty="0"/>
          </a:p>
          <a:p>
            <a:r>
              <a:rPr lang="en-US" sz="2100" dirty="0">
                <a:solidFill>
                  <a:srgbClr val="17364A"/>
                </a:solidFill>
                <a:latin typeface="Aptos" pitchFamily="34" charset="0"/>
                <a:ea typeface="Aptos" pitchFamily="34" charset="-122"/>
                <a:cs typeface="Aptos" pitchFamily="34" charset="-120"/>
              </a:rPr>
              <a:t>Agencies should measure whether the AI-supported workflow improves timeliness, access, quality,.</a:t>
            </a:r>
            <a:endParaRPr lang="en-US" sz="2100" dirty="0"/>
          </a:p>
          <a:p>
            <a:r>
              <a:rPr lang="en-US" sz="2100" dirty="0">
                <a:solidFill>
                  <a:srgbClr val="17364A"/>
                </a:solidFill>
                <a:latin typeface="Aptos" pitchFamily="34" charset="0"/>
                <a:ea typeface="Aptos" pitchFamily="34" charset="-122"/>
                <a:cs typeface="Aptos" pitchFamily="34" charset="-120"/>
              </a:rPr>
              <a:t>They should also monitor unintended consequences, such as reduced service quality, increased.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Technology-first design.</a:t>
            </a:r>
            <a:endParaRPr lang="en-US" sz="2100" dirty="0"/>
          </a:p>
          <a:p>
            <a:r>
              <a:rPr lang="en-US" sz="2100" dirty="0">
                <a:solidFill>
                  <a:srgbClr val="17364A"/>
                </a:solidFill>
                <a:latin typeface="Aptos" pitchFamily="34" charset="0"/>
                <a:ea typeface="Aptos" pitchFamily="34" charset="-122"/>
                <a:cs typeface="Aptos" pitchFamily="34" charset="-120"/>
              </a:rPr>
              <a:t>A tool may be adopted because it is novel rather than because it solves a public health problem.</a:t>
            </a:r>
            <a:endParaRPr lang="en-US" sz="2100" dirty="0"/>
          </a:p>
          <a:p>
            <a:r>
              <a:rPr lang="en-US" sz="2100" dirty="0">
                <a:solidFill>
                  <a:srgbClr val="17364A"/>
                </a:solidFill>
                <a:latin typeface="Aptos" pitchFamily="34" charset="0"/>
                <a:ea typeface="Aptos" pitchFamily="34" charset="-122"/>
                <a:cs typeface="Aptos" pitchFamily="34" charset="-120"/>
              </a:rPr>
              <a:t>Guardrails include problem-first planning, alternatives analysis, and public value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Technology-first design.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Resource diversion.</a:t>
            </a:r>
            <a:endParaRPr lang="en-US" sz="2100" dirty="0"/>
          </a:p>
          <a:p>
            <a:r>
              <a:rPr lang="en-US" sz="2100" dirty="0">
                <a:solidFill>
                  <a:srgbClr val="17364A"/>
                </a:solidFill>
                <a:latin typeface="Aptos" pitchFamily="34" charset="0"/>
                <a:ea typeface="Aptos" pitchFamily="34" charset="-122"/>
                <a:cs typeface="Aptos" pitchFamily="34" charset="-120"/>
              </a:rPr>
              <a:t>AI projects may consume resources that could be used for more effective interventions.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impact measurement, cost-benefit review, and periodic reassessment.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Resource diversion.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applies to every AI method.</a:t>
            </a:r>
            <a:endParaRPr lang="en-US" sz="2100" dirty="0"/>
          </a:p>
          <a:p>
            <a:r>
              <a:rPr lang="en-US" sz="2100" dirty="0">
                <a:solidFill>
                  <a:srgbClr val="17364A"/>
                </a:solidFill>
                <a:latin typeface="Aptos" pitchFamily="34" charset="0"/>
                <a:ea typeface="Aptos" pitchFamily="34" charset="-122"/>
                <a:cs typeface="Aptos" pitchFamily="34" charset="-120"/>
              </a:rPr>
              <a:t>Generative AI may improve plain-language communication, but it must be accurate, accessible, and.</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guide supportive outreach, but it should not become a tool for exclusion.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applies to every AI method.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problem would this AI use address?</a:t>
            </a:r>
            <a:endParaRPr lang="en-US" sz="2100" dirty="0"/>
          </a:p>
          <a:p>
            <a:r>
              <a:rPr lang="en-US" sz="2100" dirty="0">
                <a:solidFill>
                  <a:srgbClr val="17364A"/>
                </a:solidFill>
                <a:latin typeface="Aptos" pitchFamily="34" charset="0"/>
                <a:ea typeface="Aptos" pitchFamily="34" charset="-122"/>
                <a:cs typeface="Aptos" pitchFamily="34" charset="-120"/>
              </a:rPr>
              <a:t>Who would benefit, and who could be excluded or harmed?</a:t>
            </a:r>
            <a:endParaRPr lang="en-US" sz="2100" dirty="0"/>
          </a:p>
          <a:p>
            <a:r>
              <a:rPr lang="en-US" sz="2100" dirty="0">
                <a:solidFill>
                  <a:srgbClr val="17364A"/>
                </a:solidFill>
                <a:latin typeface="Aptos" pitchFamily="34" charset="0"/>
                <a:ea typeface="Aptos" pitchFamily="34" charset="-122"/>
                <a:cs typeface="Aptos" pitchFamily="34" charset="-120"/>
              </a:rPr>
              <a:t>How were affected communities involved in defining the need and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problem would this AI use address?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non-AI alternatives should be considered?</a:t>
            </a:r>
            <a:endParaRPr lang="en-US" sz="2100" dirty="0"/>
          </a:p>
          <a:p>
            <a:r>
              <a:rPr lang="en-US" sz="2100" dirty="0">
                <a:solidFill>
                  <a:srgbClr val="17364A"/>
                </a:solidFill>
                <a:latin typeface="Aptos" pitchFamily="34" charset="0"/>
                <a:ea typeface="Aptos" pitchFamily="34" charset="-122"/>
                <a:cs typeface="Aptos" pitchFamily="34" charset="-120"/>
              </a:rPr>
              <a:t>How will the agency measure public value, equity, trust, and unintended consequences?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non-AI alternatives should be considered?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brief should define the public health problem, intended public benefit, affected communities,.</a:t>
            </a:r>
            <a:endParaRPr lang="en-US" sz="2100" dirty="0"/>
          </a:p>
          <a:p>
            <a:r>
              <a:rPr lang="en-US" sz="2100" dirty="0">
                <a:solidFill>
                  <a:srgbClr val="17364A"/>
                </a:solidFill>
                <a:latin typeface="Aptos" pitchFamily="34" charset="0"/>
                <a:ea typeface="Aptos" pitchFamily="34" charset="-122"/>
                <a:cs typeface="Aptos" pitchFamily="34" charset="-120"/>
              </a:rPr>
              <a:t>The exercise should result in a decision-support document that helps leaders and governance reviewers.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review brief</a:t>
            </a:r>
            <a:endParaRPr lang="en-US" sz="2100" dirty="0"/>
          </a:p>
          <a:p>
            <a:r>
              <a:rPr lang="en-US" sz="2100" dirty="0">
                <a:solidFill>
                  <a:srgbClr val="17364A"/>
                </a:solidFill>
                <a:latin typeface="Aptos" pitchFamily="34" charset="0"/>
                <a:ea typeface="Aptos" pitchFamily="34" charset="-122"/>
                <a:cs typeface="Aptos" pitchFamily="34" charset="-120"/>
              </a:rPr>
              <a:t>Public value and equity assessment</a:t>
            </a:r>
            <a:endParaRPr lang="en-US" sz="2100" dirty="0"/>
          </a:p>
          <a:p>
            <a:r>
              <a:rPr lang="en-US" sz="2100" dirty="0">
                <a:solidFill>
                  <a:srgbClr val="17364A"/>
                </a:solidFill>
                <a:latin typeface="Aptos" pitchFamily="34" charset="0"/>
                <a:ea typeface="Aptos" pitchFamily="34" charset="-122"/>
                <a:cs typeface="Aptos" pitchFamily="34" charset="-120"/>
              </a:rPr>
              <a:t>Community engagement and accessibility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review brief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Impact and unintended-consequence measurement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Impact and unintended-consequence measurement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review brief</a:t>
            </a:r>
            <a:endParaRPr lang="en-US" sz="2100" dirty="0"/>
          </a:p>
          <a:p>
            <a:r>
              <a:rPr lang="en-US" sz="2100" dirty="0">
                <a:solidFill>
                  <a:srgbClr val="17364A"/>
                </a:solidFill>
                <a:latin typeface="Aptos" pitchFamily="34" charset="0"/>
                <a:ea typeface="Aptos" pitchFamily="34" charset="-122"/>
                <a:cs typeface="Aptos" pitchFamily="34" charset="-120"/>
              </a:rPr>
              <a:t>Public value and equity assessment</a:t>
            </a:r>
            <a:endParaRPr lang="en-US" sz="2100" dirty="0"/>
          </a:p>
          <a:p>
            <a:r>
              <a:rPr lang="en-US" sz="2100" dirty="0">
                <a:solidFill>
                  <a:srgbClr val="17364A"/>
                </a:solidFill>
                <a:latin typeface="Aptos" pitchFamily="34" charset="0"/>
                <a:ea typeface="Aptos" pitchFamily="34" charset="-122"/>
                <a:cs typeface="Aptos" pitchFamily="34" charset="-120"/>
              </a:rPr>
              <a:t>Community engagement and accessibility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review brief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2100" dirty="0"/>
          </a:p>
          <a:p>
            <a:r>
              <a:rPr lang="en-US" sz="2100" dirty="0">
                <a:solidFill>
                  <a:srgbClr val="17364A"/>
                </a:solidFill>
                <a:latin typeface="Aptos" pitchFamily="34" charset="0"/>
                <a:ea typeface="Aptos" pitchFamily="34" charset="-122"/>
                <a:cs typeface="Aptos" pitchFamily="34" charset="-120"/>
              </a:rPr>
              <a:t>2. Why is efficiency alone not enough to show social good?</a:t>
            </a:r>
            <a:endParaRPr lang="en-US" sz="2100" dirty="0"/>
          </a:p>
          <a:p>
            <a:r>
              <a:rPr lang="en-US" sz="2100" dirty="0">
                <a:solidFill>
                  <a:srgbClr val="17364A"/>
                </a:solidFill>
                <a:latin typeface="Aptos" pitchFamily="34" charset="0"/>
                <a:ea typeface="Aptos" pitchFamily="34" charset="-122"/>
                <a:cs typeface="Aptos" pitchFamily="34" charset="-120"/>
              </a:rPr>
              <a:t>3. What does equity by design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WHO Ethics and Governance of Artificial Intelligence for Health:.</a:t>
            </a:r>
            <a:endParaRPr lang="en-US" sz="2100" dirty="0"/>
          </a:p>
          <a:p>
            <a:r>
              <a:rPr lang="en-US" sz="21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2026-07-13T01:54:45Z</dcterms:created>
  <dcterms:modified xsi:type="dcterms:W3CDTF">2026-07-13T01:54:45Z</dcterms:modified>
</cp:coreProperties>
</file>