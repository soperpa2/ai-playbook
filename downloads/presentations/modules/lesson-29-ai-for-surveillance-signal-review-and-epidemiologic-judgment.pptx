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EPI 310 AI for Surveillance Signal Review and Epidemiologic Judgment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intermediate/practitioner
Primary track: Epidemiology Role-Based Track
Appears in tracks: epidemiology, analytics-modeling, operations-data-quality, governance-security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the purpose of ai for surveillance signal review and epidemiologic judgment in public health AI.
Identify the roles, decisions, risks, and documentation needed for the topic.
Apply the topic to a real or realistic public health workflow or decision.
Recognize equity, privacy, security, legal, operational, and public trust implications.
Produce a practical artifact that supports readiness, governance, implementation, monitoring, or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Decision right: The authority to approve, deny, modify, pause, or escalate an AI use case or operational decision.
Evidence artifact: A document, log, checklist, test result, approval record, or review note that demonstrates responsible AI practice.
Escalation pathway: A defined route for raising concerns to the appropriate reviewer or decision-maker.
Accountability owner: The person or role responsible for ensuring that an AI use case is governed, monitored, and corrected when needed.
Operational safeguard: A procedure, control, or review step that reduces risk during day-to-day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for Surveillance Signal Review and Epidemiologic Judgment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public health agency is preparing to use AI in a workflow related to using AI to support signal detection while preserving epidemiologic judgment.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public health decision or workflow does this topic affect?
Who has authority to approve or pause the work?
What evidence would show that the workflow is responsible and effective?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equity, privacy, legal, security, or public trust risks require review?
How will the agency know when the workflow needs to be revised?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practical ai for surveillance signal review and epidemiologic judgment artifact for one AI-supported public health use case. The artifact should define the use case, affected roles, review criteria, safeguards, documentation expectations, escalation triggers, monitoring indicators, and next review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AI for Surveillance Signal Review and Epidemiologic Judgment artifact
Role and responsibility table
Risk and safeguard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AI for Surveillance Signal Review and Epidemiologic Judgment artifact
Role and responsibility table
Risk and safeguard summary
Escalation and monitoring plan
Approval or review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evidence that ai for surveillance signal review and epidemiologic judgment has been applied responsibly?
2. What is the best reason to assign an accountability owner?
3. When should an AI-supported workflow be escalated for review?
4. Which practice best supports public accountability?
5. What should happen when data sources, policy, vendor configuration, or workflow use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Public Health Data Strategy and Data Modernization resources: https://www.cdc.gov/public-health-data-strategy/php/about/index.html
NIST Artificial Intelligence Risk Management Framework and NIST Generative AI Profile: https://www.nist.gov/publications/artificial-intelligence-risk-management-framework-generative-artificial-intelligence
WHO Ethics and Governance of Artificial Intelligence for Health guidance: https://www.who.int/publications/i/item/9789240029200
OWASP Top 10 for Large Language Model Applications: https://owasp.org/www-project-top-10-for-large-language-model-applications/
ONC health IT, interoperability, and information blocking resources: https://www.healthit.gov/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Agency policies for privacy, public records, cybersecurity, procurement, civil rights, accessibility, language access, and emergency communications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EPI 310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for Surveillance Signal Review and Epidemiologic Judgment</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Context</a:t>
            </a:r>
            <a:endParaRPr lang="en-US" sz="2700" dirty="0"/>
          </a:p>
        </p:txBody>
      </p:sp>
      <p:sp>
        <p:nvSpPr>
          <p:cNvPr id="7" name="Text 5"/>
          <p:cNvSpPr/>
          <p:nvPr/>
        </p:nvSpPr>
        <p:spPr>
          <a:xfrm>
            <a:off x="822960" y="1325880"/>
            <a:ext cx="10378440" cy="137160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Level: intermediate/practitioner</a:t>
            </a:r>
            <a:endParaRPr lang="en-US" sz="1600" dirty="0"/>
          </a:p>
          <a:p>
            <a:r>
              <a:rPr lang="en-US" sz="1600" dirty="0">
                <a:solidFill>
                  <a:srgbClr val="17364A"/>
                </a:solidFill>
                <a:latin typeface="Aptos" pitchFamily="34" charset="0"/>
                <a:ea typeface="Aptos" pitchFamily="34" charset="-122"/>
                <a:cs typeface="Aptos" pitchFamily="34" charset="-120"/>
              </a:rPr>
              <a:t>Primary track: Epidemiology Role-Based Track</a:t>
            </a:r>
            <a:endParaRPr lang="en-US" sz="1600" dirty="0"/>
          </a:p>
          <a:p>
            <a:r>
              <a:rPr lang="en-US" sz="1600" dirty="0">
                <a:solidFill>
                  <a:srgbClr val="17364A"/>
                </a:solidFill>
                <a:latin typeface="Aptos" pitchFamily="34" charset="0"/>
                <a:ea typeface="Aptos" pitchFamily="34" charset="-122"/>
                <a:cs typeface="Aptos" pitchFamily="34" charset="-120"/>
              </a:rPr>
              <a:t>Appears in tracks: epidemiology, analytics-modeling, operations-data-quality, governance-security</a:t>
            </a:r>
            <a:endParaRPr lang="en-US" sz="1600" dirty="0"/>
          </a:p>
        </p:txBody>
      </p:sp>
      <p:sp>
        <p:nvSpPr>
          <p:cNvPr id="8" name="Text 6"/>
          <p:cNvSpPr/>
          <p:nvPr/>
        </p:nvSpPr>
        <p:spPr>
          <a:xfrm>
            <a:off x="822960" y="2743200"/>
            <a:ext cx="10378440" cy="2834640"/>
          </a:xfrm>
          <a:prstGeom prst="rect">
            <a:avLst/>
          </a:prstGeom>
          <a:noFill/>
          <a:ln/>
        </p:spPr>
        <p:txBody>
          <a:bodyPr wrap="square" lIns="1016" tIns="1016" rIns="1016" bIns="1016" rtlCol="0" anchor="t">
            <a:normAutofit/>
          </a:bodyPr>
          <a:lstStyle/>
          <a:p>
            <a:pPr indent="0" marL="0">
              <a:buNone/>
            </a:pPr>
            <a:r>
              <a:rPr lang="en-US" sz="1400" dirty="0">
                <a:solidFill>
                  <a:srgbClr val="17364A"/>
                </a:solidFill>
                <a:latin typeface="Aptos" pitchFamily="34" charset="0"/>
                <a:ea typeface="Aptos" pitchFamily="34" charset="-122"/>
                <a:cs typeface="Aptos" pitchFamily="34" charset="-120"/>
              </a:rPr>
              <a:t>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Learning Objectives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Explain the purpose of ai for surveillance signal review and epidemiologic judgment in public health AI.</a:t>
            </a:r>
            <a:endParaRPr lang="en-US" sz="1450" dirty="0"/>
          </a:p>
          <a:p>
            <a:r>
              <a:rPr lang="en-US" sz="1450" dirty="0">
                <a:solidFill>
                  <a:srgbClr val="17364A"/>
                </a:solidFill>
                <a:latin typeface="Aptos" pitchFamily="34" charset="0"/>
                <a:ea typeface="Aptos" pitchFamily="34" charset="-122"/>
                <a:cs typeface="Aptos" pitchFamily="34" charset="-120"/>
              </a:rPr>
              <a:t>Identify the roles, decisions, risks, and documentation needed for the topic.</a:t>
            </a:r>
            <a:endParaRPr lang="en-US" sz="1450" dirty="0"/>
          </a:p>
          <a:p>
            <a:r>
              <a:rPr lang="en-US" sz="1450" dirty="0">
                <a:solidFill>
                  <a:srgbClr val="17364A"/>
                </a:solidFill>
                <a:latin typeface="Aptos" pitchFamily="34" charset="0"/>
                <a:ea typeface="Aptos" pitchFamily="34" charset="-122"/>
                <a:cs typeface="Aptos" pitchFamily="34" charset="-120"/>
              </a:rPr>
              <a:t>Apply the topic to a real or realistic public health workflow or decision.</a:t>
            </a:r>
            <a:endParaRPr lang="en-US" sz="1450" dirty="0"/>
          </a:p>
          <a:p>
            <a:r>
              <a:rPr lang="en-US" sz="1450" dirty="0">
                <a:solidFill>
                  <a:srgbClr val="17364A"/>
                </a:solidFill>
                <a:latin typeface="Aptos" pitchFamily="34" charset="0"/>
                <a:ea typeface="Aptos" pitchFamily="34" charset="-122"/>
                <a:cs typeface="Aptos" pitchFamily="34" charset="-120"/>
              </a:rPr>
              <a:t>Recognize equity, privacy, security, legal, operational, and public trust implications.</a:t>
            </a:r>
            <a:endParaRPr lang="en-US" sz="1450" dirty="0"/>
          </a:p>
          <a:p>
            <a:r>
              <a:rPr lang="en-US" sz="1450" dirty="0">
                <a:solidFill>
                  <a:srgbClr val="17364A"/>
                </a:solidFill>
                <a:latin typeface="Aptos" pitchFamily="34" charset="0"/>
                <a:ea typeface="Aptos" pitchFamily="34" charset="-122"/>
                <a:cs typeface="Aptos" pitchFamily="34" charset="-120"/>
              </a:rPr>
              <a:t>Produce a practical artifact that supports readiness, governance, implementation, monitoring, or accountability.</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Module Overview</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module focuses on using AI to support signal detection while preserving epidemiologic judgment. It is designed for public health staff who must translate responsible AI principles into repeatable decisions, documents, workflows, and oversight practices. The module helps learners move beyond general awareness by producing a practical artifact that can be used in governance review, implementation planning, operations, communication, or accountability. It emphasizes paragraph-based reasoning, defined responsibilities, and documentation that can withstand public health, legal, privacy, equity, and leadership review.</a:t>
            </a:r>
            <a:endParaRPr lang="en-US" sz="14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Definitions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Decision right: The authority to approve, deny, modify, pause, or escalate an AI use case or operational decision.</a:t>
            </a:r>
            <a:endParaRPr lang="en-US" sz="1450" dirty="0"/>
          </a:p>
          <a:p>
            <a:r>
              <a:rPr lang="en-US" sz="1450" dirty="0">
                <a:solidFill>
                  <a:srgbClr val="17364A"/>
                </a:solidFill>
                <a:latin typeface="Aptos" pitchFamily="34" charset="0"/>
                <a:ea typeface="Aptos" pitchFamily="34" charset="-122"/>
                <a:cs typeface="Aptos" pitchFamily="34" charset="-120"/>
              </a:rPr>
              <a:t>Evidence artifact: A document, log, checklist, test result, approval record, or review note that demonstrates responsible AI practice.</a:t>
            </a:r>
            <a:endParaRPr lang="en-US" sz="1450" dirty="0"/>
          </a:p>
          <a:p>
            <a:r>
              <a:rPr lang="en-US" sz="1450" dirty="0">
                <a:solidFill>
                  <a:srgbClr val="17364A"/>
                </a:solidFill>
                <a:latin typeface="Aptos" pitchFamily="34" charset="0"/>
                <a:ea typeface="Aptos" pitchFamily="34" charset="-122"/>
                <a:cs typeface="Aptos" pitchFamily="34" charset="-120"/>
              </a:rPr>
              <a:t>Escalation pathway: A defined route for raising concerns to the appropriate reviewer or decision-maker.</a:t>
            </a:r>
            <a:endParaRPr lang="en-US" sz="1450" dirty="0"/>
          </a:p>
          <a:p>
            <a:r>
              <a:rPr lang="en-US" sz="1450" dirty="0">
                <a:solidFill>
                  <a:srgbClr val="17364A"/>
                </a:solidFill>
                <a:latin typeface="Aptos" pitchFamily="34" charset="0"/>
                <a:ea typeface="Aptos" pitchFamily="34" charset="-122"/>
                <a:cs typeface="Aptos" pitchFamily="34" charset="-120"/>
              </a:rPr>
              <a:t>Accountability owner: The person or role responsible for ensuring that an AI use case is governed, monitored, and corrected when needed.</a:t>
            </a:r>
            <a:endParaRPr lang="en-US" sz="1450" dirty="0"/>
          </a:p>
          <a:p>
            <a:r>
              <a:rPr lang="en-US" sz="1450" dirty="0">
                <a:solidFill>
                  <a:srgbClr val="17364A"/>
                </a:solidFill>
                <a:latin typeface="Aptos" pitchFamily="34" charset="0"/>
                <a:ea typeface="Aptos" pitchFamily="34" charset="-122"/>
                <a:cs typeface="Aptos" pitchFamily="34" charset="-120"/>
              </a:rPr>
              <a:t>Operational safeguard: A procedure, control, or review step that reduces risk during day-to-day use.</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for Surveillance Signal Review and Epidemiologic Judgment matters because AI adoption changes how public health agencies make, document, communicate, and review decisions. Without a structured approach, staff may rely on informal practices, vendor assurances, or one-time approvals that do not match the operational consequences of AI-supported work. Public health agencies operate under legal authorities, public accountability, resource constraints, and community trust obligations. A module on this topic helps agencies define repeatable expectations before urgent situations arise. It also helps staff distinguish low-risk administrative support from uses that affect surveillance, public communications, field response, resource allocation, civil rights, privacy, or official records.</a:t>
            </a:r>
            <a:endParaRPr lang="en-US" sz="14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Public Health Example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public health agency is preparing to use AI in a workflow related to using AI to support signal detection while preserving epidemiologic judgment. The project team initially treats the tool as a helpful efficiency aid, but governance reviewers recognize that the workflow may affect public trust, equity, official records, or public health action. The agency responds by creating a clear artifact that defines intended use, prohibited use, responsible roles, review points, documentation expectations, escalation triggers, and monitoring measures. This converts a broad AI idea into a manageable public health practice.</a:t>
            </a:r>
            <a:endParaRPr lang="en-US" sz="14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Topic Deep Dive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The first step in this topic is to define the decision or workflow clearly. Staff should identify who is affected, what data are used, what AI output is produced, who reviews the output, and what action may follow. This prevents the module from becoming abstract and anchors the work in public health practice. The second step is to assign responsibilities. AI-supported workflows often cross program, IT, legal, privacy, communications, procurement, and leadership boundaries. Responsibilities should be named by role rather than assumed. The artifact should specify who prepares materials, who reviews risks, who approves use, who monitors performance, and who can pause or revise the workflow. The third step is to define evidence. Responsible AI depends on more than policy statements. Agencies need records that show what was reviewed, what decisions were made, what safeguards were applied, what incidents occurred, and how the workflow changed over time. Evidence also supports audits, public records review, quality improvement, and leadership accountability.</a:t>
            </a:r>
            <a:endParaRPr lang="en-US" sz="14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Risks, Failure Modes, and Guardrails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 common failure mode is treating the topic as a one-time checklist. AI risks can change when data sources, models, vendors, policies, users, or public expectations change. A guardrail is to define review intervals and change triggers. Another failure mode is unclear ownership. When everyone is responsible in general, no one may be responsible in practice. A guardrail is to assign an accountability owner and name escalation pathways. A third failure mode is relying on vendor claims or informal staff confidence without documentation. A guardrail is to require evidence artifacts that can be reviewed by governance, leadership, privacy, legal, equity, security, or program teams.</a:t>
            </a:r>
            <a:endParaRPr lang="en-US" sz="14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This topic applies across generative AI, predictive analytics, NLP, RAG, automation, and agentic workflows. The more sensitive the data, the more consequential the output, or the more automated the action, the stronger the documentation, review, and monitoring expectations should be.</a:t>
            </a:r>
            <a:endParaRPr lang="en-US" sz="14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public health decision or workflow does this topic affect? Who has authority to approve or pause the work? What evidence would show that the workflow is responsible and effective?</a:t>
            </a:r>
            <a:endParaRPr lang="en-US" sz="14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Reflection Questions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What equity, privacy, legal, security, or public trust risks require review? How will the agency know when the workflow needs to be revised?</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Practical Exercise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Create a practical ai for surveillance signal review and epidemiologic judgment artifact for one AI-supported public health use case. The artifact should define the use case, affected roles, review criteria, safeguards, documentation expectations, escalation triggers, monitoring indicators, and next review date.</a:t>
            </a:r>
            <a:endParaRPr lang="en-US" sz="14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AI for Surveillance Signal Review and Epidemiologic Judgment artifact Role and responsibility table Risk and safeguard summary</a:t>
            </a:r>
            <a:endParaRPr lang="en-US" sz="14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27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420" dirty="0">
                <a:solidFill>
                  <a:srgbClr val="17364A"/>
                </a:solidFill>
                <a:latin typeface="Aptos" pitchFamily="34" charset="0"/>
                <a:ea typeface="Aptos" pitchFamily="34" charset="-122"/>
                <a:cs typeface="Aptos" pitchFamily="34" charset="-120"/>
              </a:rPr>
              <a:t>Escalation and monitoring plan Approval or review note</a:t>
            </a:r>
            <a:endParaRPr lang="en-US" sz="14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Expected Assignment</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AI for Surveillance Signal Review and Epidemiologic Judgment artifact</a:t>
            </a:r>
            <a:endParaRPr lang="en-US" sz="1450" dirty="0"/>
          </a:p>
          <a:p>
            <a:r>
              <a:rPr lang="en-US" sz="1450" dirty="0">
                <a:solidFill>
                  <a:srgbClr val="17364A"/>
                </a:solidFill>
                <a:latin typeface="Aptos" pitchFamily="34" charset="0"/>
                <a:ea typeface="Aptos" pitchFamily="34" charset="-122"/>
                <a:cs typeface="Aptos" pitchFamily="34" charset="-120"/>
              </a:rPr>
              <a:t>Role and responsibility table</a:t>
            </a:r>
            <a:endParaRPr lang="en-US" sz="1450" dirty="0"/>
          </a:p>
          <a:p>
            <a:r>
              <a:rPr lang="en-US" sz="1450" dirty="0">
                <a:solidFill>
                  <a:srgbClr val="17364A"/>
                </a:solidFill>
                <a:latin typeface="Aptos" pitchFamily="34" charset="0"/>
                <a:ea typeface="Aptos" pitchFamily="34" charset="-122"/>
                <a:cs typeface="Aptos" pitchFamily="34" charset="-120"/>
              </a:rPr>
              <a:t>Risk and safeguard summary</a:t>
            </a:r>
            <a:endParaRPr lang="en-US" sz="1450" dirty="0"/>
          </a:p>
          <a:p>
            <a:r>
              <a:rPr lang="en-US" sz="1450" dirty="0">
                <a:solidFill>
                  <a:srgbClr val="17364A"/>
                </a:solidFill>
                <a:latin typeface="Aptos" pitchFamily="34" charset="0"/>
                <a:ea typeface="Aptos" pitchFamily="34" charset="-122"/>
                <a:cs typeface="Aptos" pitchFamily="34" charset="-120"/>
              </a:rPr>
              <a:t>Escalation and monitoring plan</a:t>
            </a:r>
            <a:endParaRPr lang="en-US" sz="1450" dirty="0"/>
          </a:p>
          <a:p>
            <a:r>
              <a:rPr lang="en-US" sz="1450" dirty="0">
                <a:solidFill>
                  <a:srgbClr val="17364A"/>
                </a:solidFill>
                <a:latin typeface="Aptos" pitchFamily="34" charset="0"/>
                <a:ea typeface="Aptos" pitchFamily="34" charset="-122"/>
                <a:cs typeface="Aptos" pitchFamily="34" charset="-120"/>
              </a:rPr>
              <a:t>Approval or review note</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Knowledge Check</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1. What is the strongest evidence that ai for surveillance signal review and epidemiologic judgment has been applied responsibly?</a:t>
            </a:r>
            <a:endParaRPr lang="en-US" sz="1450" dirty="0"/>
          </a:p>
          <a:p>
            <a:r>
              <a:rPr lang="en-US" sz="1450" dirty="0">
                <a:solidFill>
                  <a:srgbClr val="17364A"/>
                </a:solidFill>
                <a:latin typeface="Aptos" pitchFamily="34" charset="0"/>
                <a:ea typeface="Aptos" pitchFamily="34" charset="-122"/>
                <a:cs typeface="Aptos" pitchFamily="34" charset="-120"/>
              </a:rPr>
              <a:t>2. What is the best reason to assign an accountability owner?</a:t>
            </a:r>
            <a:endParaRPr lang="en-US" sz="1450" dirty="0"/>
          </a:p>
          <a:p>
            <a:r>
              <a:rPr lang="en-US" sz="1450" dirty="0">
                <a:solidFill>
                  <a:srgbClr val="17364A"/>
                </a:solidFill>
                <a:latin typeface="Aptos" pitchFamily="34" charset="0"/>
                <a:ea typeface="Aptos" pitchFamily="34" charset="-122"/>
                <a:cs typeface="Aptos" pitchFamily="34" charset="-120"/>
              </a:rPr>
              <a:t>3. When should an AI-supported workflow be escalated for review?</a:t>
            </a:r>
            <a:endParaRPr lang="en-US" sz="1450" dirty="0"/>
          </a:p>
          <a:p>
            <a:r>
              <a:rPr lang="en-US" sz="1450" dirty="0">
                <a:solidFill>
                  <a:srgbClr val="17364A"/>
                </a:solidFill>
                <a:latin typeface="Aptos" pitchFamily="34" charset="0"/>
                <a:ea typeface="Aptos" pitchFamily="34" charset="-122"/>
                <a:cs typeface="Aptos" pitchFamily="34" charset="-120"/>
              </a:rPr>
              <a:t>4. Which practice best supports public accountability?</a:t>
            </a:r>
            <a:endParaRPr lang="en-US" sz="1450" dirty="0"/>
          </a:p>
          <a:p>
            <a:r>
              <a:rPr lang="en-US" sz="1450" dirty="0">
                <a:solidFill>
                  <a:srgbClr val="17364A"/>
                </a:solidFill>
                <a:latin typeface="Aptos" pitchFamily="34" charset="0"/>
                <a:ea typeface="Aptos" pitchFamily="34" charset="-122"/>
                <a:cs typeface="Aptos" pitchFamily="34" charset="-120"/>
              </a:rPr>
              <a:t>5. What should happen when data sources, policy, vendor configuration, or workflow use changes?</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CDC Public Health Data Strategy and Data Modernization resources: https://www.cdc.gov/public-health-data-strategy/php/about/index.html</a:t>
            </a:r>
            <a:endParaRPr lang="en-US" sz="1450" dirty="0"/>
          </a:p>
          <a:p>
            <a:r>
              <a:rPr lang="en-US" sz="1450" dirty="0">
                <a:solidFill>
                  <a:srgbClr val="17364A"/>
                </a:solidFill>
                <a:latin typeface="Aptos" pitchFamily="34" charset="0"/>
                <a:ea typeface="Aptos" pitchFamily="34" charset="-122"/>
                <a:cs typeface="Aptos" pitchFamily="34" charset="-120"/>
              </a:rPr>
              <a:t>NIST Artificial Intelligence Risk Management Framework and NIST Generative AI Profile: https://www.nist.gov/publications/artificial-intelligence-risk-management-framework-generative-artificial-intelligence</a:t>
            </a:r>
            <a:endParaRPr lang="en-US" sz="1450" dirty="0"/>
          </a:p>
          <a:p>
            <a:r>
              <a:rPr lang="en-US" sz="1450" dirty="0">
                <a:solidFill>
                  <a:srgbClr val="17364A"/>
                </a:solidFill>
                <a:latin typeface="Aptos" pitchFamily="34" charset="0"/>
                <a:ea typeface="Aptos" pitchFamily="34" charset="-122"/>
                <a:cs typeface="Aptos" pitchFamily="34" charset="-120"/>
              </a:rPr>
              <a:t>WHO Ethics and Governance of Artificial Intelligence for Health guidance: https://www.who.int/publications/i/item/9789240029200</a:t>
            </a:r>
            <a:endParaRPr lang="en-US" sz="1450" dirty="0"/>
          </a:p>
          <a:p>
            <a:r>
              <a:rPr lang="en-US" sz="1450" dirty="0">
                <a:solidFill>
                  <a:srgbClr val="17364A"/>
                </a:solidFill>
                <a:latin typeface="Aptos" pitchFamily="34" charset="0"/>
                <a:ea typeface="Aptos" pitchFamily="34" charset="-122"/>
                <a:cs typeface="Aptos" pitchFamily="34" charset="-120"/>
              </a:rPr>
              <a:t>OWASP Top 10 for Large Language Model Applications: https://owasp.org/www-project-top-10-for-large-language-model-applications/</a:t>
            </a:r>
            <a:endParaRPr lang="en-US" sz="1450" dirty="0"/>
          </a:p>
          <a:p>
            <a:r>
              <a:rPr lang="en-US" sz="1450" dirty="0">
                <a:solidFill>
                  <a:srgbClr val="17364A"/>
                </a:solidFill>
                <a:latin typeface="Aptos" pitchFamily="34" charset="0"/>
                <a:ea typeface="Aptos" pitchFamily="34" charset="-122"/>
                <a:cs typeface="Aptos" pitchFamily="34" charset="-120"/>
              </a:rPr>
              <a:t>ONC health IT, interoperability, and information blocking resources: https://www.healthit.gov/</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for Surveillance Signal Review and Epidemiologic Judgment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66928"/>
          </a:xfrm>
          <a:prstGeom prst="rect">
            <a:avLst/>
          </a:prstGeom>
          <a:noFill/>
          <a:ln/>
        </p:spPr>
        <p:txBody>
          <a:bodyPr wrap="square" lIns="0" tIns="0" rIns="0" bIns="0" rtlCol="0" anchor="ctr">
            <a:normAutofit/>
          </a:bodyPr>
          <a:lstStyle/>
          <a:p>
            <a:pPr indent="0" marL="0">
              <a:buNone/>
            </a:pPr>
            <a:r>
              <a:rPr lang="en-US" sz="2700" b="1" dirty="0">
                <a:solidFill>
                  <a:srgbClr val="003A63"/>
                </a:solidFill>
                <a:latin typeface="Aptos Display" pitchFamily="34" charset="0"/>
                <a:ea typeface="Aptos Display" pitchFamily="34" charset="-122"/>
                <a:cs typeface="Aptos Display" pitchFamily="34" charset="-120"/>
              </a:rPr>
              <a:t>References and Resources Continued</a:t>
            </a:r>
            <a:endParaRPr lang="en-US" sz="2700" dirty="0"/>
          </a:p>
        </p:txBody>
      </p:sp>
      <p:sp>
        <p:nvSpPr>
          <p:cNvPr id="7" name="Text 5"/>
          <p:cNvSpPr/>
          <p:nvPr/>
        </p:nvSpPr>
        <p:spPr>
          <a:xfrm>
            <a:off x="822960" y="1325880"/>
            <a:ext cx="10378440" cy="4800600"/>
          </a:xfrm>
          <a:prstGeom prst="rect">
            <a:avLst/>
          </a:prstGeom>
          <a:noFill/>
          <a:ln/>
        </p:spPr>
        <p:txBody>
          <a:bodyPr wrap="square" lIns="635" tIns="635" rIns="635" bIns="635" rtlCol="0" anchor="t">
            <a:normAutofit/>
          </a:bodyPr>
          <a:lstStyle/>
          <a:p>
            <a:r>
              <a:rPr lang="en-US" sz="1450" dirty="0">
                <a:solidFill>
                  <a:srgbClr val="17364A"/>
                </a:solidFill>
                <a:latin typeface="Aptos" pitchFamily="34" charset="0"/>
                <a:ea typeface="Aptos" pitchFamily="34" charset="-122"/>
                <a:cs typeface="Aptos" pitchFamily="34" charset="-120"/>
              </a:rPr>
              <a:t>Agency policies for privacy, public records, cybersecurity, procurement, civil rights, accessibility, language access, and emergency communications</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Surveillance Signal Review and Epidemiologic Judgment</dc:title>
  <dc:subject>AI for Surveillance Signal Review and Epidemiologic Judgment learning module</dc:subject>
  <dc:creator>Paula Soper</dc:creator>
  <cp:lastModifiedBy>Paula Soper</cp:lastModifiedBy>
  <cp:revision>1</cp:revision>
  <dcterms:created xsi:type="dcterms:W3CDTF">2026-07-12T18:22:12Z</dcterms:created>
  <dcterms:modified xsi:type="dcterms:W3CDTF">2026-07-12T18:22:12Z</dcterms:modified>
</cp:coreProperties>
</file>