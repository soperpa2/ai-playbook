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230 Electronic Case Reporting Technical Workflow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12: Execute Governance and Oversight - This lesson informs Play 12 by helping learners connect the lesson topic to execute governance and oversight work in the AI Playbook.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AI Evaluation &amp; Outcomes Reporting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basic eCR workflow from EHR trigger to public health action.
Explain the roles of eICR, Reportability Response, eRSD, and RCTC.
Identify eCR data quality, routing, and onboarding issues that can affect AI use.
Assess where AI may support eCR workflows and where human review remains required.
Produce an AI-readiness review for an eCR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Routing errors. Incorrect jurisdiction or program routing can delay response. Guardrails include routing validation, exception queues,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your agency receive, review, or process case reports today?
Which steps are automated and which remain manual?
Where are timeliness, completeness, routing, or duplication problems most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eCR tasks could AI support safely?
Which tasks require human review, legal authority, or epidemiologic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AI-readiness review for one eCR workflow. Map the current workflow, identify data elements required for review, describe common data quality gaps, define the AI-supported task under consideration, and specify human review, validation, monitoring, and escalation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eCR workflow map
AI-readiness checklist
Validation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eCR workflow map
AI-readiness checklist
Validation scenarios
Human review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eCR?
2. What is an eICR?
3. What do eRSD and RCTC support?
4. Which AI-supported eCR use requires particularly careful validation?
5. What should be documented before using AI in an eCR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Electronic Case Reporting resources: https://www.cdc.gov/ecr/php/index.html
AIMS eCR triggering documentation: https://ecr.aimsplatform.org/ehr-implementers/triggering/
HL7 eCR FHIR Implementation Guide: https://hl7.org/fhir/us/ecr/
Jurisdictional eCR onboarding and surveillance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Electronic Case Reporting Technical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1700" dirty="0"/>
          </a:p>
          <a:p>
            <a:r>
              <a:rPr lang="en-US" sz="1700" dirty="0">
                <a:solidFill>
                  <a:srgbClr val="17364A"/>
                </a:solidFill>
                <a:latin typeface="Aptos" pitchFamily="34" charset="0"/>
                <a:ea typeface="Aptos" pitchFamily="34" charset="-122"/>
                <a:cs typeface="Aptos" pitchFamily="34" charset="-120"/>
              </a:rPr>
              <a:t>It uses data from electronic health records and reporting logic to support more timely case reporting to public health agencies.</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eCR works technically and how AI might support eCR-related workflows without replacing public health authority,.</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 lesson topic to monitor and.</a:t>
            </a:r>
            <a:endParaRPr lang="en-US" sz="1540" dirty="0"/>
          </a:p>
          <a:p>
            <a:r>
              <a:rPr lang="en-US" sz="154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 vision &amp; guardrails work in.</a:t>
            </a:r>
            <a:endParaRPr lang="en-US" sz="1540" dirty="0"/>
          </a:p>
          <a:p>
            <a:r>
              <a:rPr lang="en-US" sz="154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 lesson topic to execute.</a:t>
            </a:r>
            <a:endParaRPr lang="en-US" sz="1540" dirty="0"/>
          </a:p>
          <a:p>
            <a:r>
              <a:rPr lang="en-US" sz="154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 prioritize use cases work.</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48: AI Evaluation &amp; Outcomes Reporting (Template) - Use AI Evaluation &amp; Outcomes Reporting to translate this lesson into a.</a:t>
            </a:r>
            <a:endParaRPr lang="en-US" sz="1460" dirty="0"/>
          </a:p>
          <a:p>
            <a:r>
              <a:rPr lang="en-US" sz="146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 documented public health.</a:t>
            </a:r>
            <a:endParaRPr lang="en-US" sz="1460" dirty="0"/>
          </a:p>
          <a:p>
            <a:r>
              <a:rPr lang="en-US" sz="146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 Review to translate this.</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700" dirty="0"/>
          </a:p>
          <a:p>
            <a:r>
              <a:rPr lang="en-US" sz="1700" dirty="0">
                <a:solidFill>
                  <a:srgbClr val="17364A"/>
                </a:solidFill>
                <a:latin typeface="Aptos" pitchFamily="34" charset="0"/>
                <a:ea typeface="Aptos" pitchFamily="34" charset="-122"/>
                <a:cs typeface="Aptos" pitchFamily="34" charset="-120"/>
              </a:rPr>
              <a:t>Explain the roles of eICR, Reportability Response, eRSD, and RCTC.</a:t>
            </a:r>
            <a:endParaRPr lang="en-US" sz="1700" dirty="0"/>
          </a:p>
          <a:p>
            <a:r>
              <a:rPr lang="en-US" sz="1700" dirty="0">
                <a:solidFill>
                  <a:srgbClr val="17364A"/>
                </a:solidFill>
                <a:latin typeface="Aptos" pitchFamily="34" charset="0"/>
                <a:ea typeface="Aptos" pitchFamily="34" charset="-122"/>
                <a:cs typeface="Aptos" pitchFamily="34" charset="-120"/>
              </a:rPr>
              <a:t>Identify eCR data quality, routing, and onboarding issues that can affect AI use.</a:t>
            </a:r>
            <a:endParaRPr lang="en-US" sz="1700" dirty="0"/>
          </a:p>
          <a:p>
            <a:r>
              <a:rPr lang="en-US" sz="1700" dirty="0">
                <a:solidFill>
                  <a:srgbClr val="17364A"/>
                </a:solidFill>
                <a:latin typeface="Aptos" pitchFamily="34" charset="0"/>
                <a:ea typeface="Aptos" pitchFamily="34" charset="-122"/>
                <a:cs typeface="Aptos" pitchFamily="34" charset="-120"/>
              </a:rPr>
              <a:t>Assess where AI may support eCR workflows and where human review remains required.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1700" dirty="0"/>
          </a:p>
          <a:p>
            <a:r>
              <a:rPr lang="en-US" sz="1700" dirty="0">
                <a:solidFill>
                  <a:srgbClr val="17364A"/>
                </a:solidFill>
                <a:latin typeface="Aptos" pitchFamily="34" charset="0"/>
                <a:ea typeface="Aptos" pitchFamily="34" charset="-122"/>
                <a:cs typeface="Aptos" pitchFamily="34" charset="-120"/>
              </a:rPr>
              <a:t>It uses data from electronic health records and reporting logic to support more timely case reporting to public health.</a:t>
            </a:r>
            <a:endParaRPr lang="en-US" sz="1700" dirty="0"/>
          </a:p>
          <a:p>
            <a:r>
              <a:rPr lang="en-US" sz="1700" dirty="0">
                <a:solidFill>
                  <a:srgbClr val="17364A"/>
                </a:solidFill>
                <a:latin typeface="Aptos" pitchFamily="34" charset="0"/>
                <a:ea typeface="Aptos" pitchFamily="34" charset="-122"/>
                <a:cs typeface="Aptos" pitchFamily="34" charset="-120"/>
              </a:rPr>
              <a:t>This module teaches learners how eCR works technically and how AI might support eCR-related workflows without replacing.</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Electronic case reporting is one of the clearest examples of public health automation.</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700" dirty="0"/>
          </a:p>
          <a:p>
            <a:r>
              <a:rPr lang="en-US" sz="17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1700" dirty="0"/>
          </a:p>
          <a:p>
            <a:r>
              <a:rPr lang="en-US" sz="17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 implementing AI-supported.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 health workflows.</a:t>
            </a:r>
            <a:endParaRPr lang="en-US" sz="1700" dirty="0"/>
          </a:p>
          <a:p>
            <a:r>
              <a:rPr lang="en-US" sz="1700" dirty="0">
                <a:solidFill>
                  <a:srgbClr val="17364A"/>
                </a:solidFill>
                <a:latin typeface="Aptos" pitchFamily="34" charset="0"/>
                <a:ea typeface="Aptos" pitchFamily="34" charset="-122"/>
                <a:cs typeface="Aptos" pitchFamily="34" charset="-120"/>
              </a:rPr>
              <a:t>It can reduce manual reporting burden and improve the speed of public health awareness.</a:t>
            </a:r>
            <a:endParaRPr lang="en-US" sz="1700" dirty="0"/>
          </a:p>
          <a:p>
            <a:r>
              <a:rPr lang="en-US" sz="1700" dirty="0">
                <a:solidFill>
                  <a:srgbClr val="17364A"/>
                </a:solidFill>
                <a:latin typeface="Aptos" pitchFamily="34" charset="0"/>
                <a:ea typeface="Aptos" pitchFamily="34" charset="-122"/>
                <a:cs typeface="Aptos" pitchFamily="34" charset="-120"/>
              </a:rPr>
              <a:t>However, eCR is not simply a data feed.</a:t>
            </a:r>
            <a:endParaRPr lang="en-US" sz="1700" dirty="0"/>
          </a:p>
          <a:p>
            <a:r>
              <a:rPr lang="en-US" sz="1700" dirty="0">
                <a:solidFill>
                  <a:srgbClr val="17364A"/>
                </a:solidFill>
                <a:latin typeface="Aptos" pitchFamily="34" charset="0"/>
                <a:ea typeface="Aptos" pitchFamily="34" charset="-122"/>
                <a:cs typeface="Aptos" pitchFamily="34" charset="-120"/>
              </a:rPr>
              <a:t>It includes trigger logic, routing, standards, jurisdictional rules, provider workflows, public health system intake, and.</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eCR matters for AI because it brings structured, timely, clinically relevant information into public health workflows.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Electronic case reporting.</a:t>
            </a:r>
            <a:endParaRPr lang="en-US" sz="1700" dirty="0"/>
          </a:p>
          <a:p>
            <a:r>
              <a:rPr lang="en-US" sz="1700" dirty="0">
                <a:solidFill>
                  <a:srgbClr val="17364A"/>
                </a:solidFill>
                <a:latin typeface="Aptos" pitchFamily="34" charset="0"/>
                <a:ea typeface="Aptos" pitchFamily="34" charset="-122"/>
                <a:cs typeface="Aptos" pitchFamily="34" charset="-120"/>
              </a:rPr>
              <a:t>Electronic case reporting is the automated exchange of case report information from healthcare to public health.</a:t>
            </a:r>
            <a:endParaRPr lang="en-US" sz="1700" dirty="0"/>
          </a:p>
          <a:p>
            <a:r>
              <a:rPr lang="en-US" sz="1700" dirty="0">
                <a:solidFill>
                  <a:srgbClr val="17364A"/>
                </a:solidFill>
                <a:latin typeface="Aptos" pitchFamily="34" charset="0"/>
                <a:ea typeface="Aptos" pitchFamily="34" charset="-122"/>
                <a:cs typeface="Aptos" pitchFamily="34" charset="-120"/>
              </a:rPr>
              <a:t>It is designed to improve timeliness, completeness, and consistency in reportable condition workflows.</a:t>
            </a:r>
            <a:endParaRPr lang="en-US" sz="1700" dirty="0"/>
          </a:p>
          <a:p>
            <a:r>
              <a:rPr lang="en-US" sz="1700" dirty="0">
                <a:solidFill>
                  <a:srgbClr val="17364A"/>
                </a:solidFill>
                <a:latin typeface="Aptos" pitchFamily="34" charset="0"/>
                <a:ea typeface="Aptos" pitchFamily="34" charset="-122"/>
                <a:cs typeface="Aptos" pitchFamily="34" charset="-120"/>
              </a:rPr>
              <a:t>eICR.</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Electronic case reporting.</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eRSD and RCTC.</a:t>
            </a:r>
            <a:endParaRPr lang="en-US" sz="1700" dirty="0"/>
          </a:p>
          <a:p>
            <a:r>
              <a:rPr lang="en-US" sz="1700" dirty="0">
                <a:solidFill>
                  <a:srgbClr val="17364A"/>
                </a:solidFill>
                <a:latin typeface="Aptos" pitchFamily="34" charset="0"/>
                <a:ea typeface="Aptos" pitchFamily="34" charset="-122"/>
                <a:cs typeface="Aptos" pitchFamily="34" charset="-120"/>
              </a:rPr>
              <a:t>Electronic Reporting and Surveillance Distribution supports the distribution of reporting criteria and trigger code value.</a:t>
            </a:r>
            <a:endParaRPr lang="en-US" sz="1700" dirty="0"/>
          </a:p>
          <a:p>
            <a:r>
              <a:rPr lang="en-US" sz="1700" dirty="0">
                <a:solidFill>
                  <a:srgbClr val="17364A"/>
                </a:solidFill>
                <a:latin typeface="Aptos" pitchFamily="34" charset="0"/>
                <a:ea typeface="Aptos" pitchFamily="34" charset="-122"/>
                <a:cs typeface="Aptos" pitchFamily="34" charset="-120"/>
              </a:rPr>
              <a:t>Reportable Conditions Trigger Codes help EHRs determine when an eICR should be generated.</a:t>
            </a:r>
            <a:endParaRPr lang="en-US" sz="1700" dirty="0"/>
          </a:p>
          <a:p>
            <a:r>
              <a:rPr lang="en-US" sz="1700" dirty="0">
                <a:solidFill>
                  <a:srgbClr val="17364A"/>
                </a:solidFill>
                <a:latin typeface="Aptos" pitchFamily="34" charset="0"/>
                <a:ea typeface="Aptos" pitchFamily="34" charset="-122"/>
                <a:cs typeface="Aptos" pitchFamily="34" charset="-120"/>
              </a:rPr>
              <a:t>These components are essential to reliable and current triggering.</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eRSD and RCTC.</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jurisdiction may receive eICRs for a reportable condition and want AI to create an investigator-facing summary.</a:t>
            </a:r>
            <a:endParaRPr lang="en-US" sz="1700" dirty="0"/>
          </a:p>
          <a:p>
            <a:r>
              <a:rPr lang="en-US" sz="1700" dirty="0">
                <a:solidFill>
                  <a:srgbClr val="17364A"/>
                </a:solidFill>
                <a:latin typeface="Aptos" pitchFamily="34" charset="0"/>
                <a:ea typeface="Aptos" pitchFamily="34" charset="-122"/>
                <a:cs typeface="Aptos" pitchFamily="34" charset="-120"/>
              </a:rPr>
              <a:t>The tool could highlight the suspected condition, key dates, lab evidence, symptoms, provider details, pregnancy status,.</a:t>
            </a:r>
            <a:endParaRPr lang="en-US" sz="1700" dirty="0"/>
          </a:p>
          <a:p>
            <a:r>
              <a:rPr lang="en-US" sz="1700" dirty="0">
                <a:solidFill>
                  <a:srgbClr val="17364A"/>
                </a:solidFill>
                <a:latin typeface="Aptos" pitchFamily="34" charset="0"/>
                <a:ea typeface="Aptos" pitchFamily="34" charset="-122"/>
                <a:cs typeface="Aptos" pitchFamily="34" charset="-120"/>
              </a:rPr>
              <a:t>This could reduce staff burden, but only if users can inspect the source data and correct errors.</a:t>
            </a:r>
            <a:endParaRPr lang="en-US" sz="1700" dirty="0"/>
          </a:p>
          <a:p>
            <a:r>
              <a:rPr lang="en-US" sz="1700" dirty="0">
                <a:solidFill>
                  <a:srgbClr val="17364A"/>
                </a:solidFill>
                <a:latin typeface="Aptos" pitchFamily="34" charset="0"/>
                <a:ea typeface="Aptos" pitchFamily="34" charset="-122"/>
                <a:cs typeface="Aptos" pitchFamily="34" charset="-120"/>
              </a:rPr>
              <a:t>Another jurisdiction may want to use AI to triage incoming eICRs by urgency.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jurisdiction may receive eICRs for a reportable condition and want AI to create an investigator-facing summary.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The eCR workflow begins before a report reaches public health.</a:t>
            </a:r>
            <a:endParaRPr lang="en-US" sz="1700" dirty="0"/>
          </a:p>
          <a:p>
            <a:r>
              <a:rPr lang="en-US" sz="1700" dirty="0">
                <a:solidFill>
                  <a:srgbClr val="17364A"/>
                </a:solidFill>
                <a:latin typeface="Aptos" pitchFamily="34" charset="0"/>
                <a:ea typeface="Aptos" pitchFamily="34" charset="-122"/>
                <a:cs typeface="Aptos" pitchFamily="34" charset="-120"/>
              </a:rPr>
              <a:t>EHR systems use trigger criteria and value sets to identify encounters that may need reporting.</a:t>
            </a:r>
            <a:endParaRPr lang="en-US" sz="1700" dirty="0"/>
          </a:p>
          <a:p>
            <a:r>
              <a:rPr lang="en-US" sz="1700" dirty="0">
                <a:solidFill>
                  <a:srgbClr val="17364A"/>
                </a:solidFill>
                <a:latin typeface="Aptos" pitchFamily="34" charset="0"/>
                <a:ea typeface="Aptos" pitchFamily="34" charset="-122"/>
                <a:cs typeface="Aptos" pitchFamily="34" charset="-120"/>
              </a:rPr>
              <a:t>The eICR is generated and transmitted through an exchange process to the appropriate public health jurisdiction.</a:t>
            </a:r>
            <a:endParaRPr lang="en-US" sz="1700" dirty="0"/>
          </a:p>
          <a:p>
            <a:r>
              <a:rPr lang="en-US" sz="1700" dirty="0">
                <a:solidFill>
                  <a:srgbClr val="17364A"/>
                </a:solidFill>
                <a:latin typeface="Aptos" pitchFamily="34" charset="0"/>
                <a:ea typeface="Aptos" pitchFamily="34" charset="-122"/>
                <a:cs typeface="Aptos" pitchFamily="34" charset="-120"/>
              </a:rPr>
              <a:t>Public health systems then receive, parse, route, review, and incorporate the information into surveillance workflows.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eCR workflow begins before a report reaches public health.</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Incorrect trigger assumptions.</a:t>
            </a:r>
            <a:endParaRPr lang="en-US" sz="1700" dirty="0"/>
          </a:p>
          <a:p>
            <a:r>
              <a:rPr lang="en-US" sz="1700" dirty="0">
                <a:solidFill>
                  <a:srgbClr val="17364A"/>
                </a:solidFill>
                <a:latin typeface="Aptos" pitchFamily="34" charset="0"/>
                <a:ea typeface="Aptos" pitchFamily="34" charset="-122"/>
                <a:cs typeface="Aptos" pitchFamily="34" charset="-120"/>
              </a:rPr>
              <a:t>If trigger value sets or reporting criteria are outdated, the workflow may generate missing or inappropriate reports.</a:t>
            </a:r>
            <a:endParaRPr lang="en-US" sz="1700" dirty="0"/>
          </a:p>
          <a:p>
            <a:r>
              <a:rPr lang="en-US" sz="1700" dirty="0">
                <a:solidFill>
                  <a:srgbClr val="17364A"/>
                </a:solidFill>
                <a:latin typeface="Aptos" pitchFamily="34" charset="0"/>
                <a:ea typeface="Aptos" pitchFamily="34" charset="-122"/>
                <a:cs typeface="Aptos" pitchFamily="34" charset="-120"/>
              </a:rPr>
              <a:t>Guardrails include current eRSD/RCTC management, onboarding checks, and periodic review.</a:t>
            </a:r>
            <a:endParaRPr lang="en-US" sz="1700" dirty="0"/>
          </a:p>
          <a:p>
            <a:r>
              <a:rPr lang="en-US" sz="1700" dirty="0">
                <a:solidFill>
                  <a:srgbClr val="17364A"/>
                </a:solidFill>
                <a:latin typeface="Aptos" pitchFamily="34" charset="0"/>
                <a:ea typeface="Aptos" pitchFamily="34" charset="-122"/>
                <a:cs typeface="Aptos" pitchFamily="34" charset="-120"/>
              </a:rPr>
              <a:t>Unsupported summaries.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Incorrect trigger assumptions.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Routing errors.</a:t>
            </a:r>
            <a:endParaRPr lang="en-US" sz="1700" dirty="0"/>
          </a:p>
          <a:p>
            <a:r>
              <a:rPr lang="en-US" sz="1700" dirty="0">
                <a:solidFill>
                  <a:srgbClr val="17364A"/>
                </a:solidFill>
                <a:latin typeface="Aptos" pitchFamily="34" charset="0"/>
                <a:ea typeface="Aptos" pitchFamily="34" charset="-122"/>
                <a:cs typeface="Aptos" pitchFamily="34" charset="-120"/>
              </a:rPr>
              <a:t>Incorrect jurisdiction or program routing can delay response.</a:t>
            </a:r>
            <a:endParaRPr lang="en-US" sz="1700" dirty="0"/>
          </a:p>
          <a:p>
            <a:r>
              <a:rPr lang="en-US" sz="1700" dirty="0">
                <a:solidFill>
                  <a:srgbClr val="17364A"/>
                </a:solidFill>
                <a:latin typeface="Aptos" pitchFamily="34" charset="0"/>
                <a:ea typeface="Aptos" pitchFamily="34" charset="-122"/>
                <a:cs typeface="Aptos" pitchFamily="34" charset="-120"/>
              </a:rPr>
              <a:t>Guardrails include routing validation, exception queues, and escalation procedures.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Routing errors.</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1700" dirty="0"/>
          </a:p>
          <a:p>
            <a:r>
              <a:rPr lang="en-US" sz="1700" dirty="0">
                <a:solidFill>
                  <a:srgbClr val="17364A"/>
                </a:solidFill>
                <a:latin typeface="Aptos" pitchFamily="34" charset="0"/>
                <a:ea typeface="Aptos" pitchFamily="34" charset="-122"/>
                <a:cs typeface="Aptos" pitchFamily="34" charset="-120"/>
              </a:rPr>
              <a:t>Predictive models may support prioritization, but only after validation against public health outcomes and review workflows.</a:t>
            </a:r>
            <a:endParaRPr lang="en-US" sz="1700" dirty="0"/>
          </a:p>
          <a:p>
            <a:r>
              <a:rPr lang="en-US" sz="1700" dirty="0">
                <a:solidFill>
                  <a:srgbClr val="17364A"/>
                </a:solidFill>
                <a:latin typeface="Aptos" pitchFamily="34" charset="0"/>
                <a:ea typeface="Aptos" pitchFamily="34" charset="-122"/>
                <a:cs typeface="Aptos" pitchFamily="34" charset="-120"/>
              </a:rPr>
              <a:t>RAG may provide disease-specific guidance to investigators, but document sources must be current and authoritative.</a:t>
            </a:r>
            <a:endParaRPr lang="en-US" sz="1700" dirty="0"/>
          </a:p>
          <a:p>
            <a:r>
              <a:rPr lang="en-US" sz="1700" dirty="0">
                <a:solidFill>
                  <a:srgbClr val="17364A"/>
                </a:solidFill>
                <a:latin typeface="Aptos" pitchFamily="34" charset="0"/>
                <a:ea typeface="Aptos" pitchFamily="34" charset="-122"/>
                <a:cs typeface="Aptos" pitchFamily="34" charset="-120"/>
              </a:rPr>
              <a:t>Agentic AI could create follow-up tasks, but task creation should be constrained and auditable.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may summarize eICR content, but summaries should display source evidence and uncertainty.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700" dirty="0"/>
          </a:p>
          <a:p>
            <a:r>
              <a:rPr lang="en-US" sz="1700" dirty="0">
                <a:solidFill>
                  <a:srgbClr val="17364A"/>
                </a:solidFill>
                <a:latin typeface="Aptos" pitchFamily="34" charset="0"/>
                <a:ea typeface="Aptos" pitchFamily="34" charset="-122"/>
                <a:cs typeface="Aptos" pitchFamily="34" charset="-120"/>
              </a:rPr>
              <a:t>Which steps are automated and which remain manual?</a:t>
            </a:r>
            <a:endParaRPr lang="en-US" sz="1700" dirty="0"/>
          </a:p>
          <a:p>
            <a:r>
              <a:rPr lang="en-US" sz="1700" dirty="0">
                <a:solidFill>
                  <a:srgbClr val="17364A"/>
                </a:solidFill>
                <a:latin typeface="Aptos" pitchFamily="34" charset="0"/>
                <a:ea typeface="Aptos" pitchFamily="34" charset="-122"/>
                <a:cs typeface="Aptos" pitchFamily="34" charset="-120"/>
              </a:rPr>
              <a:t>Where are timeliness, completeness, routing, or duplication problems most common?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eCR tasks could AI support safely?</a:t>
            </a:r>
            <a:endParaRPr lang="en-US" sz="1700" dirty="0"/>
          </a:p>
          <a:p>
            <a:r>
              <a:rPr lang="en-US" sz="1700" dirty="0">
                <a:solidFill>
                  <a:srgbClr val="17364A"/>
                </a:solidFill>
                <a:latin typeface="Aptos" pitchFamily="34" charset="0"/>
                <a:ea typeface="Aptos" pitchFamily="34" charset="-122"/>
                <a:cs typeface="Aptos" pitchFamily="34" charset="-120"/>
              </a:rPr>
              <a:t>Which tasks require human review, legal authority, or epidemiologic judgment?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eCR tasks could AI support safely?</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an AI-readiness review for one eCR workflow.</a:t>
            </a:r>
            <a:endParaRPr lang="en-US" sz="1700" dirty="0"/>
          </a:p>
          <a:p>
            <a:r>
              <a:rPr lang="en-US" sz="1700" dirty="0">
                <a:solidFill>
                  <a:srgbClr val="17364A"/>
                </a:solidFill>
                <a:latin typeface="Aptos" pitchFamily="34" charset="0"/>
                <a:ea typeface="Aptos" pitchFamily="34" charset="-122"/>
                <a:cs typeface="Aptos" pitchFamily="34" charset="-120"/>
              </a:rPr>
              <a:t>Map the current workflow, identify data elements required for review, describe common data quality gaps, define the.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an AI-readiness review for one eCR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eCR workflow map</a:t>
            </a:r>
            <a:endParaRPr lang="en-US" sz="1700" dirty="0"/>
          </a:p>
          <a:p>
            <a:r>
              <a:rPr lang="en-US" sz="1700" dirty="0">
                <a:solidFill>
                  <a:srgbClr val="17364A"/>
                </a:solidFill>
                <a:latin typeface="Aptos" pitchFamily="34" charset="0"/>
                <a:ea typeface="Aptos" pitchFamily="34" charset="-122"/>
                <a:cs typeface="Aptos" pitchFamily="34" charset="-120"/>
              </a:rPr>
              <a:t>AI-readiness checklist</a:t>
            </a:r>
            <a:endParaRPr lang="en-US" sz="1700" dirty="0"/>
          </a:p>
          <a:p>
            <a:r>
              <a:rPr lang="en-US" sz="1700" dirty="0">
                <a:solidFill>
                  <a:srgbClr val="17364A"/>
                </a:solidFill>
                <a:latin typeface="Aptos" pitchFamily="34" charset="0"/>
                <a:ea typeface="Aptos" pitchFamily="34" charset="-122"/>
                <a:cs typeface="Aptos" pitchFamily="34" charset="-120"/>
              </a:rPr>
              <a:t>Validation scenarios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eCR workflow map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Human review and escalation plan</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Human review and escalation plan</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eCR workflow map</a:t>
            </a:r>
            <a:endParaRPr lang="en-US" sz="1700" dirty="0"/>
          </a:p>
          <a:p>
            <a:r>
              <a:rPr lang="en-US" sz="1700" dirty="0">
                <a:solidFill>
                  <a:srgbClr val="17364A"/>
                </a:solidFill>
                <a:latin typeface="Aptos" pitchFamily="34" charset="0"/>
                <a:ea typeface="Aptos" pitchFamily="34" charset="-122"/>
                <a:cs typeface="Aptos" pitchFamily="34" charset="-120"/>
              </a:rPr>
              <a:t>AI-readiness checklist</a:t>
            </a:r>
            <a:endParaRPr lang="en-US" sz="1700" dirty="0"/>
          </a:p>
          <a:p>
            <a:r>
              <a:rPr lang="en-US" sz="1700" dirty="0">
                <a:solidFill>
                  <a:srgbClr val="17364A"/>
                </a:solidFill>
                <a:latin typeface="Aptos" pitchFamily="34" charset="0"/>
                <a:ea typeface="Aptos" pitchFamily="34" charset="-122"/>
                <a:cs typeface="Aptos" pitchFamily="34" charset="-120"/>
              </a:rPr>
              <a:t>Validation scenarios</a:t>
            </a:r>
            <a:endParaRPr lang="en-US" sz="1700" dirty="0"/>
          </a:p>
          <a:p>
            <a:r>
              <a:rPr lang="en-US" sz="1700" dirty="0">
                <a:solidFill>
                  <a:srgbClr val="17364A"/>
                </a:solidFill>
                <a:latin typeface="Aptos" pitchFamily="34" charset="0"/>
                <a:ea typeface="Aptos" pitchFamily="34" charset="-122"/>
                <a:cs typeface="Aptos" pitchFamily="34" charset="-120"/>
              </a:rPr>
              <a:t>Human review and escalation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eCR workflow map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eCR?</a:t>
            </a:r>
            <a:endParaRPr lang="en-US" sz="1700" dirty="0"/>
          </a:p>
          <a:p>
            <a:r>
              <a:rPr lang="en-US" sz="1700" dirty="0">
                <a:solidFill>
                  <a:srgbClr val="17364A"/>
                </a:solidFill>
                <a:latin typeface="Aptos" pitchFamily="34" charset="0"/>
                <a:ea typeface="Aptos" pitchFamily="34" charset="-122"/>
                <a:cs typeface="Aptos" pitchFamily="34" charset="-120"/>
              </a:rPr>
              <a:t>2. What is an eICR?</a:t>
            </a:r>
            <a:endParaRPr lang="en-US" sz="1700" dirty="0"/>
          </a:p>
          <a:p>
            <a:r>
              <a:rPr lang="en-US" sz="1700" dirty="0">
                <a:solidFill>
                  <a:srgbClr val="17364A"/>
                </a:solidFill>
                <a:latin typeface="Aptos" pitchFamily="34" charset="0"/>
                <a:ea typeface="Aptos" pitchFamily="34" charset="-122"/>
                <a:cs typeface="Aptos" pitchFamily="34" charset="-120"/>
              </a:rPr>
              <a:t>3. What do eRSD and RCTC support?</a:t>
            </a:r>
            <a:endParaRPr lang="en-US" sz="1700" dirty="0"/>
          </a:p>
          <a:p>
            <a:r>
              <a:rPr lang="en-US" sz="1700" dirty="0">
                <a:solidFill>
                  <a:srgbClr val="17364A"/>
                </a:solidFill>
                <a:latin typeface="Aptos" pitchFamily="34" charset="0"/>
                <a:ea typeface="Aptos" pitchFamily="34" charset="-122"/>
                <a:cs typeface="Aptos" pitchFamily="34" charset="-120"/>
              </a:rPr>
              <a:t>4. Which AI-supported eCR use requires particularly careful validation?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eCR?</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700" dirty="0"/>
          </a:p>
          <a:p>
            <a:r>
              <a:rPr lang="en-US" sz="1700" dirty="0">
                <a:solidFill>
                  <a:srgbClr val="17364A"/>
                </a:solidFill>
                <a:latin typeface="Aptos" pitchFamily="34" charset="0"/>
                <a:ea typeface="Aptos" pitchFamily="34" charset="-122"/>
                <a:cs typeface="Aptos" pitchFamily="34" charset="-120"/>
              </a:rPr>
              <a:t>AIMS eCR triggering documentation: https://ecr.aimsplatform.org/ehr-implementers/triggering/</a:t>
            </a:r>
            <a:endParaRPr lang="en-US" sz="1700" dirty="0"/>
          </a:p>
          <a:p>
            <a:r>
              <a:rPr lang="en-US" sz="1700" dirty="0">
                <a:solidFill>
                  <a:srgbClr val="17364A"/>
                </a:solidFill>
                <a:latin typeface="Aptos" pitchFamily="34" charset="0"/>
                <a:ea typeface="Aptos" pitchFamily="34" charset="-122"/>
                <a:cs typeface="Aptos" pitchFamily="34" charset="-120"/>
              </a:rPr>
              <a:t>HL7 eCR FHIR Implementation Guide: https://hl7.org/fhir/us/ecr/</a:t>
            </a:r>
            <a:endParaRPr lang="en-US" sz="1700" dirty="0"/>
          </a:p>
          <a:p>
            <a:r>
              <a:rPr lang="en-US" sz="1700" dirty="0">
                <a:solidFill>
                  <a:srgbClr val="17364A"/>
                </a:solidFill>
                <a:latin typeface="Aptos" pitchFamily="34" charset="0"/>
                <a:ea typeface="Aptos" pitchFamily="34" charset="-122"/>
                <a:cs typeface="Aptos" pitchFamily="34" charset="-120"/>
              </a:rPr>
              <a:t>Jurisdictional eCR onboarding and surveillance documentation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Case Reporting Technical Workflow</dc:title>
  <dc:subject>Electronic Case Reporting Technical Workflow learning module</dc:subject>
  <dc:creator>Paula Soper</dc:creator>
  <cp:lastModifiedBy>Paula Soper</cp:lastModifiedBy>
  <cp:revision>1</cp:revision>
  <dcterms:created xsi:type="dcterms:W3CDTF">2026-07-12T18:54:57Z</dcterms:created>
  <dcterms:modified xsi:type="dcterms:W3CDTF">2026-07-12T18:54:57Z</dcterms:modified>
</cp:coreProperties>
</file>