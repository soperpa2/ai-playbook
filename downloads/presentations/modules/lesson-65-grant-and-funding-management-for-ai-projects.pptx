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Program Management Role-Based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program-management, public-health-executive-leadership, policy, governance-security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450" dirty="0"/>
          </a:p>
          <a:p>
            <a:r>
              <a:rPr lang="en-US" sz="145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1450" dirty="0"/>
          </a:p>
          <a:p>
            <a:r>
              <a:rPr lang="en-US" sz="145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450" dirty="0"/>
          </a:p>
          <a:p>
            <a:r>
              <a:rPr lang="en-US" sz="1450" dirty="0">
                <a:solidFill>
                  <a:srgbClr val="17364A"/>
                </a:solidFill>
                <a:latin typeface="Aptos" pitchFamily="34" charset="0"/>
                <a:ea typeface="Aptos" pitchFamily="34" charset="-122"/>
                <a:cs typeface="Aptos" pitchFamily="34" charset="-120"/>
              </a:rPr>
              <a:t>Produce a practical artifact that supports readiness, governance, implementation, monitoring, or accountability.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Definitions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Decision right: The authority to approve, deny, modify, pause, or escalate an AI use case or operational decision.</a:t>
            </a:r>
            <a:endParaRPr lang="en-US" sz="1450" dirty="0"/>
          </a:p>
          <a:p>
            <a:r>
              <a:rPr lang="en-US" sz="1450" dirty="0">
                <a:solidFill>
                  <a:srgbClr val="17364A"/>
                </a:solidFill>
                <a:latin typeface="Aptos" pitchFamily="34" charset="0"/>
                <a:ea typeface="Aptos" pitchFamily="34" charset="-122"/>
                <a:cs typeface="Aptos" pitchFamily="34" charset="-120"/>
              </a:rPr>
              <a:t>Evidence artifact: A document, log, checklist, test result, approval record, or review note that demonstrates responsible AI practice.</a:t>
            </a:r>
            <a:endParaRPr lang="en-US" sz="1450" dirty="0"/>
          </a:p>
          <a:p>
            <a:r>
              <a:rPr lang="en-US" sz="145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1450" dirty="0"/>
          </a:p>
          <a:p>
            <a:r>
              <a:rPr lang="en-US" sz="1450" dirty="0">
                <a:solidFill>
                  <a:srgbClr val="17364A"/>
                </a:solidFill>
                <a:latin typeface="Aptos" pitchFamily="34" charset="0"/>
                <a:ea typeface="Aptos" pitchFamily="34" charset="-122"/>
                <a:cs typeface="Aptos" pitchFamily="34" charset="-120"/>
              </a:rPr>
              <a:t>Accountability owner: The person or role responsible for ensuring that an AI use case is governed, monitored, and corrected when needed.</a:t>
            </a:r>
            <a:endParaRPr lang="en-US" sz="1450" dirty="0"/>
          </a:p>
          <a:p>
            <a:r>
              <a:rPr lang="en-US" sz="1450" dirty="0">
                <a:solidFill>
                  <a:srgbClr val="17364A"/>
                </a:solidFill>
                <a:latin typeface="Aptos" pitchFamily="34" charset="0"/>
                <a:ea typeface="Aptos" pitchFamily="34" charset="-122"/>
                <a:cs typeface="Aptos" pitchFamily="34" charset="-120"/>
              </a:rPr>
              <a:t>Operational safeguard: A procedure, control, or review step that reduces risk during day-to-day use.</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public health decision or workflow does this topic affect? Who has authority to approve or pause the work? What evidence would show that the workflow is responsible and effective?</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equity, privacy, legal, security, or public trust risks require review? How will the agency know when the workflow needs to be revised?</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Grant and Funding Management for AI Projects artifact Role and responsibility table Risk and safeguard summary</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Escalation and monitoring plan Approval or review note</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Grant and Funding Management for AI Projects artifact</a:t>
            </a:r>
            <a:endParaRPr lang="en-US" sz="1450" dirty="0"/>
          </a:p>
          <a:p>
            <a:r>
              <a:rPr lang="en-US" sz="1450" dirty="0">
                <a:solidFill>
                  <a:srgbClr val="17364A"/>
                </a:solidFill>
                <a:latin typeface="Aptos" pitchFamily="34" charset="0"/>
                <a:ea typeface="Aptos" pitchFamily="34" charset="-122"/>
                <a:cs typeface="Aptos" pitchFamily="34" charset="-120"/>
              </a:rPr>
              <a:t>Role and responsibility table</a:t>
            </a:r>
            <a:endParaRPr lang="en-US" sz="1450" dirty="0"/>
          </a:p>
          <a:p>
            <a:r>
              <a:rPr lang="en-US" sz="1450" dirty="0">
                <a:solidFill>
                  <a:srgbClr val="17364A"/>
                </a:solidFill>
                <a:latin typeface="Aptos" pitchFamily="34" charset="0"/>
                <a:ea typeface="Aptos" pitchFamily="34" charset="-122"/>
                <a:cs typeface="Aptos" pitchFamily="34" charset="-120"/>
              </a:rPr>
              <a:t>Risk and safeguard summary</a:t>
            </a:r>
            <a:endParaRPr lang="en-US" sz="1450" dirty="0"/>
          </a:p>
          <a:p>
            <a:r>
              <a:rPr lang="en-US" sz="1450" dirty="0">
                <a:solidFill>
                  <a:srgbClr val="17364A"/>
                </a:solidFill>
                <a:latin typeface="Aptos" pitchFamily="34" charset="0"/>
                <a:ea typeface="Aptos" pitchFamily="34" charset="-122"/>
                <a:cs typeface="Aptos" pitchFamily="34" charset="-120"/>
              </a:rPr>
              <a:t>Escalation and monitoring plan</a:t>
            </a:r>
            <a:endParaRPr lang="en-US" sz="1450" dirty="0"/>
          </a:p>
          <a:p>
            <a:r>
              <a:rPr lang="en-US" sz="1450" dirty="0">
                <a:solidFill>
                  <a:srgbClr val="17364A"/>
                </a:solidFill>
                <a:latin typeface="Aptos" pitchFamily="34" charset="0"/>
                <a:ea typeface="Aptos" pitchFamily="34" charset="-122"/>
                <a:cs typeface="Aptos" pitchFamily="34" charset="-120"/>
              </a:rPr>
              <a:t>Approval or review note</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 responsibly?</a:t>
            </a:r>
            <a:endParaRPr lang="en-US" sz="1450" dirty="0"/>
          </a:p>
          <a:p>
            <a:r>
              <a:rPr lang="en-US" sz="1450" dirty="0">
                <a:solidFill>
                  <a:srgbClr val="17364A"/>
                </a:solidFill>
                <a:latin typeface="Aptos" pitchFamily="34" charset="0"/>
                <a:ea typeface="Aptos" pitchFamily="34" charset="-122"/>
                <a:cs typeface="Aptos" pitchFamily="34" charset="-120"/>
              </a:rPr>
              <a:t>2. What is the best reason to assign an accountability owner?</a:t>
            </a:r>
            <a:endParaRPr lang="en-US" sz="1450" dirty="0"/>
          </a:p>
          <a:p>
            <a:r>
              <a:rPr lang="en-US" sz="1450" dirty="0">
                <a:solidFill>
                  <a:srgbClr val="17364A"/>
                </a:solidFill>
                <a:latin typeface="Aptos" pitchFamily="34" charset="0"/>
                <a:ea typeface="Aptos" pitchFamily="34" charset="-122"/>
                <a:cs typeface="Aptos" pitchFamily="34" charset="-120"/>
              </a:rPr>
              <a:t>3. When should an AI-supported workflow be escalated for review?</a:t>
            </a:r>
            <a:endParaRPr lang="en-US" sz="1450" dirty="0"/>
          </a:p>
          <a:p>
            <a:r>
              <a:rPr lang="en-US" sz="1450" dirty="0">
                <a:solidFill>
                  <a:srgbClr val="17364A"/>
                </a:solidFill>
                <a:latin typeface="Aptos" pitchFamily="34" charset="0"/>
                <a:ea typeface="Aptos" pitchFamily="34" charset="-122"/>
                <a:cs typeface="Aptos" pitchFamily="34" charset="-120"/>
              </a:rPr>
              <a:t>4. Which practice best supports public accountability?</a:t>
            </a:r>
            <a:endParaRPr lang="en-US" sz="1450" dirty="0"/>
          </a:p>
          <a:p>
            <a:r>
              <a:rPr lang="en-US" sz="1450" dirty="0">
                <a:solidFill>
                  <a:srgbClr val="17364A"/>
                </a:solidFill>
                <a:latin typeface="Aptos" pitchFamily="34" charset="0"/>
                <a:ea typeface="Aptos" pitchFamily="34" charset="-122"/>
                <a:cs typeface="Aptos" pitchFamily="34" charset="-120"/>
              </a:rPr>
              <a:t>5. What should happen when data sources, policy, vendor configuration, or workflow use changes?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and 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of Artificial Intelligence for Health guidance: https://www.who.int/publications/i/item/9789240029200</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ONC health IT, interoperability, and information blocking resources: https://www.healthit.gov/</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 language access, and emergency communications</a:t>
            </a:r>
            <a:endParaRPr lang="en-US" sz="1450" dirty="0"/>
          </a:p>
          <a:p>
            <a:r>
              <a:rPr lang="en-US" sz="1450" dirty="0">
                <a:solidFill>
                  <a:srgbClr val="17364A"/>
                </a:solidFill>
                <a:latin typeface="Aptos" pitchFamily="34" charset="0"/>
                <a:ea typeface="Aptos" pitchFamily="34" charset="-122"/>
                <a:cs typeface="Aptos" pitchFamily="34" charset="-120"/>
              </a:rPr>
              <a:t>Appendix. Common Source Base Used Across Modules</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CDC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CDC electronic case reporting, electronic laboratory reporting, surveillance, and public health data quality resources.: https://www.cdc.gov/ecr/php/index.html</a:t>
            </a:r>
            <a:endParaRPr lang="en-US" sz="1450" dirty="0"/>
          </a:p>
          <a:p>
            <a:r>
              <a:rPr lang="en-US" sz="1450" dirty="0">
                <a:solidFill>
                  <a:srgbClr val="17364A"/>
                </a:solidFill>
                <a:latin typeface="Aptos" pitchFamily="34" charset="0"/>
                <a:ea typeface="Aptos" pitchFamily="34" charset="-122"/>
                <a:cs typeface="Aptos" pitchFamily="34" charset="-120"/>
              </a:rPr>
              <a:t>HL7 FHIR, HL7 US Core, public health implementation guides, CDA, and HL7 v2 implementation materials.: https://hl7.org/fhir/</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ONC USCDI, health IT, interoperability, and information blocking resources.: https://isp.healthit.gov/united-states-core-data-interoperability-uscdi</a:t>
            </a:r>
            <a:endParaRPr lang="en-US" sz="1450" dirty="0"/>
          </a:p>
          <a:p>
            <a:r>
              <a:rPr lang="en-US" sz="1450" dirty="0">
                <a:solidFill>
                  <a:srgbClr val="17364A"/>
                </a:solidFill>
                <a:latin typeface="Aptos" pitchFamily="34" charset="0"/>
                <a:ea typeface="Aptos" pitchFamily="34" charset="-122"/>
                <a:cs typeface="Aptos" pitchFamily="34" charset="-120"/>
              </a:rPr>
              <a:t>NIST Artificial Intelligence Risk Management Framework, NIST Generative AI Profile, NIST Privacy Framework, and related NIST cybersecurity guidance.:.</a:t>
            </a:r>
            <a:endParaRPr lang="en-US" sz="1450" dirty="0"/>
          </a:p>
          <a:p>
            <a:r>
              <a:rPr lang="en-US" sz="1450" dirty="0">
                <a:solidFill>
                  <a:srgbClr val="17364A"/>
                </a:solidFill>
                <a:latin typeface="Aptos" pitchFamily="34" charset="0"/>
                <a:ea typeface="Aptos" pitchFamily="34" charset="-122"/>
                <a:cs typeface="Aptos" pitchFamily="34" charset="-120"/>
              </a:rPr>
              <a:t>OWASP Top 10 for Large Language Model Applications and related secure AI application guidance.: https://owasp.org/www-project-top-10-for-large-language-model-applications/</a:t>
            </a:r>
            <a:endParaRPr lang="en-US" sz="1450" dirty="0"/>
          </a:p>
          <a:p>
            <a:r>
              <a:rPr lang="en-US" sz="1450" dirty="0">
                <a:solidFill>
                  <a:srgbClr val="17364A"/>
                </a:solidFill>
                <a:latin typeface="Aptos" pitchFamily="34" charset="0"/>
                <a:ea typeface="Aptos" pitchFamily="34" charset="-122"/>
                <a:cs typeface="Aptos" pitchFamily="34" charset="-120"/>
              </a:rPr>
              <a:t>WHO ethics and governance guidance for artificial intelligence in health.</a:t>
            </a:r>
            <a:endParaRPr lang="en-US" sz="1450" dirty="0"/>
          </a:p>
          <a:p>
            <a:r>
              <a:rPr lang="en-US" sz="1450" dirty="0">
                <a:solidFill>
                  <a:srgbClr val="17364A"/>
                </a:solidFill>
                <a:latin typeface="Aptos" pitchFamily="34" charset="0"/>
                <a:ea typeface="Aptos" pitchFamily="34" charset="-122"/>
                <a:cs typeface="Aptos" pitchFamily="34" charset="-120"/>
              </a:rPr>
              <a:t>Agency policies and procedures for privacy, public records, cybersecurity, procurement, civil rights, accessibility, language access, records retention, incident response, and emergency communications.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2026-07-12T18:22:13Z</dcterms:created>
  <dcterms:modified xsi:type="dcterms:W3CDTF">2026-07-12T18:22:13Z</dcterms:modified>
</cp:coreProperties>
</file>