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f4f7fa37674d35" /><Relationship Type="http://schemas.openxmlformats.org/officeDocument/2006/relationships/extended-properties" Target="/docProps/app.xml" Id="Rfd093741f625406f" /><Relationship Type="http://schemas.openxmlformats.org/officeDocument/2006/relationships/officeDocument" Target="/ppt/presentation.xml" Id="R4b420794eb7a4700" /></Relationships>
</file>

<file path=ppt/presentation.xml><?xml version="1.0" encoding="utf-8"?>
<p:presentation xmlns:p="http://schemas.openxmlformats.org/presentationml/2006/main">
  <p:sldMasterIdLst>
    <p:sldMasterId xmlns:r="http://schemas.openxmlformats.org/officeDocument/2006/relationships" id="2147483648" r:id="Rb74d7aec0b18420a"/>
  </p:sldMasterIdLst>
  <p:notesMasterIdLst>
    <p:notesMasterId xmlns:r="http://schemas.openxmlformats.org/officeDocument/2006/relationships" r:id="Red973868314347ef"/>
  </p:notesMasterIdLst>
  <p:sldIdLst>
    <p:sldId xmlns:r="http://schemas.openxmlformats.org/officeDocument/2006/relationships" id="256" r:id="R1e7c70536dcd4eb8"/>
    <p:sldId xmlns:r="http://schemas.openxmlformats.org/officeDocument/2006/relationships" id="257" r:id="R707ecc793ed64146"/>
    <p:sldId xmlns:r="http://schemas.openxmlformats.org/officeDocument/2006/relationships" id="258" r:id="Rb73a69cc5c5345ce"/>
    <p:sldId xmlns:r="http://schemas.openxmlformats.org/officeDocument/2006/relationships" id="259" r:id="Rf7329d3862034020"/>
    <p:sldId xmlns:r="http://schemas.openxmlformats.org/officeDocument/2006/relationships" id="260" r:id="Ra191aa390b9f4736"/>
    <p:sldId xmlns:r="http://schemas.openxmlformats.org/officeDocument/2006/relationships" id="261" r:id="R4386616d48b64888"/>
    <p:sldId xmlns:r="http://schemas.openxmlformats.org/officeDocument/2006/relationships" id="262" r:id="R1f57595fed184a3b"/>
    <p:sldId xmlns:r="http://schemas.openxmlformats.org/officeDocument/2006/relationships" id="263" r:id="Reb6bdfd944b345e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72432e55e94ff3" /><Relationship Type="http://schemas.openxmlformats.org/officeDocument/2006/relationships/slideMaster" Target="/ppt/slideMasters/slideMaster1.xml" Id="Rb74d7aec0b18420a" /><Relationship Type="http://schemas.openxmlformats.org/officeDocument/2006/relationships/notesMaster" Target="/ppt/notesMasters/notesMaster1.xml" Id="Red973868314347ef" /><Relationship Type="http://schemas.openxmlformats.org/officeDocument/2006/relationships/presProps" Target="/ppt/presProps.xml" Id="R85ae1f8a6dc34f2a" /><Relationship Type="http://schemas.openxmlformats.org/officeDocument/2006/relationships/tableStyles" Target="/ppt/tableStyles.xml" Id="R7e40bc601e4b4df7" /><Relationship Type="http://schemas.openxmlformats.org/officeDocument/2006/relationships/slide" Target="/ppt/slides/slide1.xml" Id="R1e7c70536dcd4eb8" /><Relationship Type="http://schemas.openxmlformats.org/officeDocument/2006/relationships/slide" Target="/ppt/slides/slide2.xml" Id="R707ecc793ed64146" /><Relationship Type="http://schemas.openxmlformats.org/officeDocument/2006/relationships/slide" Target="/ppt/slides/slide3.xml" Id="Rb73a69cc5c5345ce" /><Relationship Type="http://schemas.openxmlformats.org/officeDocument/2006/relationships/slide" Target="/ppt/slides/slide4.xml" Id="Rf7329d3862034020" /><Relationship Type="http://schemas.openxmlformats.org/officeDocument/2006/relationships/slide" Target="/ppt/slides/slide5.xml" Id="Ra191aa390b9f4736" /><Relationship Type="http://schemas.openxmlformats.org/officeDocument/2006/relationships/slide" Target="/ppt/slides/slide6.xml" Id="R4386616d48b64888" /><Relationship Type="http://schemas.openxmlformats.org/officeDocument/2006/relationships/slide" Target="/ppt/slides/slide7.xml" Id="R1f57595fed184a3b" /><Relationship Type="http://schemas.openxmlformats.org/officeDocument/2006/relationships/slide" Target="/ppt/slides/slide8.xml" Id="Reb6bdfd944b345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193c2cd4e342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725ad135f44ce7" /><Relationship Type="http://schemas.openxmlformats.org/officeDocument/2006/relationships/notesMaster" Target="/ppt/notesMasters/notesMaster1.xml" Id="Rb2fb645483cf45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afb5c671eb4711" /><Relationship Type="http://schemas.openxmlformats.org/officeDocument/2006/relationships/notesMaster" Target="/ppt/notesMasters/notesMaster1.xml" Id="R2eed969fb58141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7d73bbd83048de" /><Relationship Type="http://schemas.openxmlformats.org/officeDocument/2006/relationships/notesMaster" Target="/ppt/notesMasters/notesMaster1.xml" Id="Rafad8cef2f3e45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343b04eabe44bb" /><Relationship Type="http://schemas.openxmlformats.org/officeDocument/2006/relationships/notesMaster" Target="/ppt/notesMasters/notesMaster1.xml" Id="Rbc716f2ce7b94d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491d34203f4577" /><Relationship Type="http://schemas.openxmlformats.org/officeDocument/2006/relationships/notesMaster" Target="/ppt/notesMasters/notesMaster1.xml" Id="R8bb2dfd490d442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cc275ac2054c5e" /><Relationship Type="http://schemas.openxmlformats.org/officeDocument/2006/relationships/notesMaster" Target="/ppt/notesMasters/notesMaster1.xml" Id="R8715517a3a8e47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f7ff58ad334fa8" /><Relationship Type="http://schemas.openxmlformats.org/officeDocument/2006/relationships/notesMaster" Target="/ppt/notesMasters/notesMaster1.xml" Id="R56b0478fce8946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b5cd2c87cf4049" /><Relationship Type="http://schemas.openxmlformats.org/officeDocument/2006/relationships/notesMaster" Target="/ppt/notesMasters/notesMaster1.xml" Id="R040ffef0a6ee45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Agentic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Agentic AI can coordinate multi-step workflows across systems under explicit rules and human oversight.</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11, 12, 13 and Tools 12, 14, 35, 17.</a:t>
            </a:r>
          </a:p>
          <a:p xmlns:a="http://schemas.openxmlformats.org/drawingml/2006/main">
            <a:r>
              <a:t>Emphasize the core guardrail: Agentic systems need strict boundaries, audit logs, and escalation paths.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11, 12, 13 and Tools 12, 14, 35, 17.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11, 12, 13 and Tools 12, 14, 35, 17.</a:t>
            </a:r>
          </a:p>
          <a:p xmlns:a="http://schemas.openxmlformats.org/drawingml/2006/main">
            <a:r>
              <a:t>Reinforce this definition: Definition: Agentic AI systems can analyze information, generate outputs, and take a sequence of actions toward a defined goal across multiple systems while following explicit rules and retaining human oversight.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11, 12, 13 and Tools 12, 14, 35, 17.</a:t>
            </a:r>
          </a:p>
          <a:p xmlns:a="http://schemas.openxmlformats.org/drawingml/2006/main">
            <a:r>
              <a:t>Invite participants to identify where these practices would need to be documented in their own department.</a:t>
            </a:r>
          </a:p>
          <a:p xmlns:a="http://schemas.openxmlformats.org/drawingml/2006/main">
            <a:r>
              <a:t>Start with Appropriate Starting Points,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11, 12, 13 and Tools 12, 14, 35, 17.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11, 12, 13 and Tools 12, 14, 35, 17.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Agentic workflow boundary statement, Human approval and escalation map, Audit log and monitoring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11, 12, 13 and Tools 12, 14, 35, 17.</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f02584ca2f41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3ed66a8f9c4840" /><Relationship Type="http://schemas.openxmlformats.org/officeDocument/2006/relationships/slideLayout" Target="/ppt/slideLayouts/slideLayout1.xml" Id="Ra8f2bd1286794b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f2bd1286794b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dd8ad5a48b4d7c" /><Relationship Type="http://schemas.openxmlformats.org/officeDocument/2006/relationships/image" Target="/ppt/media/image.png" Id="Rf97ee1e7c7704195" /><Relationship Type="http://schemas.openxmlformats.org/officeDocument/2006/relationships/notesSlide" Target="/ppt/notesSlides/notesSlide1.xml" Id="R85c24774b4d448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be2b2300a5434c" /><Relationship Type="http://schemas.openxmlformats.org/officeDocument/2006/relationships/notesSlide" Target="/ppt/notesSlides/notesSlide2.xml" Id="R69130940e86e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df4d2af1ba41c2" /><Relationship Type="http://schemas.openxmlformats.org/officeDocument/2006/relationships/notesSlide" Target="/ppt/notesSlides/notesSlide3.xml" Id="R99a0e58f686943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ee10170d0d4a41" /><Relationship Type="http://schemas.openxmlformats.org/officeDocument/2006/relationships/notesSlide" Target="/ppt/notesSlides/notesSlide4.xml" Id="R43069566cb6243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6ac627f71842ed" /><Relationship Type="http://schemas.openxmlformats.org/officeDocument/2006/relationships/notesSlide" Target="/ppt/notesSlides/notesSlide5.xml" Id="Rf64e434f653949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ca5c91e74e4069" /><Relationship Type="http://schemas.openxmlformats.org/officeDocument/2006/relationships/notesSlide" Target="/ppt/notesSlides/notesSlide6.xml" Id="Rb7858c7559bc40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ad21b27e7247fd" /><Relationship Type="http://schemas.openxmlformats.org/officeDocument/2006/relationships/notesSlide" Target="/ppt/notesSlides/notesSlide7.xml" Id="R5522ff23b0f04b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65916fb6ed4c2a" /><Relationship Type="http://schemas.openxmlformats.org/officeDocument/2006/relationships/notesSlide" Target="/ppt/notesSlides/notesSlide8.xml" Id="R774dc811040443e5"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97ee1e7c7704195"/>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E0479F-58B4-4DE4-8974-D171C7070696}"/>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4</a:t>
            </a:r>
          </a:p>
        </p:txBody>
      </p:sp>
      <p:sp>
        <p:nvSpPr>
          <p:cNvPr id="3" name="">
            <a:extLst xmlns:a="http://schemas.openxmlformats.org/drawingml/2006/main">
              <a:ext uri="{FF2B5EF4-FFF2-40B4-BE49-F238E27FC236}">
                <a16:creationId xmlns:a16="http://schemas.microsoft.com/office/drawing/2014/main" id="{7FE85CE8-D767-432C-BDCC-8428550523A3}"/>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Agentic AI</a:t>
            </a:r>
          </a:p>
        </p:txBody>
      </p:sp>
      <p:sp>
        <p:nvSpPr>
          <p:cNvPr id="4" name="">
            <a:extLst xmlns:a="http://schemas.openxmlformats.org/drawingml/2006/main">
              <a:ext uri="{FF2B5EF4-FFF2-40B4-BE49-F238E27FC236}">
                <a16:creationId xmlns:a16="http://schemas.microsoft.com/office/drawing/2014/main" id="{2F2CEB64-4D00-431F-AB49-F42B5B5DA3ED}"/>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41BA4BEF-C3A6-4C1A-96D4-C0C47B7CFCB6}"/>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226FE685-F24F-4639-962F-D8005DE4A6D2}"/>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4334124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46E137-2E88-464C-B855-DCE425D0C83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ECB74EE-26E1-4513-9548-C77FFED8CBA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E054F7DC-A27F-4233-B7DD-6CF859E1BE4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28C264D-DFFD-406C-BEA0-A544D6B5696D}"/>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Agentic AI can coordinate multi-step workflows across systems under explicit rules and human oversight.</a:t>
            </a:r>
          </a:p>
        </p:txBody>
      </p:sp>
      <p:sp>
        <p:nvSpPr>
          <p:cNvPr id="5" name="">
            <a:extLst xmlns:a="http://schemas.openxmlformats.org/drawingml/2006/main">
              <a:ext uri="{FF2B5EF4-FFF2-40B4-BE49-F238E27FC236}">
                <a16:creationId xmlns:a16="http://schemas.microsoft.com/office/drawing/2014/main" id="{E413CCF8-FCC8-4FD5-BF5F-13F4FE3D71E3}"/>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06E161-6394-47EE-8497-EB0F46E61BC3}"/>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0A06ED0-0D6F-477C-8625-F596CFEE2F7E}"/>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281F0F01-7A6D-402B-8733-051B6B4324FB}"/>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Agentic AI can coordinate work across systems, but that makes it higher risk than simple drafting. In public health operations, even routing a task, prioritizing a signal, or preparing an outreach list can affect response time, workload,.</a:t>
            </a:r>
          </a:p>
        </p:txBody>
      </p:sp>
      <p:sp>
        <p:nvSpPr>
          <p:cNvPr id="9" name="">
            <a:extLst xmlns:a="http://schemas.openxmlformats.org/drawingml/2006/main">
              <a:ext uri="{FF2B5EF4-FFF2-40B4-BE49-F238E27FC236}">
                <a16:creationId xmlns:a16="http://schemas.microsoft.com/office/drawing/2014/main" id="{6C9056FF-DC72-4A14-BAB0-A65DA6F10EAE}"/>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2D11CB3-26AD-470C-AE48-2018739496FB}"/>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A3DFEE5C-D2A4-425B-A4D0-FF4BBBE52FC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0AD84BBF-F0E1-49C5-8219-BA545FC37927}"/>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Agentic systems need strict boundaries, audit logs, and escalation paths.</a:t>
            </a:r>
          </a:p>
        </p:txBody>
      </p:sp>
      <p:sp>
        <p:nvSpPr>
          <p:cNvPr id="13" name="">
            <a:extLst xmlns:a="http://schemas.openxmlformats.org/drawingml/2006/main">
              <a:ext uri="{FF2B5EF4-FFF2-40B4-BE49-F238E27FC236}">
                <a16:creationId xmlns:a16="http://schemas.microsoft.com/office/drawing/2014/main" id="{FD43CEDF-1220-4C03-B19B-EAC02582896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4" name="">
            <a:extLst xmlns:a="http://schemas.openxmlformats.org/drawingml/2006/main">
              <a:ext uri="{FF2B5EF4-FFF2-40B4-BE49-F238E27FC236}">
                <a16:creationId xmlns:a16="http://schemas.microsoft.com/office/drawing/2014/main" id="{CEEB0306-3C26-4E72-9783-722F0098019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2456964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CFCC16-D55B-48A5-BDE0-F5F01FC9B8A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F0C3233-2D0F-4B27-AAB2-16BE3CFE23F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B2CF1734-A3B1-4DE2-AEC0-D0B0E746D3E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D75CA18-607A-4368-810B-1A109FC05C56}"/>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099AB110-2E87-430A-9469-18FC3E261BAE}"/>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Agentic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F8CF70EB-755E-4EB6-B22C-1EAA865B02E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7" name="">
            <a:extLst xmlns:a="http://schemas.openxmlformats.org/drawingml/2006/main">
              <a:ext uri="{FF2B5EF4-FFF2-40B4-BE49-F238E27FC236}">
                <a16:creationId xmlns:a16="http://schemas.microsoft.com/office/drawing/2014/main" id="{EBD36A27-1234-4540-B3B5-EF81B742A51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4086356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FB20DB-D7A3-40EB-A4DE-6539D40B111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B199622-ED04-4645-9468-40B62EC6538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97065621-6A36-49AE-BB4D-6D449D52BC6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CDCB0A3-7532-428D-B612-0487BC6E928B}"/>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Agentic AI moves beyond drafting and summarizing by coordinating multiple steps toward a defined goal. In public health, this might mean monitoring incoming reports, gathering relevant data, preparing a draft brief, routing it to the right team, and updating a task queue. Because agentic systems can initiate actions, they require tighter boundaries, audit logs, role-based access, and human approval before consequential steps occur.</a:t>
            </a:r>
          </a:p>
        </p:txBody>
      </p:sp>
      <p:sp>
        <p:nvSpPr>
          <p:cNvPr id="5" name="">
            <a:extLst xmlns:a="http://schemas.openxmlformats.org/drawingml/2006/main">
              <a:ext uri="{FF2B5EF4-FFF2-40B4-BE49-F238E27FC236}">
                <a16:creationId xmlns:a16="http://schemas.microsoft.com/office/drawing/2014/main" id="{7CF0670C-C07E-473C-8308-EA4A1D5F4F9C}"/>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F8DD810-C2BC-4766-B501-EC1351E25C5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D8A0B8F-5636-49BC-A59C-AA5D8C41DDE6}"/>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B489A1F0-3A00-45CF-87E1-797536B11445}"/>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Agentic AI systems can analyze information, generate outputs, and take a sequence of actions toward a defined goal across multiple systems while following explicit rules and retaining human oversight.</a:t>
            </a:r>
          </a:p>
        </p:txBody>
      </p:sp>
      <p:sp>
        <p:nvSpPr>
          <p:cNvPr id="9" name="">
            <a:extLst xmlns:a="http://schemas.openxmlformats.org/drawingml/2006/main">
              <a:ext uri="{FF2B5EF4-FFF2-40B4-BE49-F238E27FC236}">
                <a16:creationId xmlns:a16="http://schemas.microsoft.com/office/drawing/2014/main" id="{248B9F6D-374F-4CA9-9EA9-B9D30316087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0" name="">
            <a:extLst xmlns:a="http://schemas.openxmlformats.org/drawingml/2006/main">
              <a:ext uri="{FF2B5EF4-FFF2-40B4-BE49-F238E27FC236}">
                <a16:creationId xmlns:a16="http://schemas.microsoft.com/office/drawing/2014/main" id="{1BE9BD0B-275D-4BED-846E-2592B394CDA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5120274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53192D-F6B7-413D-851F-F874E393B9B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57BC499-E8C9-43EF-BD08-B6CC6AB61A4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845C6E27-E2A4-457B-AA14-BFEF6B06585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9A08008-2E6D-4E29-9987-7294C0284F06}"/>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FEE7496-D3EF-424C-9F3F-6A7DD764C91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F25248F-DC92-4A89-9B3E-575DF9C000FA}"/>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Appropriate Starting Points</a:t>
            </a:r>
          </a:p>
        </p:txBody>
      </p:sp>
      <p:sp>
        <p:nvSpPr>
          <p:cNvPr id="7" name="">
            <a:extLst xmlns:a="http://schemas.openxmlformats.org/drawingml/2006/main">
              <a:ext uri="{FF2B5EF4-FFF2-40B4-BE49-F238E27FC236}">
                <a16:creationId xmlns:a16="http://schemas.microsoft.com/office/drawing/2014/main" id="{EC026FA3-D49A-416D-A293-97C43B91AD0E}"/>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Internal workflows where the AI can gather, organize, and route information without contacting the public or making final decisions. Surveillance support tasks such as clustering incoming signals, preparing evidence packets, or flagging items.</a:t>
            </a:r>
          </a:p>
        </p:txBody>
      </p:sp>
      <p:sp>
        <p:nvSpPr>
          <p:cNvPr id="8" name="">
            <a:extLst xmlns:a="http://schemas.openxmlformats.org/drawingml/2006/main">
              <a:ext uri="{FF2B5EF4-FFF2-40B4-BE49-F238E27FC236}">
                <a16:creationId xmlns:a16="http://schemas.microsoft.com/office/drawing/2014/main" id="{5C57A55D-22C7-49EA-A799-F1D3F37AC87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D093F24-D552-477C-B281-9A56E32F57F3}"/>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A929B4E-35F5-4DE6-A9DA-6157E13883C0}"/>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Required Controls</a:t>
            </a:r>
          </a:p>
        </p:txBody>
      </p:sp>
      <p:sp>
        <p:nvSpPr>
          <p:cNvPr id="11" name="">
            <a:extLst xmlns:a="http://schemas.openxmlformats.org/drawingml/2006/main">
              <a:ext uri="{FF2B5EF4-FFF2-40B4-BE49-F238E27FC236}">
                <a16:creationId xmlns:a16="http://schemas.microsoft.com/office/drawing/2014/main" id="{1171945F-DD3B-4F34-AE4F-105A71539491}"/>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allowable actions, prohibited actions, required human approvals, and emergency shutoff procedures. Maintain audit logs showing what the AI accessed, generated, changed, routed, or recommended. Limit access to the minimum systems and.</a:t>
            </a:r>
          </a:p>
        </p:txBody>
      </p:sp>
      <p:sp>
        <p:nvSpPr>
          <p:cNvPr id="12" name="">
            <a:extLst xmlns:a="http://schemas.openxmlformats.org/drawingml/2006/main">
              <a:ext uri="{FF2B5EF4-FFF2-40B4-BE49-F238E27FC236}">
                <a16:creationId xmlns:a16="http://schemas.microsoft.com/office/drawing/2014/main" id="{AB8690CD-26F1-4AB7-8CD5-CC5C909B7CD2}"/>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C4A7BF5A-D9CF-46CB-83AB-D8A650325354}"/>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589877F-95D8-46E4-B481-AAA644DA826A}"/>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Accountability</a:t>
            </a:r>
          </a:p>
        </p:txBody>
      </p:sp>
      <p:sp>
        <p:nvSpPr>
          <p:cNvPr id="15" name="">
            <a:extLst xmlns:a="http://schemas.openxmlformats.org/drawingml/2006/main">
              <a:ext uri="{FF2B5EF4-FFF2-40B4-BE49-F238E27FC236}">
                <a16:creationId xmlns:a16="http://schemas.microsoft.com/office/drawing/2014/main" id="{1B0BB469-E100-4F35-A4AF-F708A1FE3F62}"/>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named program or operational owner should remain accountable for the workflow. The AI should never obscure who made a public health decision or why a particular action was taken. Governance should approve agentic workflows before deployment.</a:t>
            </a:r>
          </a:p>
        </p:txBody>
      </p:sp>
      <p:sp>
        <p:nvSpPr>
          <p:cNvPr id="16" name="">
            <a:extLst xmlns:a="http://schemas.openxmlformats.org/drawingml/2006/main">
              <a:ext uri="{FF2B5EF4-FFF2-40B4-BE49-F238E27FC236}">
                <a16:creationId xmlns:a16="http://schemas.microsoft.com/office/drawing/2014/main" id="{74BAFD01-CBBC-489A-8F46-BCA5C41B8C7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7" name="">
            <a:extLst xmlns:a="http://schemas.openxmlformats.org/drawingml/2006/main">
              <a:ext uri="{FF2B5EF4-FFF2-40B4-BE49-F238E27FC236}">
                <a16:creationId xmlns:a16="http://schemas.microsoft.com/office/drawing/2014/main" id="{57B6D5C1-A12E-4939-9303-084720B1858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1210780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98A667-61DF-4B1A-87F5-F716AD7BEBF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A136154-491B-4D41-A946-353D2E32CCD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FED1D229-220B-4A79-9597-5FD3B2D211C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CA6E9D8-CEB4-4B55-928B-CAAE9B42FD17}"/>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D234C982-F24E-4866-AA17-AF6F9C4303C9}"/>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B6B7209-EE36-4AA6-9FBA-020E00C23CA9}"/>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1C015E8-AFAA-4468-8497-867349FF1020}"/>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Route high-priority surveillance signals</a:t>
            </a:r>
          </a:p>
        </p:txBody>
      </p:sp>
      <p:sp>
        <p:nvSpPr>
          <p:cNvPr id="8" name="">
            <a:extLst xmlns:a="http://schemas.openxmlformats.org/drawingml/2006/main">
              <a:ext uri="{FF2B5EF4-FFF2-40B4-BE49-F238E27FC236}">
                <a16:creationId xmlns:a16="http://schemas.microsoft.com/office/drawing/2014/main" id="{C0B63498-2239-4180-86C5-26892B304B84}"/>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Classify incoming reports or alerts by urgency, topic, geography, and required response path, then route them to staff for confirmation.</a:t>
            </a:r>
          </a:p>
        </p:txBody>
      </p:sp>
      <p:sp>
        <p:nvSpPr>
          <p:cNvPr id="9" name="">
            <a:extLst xmlns:a="http://schemas.openxmlformats.org/drawingml/2006/main">
              <a:ext uri="{FF2B5EF4-FFF2-40B4-BE49-F238E27FC236}">
                <a16:creationId xmlns:a16="http://schemas.microsoft.com/office/drawing/2014/main" id="{5EBC1FC5-92D8-40B6-9DAE-8EB1890FB7B2}"/>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86D8169-EAB3-4A12-A42A-5D3155AA8EB9}"/>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3B4D0C9-6BA6-419E-82BB-E91BE276B9C9}"/>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Create task queues from incoming reports</a:t>
            </a:r>
          </a:p>
        </p:txBody>
      </p:sp>
      <p:sp>
        <p:nvSpPr>
          <p:cNvPr id="12" name="">
            <a:extLst xmlns:a="http://schemas.openxmlformats.org/drawingml/2006/main">
              <a:ext uri="{FF2B5EF4-FFF2-40B4-BE49-F238E27FC236}">
                <a16:creationId xmlns:a16="http://schemas.microsoft.com/office/drawing/2014/main" id="{C687630E-1250-4AD4-ACC3-282FE2F4D858}"/>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Transform email, forms, or case updates into structured follow-up tasks with owners, due dates, and escalation flags.</a:t>
            </a:r>
          </a:p>
        </p:txBody>
      </p:sp>
      <p:sp>
        <p:nvSpPr>
          <p:cNvPr id="13" name="">
            <a:extLst xmlns:a="http://schemas.openxmlformats.org/drawingml/2006/main">
              <a:ext uri="{FF2B5EF4-FFF2-40B4-BE49-F238E27FC236}">
                <a16:creationId xmlns:a16="http://schemas.microsoft.com/office/drawing/2014/main" id="{3F4CAA34-2829-4634-BA9A-AA1AD96A72E9}"/>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CB85BEE-74A3-4263-A9E6-3B70388F55D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357A8F53-8F96-4C7F-8A78-C2DE890FB7E1}"/>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Assemble evidence packets for review</a:t>
            </a:r>
          </a:p>
        </p:txBody>
      </p:sp>
      <p:sp>
        <p:nvSpPr>
          <p:cNvPr id="16" name="">
            <a:extLst xmlns:a="http://schemas.openxmlformats.org/drawingml/2006/main">
              <a:ext uri="{FF2B5EF4-FFF2-40B4-BE49-F238E27FC236}">
                <a16:creationId xmlns:a16="http://schemas.microsoft.com/office/drawing/2014/main" id="{07E47B74-2490-4BD4-9094-F8801453AC7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Gather relevant reports, data extracts, literature, and prior decisions into a review packet before staff make a recommendation.</a:t>
            </a:r>
          </a:p>
        </p:txBody>
      </p:sp>
      <p:sp>
        <p:nvSpPr>
          <p:cNvPr id="17" name="">
            <a:extLst xmlns:a="http://schemas.openxmlformats.org/drawingml/2006/main">
              <a:ext uri="{FF2B5EF4-FFF2-40B4-BE49-F238E27FC236}">
                <a16:creationId xmlns:a16="http://schemas.microsoft.com/office/drawing/2014/main" id="{03CB6111-9A99-4261-9568-53F231A4992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8" name="">
            <a:extLst xmlns:a="http://schemas.openxmlformats.org/drawingml/2006/main">
              <a:ext uri="{FF2B5EF4-FFF2-40B4-BE49-F238E27FC236}">
                <a16:creationId xmlns:a16="http://schemas.microsoft.com/office/drawing/2014/main" id="{1B09AF5B-228C-4444-B5D6-5881A5EF5BC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892877821"/>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DFAFCB-9E27-4888-AA60-BA006802DDF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8F90745-A3A8-4837-97EA-2A5EF5CE7B9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3D254350-B851-4B49-BD44-C3AC72C373B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D6115BC-9FF4-4756-A99D-FADC14D9B54E}"/>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9D5A2C5-9F44-49C6-8CE2-018499527FFB}"/>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7A6DC2F3-63EA-4301-902F-B0902976433D}"/>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F83892B-E5DF-43F3-B342-AEF12BABC52F}"/>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actions may the AI take without approval, and what actions require human approval? What audit logs are needed to reconstruct what happened? How will staff pause, override, or escalate an agentic workflow?</a:t>
            </a:r>
          </a:p>
        </p:txBody>
      </p:sp>
      <p:sp>
        <p:nvSpPr>
          <p:cNvPr id="8" name="">
            <a:extLst xmlns:a="http://schemas.openxmlformats.org/drawingml/2006/main">
              <a:ext uri="{FF2B5EF4-FFF2-40B4-BE49-F238E27FC236}">
                <a16:creationId xmlns:a16="http://schemas.microsoft.com/office/drawing/2014/main" id="{D966456F-9929-4972-A4B7-922292A58311}"/>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94DB1CF-07FA-4B83-A9CA-1C3E8A2BE341}"/>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C9F535F-FC2B-4D53-882C-90B2F35F415A}"/>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E8299677-44AB-4A10-99B7-295A14C864B4}"/>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Map a multi-step workflow such as outbreak signal review, inspection report preparation, or care coordination outreach. Mark which steps the AI may support, which steps require human approval, and which steps are prohibited.</a:t>
            </a:r>
          </a:p>
        </p:txBody>
      </p:sp>
      <p:sp>
        <p:nvSpPr>
          <p:cNvPr id="12" name="">
            <a:extLst xmlns:a="http://schemas.openxmlformats.org/drawingml/2006/main">
              <a:ext uri="{FF2B5EF4-FFF2-40B4-BE49-F238E27FC236}">
                <a16:creationId xmlns:a16="http://schemas.microsoft.com/office/drawing/2014/main" id="{473E501A-63D4-4EC6-9F67-D4F7F0F4C23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3" name="">
            <a:extLst xmlns:a="http://schemas.openxmlformats.org/drawingml/2006/main">
              <a:ext uri="{FF2B5EF4-FFF2-40B4-BE49-F238E27FC236}">
                <a16:creationId xmlns:a16="http://schemas.microsoft.com/office/drawing/2014/main" id="{0BA762D8-6653-4AE8-B5FA-8EA623FF61B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4303562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0CC092-5BAF-4E2B-A325-1F34E93DEB3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AF69FE1-D49C-4DC0-BFDB-DF6849496BA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57C427CF-8BBD-4584-92CA-4FE8FE22EBA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2DC5C39-87A2-4287-8F1C-663F370BD928}"/>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916D622-D966-41FE-B869-6DC8A2C725ED}"/>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7AA391B7-60DB-4226-97B9-AA03F6F902C5}"/>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235DE51-F296-4B66-8ECF-E339F8B4E340}"/>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11, 12, 13 and Tools 12, 14, 35, 17.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396B7797-C20E-46B8-9EA4-0A2202C90D42}"/>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EAF806E-D495-43D3-843D-5FBED2E9500F}"/>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3F76C8F7-0A2D-47C4-976F-E5B269A3B0E8}"/>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753FBB8-BEB0-4E79-9A81-11CDE3651A06}"/>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Useful for defining boundaries, oversight, monitoring, and accountability for agentic systems. WHO: Ethics and governance of artificial intelligence for health: Health-sector governance principles for systems.</a:t>
            </a:r>
          </a:p>
        </p:txBody>
      </p:sp>
      <p:sp>
        <p:nvSpPr>
          <p:cNvPr id="12" name="">
            <a:extLst xmlns:a="http://schemas.openxmlformats.org/drawingml/2006/main">
              <a:ext uri="{FF2B5EF4-FFF2-40B4-BE49-F238E27FC236}">
                <a16:creationId xmlns:a16="http://schemas.microsoft.com/office/drawing/2014/main" id="{9788752D-D031-4C34-A115-5069B00CBD7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3" name="">
            <a:extLst xmlns:a="http://schemas.openxmlformats.org/drawingml/2006/main">
              <a:ext uri="{FF2B5EF4-FFF2-40B4-BE49-F238E27FC236}">
                <a16:creationId xmlns:a16="http://schemas.microsoft.com/office/drawing/2014/main" id="{854DC20A-BF5A-4D39-A225-8D756452BDF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40245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2026-07-02T16:02:59.1530000Z</dcterms:created>
  <dcterms:modified xsi:type="dcterms:W3CDTF">2026-07-02T16:02:59.1530000Z</dcterms:modified>
</coreProperties>
</file>