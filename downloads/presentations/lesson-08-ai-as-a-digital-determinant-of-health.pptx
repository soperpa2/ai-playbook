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854ecee5ba4f38" /><Relationship Type="http://schemas.openxmlformats.org/officeDocument/2006/relationships/extended-properties" Target="/docProps/app.xml" Id="Ra9e4a3bd9cf3443f" /><Relationship Type="http://schemas.openxmlformats.org/officeDocument/2006/relationships/officeDocument" Target="/ppt/presentation.xml" Id="R55f016f1548d4193" /></Relationships>
</file>

<file path=ppt/presentation.xml><?xml version="1.0" encoding="utf-8"?>
<p:presentation xmlns:p="http://schemas.openxmlformats.org/presentationml/2006/main">
  <p:sldMasterIdLst>
    <p:sldMasterId xmlns:r="http://schemas.openxmlformats.org/officeDocument/2006/relationships" id="2147483648" r:id="R39a6888352874722"/>
  </p:sldMasterIdLst>
  <p:notesMasterIdLst>
    <p:notesMasterId xmlns:r="http://schemas.openxmlformats.org/officeDocument/2006/relationships" r:id="R0f315840f52e49f8"/>
  </p:notesMasterIdLst>
  <p:sldIdLst>
    <p:sldId xmlns:r="http://schemas.openxmlformats.org/officeDocument/2006/relationships" id="256" r:id="Rb6a27d3f3e254128"/>
    <p:sldId xmlns:r="http://schemas.openxmlformats.org/officeDocument/2006/relationships" id="257" r:id="Rde90a94f5dac4bcd"/>
    <p:sldId xmlns:r="http://schemas.openxmlformats.org/officeDocument/2006/relationships" id="258" r:id="R4d25436b412a4855"/>
    <p:sldId xmlns:r="http://schemas.openxmlformats.org/officeDocument/2006/relationships" id="259" r:id="R2ac6b90673dd4f50"/>
    <p:sldId xmlns:r="http://schemas.openxmlformats.org/officeDocument/2006/relationships" id="260" r:id="Re6ca156851b24625"/>
    <p:sldId xmlns:r="http://schemas.openxmlformats.org/officeDocument/2006/relationships" id="261" r:id="R02d1fe629e7243fc"/>
    <p:sldId xmlns:r="http://schemas.openxmlformats.org/officeDocument/2006/relationships" id="262" r:id="R3a9f288067cf4d7f"/>
    <p:sldId xmlns:r="http://schemas.openxmlformats.org/officeDocument/2006/relationships" id="263" r:id="Re9d8e358b1d84af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1ec14833ff4da0" /><Relationship Type="http://schemas.openxmlformats.org/officeDocument/2006/relationships/slideMaster" Target="/ppt/slideMasters/slideMaster1.xml" Id="R39a6888352874722" /><Relationship Type="http://schemas.openxmlformats.org/officeDocument/2006/relationships/notesMaster" Target="/ppt/notesMasters/notesMaster1.xml" Id="R0f315840f52e49f8" /><Relationship Type="http://schemas.openxmlformats.org/officeDocument/2006/relationships/presProps" Target="/ppt/presProps.xml" Id="R3e635e57388642e9" /><Relationship Type="http://schemas.openxmlformats.org/officeDocument/2006/relationships/tableStyles" Target="/ppt/tableStyles.xml" Id="R33383d76ebad4223" /><Relationship Type="http://schemas.openxmlformats.org/officeDocument/2006/relationships/slide" Target="/ppt/slides/slide1.xml" Id="Rb6a27d3f3e254128" /><Relationship Type="http://schemas.openxmlformats.org/officeDocument/2006/relationships/slide" Target="/ppt/slides/slide2.xml" Id="Rde90a94f5dac4bcd" /><Relationship Type="http://schemas.openxmlformats.org/officeDocument/2006/relationships/slide" Target="/ppt/slides/slide3.xml" Id="R4d25436b412a4855" /><Relationship Type="http://schemas.openxmlformats.org/officeDocument/2006/relationships/slide" Target="/ppt/slides/slide4.xml" Id="R2ac6b90673dd4f50" /><Relationship Type="http://schemas.openxmlformats.org/officeDocument/2006/relationships/slide" Target="/ppt/slides/slide5.xml" Id="Re6ca156851b24625" /><Relationship Type="http://schemas.openxmlformats.org/officeDocument/2006/relationships/slide" Target="/ppt/slides/slide6.xml" Id="R02d1fe629e7243fc" /><Relationship Type="http://schemas.openxmlformats.org/officeDocument/2006/relationships/slide" Target="/ppt/slides/slide7.xml" Id="R3a9f288067cf4d7f" /><Relationship Type="http://schemas.openxmlformats.org/officeDocument/2006/relationships/slide" Target="/ppt/slides/slide8.xml" Id="Re9d8e358b1d84a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4f297845bf4f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ebae301fa3428a" /><Relationship Type="http://schemas.openxmlformats.org/officeDocument/2006/relationships/notesMaster" Target="/ppt/notesMasters/notesMaster1.xml" Id="R5accd974458040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85be5e2c384c99" /><Relationship Type="http://schemas.openxmlformats.org/officeDocument/2006/relationships/notesMaster" Target="/ppt/notesMasters/notesMaster1.xml" Id="Rde278c434e9b42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2810e10020470d" /><Relationship Type="http://schemas.openxmlformats.org/officeDocument/2006/relationships/notesMaster" Target="/ppt/notesMasters/notesMaster1.xml" Id="R943767d2cc8549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3e87ada89a4af9" /><Relationship Type="http://schemas.openxmlformats.org/officeDocument/2006/relationships/notesMaster" Target="/ppt/notesMasters/notesMaster1.xml" Id="R299ca9e8ff334d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593ffe6c714236" /><Relationship Type="http://schemas.openxmlformats.org/officeDocument/2006/relationships/notesMaster" Target="/ppt/notesMasters/notesMaster1.xml" Id="Rd1e93a0596074c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16a9016f314db2" /><Relationship Type="http://schemas.openxmlformats.org/officeDocument/2006/relationships/notesMaster" Target="/ppt/notesMasters/notesMaster1.xml" Id="Rd36df525e07e47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e1323f8a414fcd" /><Relationship Type="http://schemas.openxmlformats.org/officeDocument/2006/relationships/notesMaster" Target="/ppt/notesMasters/notesMaster1.xml" Id="R98094a8751a94a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867b6c03024e1c" /><Relationship Type="http://schemas.openxmlformats.org/officeDocument/2006/relationships/notesMaster" Target="/ppt/notesMasters/notesMaster1.xml" Id="R67cc5ddde68e4c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AI as a Digital Determinant of Health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can shape access to services, quality of information, exposure to misinformation, eligibility decisions, language access, public benefits, and community trust.</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Digital Determinant of Health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4, 7, 13 and Tools 3, 22, 19.</a:t>
            </a:r>
          </a:p>
          <a:p xmlns:a="http://schemas.openxmlformats.org/drawingml/2006/main">
            <a:r>
              <a:t>Emphasize the core guardrail: AI-enabled systems can widen inequities if digital access, data representation, and community context are not examined early.</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Digital Determinant of Health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4, 7, 13 and Tools 3, 22, 19.</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Digital Determinant of Health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4, 7, 13 and Tools 3, 22, 19.</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Digital Determinant of Health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4, 7, 13 and Tools 3, 22, 19.</a:t>
            </a:r>
          </a:p>
          <a:p xmlns:a="http://schemas.openxmlformats.org/drawingml/2006/main">
            <a:r>
              <a:t>Invite participants to identify where these practices would need to be documented in their own department.</a:t>
            </a:r>
          </a:p>
          <a:p xmlns:a="http://schemas.openxmlformats.org/drawingml/2006/main">
            <a:r>
              <a:t>Start with Where Digital Determinants Appear,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Digital Determinant of Health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4, 7, 13 and Tools 3, 22, 19.</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Digital Determinant of Health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4, 7, 13 and Tools 3, 22, 19.</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Digital access impact review, Language and accessibility mitigation plan, Alternate pathway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as a Digital Determinant of Health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4, 7, 13 and Tools 3, 22, 19.</a:t>
            </a:r>
          </a:p>
          <a:p xmlns:a="http://schemas.openxmlformats.org/drawingml/2006/main">
            <a:r>
              <a:t>Point participants to the first resource: HHS Civil Rights and AI.</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613367623941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5bc41d5b1647e8" /><Relationship Type="http://schemas.openxmlformats.org/officeDocument/2006/relationships/slideLayout" Target="/ppt/slideLayouts/slideLayout1.xml" Id="Rdbea004b989d4c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ea004b989d4c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c5b48d54c7439d" /><Relationship Type="http://schemas.openxmlformats.org/officeDocument/2006/relationships/image" Target="/ppt/media/image.png" Id="Rc9fcc296d5fe4561" /><Relationship Type="http://schemas.openxmlformats.org/officeDocument/2006/relationships/notesSlide" Target="/ppt/notesSlides/notesSlide1.xml" Id="Rb9dc2e3488354a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bfde9fa05f486c" /><Relationship Type="http://schemas.openxmlformats.org/officeDocument/2006/relationships/notesSlide" Target="/ppt/notesSlides/notesSlide2.xml" Id="R35ca757a09fe4f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b92ee5521b4f7d" /><Relationship Type="http://schemas.openxmlformats.org/officeDocument/2006/relationships/notesSlide" Target="/ppt/notesSlides/notesSlide3.xml" Id="R095c386740294a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810edc2c134511" /><Relationship Type="http://schemas.openxmlformats.org/officeDocument/2006/relationships/notesSlide" Target="/ppt/notesSlides/notesSlide4.xml" Id="R8e15c5ea046344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ee22c2dfeb4b72" /><Relationship Type="http://schemas.openxmlformats.org/officeDocument/2006/relationships/notesSlide" Target="/ppt/notesSlides/notesSlide5.xml" Id="Rfa9e55d42e324e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611f4acbb248cb" /><Relationship Type="http://schemas.openxmlformats.org/officeDocument/2006/relationships/notesSlide" Target="/ppt/notesSlides/notesSlide6.xml" Id="Rce608e58329345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06bd2600784723" /><Relationship Type="http://schemas.openxmlformats.org/officeDocument/2006/relationships/notesSlide" Target="/ppt/notesSlides/notesSlide7.xml" Id="Rcdaf4e5b5fb34f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2837246e2b498b" /><Relationship Type="http://schemas.openxmlformats.org/officeDocument/2006/relationships/notesSlide" Target="/ppt/notesSlides/notesSlide8.xml" Id="R43fe00c1077e4714"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9fcc296d5fe4561"/>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7698EF-3E9B-410E-991B-E7760A650E8E}"/>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8</a:t>
            </a:r>
          </a:p>
        </p:txBody>
      </p:sp>
      <p:sp>
        <p:nvSpPr>
          <p:cNvPr id="3" name="">
            <a:extLst xmlns:a="http://schemas.openxmlformats.org/drawingml/2006/main">
              <a:ext uri="{FF2B5EF4-FFF2-40B4-BE49-F238E27FC236}">
                <a16:creationId xmlns:a16="http://schemas.microsoft.com/office/drawing/2014/main" id="{E78A5DF8-C098-4123-AB5D-DE97F8293B41}"/>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AI as a Digital Determinant of Health</a:t>
            </a:r>
          </a:p>
        </p:txBody>
      </p:sp>
      <p:sp>
        <p:nvSpPr>
          <p:cNvPr id="4" name="">
            <a:extLst xmlns:a="http://schemas.openxmlformats.org/drawingml/2006/main">
              <a:ext uri="{FF2B5EF4-FFF2-40B4-BE49-F238E27FC236}">
                <a16:creationId xmlns:a16="http://schemas.microsoft.com/office/drawing/2014/main" id="{F3F4E338-00D2-4F71-92CC-F0234284D13A}"/>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D8B25A6-3619-449A-A7FC-59760F0044FC}"/>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507CC8FD-505F-4D1D-BA5E-54A755172DC6}"/>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3514274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201A24-518B-4366-85CB-A273BF36541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F734C37-27AE-4FE3-9415-6D0994CD3E9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22E0357E-5CD5-46B4-95AC-49AE27D6A45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0BCDBA4-3027-427E-ACE3-87A5092E1EF4}"/>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can shape access to services, quality of information, exposure to misinformation, eligibility decisions, language access, public benefits, and community trust.</a:t>
            </a:r>
          </a:p>
        </p:txBody>
      </p:sp>
      <p:sp>
        <p:nvSpPr>
          <p:cNvPr id="5" name="">
            <a:extLst xmlns:a="http://schemas.openxmlformats.org/drawingml/2006/main">
              <a:ext uri="{FF2B5EF4-FFF2-40B4-BE49-F238E27FC236}">
                <a16:creationId xmlns:a16="http://schemas.microsoft.com/office/drawing/2014/main" id="{0BDA3A6A-D334-4F38-B0B5-1414A1830E12}"/>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E7465C9-995E-49F7-9834-9DAC1CE781FA}"/>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1B63C8B4-4402-443F-AE6C-25C1BCF34AC2}"/>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05FEF08D-53A9-4826-A10D-6A998EAA1C8C}"/>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can influence whether people receive understandable information, timely services, fair prioritization, language access, or meaningful alternatives. Departments should treat AI-supported workflows as part of the digital environment that.</a:t>
            </a:r>
          </a:p>
        </p:txBody>
      </p:sp>
      <p:sp>
        <p:nvSpPr>
          <p:cNvPr id="9" name="">
            <a:extLst xmlns:a="http://schemas.openxmlformats.org/drawingml/2006/main">
              <a:ext uri="{FF2B5EF4-FFF2-40B4-BE49-F238E27FC236}">
                <a16:creationId xmlns:a16="http://schemas.microsoft.com/office/drawing/2014/main" id="{0FD1DC17-0C5F-44FD-9588-CE3E0E6B6ACD}"/>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9884461-30F7-4FE5-89CF-EB8EFD249195}"/>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EC3F9FBD-A7B9-4C5E-A5DE-A2E65C78A5F8}"/>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123EA58D-DDCF-4EDB-A8F5-AB6F87D77338}"/>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AI-enabled systems can widen inequities if digital access, data representation, and community context are not examined early.</a:t>
            </a:r>
          </a:p>
        </p:txBody>
      </p:sp>
      <p:sp>
        <p:nvSpPr>
          <p:cNvPr id="13" name="">
            <a:extLst xmlns:a="http://schemas.openxmlformats.org/drawingml/2006/main">
              <a:ext uri="{FF2B5EF4-FFF2-40B4-BE49-F238E27FC236}">
                <a16:creationId xmlns:a16="http://schemas.microsoft.com/office/drawing/2014/main" id="{78322EDC-27C3-4A3E-A8FD-F568E8EADF6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Digital Determinant of Health</a:t>
            </a:r>
          </a:p>
        </p:txBody>
      </p:sp>
      <p:sp>
        <p:nvSpPr>
          <p:cNvPr id="14" name="">
            <a:extLst xmlns:a="http://schemas.openxmlformats.org/drawingml/2006/main">
              <a:ext uri="{FF2B5EF4-FFF2-40B4-BE49-F238E27FC236}">
                <a16:creationId xmlns:a16="http://schemas.microsoft.com/office/drawing/2014/main" id="{C8C3A7ED-60D5-420A-A052-AA07C5BAEF4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648101204"/>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D7E647-C924-4081-BF4A-C2125486041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74DFE8A-799F-4039-B762-D464384A1CB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E7F4FC90-149C-4565-B0CB-C359DCC902F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6136F32-3806-49EA-B0FF-A4D1AA7E62A1}"/>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29506B4E-8C4F-47CB-9B7B-80A7B0BC2AC0}"/>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AI as a Digital Determinant of Health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49EB7E3F-B85B-49E2-A090-56DCD62BB99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Digital Determinant of Health</a:t>
            </a:r>
          </a:p>
        </p:txBody>
      </p:sp>
      <p:sp>
        <p:nvSpPr>
          <p:cNvPr id="7" name="">
            <a:extLst xmlns:a="http://schemas.openxmlformats.org/drawingml/2006/main">
              <a:ext uri="{FF2B5EF4-FFF2-40B4-BE49-F238E27FC236}">
                <a16:creationId xmlns:a16="http://schemas.microsoft.com/office/drawing/2014/main" id="{9C2A3A95-30D7-4BF0-929A-44665F5EAE4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4627216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A537B5-7B39-4721-AD1C-17A2150C920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9157654-54EA-4D20-B1D5-4BD3F97CB87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D8A98A6D-A383-48E0-8DA3-7632EC11C30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7396F80-67BD-4864-9B3C-D16612C1F125}"/>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can become a digital determinant of health because it shapes how people receive information, access services, are prioritized for outreach, experience language access, or are affected by automated decisions. Departments should examine whether AI-supported systems make services more reachable and fair, or whether they create new barriers.</a:t>
            </a:r>
          </a:p>
        </p:txBody>
      </p:sp>
      <p:sp>
        <p:nvSpPr>
          <p:cNvPr id="5" name="">
            <a:extLst xmlns:a="http://schemas.openxmlformats.org/drawingml/2006/main">
              <a:ext uri="{FF2B5EF4-FFF2-40B4-BE49-F238E27FC236}">
                <a16:creationId xmlns:a16="http://schemas.microsoft.com/office/drawing/2014/main" id="{F045C755-A372-4503-A0C8-3747D1B82C5D}"/>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CE03450-6F16-48F3-85D2-330C48E94FDE}"/>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5BDCF147-EB75-433E-A0FC-FAF87A27E90E}"/>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0AA34766-AE84-4BD1-9678-8CD829E251D5}"/>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can shape access to services, quality of information, exposure to misinformation, eligibility decisions, language access, public benefits, and community trust.</a:t>
            </a:r>
          </a:p>
        </p:txBody>
      </p:sp>
      <p:sp>
        <p:nvSpPr>
          <p:cNvPr id="9" name="">
            <a:extLst xmlns:a="http://schemas.openxmlformats.org/drawingml/2006/main">
              <a:ext uri="{FF2B5EF4-FFF2-40B4-BE49-F238E27FC236}">
                <a16:creationId xmlns:a16="http://schemas.microsoft.com/office/drawing/2014/main" id="{671E1427-30D0-40ED-B7CC-C4E66DFD60D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Digital Determinant of Health</a:t>
            </a:r>
          </a:p>
        </p:txBody>
      </p:sp>
      <p:sp>
        <p:nvSpPr>
          <p:cNvPr id="10" name="">
            <a:extLst xmlns:a="http://schemas.openxmlformats.org/drawingml/2006/main">
              <a:ext uri="{FF2B5EF4-FFF2-40B4-BE49-F238E27FC236}">
                <a16:creationId xmlns:a16="http://schemas.microsoft.com/office/drawing/2014/main" id="{605E0692-22B1-4CE2-A04E-D008A903E92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2132537987"/>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6539E1-B293-42D5-B771-4223896EB4B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97F0A5E-3E26-46AD-AFF6-8D0B1E0C565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E5FF8681-3BF5-4AF8-80E3-D87534B8807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48473EB-9E62-4338-B2A8-C6483380ACC9}"/>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3FD7093-1193-4D02-AAE8-A5FEBA1C7FEB}"/>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0F80F1E0-1F76-4D34-90A4-2BE77D0AF833}"/>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Where Digital Determinants Appear</a:t>
            </a:r>
          </a:p>
        </p:txBody>
      </p:sp>
      <p:sp>
        <p:nvSpPr>
          <p:cNvPr id="7" name="">
            <a:extLst xmlns:a="http://schemas.openxmlformats.org/drawingml/2006/main">
              <a:ext uri="{FF2B5EF4-FFF2-40B4-BE49-F238E27FC236}">
                <a16:creationId xmlns:a16="http://schemas.microsoft.com/office/drawing/2014/main" id="{1B073F46-45FF-4073-8C3A-B3B7E0C93E03}"/>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Chatbots, eligibility tools, translation systems, online appointment systems, risk scores, outreach lists, public dashboards, and. Public health messaging that is generated, translated, personalized, or targeted with AI. Vendor systems that.</a:t>
            </a:r>
          </a:p>
        </p:txBody>
      </p:sp>
      <p:sp>
        <p:nvSpPr>
          <p:cNvPr id="8" name="">
            <a:extLst xmlns:a="http://schemas.openxmlformats.org/drawingml/2006/main">
              <a:ext uri="{FF2B5EF4-FFF2-40B4-BE49-F238E27FC236}">
                <a16:creationId xmlns:a16="http://schemas.microsoft.com/office/drawing/2014/main" id="{2C248C4D-1E22-4A77-B4E6-4D893E99C162}"/>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1A6B1FB-0A41-41AC-8BC6-CE096860FE47}"/>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83A4F09A-A414-49F9-8E1C-117E5411D215}"/>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Equity Review Questions</a:t>
            </a:r>
          </a:p>
        </p:txBody>
      </p:sp>
      <p:sp>
        <p:nvSpPr>
          <p:cNvPr id="11" name="">
            <a:extLst xmlns:a="http://schemas.openxmlformats.org/drawingml/2006/main">
              <a:ext uri="{FF2B5EF4-FFF2-40B4-BE49-F238E27FC236}">
                <a16:creationId xmlns:a16="http://schemas.microsoft.com/office/drawing/2014/main" id="{ACC30B53-1BD7-42B9-A20F-CA24D10F1DEB}"/>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benefits from the tool, and who might be excluded because of language, disability, broadband, device access, trust, literacy,. Does the tool work for rural, Tribal, immigrant, older adult, disability, low-literacy, and.</a:t>
            </a:r>
          </a:p>
        </p:txBody>
      </p:sp>
      <p:sp>
        <p:nvSpPr>
          <p:cNvPr id="12" name="">
            <a:extLst xmlns:a="http://schemas.openxmlformats.org/drawingml/2006/main">
              <a:ext uri="{FF2B5EF4-FFF2-40B4-BE49-F238E27FC236}">
                <a16:creationId xmlns:a16="http://schemas.microsoft.com/office/drawing/2014/main" id="{70F9C1B2-1538-4648-A0B8-81D65F99FE5B}"/>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B957631-0DE6-42A5-A61A-2EE9A9557838}"/>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3865D16F-97E2-4DF2-92EE-9BA48EF53D48}"/>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Action Steps</a:t>
            </a:r>
          </a:p>
        </p:txBody>
      </p:sp>
      <p:sp>
        <p:nvSpPr>
          <p:cNvPr id="15" name="">
            <a:extLst xmlns:a="http://schemas.openxmlformats.org/drawingml/2006/main">
              <a:ext uri="{FF2B5EF4-FFF2-40B4-BE49-F238E27FC236}">
                <a16:creationId xmlns:a16="http://schemas.microsoft.com/office/drawing/2014/main" id="{188659FC-AF9E-4289-A82C-C3F70E2F9621}"/>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Include digital access and language access in use case prioritization. Test public-facing outputs with affected users before launch. Monitor service access, complaints, correction requests, and subgroup outcomes after deployment.</a:t>
            </a:r>
          </a:p>
        </p:txBody>
      </p:sp>
      <p:sp>
        <p:nvSpPr>
          <p:cNvPr id="16" name="">
            <a:extLst xmlns:a="http://schemas.openxmlformats.org/drawingml/2006/main">
              <a:ext uri="{FF2B5EF4-FFF2-40B4-BE49-F238E27FC236}">
                <a16:creationId xmlns:a16="http://schemas.microsoft.com/office/drawing/2014/main" id="{58E5C8D5-3018-4A02-884A-B9DA5CDBA9B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Digital Determinant of Health</a:t>
            </a:r>
          </a:p>
        </p:txBody>
      </p:sp>
      <p:sp>
        <p:nvSpPr>
          <p:cNvPr id="17" name="">
            <a:extLst xmlns:a="http://schemas.openxmlformats.org/drawingml/2006/main">
              <a:ext uri="{FF2B5EF4-FFF2-40B4-BE49-F238E27FC236}">
                <a16:creationId xmlns:a16="http://schemas.microsoft.com/office/drawing/2014/main" id="{9DADB1D1-243C-42E0-8E7E-633D689AF6D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6018011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6537CF-1AF8-4387-AA63-A187A52783E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8CAEC7C-BA17-422D-8232-166238ED320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A0DD9DF0-CF37-4581-B42F-7C6BAC8471A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78FFEA6-EBA0-4C6B-A456-3B1B9644ED88}"/>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BD486967-D0E1-4C8E-B76F-629A153FD7BD}"/>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DB537B46-37EE-44EC-BA90-69715F4F3A1D}"/>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F177179B-5658-4323-B2F8-9FFF20036372}"/>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AI effects on language access</a:t>
            </a:r>
          </a:p>
        </p:txBody>
      </p:sp>
      <p:sp>
        <p:nvSpPr>
          <p:cNvPr id="8" name="">
            <a:extLst xmlns:a="http://schemas.openxmlformats.org/drawingml/2006/main">
              <a:ext uri="{FF2B5EF4-FFF2-40B4-BE49-F238E27FC236}">
                <a16:creationId xmlns:a16="http://schemas.microsoft.com/office/drawing/2014/main" id="{2FEB294A-3A93-41CD-9EC9-84162FF8C7BB}"/>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B53ECD88-2439-4880-A289-66066AE0FA8B}"/>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5A265DC-3517-43E1-8BD4-C41EFEE900D9}"/>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D3C37A1F-A4E1-495D-8803-81EF40E7AACE}"/>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Assess misinformation risk</a:t>
            </a:r>
          </a:p>
        </p:txBody>
      </p:sp>
      <p:sp>
        <p:nvSpPr>
          <p:cNvPr id="12" name="">
            <a:extLst xmlns:a="http://schemas.openxmlformats.org/drawingml/2006/main">
              <a:ext uri="{FF2B5EF4-FFF2-40B4-BE49-F238E27FC236}">
                <a16:creationId xmlns:a16="http://schemas.microsoft.com/office/drawing/2014/main" id="{25D8FDA0-55A3-4DBB-981B-DADACA0FC1DC}"/>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BF63F1A8-6483-4B69-B816-8002B837525C}"/>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F37309D-DD79-40A2-B02A-A3506FC5E93A}"/>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FBB86344-593C-4D81-8A7E-CFFFA2F44FC7}"/>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Evaluate service access impacts</a:t>
            </a:r>
          </a:p>
        </p:txBody>
      </p:sp>
      <p:sp>
        <p:nvSpPr>
          <p:cNvPr id="16" name="">
            <a:extLst xmlns:a="http://schemas.openxmlformats.org/drawingml/2006/main">
              <a:ext uri="{FF2B5EF4-FFF2-40B4-BE49-F238E27FC236}">
                <a16:creationId xmlns:a16="http://schemas.microsoft.com/office/drawing/2014/main" id="{B1254E01-446E-4E0D-9B72-78C65FCAC23B}"/>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224BA441-80DF-424F-A18B-746B01B3166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Digital Determinant of Health</a:t>
            </a:r>
          </a:p>
        </p:txBody>
      </p:sp>
      <p:sp>
        <p:nvSpPr>
          <p:cNvPr id="18" name="">
            <a:extLst xmlns:a="http://schemas.openxmlformats.org/drawingml/2006/main">
              <a:ext uri="{FF2B5EF4-FFF2-40B4-BE49-F238E27FC236}">
                <a16:creationId xmlns:a16="http://schemas.microsoft.com/office/drawing/2014/main" id="{B30FD3AC-0E26-47B9-AC28-36022C68B3B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804619117"/>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B10C0E-8227-4B89-AB44-8DDD4F6EF37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B197300-3400-4BBF-B1CD-BE29BB42307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B9EB8546-6980-4097-AD1D-69C592B39E1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1203FC2-C3FB-4F1F-BCF4-C997D8F51970}"/>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3A42BDC-DACA-4EC0-A4D1-7ED1A57CCCCA}"/>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8B3E00C9-2F69-4909-AE9F-5FC32DB84088}"/>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1C8C437E-EF6A-46C4-89CA-B01C88A8A8BD}"/>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might be excluded by the data, interface, language, channel, or workflow? Does the AI-supported process create or reduce barriers to services? What non-digital or non-AI alternative is available for important services?</a:t>
            </a:r>
          </a:p>
        </p:txBody>
      </p:sp>
      <p:sp>
        <p:nvSpPr>
          <p:cNvPr id="8" name="">
            <a:extLst xmlns:a="http://schemas.openxmlformats.org/drawingml/2006/main">
              <a:ext uri="{FF2B5EF4-FFF2-40B4-BE49-F238E27FC236}">
                <a16:creationId xmlns:a16="http://schemas.microsoft.com/office/drawing/2014/main" id="{D8C8DBB3-2470-467D-A4DD-063782AEFCF3}"/>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178A3E5-FC70-4661-A88B-4734095F7089}"/>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F7B8737B-01A8-4D49-8447-E6A20E9BF2CC}"/>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30D8AF07-0D6C-487C-AF51-B236B9AF5CD4}"/>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a public-facing AI use case and identify access barriers related to language, disability, broadband, device access, literacy, rural context, trust, and data representation.</a:t>
            </a:r>
          </a:p>
        </p:txBody>
      </p:sp>
      <p:sp>
        <p:nvSpPr>
          <p:cNvPr id="12" name="">
            <a:extLst xmlns:a="http://schemas.openxmlformats.org/drawingml/2006/main">
              <a:ext uri="{FF2B5EF4-FFF2-40B4-BE49-F238E27FC236}">
                <a16:creationId xmlns:a16="http://schemas.microsoft.com/office/drawing/2014/main" id="{12452958-88A9-4E37-967A-DF05AC59B88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Digital Determinant of Health</a:t>
            </a:r>
          </a:p>
        </p:txBody>
      </p:sp>
      <p:sp>
        <p:nvSpPr>
          <p:cNvPr id="13" name="">
            <a:extLst xmlns:a="http://schemas.openxmlformats.org/drawingml/2006/main">
              <a:ext uri="{FF2B5EF4-FFF2-40B4-BE49-F238E27FC236}">
                <a16:creationId xmlns:a16="http://schemas.microsoft.com/office/drawing/2014/main" id="{3D327B87-7447-4140-B5EA-A8F68B0B926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0883207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506685-9AE4-4BC3-B364-8AE5F821B03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7A5B17C-AD33-4959-9DE5-DCE214BA635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47F10A39-2784-40A2-8F78-33FAE3170DC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4D52EFC-D029-4180-9C4D-2639D0CB072F}"/>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CAF25F4-C473-4828-8DD0-1E2640101FF8}"/>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A874BC7A-040C-4064-9134-EB941E30F9EA}"/>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D7B5C414-0DA9-4477-B7E7-ADD8EAEE76D5}"/>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4, 7, 13 and Tools 3, 22, 19.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63DCBF47-23EF-4583-980E-313559B2598C}"/>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A2E8542C-C57E-466F-97C6-14327FEC7490}"/>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7B3E0A6C-E62A-4FE1-B8E2-993BE6987321}"/>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CF624577-4BDB-41B6-84EC-53792031833D}"/>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HHS Civil Rights and AI: Civil rights context for AI-enabled access, language, disability, and service equity concerns. ASPPH AI Framework Report: Human-centered AI, missing voices, public trust, and equity framing. CDC Health Equity: Public.</a:t>
            </a:r>
          </a:p>
        </p:txBody>
      </p:sp>
      <p:sp>
        <p:nvSpPr>
          <p:cNvPr id="12" name="">
            <a:extLst xmlns:a="http://schemas.openxmlformats.org/drawingml/2006/main">
              <a:ext uri="{FF2B5EF4-FFF2-40B4-BE49-F238E27FC236}">
                <a16:creationId xmlns:a16="http://schemas.microsoft.com/office/drawing/2014/main" id="{F3CD4652-D064-4B9F-A23A-8AC7E063641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as a Digital Determinant of Health</a:t>
            </a:r>
          </a:p>
        </p:txBody>
      </p:sp>
      <p:sp>
        <p:nvSpPr>
          <p:cNvPr id="13" name="">
            <a:extLst xmlns:a="http://schemas.openxmlformats.org/drawingml/2006/main">
              <a:ext uri="{FF2B5EF4-FFF2-40B4-BE49-F238E27FC236}">
                <a16:creationId xmlns:a16="http://schemas.microsoft.com/office/drawing/2014/main" id="{45F918A1-5063-4C7D-B9DC-B876C4B28E4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7804483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2026-07-02T17:47:02.3890000Z</dcterms:created>
  <dcterms:modified xsi:type="dcterms:W3CDTF">2026-07-02T17:47:02.3890000Z</dcterms:modified>
</coreProperties>
</file>