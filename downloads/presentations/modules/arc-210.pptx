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 analytic,.</a:t>
            </a:r>
            <a:endParaRPr lang="en-US" sz="2100" dirty="0"/>
          </a:p>
          <a:p>
            <a:r>
              <a:rPr lang="en-US" sz="2100" dirty="0">
                <a:solidFill>
                  <a:srgbClr val="17364A"/>
                </a:solidFill>
                <a:latin typeface="Aptos" pitchFamily="34" charset="0"/>
                <a:ea typeface="Aptos" pitchFamily="34" charset="-122"/>
                <a:cs typeface="Aptos" pitchFamily="34" charset="-120"/>
              </a:rPr>
              <a:t>AI tools depend on these pathways even when users do not see them.</a:t>
            </a:r>
            <a:endParaRPr lang="en-US" sz="2100" dirty="0"/>
          </a:p>
          <a:p>
            <a:r>
              <a:rPr lang="en-US" sz="2100" dirty="0">
                <a:solidFill>
                  <a:srgbClr val="17364A"/>
                </a:solidFill>
                <a:latin typeface="Aptos" pitchFamily="34" charset="0"/>
                <a:ea typeface="Aptos" pitchFamily="34" charset="-122"/>
                <a:cs typeface="Aptos" pitchFamily="34" charset="-120"/>
              </a:rPr>
              <a:t>A model that classifies cases, summarizes laboratory reports, or predicts service demand can only work.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major steps in public health data pipelines, including ingestion, validation,.</a:t>
            </a:r>
            <a:endParaRPr lang="en-US" sz="2100" dirty="0"/>
          </a:p>
          <a:p>
            <a:r>
              <a:rPr lang="en-US" sz="2100" dirty="0">
                <a:solidFill>
                  <a:srgbClr val="17364A"/>
                </a:solidFill>
                <a:latin typeface="Aptos" pitchFamily="34" charset="0"/>
                <a:ea typeface="Aptos" pitchFamily="34" charset="-122"/>
                <a:cs typeface="Aptos" pitchFamily="34" charset="-120"/>
              </a:rPr>
              <a:t>Distinguish between batch, real-time, and event-driven data flows.</a:t>
            </a:r>
            <a:endParaRPr lang="en-US" sz="2100" dirty="0"/>
          </a:p>
          <a:p>
            <a:r>
              <a:rPr lang="en-US" sz="2100" dirty="0">
                <a:solidFill>
                  <a:srgbClr val="17364A"/>
                </a:solidFill>
                <a:latin typeface="Aptos" pitchFamily="34" charset="0"/>
                <a:ea typeface="Aptos" pitchFamily="34" charset="-122"/>
                <a:cs typeface="Aptos" pitchFamily="34" charset="-120"/>
              </a:rPr>
              <a:t>Explain how pipeline failures can affect AI outputs and operational decisions.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major steps in public health data pipelines, including ingestion, validation,.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a:t>
            </a:r>
            <a:endParaRPr lang="en-US" sz="2100" dirty="0"/>
          </a:p>
          <a:p>
            <a:r>
              <a:rPr lang="en-US" sz="2100" dirty="0">
                <a:solidFill>
                  <a:srgbClr val="17364A"/>
                </a:solidFill>
                <a:latin typeface="Aptos" pitchFamily="34" charset="0"/>
                <a:ea typeface="Aptos" pitchFamily="34" charset="-122"/>
                <a:cs typeface="Aptos" pitchFamily="34" charset="-120"/>
              </a:rPr>
              <a:t>AI tools depend on these pathways even when users do not see them.</a:t>
            </a:r>
            <a:endParaRPr lang="en-US" sz="2100" dirty="0"/>
          </a:p>
          <a:p>
            <a:r>
              <a:rPr lang="en-US" sz="2100" dirty="0">
                <a:solidFill>
                  <a:srgbClr val="17364A"/>
                </a:solidFill>
                <a:latin typeface="Aptos" pitchFamily="34" charset="0"/>
                <a:ea typeface="Aptos" pitchFamily="34" charset="-122"/>
                <a:cs typeface="Aptos" pitchFamily="34" charset="-120"/>
              </a:rPr>
              <a:t>A model that classifies cases, summarizes laboratory reports, or predicts service demand can only 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2100" dirty="0"/>
          </a:p>
          <a:p>
            <a:r>
              <a:rPr lang="en-US" sz="2100" dirty="0">
                <a:solidFill>
                  <a:srgbClr val="17364A"/>
                </a:solidFill>
                <a:latin typeface="Aptos" pitchFamily="34" charset="0"/>
                <a:ea typeface="Aptos" pitchFamily="34" charset="-122"/>
                <a:cs typeface="Aptos" pitchFamily="34" charset="-120"/>
              </a:rPr>
              <a:t>A delayed file, changed field name, failed interface, missing date, duplicate record, or outdated.</a:t>
            </a:r>
            <a:endParaRPr lang="en-US" sz="2100" dirty="0"/>
          </a:p>
          <a:p>
            <a:r>
              <a:rPr lang="en-US" sz="2100" dirty="0">
                <a:solidFill>
                  <a:srgbClr val="17364A"/>
                </a:solidFill>
                <a:latin typeface="Aptos" pitchFamily="34" charset="0"/>
                <a:ea typeface="Aptos" pitchFamily="34" charset="-122"/>
                <a:cs typeface="Aptos" pitchFamily="34" charset="-120"/>
              </a:rPr>
              <a:t>The AI tool may continue generating fluent summaries or confident classifications even after the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a:t>
            </a:r>
            <a:endParaRPr lang="en-US" sz="2100" dirty="0"/>
          </a:p>
          <a:p>
            <a:r>
              <a:rPr lang="en-US" sz="2100" dirty="0">
                <a:solidFill>
                  <a:srgbClr val="17364A"/>
                </a:solidFill>
                <a:latin typeface="Aptos" pitchFamily="34" charset="0"/>
                <a:ea typeface="Aptos" pitchFamily="34" charset="-122"/>
                <a:cs typeface="Aptos" pitchFamily="34" charset="-120"/>
              </a:rPr>
              <a:t>A data pipeline is a set of technical and operational steps that moves data from a source to a.</a:t>
            </a:r>
            <a:endParaRPr lang="en-US" sz="2100" dirty="0"/>
          </a:p>
          <a:p>
            <a:r>
              <a:rPr lang="en-US" sz="2100" dirty="0">
                <a:solidFill>
                  <a:srgbClr val="17364A"/>
                </a:solidFill>
                <a:latin typeface="Aptos" pitchFamily="34" charset="0"/>
                <a:ea typeface="Aptos" pitchFamily="34" charset="-122"/>
                <a:cs typeface="Aptos" pitchFamily="34" charset="-120"/>
              </a:rPr>
              <a:t>In public health, pipelines may include laboratory interfaces, EHR feeds, IIS submissions, syndromic.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lineage.</a:t>
            </a:r>
            <a:endParaRPr lang="en-US" sz="2100" dirty="0"/>
          </a:p>
          <a:p>
            <a:r>
              <a:rPr lang="en-US" sz="2100" dirty="0">
                <a:solidFill>
                  <a:srgbClr val="17364A"/>
                </a:solidFill>
                <a:latin typeface="Aptos" pitchFamily="34" charset="0"/>
                <a:ea typeface="Aptos" pitchFamily="34" charset="-122"/>
                <a:cs typeface="Aptos" pitchFamily="34" charset="-120"/>
              </a:rPr>
              <a:t>Data lineage shows where data came from, what happened to them, and where they were used.</a:t>
            </a:r>
            <a:endParaRPr lang="en-US" sz="2100" dirty="0"/>
          </a:p>
          <a:p>
            <a:r>
              <a:rPr lang="en-US" sz="2100" dirty="0">
                <a:solidFill>
                  <a:srgbClr val="17364A"/>
                </a:solidFill>
                <a:latin typeface="Aptos" pitchFamily="34" charset="0"/>
                <a:ea typeface="Aptos" pitchFamily="34" charset="-122"/>
                <a:cs typeface="Aptos" pitchFamily="34" charset="-120"/>
              </a:rPr>
              <a:t>Lineage supports validation, troubleshooting, incident response, and public records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lineage.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2100" dirty="0"/>
          </a:p>
          <a:p>
            <a:r>
              <a:rPr lang="en-US" sz="2100" dirty="0">
                <a:solidFill>
                  <a:srgbClr val="17364A"/>
                </a:solidFill>
                <a:latin typeface="Aptos" pitchFamily="34" charset="0"/>
                <a:ea typeface="Aptos" pitchFamily="34" charset="-122"/>
                <a:cs typeface="Aptos" pitchFamily="34" charset="-120"/>
              </a:rPr>
              <a:t>The model depends on timely data feeds from hospitals, correct parsing of chief complaint text,.</a:t>
            </a:r>
            <a:endParaRPr lang="en-US" sz="2100" dirty="0"/>
          </a:p>
          <a:p>
            <a:r>
              <a:rPr lang="en-US" sz="2100" dirty="0">
                <a:solidFill>
                  <a:srgbClr val="17364A"/>
                </a:solidFill>
                <a:latin typeface="Aptos" pitchFamily="34" charset="0"/>
                <a:ea typeface="Aptos" pitchFamily="34" charset="-122"/>
                <a:cs typeface="Aptos" pitchFamily="34" charset="-120"/>
              </a:rPr>
              <a:t>If one large hospital feed stops or a field changes after an EHR upgrade, the AI tool may miss a signal.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2100" dirty="0"/>
          </a:p>
          <a:p>
            <a:r>
              <a:rPr lang="en-US" sz="2100" dirty="0">
                <a:solidFill>
                  <a:srgbClr val="17364A"/>
                </a:solidFill>
                <a:latin typeface="Aptos" pitchFamily="34" charset="0"/>
                <a:ea typeface="Aptos" pitchFamily="34" charset="-122"/>
                <a:cs typeface="Aptos" pitchFamily="34" charset="-120"/>
              </a:rPr>
              <a:t>In between, data may be received, staged, validated, transformed, standardized, linked, loaded,.</a:t>
            </a:r>
            <a:endParaRPr lang="en-US" sz="2100" dirty="0"/>
          </a:p>
          <a:p>
            <a:r>
              <a:rPr lang="en-US" sz="2100" dirty="0">
                <a:solidFill>
                  <a:srgbClr val="17364A"/>
                </a:solidFill>
                <a:latin typeface="Aptos" pitchFamily="34" charset="0"/>
                <a:ea typeface="Aptos" pitchFamily="34" charset="-122"/>
                <a:cs typeface="Aptos" pitchFamily="34" charset="-120"/>
              </a:rPr>
              <a:t>Each step should have an owner, a purpose, a quality check, and a documented failure process.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Silent feed failure.</a:t>
            </a:r>
            <a:endParaRPr lang="en-US" sz="2100" dirty="0"/>
          </a:p>
          <a:p>
            <a:r>
              <a:rPr lang="en-US" sz="2100" dirty="0">
                <a:solidFill>
                  <a:srgbClr val="17364A"/>
                </a:solidFill>
                <a:latin typeface="Aptos" pitchFamily="34" charset="0"/>
                <a:ea typeface="Aptos" pitchFamily="34" charset="-122"/>
                <a:cs typeface="Aptos" pitchFamily="34" charset="-120"/>
              </a:rPr>
              <a:t>A data feed can stop or change without visible failure in the AI interface.</a:t>
            </a:r>
            <a:endParaRPr lang="en-US" sz="2100" dirty="0"/>
          </a:p>
          <a:p>
            <a:r>
              <a:rPr lang="en-US" sz="2100" dirty="0">
                <a:solidFill>
                  <a:srgbClr val="17364A"/>
                </a:solidFill>
                <a:latin typeface="Aptos" pitchFamily="34" charset="0"/>
                <a:ea typeface="Aptos" pitchFamily="34" charset="-122"/>
                <a:cs typeface="Aptos" pitchFamily="34" charset="-120"/>
              </a:rPr>
              <a:t>Guardrails include automated feed monitoring, expected volume thresholds, error queues,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Silent feed failure.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Weak lineage.</a:t>
            </a:r>
            <a:endParaRPr lang="en-US" sz="2100" dirty="0"/>
          </a:p>
          <a:p>
            <a:r>
              <a:rPr lang="en-US" sz="2100" dirty="0">
                <a:solidFill>
                  <a:srgbClr val="17364A"/>
                </a:solidFill>
                <a:latin typeface="Aptos" pitchFamily="34" charset="0"/>
                <a:ea typeface="Aptos" pitchFamily="34" charset="-122"/>
                <a:cs typeface="Aptos" pitchFamily="34" charset="-120"/>
              </a:rPr>
              <a:t>If transformations are not documented, staff may not be able to explain or correct AI errors.</a:t>
            </a:r>
            <a:endParaRPr lang="en-US" sz="2100" dirty="0"/>
          </a:p>
          <a:p>
            <a:r>
              <a:rPr lang="en-US" sz="2100" dirty="0">
                <a:solidFill>
                  <a:srgbClr val="17364A"/>
                </a:solidFill>
                <a:latin typeface="Aptos" pitchFamily="34" charset="0"/>
                <a:ea typeface="Aptos" pitchFamily="34" charset="-122"/>
                <a:cs typeface="Aptos" pitchFamily="34" charset="-120"/>
              </a:rPr>
              <a:t>Guardrails include lineage documentation, version control, and audit trails.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Weak lineage.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a:t>
            </a:r>
            <a:endParaRPr lang="en-US" sz="2100" dirty="0"/>
          </a:p>
          <a:p>
            <a:r>
              <a:rPr lang="en-US" sz="2100" dirty="0">
                <a:solidFill>
                  <a:srgbClr val="17364A"/>
                </a:solidFill>
                <a:latin typeface="Aptos" pitchFamily="34" charset="0"/>
                <a:ea typeface="Aptos" pitchFamily="34" charset="-122"/>
                <a:cs typeface="Aptos" pitchFamily="34" charset="-120"/>
              </a:rPr>
              <a:t>Predictive models may rely on engineered features created by a pipeline, so the feature pipeline must.</a:t>
            </a:r>
            <a:endParaRPr lang="en-US" sz="2100" dirty="0"/>
          </a:p>
          <a:p>
            <a:r>
              <a:rPr lang="en-US" sz="2100" dirty="0">
                <a:solidFill>
                  <a:srgbClr val="17364A"/>
                </a:solidFill>
                <a:latin typeface="Aptos" pitchFamily="34" charset="0"/>
                <a:ea typeface="Aptos" pitchFamily="34" charset="-122"/>
                <a:cs typeface="Aptos" pitchFamily="34" charset="-120"/>
              </a:rPr>
              <a:t>RAG systems depend on document ingestion pipelines, which must track document source, version,.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2100" dirty="0"/>
          </a:p>
          <a:p>
            <a:r>
              <a:rPr lang="en-US" sz="2100" dirty="0">
                <a:solidFill>
                  <a:srgbClr val="17364A"/>
                </a:solidFill>
                <a:latin typeface="Aptos" pitchFamily="34" charset="0"/>
                <a:ea typeface="Aptos" pitchFamily="34" charset="-122"/>
                <a:cs typeface="Aptos" pitchFamily="34" charset="-120"/>
              </a:rPr>
              <a:t>Which pipelines are automatically monitored, and which depend on manual review?</a:t>
            </a:r>
            <a:endParaRPr lang="en-US" sz="2100" dirty="0"/>
          </a:p>
          <a:p>
            <a:r>
              <a:rPr lang="en-US" sz="2100" dirty="0">
                <a:solidFill>
                  <a:srgbClr val="17364A"/>
                </a:solidFill>
                <a:latin typeface="Aptos" pitchFamily="34" charset="0"/>
                <a:ea typeface="Aptos" pitchFamily="34" charset="-122"/>
                <a:cs typeface="Aptos" pitchFamily="34" charset="-120"/>
              </a:rPr>
              <a:t>What failures would materially affect an AI output?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2100" dirty="0"/>
          </a:p>
          <a:p>
            <a:r>
              <a:rPr lang="en-US" sz="2100" dirty="0">
                <a:solidFill>
                  <a:srgbClr val="17364A"/>
                </a:solidFill>
                <a:latin typeface="Aptos" pitchFamily="34" charset="0"/>
                <a:ea typeface="Aptos" pitchFamily="34" charset="-122"/>
                <a:cs typeface="Aptos" pitchFamily="34" charset="-120"/>
              </a:rPr>
              <a:t>Who has authority to pause AI use when a pipeline fails?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data source, update frequency, required fields, validation checks, transformations,.</a:t>
            </a:r>
            <a:endParaRPr lang="en-US" sz="2100" dirty="0"/>
          </a:p>
          <a:p>
            <a:r>
              <a:rPr lang="en-US" sz="2100" dirty="0">
                <a:solidFill>
                  <a:srgbClr val="17364A"/>
                </a:solidFill>
                <a:latin typeface="Aptos" pitchFamily="34" charset="0"/>
                <a:ea typeface="Aptos" pitchFamily="34" charset="-122"/>
                <a:cs typeface="Aptos" pitchFamily="34" charset="-120"/>
              </a:rPr>
              <a:t>Document at least three pipeline failure scenarios and describe how each should be detected, escalated,.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 map</a:t>
            </a:r>
            <a:endParaRPr lang="en-US" sz="2100" dirty="0"/>
          </a:p>
          <a:p>
            <a:r>
              <a:rPr lang="en-US" sz="2100" dirty="0">
                <a:solidFill>
                  <a:srgbClr val="17364A"/>
                </a:solidFill>
                <a:latin typeface="Aptos" pitchFamily="34" charset="0"/>
                <a:ea typeface="Aptos" pitchFamily="34" charset="-122"/>
                <a:cs typeface="Aptos" pitchFamily="34" charset="-120"/>
              </a:rPr>
              <a:t>Pipeline readiness checklist</a:t>
            </a:r>
            <a:endParaRPr lang="en-US" sz="2100" dirty="0"/>
          </a:p>
          <a:p>
            <a:r>
              <a:rPr lang="en-US" sz="2100" dirty="0">
                <a:solidFill>
                  <a:srgbClr val="17364A"/>
                </a:solidFill>
                <a:latin typeface="Aptos" pitchFamily="34" charset="0"/>
                <a:ea typeface="Aptos" pitchFamily="34" charset="-122"/>
                <a:cs typeface="Aptos" pitchFamily="34" charset="-120"/>
              </a:rPr>
              <a:t>Failure and escalation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 map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Known data limitations statement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Known data limitations statement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 map</a:t>
            </a:r>
            <a:endParaRPr lang="en-US" sz="2100" dirty="0"/>
          </a:p>
          <a:p>
            <a:r>
              <a:rPr lang="en-US" sz="2100" dirty="0">
                <a:solidFill>
                  <a:srgbClr val="17364A"/>
                </a:solidFill>
                <a:latin typeface="Aptos" pitchFamily="34" charset="0"/>
                <a:ea typeface="Aptos" pitchFamily="34" charset="-122"/>
                <a:cs typeface="Aptos" pitchFamily="34" charset="-120"/>
              </a:rPr>
              <a:t>Pipeline readiness checklist</a:t>
            </a:r>
            <a:endParaRPr lang="en-US" sz="2100" dirty="0"/>
          </a:p>
          <a:p>
            <a:r>
              <a:rPr lang="en-US" sz="2100" dirty="0">
                <a:solidFill>
                  <a:srgbClr val="17364A"/>
                </a:solidFill>
                <a:latin typeface="Aptos" pitchFamily="34" charset="0"/>
                <a:ea typeface="Aptos" pitchFamily="34" charset="-122"/>
                <a:cs typeface="Aptos" pitchFamily="34" charset="-120"/>
              </a:rPr>
              <a:t>Failure and escalation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 map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2. Which pipeline type is most likely to trigger a workflow immediately after a defined event?</a:t>
            </a:r>
            <a:endParaRPr lang="en-US" sz="2100" dirty="0"/>
          </a:p>
          <a:p>
            <a:r>
              <a:rPr lang="en-US" sz="2100" dirty="0">
                <a:solidFill>
                  <a:srgbClr val="17364A"/>
                </a:solidFill>
                <a:latin typeface="Aptos" pitchFamily="34" charset="0"/>
                <a:ea typeface="Aptos" pitchFamily="34" charset="-122"/>
                <a:cs typeface="Aptos" pitchFamily="34" charset="-120"/>
              </a:rPr>
              <a:t>3. What is a practical guardrail for silent feed failure?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2026-07-12T20:15:59Z</dcterms:created>
  <dcterms:modified xsi:type="dcterms:W3CDTF">2026-07-12T20:15:59Z</dcterms:modified>
</cp:coreProperties>
</file>