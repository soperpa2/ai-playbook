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shared-foundational, governance-security,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Brookings. Digital sovereignty and Indigenous Nations resources. https://www.brookings.edu/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Introductory</a:t>
            </a:r>
            <a:endParaRPr lang="en-US" sz="1600" dirty="0"/>
          </a:p>
          <a:p>
            <a:r>
              <a:rPr lang="en-US" sz="1600" dirty="0">
                <a:solidFill>
                  <a:srgbClr val="17364A"/>
                </a:solidFill>
                <a:latin typeface="Aptos" pitchFamily="34" charset="0"/>
                <a:ea typeface="Aptos" pitchFamily="34" charset="-122"/>
                <a:cs typeface="Aptos" pitchFamily="34" charset="-120"/>
              </a:rPr>
              <a:t>Primary track: Governance and Security</a:t>
            </a:r>
            <a:endParaRPr lang="en-US" sz="1600" dirty="0"/>
          </a:p>
          <a:p>
            <a:r>
              <a:rPr lang="en-US" sz="1600" dirty="0">
                <a:solidFill>
                  <a:srgbClr val="17364A"/>
                </a:solidFill>
                <a:latin typeface="Aptos" pitchFamily="34" charset="0"/>
                <a:ea typeface="Aptos" pitchFamily="34" charset="-122"/>
                <a:cs typeface="Aptos" pitchFamily="34" charset="-120"/>
              </a:rPr>
              <a:t>Appears in tracks: shared-foundational, governance-security, policy, program-management</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 Nations, American Indian and Alaska Native participant data, or health data that may be connected to Tribal citizens, communities, lands, services, or.</a:t>
            </a:r>
            <a:endParaRPr lang="en-US" sz="1450" dirty="0"/>
          </a:p>
          <a:p>
            <a:r>
              <a:rPr lang="en-US" sz="1450" dirty="0">
                <a:solidFill>
                  <a:srgbClr val="17364A"/>
                </a:solidFill>
                <a:latin typeface="Aptos" pitchFamily="34" charset="0"/>
                <a:ea typeface="Aptos" pitchFamily="34" charset="-122"/>
                <a:cs typeface="Aptos" pitchFamily="34" charset="-120"/>
              </a:rPr>
              <a:t>Describe Indigenous Data Sovereignty, Indigenous Data Governance, Digital Sovereignty, and the CARE Principles in plain language, and explain how these concepts apply to AI use case intake, data management, model development, evaluation,.</a:t>
            </a:r>
            <a:endParaRPr lang="en-US" sz="1450" dirty="0"/>
          </a:p>
          <a:p>
            <a:r>
              <a:rPr lang="en-US" sz="1450" dirty="0">
                <a:solidFill>
                  <a:srgbClr val="17364A"/>
                </a:solidFill>
                <a:latin typeface="Aptos" pitchFamily="34" charset="0"/>
                <a:ea typeface="Aptos" pitchFamily="34" charset="-122"/>
                <a:cs typeface="Aptos" pitchFamily="34" charset="-120"/>
              </a:rPr>
              <a:t>Identify governance questions that should be addressed before using Tribal data or AI tools in public health projects, including questions about Tribal consultation, Tribal laws and policies, Tribal IRBs or research review processes, data sharing.</a:t>
            </a:r>
            <a:endParaRPr lang="en-US" sz="1450" dirty="0"/>
          </a:p>
          <a:p>
            <a:r>
              <a:rPr lang="en-US" sz="1450" dirty="0">
                <a:solidFill>
                  <a:srgbClr val="17364A"/>
                </a:solidFill>
                <a:latin typeface="Aptos" pitchFamily="34" charset="0"/>
                <a:ea typeface="Aptos" pitchFamily="34" charset="-122"/>
                <a:cs typeface="Aptos" pitchFamily="34" charset="-120"/>
              </a:rPr>
              <a:t>Distinguish cultural competence from cultural humility and explain why Tribal-specific consultation, relationship building, and respect for government-to-government authority are required rather than relying on generic cultural awareness or.</a:t>
            </a:r>
            <a:endParaRPr lang="en-US" sz="1450" dirty="0"/>
          </a:p>
          <a:p>
            <a:r>
              <a:rPr lang="en-US" sz="1450" dirty="0">
                <a:solidFill>
                  <a:srgbClr val="17364A"/>
                </a:solidFill>
                <a:latin typeface="Aptos" pitchFamily="34" charset="0"/>
                <a:ea typeface="Aptos" pitchFamily="34" charset="-122"/>
                <a:cs typeface="Aptos" pitchFamily="34" charset="-120"/>
              </a:rPr>
              <a:t>Identify AI project risks involving inferred Tribal affiliation, inappropriate geographic inference, external platform exposure, model outputs that stigmatize communities, dissemination that bypasses Tribal review, and secondary uses that were not.</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Connect sovereignty protections to practical project artifacts, including Tribal data sharing agreements, Data Management and Sharing plans, review memos, community benefit statements, AI system documentation, dissemination plans, and monitoring or.</a:t>
            </a:r>
            <a:endParaRPr lang="en-US" sz="1450" dirty="0"/>
          </a:p>
          <a:p>
            <a:r>
              <a:rPr lang="en-US" sz="1450" dirty="0">
                <a:solidFill>
                  <a:srgbClr val="17364A"/>
                </a:solidFill>
                <a:latin typeface="Aptos" pitchFamily="34" charset="0"/>
                <a:ea typeface="Aptos" pitchFamily="34" charset="-122"/>
                <a:cs typeface="Aptos" pitchFamily="34" charset="-120"/>
              </a:rPr>
              <a:t>Draft an initial Tribal sovereignty and Indigenous data governance screening memo for a proposed AI-supported public health workflow that identifies whether the use case should proceed, pause for consultation, be revised, or move to formal Tribal,.</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 health, safety, welfare, and future of their citizens.</a:t>
            </a:r>
            <a:endParaRPr lang="en-US" sz="1450" dirty="0"/>
          </a:p>
          <a:p>
            <a:r>
              <a:rPr lang="en-US" sz="1450" dirty="0">
                <a:solidFill>
                  <a:srgbClr val="17364A"/>
                </a:solidFill>
                <a:latin typeface="Aptos" pitchFamily="34" charset="0"/>
                <a:ea typeface="Aptos" pitchFamily="34" charset="-122"/>
                <a:cs typeface="Aptos" pitchFamily="34" charset="-120"/>
              </a:rPr>
              <a:t>Indigenous Data Sovereignty: The right of Indigenous Peoples and Nations to govern data about them, their citizens, lands, resources, knowledge, and communities.</a:t>
            </a:r>
            <a:endParaRPr lang="en-US" sz="1450" dirty="0"/>
          </a:p>
          <a:p>
            <a:r>
              <a:rPr lang="en-US" sz="1450" dirty="0">
                <a:solidFill>
                  <a:srgbClr val="17364A"/>
                </a:solidFill>
                <a:latin typeface="Aptos" pitchFamily="34" charset="0"/>
                <a:ea typeface="Aptos" pitchFamily="34" charset="-122"/>
                <a:cs typeface="Aptos" pitchFamily="34" charset="-120"/>
              </a:rPr>
              <a:t>Indigenous Data Governance: The policies, agreements, relationships, roles, and oversight mechanisms that put Indigenous Data Sovereignty into practice.</a:t>
            </a:r>
            <a:endParaRPr lang="en-US" sz="1450" dirty="0"/>
          </a:p>
          <a:p>
            <a:r>
              <a:rPr lang="en-US" sz="1450" dirty="0">
                <a:solidFill>
                  <a:srgbClr val="17364A"/>
                </a:solidFill>
                <a:latin typeface="Aptos" pitchFamily="34" charset="0"/>
                <a:ea typeface="Aptos" pitchFamily="34" charset="-122"/>
                <a:cs typeface="Aptos" pitchFamily="34" charset="-120"/>
              </a:rPr>
              <a:t>CARE Principles: A framework for Indigenous Data Governance organized around Collective Benefit, Authority to Control, Responsibility, and Ethics.</a:t>
            </a:r>
            <a:endParaRPr lang="en-US" sz="1450" dirty="0"/>
          </a:p>
          <a:p>
            <a:r>
              <a:rPr lang="en-US" sz="1450" dirty="0">
                <a:solidFill>
                  <a:srgbClr val="17364A"/>
                </a:solidFill>
                <a:latin typeface="Aptos" pitchFamily="34" charset="0"/>
                <a:ea typeface="Aptos" pitchFamily="34" charset="-122"/>
                <a:cs typeface="Aptos" pitchFamily="34" charset="-120"/>
              </a:rPr>
              <a:t>Digital Sovereignty: Control over digital environments, platforms, infrastructure, and technical systems that store, process, move, or expose data.</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 imbalances and Tribal-specific protocols.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 / 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 / 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Leadership, and Operational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a:t>
            </a:r>
            <a:endParaRPr lang="en-US" sz="14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a:t>
            </a:r>
            <a:endParaRPr lang="en-US" sz="14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a:t>
            </a:r>
            <a:endParaRPr lang="en-US" sz="14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for Additional Information</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a:t>
            </a:r>
            <a:endParaRPr lang="en-US" sz="14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a:t>
            </a:r>
            <a:endParaRPr lang="en-US" sz="14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Brookings. Digital sovereignty and Indigenous Nations resources. https://www.brookings.edu/</a:t>
            </a:r>
            <a:endParaRPr lang="en-US" sz="14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Why should Tribal sovereignty be considered before an AI project with health data begins?</a:t>
            </a:r>
            <a:endParaRPr lang="en-US" sz="1450" dirty="0"/>
          </a:p>
          <a:p>
            <a:r>
              <a:rPr lang="en-US" sz="1450" dirty="0">
                <a:solidFill>
                  <a:srgbClr val="17364A"/>
                </a:solidFill>
                <a:latin typeface="Aptos" pitchFamily="34" charset="0"/>
                <a:ea typeface="Aptos" pitchFamily="34" charset="-122"/>
                <a:cs typeface="Aptos" pitchFamily="34" charset="-120"/>
              </a:rPr>
              <a:t>2. Which statement best reflects Indigenous Data Sovereignty?</a:t>
            </a:r>
            <a:endParaRPr lang="en-US" sz="1450" dirty="0"/>
          </a:p>
          <a:p>
            <a:r>
              <a:rPr lang="en-US" sz="1450" dirty="0">
                <a:solidFill>
                  <a:srgbClr val="17364A"/>
                </a:solidFill>
                <a:latin typeface="Aptos" pitchFamily="34" charset="0"/>
                <a:ea typeface="Aptos" pitchFamily="34" charset="-122"/>
                <a:cs typeface="Aptos" pitchFamily="34" charset="-120"/>
              </a:rPr>
              <a:t>3. Which AI practice should be avoided unless explicitly approved through the appropriate governance pathway?</a:t>
            </a:r>
            <a:endParaRPr lang="en-US" sz="1450" dirty="0"/>
          </a:p>
          <a:p>
            <a:r>
              <a:rPr lang="en-US" sz="1450" dirty="0">
                <a:solidFill>
                  <a:srgbClr val="17364A"/>
                </a:solidFill>
                <a:latin typeface="Aptos" pitchFamily="34" charset="0"/>
                <a:ea typeface="Aptos" pitchFamily="34" charset="-122"/>
                <a:cs typeface="Aptos" pitchFamily="34" charset="-120"/>
              </a:rPr>
              <a:t>4. What is the strongest reason to involve Tribal partners early in the AI lifecycle?</a:t>
            </a:r>
            <a:endParaRPr lang="en-US" sz="1450" dirty="0"/>
          </a:p>
          <a:p>
            <a:r>
              <a:rPr lang="en-US" sz="1450" dirty="0">
                <a:solidFill>
                  <a:srgbClr val="17364A"/>
                </a:solidFill>
                <a:latin typeface="Aptos" pitchFamily="34" charset="0"/>
                <a:ea typeface="Aptos" pitchFamily="34" charset="-122"/>
                <a:cs typeface="Aptos" pitchFamily="34" charset="-120"/>
              </a:rPr>
              <a:t>5. What should a sovereignty-aware AI project do when Tribal relevance is uncertain?</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Global Indigenous Data Alliance. CARE Principles for Indigenous Data Governance.: https://www.gida-global.org/care</a:t>
            </a:r>
            <a:endParaRPr lang="en-US" sz="1450" dirty="0"/>
          </a:p>
          <a:p>
            <a:r>
              <a:rPr lang="en-US" sz="1450" dirty="0">
                <a:solidFill>
                  <a:srgbClr val="17364A"/>
                </a:solidFill>
                <a:latin typeface="Aptos" pitchFamily="34" charset="0"/>
                <a:ea typeface="Aptos" pitchFamily="34" charset="-122"/>
                <a:cs typeface="Aptos" pitchFamily="34" charset="-120"/>
              </a:rPr>
              <a:t>National Institutes of Health. NOT-OD-22-214: Supplemental Information to the NIH Policy for Data Management and Sharing: Responsible Management and Sharing of American Indian/Alaska Native Participant Data.:.</a:t>
            </a:r>
            <a:endParaRPr lang="en-US" sz="1450" dirty="0"/>
          </a:p>
          <a:p>
            <a:r>
              <a:rPr lang="en-US" sz="1450" dirty="0">
                <a:solidFill>
                  <a:srgbClr val="17364A"/>
                </a:solidFill>
                <a:latin typeface="Aptos" pitchFamily="34" charset="0"/>
                <a:ea typeface="Aptos" pitchFamily="34" charset="-122"/>
                <a:cs typeface="Aptos" pitchFamily="34" charset="-120"/>
              </a:rPr>
              <a:t>National Institutes of Health Tribal Health Research Office. Tribal Health Research Office resources.: https://dpcpsi.nih.gov/thro</a:t>
            </a:r>
            <a:endParaRPr lang="en-US" sz="1450" dirty="0"/>
          </a:p>
          <a:p>
            <a:r>
              <a:rPr lang="en-US" sz="1450" dirty="0">
                <a:solidFill>
                  <a:srgbClr val="17364A"/>
                </a:solidFill>
                <a:latin typeface="Aptos" pitchFamily="34" charset="0"/>
                <a:ea typeface="Aptos" pitchFamily="34" charset="-122"/>
                <a:cs typeface="Aptos" pitchFamily="34" charset="-120"/>
              </a:rPr>
              <a:t>United States Indigenous Data Sovereignty Network. Resources and information on Indigenous Data Sovereignty.: https://usindigenousdata.org/</a:t>
            </a:r>
            <a:endParaRPr lang="en-US" sz="1450" dirty="0"/>
          </a:p>
          <a:p>
            <a:r>
              <a:rPr lang="en-US" sz="1450" dirty="0">
                <a:solidFill>
                  <a:srgbClr val="17364A"/>
                </a:solidFill>
                <a:latin typeface="Aptos" pitchFamily="34" charset="0"/>
                <a:ea typeface="Aptos" pitchFamily="34" charset="-122"/>
                <a:cs typeface="Aptos" pitchFamily="34" charset="-120"/>
              </a:rPr>
              <a:t>All of Us Research Program. Tribal engagement and data use resources.: https://www.researchallofus.org/</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 guidance before starting projects involving Tribal Nations or AI/AN data.</a:t>
            </a:r>
            <a:endParaRPr lang="en-US" sz="1450" dirty="0"/>
          </a:p>
          <a:p>
            <a:r>
              <a:rPr lang="en-US" sz="1450" dirty="0">
                <a:solidFill>
                  <a:srgbClr val="17364A"/>
                </a:solidFill>
                <a:latin typeface="Aptos" pitchFamily="34" charset="0"/>
                <a:ea typeface="Aptos" pitchFamily="34" charset="-122"/>
                <a:cs typeface="Aptos" pitchFamily="34" charset="-120"/>
              </a:rPr>
              <a:t>Brookings. Digital sovereignty and Indigenous Nations resources.: https://www.brookings.edu/</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2026-07-12T18:22:14Z</dcterms:created>
  <dcterms:modified xsi:type="dcterms:W3CDTF">2026-07-12T18:22:14Z</dcterms:modified>
</cp:coreProperties>
</file>