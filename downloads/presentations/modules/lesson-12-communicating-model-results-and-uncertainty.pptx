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 operational teams.</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explain model outputs, uncertainty, limitations, and appropriate use without overstating precision or creating.</a:t>
            </a:r>
            <a:endParaRPr lang="en-US" sz="1700" dirty="0"/>
          </a:p>
          <a:p>
            <a:r>
              <a:rPr lang="en-US" sz="1700" dirty="0">
                <a:solidFill>
                  <a:srgbClr val="17364A"/>
                </a:solidFill>
                <a:latin typeface="Aptos" pitchFamily="34" charset="0"/>
                <a:ea typeface="Aptos" pitchFamily="34" charset="-122"/>
                <a:cs typeface="Aptos" pitchFamily="34" charset="-120"/>
              </a:rPr>
              <a:t>The module focuses on practical communication.</a:t>
            </a:r>
            <a:endParaRPr lang="en-US" sz="1700" dirty="0"/>
          </a:p>
          <a:p>
            <a:r>
              <a:rPr lang="en-US" sz="1700" dirty="0">
                <a:solidFill>
                  <a:srgbClr val="17364A"/>
                </a:solidFill>
                <a:latin typeface="Aptos" pitchFamily="34" charset="0"/>
                <a:ea typeface="Aptos" pitchFamily="34" charset="-122"/>
                <a:cs typeface="Aptos" pitchFamily="34" charset="-120"/>
              </a:rPr>
              <a:t>Learners translate metrics, confidence, caveats, and validation findings into language that supports responsible decisions.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Analytics and Modeling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analytics-modeling, communications, public-health-executive-leadership, epidemiology, governance-security</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700" dirty="0"/>
          </a:p>
          <a:p>
            <a:r>
              <a:rPr lang="en-US" sz="1700" dirty="0">
                <a:solidFill>
                  <a:srgbClr val="17364A"/>
                </a:solidFill>
                <a:latin typeface="Aptos" pitchFamily="34" charset="0"/>
                <a:ea typeface="Aptos" pitchFamily="34" charset="-122"/>
                <a:cs typeface="Aptos" pitchFamily="34" charset="-120"/>
              </a:rPr>
              <a:t>Distinguish uncertainty, variability, error, bias, and data limitations.</a:t>
            </a:r>
            <a:endParaRPr lang="en-US" sz="1700" dirty="0"/>
          </a:p>
          <a:p>
            <a:r>
              <a:rPr lang="en-US" sz="1700" dirty="0">
                <a:solidFill>
                  <a:srgbClr val="17364A"/>
                </a:solidFill>
                <a:latin typeface="Aptos" pitchFamily="34" charset="0"/>
                <a:ea typeface="Aptos" pitchFamily="34" charset="-122"/>
                <a:cs typeface="Aptos" pitchFamily="34" charset="-120"/>
              </a:rPr>
              <a:t>Identify when model results should include confidence intervals, prediction intervals, caveats, or subgroup findings.</a:t>
            </a:r>
            <a:endParaRPr lang="en-US" sz="1700" dirty="0"/>
          </a:p>
          <a:p>
            <a:r>
              <a:rPr lang="en-US" sz="1700" dirty="0">
                <a:solidFill>
                  <a:srgbClr val="17364A"/>
                </a:solidFill>
                <a:latin typeface="Aptos" pitchFamily="34" charset="0"/>
                <a:ea typeface="Aptos" pitchFamily="34" charset="-122"/>
                <a:cs typeface="Aptos" pitchFamily="34" charset="-120"/>
              </a:rPr>
              <a:t>Avoid overclaiming, causal overreach, and false precision in AI communications.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 operational teams.</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explain model outputs, uncertainty, limitations, and appropriate use without.</a:t>
            </a:r>
            <a:endParaRPr lang="en-US" sz="1700" dirty="0"/>
          </a:p>
          <a:p>
            <a:r>
              <a:rPr lang="en-US" sz="1700" dirty="0">
                <a:solidFill>
                  <a:srgbClr val="17364A"/>
                </a:solidFill>
                <a:latin typeface="Aptos" pitchFamily="34" charset="0"/>
                <a:ea typeface="Aptos" pitchFamily="34" charset="-122"/>
                <a:cs typeface="Aptos" pitchFamily="34" charset="-120"/>
              </a:rPr>
              <a:t>The module focuses on practical communication.</a:t>
            </a:r>
            <a:endParaRPr lang="en-US" sz="1700" dirty="0"/>
          </a:p>
          <a:p>
            <a:r>
              <a:rPr lang="en-US" sz="1700" dirty="0">
                <a:solidFill>
                  <a:srgbClr val="17364A"/>
                </a:solidFill>
                <a:latin typeface="Aptos" pitchFamily="34" charset="0"/>
                <a:ea typeface="Aptos" pitchFamily="34" charset="-122"/>
                <a:cs typeface="Aptos" pitchFamily="34" charset="-120"/>
              </a:rPr>
              <a:t>Learners translate metrics, confidence, caveats, and validation findings into language that supports responsible decisions.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 operational teams.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1700" dirty="0"/>
          </a:p>
          <a:p>
            <a:r>
              <a:rPr lang="en-US" sz="1700" dirty="0">
                <a:solidFill>
                  <a:srgbClr val="17364A"/>
                </a:solidFill>
                <a:latin typeface="Aptos" pitchFamily="34" charset="0"/>
                <a:ea typeface="Aptos" pitchFamily="34" charset="-122"/>
                <a:cs typeface="Aptos" pitchFamily="34" charset="-120"/>
              </a:rPr>
              <a:t>Prediction interval: A range that estimates where a future observation may fall.</a:t>
            </a:r>
            <a:endParaRPr lang="en-US" sz="1700" dirty="0"/>
          </a:p>
          <a:p>
            <a:r>
              <a:rPr lang="en-US" sz="1700" dirty="0">
                <a:solidFill>
                  <a:srgbClr val="17364A"/>
                </a:solidFill>
                <a:latin typeface="Aptos" pitchFamily="34" charset="0"/>
                <a:ea typeface="Aptos" pitchFamily="34" charset="-122"/>
                <a:cs typeface="Aptos" pitchFamily="34" charset="-120"/>
              </a:rPr>
              <a:t>Confidence interval: A range that expresses uncertainty around an estimated parameter.</a:t>
            </a:r>
            <a:endParaRPr lang="en-US" sz="1700" dirty="0"/>
          </a:p>
          <a:p>
            <a:r>
              <a:rPr lang="en-US" sz="1700" dirty="0">
                <a:solidFill>
                  <a:srgbClr val="17364A"/>
                </a:solidFill>
                <a:latin typeface="Aptos" pitchFamily="34" charset="0"/>
                <a:ea typeface="Aptos" pitchFamily="34" charset="-122"/>
                <a:cs typeface="Aptos" pitchFamily="34" charset="-120"/>
              </a:rPr>
              <a:t>Calibration: How closely predicted probabilities match observed outcomes.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Model outputs can influence urgent decisions.</a:t>
            </a:r>
            <a:endParaRPr lang="en-US" sz="1700" dirty="0"/>
          </a:p>
          <a:p>
            <a:r>
              <a:rPr lang="en-US" sz="1700" dirty="0">
                <a:solidFill>
                  <a:srgbClr val="17364A"/>
                </a:solidFill>
                <a:latin typeface="Aptos" pitchFamily="34" charset="0"/>
                <a:ea typeface="Aptos" pitchFamily="34" charset="-122"/>
                <a:cs typeface="Aptos" pitchFamily="34" charset="-120"/>
              </a:rPr>
              <a:t>A forecast may affect staffing, a risk score may affect outreach, and a hotspot map may affect deployment of field teams.</a:t>
            </a:r>
            <a:endParaRPr lang="en-US" sz="1700" dirty="0"/>
          </a:p>
          <a:p>
            <a:r>
              <a:rPr lang="en-US" sz="1700" dirty="0">
                <a:solidFill>
                  <a:srgbClr val="17364A"/>
                </a:solidFill>
                <a:latin typeface="Aptos" pitchFamily="34" charset="0"/>
                <a:ea typeface="Aptos" pitchFamily="34" charset="-122"/>
                <a:cs typeface="Aptos" pitchFamily="34" charset="-120"/>
              </a:rPr>
              <a:t>If uncertainty is not explained clearly, decision-makers may treat estimates as facts or ignore important limitations.</a:t>
            </a:r>
            <a:endParaRPr lang="en-US" sz="1700" dirty="0"/>
          </a:p>
          <a:p>
            <a:r>
              <a:rPr lang="en-US" sz="1700" dirty="0">
                <a:solidFill>
                  <a:srgbClr val="17364A"/>
                </a:solidFill>
                <a:latin typeface="Aptos" pitchFamily="34" charset="0"/>
                <a:ea typeface="Aptos" pitchFamily="34" charset="-122"/>
                <a:cs typeface="Aptos" pitchFamily="34" charset="-120"/>
              </a:rPr>
              <a:t>Public health communication must balance clarity and caution.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Model outputs can influence urgent decisions.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 illness.</a:t>
            </a:r>
            <a:endParaRPr lang="en-US" sz="1700" dirty="0"/>
          </a:p>
          <a:p>
            <a:r>
              <a:rPr lang="en-US" sz="1700" dirty="0">
                <a:solidFill>
                  <a:srgbClr val="17364A"/>
                </a:solidFill>
                <a:latin typeface="Aptos" pitchFamily="34" charset="0"/>
                <a:ea typeface="Aptos" pitchFamily="34" charset="-122"/>
                <a:cs typeface="Aptos" pitchFamily="34" charset="-120"/>
              </a:rPr>
              <a:t>The forecast shows a possible increase over the next two weeks, but the prediction interval is wide because reporting.</a:t>
            </a:r>
            <a:endParaRPr lang="en-US" sz="1700" dirty="0"/>
          </a:p>
          <a:p>
            <a:r>
              <a:rPr lang="en-US" sz="1700" dirty="0">
                <a:solidFill>
                  <a:srgbClr val="17364A"/>
                </a:solidFill>
                <a:latin typeface="Aptos" pitchFamily="34" charset="0"/>
                <a:ea typeface="Aptos" pitchFamily="34" charset="-122"/>
                <a:cs typeface="Aptos" pitchFamily="34" charset="-120"/>
              </a:rPr>
              <a:t>A strong communication brief would state that visits may rise, explain the uncertainty, identify possible reasons for.</a:t>
            </a:r>
            <a:endParaRPr lang="en-US" sz="1700" dirty="0"/>
          </a:p>
          <a:p>
            <a:r>
              <a:rPr lang="en-US" sz="1700" dirty="0">
                <a:solidFill>
                  <a:srgbClr val="17364A"/>
                </a:solidFill>
                <a:latin typeface="Aptos" pitchFamily="34" charset="0"/>
                <a:ea typeface="Aptos" pitchFamily="34" charset="-122"/>
                <a:cs typeface="Aptos" pitchFamily="34" charset="-120"/>
              </a:rPr>
              <a:t>The brief should not say that the model proves an outbreak is occurring.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 illness.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Model communication begins with the decision context.</a:t>
            </a:r>
            <a:endParaRPr lang="en-US" sz="1700" dirty="0"/>
          </a:p>
          <a:p>
            <a:r>
              <a:rPr lang="en-US" sz="1700" dirty="0">
                <a:solidFill>
                  <a:srgbClr val="17364A"/>
                </a:solidFill>
                <a:latin typeface="Aptos" pitchFamily="34" charset="0"/>
                <a:ea typeface="Aptos" pitchFamily="34" charset="-122"/>
                <a:cs typeface="Aptos" pitchFamily="34" charset="-120"/>
              </a:rPr>
              <a:t>The same model output may be communicated differently to a technical team, health officer, program manager, community.</a:t>
            </a:r>
            <a:endParaRPr lang="en-US" sz="1700" dirty="0"/>
          </a:p>
          <a:p>
            <a:r>
              <a:rPr lang="en-US" sz="1700" dirty="0">
                <a:solidFill>
                  <a:srgbClr val="17364A"/>
                </a:solidFill>
                <a:latin typeface="Aptos" pitchFamily="34" charset="0"/>
                <a:ea typeface="Aptos" pitchFamily="34" charset="-122"/>
                <a:cs typeface="Aptos" pitchFamily="34" charset="-120"/>
              </a:rPr>
              <a:t>Technical users may need details about metrics and data limitations, while executives may need decision implications,.</a:t>
            </a:r>
            <a:endParaRPr lang="en-US" sz="1700" dirty="0"/>
          </a:p>
          <a:p>
            <a:r>
              <a:rPr lang="en-US" sz="1700" dirty="0">
                <a:solidFill>
                  <a:srgbClr val="17364A"/>
                </a:solidFill>
                <a:latin typeface="Aptos" pitchFamily="34" charset="0"/>
                <a:ea typeface="Aptos" pitchFamily="34" charset="-122"/>
                <a:cs typeface="Aptos" pitchFamily="34" charset="-120"/>
              </a:rPr>
              <a:t>Uncertainty should be explained visually and verbally.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Model communication begins with the decision context.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major failure mode is false precision.</a:t>
            </a:r>
            <a:endParaRPr lang="en-US" sz="1700" dirty="0"/>
          </a:p>
          <a:p>
            <a:r>
              <a:rPr lang="en-US" sz="1700" dirty="0">
                <a:solidFill>
                  <a:srgbClr val="17364A"/>
                </a:solidFill>
                <a:latin typeface="Aptos" pitchFamily="34" charset="0"/>
                <a:ea typeface="Aptos" pitchFamily="34" charset="-122"/>
                <a:cs typeface="Aptos" pitchFamily="34" charset="-120"/>
              </a:rPr>
              <a:t>A model may produce a number such as 82.4 percent risk, but the data and validation may not support that level of exactness.</a:t>
            </a:r>
            <a:endParaRPr lang="en-US" sz="1700" dirty="0"/>
          </a:p>
          <a:p>
            <a:r>
              <a:rPr lang="en-US" sz="1700" dirty="0">
                <a:solidFill>
                  <a:srgbClr val="17364A"/>
                </a:solidFill>
                <a:latin typeface="Aptos" pitchFamily="34" charset="0"/>
                <a:ea typeface="Aptos" pitchFamily="34" charset="-122"/>
                <a:cs typeface="Aptos" pitchFamily="34" charset="-120"/>
              </a:rPr>
              <a:t>A guardrail is to use appropriate rounding, risk categories, and uncertainty statements.</a:t>
            </a:r>
            <a:endParaRPr lang="en-US" sz="1700" dirty="0"/>
          </a:p>
          <a:p>
            <a:r>
              <a:rPr lang="en-US" sz="1700" dirty="0">
                <a:solidFill>
                  <a:srgbClr val="17364A"/>
                </a:solidFill>
                <a:latin typeface="Aptos" pitchFamily="34" charset="0"/>
                <a:ea typeface="Aptos" pitchFamily="34" charset="-122"/>
                <a:cs typeface="Aptos" pitchFamily="34" charset="-120"/>
              </a:rPr>
              <a:t>Another failure mode is hiding limitations to make results look more actionable.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major failure mode is false precision.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 understand the model.</a:t>
            </a:r>
            <a:endParaRPr lang="en-US" sz="1700" dirty="0"/>
          </a:p>
          <a:p>
            <a:r>
              <a:rPr lang="en-US" sz="1700" dirty="0">
                <a:solidFill>
                  <a:srgbClr val="17364A"/>
                </a:solidFill>
                <a:latin typeface="Aptos" pitchFamily="34" charset="0"/>
                <a:ea typeface="Aptos" pitchFamily="34" charset="-122"/>
                <a:cs typeface="Aptos" pitchFamily="34" charset="-120"/>
              </a:rPr>
              <a:t>Predictive analytics, outbreak forecasts, risk stratification tools, and geospatial models all require communication.</a:t>
            </a:r>
            <a:endParaRPr lang="en-US" sz="1700" dirty="0"/>
          </a:p>
          <a:p>
            <a:r>
              <a:rPr lang="en-US" sz="1700" dirty="0">
                <a:solidFill>
                  <a:srgbClr val="17364A"/>
                </a:solidFill>
                <a:latin typeface="Aptos" pitchFamily="34" charset="0"/>
                <a:ea typeface="Aptos" pitchFamily="34" charset="-122"/>
                <a:cs typeface="Aptos" pitchFamily="34" charset="-120"/>
              </a:rPr>
              <a:t>RAG systems used for briefings should cite source reports and validation evidence.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 understand the model.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Who needs to understand this model result?</a:t>
            </a:r>
            <a:endParaRPr lang="en-US" sz="1700" dirty="0"/>
          </a:p>
          <a:p>
            <a:r>
              <a:rPr lang="en-US" sz="1700" dirty="0">
                <a:solidFill>
                  <a:srgbClr val="17364A"/>
                </a:solidFill>
                <a:latin typeface="Aptos" pitchFamily="34" charset="0"/>
                <a:ea typeface="Aptos" pitchFamily="34" charset="-122"/>
                <a:cs typeface="Aptos" pitchFamily="34" charset="-120"/>
              </a:rPr>
              <a:t>What decision will the result support?</a:t>
            </a:r>
            <a:endParaRPr lang="en-US" sz="1700" dirty="0"/>
          </a:p>
          <a:p>
            <a:r>
              <a:rPr lang="en-US" sz="1700" dirty="0">
                <a:solidFill>
                  <a:srgbClr val="17364A"/>
                </a:solidFill>
                <a:latin typeface="Aptos" pitchFamily="34" charset="0"/>
                <a:ea typeface="Aptos" pitchFamily="34" charset="-122"/>
                <a:cs typeface="Aptos" pitchFamily="34" charset="-120"/>
              </a:rPr>
              <a:t>What uncertainty or limitation could change the decision?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Who needs to understand this model result?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Are there subgroup performance concerns?</a:t>
            </a:r>
            <a:endParaRPr lang="en-US" sz="1700" dirty="0"/>
          </a:p>
          <a:p>
            <a:r>
              <a:rPr lang="en-US" sz="1700" dirty="0">
                <a:solidFill>
                  <a:srgbClr val="17364A"/>
                </a:solidFill>
                <a:latin typeface="Aptos" pitchFamily="34" charset="0"/>
                <a:ea typeface="Aptos" pitchFamily="34" charset="-122"/>
                <a:cs typeface="Aptos" pitchFamily="34" charset="-120"/>
              </a:rPr>
              <a:t>What wording would prevent overclaiming?</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Are there subgroup performance concerns?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one-page model communication brief.</a:t>
            </a:r>
            <a:endParaRPr lang="en-US" sz="1700" dirty="0"/>
          </a:p>
          <a:p>
            <a:r>
              <a:rPr lang="en-US" sz="1700" dirty="0">
                <a:solidFill>
                  <a:srgbClr val="17364A"/>
                </a:solidFill>
                <a:latin typeface="Aptos" pitchFamily="34" charset="0"/>
                <a:ea typeface="Aptos" pitchFamily="34" charset="-122"/>
                <a:cs typeface="Aptos" pitchFamily="34" charset="-120"/>
              </a:rPr>
              <a:t>Include the decision question, model result, uncertainty, validation status, limitations, subgroup considerations,.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one-page model communication brief.</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Model communication brief</a:t>
            </a:r>
            <a:endParaRPr lang="en-US" sz="1700" dirty="0"/>
          </a:p>
          <a:p>
            <a:r>
              <a:rPr lang="en-US" sz="1700" dirty="0">
                <a:solidFill>
                  <a:srgbClr val="17364A"/>
                </a:solidFill>
                <a:latin typeface="Aptos" pitchFamily="34" charset="0"/>
                <a:ea typeface="Aptos" pitchFamily="34" charset="-122"/>
                <a:cs typeface="Aptos" pitchFamily="34" charset="-120"/>
              </a:rPr>
              <a:t>Plain-language uncertainty statement</a:t>
            </a:r>
            <a:endParaRPr lang="en-US" sz="1700" dirty="0"/>
          </a:p>
          <a:p>
            <a:r>
              <a:rPr lang="en-US" sz="1700" dirty="0">
                <a:solidFill>
                  <a:srgbClr val="17364A"/>
                </a:solidFill>
                <a:latin typeface="Aptos" pitchFamily="34" charset="0"/>
                <a:ea typeface="Aptos" pitchFamily="34" charset="-122"/>
                <a:cs typeface="Aptos" pitchFamily="34" charset="-120"/>
              </a:rPr>
              <a:t>Subgroup caveat if relevant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Model communication brief</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Review sign-off note</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sign-off note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Model communication brief</a:t>
            </a:r>
            <a:endParaRPr lang="en-US" sz="1700" dirty="0"/>
          </a:p>
          <a:p>
            <a:r>
              <a:rPr lang="en-US" sz="1700" dirty="0">
                <a:solidFill>
                  <a:srgbClr val="17364A"/>
                </a:solidFill>
                <a:latin typeface="Aptos" pitchFamily="34" charset="0"/>
                <a:ea typeface="Aptos" pitchFamily="34" charset="-122"/>
                <a:cs typeface="Aptos" pitchFamily="34" charset="-120"/>
              </a:rPr>
              <a:t>Plain-language uncertainty statement</a:t>
            </a:r>
            <a:endParaRPr lang="en-US" sz="1700" dirty="0"/>
          </a:p>
          <a:p>
            <a:r>
              <a:rPr lang="en-US" sz="1700" dirty="0">
                <a:solidFill>
                  <a:srgbClr val="17364A"/>
                </a:solidFill>
                <a:latin typeface="Aptos" pitchFamily="34" charset="0"/>
                <a:ea typeface="Aptos" pitchFamily="34" charset="-122"/>
                <a:cs typeface="Aptos" pitchFamily="34" charset="-120"/>
              </a:rPr>
              <a:t>Subgroup caveat if relevant</a:t>
            </a:r>
            <a:endParaRPr lang="en-US" sz="1700" dirty="0"/>
          </a:p>
          <a:p>
            <a:r>
              <a:rPr lang="en-US" sz="1700" dirty="0">
                <a:solidFill>
                  <a:srgbClr val="17364A"/>
                </a:solidFill>
                <a:latin typeface="Aptos" pitchFamily="34" charset="0"/>
                <a:ea typeface="Aptos" pitchFamily="34" charset="-122"/>
                <a:cs typeface="Aptos" pitchFamily="34" charset="-120"/>
              </a:rPr>
              <a:t>Review sign-off note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Model communication brief</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1700" dirty="0"/>
          </a:p>
          <a:p>
            <a:r>
              <a:rPr lang="en-US" sz="1700" dirty="0">
                <a:solidFill>
                  <a:srgbClr val="17364A"/>
                </a:solidFill>
                <a:latin typeface="Aptos" pitchFamily="34" charset="0"/>
                <a:ea typeface="Aptos" pitchFamily="34" charset="-122"/>
                <a:cs typeface="Aptos" pitchFamily="34" charset="-120"/>
              </a:rPr>
              <a:t>2. What is the best reason to assign an accountability owner?</a:t>
            </a:r>
            <a:endParaRPr lang="en-US" sz="1700" dirty="0"/>
          </a:p>
          <a:p>
            <a:r>
              <a:rPr lang="en-US" sz="1700" dirty="0">
                <a:solidFill>
                  <a:srgbClr val="17364A"/>
                </a:solidFill>
                <a:latin typeface="Aptos" pitchFamily="34" charset="0"/>
                <a:ea typeface="Aptos" pitchFamily="34" charset="-122"/>
                <a:cs typeface="Aptos" pitchFamily="34" charset="-120"/>
              </a:rPr>
              <a:t>3. When should an AI-supported workflow be escalated for review?</a:t>
            </a:r>
            <a:endParaRPr lang="en-US" sz="1700" dirty="0"/>
          </a:p>
          <a:p>
            <a:r>
              <a:rPr lang="en-US" sz="1700" dirty="0">
                <a:solidFill>
                  <a:srgbClr val="17364A"/>
                </a:solidFill>
                <a:latin typeface="Aptos" pitchFamily="34" charset="0"/>
                <a:ea typeface="Aptos" pitchFamily="34" charset="-122"/>
                <a:cs typeface="Aptos" pitchFamily="34" charset="-120"/>
              </a:rPr>
              <a:t>4. Which practice best supports public accountability?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700" dirty="0"/>
          </a:p>
          <a:p>
            <a:r>
              <a:rPr lang="en-US" sz="170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2026-07-12T18:54:57Z</dcterms:created>
  <dcterms:modified xsi:type="dcterms:W3CDTF">2026-07-12T18:54:57Z</dcterms:modified>
</cp:coreProperties>
</file>