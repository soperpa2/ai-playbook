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OPS 210 Record Linkage, Entity Resolution, and Deduplication
Record linkage and entity resolution help public health systems determine whether records refer to the same person, provider, facility, address, organization, event, or outbreak. AI tools often rely on linked data even when the linkage process is invisible to users. This module teaches learners how matching and deduplication affect AI outputs, surveillance quality, and equity.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applied/foundational
Primary track: Operations and Data Quality Track
Appears in tracks: technical-architecture
Record linkage and entity resolution help public health systems determine whether records refer to the same person, provider, facility, address, organization, event, or outbreak. AI tools often rely on linked data even when the linkage process is invisible to users. This module teaches learners how matching and deduplication affect AI outputs, surveillance quality, and equity.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7: Prioritize Use Cases - This lesson informs Play 7 by helping learners connect the lesson topic to prioritize use cases work in the AI Playbook sequence.
Play 11: Build and Deploy AI Solutions - This lesson informs Play 11 by helping learners connect the lesson topic to build and deploy ai solutions work in the AI Playbook.
Play 1: Vision &amp; Guardrails - This lesson informs Play 1 by helping learners connect the lesson topic to vision &amp; guardrails work in the AI Playbook sequence.
Play 2: Readiness Assessment - This lesson informs Play 2 by helping learners connect the lesson topic to readiness assessment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3: Equity Impact Assessment Checklist (Checklist) - Use this tool to complete or strengthen the practical exercise for the module using fictional, de-identified, or generalized.
Tool 4: AI Policy Landscape Scan (Worksheet) - Use AI Policy Landscape Scan to translate this lesson into a documented public health AI planning, governance, implementation,.
Tool 5: AI Environmental and Resource Impact Review (Checklist) - Use AI Environmental and Resource Impact Review to translate this lesson into a documented public health AI planning,.
Tool 6: Human-Centered AI Decision Rule Checklist (Checklist) - Use Human-Centered AI Decision Rule Checklist to translate this lesson into a documented public health AI planning, governance,.
Tool 8: AI Project Charter (Planning) - Use AI Project Charter to translate this lesson into a documented public health AI planning, governance, implementation, or.
Tool 9: Data Quality Assessment Checklist (Checklist) - Use this tool to complete or strengthen the practical exercise for the module using fictional, de-identified, or generalized.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Explain why record linkage matters for public health AI.
Distinguish between deterministic matching, probabilistic matching, entity resolution, and deduplication.
Identify risks from false matches and missed matches.
Describe how thresholds, clerical review, and data quality affect matching.
Produce a linkage risk review for an AI-supported workflow.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Record linkage and entity resolution help public health systems determine whether records refer to the same person, provider, facility, address, organization, event, or outbreak. AI tools often rely on linked data even when the linkage process is invisible to users. This module teaches learners how matching and deduplication affect AI outputs, surveillance quality, and equity.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Record linkage matters because public health work often depends on combining information across systems. A surveillance system may need to associate a lab report with an existing case. An IIS may need to match vaccination records from multiple providers. A vital records linkage may support maternal and child health analysis. An AI tool using these linked records may summarize history, predict risk, classify cases, or identify duplicates. If linkage is wrong, the AI output may be wrong.
False matches and missed matches have different consequences. A false match can combine information from different people or events, creating privacy, safety, and accuracy risks. A missed match can split one person or event into multiple records, leading to duplicate work, incomplete histories, or undercounting. Both errors can affect public health decisions.
Linkage can also create equity risks. Names, addresses, phone numbers, language, housing status, migration patterns, and documentation practices vary across communities. Matching rules that work well for one population may perform poorly for another. AI workflows that rely on linked data should therefore include subgroup and equity review.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Concepts
Record linkage. Record linkage is the process of determining whether records from one or more sources refer to the same entity. The entity may be a person, provider, facility, address, organization, event, or outbreak.
Entity resolution. Entity resolution is the broader process of identifying, matching, merging, separating, and managing records about the same entity. It includes matching rules, thresholds, review processes, and stewardship.
Deterministic matching. Deterministic matching uses exact or rule-based agreement across selected fields. It is easier to explain but may miss matches when fields are incomplete or inconsistent.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Concepts
Probabilistic matching. Probabilistic matching estimates the likelihood that records refer to the same entity even when fields differ. It can improve recall but requires thresholds, validation, and review.
Clerical review. Clerical review is human review of uncertain matches. It is essential when automatic matching is not reliable enough for the downstream use.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An AI-supported case summary may pull together lab reports, case notes, hospitalization information, and prior reports for the same person. If the person matching process incorrectly combines two people, the summary may include information that belongs to someone else. If the process misses a prior record, the summary may omit important history. The investigator needs visibility into linkage confidence and source records.
An outbreak detection workflow may link complaints, lab results, facility inspections, and geographic data. Entity resolution may be needed to identify whether different facility names refer to the same establishment. AI-generated cluster summaries can be misleading if the facility resolution process is weak.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Deep Dive
Matching design begins with the entity being matched and the decision that depends on the match. Person matching may use name, date of birth, address, phone, medical record number, email, sex, or other identifiers. Facility matching may use name, address, license number, geocode, and ownership information. Event matching may use dates, locations, condition, exposure, and related records.
Thresholds determine when records are automatically linked, automatically separated, or sent for review. Low thresholds may increase false matches. High thresholds may increase missed matches. The right balance depends on the use case. A workflow that affects individual services may need a different tolerance for error than an aggregate trend analysis.
AI readiness requires documentation of matching methods, fields, thresholds, review processes, error rates, and known limitations. If an AI tool uses linked records, staff should know whether linkage is deterministic, probabilistic, manual, or hybrid. They should also know whether uncertain matches are visible to users and whether AI outputs indicate linkage uncertainty.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False matches. False matches can combine data from different people or entities. Guardrails include conservative thresholds for consequential uses, clerical review, and source display.
Missed matches. Missed matches can fragment histories and create duplicate work. Guardrails include matching quality monitoring, feedback loops, and review queues.
Equity variation. Matching may perform differently across populations. Guardrails include subgroup evaluation, alternative identifiers, and review of naming and address patterns.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Hidden linkage uncertainty. AI outputs may present linked data as certain. Guardrails include confidence indicators, source records, and user review of uncertain matches.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Generative AI may summarize linked records, so source attribution and linkage confidence should be visible. Predictive analytics may use features created from linked records, making match quality part of model validity. NLP may extract identifiers from text to support linkage, which requires privacy and accuracy review. Agentic AI should not automatically merge or update records without strong approval and rollback procedures.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Which workflows in your agency depend on matching records across systems?
What fields are used for matching, and how complete are they?
Which populations may be more likely to experience missed or incorrect matches?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happens when records are incorrectly merged or not merged?
Where should human review be required?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 linkage risk review for one AI-supported public health workflow. Include the matching purpose, data sources, matching fields, known field quality issues, match method, thresholds, clerical review process, false match risks, missed match risks, equity considerations, and AI output affected.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Linkage risk review
Deduplication workflow map
Match review questions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Equity and escalation notes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Linkage risk review
Deduplication workflow map
Match review questions
Equity and escalation notes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a false match?
2. What is a missed match?
3. Why does record linkage matter for AI?
4. Who may need to review uncertain matches?
5. What is strong completion evidence for this module?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Public health IIS and surveillance data quality resources
CDC data modernization resources
Health information exchange data quality materials
Agency matching and deduplication procedures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OPS 210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Record Linkage, Entity Resolution, and Deduplication</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Record Linkage, Entity Resolution, and Deduplication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Record linkage and entity resolution help public health systems determine.</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AI tools often rely on linked data even when the linkage process is.</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This module teaches learners how matching and deduplication affect AI.</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45336"/>
            <a:ext cx="28254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Module details</a:t>
            </a:r>
            <a:endParaRPr lang="en-US" sz="1220" dirty="0"/>
          </a:p>
        </p:txBody>
      </p:sp>
      <p:sp>
        <p:nvSpPr>
          <p:cNvPr id="12" name="Text 10"/>
          <p:cNvSpPr/>
          <p:nvPr/>
        </p:nvSpPr>
        <p:spPr>
          <a:xfrm>
            <a:off x="8074152" y="1856232"/>
            <a:ext cx="2825496" cy="1408176"/>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Level: applied/foundational Primary track: Operations and Data Quality Track.</a:t>
            </a:r>
            <a:endParaRPr lang="en-US" sz="1220" dirty="0"/>
          </a:p>
        </p:txBody>
      </p:sp>
      <p:sp>
        <p:nvSpPr>
          <p:cNvPr id="13" name="Shape 11"/>
          <p:cNvSpPr/>
          <p:nvPr/>
        </p:nvSpPr>
        <p:spPr>
          <a:xfrm>
            <a:off x="7909560" y="3675888"/>
            <a:ext cx="3154680" cy="1691640"/>
          </a:xfrm>
          <a:prstGeom prst="roundRect">
            <a:avLst>
              <a:gd name="adj" fmla="val 6486"/>
            </a:avLst>
          </a:prstGeom>
          <a:solidFill>
            <a:srgbClr val="FFFFFF"/>
          </a:solidFill>
          <a:ln w="12700">
            <a:solidFill>
              <a:srgbClr val="B9D7E6"/>
            </a:solidFill>
            <a:prstDash val="solid"/>
          </a:ln>
        </p:spPr>
      </p:sp>
      <p:sp>
        <p:nvSpPr>
          <p:cNvPr id="14" name="Text 12"/>
          <p:cNvSpPr/>
          <p:nvPr/>
        </p:nvSpPr>
        <p:spPr>
          <a:xfrm>
            <a:off x="8074152" y="3803904"/>
            <a:ext cx="28254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Learning sequence</a:t>
            </a:r>
            <a:endParaRPr lang="en-US" sz="1220" dirty="0"/>
          </a:p>
        </p:txBody>
      </p:sp>
      <p:sp>
        <p:nvSpPr>
          <p:cNvPr id="15" name="Text 13"/>
          <p:cNvSpPr/>
          <p:nvPr/>
        </p:nvSpPr>
        <p:spPr>
          <a:xfrm>
            <a:off x="8092440" y="4133088"/>
            <a:ext cx="2770632" cy="1124712"/>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Read the module for shared vocabulary and context.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Complete the practical exercise to apply the.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Use the notes and references for deeper review.</a:t>
            </a:r>
            <a:endParaRPr lang="en-US" sz="114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Record Linkage, Entity Resolution, and Deduplication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1016" tIns="1016" rIns="1016" bIns="1016" rtlCol="0" anchor="t">
            <a:normAutofit/>
          </a:bodyPr>
          <a:lstStyle/>
          <a:p>
            <a:pPr indent="0" marL="0">
              <a:buNone/>
            </a:pPr>
            <a:r>
              <a:rPr lang="en-US" sz="1900" dirty="0">
                <a:solidFill>
                  <a:srgbClr val="003A63"/>
                </a:solidFill>
                <a:latin typeface="Aptos" pitchFamily="34" charset="0"/>
                <a:ea typeface="Aptos" pitchFamily="34" charset="-122"/>
                <a:cs typeface="Aptos" pitchFamily="34" charset="-120"/>
              </a:rPr>
              <a:t>• Play 7: Prioritize Use Cases - This lesson informs Play 7 by helping.</a:t>
            </a:r>
            <a:endParaRPr lang="en-US" sz="1900" dirty="0"/>
          </a:p>
          <a:p>
            <a:pPr indent="0" marL="0">
              <a:buNone/>
            </a:pPr>
            <a:r>
              <a:rPr lang="en-US" sz="1900" dirty="0">
                <a:solidFill>
                  <a:srgbClr val="003A63"/>
                </a:solidFill>
                <a:latin typeface="Aptos" pitchFamily="34" charset="0"/>
                <a:ea typeface="Aptos" pitchFamily="34" charset="-122"/>
                <a:cs typeface="Aptos" pitchFamily="34" charset="-120"/>
              </a:rPr>
              <a:t>• Play 11: Build and Deploy AI Solutions - This lesson informs Play 11 by.</a:t>
            </a:r>
            <a:endParaRPr lang="en-US" sz="1900" dirty="0"/>
          </a:p>
          <a:p>
            <a:pPr indent="0" marL="0">
              <a:buNone/>
            </a:pPr>
            <a:r>
              <a:rPr lang="en-US" sz="1900" dirty="0">
                <a:solidFill>
                  <a:srgbClr val="003A63"/>
                </a:solidFill>
                <a:latin typeface="Aptos" pitchFamily="34" charset="0"/>
                <a:ea typeface="Aptos" pitchFamily="34" charset="-122"/>
                <a:cs typeface="Aptos" pitchFamily="34" charset="-120"/>
              </a:rPr>
              <a:t>• Play 1: Vision &amp; Guardrails - This lesson informs Play 1 by helping learners.</a:t>
            </a:r>
            <a:endParaRPr lang="en-US" sz="1900" dirty="0"/>
          </a:p>
          <a:p>
            <a:pPr indent="0" marL="0">
              <a:buNone/>
            </a:pPr>
            <a:r>
              <a:rPr lang="en-US" sz="1900" dirty="0">
                <a:solidFill>
                  <a:srgbClr val="003A63"/>
                </a:solidFill>
                <a:latin typeface="Aptos" pitchFamily="34" charset="0"/>
                <a:ea typeface="Aptos" pitchFamily="34" charset="-122"/>
                <a:cs typeface="Aptos" pitchFamily="34" charset="-120"/>
              </a:rPr>
              <a:t>• Play 2: Readiness Assessment - This lesson informs Play 2 by helping.</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45336"/>
            <a:ext cx="273405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the lesson</a:t>
            </a:r>
            <a:endParaRPr lang="en-US" sz="1220" dirty="0"/>
          </a:p>
        </p:txBody>
      </p:sp>
      <p:sp>
        <p:nvSpPr>
          <p:cNvPr id="12" name="Text 10"/>
          <p:cNvSpPr/>
          <p:nvPr/>
        </p:nvSpPr>
        <p:spPr>
          <a:xfrm>
            <a:off x="8211312" y="1856232"/>
            <a:ext cx="2734056" cy="1591056"/>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related plays to identify decisions, participants, timing, approvals,.</a:t>
            </a:r>
            <a:endParaRPr lang="en-US" sz="1220" dirty="0"/>
          </a:p>
        </p:txBody>
      </p:sp>
      <p:sp>
        <p:nvSpPr>
          <p:cNvPr id="13" name="Shape 11"/>
          <p:cNvSpPr/>
          <p:nvPr/>
        </p:nvSpPr>
        <p:spPr>
          <a:xfrm>
            <a:off x="8046720" y="3794760"/>
            <a:ext cx="3063240" cy="1600200"/>
          </a:xfrm>
          <a:prstGeom prst="roundRect">
            <a:avLst>
              <a:gd name="adj" fmla="val 6857"/>
            </a:avLst>
          </a:prstGeom>
          <a:solidFill>
            <a:srgbClr val="FFFFFF"/>
          </a:solidFill>
          <a:ln w="12700">
            <a:solidFill>
              <a:srgbClr val="B9D7E6"/>
            </a:solidFill>
            <a:prstDash val="solid"/>
          </a:ln>
        </p:spPr>
      </p:sp>
      <p:sp>
        <p:nvSpPr>
          <p:cNvPr id="14" name="Text 12"/>
          <p:cNvSpPr/>
          <p:nvPr/>
        </p:nvSpPr>
        <p:spPr>
          <a:xfrm>
            <a:off x="8211312" y="3922776"/>
            <a:ext cx="273405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Use the play links to</a:t>
            </a:r>
            <a:endParaRPr lang="en-US" sz="1220" dirty="0"/>
          </a:p>
        </p:txBody>
      </p:sp>
      <p:sp>
        <p:nvSpPr>
          <p:cNvPr id="15" name="Text 13"/>
          <p:cNvSpPr/>
          <p:nvPr/>
        </p:nvSpPr>
        <p:spPr>
          <a:xfrm>
            <a:off x="8229600" y="4251960"/>
            <a:ext cx="2679192" cy="1033272"/>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Locate the decision point in the playbook sequence.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Identify who should participate in the work.</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Document the review, approval, or implementation.</a:t>
            </a:r>
            <a:endParaRPr lang="en-US" sz="114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Record Linkage, Entity Resolution, and Deduplication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1016" tIns="1016" rIns="1016" bIns="1016" rtlCol="0" anchor="t">
            <a:normAutofit/>
          </a:bodyPr>
          <a:lstStyle/>
          <a:p>
            <a:pPr indent="0" marL="0">
              <a:buNone/>
            </a:pPr>
            <a:r>
              <a:rPr lang="en-US" sz="1850" dirty="0">
                <a:solidFill>
                  <a:srgbClr val="003A63"/>
                </a:solidFill>
                <a:latin typeface="Aptos" pitchFamily="34" charset="0"/>
                <a:ea typeface="Aptos" pitchFamily="34" charset="-122"/>
                <a:cs typeface="Aptos" pitchFamily="34" charset="-120"/>
              </a:rPr>
              <a:t>• Tool 3: Equity Impact Assessment Checklist (Checklist) - Use this tool to.</a:t>
            </a:r>
            <a:endParaRPr lang="en-US" sz="1850" dirty="0"/>
          </a:p>
          <a:p>
            <a:pPr indent="0" marL="0">
              <a:buNone/>
            </a:pPr>
            <a:r>
              <a:rPr lang="en-US" sz="1850" dirty="0">
                <a:solidFill>
                  <a:srgbClr val="003A63"/>
                </a:solidFill>
                <a:latin typeface="Aptos" pitchFamily="34" charset="0"/>
                <a:ea typeface="Aptos" pitchFamily="34" charset="-122"/>
                <a:cs typeface="Aptos" pitchFamily="34" charset="-120"/>
              </a:rPr>
              <a:t>• Tool 4: AI Policy Landscape Scan (Worksheet) - Use AI Policy Landscape Scan.</a:t>
            </a:r>
            <a:endParaRPr lang="en-US" sz="1850" dirty="0"/>
          </a:p>
          <a:p>
            <a:pPr indent="0" marL="0">
              <a:buNone/>
            </a:pPr>
            <a:r>
              <a:rPr lang="en-US" sz="1850" dirty="0">
                <a:solidFill>
                  <a:srgbClr val="003A63"/>
                </a:solidFill>
                <a:latin typeface="Aptos" pitchFamily="34" charset="0"/>
                <a:ea typeface="Aptos" pitchFamily="34" charset="-122"/>
                <a:cs typeface="Aptos" pitchFamily="34" charset="-120"/>
              </a:rPr>
              <a:t>• Tool 5: AI Environmental and Resource Impact Review (Checklist) - Use AI.</a:t>
            </a:r>
            <a:endParaRPr lang="en-US" sz="1850" dirty="0"/>
          </a:p>
          <a:p>
            <a:pPr indent="0" marL="0">
              <a:buNone/>
            </a:pPr>
            <a:r>
              <a:rPr lang="en-US" sz="1850" dirty="0">
                <a:solidFill>
                  <a:srgbClr val="003A63"/>
                </a:solidFill>
                <a:latin typeface="Aptos" pitchFamily="34" charset="0"/>
                <a:ea typeface="Aptos" pitchFamily="34" charset="-122"/>
                <a:cs typeface="Aptos" pitchFamily="34" charset="-120"/>
              </a:rPr>
              <a:t>• Tool 6: Human-Centered AI Decision Rule Checklist (Checklist) - Use.</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45336"/>
            <a:ext cx="273405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Use the tools</a:t>
            </a:r>
            <a:endParaRPr lang="en-US" sz="1220" dirty="0"/>
          </a:p>
        </p:txBody>
      </p:sp>
      <p:sp>
        <p:nvSpPr>
          <p:cNvPr id="12" name="Text 10"/>
          <p:cNvSpPr/>
          <p:nvPr/>
        </p:nvSpPr>
        <p:spPr>
          <a:xfrm>
            <a:off x="8211312" y="1856232"/>
            <a:ext cx="2734056" cy="1591056"/>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linked tools when your department needs a structured worksheet, template,.</a:t>
            </a:r>
            <a:endParaRPr lang="en-US" sz="1220" dirty="0"/>
          </a:p>
        </p:txBody>
      </p:sp>
      <p:sp>
        <p:nvSpPr>
          <p:cNvPr id="13" name="Shape 11"/>
          <p:cNvSpPr/>
          <p:nvPr/>
        </p:nvSpPr>
        <p:spPr>
          <a:xfrm>
            <a:off x="8046720" y="3794760"/>
            <a:ext cx="3063240" cy="1600200"/>
          </a:xfrm>
          <a:prstGeom prst="roundRect">
            <a:avLst>
              <a:gd name="adj" fmla="val 6857"/>
            </a:avLst>
          </a:prstGeom>
          <a:solidFill>
            <a:srgbClr val="FFFFFF"/>
          </a:solidFill>
          <a:ln w="12700">
            <a:solidFill>
              <a:srgbClr val="B9D7E6"/>
            </a:solidFill>
            <a:prstDash val="solid"/>
          </a:ln>
        </p:spPr>
      </p:sp>
      <p:sp>
        <p:nvSpPr>
          <p:cNvPr id="14" name="Text 12"/>
          <p:cNvSpPr/>
          <p:nvPr/>
        </p:nvSpPr>
        <p:spPr>
          <a:xfrm>
            <a:off x="8211312" y="3922776"/>
            <a:ext cx="273405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Tool selection cues</a:t>
            </a:r>
            <a:endParaRPr lang="en-US" sz="1220" dirty="0"/>
          </a:p>
        </p:txBody>
      </p:sp>
      <p:sp>
        <p:nvSpPr>
          <p:cNvPr id="15" name="Text 13"/>
          <p:cNvSpPr/>
          <p:nvPr/>
        </p:nvSpPr>
        <p:spPr>
          <a:xfrm>
            <a:off x="8229600" y="4251960"/>
            <a:ext cx="2679192" cy="1033272"/>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Use a tool when no comparable local process exists.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Adapt existing department templates when they.</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Save the completed artifact as evidence of the.</a:t>
            </a:r>
            <a:endParaRPr lang="en-US" sz="114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Record Linkage, Entity Resolution, and Deduplication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Explain why record linkage matters for public health AI.</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Distinguish between deterministic matching, probabilistic matching, entity.</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Identify risks from false matches and missed matches.</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Practice focus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Explain why record linkage matters for public health AI.</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Describe how thresholds, clerical review, and data.</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Produce a linkage risk review for an AI-supported.</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produce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Record Linkage, Entity Resolution, and Deduplication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Record linkage and entity resolution help public health systems determine.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AI tools often rely on linked data even when the linkage process is.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This module teaches learners how matching and deduplication affect AI.</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Record linkage and entity resolution help public health systems determine.</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Record linkage and entity resolution help public.</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This module teaches learners how matching and.</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Record Linkage, Entity Resolution, and Deduplication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Record linkage matters because public health work often depends on combining.</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 surveillance system may need to associate a lab report with an existing.</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An IIS may need to match vaccination records from multiple providers.</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Record linkage matters because public health work often depends on combining.</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A vital records linkage may support maternal and.</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An AI tool using these linked records may.</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If linkage is wrong, the AI output may be wrong.</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Record Linkage, Entity Resolution, and Deduplication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Core Concepts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Record linkage.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Record linkage is the process of determining whether records from one or.</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 entity may be a person, provider, facility, address, organization,.</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Record linkage.</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Record linkage is the process of determining.</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Entity resolution.</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Entity resolution is the broader process of.</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Record Linkage, Entity Resolution, and Deduplication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Core Concepts Continued</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Probabilistic matching.</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Probabilistic matching estimates the likelihood that records refer to the.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It can improve recall but requires thresholds, validation, and review.</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Probabilistic matching.</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Probabilistic matching estimates the likelihood.</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Clerical review.</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Clerical review is human review of uncertain.</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Record Linkage, Entity Resolution, and Deduplication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An AI-supported case summary may pull together lab reports, case notes,.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If the person matching process incorrectly combines two people, the summary.</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If the process misses a prior record, the summary may omit important history.</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An AI-supported case summary may pull together lab reports, case notes,.</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An AI-supported case summary may pull together lab.</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If the person matching process incorrectly.</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The investigator needs visibility into linkage.</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Record Linkage, Entity Resolution, and Deduplication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Deep Dive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Matching design begins with the entity being matched and the decision that.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Person matching may use name, date of birth, address, phone, medical record.</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Facility matching may use name, address, license number, geocode, and.</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Matching design begins with the entity being matched and the decision that.</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Person matching may use name, date of birth,.</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Event matching may use dates, locations,.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Thresholds determine when records are.</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Record Linkage, Entity Resolution, and Deduplication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False matches.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False matches can combine data from different people or entities.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Guardrails include conservative thresholds for consequential uses, clerical.</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Risk check</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False matches.</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19456"/>
          </a:xfrm>
          <a:prstGeom prst="rect">
            <a:avLst/>
          </a:prstGeom>
          <a:noFill/>
          <a:ln/>
        </p:spPr>
        <p:txBody>
          <a:bodyPr wrap="square" lIns="0" tIns="0" rIns="0" bIns="0" rtlCol="0" anchor="ctr">
            <a:normAutofit/>
          </a:bodyPr>
          <a:lstStyle/>
          <a:p>
            <a:pPr indent="0" marL="0">
              <a:buNone/>
            </a:pPr>
            <a:r>
              <a:rPr lang="en-US" sz="1160" b="1" dirty="0">
                <a:solidFill>
                  <a:srgbClr val="0068B7"/>
                </a:solidFill>
                <a:latin typeface="Aptos" pitchFamily="34" charset="0"/>
                <a:ea typeface="Aptos" pitchFamily="34" charset="-122"/>
                <a:cs typeface="Aptos" pitchFamily="34" charset="-120"/>
              </a:rPr>
              <a:t>Risk control loop</a:t>
            </a:r>
            <a:endParaRPr lang="en-US" sz="1160" dirty="0"/>
          </a:p>
        </p:txBody>
      </p:sp>
      <p:sp>
        <p:nvSpPr>
          <p:cNvPr id="15" name="Shape 13"/>
          <p:cNvSpPr/>
          <p:nvPr/>
        </p:nvSpPr>
        <p:spPr>
          <a:xfrm>
            <a:off x="8717280" y="3406140"/>
            <a:ext cx="164592" cy="0"/>
          </a:xfrm>
          <a:prstGeom prst="line">
            <a:avLst/>
          </a:prstGeom>
          <a:noFill/>
          <a:ln w="15240">
            <a:solidFill>
              <a:srgbClr val="8ABBD8"/>
            </a:solidFill>
            <a:prstDash val="solid"/>
          </a:ln>
        </p:spPr>
      </p:sp>
      <p:sp>
        <p:nvSpPr>
          <p:cNvPr id="16" name="Shape 14"/>
          <p:cNvSpPr/>
          <p:nvPr/>
        </p:nvSpPr>
        <p:spPr>
          <a:xfrm>
            <a:off x="7781544" y="3255264"/>
            <a:ext cx="93573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818120"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Identify</a:t>
            </a:r>
            <a:endParaRPr lang="en-US" sz="880" dirty="0"/>
          </a:p>
        </p:txBody>
      </p:sp>
      <p:sp>
        <p:nvSpPr>
          <p:cNvPr id="18" name="Shape 16"/>
          <p:cNvSpPr/>
          <p:nvPr/>
        </p:nvSpPr>
        <p:spPr>
          <a:xfrm>
            <a:off x="9817608" y="3406140"/>
            <a:ext cx="164592" cy="0"/>
          </a:xfrm>
          <a:prstGeom prst="line">
            <a:avLst/>
          </a:prstGeom>
          <a:noFill/>
          <a:ln w="15240">
            <a:solidFill>
              <a:srgbClr val="8ABBD8"/>
            </a:solidFill>
            <a:prstDash val="solid"/>
          </a:ln>
        </p:spPr>
      </p:sp>
      <p:sp>
        <p:nvSpPr>
          <p:cNvPr id="19" name="Shape 17"/>
          <p:cNvSpPr/>
          <p:nvPr/>
        </p:nvSpPr>
        <p:spPr>
          <a:xfrm>
            <a:off x="8881872" y="3255264"/>
            <a:ext cx="93573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18448"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Control</a:t>
            </a:r>
            <a:endParaRPr lang="en-US" sz="880" dirty="0"/>
          </a:p>
        </p:txBody>
      </p:sp>
      <p:sp>
        <p:nvSpPr>
          <p:cNvPr id="21" name="Shape 19"/>
          <p:cNvSpPr/>
          <p:nvPr/>
        </p:nvSpPr>
        <p:spPr>
          <a:xfrm>
            <a:off x="9982200" y="3255264"/>
            <a:ext cx="93573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Monitor</a:t>
            </a:r>
            <a:endParaRPr lang="en-US" sz="880" dirty="0"/>
          </a:p>
        </p:txBody>
      </p:sp>
      <p:sp>
        <p:nvSpPr>
          <p:cNvPr id="23" name="Text 21"/>
          <p:cNvSpPr/>
          <p:nvPr/>
        </p:nvSpPr>
        <p:spPr>
          <a:xfrm>
            <a:off x="7763256" y="3749040"/>
            <a:ext cx="3172968" cy="356616"/>
          </a:xfrm>
          <a:prstGeom prst="rect">
            <a:avLst/>
          </a:prstGeom>
          <a:noFill/>
          <a:ln/>
        </p:spPr>
        <p:txBody>
          <a:bodyPr wrap="square" lIns="254" tIns="254" rIns="254" bIns="254" rtlCol="0" anchor="t">
            <a:normAutofit/>
          </a:bodyPr>
          <a:lstStyle/>
          <a:p>
            <a:pPr indent="0" marL="0">
              <a:buNone/>
            </a:pPr>
            <a:r>
              <a:rPr lang="en-US" sz="1040" dirty="0">
                <a:solidFill>
                  <a:srgbClr val="17364A"/>
                </a:solidFill>
                <a:latin typeface="Aptos" pitchFamily="34" charset="0"/>
                <a:ea typeface="Aptos" pitchFamily="34" charset="-122"/>
                <a:cs typeface="Aptos" pitchFamily="34" charset="-120"/>
              </a:rPr>
              <a:t>Responsible use depends on finding risks early, applying safeguards,.</a:t>
            </a:r>
            <a:endParaRPr lang="en-US" sz="1040" dirty="0"/>
          </a:p>
        </p:txBody>
      </p:sp>
      <p:sp>
        <p:nvSpPr>
          <p:cNvPr id="24" name="Shape 22"/>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25" name="Text 23"/>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Safeguard to plan</a:t>
            </a:r>
            <a:endParaRPr lang="en-US" sz="1220" dirty="0"/>
          </a:p>
        </p:txBody>
      </p:sp>
      <p:sp>
        <p:nvSpPr>
          <p:cNvPr id="26" name="Text 24"/>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Identify what could go wrong, who could be affected, what safeguards are needed,.</a:t>
            </a:r>
            <a:endParaRPr lang="en-US" sz="122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Record Linkage, Entity Resolution, and Deduplication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Hidden linkage uncertainty.</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AI outputs may present linked data as certain.</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Guardrails include confidence indicators, source records, and user review of.</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Risk check</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Hidden linkage uncertainty.</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19456"/>
          </a:xfrm>
          <a:prstGeom prst="rect">
            <a:avLst/>
          </a:prstGeom>
          <a:noFill/>
          <a:ln/>
        </p:spPr>
        <p:txBody>
          <a:bodyPr wrap="square" lIns="0" tIns="0" rIns="0" bIns="0" rtlCol="0" anchor="ctr">
            <a:normAutofit/>
          </a:bodyPr>
          <a:lstStyle/>
          <a:p>
            <a:pPr indent="0" marL="0">
              <a:buNone/>
            </a:pPr>
            <a:r>
              <a:rPr lang="en-US" sz="1160" b="1" dirty="0">
                <a:solidFill>
                  <a:srgbClr val="0068B7"/>
                </a:solidFill>
                <a:latin typeface="Aptos" pitchFamily="34" charset="0"/>
                <a:ea typeface="Aptos" pitchFamily="34" charset="-122"/>
                <a:cs typeface="Aptos" pitchFamily="34" charset="-120"/>
              </a:rPr>
              <a:t>Risk control loop</a:t>
            </a:r>
            <a:endParaRPr lang="en-US" sz="1160" dirty="0"/>
          </a:p>
        </p:txBody>
      </p:sp>
      <p:sp>
        <p:nvSpPr>
          <p:cNvPr id="15" name="Shape 13"/>
          <p:cNvSpPr/>
          <p:nvPr/>
        </p:nvSpPr>
        <p:spPr>
          <a:xfrm>
            <a:off x="8717280" y="3406140"/>
            <a:ext cx="164592" cy="0"/>
          </a:xfrm>
          <a:prstGeom prst="line">
            <a:avLst/>
          </a:prstGeom>
          <a:noFill/>
          <a:ln w="15240">
            <a:solidFill>
              <a:srgbClr val="8ABBD8"/>
            </a:solidFill>
            <a:prstDash val="solid"/>
          </a:ln>
        </p:spPr>
      </p:sp>
      <p:sp>
        <p:nvSpPr>
          <p:cNvPr id="16" name="Shape 14"/>
          <p:cNvSpPr/>
          <p:nvPr/>
        </p:nvSpPr>
        <p:spPr>
          <a:xfrm>
            <a:off x="7781544" y="3255264"/>
            <a:ext cx="93573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818120"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Identify</a:t>
            </a:r>
            <a:endParaRPr lang="en-US" sz="880" dirty="0"/>
          </a:p>
        </p:txBody>
      </p:sp>
      <p:sp>
        <p:nvSpPr>
          <p:cNvPr id="18" name="Shape 16"/>
          <p:cNvSpPr/>
          <p:nvPr/>
        </p:nvSpPr>
        <p:spPr>
          <a:xfrm>
            <a:off x="9817608" y="3406140"/>
            <a:ext cx="164592" cy="0"/>
          </a:xfrm>
          <a:prstGeom prst="line">
            <a:avLst/>
          </a:prstGeom>
          <a:noFill/>
          <a:ln w="15240">
            <a:solidFill>
              <a:srgbClr val="8ABBD8"/>
            </a:solidFill>
            <a:prstDash val="solid"/>
          </a:ln>
        </p:spPr>
      </p:sp>
      <p:sp>
        <p:nvSpPr>
          <p:cNvPr id="19" name="Shape 17"/>
          <p:cNvSpPr/>
          <p:nvPr/>
        </p:nvSpPr>
        <p:spPr>
          <a:xfrm>
            <a:off x="8881872" y="3255264"/>
            <a:ext cx="93573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18448"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Control</a:t>
            </a:r>
            <a:endParaRPr lang="en-US" sz="880" dirty="0"/>
          </a:p>
        </p:txBody>
      </p:sp>
      <p:sp>
        <p:nvSpPr>
          <p:cNvPr id="21" name="Shape 19"/>
          <p:cNvSpPr/>
          <p:nvPr/>
        </p:nvSpPr>
        <p:spPr>
          <a:xfrm>
            <a:off x="9982200" y="3255264"/>
            <a:ext cx="93573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Monitor</a:t>
            </a:r>
            <a:endParaRPr lang="en-US" sz="880" dirty="0"/>
          </a:p>
        </p:txBody>
      </p:sp>
      <p:sp>
        <p:nvSpPr>
          <p:cNvPr id="23" name="Text 21"/>
          <p:cNvSpPr/>
          <p:nvPr/>
        </p:nvSpPr>
        <p:spPr>
          <a:xfrm>
            <a:off x="7763256" y="3749040"/>
            <a:ext cx="3172968" cy="356616"/>
          </a:xfrm>
          <a:prstGeom prst="rect">
            <a:avLst/>
          </a:prstGeom>
          <a:noFill/>
          <a:ln/>
        </p:spPr>
        <p:txBody>
          <a:bodyPr wrap="square" lIns="254" tIns="254" rIns="254" bIns="254" rtlCol="0" anchor="t">
            <a:normAutofit/>
          </a:bodyPr>
          <a:lstStyle/>
          <a:p>
            <a:pPr indent="0" marL="0">
              <a:buNone/>
            </a:pPr>
            <a:r>
              <a:rPr lang="en-US" sz="1040" dirty="0">
                <a:solidFill>
                  <a:srgbClr val="17364A"/>
                </a:solidFill>
                <a:latin typeface="Aptos" pitchFamily="34" charset="0"/>
                <a:ea typeface="Aptos" pitchFamily="34" charset="-122"/>
                <a:cs typeface="Aptos" pitchFamily="34" charset="-120"/>
              </a:rPr>
              <a:t>Responsible use depends on finding risks early, applying safeguards,.</a:t>
            </a:r>
            <a:endParaRPr lang="en-US" sz="1040" dirty="0"/>
          </a:p>
        </p:txBody>
      </p:sp>
      <p:sp>
        <p:nvSpPr>
          <p:cNvPr id="24" name="Shape 22"/>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25" name="Text 23"/>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Safeguard to plan</a:t>
            </a:r>
            <a:endParaRPr lang="en-US" sz="1220" dirty="0"/>
          </a:p>
        </p:txBody>
      </p:sp>
      <p:sp>
        <p:nvSpPr>
          <p:cNvPr id="26" name="Text 24"/>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Identify what could go wrong, who could be affected, what safeguards are needed,.</a:t>
            </a:r>
            <a:endParaRPr lang="en-US" sz="122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Record Linkage, Entity Resolution, and Deduplication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Generative AI may summarize linked records, so source attribution and.</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Predictive analytics may use features created from linked records, making.</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NLP may extract identifiers from text to support linkage, which requires.</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Generative AI may summarize linked records, so source attribution and linkage.</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19456"/>
          </a:xfrm>
          <a:prstGeom prst="rect">
            <a:avLst/>
          </a:prstGeom>
          <a:noFill/>
          <a:ln/>
        </p:spPr>
        <p:txBody>
          <a:bodyPr wrap="square" lIns="0" tIns="0" rIns="0" bIns="0" rtlCol="0" anchor="ctr">
            <a:normAutofit/>
          </a:bodyPr>
          <a:lstStyle/>
          <a:p>
            <a:pPr indent="0" marL="0">
              <a:buNone/>
            </a:pPr>
            <a:r>
              <a:rPr lang="en-US" sz="1160" b="1" dirty="0">
                <a:solidFill>
                  <a:srgbClr val="0068B7"/>
                </a:solidFill>
                <a:latin typeface="Aptos" pitchFamily="34" charset="0"/>
                <a:ea typeface="Aptos" pitchFamily="34" charset="-122"/>
                <a:cs typeface="Aptos" pitchFamily="34" charset="-120"/>
              </a:rPr>
              <a:t>Implementation path</a:t>
            </a:r>
            <a:endParaRPr lang="en-US" sz="1160" dirty="0"/>
          </a:p>
        </p:txBody>
      </p:sp>
      <p:sp>
        <p:nvSpPr>
          <p:cNvPr id="15" name="Shape 13"/>
          <p:cNvSpPr/>
          <p:nvPr/>
        </p:nvSpPr>
        <p:spPr>
          <a:xfrm>
            <a:off x="8717280" y="3406140"/>
            <a:ext cx="164592" cy="0"/>
          </a:xfrm>
          <a:prstGeom prst="line">
            <a:avLst/>
          </a:prstGeom>
          <a:noFill/>
          <a:ln w="15240">
            <a:solidFill>
              <a:srgbClr val="8ABBD8"/>
            </a:solidFill>
            <a:prstDash val="solid"/>
          </a:ln>
        </p:spPr>
      </p:sp>
      <p:sp>
        <p:nvSpPr>
          <p:cNvPr id="16" name="Shape 14"/>
          <p:cNvSpPr/>
          <p:nvPr/>
        </p:nvSpPr>
        <p:spPr>
          <a:xfrm>
            <a:off x="7781544" y="3255264"/>
            <a:ext cx="93573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818120"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Need</a:t>
            </a:r>
            <a:endParaRPr lang="en-US" sz="880" dirty="0"/>
          </a:p>
        </p:txBody>
      </p:sp>
      <p:sp>
        <p:nvSpPr>
          <p:cNvPr id="18" name="Shape 16"/>
          <p:cNvSpPr/>
          <p:nvPr/>
        </p:nvSpPr>
        <p:spPr>
          <a:xfrm>
            <a:off x="9817608" y="3406140"/>
            <a:ext cx="164592" cy="0"/>
          </a:xfrm>
          <a:prstGeom prst="line">
            <a:avLst/>
          </a:prstGeom>
          <a:noFill/>
          <a:ln w="15240">
            <a:solidFill>
              <a:srgbClr val="8ABBD8"/>
            </a:solidFill>
            <a:prstDash val="solid"/>
          </a:ln>
        </p:spPr>
      </p:sp>
      <p:sp>
        <p:nvSpPr>
          <p:cNvPr id="19" name="Shape 17"/>
          <p:cNvSpPr/>
          <p:nvPr/>
        </p:nvSpPr>
        <p:spPr>
          <a:xfrm>
            <a:off x="8881872" y="3255264"/>
            <a:ext cx="93573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18448"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Build</a:t>
            </a:r>
            <a:endParaRPr lang="en-US" sz="880" dirty="0"/>
          </a:p>
        </p:txBody>
      </p:sp>
      <p:sp>
        <p:nvSpPr>
          <p:cNvPr id="21" name="Shape 19"/>
          <p:cNvSpPr/>
          <p:nvPr/>
        </p:nvSpPr>
        <p:spPr>
          <a:xfrm>
            <a:off x="9982200" y="3255264"/>
            <a:ext cx="93573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Adopt</a:t>
            </a:r>
            <a:endParaRPr lang="en-US" sz="880" dirty="0"/>
          </a:p>
        </p:txBody>
      </p:sp>
      <p:sp>
        <p:nvSpPr>
          <p:cNvPr id="23" name="Text 21"/>
          <p:cNvSpPr/>
          <p:nvPr/>
        </p:nvSpPr>
        <p:spPr>
          <a:xfrm>
            <a:off x="7763256" y="3749040"/>
            <a:ext cx="3172968" cy="356616"/>
          </a:xfrm>
          <a:prstGeom prst="rect">
            <a:avLst/>
          </a:prstGeom>
          <a:noFill/>
          <a:ln/>
        </p:spPr>
        <p:txBody>
          <a:bodyPr wrap="square" lIns="254" tIns="254" rIns="254" bIns="254" rtlCol="0" anchor="t">
            <a:normAutofit/>
          </a:bodyPr>
          <a:lstStyle/>
          <a:p>
            <a:pPr indent="0" marL="0">
              <a:buNone/>
            </a:pPr>
            <a:r>
              <a:rPr lang="en-US" sz="1040" dirty="0">
                <a:solidFill>
                  <a:srgbClr val="17364A"/>
                </a:solidFill>
                <a:latin typeface="Aptos" pitchFamily="34" charset="0"/>
                <a:ea typeface="Aptos" pitchFamily="34" charset="-122"/>
                <a:cs typeface="Aptos" pitchFamily="34" charset="-120"/>
              </a:rPr>
              <a:t>Implementation work should make dependencies, approvals, training, and.</a:t>
            </a:r>
            <a:endParaRPr lang="en-US" sz="1040" dirty="0"/>
          </a:p>
        </p:txBody>
      </p:sp>
      <p:sp>
        <p:nvSpPr>
          <p:cNvPr id="24" name="Shape 22"/>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25" name="Text 23"/>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26" name="Text 24"/>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clarify workflow changes, dependencies, staffing, procurement.</a:t>
            </a:r>
            <a:endParaRPr lang="en-US" sz="122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Record Linkage, Entity Resolution, and Deduplication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Which workflows in your agency depend on matching records across systems?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What fields are used for matching, and how complete are they?</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Which populations may be more likely to experience missed or incorrect.</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Which workflows in your agency depend on matching records across systems?</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Which workflows in your agency depend on matching.</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What fields are used for matching, and how.</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Which populations may be more likely to experience.</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Record Linkage, Entity Resolution, and Deduplication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What happens when records are incorrectly merged or not merged?</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Where should human review be required?</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What happens when records are incorrectly merged or not merged?</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What happens when records are incorrectly merged.</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Where should human review be required?</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Record Linkage, Entity Resolution, and Deduplication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Create a linkage risk review for one AI-supported public health workflow.</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Include the matching purpose, data sources, matching fields, known field.</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Practice focus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Create a linkage risk review for one AI-supported public health workflow.</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Create a linkage risk review for one AI-supported.</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Include the matching purpose, data sources,.</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produce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Record Linkage, Entity Resolution, and Deduplication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Linkage risk review</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Deduplication workflow map</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Match review questions</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Linkage risk review</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Linkage risk review</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Deduplication workflow map</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Match review questions</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Record Linkage, Entity Resolution, and Deduplication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 Continued</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Equity and escalation notes</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Equity and escalation notes</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Equity and escalation notes</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Record Linkage, Entity Resolution, and Deduplication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Linkage risk review</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Deduplication workflow map</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Match review questions</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Practice focus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Linkage risk review</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Linkage risk review</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Deduplication workflow map</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Match review questions</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produce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Record Linkage, Entity Resolution, and Deduplication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1. What is a false match?</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2. What is a missed match?</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3. Why does record linkage matter for AI?</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Practice focus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What is a false match?</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What is a false match?</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produce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Record Linkage, Entity Resolution, and Deduplication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Public health IIS and surveillance data quality resources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CDC data modernization resources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Health information exchange data quality materials</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Public health IIS and surveillance data quality resources</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Public health IIS and surveillance data quality.</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CDC data modernization resources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Health information exchange data quality materials</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Record Linkage, Entity Resolution, and Deduplication</dc:title>
  <dc:subject>Record Linkage, Entity Resolution, and Deduplication learning module</dc:subject>
  <dc:creator>Paula Soper</dc:creator>
  <cp:lastModifiedBy>Paula Soper</cp:lastModifiedBy>
  <cp:revision>1</cp:revision>
  <dcterms:created xsi:type="dcterms:W3CDTF">2026-07-14T04:35:32Z</dcterms:created>
  <dcterms:modified xsi:type="dcterms:W3CDTF">2026-07-14T04:35:32Z</dcterms:modified>
</cp:coreProperties>
</file>