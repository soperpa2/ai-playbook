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c2d723ce0345c0" /><Relationship Type="http://schemas.openxmlformats.org/officeDocument/2006/relationships/extended-properties" Target="/docProps/app.xml" Id="R49068415e6784ebb" /><Relationship Type="http://schemas.openxmlformats.org/officeDocument/2006/relationships/officeDocument" Target="/ppt/presentation.xml" Id="R03ed9a24db974dae" /></Relationships>
</file>

<file path=ppt/presentation.xml><?xml version="1.0" encoding="utf-8"?>
<p:presentation xmlns:p="http://schemas.openxmlformats.org/presentationml/2006/main">
  <p:sldMasterIdLst>
    <p:sldMasterId xmlns:r="http://schemas.openxmlformats.org/officeDocument/2006/relationships" id="2147483648" r:id="R6f1824d79e0944ae"/>
  </p:sldMasterIdLst>
  <p:notesMasterIdLst>
    <p:notesMasterId xmlns:r="http://schemas.openxmlformats.org/officeDocument/2006/relationships" r:id="R75ee8037d4ad4689"/>
  </p:notesMasterIdLst>
  <p:sldIdLst>
    <p:sldId xmlns:r="http://schemas.openxmlformats.org/officeDocument/2006/relationships" id="256" r:id="Rcc808bf3fe384ef5"/>
    <p:sldId xmlns:r="http://schemas.openxmlformats.org/officeDocument/2006/relationships" id="257" r:id="R8fc5478e45da44be"/>
    <p:sldId xmlns:r="http://schemas.openxmlformats.org/officeDocument/2006/relationships" id="258" r:id="Ra07d64b1ad664007"/>
    <p:sldId xmlns:r="http://schemas.openxmlformats.org/officeDocument/2006/relationships" id="259" r:id="R7f8cedcfabb84091"/>
    <p:sldId xmlns:r="http://schemas.openxmlformats.org/officeDocument/2006/relationships" id="260" r:id="Rd4813c180c714652"/>
    <p:sldId xmlns:r="http://schemas.openxmlformats.org/officeDocument/2006/relationships" id="261" r:id="Rd20794528c274c0c"/>
    <p:sldId xmlns:r="http://schemas.openxmlformats.org/officeDocument/2006/relationships" id="262" r:id="R6e8ee295aef4456c"/>
    <p:sldId xmlns:r="http://schemas.openxmlformats.org/officeDocument/2006/relationships" id="263" r:id="R84f2f63d6b344c4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58f1c3729b4f4d" /><Relationship Type="http://schemas.openxmlformats.org/officeDocument/2006/relationships/slideMaster" Target="/ppt/slideMasters/slideMaster1.xml" Id="R6f1824d79e0944ae" /><Relationship Type="http://schemas.openxmlformats.org/officeDocument/2006/relationships/notesMaster" Target="/ppt/notesMasters/notesMaster1.xml" Id="R75ee8037d4ad4689" /><Relationship Type="http://schemas.openxmlformats.org/officeDocument/2006/relationships/presProps" Target="/ppt/presProps.xml" Id="Rf06f0068d8d3442c" /><Relationship Type="http://schemas.openxmlformats.org/officeDocument/2006/relationships/tableStyles" Target="/ppt/tableStyles.xml" Id="Rb912e2d63c4b4f4a" /><Relationship Type="http://schemas.openxmlformats.org/officeDocument/2006/relationships/slide" Target="/ppt/slides/slide1.xml" Id="Rcc808bf3fe384ef5" /><Relationship Type="http://schemas.openxmlformats.org/officeDocument/2006/relationships/slide" Target="/ppt/slides/slide2.xml" Id="R8fc5478e45da44be" /><Relationship Type="http://schemas.openxmlformats.org/officeDocument/2006/relationships/slide" Target="/ppt/slides/slide3.xml" Id="Ra07d64b1ad664007" /><Relationship Type="http://schemas.openxmlformats.org/officeDocument/2006/relationships/slide" Target="/ppt/slides/slide4.xml" Id="R7f8cedcfabb84091" /><Relationship Type="http://schemas.openxmlformats.org/officeDocument/2006/relationships/slide" Target="/ppt/slides/slide5.xml" Id="Rd4813c180c714652" /><Relationship Type="http://schemas.openxmlformats.org/officeDocument/2006/relationships/slide" Target="/ppt/slides/slide6.xml" Id="Rd20794528c274c0c" /><Relationship Type="http://schemas.openxmlformats.org/officeDocument/2006/relationships/slide" Target="/ppt/slides/slide7.xml" Id="R6e8ee295aef4456c" /><Relationship Type="http://schemas.openxmlformats.org/officeDocument/2006/relationships/slide" Target="/ppt/slides/slide8.xml" Id="R84f2f63d6b344c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a2ba0cfd0e4e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ea8de6fb534b52" /><Relationship Type="http://schemas.openxmlformats.org/officeDocument/2006/relationships/notesMaster" Target="/ppt/notesMasters/notesMaster1.xml" Id="R7b70b68507044c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8d6d2495b34958" /><Relationship Type="http://schemas.openxmlformats.org/officeDocument/2006/relationships/notesMaster" Target="/ppt/notesMasters/notesMaster1.xml" Id="Re4fff87da83f4f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dc3495c8ac4077" /><Relationship Type="http://schemas.openxmlformats.org/officeDocument/2006/relationships/notesMaster" Target="/ppt/notesMasters/notesMaster1.xml" Id="R057606df08644f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4f1677454e42b0" /><Relationship Type="http://schemas.openxmlformats.org/officeDocument/2006/relationships/notesMaster" Target="/ppt/notesMasters/notesMaster1.xml" Id="Rdc4dabb7731940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a23a52a85a4cf8" /><Relationship Type="http://schemas.openxmlformats.org/officeDocument/2006/relationships/notesMaster" Target="/ppt/notesMasters/notesMaster1.xml" Id="Rdb961156204f48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b9dd7edfe44377" /><Relationship Type="http://schemas.openxmlformats.org/officeDocument/2006/relationships/notesMaster" Target="/ppt/notesMasters/notesMaster1.xml" Id="Rb6d6c3b3413847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782e9215e54cd7" /><Relationship Type="http://schemas.openxmlformats.org/officeDocument/2006/relationships/notesMaster" Target="/ppt/notesMasters/notesMaster1.xml" Id="R7af7ee74f44543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c64e04064f4f98" /><Relationship Type="http://schemas.openxmlformats.org/officeDocument/2006/relationships/notesMaster" Target="/ppt/notesMasters/notesMaster1.xml" Id="R0c59c1f7e33c4e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Human-Centered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Human-centered AI keeps public health professionals, affected communities, and accountable decision-makers at the center of design, review, and action.</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7, 11, 12, 13 and Tools 6, 19, 46.</a:t>
            </a:r>
          </a:p>
          <a:p xmlns:a="http://schemas.openxmlformats.org/drawingml/2006/main">
            <a:r>
              <a:t>Emphasize the core guardrail: AI should support judgment, not replace community relationships, public accountability, or final decisions in consequential workflows.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7, 11, 12, 13 and Tools 6, 19, 46.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7, 11, 12, 13 and Tools 6, 19, 46.</a:t>
            </a:r>
          </a:p>
          <a:p xmlns:a="http://schemas.openxmlformats.org/drawingml/2006/main">
            <a:r>
              <a:t>Reinforce this definition: Definition: Human-centered AI is designed to assist people, not displace accountability. Public health staff, communities, and accountable leaders remain responsible for interpretation, judgment, relationship-building, and consequential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7, 11, 12, 13 and Tools 6, 19, 46.</a:t>
            </a:r>
          </a:p>
          <a:p xmlns:a="http://schemas.openxmlformats.org/drawingml/2006/main">
            <a:r>
              <a:t>Invite participants to identify where these practices would need to be documented in their own department.</a:t>
            </a:r>
          </a:p>
          <a:p xmlns:a="http://schemas.openxmlformats.org/drawingml/2006/main">
            <a:r>
              <a:t>Start with Design Principles,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7, 11, 12, 13 and Tools 6, 19, 46.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7, 11, 12, 13 and Tools 6, 19, 46.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Human decision rule, User and community needs summary, Appeal, correction, or feedback pathway.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Human-Centered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7, 11, 12, 13 and Tools 6, 19, 46.</a:t>
            </a:r>
          </a:p>
          <a:p xmlns:a="http://schemas.openxmlformats.org/drawingml/2006/main">
            <a:r>
              <a:t>Point participants to the first resource: Blueprint for an AI Bill of Rights.</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6013411ca946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43b7e52c4b4739" /><Relationship Type="http://schemas.openxmlformats.org/officeDocument/2006/relationships/slideLayout" Target="/ppt/slideLayouts/slideLayout1.xml" Id="Rcdd32d1737f843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d32d1737f843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5631be80c142cc" /><Relationship Type="http://schemas.openxmlformats.org/officeDocument/2006/relationships/image" Target="/ppt/media/image.png" Id="R5c43b873423a4b00" /><Relationship Type="http://schemas.openxmlformats.org/officeDocument/2006/relationships/notesSlide" Target="/ppt/notesSlides/notesSlide1.xml" Id="R2696562eee5a42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1074b3a8c640b5" /><Relationship Type="http://schemas.openxmlformats.org/officeDocument/2006/relationships/notesSlide" Target="/ppt/notesSlides/notesSlide2.xml" Id="R87aaf76148dd4d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18f433cdb64704" /><Relationship Type="http://schemas.openxmlformats.org/officeDocument/2006/relationships/notesSlide" Target="/ppt/notesSlides/notesSlide3.xml" Id="R0ec85d544ada47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87b9ea21ba4a45" /><Relationship Type="http://schemas.openxmlformats.org/officeDocument/2006/relationships/notesSlide" Target="/ppt/notesSlides/notesSlide4.xml" Id="R36e67ae6be8e4f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7bbff317624443" /><Relationship Type="http://schemas.openxmlformats.org/officeDocument/2006/relationships/notesSlide" Target="/ppt/notesSlides/notesSlide5.xml" Id="Rd38a4878bf2946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dc46123fee4818" /><Relationship Type="http://schemas.openxmlformats.org/officeDocument/2006/relationships/notesSlide" Target="/ppt/notesSlides/notesSlide6.xml" Id="R12f45e0facec42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5f72fc39d24b39" /><Relationship Type="http://schemas.openxmlformats.org/officeDocument/2006/relationships/notesSlide" Target="/ppt/notesSlides/notesSlide7.xml" Id="R0076da5b39fd40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8373f78621483b" /><Relationship Type="http://schemas.openxmlformats.org/officeDocument/2006/relationships/notesSlide" Target="/ppt/notesSlides/notesSlide8.xml" Id="R38aebefcb9704b32"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c43b873423a4b00"/>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943393-DA86-4A43-9D51-408A2D76A07D}"/>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9</a:t>
            </a:r>
          </a:p>
        </p:txBody>
      </p:sp>
      <p:sp>
        <p:nvSpPr>
          <p:cNvPr id="3" name="">
            <a:extLst xmlns:a="http://schemas.openxmlformats.org/drawingml/2006/main">
              <a:ext uri="{FF2B5EF4-FFF2-40B4-BE49-F238E27FC236}">
                <a16:creationId xmlns:a16="http://schemas.microsoft.com/office/drawing/2014/main" id="{69B6D52C-B527-4377-9663-491447E5B303}"/>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Human-Centered AI</a:t>
            </a:r>
          </a:p>
        </p:txBody>
      </p:sp>
      <p:sp>
        <p:nvSpPr>
          <p:cNvPr id="4" name="">
            <a:extLst xmlns:a="http://schemas.openxmlformats.org/drawingml/2006/main">
              <a:ext uri="{FF2B5EF4-FFF2-40B4-BE49-F238E27FC236}">
                <a16:creationId xmlns:a16="http://schemas.microsoft.com/office/drawing/2014/main" id="{53EE2F2B-C249-4749-A7B2-3CCC1F8E61DC}"/>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BCE127A-01AC-4295-BC8D-60E818001BD8}"/>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FE239CF9-2335-4948-A672-82E6BBA8BF64}"/>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6808933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E4CA4B-0FD0-416F-9D63-30715478A14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34E88FA-25AF-48CC-9C78-A73DB6A0231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F8D1A8DB-C7D0-4EC0-ADE0-FD6C6CC95B0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6B8AF81-1D27-4D3F-9F04-1D927891846B}"/>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Human-centered AI keeps public health professionals, affected communities, and accountable decision-makers at the center of design, review, and action.</a:t>
            </a:r>
          </a:p>
        </p:txBody>
      </p:sp>
      <p:sp>
        <p:nvSpPr>
          <p:cNvPr id="5" name="">
            <a:extLst xmlns:a="http://schemas.openxmlformats.org/drawingml/2006/main">
              <a:ext uri="{FF2B5EF4-FFF2-40B4-BE49-F238E27FC236}">
                <a16:creationId xmlns:a16="http://schemas.microsoft.com/office/drawing/2014/main" id="{5B5C4281-13ED-4290-A450-0A9B8BD80698}"/>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6675EBC-0FED-42F3-9BA1-56A4EE5DE1BC}"/>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E8D89BA-D481-424B-8D31-E01FE9F348DD}"/>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4C0AD3C1-4630-4A09-84F6-EEF803D6723A}"/>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Human-centered AI keeps public health purpose, staff expertise, and community accountability at the center. This is especially important when AI affects outreach, communication, prioritization, inspections, surveillance, or services.</a:t>
            </a:r>
          </a:p>
        </p:txBody>
      </p:sp>
      <p:sp>
        <p:nvSpPr>
          <p:cNvPr id="9" name="">
            <a:extLst xmlns:a="http://schemas.openxmlformats.org/drawingml/2006/main">
              <a:ext uri="{FF2B5EF4-FFF2-40B4-BE49-F238E27FC236}">
                <a16:creationId xmlns:a16="http://schemas.microsoft.com/office/drawing/2014/main" id="{D343C9BA-A153-4A2C-8D2D-BFE6E83B5844}"/>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E8168A7-23B6-45B7-BC84-032F25D9FD1D}"/>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6A164650-A5B7-4827-92DF-DA7805C3960E}"/>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00F53A31-1B78-499D-9AC8-1C0E1FCB5E74}"/>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should support judgment, not replace community relationships, public accountability, or final decisions in consequential workflows.</a:t>
            </a:r>
          </a:p>
        </p:txBody>
      </p:sp>
      <p:sp>
        <p:nvSpPr>
          <p:cNvPr id="13" name="">
            <a:extLst xmlns:a="http://schemas.openxmlformats.org/drawingml/2006/main">
              <a:ext uri="{FF2B5EF4-FFF2-40B4-BE49-F238E27FC236}">
                <a16:creationId xmlns:a16="http://schemas.microsoft.com/office/drawing/2014/main" id="{CABA315B-0179-433A-83F6-BA2D66C26D7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4" name="">
            <a:extLst xmlns:a="http://schemas.openxmlformats.org/drawingml/2006/main">
              <a:ext uri="{FF2B5EF4-FFF2-40B4-BE49-F238E27FC236}">
                <a16:creationId xmlns:a16="http://schemas.microsoft.com/office/drawing/2014/main" id="{C1F74D35-E028-4E8A-8278-1E7FD18A79E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2018049771"/>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D4FE51-D8C8-4825-8831-F34AEA0067E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1518C03-F427-4DAE-AFE7-EF04516EF57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64D001F2-C124-4C10-BAE1-250667A3B7C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9C372E0-163E-44AE-B9F2-69BAD96334AE}"/>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9EA1140E-E779-4E5B-9D5D-2F7CF1DF47FF}"/>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Human-Centered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72758890-FEA6-4E8F-A38C-159D4346F50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7" name="">
            <a:extLst xmlns:a="http://schemas.openxmlformats.org/drawingml/2006/main">
              <a:ext uri="{FF2B5EF4-FFF2-40B4-BE49-F238E27FC236}">
                <a16:creationId xmlns:a16="http://schemas.microsoft.com/office/drawing/2014/main" id="{1ED9D086-CA86-484E-85C4-0B5857FFBE7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8963762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545510-ABF2-4006-86F2-31AF267C951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F2ADCA8-AD72-4555-A9BB-EE6B2D2A597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B7609BC8-DE9B-4598-A18A-624E3F9A27C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24BD7E9-4FA3-4A90-A198-BB38FA7FB487}"/>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Human-centered AI begins with the people affected by a workflow: public health staff, community members, partners, and decision-makers. The goal is not to automate as much as possible. The goal is to improve public health work while preserving human judgment, relationships, dignity, explainability, and accountability.</a:t>
            </a:r>
          </a:p>
        </p:txBody>
      </p:sp>
      <p:sp>
        <p:nvSpPr>
          <p:cNvPr id="5" name="">
            <a:extLst xmlns:a="http://schemas.openxmlformats.org/drawingml/2006/main">
              <a:ext uri="{FF2B5EF4-FFF2-40B4-BE49-F238E27FC236}">
                <a16:creationId xmlns:a16="http://schemas.microsoft.com/office/drawing/2014/main" id="{83CEB79A-7D25-42DA-8428-F90B5A1B41CB}"/>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210B9C8-5173-43D0-8444-235CD41C5D6B}"/>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290F4B4-2EBD-4701-B024-4034B4D7FDAC}"/>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84EE5F46-188C-4D11-BF45-02343AC18322}"/>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Human-centered AI is designed to assist people, not displace accountability. Public health staff, communities, and accountable leaders remain responsible for interpretation, judgment, relationship-building, and consequential.</a:t>
            </a:r>
          </a:p>
        </p:txBody>
      </p:sp>
      <p:sp>
        <p:nvSpPr>
          <p:cNvPr id="9" name="">
            <a:extLst xmlns:a="http://schemas.openxmlformats.org/drawingml/2006/main">
              <a:ext uri="{FF2B5EF4-FFF2-40B4-BE49-F238E27FC236}">
                <a16:creationId xmlns:a16="http://schemas.microsoft.com/office/drawing/2014/main" id="{766757A7-14E7-489E-B3A5-0BBDE8F8229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0" name="">
            <a:extLst xmlns:a="http://schemas.openxmlformats.org/drawingml/2006/main">
              <a:ext uri="{FF2B5EF4-FFF2-40B4-BE49-F238E27FC236}">
                <a16:creationId xmlns:a16="http://schemas.microsoft.com/office/drawing/2014/main" id="{60AA4D34-DF02-48DE-8261-6EB45C2AF95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340899724"/>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8F6914-E1E9-4E9C-BB00-6AB1010FA48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944613B-8DA2-45FC-851D-615B1C8D064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59C81D91-4A13-4ECC-A7EA-72B36965A4A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360E631-925D-48EC-8DA7-0B9D63DA265F}"/>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62FA23B-A56D-4AEF-9EC3-303FAF7D70EA}"/>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C71A963F-E90F-4591-8D60-A68FCE3DF9AD}"/>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Design Principles</a:t>
            </a:r>
          </a:p>
        </p:txBody>
      </p:sp>
      <p:sp>
        <p:nvSpPr>
          <p:cNvPr id="7" name="">
            <a:extLst xmlns:a="http://schemas.openxmlformats.org/drawingml/2006/main">
              <a:ext uri="{FF2B5EF4-FFF2-40B4-BE49-F238E27FC236}">
                <a16:creationId xmlns:a16="http://schemas.microsoft.com/office/drawing/2014/main" id="{26642066-36DA-48E6-B808-5E77A9A5B8CC}"/>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Start with a public health problem and affected users, not with a tool. Define what humans must decide, approve, explain, or correct. Make AI outputs reviewable, editable, and contestable. Design for the staff who will use the system and the.</a:t>
            </a:r>
          </a:p>
        </p:txBody>
      </p:sp>
      <p:sp>
        <p:nvSpPr>
          <p:cNvPr id="8" name="">
            <a:extLst xmlns:a="http://schemas.openxmlformats.org/drawingml/2006/main">
              <a:ext uri="{FF2B5EF4-FFF2-40B4-BE49-F238E27FC236}">
                <a16:creationId xmlns:a16="http://schemas.microsoft.com/office/drawing/2014/main" id="{E4F79231-4FF6-4608-AB42-77DD94A26E62}"/>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3BF97F4-A039-42FD-ADE8-25463BB4C338}"/>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3410D008-3DE4-4F0B-98A5-2A53235FFAAD}"/>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Workflow Practices</a:t>
            </a:r>
          </a:p>
        </p:txBody>
      </p:sp>
      <p:sp>
        <p:nvSpPr>
          <p:cNvPr id="11" name="">
            <a:extLst xmlns:a="http://schemas.openxmlformats.org/drawingml/2006/main">
              <a:ext uri="{FF2B5EF4-FFF2-40B4-BE49-F238E27FC236}">
                <a16:creationId xmlns:a16="http://schemas.microsoft.com/office/drawing/2014/main" id="{E3C38D57-6ACF-451D-8DE6-E9CFB6936ED4}"/>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Name the decision owner for every AI-supported workflow. Require expert review before public-facing communication, enforcement, resource allocation, or clinical/care coordination action. Document correction, appeal, complaint, and escalation.</a:t>
            </a:r>
          </a:p>
        </p:txBody>
      </p:sp>
      <p:sp>
        <p:nvSpPr>
          <p:cNvPr id="12" name="">
            <a:extLst xmlns:a="http://schemas.openxmlformats.org/drawingml/2006/main">
              <a:ext uri="{FF2B5EF4-FFF2-40B4-BE49-F238E27FC236}">
                <a16:creationId xmlns:a16="http://schemas.microsoft.com/office/drawing/2014/main" id="{78CDBB39-B336-4CED-BCBF-E0A4F4BB640E}"/>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6134388C-DB47-49DD-83D5-D7D8E843D052}"/>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1A638A8C-AE9B-4FCC-A8B8-1521872D7955}"/>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Community Accountability</a:t>
            </a:r>
          </a:p>
        </p:txBody>
      </p:sp>
      <p:sp>
        <p:nvSpPr>
          <p:cNvPr id="15" name="">
            <a:extLst xmlns:a="http://schemas.openxmlformats.org/drawingml/2006/main">
              <a:ext uri="{FF2B5EF4-FFF2-40B4-BE49-F238E27FC236}">
                <a16:creationId xmlns:a16="http://schemas.microsoft.com/office/drawing/2014/main" id="{E4A7EA8A-D59E-4784-B1DF-12AFFB58AA3C}"/>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engagement to identify concerns before launch, especially for high-impact or community-facing systems. Explain AI use in plain language and invite feedback. Avoid deploying systems where affected people cannot understand or challenge the.</a:t>
            </a:r>
          </a:p>
        </p:txBody>
      </p:sp>
      <p:sp>
        <p:nvSpPr>
          <p:cNvPr id="16" name="">
            <a:extLst xmlns:a="http://schemas.openxmlformats.org/drawingml/2006/main">
              <a:ext uri="{FF2B5EF4-FFF2-40B4-BE49-F238E27FC236}">
                <a16:creationId xmlns:a16="http://schemas.microsoft.com/office/drawing/2014/main" id="{FDA6AD6F-958B-4608-B41A-0FC4DBB9CA1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7" name="">
            <a:extLst xmlns:a="http://schemas.openxmlformats.org/drawingml/2006/main">
              <a:ext uri="{FF2B5EF4-FFF2-40B4-BE49-F238E27FC236}">
                <a16:creationId xmlns:a16="http://schemas.microsoft.com/office/drawing/2014/main" id="{6E369564-C337-4866-8F32-FFE6668C881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0332267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20D555-75EB-4A90-8615-C9A45880325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B6D29EF-A70A-49F3-A284-FF71C0B795A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D8627117-E734-4F26-A63D-0E5783D88BF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84E026B-748B-45A4-BA1A-C2D7BEAB3E1C}"/>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D8B88E1B-BF39-48A6-A4EA-D2A843CB24CE}"/>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B7D89D4-F09C-4859-B4ED-21C9AE28D873}"/>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7157C4E-96D0-4078-83A7-BBBDAFA08B9A}"/>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Define human decision owners</a:t>
            </a:r>
          </a:p>
        </p:txBody>
      </p:sp>
      <p:sp>
        <p:nvSpPr>
          <p:cNvPr id="8" name="">
            <a:extLst xmlns:a="http://schemas.openxmlformats.org/drawingml/2006/main">
              <a:ext uri="{FF2B5EF4-FFF2-40B4-BE49-F238E27FC236}">
                <a16:creationId xmlns:a16="http://schemas.microsoft.com/office/drawing/2014/main" id="{5B32BE3F-D4A6-4D62-A5DF-99A2B3C6C01C}"/>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A275EC7F-82CF-48C3-AB3E-EE62CF9BEEEA}"/>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12618B1-45D0-4770-8932-2AF935EE6C13}"/>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3916694A-547A-46C4-B654-8B3EF8890F52}"/>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Require expert review before public communications</a:t>
            </a:r>
          </a:p>
        </p:txBody>
      </p:sp>
      <p:sp>
        <p:nvSpPr>
          <p:cNvPr id="12" name="">
            <a:extLst xmlns:a="http://schemas.openxmlformats.org/drawingml/2006/main">
              <a:ext uri="{FF2B5EF4-FFF2-40B4-BE49-F238E27FC236}">
                <a16:creationId xmlns:a16="http://schemas.microsoft.com/office/drawing/2014/main" id="{4FDF9AF2-7D0D-44AA-B829-5AFA2E5A43BF}"/>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B25F154A-991B-48CF-8DF2-0FC00941134E}"/>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5284FB4-65F8-4023-94FD-C4F8E090AE85}"/>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C0FCFC4F-9B84-47C7-947E-6FBAAC0AC107}"/>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Document appeal or correction pathways</a:t>
            </a:r>
          </a:p>
        </p:txBody>
      </p:sp>
      <p:sp>
        <p:nvSpPr>
          <p:cNvPr id="16" name="">
            <a:extLst xmlns:a="http://schemas.openxmlformats.org/drawingml/2006/main">
              <a:ext uri="{FF2B5EF4-FFF2-40B4-BE49-F238E27FC236}">
                <a16:creationId xmlns:a16="http://schemas.microsoft.com/office/drawing/2014/main" id="{087ED593-C164-4F53-81FD-D2C15BEE53B4}"/>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D5FA0A98-FCF5-402C-87D6-D7DBD32FC48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8" name="">
            <a:extLst xmlns:a="http://schemas.openxmlformats.org/drawingml/2006/main">
              <a:ext uri="{FF2B5EF4-FFF2-40B4-BE49-F238E27FC236}">
                <a16:creationId xmlns:a16="http://schemas.microsoft.com/office/drawing/2014/main" id="{88F736DC-9AE6-4C4E-87BD-FA8815967B3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423168726"/>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9C14CD-9743-47E0-9A47-BE27BAD99C7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0A57B329-AC5C-44F2-A633-4BCA8A2B0EE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4A81507C-6D71-49EB-8F65-18E7F8BEB0B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DE21978-BA29-46E3-BB2A-1C0C37A03896}"/>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2D0B11B-F77D-4DED-9271-F2159989E7D7}"/>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60DC5F7E-AB6A-4F7A-A4BE-738F9F5C60BC}"/>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61C54B9A-3A32-422A-9935-D438E2842D1C}"/>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is affected by the workflow and who has been consulted? What decision remains with a named human owner? How can people ask questions, correct information, or challenge an outcome?</a:t>
            </a:r>
          </a:p>
        </p:txBody>
      </p:sp>
      <p:sp>
        <p:nvSpPr>
          <p:cNvPr id="8" name="">
            <a:extLst xmlns:a="http://schemas.openxmlformats.org/drawingml/2006/main">
              <a:ext uri="{FF2B5EF4-FFF2-40B4-BE49-F238E27FC236}">
                <a16:creationId xmlns:a16="http://schemas.microsoft.com/office/drawing/2014/main" id="{35650DF3-795F-45EE-9A10-818659FF7CC0}"/>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FE1EB35-276E-4CC9-B6C4-39AE96B9EE2D}"/>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AD39618F-AB06-4D97-A963-965EA2646C3F}"/>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A8D12317-3B03-4BF9-BBB9-9C41F8FF428D}"/>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For one proposed use case, write a human decision rule that defines what AI may support, what it may recommend, what a human must approve, and what the AI may not do.</a:t>
            </a:r>
          </a:p>
        </p:txBody>
      </p:sp>
      <p:sp>
        <p:nvSpPr>
          <p:cNvPr id="12" name="">
            <a:extLst xmlns:a="http://schemas.openxmlformats.org/drawingml/2006/main">
              <a:ext uri="{FF2B5EF4-FFF2-40B4-BE49-F238E27FC236}">
                <a16:creationId xmlns:a16="http://schemas.microsoft.com/office/drawing/2014/main" id="{88C1F449-B977-4AE7-A29D-472EE827E72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3" name="">
            <a:extLst xmlns:a="http://schemas.openxmlformats.org/drawingml/2006/main">
              <a:ext uri="{FF2B5EF4-FFF2-40B4-BE49-F238E27FC236}">
                <a16:creationId xmlns:a16="http://schemas.microsoft.com/office/drawing/2014/main" id="{B3571F9F-AEC3-4BFA-89B2-F69B1919909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8503333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E6A77C-D16F-4C8F-A368-3292ED59CB1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6377F96-6451-47EB-8D82-238F048F157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94A3A258-15D3-4735-B4DE-D97C0E23F2F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69EE268-D1CE-416A-A034-A6640A036601}"/>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B243598-8E73-4702-B197-D4D46AB1CC5A}"/>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4EF469C8-11E4-4AAA-A4D9-FF41D8AD1A6F}"/>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D7D0F06D-0CAF-4C68-AE73-5D52504D3FBD}"/>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7, 11, 12, 13 and Tools 6, 19, 46.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2DEFF052-127A-4D9C-8AB2-86B6597DC17B}"/>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6B0DADF-4146-4F13-8376-B10B72F4C604}"/>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59B6F652-2131-48E4-9140-41C09571C11F}"/>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5A6328D0-03E3-4F9C-BBAC-2D31A485D687}"/>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Blueprint for an AI Bill of Rights: Principles for automated systems that preserve human agency, notice, explanation, and safeguards. NIST AI Risk Management Framework: Useful for defining human oversight, decision accountability, and risk.</a:t>
            </a:r>
          </a:p>
        </p:txBody>
      </p:sp>
      <p:sp>
        <p:nvSpPr>
          <p:cNvPr id="12" name="">
            <a:extLst xmlns:a="http://schemas.openxmlformats.org/drawingml/2006/main">
              <a:ext uri="{FF2B5EF4-FFF2-40B4-BE49-F238E27FC236}">
                <a16:creationId xmlns:a16="http://schemas.microsoft.com/office/drawing/2014/main" id="{906159C7-B8B7-4B69-A204-AC233AC11B6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Human-Centered AI</a:t>
            </a:r>
          </a:p>
        </p:txBody>
      </p:sp>
      <p:sp>
        <p:nvSpPr>
          <p:cNvPr id="13" name="">
            <a:extLst xmlns:a="http://schemas.openxmlformats.org/drawingml/2006/main">
              <a:ext uri="{FF2B5EF4-FFF2-40B4-BE49-F238E27FC236}">
                <a16:creationId xmlns:a16="http://schemas.microsoft.com/office/drawing/2014/main" id="{73A4111C-E42E-42C5-A6B5-8629EAB3695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6419068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2026-07-02T17:47:02.5190000Z</dcterms:created>
  <dcterms:modified xsi:type="dcterms:W3CDTF">2026-07-02T17:47:02.5190000Z</dcterms:modified>
</coreProperties>
</file>