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GOV 130 Tribal Consultation and Data Sharing Agreements for AI Projects
This module builds on introductory Tribal sovereignty and Indigenous Data Governance training by focusing on practical consultation and agreement-building for AI projects. It is intended for public health staff who may plan, support, evaluate, or govern AI projects involving Tribal Nations, Tribal citizens, American Indian and Alaska Native data, or data that may affect Tribal communities. The module emphasizes that AI projects should not begin with data extraction, vendor selection, platform testing, or model development before appropriate Tribal engagement and approvals occur. Because every Tribal Nation is a sovereign government, there is no single national template that can substitute for Tribal law, Tribal policy, Tribal research review, Tribal IRB requirements, or formal consultation. This module provides a structured way to identify what must be discussed, documented, and agreed upon. It is not legal advice and should be adapted through Tribal partnership, agency counsel, privacy review, data governance, and leadership approval.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Intermediate
Primary track: Governance and Security
Appears in tracks: governance-security
This module builds on introductory Tribal sovereignty and Indigenous Data Governance training by focusing on practical consultation and agreement-building for AI projects. It is intended for public health staff who may plan, support, evaluate, or govern AI projects involving Tribal Nations, Tribal citizens, American Indian and Alaska Native data, or data that may affect Tribal communities. The module emphasizes that AI projects should not begin with data extraction, vendor selection, platform testing, or model development before appropriate Tribal engagement and approvals occur. Because every Tribal Nation is a sovereign government, there is no single national template that can substitute for Tribal law, Tribal policy, Tribal research review, Tribal IRB requirements, or formal consultation. This module provides a structured way to identify what must be discussed, documented, and agreed upon. It is not legal advice and should be adapted through Tribal partnership, agency counsel, privacy review, data governance, and leadership approval.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Explain why Tribal consultation and data sharing agreements are essential for AI projects involving Tribal Nations or AI/AN data.
Identify data, geography, linkage, and platform risks that may affect Tribal sovereignty.
Describe key topics that should be addressed in a Tribal data sharing agreement for an AI project.
Apply the CARE Principles to an AI project planning scenario.
Create a consultation and agreement planning checklist for a proposed AI use case.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This module builds on introductory Tribal sovereignty and Indigenous Data Governance training by focusing on practical consultation and agreement-building for AI projects. It is intended for public health staff who may plan, support, evaluate, or govern AI projects involving Tribal Nations, Tribal citizens, American Indian and Alaska Native data, or data that may affect Tribal communities. The module emphasizes that AI projects should not begin with data extraction, vendor selection, platform testing, or model development before appropriate Tribal engagement and approvals occur.
Because every Tribal Nation is a sovereign government, there is no single national template that can substitute for Tribal law, Tribal policy, Tribal research review, Tribal IRB requirements, or formal consultation. This module provides a structured way to identify what must be discussed, documented, and agreed upon. It is not legal advice and should be adapted through Tribal partnership, agency counsel, privacy review, data governance, and leadership approval.
Application guidance: Connect the concept to data quality, model performance, validation evidence, monitoring measures, and decisions that remain under human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Jurisdiction and Agency Policy Note
This national-level module is intended for training and planning purposes. It does not replace legal, privacy, procurement, civil rights, records, cybersecurity, Tribal consultation, labor relations, human resources, or agency policy review. Learners should confirm applicable requirements in their own jurisdiction and organization before implementing AI-supported workflows.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AI projects can create new risks for Tribal data because models may combine, infer, summarize, or reuse data in ways that were not anticipated when data were collected. Health data that appear administrative or de-identified may still reveal sensitive information about a Tribal community, small population, place, service, condition, or historical experience. AI can also produce outputs that misinterpret Tribal context, reinforce stereotypes, or support decisions without Tribal authority or community benefit.
Tribal consultation and data sharing agreements help ensure that AI projects respect sovereignty, self-determination, and community priorities. They also help public health agencies understand whether a proposed use is acceptable, what approvals are required, what data may be used, where data may be stored, who may access outputs, and how benefits and risks should be shared. These agreements are part of responsible AI governance, not a separate administrative task.
Application guidance: Connect the concept to data quality, model performance, validation evidence, monitoring measures, and decisions that remain under human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state health department wants to use AI to identify patterns in emergency department visit notes related to respiratory illness. Some hospitals serve Tribal communities, and the data include geography, facility names, and contextual notes that could allow inference about Tribal communities even if Tribal affiliation is not directly recorded. The project team initially views the data as a statewide surveillance dataset.
Before model development begins, the agency pauses to determine whether Tribal consultation is needed and whether existing data agreements permit AI-supported analysis. The agency engages Tribal public health representatives, legal counsel, privacy officers, data stewards, and governance reviewers. The project is revised to define permissible uses, prohibit inference of Tribal affiliation, restrict vendor access, require Tribal review of community-level outputs, and establish a process for reporting findings back to participating Tribal partners.
Application guidance: Connect the concept to data quality, model performance, validation evidence, monitoring measures, and decisions that remain under human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Programmatic, and Operational Deep Dive
AI project teams should begin with a sovereignty impact review. This review asks whether the project uses data from Tribal citizens, Tribal programs, Tribal lands, Tribal-serving facilities, Tribal partners, or communities where outputs could affect Tribal interests. It should also ask whether geography, small numbers, service patterns, names, or contextual information could be used to infer Tribal affiliation or community characteristics.
Consultation and agreement development should address the full AI lifecycle. This includes data collection, cleaning, labeling, linkage, preprocessing, feature selection, model development, validation, deployment, monitoring, publication, reuse, and retirement. Agreements should also address whether AI tools may use external platforms, whether vendors can access data, and whether prompts or outputs become records that require review.
Cultural humility is essential. Staff should approach Tribal partnership with respect for sovereignty, history, community priorities, and the limits of their own knowledge. Cultural competence training may help, but it does not replace relationship-building, listening, formal consultation, or adherence to Tribal laws and review processes.
Application guidance: Connect the concept to data quality, model performance, validation evidence, monitoring measures, and decisions that remain under human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A significant failure mode is treating Tribal data as ordinary state or local administrative data. This can result in AI projects that ignore Tribal authority, bypass Tribal review, or use data for purposes that were never agreed upon. Guardrails include early sovereignty screening, formal consultation, review of data agreements, and Tribal approval before AI development begins.
Another risk is indirect identification or inference. AI systems may infer Tribal affiliation, community characteristics, or sensitive patterns from geography, facility use, small cell sizes, language, service context, or linked data. Guardrails include prohibiting inference of Tribal affiliation, limiting geographic granularity, reviewing small-number outputs, restricting linkage, and requiring Tribal review of community-level findings.
A third risk is using external AI platforms without explicit approval. Uploading Tribal health data, transcripts, notes, or community feedback into an external AI tool can create storage, reuse, access, and jurisdictional concerns. Guardrails include approved environments, vendor restrictions, data minimization, prompt/output controls, and explicit agreement language before any AI platform is used.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An AI-supported workflow involving Tribal data should include a consultation checkpoint before data preparation begins. The workflow should define who determines whether Tribal consultation is needed, who contacts Tribal partners, what documentation is required, and what approvals must be obtained. It should also define how changes to the AI use case will be reviewed after approval.
Workflows should also include ongoing accountability. Tribal partners may need opportunities to review outputs, interpret findings, request corrections, receive results, and decide whether continued use is appropriate. Governance should not end when a data sharing agreement is signed; it should continue through monitoring, reporting, and lifecycle decisions.
Application guidance: Connect the concept to data quality, model performance, validation evidence, monitoring measures, and decisions that remain under human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Could the proposed AI project affect Tribal Nations or AI/AN communities even if Tribal affiliation is not directly recorded?
What approvals, agreements, or review bodies must be consulted before data are used?
How will Tribal partners retain authority over interpretation, sharing, and reuse of project outputs?
Application guidance: Connect the concept to data quality, model performance, validation evidence, monitoring measures, and decisions that remain under human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Develop a Tribal consultation and data sharing agreement planning checklist for a fictional AI project. Choose a use case such as surveillance text analysis, community health needs assessment summarization, resource allocation modeling, or program evaluation involving data that may affect Tribal communities. Do not use real Tribal data or name a specific Tribal Nation unless the example is fully fictional and clearly labeled.
Your checklist should identify the data involved, possible Tribal interests, consultation triggers, review bodies, agreement topics, platform restrictions, output review needs, benefit-sharing considerations, and unresolved questions for legal, privacy, Tribal, and governance review.
Example: A fictional project proposes AI-assisted analysis of emergency preparedness survey comments from a region that includes Tribal communities. The checklist notes that consultation is needed before analysis, external AI platforms are not allowed unless approved, outputs should not identify small communities, and Tribal partners should review interpretation and dissemination plans before findings are shared.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Tribal Consultation and AI Data Sharing Planning Checklist
List of unresolved review questions and approval needs
Application guidance: Connect the concept to data quality, model performance, validation evidence, monitoring measures, and decisions that remain under human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the most important first step after completing the Tribal Consultation and Data Sharing Agreements for AI Projects module?
2. Which practice best supports responsible AI use in public health?
3. Which statement best reflects the risk or guardrail for this module: A significant failure mode is treating Tribal data as ordinary state or local administrative data. This can result in AI projects that ignore Tribal authority, bypass Tribal review, or use data for purposes that were never agreed upon. Guardrails include early sovereignty screening, formal consultation, review of data agreements, and Tribal approval before AI development begins.
Another risk is indirect identification or inference. AI systems may infer Tribal affiliation, community characteristics, or sensitive patterns from geography, facility use, small cell sizes, language, service context, or linked data. Guardrails include prohibiting inference of Tribal affiliation, limiting geographic granularity, reviewing small-number outputs, restricting linkage, and requiring Tribal review of community-level findings.
A third risk is using external AI platforms without explicit approval. Uploading Tribal health data, transcripts, notes, or community feedback into an external AI tool can create storage, reuse, access, and jurisdictional concerns. Guardrails include approved environments, vendor restrictions, data minimization, prompt/output controls, and explicit agreement language before any AI platform is used.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4. When should a staff member escalate an AI-related concern?
5. What counts as stronger completion evidence for a training module?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[object Object]
[object Object]
[object Object]
[object Object]
[object Object]
Application guidance: Connect the concept to data quality, model performance, validation evidence, monitoring measures, and decisions that remain under human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[object Object]
[object Object]
[object Object]
Application guidance: Connect the concept to data quality, model performance, validation evidence, monitoring measures, and decisions that remain under human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GOV 130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Tribal Consultation and Data Sharing Agreements for AI Projects</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Tribal Consultation and Data Sharing Agreements for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This module builds on introductory Tribal sovereignty and Indigenous Data.</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It is intended for public health staff who may plan, support, evaluate, or.</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The module emphasizes that AI projects should not begin with data.</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45336"/>
            <a:ext cx="28254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Module details</a:t>
            </a:r>
            <a:endParaRPr lang="en-US" sz="1220" dirty="0"/>
          </a:p>
        </p:txBody>
      </p:sp>
      <p:sp>
        <p:nvSpPr>
          <p:cNvPr id="12" name="Text 10"/>
          <p:cNvSpPr/>
          <p:nvPr/>
        </p:nvSpPr>
        <p:spPr>
          <a:xfrm>
            <a:off x="8074152" y="1856232"/>
            <a:ext cx="2825496" cy="1408176"/>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Level: Intermediate Primary track: Governance and Security Appears in tracks:.</a:t>
            </a:r>
            <a:endParaRPr lang="en-US" sz="1220" dirty="0"/>
          </a:p>
        </p:txBody>
      </p:sp>
      <p:sp>
        <p:nvSpPr>
          <p:cNvPr id="13" name="Shape 11"/>
          <p:cNvSpPr/>
          <p:nvPr/>
        </p:nvSpPr>
        <p:spPr>
          <a:xfrm>
            <a:off x="7909560" y="3675888"/>
            <a:ext cx="3154680" cy="1691640"/>
          </a:xfrm>
          <a:prstGeom prst="roundRect">
            <a:avLst>
              <a:gd name="adj" fmla="val 6486"/>
            </a:avLst>
          </a:prstGeom>
          <a:solidFill>
            <a:srgbClr val="FFFFFF"/>
          </a:solidFill>
          <a:ln w="12700">
            <a:solidFill>
              <a:srgbClr val="B9D7E6"/>
            </a:solidFill>
            <a:prstDash val="solid"/>
          </a:ln>
        </p:spPr>
      </p:sp>
      <p:sp>
        <p:nvSpPr>
          <p:cNvPr id="14" name="Text 12"/>
          <p:cNvSpPr/>
          <p:nvPr/>
        </p:nvSpPr>
        <p:spPr>
          <a:xfrm>
            <a:off x="8074152" y="3803904"/>
            <a:ext cx="28254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Learning sequence</a:t>
            </a:r>
            <a:endParaRPr lang="en-US" sz="1220" dirty="0"/>
          </a:p>
        </p:txBody>
      </p:sp>
      <p:sp>
        <p:nvSpPr>
          <p:cNvPr id="15" name="Text 13"/>
          <p:cNvSpPr/>
          <p:nvPr/>
        </p:nvSpPr>
        <p:spPr>
          <a:xfrm>
            <a:off x="8092440" y="4133088"/>
            <a:ext cx="2770632" cy="1124712"/>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Read the module for shared vocabulary and context.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Complete the practical exercise to apply the.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Use the notes and references for deeper review.</a:t>
            </a:r>
            <a:endParaRPr lang="en-US" sz="114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Tribal Consultation and Data Sharing Agreements for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Explain why Tribal consultation and data sharing agreements are essential.</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Identify data, geography, linkage, and platform risks that may affect Tribal.</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Describe key topics that should be addressed in a Tribal data sharing.</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Data decision</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Explain why Tribal consultation and data sharing agreements are essential for AI.</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Explain why Tribal consultation and data sharing.</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Apply the CARE Principles to an AI project.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Create a consultation and agreement planning.</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How to validate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Tribal Consultation and Data Sharing Agreements for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This module builds on introductory Tribal sovereignty and Indigenous Data.</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It is intended for public health staff who may plan, support, evaluate, or.</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module emphasizes that AI projects should not begin with data.</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Data decision</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This module builds on introductory Tribal sovereignty and Indigenous Data.</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19456"/>
          </a:xfrm>
          <a:prstGeom prst="rect">
            <a:avLst/>
          </a:prstGeom>
          <a:noFill/>
          <a:ln/>
        </p:spPr>
        <p:txBody>
          <a:bodyPr wrap="square" lIns="0" tIns="0" rIns="0" bIns="0" rtlCol="0" anchor="ctr">
            <a:normAutofit/>
          </a:bodyPr>
          <a:lstStyle/>
          <a:p>
            <a:pPr indent="0" marL="0">
              <a:buNone/>
            </a:pPr>
            <a:r>
              <a:rPr lang="en-US" sz="1160" b="1" dirty="0">
                <a:solidFill>
                  <a:srgbClr val="0068B7"/>
                </a:solidFill>
                <a:latin typeface="Aptos" pitchFamily="34" charset="0"/>
                <a:ea typeface="Aptos" pitchFamily="34" charset="-122"/>
                <a:cs typeface="Aptos" pitchFamily="34" charset="-120"/>
              </a:rPr>
              <a:t>Data-to-decision flow</a:t>
            </a:r>
            <a:endParaRPr lang="en-US" sz="1160" dirty="0"/>
          </a:p>
        </p:txBody>
      </p:sp>
      <p:sp>
        <p:nvSpPr>
          <p:cNvPr id="15" name="Shape 13"/>
          <p:cNvSpPr/>
          <p:nvPr/>
        </p:nvSpPr>
        <p:spPr>
          <a:xfrm>
            <a:off x="8717280" y="3406140"/>
            <a:ext cx="164592" cy="0"/>
          </a:xfrm>
          <a:prstGeom prst="line">
            <a:avLst/>
          </a:prstGeom>
          <a:noFill/>
          <a:ln w="15240">
            <a:solidFill>
              <a:srgbClr val="8ABBD8"/>
            </a:solidFill>
            <a:prstDash val="solid"/>
          </a:ln>
        </p:spPr>
      </p:sp>
      <p:sp>
        <p:nvSpPr>
          <p:cNvPr id="16" name="Shape 14"/>
          <p:cNvSpPr/>
          <p:nvPr/>
        </p:nvSpPr>
        <p:spPr>
          <a:xfrm>
            <a:off x="7781544" y="3255264"/>
            <a:ext cx="93573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818120"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Data</a:t>
            </a:r>
            <a:endParaRPr lang="en-US" sz="880" dirty="0"/>
          </a:p>
        </p:txBody>
      </p:sp>
      <p:sp>
        <p:nvSpPr>
          <p:cNvPr id="18" name="Shape 16"/>
          <p:cNvSpPr/>
          <p:nvPr/>
        </p:nvSpPr>
        <p:spPr>
          <a:xfrm>
            <a:off x="9817608" y="3406140"/>
            <a:ext cx="164592" cy="0"/>
          </a:xfrm>
          <a:prstGeom prst="line">
            <a:avLst/>
          </a:prstGeom>
          <a:noFill/>
          <a:ln w="15240">
            <a:solidFill>
              <a:srgbClr val="8ABBD8"/>
            </a:solidFill>
            <a:prstDash val="solid"/>
          </a:ln>
        </p:spPr>
      </p:sp>
      <p:sp>
        <p:nvSpPr>
          <p:cNvPr id="19" name="Shape 17"/>
          <p:cNvSpPr/>
          <p:nvPr/>
        </p:nvSpPr>
        <p:spPr>
          <a:xfrm>
            <a:off x="8881872" y="3255264"/>
            <a:ext cx="93573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18448"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Analysis</a:t>
            </a:r>
            <a:endParaRPr lang="en-US" sz="880" dirty="0"/>
          </a:p>
        </p:txBody>
      </p:sp>
      <p:sp>
        <p:nvSpPr>
          <p:cNvPr id="21" name="Shape 19"/>
          <p:cNvSpPr/>
          <p:nvPr/>
        </p:nvSpPr>
        <p:spPr>
          <a:xfrm>
            <a:off x="9982200" y="3255264"/>
            <a:ext cx="93573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Review</a:t>
            </a:r>
            <a:endParaRPr lang="en-US" sz="880" dirty="0"/>
          </a:p>
        </p:txBody>
      </p:sp>
      <p:sp>
        <p:nvSpPr>
          <p:cNvPr id="23" name="Text 21"/>
          <p:cNvSpPr/>
          <p:nvPr/>
        </p:nvSpPr>
        <p:spPr>
          <a:xfrm>
            <a:off x="7763256" y="3749040"/>
            <a:ext cx="3172968" cy="356616"/>
          </a:xfrm>
          <a:prstGeom prst="rect">
            <a:avLst/>
          </a:prstGeom>
          <a:noFill/>
          <a:ln/>
        </p:spPr>
        <p:txBody>
          <a:bodyPr wrap="square" lIns="254" tIns="254" rIns="254" bIns="254" rtlCol="0" anchor="t">
            <a:normAutofit/>
          </a:bodyPr>
          <a:lstStyle/>
          <a:p>
            <a:pPr indent="0" marL="0">
              <a:buNone/>
            </a:pPr>
            <a:r>
              <a:rPr lang="en-US" sz="1040" dirty="0">
                <a:solidFill>
                  <a:srgbClr val="17364A"/>
                </a:solidFill>
                <a:latin typeface="Aptos" pitchFamily="34" charset="0"/>
                <a:ea typeface="Aptos" pitchFamily="34" charset="-122"/>
                <a:cs typeface="Aptos" pitchFamily="34" charset="-120"/>
              </a:rPr>
              <a:t>The important handoff is not from data to AI; it is from analysis to.</a:t>
            </a:r>
            <a:endParaRPr lang="en-US" sz="1040" dirty="0"/>
          </a:p>
        </p:txBody>
      </p:sp>
      <p:sp>
        <p:nvSpPr>
          <p:cNvPr id="24" name="Shape 22"/>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25" name="Text 23"/>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How to validate</a:t>
            </a:r>
            <a:endParaRPr lang="en-US" sz="1220" dirty="0"/>
          </a:p>
        </p:txBody>
      </p:sp>
      <p:sp>
        <p:nvSpPr>
          <p:cNvPr id="26" name="Text 24"/>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data quality, model performance, validation evidence,.</a:t>
            </a:r>
            <a:endParaRPr lang="en-US" sz="12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Tribal Consultation and Data Sharing Agreements for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Jurisdiction and Agency Policy Note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This national-level module is intended for training and planning purposes.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It does not replace legal, privacy, procurement, civil rights, records,.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Learners should confirm applicable requirements in their own jurisdiction.</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Governance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This national-level module is intended for training and planning purposes.</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19456"/>
          </a:xfrm>
          <a:prstGeom prst="rect">
            <a:avLst/>
          </a:prstGeom>
          <a:noFill/>
          <a:ln/>
        </p:spPr>
        <p:txBody>
          <a:bodyPr wrap="square" lIns="0" tIns="0" rIns="0" bIns="0" rtlCol="0" anchor="ctr">
            <a:normAutofit/>
          </a:bodyPr>
          <a:lstStyle/>
          <a:p>
            <a:pPr indent="0" marL="0">
              <a:buNone/>
            </a:pPr>
            <a:r>
              <a:rPr lang="en-US" sz="1160" b="1" dirty="0">
                <a:solidFill>
                  <a:srgbClr val="0068B7"/>
                </a:solidFill>
                <a:latin typeface="Aptos" pitchFamily="34" charset="0"/>
                <a:ea typeface="Aptos" pitchFamily="34" charset="-122"/>
                <a:cs typeface="Aptos" pitchFamily="34" charset="-120"/>
              </a:rPr>
              <a:t>Governance pathway</a:t>
            </a:r>
            <a:endParaRPr lang="en-US" sz="1160" dirty="0"/>
          </a:p>
        </p:txBody>
      </p:sp>
      <p:sp>
        <p:nvSpPr>
          <p:cNvPr id="15" name="Shape 13"/>
          <p:cNvSpPr/>
          <p:nvPr/>
        </p:nvSpPr>
        <p:spPr>
          <a:xfrm>
            <a:off x="8717280" y="3406140"/>
            <a:ext cx="164592" cy="0"/>
          </a:xfrm>
          <a:prstGeom prst="line">
            <a:avLst/>
          </a:prstGeom>
          <a:noFill/>
          <a:ln w="15240">
            <a:solidFill>
              <a:srgbClr val="8ABBD8"/>
            </a:solidFill>
            <a:prstDash val="solid"/>
          </a:ln>
        </p:spPr>
      </p:sp>
      <p:sp>
        <p:nvSpPr>
          <p:cNvPr id="16" name="Shape 14"/>
          <p:cNvSpPr/>
          <p:nvPr/>
        </p:nvSpPr>
        <p:spPr>
          <a:xfrm>
            <a:off x="7781544" y="3255264"/>
            <a:ext cx="93573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818120"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Submit</a:t>
            </a:r>
            <a:endParaRPr lang="en-US" sz="880" dirty="0"/>
          </a:p>
        </p:txBody>
      </p:sp>
      <p:sp>
        <p:nvSpPr>
          <p:cNvPr id="18" name="Shape 16"/>
          <p:cNvSpPr/>
          <p:nvPr/>
        </p:nvSpPr>
        <p:spPr>
          <a:xfrm>
            <a:off x="9817608" y="3406140"/>
            <a:ext cx="164592" cy="0"/>
          </a:xfrm>
          <a:prstGeom prst="line">
            <a:avLst/>
          </a:prstGeom>
          <a:noFill/>
          <a:ln w="15240">
            <a:solidFill>
              <a:srgbClr val="8ABBD8"/>
            </a:solidFill>
            <a:prstDash val="solid"/>
          </a:ln>
        </p:spPr>
      </p:sp>
      <p:sp>
        <p:nvSpPr>
          <p:cNvPr id="19" name="Shape 17"/>
          <p:cNvSpPr/>
          <p:nvPr/>
        </p:nvSpPr>
        <p:spPr>
          <a:xfrm>
            <a:off x="8881872" y="3255264"/>
            <a:ext cx="93573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18448"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Review</a:t>
            </a:r>
            <a:endParaRPr lang="en-US" sz="880" dirty="0"/>
          </a:p>
        </p:txBody>
      </p:sp>
      <p:sp>
        <p:nvSpPr>
          <p:cNvPr id="21" name="Shape 19"/>
          <p:cNvSpPr/>
          <p:nvPr/>
        </p:nvSpPr>
        <p:spPr>
          <a:xfrm>
            <a:off x="9982200" y="3255264"/>
            <a:ext cx="93573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Oversee</a:t>
            </a:r>
            <a:endParaRPr lang="en-US" sz="880" dirty="0"/>
          </a:p>
        </p:txBody>
      </p:sp>
      <p:sp>
        <p:nvSpPr>
          <p:cNvPr id="23" name="Text 21"/>
          <p:cNvSpPr/>
          <p:nvPr/>
        </p:nvSpPr>
        <p:spPr>
          <a:xfrm>
            <a:off x="7763256" y="3749040"/>
            <a:ext cx="3172968" cy="356616"/>
          </a:xfrm>
          <a:prstGeom prst="rect">
            <a:avLst/>
          </a:prstGeom>
          <a:noFill/>
          <a:ln/>
        </p:spPr>
        <p:txBody>
          <a:bodyPr wrap="square" lIns="254" tIns="254" rIns="254" bIns="254" rtlCol="0" anchor="t">
            <a:normAutofit/>
          </a:bodyPr>
          <a:lstStyle/>
          <a:p>
            <a:pPr indent="0" marL="0">
              <a:buNone/>
            </a:pPr>
            <a:r>
              <a:rPr lang="en-US" sz="1040" dirty="0">
                <a:solidFill>
                  <a:srgbClr val="17364A"/>
                </a:solidFill>
                <a:latin typeface="Aptos" pitchFamily="34" charset="0"/>
                <a:ea typeface="Aptos" pitchFamily="34" charset="-122"/>
                <a:cs typeface="Aptos" pitchFamily="34" charset="-120"/>
              </a:rPr>
              <a:t>A proposed AI use should move through documented review before it.</a:t>
            </a:r>
            <a:endParaRPr lang="en-US" sz="1040" dirty="0"/>
          </a:p>
        </p:txBody>
      </p:sp>
      <p:sp>
        <p:nvSpPr>
          <p:cNvPr id="24" name="Shape 22"/>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25" name="Text 23"/>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document</a:t>
            </a:r>
            <a:endParaRPr lang="en-US" sz="1220" dirty="0"/>
          </a:p>
        </p:txBody>
      </p:sp>
      <p:sp>
        <p:nvSpPr>
          <p:cNvPr id="26" name="Text 24"/>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Translate this concept into clear decision rights, review steps, documentation.</a:t>
            </a:r>
            <a:endParaRPr lang="en-US" sz="12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Tribal Consultation and Data Sharing Agreements for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AI projects can create new risks for Tribal data because models may combine,.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Health data that appear administrative or de-identified may still reveal.</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AI can also produce outputs that misinterpret Tribal context, reinforce.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Data decision</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AI projects can create new risks for Tribal data because models may combine,.</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19456"/>
          </a:xfrm>
          <a:prstGeom prst="rect">
            <a:avLst/>
          </a:prstGeom>
          <a:noFill/>
          <a:ln/>
        </p:spPr>
        <p:txBody>
          <a:bodyPr wrap="square" lIns="0" tIns="0" rIns="0" bIns="0" rtlCol="0" anchor="ctr">
            <a:normAutofit/>
          </a:bodyPr>
          <a:lstStyle/>
          <a:p>
            <a:pPr indent="0" marL="0">
              <a:buNone/>
            </a:pPr>
            <a:r>
              <a:rPr lang="en-US" sz="1160" b="1" dirty="0">
                <a:solidFill>
                  <a:srgbClr val="0068B7"/>
                </a:solidFill>
                <a:latin typeface="Aptos" pitchFamily="34" charset="0"/>
                <a:ea typeface="Aptos" pitchFamily="34" charset="-122"/>
                <a:cs typeface="Aptos" pitchFamily="34" charset="-120"/>
              </a:rPr>
              <a:t>Data-to-decision flow</a:t>
            </a:r>
            <a:endParaRPr lang="en-US" sz="1160" dirty="0"/>
          </a:p>
        </p:txBody>
      </p:sp>
      <p:sp>
        <p:nvSpPr>
          <p:cNvPr id="15" name="Shape 13"/>
          <p:cNvSpPr/>
          <p:nvPr/>
        </p:nvSpPr>
        <p:spPr>
          <a:xfrm>
            <a:off x="8717280" y="3406140"/>
            <a:ext cx="164592" cy="0"/>
          </a:xfrm>
          <a:prstGeom prst="line">
            <a:avLst/>
          </a:prstGeom>
          <a:noFill/>
          <a:ln w="15240">
            <a:solidFill>
              <a:srgbClr val="8ABBD8"/>
            </a:solidFill>
            <a:prstDash val="solid"/>
          </a:ln>
        </p:spPr>
      </p:sp>
      <p:sp>
        <p:nvSpPr>
          <p:cNvPr id="16" name="Shape 14"/>
          <p:cNvSpPr/>
          <p:nvPr/>
        </p:nvSpPr>
        <p:spPr>
          <a:xfrm>
            <a:off x="7781544" y="3255264"/>
            <a:ext cx="93573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818120"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Data</a:t>
            </a:r>
            <a:endParaRPr lang="en-US" sz="880" dirty="0"/>
          </a:p>
        </p:txBody>
      </p:sp>
      <p:sp>
        <p:nvSpPr>
          <p:cNvPr id="18" name="Shape 16"/>
          <p:cNvSpPr/>
          <p:nvPr/>
        </p:nvSpPr>
        <p:spPr>
          <a:xfrm>
            <a:off x="9817608" y="3406140"/>
            <a:ext cx="164592" cy="0"/>
          </a:xfrm>
          <a:prstGeom prst="line">
            <a:avLst/>
          </a:prstGeom>
          <a:noFill/>
          <a:ln w="15240">
            <a:solidFill>
              <a:srgbClr val="8ABBD8"/>
            </a:solidFill>
            <a:prstDash val="solid"/>
          </a:ln>
        </p:spPr>
      </p:sp>
      <p:sp>
        <p:nvSpPr>
          <p:cNvPr id="19" name="Shape 17"/>
          <p:cNvSpPr/>
          <p:nvPr/>
        </p:nvSpPr>
        <p:spPr>
          <a:xfrm>
            <a:off x="8881872" y="3255264"/>
            <a:ext cx="93573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18448"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Analysis</a:t>
            </a:r>
            <a:endParaRPr lang="en-US" sz="880" dirty="0"/>
          </a:p>
        </p:txBody>
      </p:sp>
      <p:sp>
        <p:nvSpPr>
          <p:cNvPr id="21" name="Shape 19"/>
          <p:cNvSpPr/>
          <p:nvPr/>
        </p:nvSpPr>
        <p:spPr>
          <a:xfrm>
            <a:off x="9982200" y="3255264"/>
            <a:ext cx="93573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Review</a:t>
            </a:r>
            <a:endParaRPr lang="en-US" sz="880" dirty="0"/>
          </a:p>
        </p:txBody>
      </p:sp>
      <p:sp>
        <p:nvSpPr>
          <p:cNvPr id="23" name="Text 21"/>
          <p:cNvSpPr/>
          <p:nvPr/>
        </p:nvSpPr>
        <p:spPr>
          <a:xfrm>
            <a:off x="7763256" y="3749040"/>
            <a:ext cx="3172968" cy="356616"/>
          </a:xfrm>
          <a:prstGeom prst="rect">
            <a:avLst/>
          </a:prstGeom>
          <a:noFill/>
          <a:ln/>
        </p:spPr>
        <p:txBody>
          <a:bodyPr wrap="square" lIns="254" tIns="254" rIns="254" bIns="254" rtlCol="0" anchor="t">
            <a:normAutofit/>
          </a:bodyPr>
          <a:lstStyle/>
          <a:p>
            <a:pPr indent="0" marL="0">
              <a:buNone/>
            </a:pPr>
            <a:r>
              <a:rPr lang="en-US" sz="1040" dirty="0">
                <a:solidFill>
                  <a:srgbClr val="17364A"/>
                </a:solidFill>
                <a:latin typeface="Aptos" pitchFamily="34" charset="0"/>
                <a:ea typeface="Aptos" pitchFamily="34" charset="-122"/>
                <a:cs typeface="Aptos" pitchFamily="34" charset="-120"/>
              </a:rPr>
              <a:t>The important handoff is not from data to AI; it is from analysis to.</a:t>
            </a:r>
            <a:endParaRPr lang="en-US" sz="1040" dirty="0"/>
          </a:p>
        </p:txBody>
      </p:sp>
      <p:sp>
        <p:nvSpPr>
          <p:cNvPr id="24" name="Shape 22"/>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25" name="Text 23"/>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How to validate</a:t>
            </a:r>
            <a:endParaRPr lang="en-US" sz="1220" dirty="0"/>
          </a:p>
        </p:txBody>
      </p:sp>
      <p:sp>
        <p:nvSpPr>
          <p:cNvPr id="26" name="Text 24"/>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data quality, model performance, validation evidence,.</a:t>
            </a:r>
            <a:endParaRPr lang="en-US" sz="12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Tribal Consultation and Data Sharing Agreements for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 state health department wants to use AI to identify patterns in emergency.</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Some hospitals serve Tribal communities, and the data include geography,.</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project team initially views the data as a statewide surveillance dataset.</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Data decision</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 state health department wants to use AI to identify patterns in emergency.</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A state health department wants to use AI to.</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Some hospitals serve Tribal communities, and the.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Before model development begins, the agency pauses.</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How to validate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data quality, model performance, validation evidence,.</a:t>
            </a:r>
            <a:endParaRPr lang="en-US" sz="12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Tribal Consultation and Data Sharing Agreements for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Programmatic, and Operational Deep Dive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AI project teams should begin with a sovereignty impact review.</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This review asks whether the project uses data from Tribal citizens, Tribal.</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It should also ask whether geography, small numbers, service patterns,.</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Data decision</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AI project teams should begin with a sovereignty impact review.</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This review asks whether the project uses data.</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It should also ask whether geography, small.</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Consultation and agreement development should.</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How to validate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data quality, model performance, validation evidence,.</a:t>
            </a:r>
            <a:endParaRPr lang="en-US" sz="12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Tribal Consultation and Data Sharing Agreements for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 significant failure mode is treating Tribal data as ordinary state or.</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This can result in AI projects that ignore Tribal authority, bypass Tribal.</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Guardrails include early sovereignty screening, formal consultation, review.</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Risk check</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 significant failure mode is treating Tribal data as ordinary state or local.</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This can result in AI projects that ignore Tribal.</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Guardrails include early sovereignty screening,.</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Another risk is indirect identification or.</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Safeguard to plan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Identify what could go wrong, who could be affected, what safeguards are needed,.</a:t>
            </a:r>
            <a:endParaRPr lang="en-US" sz="12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Tribal Consultation and Data Sharing Agreements for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An AI-supported workflow involving Tribal data should include a consultation.</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workflow should define who determines whether Tribal consultation is.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It should also define how changes to the AI use case will be reviewed after.</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Data decision</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An AI-supported workflow involving Tribal data should include a consultation.</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An AI-supported workflow involving Tribal data.</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The workflow should define who determines whether.</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Workflows should also include ongoing.</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How to validate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data quality, model performance, validation evidence,.</a:t>
            </a:r>
            <a:endParaRPr lang="en-US" sz="12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Tribal Consultation and Data Sharing Agreements for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Could the proposed AI project affect Tribal Nations or AI/AN communities.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What approvals, agreements, or review bodies must be consulted before data.</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How will Tribal partners retain authority over interpretation, sharing, and.</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Data decision</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Could the proposed AI project affect Tribal Nations or AI/AN communities even if.</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Could the proposed AI project affect Tribal.</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What approvals, agreements, or review bodies must.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How will Tribal partners retain authority over.</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How to validate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data quality, model performance, validation evidence,.</a:t>
            </a:r>
            <a:endParaRPr lang="en-US" sz="12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Tribal Consultation and Data Sharing Agreements for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Develop a Tribal consultation and data sharing agreement planning checklist.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Choose a use case such as surveillance text analysis, community health needs.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Do not use real Tribal data or name a specific Tribal Nation unless the.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Data decision</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Develop a Tribal consultation and data sharing agreement planning checklist for.</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Choose a use case such as surveillance text.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Do not use real Tribal data or name a specific.</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Your checklist should identify the data involved,.</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How to validate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Tribal Consultation and Data Sharing Agreements for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Tribal Consultation and AI Data Sharing Planning Checklist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List of unresolved review questions and approval needs</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Data decision</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Tribal Consultation and AI Data Sharing Planning Checklist</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Tribal Consultation and AI Data Sharing Planning.</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List of unresolved review questions and approval.</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How to validate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data quality, model performance, validation evidence,.</a:t>
            </a:r>
            <a:endParaRPr lang="en-US" sz="12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Tribal Consultation and Data Sharing Agreements for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1. What is the most important first step after completing the Tribal.</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2. Which practice best supports responsible AI use in public health?</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3. Which statement best reflects the risk or guardrail for this module: A.</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Data decision</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What is the most important first step after completing the Tribal Consultation.</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What is the most important first step after.</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How to validate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Tribal Consultation and Data Sharing Agreements for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 Continued</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4. When should a staff member escalate an AI-related concern?</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5. What counts as stronger completion evidence for a training module?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Data decision</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When should a staff member escalate an AI-related concern?</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When should a staff member escalate an AI-related.</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How to validate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Tribal Consultation and Data Sharing Agreements for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[object Object]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[object Object]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[object Object]</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Data decision</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[object Object]</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[object Object]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[object Object]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[object Object]</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How to validate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data quality, model performance, validation evidence,.</a:t>
            </a:r>
            <a:endParaRPr lang="en-US" sz="122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Tribal Consultation and Data Sharing Agreements for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 Continued</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[object Object]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[object Object]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[object Object]</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Data decision</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[object Object]</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[object Object]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[object Object]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[object Object]</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How to validate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data quality, model performance, validation evidence,.</a:t>
            </a:r>
            <a:endParaRPr lang="en-US" sz="12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Tribal Consultation and Data Sharing Agreements for AI Projects</dc:title>
  <dc:subject>Tribal Consultation and Data Sharing Agreements for AI Projects learning module</dc:subject>
  <dc:creator>Paula Soper</dc:creator>
  <cp:lastModifiedBy>Paula Soper</cp:lastModifiedBy>
  <cp:revision>1</cp:revision>
  <dcterms:created xsi:type="dcterms:W3CDTF">2026-07-14T04:35:33Z</dcterms:created>
  <dcterms:modified xsi:type="dcterms:W3CDTF">2026-07-14T04:35:33Z</dcterms:modified>
</cp:coreProperties>
</file>