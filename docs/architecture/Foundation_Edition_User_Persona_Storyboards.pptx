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40f1baa7754fbb" /><Relationship Type="http://schemas.openxmlformats.org/officeDocument/2006/relationships/extended-properties" Target="/docProps/app.xml" Id="Raca880aef61d471b" /><Relationship Type="http://schemas.openxmlformats.org/officeDocument/2006/relationships/officeDocument" Target="/ppt/presentation.xml" Id="R9f18d5da68ee42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a5479bbbe64e6b"/>
  </p:sldMasterIdLst>
  <p:notesMasterIdLst>
    <p:notesMasterId xmlns:r="http://schemas.openxmlformats.org/officeDocument/2006/relationships" r:id="R5525a5f4dc7f48c1"/>
  </p:notesMasterIdLst>
  <p:sldIdLst>
    <p:sldId xmlns:r="http://schemas.openxmlformats.org/officeDocument/2006/relationships" id="256" r:id="Rbddca046eddc4cae"/>
    <p:sldId xmlns:r="http://schemas.openxmlformats.org/officeDocument/2006/relationships" id="257" r:id="R1d73bcb71db84b12"/>
    <p:sldId xmlns:r="http://schemas.openxmlformats.org/officeDocument/2006/relationships" id="258" r:id="R175e4ab1817b4842"/>
    <p:sldId xmlns:r="http://schemas.openxmlformats.org/officeDocument/2006/relationships" id="259" r:id="R43f1b9588a4e4019"/>
    <p:sldId xmlns:r="http://schemas.openxmlformats.org/officeDocument/2006/relationships" id="260" r:id="R030a5f8b39ec4e50"/>
    <p:sldId xmlns:r="http://schemas.openxmlformats.org/officeDocument/2006/relationships" id="261" r:id="R1e28e219848e4875"/>
    <p:sldId xmlns:r="http://schemas.openxmlformats.org/officeDocument/2006/relationships" id="262" r:id="Rb7bf5f3002f94820"/>
    <p:sldId xmlns:r="http://schemas.openxmlformats.org/officeDocument/2006/relationships" id="263" r:id="R268f04d218ee4fcd"/>
    <p:sldId xmlns:r="http://schemas.openxmlformats.org/officeDocument/2006/relationships" id="264" r:id="Rdceaedf1d1024986"/>
    <p:sldId xmlns:r="http://schemas.openxmlformats.org/officeDocument/2006/relationships" id="265" r:id="R251cf8dd38bc4b82"/>
    <p:sldId xmlns:r="http://schemas.openxmlformats.org/officeDocument/2006/relationships" id="266" r:id="Rccb74bea6d9546e7"/>
    <p:sldId xmlns:r="http://schemas.openxmlformats.org/officeDocument/2006/relationships" id="267" r:id="R1000499e074548c1"/>
    <p:sldId xmlns:r="http://schemas.openxmlformats.org/officeDocument/2006/relationships" id="268" r:id="R70439a9362c84849"/>
    <p:sldId xmlns:r="http://schemas.openxmlformats.org/officeDocument/2006/relationships" id="269" r:id="R2bd837ef8e334095"/>
    <p:sldId xmlns:r="http://schemas.openxmlformats.org/officeDocument/2006/relationships" id="270" r:id="R8583bbbf34f34fa3"/>
    <p:sldId xmlns:r="http://schemas.openxmlformats.org/officeDocument/2006/relationships" id="271" r:id="R1727b75e2e904ce3"/>
    <p:sldId xmlns:r="http://schemas.openxmlformats.org/officeDocument/2006/relationships" id="272" r:id="Raf38dc74a7a2435b"/>
    <p:sldId xmlns:r="http://schemas.openxmlformats.org/officeDocument/2006/relationships" id="273" r:id="R60ddcd51d531440f"/>
    <p:sldId xmlns:r="http://schemas.openxmlformats.org/officeDocument/2006/relationships" id="274" r:id="Rd9fd557474e04085"/>
    <p:sldId xmlns:r="http://schemas.openxmlformats.org/officeDocument/2006/relationships" id="275" r:id="Rd2874dee50d44ae4"/>
    <p:sldId xmlns:r="http://schemas.openxmlformats.org/officeDocument/2006/relationships" id="276" r:id="R0dfd547847624340"/>
    <p:sldId xmlns:r="http://schemas.openxmlformats.org/officeDocument/2006/relationships" id="277" r:id="Racfc12aa7bff45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16917482be45a2" /><Relationship Type="http://schemas.openxmlformats.org/officeDocument/2006/relationships/slideMaster" Target="/ppt/slideMasters/slideMaster1.xml" Id="Raba5479bbbe64e6b" /><Relationship Type="http://schemas.openxmlformats.org/officeDocument/2006/relationships/notesMaster" Target="/ppt/notesMasters/notesMaster1.xml" Id="R5525a5f4dc7f48c1" /><Relationship Type="http://schemas.openxmlformats.org/officeDocument/2006/relationships/presProps" Target="/ppt/presProps.xml" Id="R55fab8cb4e69488c" /><Relationship Type="http://schemas.openxmlformats.org/officeDocument/2006/relationships/tableStyles" Target="/ppt/tableStyles.xml" Id="R945ce1d4a1a943a8" /><Relationship Type="http://schemas.openxmlformats.org/officeDocument/2006/relationships/slide" Target="/ppt/slides/slide1.xml" Id="Rbddca046eddc4cae" /><Relationship Type="http://schemas.openxmlformats.org/officeDocument/2006/relationships/slide" Target="/ppt/slides/slide2.xml" Id="R1d73bcb71db84b12" /><Relationship Type="http://schemas.openxmlformats.org/officeDocument/2006/relationships/slide" Target="/ppt/slides/slide3.xml" Id="R175e4ab1817b4842" /><Relationship Type="http://schemas.openxmlformats.org/officeDocument/2006/relationships/slide" Target="/ppt/slides/slide4.xml" Id="R43f1b9588a4e4019" /><Relationship Type="http://schemas.openxmlformats.org/officeDocument/2006/relationships/slide" Target="/ppt/slides/slide5.xml" Id="R030a5f8b39ec4e50" /><Relationship Type="http://schemas.openxmlformats.org/officeDocument/2006/relationships/slide" Target="/ppt/slides/slide6.xml" Id="R1e28e219848e4875" /><Relationship Type="http://schemas.openxmlformats.org/officeDocument/2006/relationships/slide" Target="/ppt/slides/slide7.xml" Id="Rb7bf5f3002f94820" /><Relationship Type="http://schemas.openxmlformats.org/officeDocument/2006/relationships/slide" Target="/ppt/slides/slide8.xml" Id="R268f04d218ee4fcd" /><Relationship Type="http://schemas.openxmlformats.org/officeDocument/2006/relationships/slide" Target="/ppt/slides/slide9.xml" Id="Rdceaedf1d1024986" /><Relationship Type="http://schemas.openxmlformats.org/officeDocument/2006/relationships/slide" Target="/ppt/slides/slide10.xml" Id="R251cf8dd38bc4b82" /><Relationship Type="http://schemas.openxmlformats.org/officeDocument/2006/relationships/slide" Target="/ppt/slides/slide11.xml" Id="Rccb74bea6d9546e7" /><Relationship Type="http://schemas.openxmlformats.org/officeDocument/2006/relationships/slide" Target="/ppt/slides/slide12.xml" Id="R1000499e074548c1" /><Relationship Type="http://schemas.openxmlformats.org/officeDocument/2006/relationships/slide" Target="/ppt/slides/slide13.xml" Id="R70439a9362c84849" /><Relationship Type="http://schemas.openxmlformats.org/officeDocument/2006/relationships/slide" Target="/ppt/slides/slide14.xml" Id="R2bd837ef8e334095" /><Relationship Type="http://schemas.openxmlformats.org/officeDocument/2006/relationships/slide" Target="/ppt/slides/slide15.xml" Id="R8583bbbf34f34fa3" /><Relationship Type="http://schemas.openxmlformats.org/officeDocument/2006/relationships/slide" Target="/ppt/slides/slide16.xml" Id="R1727b75e2e904ce3" /><Relationship Type="http://schemas.openxmlformats.org/officeDocument/2006/relationships/slide" Target="/ppt/slides/slide17.xml" Id="Raf38dc74a7a2435b" /><Relationship Type="http://schemas.openxmlformats.org/officeDocument/2006/relationships/slide" Target="/ppt/slides/slide18.xml" Id="R60ddcd51d531440f" /><Relationship Type="http://schemas.openxmlformats.org/officeDocument/2006/relationships/slide" Target="/ppt/slides/slide19.xml" Id="Rd9fd557474e04085" /><Relationship Type="http://schemas.openxmlformats.org/officeDocument/2006/relationships/slide" Target="/ppt/slides/slide20.xml" Id="Rd2874dee50d44ae4" /><Relationship Type="http://schemas.openxmlformats.org/officeDocument/2006/relationships/slide" Target="/ppt/slides/slide21.xml" Id="R0dfd547847624340" /><Relationship Type="http://schemas.openxmlformats.org/officeDocument/2006/relationships/slide" Target="/ppt/slides/slide22.xml" Id="Racfc12aa7bff45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44de0fe8a446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a4a0fb95574e44" /><Relationship Type="http://schemas.openxmlformats.org/officeDocument/2006/relationships/notesMaster" Target="/ppt/notesMasters/notesMaster1.xml" Id="R7ffac0bd5ffd44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5f80d0f4974bd5" /><Relationship Type="http://schemas.openxmlformats.org/officeDocument/2006/relationships/notesMaster" Target="/ppt/notesMasters/notesMaster1.xml" Id="Rf77ca4ed5e9347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72390e88134b45" /><Relationship Type="http://schemas.openxmlformats.org/officeDocument/2006/relationships/notesMaster" Target="/ppt/notesMasters/notesMaster1.xml" Id="R867aefdb5cca4a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877af8af714e45" /><Relationship Type="http://schemas.openxmlformats.org/officeDocument/2006/relationships/notesMaster" Target="/ppt/notesMasters/notesMaster1.xml" Id="Rbf058c091fee46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3a5d07e3674153" /><Relationship Type="http://schemas.openxmlformats.org/officeDocument/2006/relationships/notesMaster" Target="/ppt/notesMasters/notesMaster1.xml" Id="R7e28973c4ef544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678ebc307540ff" /><Relationship Type="http://schemas.openxmlformats.org/officeDocument/2006/relationships/notesMaster" Target="/ppt/notesMasters/notesMaster1.xml" Id="R420ddb3409924d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a4ceebad124593" /><Relationship Type="http://schemas.openxmlformats.org/officeDocument/2006/relationships/notesMaster" Target="/ppt/notesMasters/notesMaster1.xml" Id="Rebd43c8f3b9944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82b58abe7a4f2c" /><Relationship Type="http://schemas.openxmlformats.org/officeDocument/2006/relationships/notesMaster" Target="/ppt/notesMasters/notesMaster1.xml" Id="R4e3c814072c347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dcee63abdb44f5" /><Relationship Type="http://schemas.openxmlformats.org/officeDocument/2006/relationships/notesMaster" Target="/ppt/notesMasters/notesMaster1.xml" Id="Rc564377c7e6b4d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cb6659ce484f21" /><Relationship Type="http://schemas.openxmlformats.org/officeDocument/2006/relationships/notesMaster" Target="/ppt/notesMasters/notesMaster1.xml" Id="R11d031787fac41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2c50e6ca3764923" /><Relationship Type="http://schemas.openxmlformats.org/officeDocument/2006/relationships/notesMaster" Target="/ppt/notesMasters/notesMaster1.xml" Id="Rdc27048c32e44ea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6e131138c143ef" /><Relationship Type="http://schemas.openxmlformats.org/officeDocument/2006/relationships/notesMaster" Target="/ppt/notesMasters/notesMaster1.xml" Id="Rf615c34fa7bd4cf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91abcc727994585" /><Relationship Type="http://schemas.openxmlformats.org/officeDocument/2006/relationships/notesMaster" Target="/ppt/notesMasters/notesMaster1.xml" Id="Rce5a78f8aac64f0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b9f077701b047fa" /><Relationship Type="http://schemas.openxmlformats.org/officeDocument/2006/relationships/notesMaster" Target="/ppt/notesMasters/notesMaster1.xml" Id="Rbfca07952353418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531da50fc6c4333" /><Relationship Type="http://schemas.openxmlformats.org/officeDocument/2006/relationships/notesMaster" Target="/ppt/notesMasters/notesMaster1.xml" Id="Ra767e0e9b47d476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7a90bcbd1e342c2" /><Relationship Type="http://schemas.openxmlformats.org/officeDocument/2006/relationships/notesMaster" Target="/ppt/notesMasters/notesMaster1.xml" Id="R4bc99c52c6304c4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148a376cbfd42d0" /><Relationship Type="http://schemas.openxmlformats.org/officeDocument/2006/relationships/notesMaster" Target="/ppt/notesMasters/notesMaster1.xml" Id="Rabda63864f234a2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72b1b26efd34db0" /><Relationship Type="http://schemas.openxmlformats.org/officeDocument/2006/relationships/notesMaster" Target="/ppt/notesMasters/notesMaster1.xml" Id="R7a83007c3d8d42d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c67146bae514b6a" /><Relationship Type="http://schemas.openxmlformats.org/officeDocument/2006/relationships/notesMaster" Target="/ppt/notesMasters/notesMaster1.xml" Id="R0f573b133f06463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d7a8cba78c44b7e" /><Relationship Type="http://schemas.openxmlformats.org/officeDocument/2006/relationships/notesMaster" Target="/ppt/notesMasters/notesMaster1.xml" Id="R16abd55ad6ca4fc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0774abd2f144403" /><Relationship Type="http://schemas.openxmlformats.org/officeDocument/2006/relationships/notesMaster" Target="/ppt/notesMasters/notesMaster1.xml" Id="Ra4b787b0b2704cb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3455d9e5ac34e65" /><Relationship Type="http://schemas.openxmlformats.org/officeDocument/2006/relationships/notesMaster" Target="/ppt/notesMasters/notesMaster1.xml" Id="R7617583fa79548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Foundation Edition capabilities: mvp/index.html and related Foundation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Foundation Edition capabilities: mvp/index.html and related Foundation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Foundation Edition capabilities: mvp/index.html and related Foundation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Foundation Edition capabilities: mvp/index.html and related Foundation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Foundation Edition capabilities: mvp/index.html and related Foundation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Foundation Edition capabilities: mvp/index.html and related Foundation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Foundation Edition capabilities: mvp/index.html and related Foundation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Foundation Edition capabilities: mvp/index.html and related Foundation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Foundation Edition capabilities: mvp/index.html and related Foundation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Foundation Edition capabilities: mvp/index.html and related Foundation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Foundation Edition capabilities: mvp/index.html and related Foundation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Foundation Edition capabilities: mvp/index.html and related Foundation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Foundation Edition capabilities: mvp/index.html and related Foundation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Foundation Edition capabilities: mvp/index.html and related Foundation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Foundation Edition capabilities: mvp/index.html and related Foundation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Foundation Edition capabilities: mvp/index.html and related Foundation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Foundation Edition capabilities: mvp/index.html and related Foundation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Foundation Edition capabilities: mvp/index.html and related Foundation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Foundation Edition capabilities: mvp/index.html and related Foundation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Foundation Edition capabilities: mvp/index.html and related Foundation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Foundation Edition capabilities: mvp/index.html and related Foundation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Foundation Edition capabilities: mvp/index.html and related Foundation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90810c82f54d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f4fe836cc149d2" /><Relationship Type="http://schemas.openxmlformats.org/officeDocument/2006/relationships/slideLayout" Target="/ppt/slideLayouts/slideLayout1.xml" Id="R048279adb1de4c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8279adb1de4c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c56c6eb494911" /><Relationship Type="http://schemas.openxmlformats.org/officeDocument/2006/relationships/notesSlide" Target="/ppt/notesSlides/notesSlide1.xml" Id="R9e22991cdea34a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3b0651e4e414e" /><Relationship Type="http://schemas.openxmlformats.org/officeDocument/2006/relationships/notesSlide" Target="/ppt/notesSlides/notesSlide2.xml" Id="R645d706fca4d4b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9ea0569404bf1" /><Relationship Type="http://schemas.openxmlformats.org/officeDocument/2006/relationships/notesSlide" Target="/ppt/notesSlides/notesSlide3.xml" Id="R0af4c8659cd247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71253da574bff" /><Relationship Type="http://schemas.openxmlformats.org/officeDocument/2006/relationships/notesSlide" Target="/ppt/notesSlides/notesSlide4.xml" Id="R3a23c15b696b40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88b784e0949d2" /><Relationship Type="http://schemas.openxmlformats.org/officeDocument/2006/relationships/notesSlide" Target="/ppt/notesSlides/notesSlide5.xml" Id="R519c0f3e4e5547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862d377144930" /><Relationship Type="http://schemas.openxmlformats.org/officeDocument/2006/relationships/notesSlide" Target="/ppt/notesSlides/notesSlide6.xml" Id="R007ba1eb49cd44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f0f0904cd42a9" /><Relationship Type="http://schemas.openxmlformats.org/officeDocument/2006/relationships/notesSlide" Target="/ppt/notesSlides/notesSlide7.xml" Id="R8814e22d19494a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a3429e8d54df0" /><Relationship Type="http://schemas.openxmlformats.org/officeDocument/2006/relationships/notesSlide" Target="/ppt/notesSlides/notesSlide8.xml" Id="R7be17fea593c41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2236cac794f6a" /><Relationship Type="http://schemas.openxmlformats.org/officeDocument/2006/relationships/notesSlide" Target="/ppt/notesSlides/notesSlide9.xml" Id="R2ed892c800a34f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dee60afaf4105" /><Relationship Type="http://schemas.openxmlformats.org/officeDocument/2006/relationships/notesSlide" Target="/ppt/notesSlides/notesSlide10.xml" Id="Rbcab39aa9aba4f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17b0c4ce44d86" /><Relationship Type="http://schemas.openxmlformats.org/officeDocument/2006/relationships/notesSlide" Target="/ppt/notesSlides/notesSlide11.xml" Id="Rab4525e7fd1b4b1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ddf8eb7544220" /><Relationship Type="http://schemas.openxmlformats.org/officeDocument/2006/relationships/notesSlide" Target="/ppt/notesSlides/notesSlide12.xml" Id="R07b7aedb643644e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69460b53940b0" /><Relationship Type="http://schemas.openxmlformats.org/officeDocument/2006/relationships/notesSlide" Target="/ppt/notesSlides/notesSlide13.xml" Id="Rf987223c1626490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b798d3911454a" /><Relationship Type="http://schemas.openxmlformats.org/officeDocument/2006/relationships/notesSlide" Target="/ppt/notesSlides/notesSlide14.xml" Id="Rabfebf81a40b4f8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57d9918f54300" /><Relationship Type="http://schemas.openxmlformats.org/officeDocument/2006/relationships/notesSlide" Target="/ppt/notesSlides/notesSlide15.xml" Id="R9a5775c4fbc9445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80f18c0b84263" /><Relationship Type="http://schemas.openxmlformats.org/officeDocument/2006/relationships/notesSlide" Target="/ppt/notesSlides/notesSlide16.xml" Id="R6c5f6952108542e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992164e3e4048" /><Relationship Type="http://schemas.openxmlformats.org/officeDocument/2006/relationships/notesSlide" Target="/ppt/notesSlides/notesSlide17.xml" Id="Rbc8e08c6c9cc457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a7a4dbb904c21" /><Relationship Type="http://schemas.openxmlformats.org/officeDocument/2006/relationships/notesSlide" Target="/ppt/notesSlides/notesSlide18.xml" Id="Rcd5f84cfed10476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7bed16139484f" /><Relationship Type="http://schemas.openxmlformats.org/officeDocument/2006/relationships/notesSlide" Target="/ppt/notesSlides/notesSlide19.xml" Id="R403502bb8c454f0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9d6fb7a7341f9" /><Relationship Type="http://schemas.openxmlformats.org/officeDocument/2006/relationships/notesSlide" Target="/ppt/notesSlides/notesSlide20.xml" Id="Rff4e4e76a77143c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5a2a313214630" /><Relationship Type="http://schemas.openxmlformats.org/officeDocument/2006/relationships/notesSlide" Target="/ppt/notesSlides/notesSlide21.xml" Id="Rb12c14e73ff141c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0ed78ec07449b" /><Relationship Type="http://schemas.openxmlformats.org/officeDocument/2006/relationships/notesSlide" Target="/ppt/notesSlides/notesSlide22.xml" Id="Ra82d1b3ba9874d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053ACF-094A-4F16-AC3A-BCB080C9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FOUNDATION EDITION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B2BF4-CCA4-4BD0-A7C8-24073587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9620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User persona storyboards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64448-8599-48EF-84A9-6C198470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800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Role-based journeys and user stories for the Public Health AI Strategy and Implementation Playbook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B956F2-8C01-43DB-9D25-45CAEC44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0"/>
            <a:ext cx="247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763"/>
          </a:solidFill>
          <a:ln xmlns:a="http://schemas.openxmlformats.org/drawingml/2006/main" w="9525">
            <a:solidFill>
              <a:srgbClr val="07376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78762-1D19-4DC7-8FF0-5F221CEE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66875"/>
            <a:ext cx="1619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701FB-47AF-4042-930F-5F4767F4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098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personas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EC861-4806-48FD-AE5F-5635FA04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14750"/>
            <a:ext cx="161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Foundation access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Personalized pathways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Practical tools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Core learning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026FE-D7EE-454C-A670-2E9F090C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FOUNDATION EDITION · PERSONA STORYBOARDS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A598C-133D-473C-81C6-7A839663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531504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3BC719-43B6-408F-A209-12993AEB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SHARED SERVICE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1DB27B-4412-4130-930C-38191EC8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The Foundation journey should work for many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97700-BF0F-4BAA-8ED0-FC58F8BD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FOUNDATION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BC1CB-7497-403E-BBE8-56893FE7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BE27C-A9B0-4AE0-B699-E6535955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Every persona enters with a different problem, but the product must support the same four movements.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AE736-99B6-4F7A-AB34-E4AD4612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2438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4DDFA-C3A5-4C73-B690-75CAD3E8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ORIENT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CFD573-3964-4387-819D-1FDB39CC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Understand the 13-play pathway and Foundation boundaries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684988-DD4B-42C3-943A-E98DC83E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4325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7E37C-053A-4A89-9711-D4D97D20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81250"/>
            <a:ext cx="2438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DBAB53-6711-4B8F-8B80-B7C8C83E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28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C2398D-4470-4320-8B4A-860A9C43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00400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Identify readiness or competency gaps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B860D-136C-4334-BF66-CFDCE815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4325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55D3DA-6FE0-450B-B3ED-01AF88D6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2438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64BC9E-1B5E-4200-9F62-F5FC7662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28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55518A-CBA2-4789-BFD1-B96F4FEB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Use one practical tool per play and core learning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11C594-F5B9-4ECA-9059-842B4848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4325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144126-4DD7-4035-9D80-C320DEBA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81250"/>
            <a:ext cx="2438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DF6EE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BBB2C3-797B-475E-B360-65F40C37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28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SAVE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64C279-C8EF-455E-97EA-0BD05390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00400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Retain results, tasks, progress, and recommendations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A19F25-6049-4CAF-AAEE-FC8B0C5A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Account 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2712BC-CD05-435F-A08A-19926A73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57750"/>
            <a:ext cx="904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Public content remains open. A free account is required only when a user downloads tools, saves work, takes the personalized learning assessment, or applies to review prerelease materials.</a:t>
            </a:r>
          </a:p>
        </p:txBody>
      </p:sp>
    </p:spTree>
    <p:extLst>
      <p:ext uri="{BB962C8B-B14F-4D97-AF65-F5344CB8AC3E}">
        <p14:creationId xmlns:p14="http://schemas.microsoft.com/office/powerpoint/2010/main" val="14860772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E6E7EE-82D5-4274-A8A4-829CA55B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PERSONA LANDSCAPE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C1E74-B22D-45D2-B71C-F708CF85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79435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Thirteen personas cover decisions, delivery, evidence, learning, and coordination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599D2-3FC1-4E62-B270-DECCB3E5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FOUNDATION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6B17D-5E3E-4B5D-A9BA-9EF5FC78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FF41E-7FDA-4387-B927-08199B45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DECIDE &amp; GOVERN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7302D-136B-48B7-B40F-37E85D7A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Executive sponsor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9AC2C-2F41-4FD7-92F7-60BF7C17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13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Governance / privacy / legal / security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F9EC0-3691-4DF2-BDF6-1E869D89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67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Procurement / finance / grants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3BBE07-7050-45DF-BA9F-F122DB1C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81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DESIGN &amp; DELIVER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A4225C-5516-4B96-96F3-28A719B3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955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Program manager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95C3D-149D-44C4-87F0-C91D1490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813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Informatics director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7D26B8-0937-46C2-92B9-24E2A476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67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IT / technical lead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A3CA4B-99D0-467F-AA24-D3C434DB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529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Epidemiologist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0453C1-8C2F-4D17-9C1E-4FEDA339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TRUST &amp; LEARN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AC8772-55DB-4ABB-A204-CE2722E7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Communications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25B8AB-28F2-4DEC-88A5-D8B71359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Equity / community partner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60C6BD-8528-440A-8B02-E30876CD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7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Researcher / evaluator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958B2D-728D-4F5A-890F-F3A31647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529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Student / learner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79C81C-5F36-4437-AB4F-DF3BF44C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581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ENABLE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551413-308E-4602-A90D-46A2D202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955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Workforce / training lead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19BF1C-CF34-4F7D-9F92-32FC2A88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813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Organization administrator</a:t>
            </a:r>
          </a:p>
        </p:txBody>
      </p:sp>
    </p:spTree>
    <p:extLst>
      <p:ext uri="{BB962C8B-B14F-4D97-AF65-F5344CB8AC3E}">
        <p14:creationId xmlns:p14="http://schemas.microsoft.com/office/powerpoint/2010/main" val="4439034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564E02-09DD-4965-AD26-9E1539AB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ACCOUNTABLE DECISION-MAKER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1BE61-5D18-4C9E-9EE6-2F0E1280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Health Officer / Executive Sponsor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37561-C766-464E-9224-9C0EC4E4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FOUNDATION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8E47EF-595B-4AE3-9161-89012D18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D2A7B-F5FF-4825-BBA4-2C61F887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As an executive sponsor, I want a short, evidence-informed pathway so that I can authorize responsible next steps without becoming an AI specialist.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2952CA-0896-49DF-A23A-41835492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1FDF9-241C-4E3C-817F-AD067802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 · TRIGGER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CBF9F-CE39-411A-93C4-354BD7F9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Leaders are hearing competing AI proposals but lack a shared decision framework.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BC59F5-29CD-4D9A-A2C7-83447CBB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D3D13E-4D49-4731-98D8-0218D2CD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CAD44D-E8B4-4C24-B38F-A1EAB199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993C4D-525B-4804-89A5-E0B8F925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 · FIND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7D0848-E9A5-471A-8E66-2E7F4DD5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Starts with the readiness assessment and executive-oriented Play 1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D75284-92A5-4980-AF8C-950FDC0D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B2BC82-8B4D-4D00-9424-6F0B08E7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47F351-383C-493B-8957-757B6B8D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669A27-EE42-4EEE-B145-2C20B230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 · 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5FD7AB-DEC5-41F2-8B9D-7843155A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Reviews the recommended pathway, opens the Foundation tools for vision, readiness, and governance, and assigns follow-up owners.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192BC4-5DED-4E82-B6D4-956DC182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53AC48-ED4E-41FC-A8B2-CFA9BC23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400C2E-0B88-4A4E-AE4F-21B394F2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DF6EE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983956-AE92-4899-AC87-E8EA606B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 · 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9BAE7F-50E1-48E4-85C5-B2726EBC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Can explain the agency's guardrails, priority gaps, responsible decision-makers, and next step.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9EEBD5-B121-4CE3-A808-7B6BE096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883326-F0AA-483F-A741-867F9434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Foundation touchpoints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A9CD57-499A-47B9-9817-616ADD6B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14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Readiness assessment · Plays 1–3 · Foundation tools · My Account</a:t>
            </a:r>
          </a:p>
        </p:txBody>
      </p:sp>
    </p:spTree>
    <p:extLst>
      <p:ext uri="{BB962C8B-B14F-4D97-AF65-F5344CB8AC3E}">
        <p14:creationId xmlns:p14="http://schemas.microsoft.com/office/powerpoint/2010/main" val="4935610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2DA683-5669-47C0-8263-3F220691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EVIDENCE AND SURVEILLANCE PRACTITIONER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74518-CD43-4F66-9FC0-C83A4EE6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Epidemiologist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D3B65-E4C6-470B-97F3-05971F03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FOUNDATION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F7660-FAC2-4ACA-85D4-B13D6222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48165-E26A-4A75-B852-56582DEC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As an epidemiologist, I want to connect a proposed workflow to validation and monitoring guidance so that scientific judgment remains explicit.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64811-6138-43C7-81FD-7C9CB9D4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91FFA-D922-4D1F-8859-9A21DD1C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 · TRIGGER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F2D465-94F0-43CC-AC26-F2AA8D71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 team proposes AI-assisted surveillance, but data quality and false alerts are uncertain.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7E02EE-66F3-4EEF-97E2-AA680A29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7AC964-007D-42D7-BCF7-8679FFF7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F18F82-0FAB-454F-AA69-7E045C29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86BCFF-824E-410D-BB29-9157877E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 · FIND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18AE0B-9C68-4A22-8DFE-F1CCF6F3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Uses search and the play pathway to find data, validation, equity, and monitoring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5CB41-8EDE-4004-B1D0-90CAC883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22AE7F-5AA5-4478-AC80-5477EC41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2F2FFC-A91B-4918-B205-67F373C8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2DCDAC-51DB-4F88-B270-80814539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 · 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9CE733-C47F-4F7E-9A49-87F310E7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Completes the relevant Foundation checklist, documents evidence gaps, and assigns validation tasks.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C2D1B8-695D-4C71-B257-2E607654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C34EFB-138D-41D6-9B10-64592FD6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70CD6D-1E43-4DE3-8825-4379B40F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DF6EE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A2B971-1692-4692-8DF2-20FD7F99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 · 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E06CE1-BF7B-493C-A386-290C05C9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Can recommend a bounded pilot—or explain why the workflow is not ready.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F967AB-CB75-4897-9755-8B1EA1B9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6C9E35-34C6-44C9-AB4D-9D755BC4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Foundation touchpoints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0B97F6-00A7-480F-9D40-588DA0F0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14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Play search · Foundation tools · Evidence &amp; Resources · Saved tasks</a:t>
            </a:r>
          </a:p>
        </p:txBody>
      </p:sp>
    </p:spTree>
    <p:extLst>
      <p:ext uri="{BB962C8B-B14F-4D97-AF65-F5344CB8AC3E}">
        <p14:creationId xmlns:p14="http://schemas.microsoft.com/office/powerpoint/2010/main" val="20881773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B4ADF6-FEDC-458D-BAFE-250976BD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PROGRAMS–DATA–GOVERNANCE BRIDGE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84620-220A-4F04-B47F-57B26573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Informatics Director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0DBA7-3A1A-4AD8-8335-FC787FF6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FOUNDATION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7541F9-1EA6-423C-8C77-7C6A05E5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8EF4D-DBA3-4182-AE4A-8C14EF09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As an informatics director, I want readiness findings linked to implementation dependencies so that programs build on shared infrastructure and governance.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3863C-EA01-4EE9-8739-6ECCAAD6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4421D-1F99-43B7-948A-32536D0B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 · TRIGGER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6D31C-11A8-479F-8B20-5A440BFD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Several programs are considering AI independently, creating duplicated architecture and governance work.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CEF9CE-70F8-4D35-9F51-758EF722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1FA7E-106B-4B4E-9D21-3B231B87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64E9E4-CC95-4E8D-9816-AE5CFB8A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F39A6-77FB-4B1A-9401-BE816143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 · FIND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9BCBCD-26B3-4B49-B4BF-5E08403B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Uses readiness findings and the 13-play journey to identify shared dependencies.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2AF05C-C583-4CEA-AC4C-861B3629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4A2051-8C1E-4DEE-8C50-4929E03B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42EBDA-738D-460E-8AC3-83E86858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4CE48D-A451-4EC0-B15D-43C71B7A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 · 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89F5DE-E22C-46BF-B194-E0D0A272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Maps a priority use case to data, interoperability, governance, workforce, and implementation requirements.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C480B6-C404-4953-92D5-656E083E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D0BE85-9ABF-4F75-8A72-A09C4A92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360BFA-AFF7-4F07-B374-1B560403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DF6EE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37FF96-8530-43CE-9B9F-46F12578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 · 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3FD535-EB35-4CC5-A8C1-9EF578DF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Creates a sequenced, reusable implementation pathway rather than another isolated pilot.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764215-2B59-4455-BC69-A56F61F2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8D35BD-CACD-45E3-B9C0-0306E332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Foundation touchpoints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64CB44-AD06-40BA-84CF-A52977A8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14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Assessment · Plays 2–9 · Tools · Resources</a:t>
            </a:r>
          </a:p>
        </p:txBody>
      </p:sp>
    </p:spTree>
    <p:extLst>
      <p:ext uri="{BB962C8B-B14F-4D97-AF65-F5344CB8AC3E}">
        <p14:creationId xmlns:p14="http://schemas.microsoft.com/office/powerpoint/2010/main" val="11434793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7A6593-9E65-46D1-8E60-835AFE23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OUTCOME AND WORKFLOW OWNER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A85D0-632D-4A25-9496-768AB075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Program Manager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C30B3-9507-42B7-AC61-4DD8B1DF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FOUNDATION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534D9-7B1E-4709-9783-49458C7B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1E9F1-686C-4831-B045-B77B0715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As a program manager, I want guided fields and realistic examples so that I can turn an operational problem into a review-ready use case.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FBAF5-4ED0-46D1-AFC0-CF6C2FBF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D3E82-F032-4CF7-9D12-AAC94E9A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 · TRIGGER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10347-39D9-4EB9-9492-19C42CC3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 program has a service problem but does not know whether AI is an appropriate response.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4E1DDE-7C66-4970-BDA9-C7E1AA87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7BB1BC-971B-46FC-82DF-443248D3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A84277-E1B7-48C2-9856-70E66CCF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63001B-0B05-459B-9E9D-85D68D0B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 · FIND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2701E6-888B-4773-BC70-B4153023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Reads the relevant play, public health examples, and one practical Foundation tool.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02B35D-CBAA-43BA-ADCC-6BA8A452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4E83A4-A886-4B1D-B45C-F024157F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768E9A-2026-46AE-96B0-307BE5E5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0F0F33-AE29-4A48-9A8F-7E39EFE0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 · 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8161BE-58EB-41BA-8A4E-CCDFC15D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Documents the problem, affected workflow, stakeholders, outcomes, risks, activities, owners, and dates.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BD7300-4942-42F8-ABAC-D8D847C8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71068E-F8F7-4703-8394-D6521DFB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19D4C6-6391-441C-8C87-E9862676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DF6EE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A98080-D81A-4F7A-A469-CDD1A085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 · 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080457-52F4-4A9C-B0E7-015DD33D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Produces a review-ready concept that can move to leadership, governance, and IT.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2FA9CD-35AD-4DB1-81DE-1CA82FAD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E80C6E-D542-4BD6-BB29-E6BA9829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Foundation touchpoints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14980C-7B70-4630-985B-3590C635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14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Plays · Foundation tool · Public health examples · Task tracking</a:t>
            </a:r>
          </a:p>
        </p:txBody>
      </p:sp>
    </p:spTree>
    <p:extLst>
      <p:ext uri="{BB962C8B-B14F-4D97-AF65-F5344CB8AC3E}">
        <p14:creationId xmlns:p14="http://schemas.microsoft.com/office/powerpoint/2010/main" val="914758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020DFB-7C3E-4422-B308-3B2C7A9B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SECURE IMPLEMENTER AND OPERATOR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1BE9E-1604-484F-B8FD-AA89C870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IT / Technical Lead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05F94-F7BB-4993-BDE8-1711B3CB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FOUNDATION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51869-0EBB-4C3D-BE4A-7E4F1B71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C5FB9-7420-4649-B418-63973A20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As a technical lead, I want implementation requirements connected to owners and approvals so that operational risks are visible before deployment.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E96122-4C5E-47AC-9044-347EFBD6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33CAC-DC9F-4494-BBCC-34BF5BD5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 · TRIGGER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E2390-BA04-457F-A68F-89A87CC9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An approved use case needs technical controls, vendor review, monitoring, and rollback planning.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06C5A-F2D3-44A3-84A8-48EAC86D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33F1F6-AC08-4DCC-8057-4329F94B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CA26C9-43AD-45E4-9D25-6AAA1632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35FF1-4403-4763-909D-0AF028CD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 · FIND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8A1A3E-22B0-43DE-98C5-CFF37983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Follows the plays and resources that connect security, privacy, architecture, procurement, and operations.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37F639-2975-4ABE-B746-3F2DE437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5B7B9C-1A7C-4C61-B88F-070C6C5F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DE8D84-D989-413B-A381-B9E9AEC5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D2684B-2181-40A2-A91E-0F3287D2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 · 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43C95D-E84C-47DD-9E4D-709FA55B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Uses the Foundation tool to record controls, owners, evidence, gaps, and escalation needs.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4DCBEE-C4BA-448C-AADE-A8C97745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BE8C8E-C293-44C4-8C3F-B2C46E83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FB2A88-0226-48A1-8194-1153695B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DF6EE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BC9631-D656-4E12-80E8-4EEF7B90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 · 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3E13BB-E4A9-4981-AFE6-E48E8194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Can state the minimum conditions for a safe pilot and sustainable operation.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FF39C2-4700-48FD-B870-9B5FB8AB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04C177-C6A0-4861-881C-89BE5715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Foundation touchpoints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6C2D19-0EF3-4090-A205-BE8EB549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14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Plays 8–13 · Foundation tools · Evidence &amp; Resources</a:t>
            </a:r>
          </a:p>
        </p:txBody>
      </p:sp>
    </p:spTree>
    <p:extLst>
      <p:ext uri="{BB962C8B-B14F-4D97-AF65-F5344CB8AC3E}">
        <p14:creationId xmlns:p14="http://schemas.microsoft.com/office/powerpoint/2010/main" val="15989253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A6D9AF-4F4D-4AA7-AC84-1F5E42E7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TRUSTED PUBLIC TRANSLATOR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51ECF-82A4-425E-8EB4-C432AB5C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Communications Professional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B55C4-6E03-4768-8AD3-5642F62E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FOUNDATION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875D5-2601-4A81-A811-806C40AF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577BE-259C-40EB-9960-D88D39EF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As a communications professional, I want a review pathway for AI-assisted content so that speed does not displace accuracy, accessibility, or trust.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DE91C-D48F-429E-B223-044F728C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7E806-33F2-4A4C-88F1-FD5EA787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 · TRIGGER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D2847-FB5E-42E5-817C-50481FF4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Staff want to use generative AI for public information under severe time pressure.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D25061-C769-4BE7-9C42-AC676A12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578E71-C593-43EC-8BA5-47C094C5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30F718-3BC2-49F1-A7D6-8878B985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5D898C-F163-414E-B096-1A31AA1F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 · FIND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B2D781-4873-4C81-A68C-FF07723D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Finds safe-use learning, disclosure guidance, language-access examples, and the communications-related tool.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D7C362-5648-4139-95C0-AB2A2A95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ED33A0-D378-45B8-A53C-44507484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EBF828-6566-41E0-AF25-83A5CA01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8C7FF4-7809-4196-8FCB-89925914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 · 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D114EA-F696-41BA-AAB6-31BBCB3C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Records source verification, subject-matter review, accessibility, language, and release approval.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0A63B5-4BB4-4B9A-9235-E61BF472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B0144A-E050-4A8E-A9FC-3D89E7EA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624926-2D9C-4E4B-B869-09EEEEEF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DF6EE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36E1C6-0598-4FD1-96AD-165500E3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 · 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F0BECC-6B0F-4218-A653-50944FE8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Publishes timely content with human review and a defensible record.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856AE1-444F-430A-8EE7-79277338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E1983E-F0A5-4F8C-86C5-2C804D5C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Foundation touchpoints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939BE3-E651-4B7F-9381-32E9E9BC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14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Core learning · Plays 6 and 10 · Foundation tool · Resources</a:t>
            </a:r>
          </a:p>
        </p:txBody>
      </p:sp>
    </p:spTree>
    <p:extLst>
      <p:ext uri="{BB962C8B-B14F-4D97-AF65-F5344CB8AC3E}">
        <p14:creationId xmlns:p14="http://schemas.microsoft.com/office/powerpoint/2010/main" val="5804664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D83FB4-AB48-4EB4-9D8D-A07F5761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EVIDENCE BUILDER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78786-6072-4F75-88C3-3678F46A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Researcher / Evaluator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83297-80E4-45AD-9155-74F61028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FOUNDATION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3D0F7-0A78-4771-87E0-6A4A8689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33DD8-0CFC-4E10-B85A-17D3F009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As a researcher, I want provenance and evidence labels connected to implementation guidance so that I can distinguish credible findings from promotional claims.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BAB54-BDDE-4244-9627-901C4371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5ECAC-A3FB-4F5F-B7BE-0E7C93EB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 · TRIGGER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4B812-7C96-4906-B560-E9D2CD0F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 pilot claim sounds promising, but its methods, limitations, and equity implications are unclear.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032A8B-19EA-4FA3-A5A2-D02592F9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491AAA-10F4-43CF-8C0B-A576F408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E24FDB-87E7-4674-9714-1AB15929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CE3C17-2BEA-4F42-A247-875032C2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 · FIND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3D2F7D-E72E-426F-9C1D-D5768682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Searches resources, project summaries, relevant plays, and evaluation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47BE67-1365-4897-AD96-23073F83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716E45-A8E9-4D2E-BD4B-A1402669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331725-EE4B-421D-A38B-24D0E289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05600A-0FDB-4C41-B6E4-F1A1208E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 · 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F8B883-1200-4AF3-AB51-3F6316C7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Traces claims to sources and uses the Foundation tool to define benefits, harms, subgroup measures, and evidence gaps.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BE1004-964E-4B13-8F04-693B38C3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AE859F-6F72-40BF-B429-3C090585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CEFCAF-F69A-4853-9E4D-5E3B5BFA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DF6EE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E13C40-9AE3-431B-B1C1-D3307809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 · 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E01254-0827-4CE6-8539-090288DA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Builds an evaluation question and evidence trail that others can reproduce.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9FBDB9-A074-4C20-8192-BFECF49A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8AB18C-F160-47A6-B0FD-FE7B9164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Foundation touchpoints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4E9C88-C98F-405A-8070-8FF960DF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14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Evidence &amp; Resources · Project summaries · Plays 11–13 · Tool</a:t>
            </a:r>
          </a:p>
        </p:txBody>
      </p:sp>
    </p:spTree>
    <p:extLst>
      <p:ext uri="{BB962C8B-B14F-4D97-AF65-F5344CB8AC3E}">
        <p14:creationId xmlns:p14="http://schemas.microsoft.com/office/powerpoint/2010/main" val="20144476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2DB0C2-D6FD-4FB0-AD89-9745CE91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GUIDED NEWCOMER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EDB43-9D87-42A3-BA2F-8F10ECB8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Student / Learner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76086-7008-423B-BB79-5A0B445E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FOUNDATION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687AE-852F-4F20-848B-DBF96352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94629-AFD8-4120-9F05-A81DAAC2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As a learner, I want questions matched to my role and experience so that my recommended modules address real competency gaps.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9B772F-55E4-4DC5-807E-04B7B196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7B857-E733-4048-8088-FFCED2B4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 · TRIGGER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B81B0-0F3F-4172-BE64-9834BFF0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 learner is unsure what AI means in public health and does not know where to begin.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7824DF-39BC-47D0-8524-442D0D4A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2BA64D-208B-46FC-B15F-743C49EB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7B6AA-B4B2-4EEF-95F9-2918A39D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C8209-FE27-45B2-AD64-089B1FC7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 · FIND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0222E7-CE18-4775-907D-76838F18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Creates a free account, selects a role, and takes the personalized learning-pathway assessment.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8384DB-5773-4124-BCEA-84444DBC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E34C27-C268-4170-AF59-18788C3D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472311-C545-4D07-9478-A9DD03E4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9BFF8F-A8A0-428D-9AE2-4770470A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 · 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EB4B29-0FF7-482C-A109-B1962EC2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Completes Foundation modules in recommended order and tracks results and progress.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7D5E38-D02E-4A15-9357-EB49FC5A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418BB1-70BC-48BD-8F40-D275431D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966ADF-BDB5-4CE1-B217-511114F6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DF6EE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A5656F-FF74-4055-8874-165C80AF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 · 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03CEE5-70CE-4445-AAA2-A97D50C5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Can describe a bounded use case, major risks, human-review needs, and whom to involve.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3E0312-31C0-45FB-83D2-DFB8E914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2109C0-0454-4844-A4CA-D224423F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Foundation touchpoints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7ADC96-0A40-418D-AD3C-E0138039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14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My Account · Learning assessment · Foundation modules · Learning pathways</a:t>
            </a:r>
          </a:p>
        </p:txBody>
      </p:sp>
    </p:spTree>
    <p:extLst>
      <p:ext uri="{BB962C8B-B14F-4D97-AF65-F5344CB8AC3E}">
        <p14:creationId xmlns:p14="http://schemas.microsoft.com/office/powerpoint/2010/main" val="18560897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510419-B27B-4A9C-AE61-1DA7D00B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CONTROL AND ACCOUNTABILITY STEWARD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4AD85-E5C6-4383-8481-C9644759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Governance, Privacy, Legal, Security, or Risk Lead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D13F1-CCF2-4EFD-AC0B-3BD9AF68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FOUNDATION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F2031-674B-47D3-95F8-5C00B7DE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26BB0-82CE-4547-A125-57BF21DD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As a governance or risk lead, I want a pathway that works before a formal committee exists so that the agency can establish accountable AI review.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28733D-6145-413C-A1A6-B8FDE254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4DCE6-5DA2-4A80-AEBE-FEB5C122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 · TRIGGER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4EE346-7E8B-4E20-BE40-8DCD4212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AI review is happening inconsistently—or no AI governance committee exists yet.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1CA8F4-5A8A-489C-9C04-8CE7F489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C501B-72A0-4E8F-959E-202F491B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7AC2CF-A16B-4A35-80F2-278203AE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C4783F-B5CB-47E2-8DD9-7AF398C7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 · FIND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D8653-9F56-441E-AD65-185A2B26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Starts with readiness findings, then follows Play 3 to establish governance and decision rights.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3FAEE-6FD1-452D-A947-3950C705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4E5AF9-8840-44B0-9D51-F6930A92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775006-3D00-48FE-95E9-18005BCA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664C94-16BB-4819-8915-CB28EB16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 · 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60FCC4-9EA4-4C5C-B86C-B64E0D4C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Uses Foundation tools to define responsibilities, approval routes, risk review, inventory, and oversight.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59288A-CB6B-4722-854C-AA6AF7D2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CC77CB-B12D-42F8-8E13-2F7E310E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77AB94-588D-4A9A-866D-AE2A7C96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DF6EE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93055F-FA51-477D-A1A7-E52B9103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 · 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59CECB-0788-41E3-A7BB-CAB19F89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Every proposed workflow has an accountable owner, required reviews, and a documented next decision.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89C4A0-5726-452D-909C-2192E134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91A1D5-A004-401D-908D-4724AC0A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Foundation touchpoints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D1832B-F548-422B-B10C-C8534273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14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Assessment · Plays 1–3 and 12 · Foundation tools · Resources</a:t>
            </a:r>
          </a:p>
        </p:txBody>
      </p:sp>
    </p:spTree>
    <p:extLst>
      <p:ext uri="{BB962C8B-B14F-4D97-AF65-F5344CB8AC3E}">
        <p14:creationId xmlns:p14="http://schemas.microsoft.com/office/powerpoint/2010/main" val="5829364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44DAD4-4233-4DAC-A25D-95F9D627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MISSING-VOICES ADVOCATE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6AADA-5E9F-4947-84A3-DD0EB2AD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Equity &amp; Community Engagement Lead / Community Partner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8E7AC-9E3E-4999-8759-DF311C63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FOUNDATION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902E8-5E2D-4254-879F-F5C2DB4B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23B67-E2D9-475D-9DC3-8B2849FB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As an equity or community-engagement lead, I want affected communities and decision influence documented so that engagement changes the work rather than merely validating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CDA97-3E6F-48A9-A72F-37F50A1C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1C9A0-E74F-4D91-81D1-8358FCFB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 · TRIGGER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3DBABE-CF6C-4E76-B2B9-3A2F4BEA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 proposed AI workflow affects communities, but engagement and equity review began too late.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8B69C-AB71-4449-97A2-8326E317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E71E14-A63C-4CB2-9C7E-7E15CA4A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659F57-1026-474F-8FE6-498643EA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F5DF6A-0991-4749-A0A7-D8153799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 · FIND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CCDE17-2856-486A-8EB6-B9D8789E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Finds equity, community-engagement, accessibility, and Tribal data-governance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4FBC42-37E1-460F-8A1D-87274360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2D998B-2D10-4A64-B9AE-B6BD390D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4B42E6-BABF-4CE5-B645-4A4A1D00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05AA3F-5EE8-4AC7-BEA2-DA4D90E5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 · 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037D30-1378-4FA8-88CD-6FA5FCD6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Identifies affected groups, unresolved concerns, mitigations, decision influence, and accountable reviewers.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FC3AA7-8FFC-4625-A7BF-F4D8AD75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6692A4-B734-4405-A1A5-0073A0F2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F91CC3-167C-4B76-9D36-8F3FF26A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DF6EE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87BCB6-B82D-4963-92DD-0DE461DB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 · 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20EC05-C10B-46D6-86C5-4CC87906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Community input changes decisions and unresolved risks reach an accountable approver.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106080-3ACA-4128-AC07-2741327B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E4497A-3B99-4F17-9549-92DD120C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Foundation touchpoints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2E0744-3CF6-4CF5-819D-64821D41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14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Plays 3–7 and 12 · Equity resources · Foundation tool</a:t>
            </a:r>
          </a:p>
        </p:txBody>
      </p:sp>
    </p:spTree>
    <p:extLst>
      <p:ext uri="{BB962C8B-B14F-4D97-AF65-F5344CB8AC3E}">
        <p14:creationId xmlns:p14="http://schemas.microsoft.com/office/powerpoint/2010/main" val="3290167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CD1538-095C-4683-BB9D-B81CCEF3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COMMERCIAL AND SUSTAINABILITY GATEKEEPER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D787FC-E751-4D83-85C5-7ED4924B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Procurement / Finance / Grants Lead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2729C-502E-48E9-85A7-9A972AFC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FOUNDATION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A0A57-C4CA-41D2-BEC0-138E2878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1446E-A3D3-48BA-9096-3FB6F18B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As a procurement or finance lead, I want a structured vendor review so that price, evidence, data rights, accessibility, and exit obligations are evaluated together.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FC417-6EB7-48D0-81EB-E1AB7188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A1E40-EED6-4D35-961B-D2ABC54A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 · TRIGGER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4AB2AD-D083-461C-98D4-A686FDAD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 vendor proposal emphasizes features but omits total cost, audit evidence, data rights, and exit terms.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853F80-464A-466C-BC5A-45B89D50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70A52D-3288-45D7-8AA7-C4976912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F0C478-B748-45C7-A6F1-237268FB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65CFC7-59CB-4A9E-BA69-B458A3D0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 · FIND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BC0615-2800-43B5-B49D-62FCDA77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Finds vendor evaluation, procurement, funding, and sustainability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19D7F6-09DE-43BE-8F0C-A781BA60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D99350-448E-4B25-B930-D3C31882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BE5F69-2ED5-43D0-B2F8-165AB963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BE3782-E49A-4004-A560-C9F99178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 · 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5444D6-97B7-4DB7-903D-FE6F38E0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Uses the Foundation checklist to document evidence, contract needs, owners, dates, and unresolved questions.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29B98-E771-42C1-BB2C-90F240A7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6DFC92-5583-4ABC-90DD-E59181AE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B62DDC-2E35-4510-9388-8CCAE6E4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DF6EE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9F6E11-B75B-4243-9C99-C687AAD4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 · 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D745BD-88A7-45BE-B4FF-2CF65D04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The decision covers implementation, evaluation, operations, and exit—not only acquisition.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67758F-82E4-4E09-8B34-B97BD8E4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B16BFC-F9FC-4DC3-83D5-A2B0DA26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Foundation touchpoints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84DBCD-29AA-4B6B-89BB-6863B987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14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Plays 7–11 · Vendor resources · Foundation tool</a:t>
            </a:r>
          </a:p>
        </p:txBody>
      </p:sp>
    </p:spTree>
    <p:extLst>
      <p:ext uri="{BB962C8B-B14F-4D97-AF65-F5344CB8AC3E}">
        <p14:creationId xmlns:p14="http://schemas.microsoft.com/office/powerpoint/2010/main" val="17055269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37C562-694F-4D69-BB35-A389654B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ADOPTION ENABLER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15CB2-43FC-4814-9E11-CE0F51B2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Workforce / Training Lead or AI Champion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180EF-056F-49C8-87B1-77B11192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FOUNDATION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C20696-10C8-4D3A-A342-51533EEC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206449-0A33-439A-B8AF-DFF16913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As a workforce lead, I want role-aligned learning recommendations so that completion reflects job responsibilities rather than a generic curriculum.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3ECF0-9F5E-4F60-AD57-78613A16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BF9AB-7C7C-4333-B05C-ABB8C6C1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 · TRIGGER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D8702-E283-41A8-B764-5B1B5BC6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Staff receive one-size-fits-all AI training that is disconnected from their responsibilities.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230342-723A-4B39-B918-4A8F3FF7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5825B6-0123-4D19-BFB6-59D53D11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68F6C5-1B5C-49CC-BDBA-3B3AC545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F9042E-2D3D-48D9-89FB-CE22DF2B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 · FIND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3B7123-6534-4D6B-86D6-C6AB33D0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Uses the learning assessment, role pathways, curriculum overview, and Foundation modules.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F8AF0C-B3C3-404C-85C8-ECE626BE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7197EE-725E-41B4-AB7E-22D2EFF6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60B667-43E7-4CAB-9ACE-D42B11D3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B489CB-47F2-4FA6-8BF3-E6145FA4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 · 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9EE8BC-2416-482F-A367-9D63524E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Helps staff complete shared foundations and interpret role-specific recommendations.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A01B70-D1F0-4E0F-923B-7933C5DE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6B2637-4AD5-4878-A3BB-18DD1FA2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101C64-DA65-49FF-ABF9-6D73CFC5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DF6EE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9030C9-1B79-4ACE-B4DE-45FED89F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 · 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92EDCE-3672-4FC5-95DD-B49EAA5D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Staff build the competencies needed to develop, use, and govern AI—and know when to escalate.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1876AC-7BF4-4DA3-8A5A-8723FD7B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A3AFD3-8E93-43B6-A8B6-4017E2D2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Foundation touchpoints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7A96E1-6BC6-487D-A702-B9175682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14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Learning pathways · Assessment · Foundation modules · My Account</a:t>
            </a:r>
          </a:p>
        </p:txBody>
      </p:sp>
    </p:spTree>
    <p:extLst>
      <p:ext uri="{BB962C8B-B14F-4D97-AF65-F5344CB8AC3E}">
        <p14:creationId xmlns:p14="http://schemas.microsoft.com/office/powerpoint/2010/main" val="2904565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A72959-CC88-41B1-8592-E01CD3DF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WORKSPACE COORDINATOR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97BA57-D0CB-4333-9195-3A3D8305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Organization Administrator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B17E5-594D-43B6-B7F0-E860A264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FOUNDATION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973FA-F797-4B2F-992C-91CD6783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D4401-181A-4160-B245-12EF7C3E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As an organization administrator, I want clear individual-versus-organization boundaries so that I can plan adoption without assuming Foundation includes shared administration.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9CBE96-0CC2-4F4C-8A86-A204470D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EC9CC-856C-4D24-B3BE-C3081FDD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 · TRIGGER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B1C861-CACD-40BE-9D1F-E9CC2142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 department needs coordinated progress, but Foundation accounts remain individual and privacy boundaries matter.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D0C6FB-454D-4AF7-9F72-0F5EE273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11284F-F043-4D06-914D-7D549750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C981C9-8107-4889-8D25-F5F47D22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BB959-9BBA-490F-9F26-18AA1A53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 · FIND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E8794E-16FF-42C8-9FD1-7A621B98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Uses the Foundation My Account experience and edition information to understand current and future capabilities.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F5C956-11B4-4CAF-B6DC-2C7001B5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A265D5-AF54-46DE-9E18-C55C7280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94E69C-0932-488F-9533-C1D43F11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66EC8D-7F02-4D34-BCAF-18CCC08D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 · 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B1DDA4-E109-4BA8-A10A-63CD6333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Tracks personal artifacts and learning, then evaluates when organization-level workspaces and administration are needed.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C221EA-4CA5-436E-99A7-7ADE11A9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634718-F96B-451D-B21E-5EBDBB8D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8273DD-8018-4907-B563-05D8C00D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DF6EE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C24DC6-DA16-435A-BDCE-6CC14520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 · 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FEC951-F1C2-4048-8A2B-5439F113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The organization can adopt Foundation safely without implying access to other users' private records.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2859FA-EB46-4534-97D3-DFDA2635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22F907-0A8E-4FD8-ADB0-7D135A40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Foundation touchpoints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0E247C-5741-423C-A617-30A428FD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14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My Account · Edition comparison · Consulting · Future organization features</a:t>
            </a:r>
          </a:p>
        </p:txBody>
      </p:sp>
    </p:spTree>
    <p:extLst>
      <p:ext uri="{BB962C8B-B14F-4D97-AF65-F5344CB8AC3E}">
        <p14:creationId xmlns:p14="http://schemas.microsoft.com/office/powerpoint/2010/main" val="17742344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DF837C-58AD-4243-8B9B-329317BA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ROLE-BASED USER STORIES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0E610-7822-4F0F-8699-8B3D8BF1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User stories: leadership, evidence, and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066C3-5427-4EA0-A306-C9A589F5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FOUNDATION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D697D-7326-42ED-A0E1-0092A7EA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39AB3-2FD6-40F7-996C-CBC12797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1681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Health Officer / Executive Sponsor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9B0F7-5005-4AD6-A918-BDBCD421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621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As an executive sponsor, I want a short, evidence-informed pathway so that I can authorize responsible next steps without becoming an AI specialist.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7D614-5859-425D-9B00-74FAD1FF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526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Done when: Path reflects assessment responses · Play 2 is included as readiness planning—not only scoring · Results can be saved to a free account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EC231-51C0-4618-BB68-9B0FAC8E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D5"/>
          </a:solidFill>
          <a:ln xmlns:a="http://schemas.openxmlformats.org/drawingml/2006/main" w="0">
            <a:solidFill>
              <a:srgbClr val="B9C9D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54F09-F91E-4BB8-A431-0E126C3D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Epidemiologist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C33D17-4BAB-40A3-BE4B-01E01341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7655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As an epidemiologist, I want to connect a proposed workflow to validation and monitoring guidance so that scientific judgment remains explicit.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7B1025-2B8E-4970-A56F-88FF02C4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Done when: Public health examples explain selections · Unknown and multiple custom categories are supported · Tasks include owner and due 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DFCFED-39C5-476D-99EB-CC2342DB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D5"/>
          </a:solidFill>
          <a:ln xmlns:a="http://schemas.openxmlformats.org/drawingml/2006/main" w="0">
            <a:solidFill>
              <a:srgbClr val="B9C9D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1E82C5-99F5-4EB7-ADDF-4E169404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Informatics Director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039841-9AB4-4911-BA7F-94B7A62A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910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As an informatics director, I want readiness findings linked to implementation dependencies so that programs build on shared infrastructure and governance.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B3D81C-526A-4017-BE0E-929404AB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815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Done when: Recommendations appear in numeric order · Records preserve stable play and tool IDs · Saved results can be resumed later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33D19-0DF8-4984-8672-0A9B733A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D5"/>
          </a:solidFill>
          <a:ln xmlns:a="http://schemas.openxmlformats.org/drawingml/2006/main" w="0">
            <a:solidFill>
              <a:srgbClr val="B9C9D5"/>
            </a:solidFill>
          </a:ln>
        </p:spPr>
      </p:sp>
    </p:spTree>
    <p:extLst>
      <p:ext uri="{BB962C8B-B14F-4D97-AF65-F5344CB8AC3E}">
        <p14:creationId xmlns:p14="http://schemas.microsoft.com/office/powerpoint/2010/main" val="12517560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0AA18-4A0E-4378-9675-ECBB41E5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ROLE-BASED USER STORIES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1B8719-1724-433E-96B7-82B9B53D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User stories: programs, technology, and communications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92A02-B188-47CD-8FFD-4D6E5A34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FOUNDATION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CC0D5-0DAB-4B2B-8C8C-D6AC999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DD6D1-1C0D-4C2A-B26B-AEC22CF6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Program Manager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86094-BB90-4447-9FDA-27EF6E6C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621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As a program manager, I want guided fields and realistic examples so that I can turn an operational problem into a review-ready use case.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EC826-4918-476E-85A5-7B091482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526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Done when: Intro explains when, why, how, and who · Selected items generate documentation fields below · Additional activities can be added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C84DF-1BEA-4326-B127-4A4428CE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D5"/>
          </a:solidFill>
          <a:ln xmlns:a="http://schemas.openxmlformats.org/drawingml/2006/main" w="0">
            <a:solidFill>
              <a:srgbClr val="B9C9D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824F42-63C4-42C7-A8DF-15F99A6E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IT / Technical Lead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469FF6-5EA8-42D0-A5A3-3EDD16ED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7655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As a technical lead, I want implementation requirements connected to owners and approvals so that operational risks are visible before deployment.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10836-D5AA-4E94-9BE7-6B844223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Done when: No PHI or sensitive-data entry is encouraged · Approvers are distinct from responsible staff · Requirements can be downloaded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21024-4A10-4EAF-B145-FCA2F319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D5"/>
          </a:solidFill>
          <a:ln xmlns:a="http://schemas.openxmlformats.org/drawingml/2006/main" w="0">
            <a:solidFill>
              <a:srgbClr val="B9C9D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7CAA9E-7EE4-4A1C-A4D2-5883789E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Communications Professional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38A9E3-3022-4AB7-A240-D5749ECF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910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As a communications professional, I want a review pathway for AI-assisted content so that speed does not displace accuracy, accessibility, or trust.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E8B008-B529-4C9F-A5DB-3F590FBF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815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Done when: Examples use realistic public health advisories · Review roles follow RASCI categories · Approval is explicitly captured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3A2B5D-92F5-400C-B2DC-9A384C27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D5"/>
          </a:solidFill>
          <a:ln xmlns:a="http://schemas.openxmlformats.org/drawingml/2006/main" w="0">
            <a:solidFill>
              <a:srgbClr val="B9C9D5"/>
            </a:solidFill>
          </a:ln>
        </p:spPr>
      </p:sp>
    </p:spTree>
    <p:extLst>
      <p:ext uri="{BB962C8B-B14F-4D97-AF65-F5344CB8AC3E}">
        <p14:creationId xmlns:p14="http://schemas.microsoft.com/office/powerpoint/2010/main" val="82308688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1A3B6F-1551-4CDD-A0FA-B541956C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ROLE-BASED USER STORIES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24A11-4449-4605-A1C2-9C7ACEA3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User stories: evidence, learning, and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A6EAD0-8136-4087-983C-A59B7E4F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FOUNDATION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7D558-D62C-45A8-B35C-F50989F0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1A664-28E8-446E-9016-CEFC9431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Researcher / Evaluator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6C1B0-17A5-4858-9668-7885A08B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621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As a researcher, I want provenance and evidence labels connected to implementation guidance so that I can distinguish credible findings from promotional claims.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ACC77-B798-4E98-9603-1378BC53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526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Done when: Source and review dates are visible · Limitations remain attached to examples · Evaluation fields support custom measures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51E89-F7AB-4CB1-BC31-7CF1753D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D5"/>
          </a:solidFill>
          <a:ln xmlns:a="http://schemas.openxmlformats.org/drawingml/2006/main" w="0">
            <a:solidFill>
              <a:srgbClr val="B9C9D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ED6683-92D2-4982-BE9F-C6360F63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Student / Learner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5F79B6-46FC-4E97-AF12-CEEB5CEF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7655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As a learner, I want questions matched to my role and experience so that my recommended modules address real competency gaps.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B53750-5B38-4C68-B845-EA648149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Done when: Foundation questions use plain language · Role competencies scale to the role · Unavailable advanced modules are labeled as other-edition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203DB9-7752-4FB4-81DE-334737AF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D5"/>
          </a:solidFill>
          <a:ln xmlns:a="http://schemas.openxmlformats.org/drawingml/2006/main" w="0">
            <a:solidFill>
              <a:srgbClr val="B9C9D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CF9C6A-E726-49D3-A535-E35ADCD7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Governance, Privacy, Legal, Security, or Risk Lead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57C138-BCDB-4767-BD25-3FB55A8A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910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As a governance or risk lead, I want a pathway that works before a formal committee exists so that the agency can establish accountable AI review.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2846AD-A593-440C-AC2D-5038A48A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815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Done when: Play 3 clearly establishes governance · RASCI uses named roles—not vague departments · Existing governance structures can be reused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390595-B99D-480A-AF02-1307290A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D5"/>
          </a:solidFill>
          <a:ln xmlns:a="http://schemas.openxmlformats.org/drawingml/2006/main" w="0">
            <a:solidFill>
              <a:srgbClr val="B9C9D5"/>
            </a:solidFill>
          </a:ln>
        </p:spPr>
      </p:sp>
    </p:spTree>
    <p:extLst>
      <p:ext uri="{BB962C8B-B14F-4D97-AF65-F5344CB8AC3E}">
        <p14:creationId xmlns:p14="http://schemas.microsoft.com/office/powerpoint/2010/main" val="117630809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51B1E2-B7EC-4941-A266-D56C0F10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ROLE-BASED USER STORIES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BA8E5-1348-4D56-A5BC-164C61A4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User stories: equity, procurement, and workforce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F23AC-0FE8-4171-9E83-9EE5709D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FOUNDATION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110ED-657B-4558-9426-2D988547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C424B-41C5-49D7-98C3-F2F17996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Equity &amp; Community Engagement Lead / Community Partner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7EDAF-F9FE-4485-BCBD-3B54A620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621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As an equity or community-engagement lead, I want affected communities and decision influence documented so that engagement changes the work rather than merely validating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DF857-2BC8-47D2-9669-CB598A6B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526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Done when: Multiple custom community categories are supported · Concerns and mitigations have owners · Decision influence is recorded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55EEE-2364-4F69-ADC1-270ECD15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D5"/>
          </a:solidFill>
          <a:ln xmlns:a="http://schemas.openxmlformats.org/drawingml/2006/main" w="0">
            <a:solidFill>
              <a:srgbClr val="B9C9D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08DD35-0E96-40BF-9A02-E4048770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576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Procurement / Finance / Grants Lead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C8F97-A44B-4F1B-B1A8-B0BE6E96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7655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As a procurement or finance lead, I want a structured vendor review so that price, evidence, data rights, accessibility, and exit obligations are evaluated together.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2DE742-7ADA-40D8-9F3E-1B27BB60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Done when: Vendor claims require evidence · Other requirements can be added repeatedly · Unresolved items feed task tracking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EFB279-1D40-4DB0-961C-DD7CB2A2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D5"/>
          </a:solidFill>
          <a:ln xmlns:a="http://schemas.openxmlformats.org/drawingml/2006/main" w="0">
            <a:solidFill>
              <a:srgbClr val="B9C9D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3A9218-D372-42DF-9BBA-51DB9634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7495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Workforce / Training Lead or AI Champion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C89176-244F-4623-8B74-C4546B73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910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As a workforce lead, I want role-aligned learning recommendations so that completion reflects job responsibilities rather than a generic curriculum.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0EC300-7499-4379-A42C-B5908796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815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Done when: INT 250 is required for all staff · Modules—not courses—are the standard term · Progress and recommendations are saved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E0DD62-3004-43C1-8DF6-2E91258B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D5"/>
          </a:solidFill>
          <a:ln xmlns:a="http://schemas.openxmlformats.org/drawingml/2006/main" w="0">
            <a:solidFill>
              <a:srgbClr val="B9C9D5"/>
            </a:solidFill>
          </a:ln>
        </p:spPr>
      </p:sp>
    </p:spTree>
    <p:extLst>
      <p:ext uri="{BB962C8B-B14F-4D97-AF65-F5344CB8AC3E}">
        <p14:creationId xmlns:p14="http://schemas.microsoft.com/office/powerpoint/2010/main" val="146418976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C3D49E-26C6-4683-80DE-01D3C9FC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ROLE-BASED USER STORIES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A49C5-00B4-4B66-A0FA-020BFF16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User story: individual and organization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CD974-B0F6-4CF8-BD12-3D72BD6E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FOUNDATION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3DB60-060C-4D64-A9A2-486B44B0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4EC7B-67E5-4E2B-8D95-D48CEDCF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Organization Administrator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2D795F-00E6-40DC-8D65-10E56287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621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As an organization administrator, I want clear individual-versus-organization boundaries so that I can plan adoption without assuming Foundation includes shared administration.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4CD95-017E-4CCF-AD18-8F2CFEF5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526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Done when: Foundation My Account is simple and individual · Organization capabilities are clearly labeled as another edition · Consulting support is obvious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4D37F1-EE8D-4903-8711-8D74E739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D5"/>
          </a:solidFill>
          <a:ln xmlns:a="http://schemas.openxmlformats.org/drawingml/2006/main" w="0">
            <a:solidFill>
              <a:srgbClr val="B9C9D5"/>
            </a:solidFill>
          </a:ln>
        </p:spPr>
      </p:sp>
    </p:spTree>
    <p:extLst>
      <p:ext uri="{BB962C8B-B14F-4D97-AF65-F5344CB8AC3E}">
        <p14:creationId xmlns:p14="http://schemas.microsoft.com/office/powerpoint/2010/main" val="72763582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DDB160-B601-4FA0-BA78-AC7A133D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PRODUCT IMPLICATIONS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A7E56-9191-4E9E-B8B9-109C9CD1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228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Design the Foundation Edition around six non-negotiable experiences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9A7AF-5288-4462-BE36-F0E32A29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FOUNDATION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82A92E-9FFD-4EEC-B63A-6259967E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A876C-8367-4847-835F-FD42ED9C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B2FBE-C56F-4AF9-997D-0B53112F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66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Role-aware entry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190A79-5DC1-4199-A7B1-0D3FB884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4668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Users can start by responsibility without losing access to the full pathway.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D3147-A992-497B-BC6C-ADC74B52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612F8-6C3A-4326-9609-F3241FBD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479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Personalized direction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CFC08-1618-4840-97E8-B43FC7FB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479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Readiness and learning assessments produce saved, ordered recommendations.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C9B3FC-04C7-41B5-9B3F-668A9245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F92E32-2516-4E04-9017-336A5C45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Guided documentation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3AF638-E47E-452C-98BB-A00021D3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289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Tools explain when, why, how, who, and approval—and create details only when needed.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EA1C31-85F7-4875-ADFF-1553EEF8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E092B7-A17A-43E4-B457-3FEF7B79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Public health realism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2F019F-0E26-453A-BF4C-F9C720EA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00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Examples follow coherent scenarios and show why a selection would be made.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173694-9F4A-4D53-96EA-650BF6FF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10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28F4AB-1101-4712-B621-08C7DA7B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91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Clear edition boundaries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8AAC0F-6A6C-4D3C-994F-B8B69A05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910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Foundation is complete at its level; advanced capabilities are available in other editions.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958E58-AE6E-4D59-A7B3-1C2D968F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721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0FF3BF-841A-4232-88C4-DE4F5019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721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Trustworthy persistence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10717F-DB72-47CD-A96D-833EFDD0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3721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 free account saves private work without implying organization-wide visibility.</a:t>
            </a:r>
          </a:p>
        </p:txBody>
      </p:sp>
    </p:spTree>
    <p:extLst>
      <p:ext uri="{BB962C8B-B14F-4D97-AF65-F5344CB8AC3E}">
        <p14:creationId xmlns:p14="http://schemas.microsoft.com/office/powerpoint/2010/main" val="14473767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2026-08-22T03:52:01.6290000Z</dcterms:created>
  <dcterms:modified xsi:type="dcterms:W3CDTF">2026-08-22T03:52:01.6300000Z</dcterms:modified>
</coreProperties>
</file>