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 need to.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 AI-enabled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FHIR in practical public health terms.</a:t>
            </a:r>
            <a:endParaRPr lang="en-US" sz="2100" dirty="0"/>
          </a:p>
          <a:p>
            <a:r>
              <a:rPr lang="en-US" sz="2100" dirty="0">
                <a:solidFill>
                  <a:srgbClr val="17364A"/>
                </a:solidFill>
                <a:latin typeface="Aptos" pitchFamily="34" charset="0"/>
                <a:ea typeface="Aptos" pitchFamily="34" charset="-122"/>
                <a:cs typeface="Aptos" pitchFamily="34" charset="-120"/>
              </a:rPr>
              <a:t>Identify FHIR resources commonly relevant to public health AI use cases.</a:t>
            </a:r>
            <a:endParaRPr lang="en-US" sz="2100" dirty="0"/>
          </a:p>
          <a:p>
            <a:r>
              <a:rPr lang="en-US" sz="2100" dirty="0">
                <a:solidFill>
                  <a:srgbClr val="17364A"/>
                </a:solidFill>
                <a:latin typeface="Aptos" pitchFamily="34" charset="0"/>
                <a:ea typeface="Aptos" pitchFamily="34" charset="-122"/>
                <a:cs typeface="Aptos" pitchFamily="34" charset="-120"/>
              </a:rPr>
              <a:t>Explain the role of profiles, implementation guides, and APIs.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FHIR in practical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2100" dirty="0"/>
          </a:p>
          <a:p>
            <a:r>
              <a:rPr lang="en-US" sz="2100" dirty="0">
                <a:solidFill>
                  <a:srgbClr val="17364A"/>
                </a:solidFill>
                <a:latin typeface="Aptos" pitchFamily="34" charset="0"/>
                <a:ea typeface="Aptos" pitchFamily="34" charset="-122"/>
                <a:cs typeface="Aptos" pitchFamily="34" charset="-120"/>
              </a:rPr>
              <a:t>A FHIR API can allow an approved application to request specific resources, such as Patient,.</a:t>
            </a:r>
            <a:endParaRPr lang="en-US" sz="2100" dirty="0"/>
          </a:p>
          <a:p>
            <a:r>
              <a:rPr lang="en-US" sz="2100" dirty="0">
                <a:solidFill>
                  <a:srgbClr val="17364A"/>
                </a:solidFill>
                <a:latin typeface="Aptos" pitchFamily="34" charset="0"/>
                <a:ea typeface="Aptos" pitchFamily="34" charset="-122"/>
                <a:cs typeface="Aptos" pitchFamily="34" charset="-120"/>
              </a:rPr>
              <a:t>This can support case summaries, decision support, cohort identification, immunization review, referral.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resource.</a:t>
            </a:r>
            <a:endParaRPr lang="en-US" sz="2100" dirty="0"/>
          </a:p>
          <a:p>
            <a:r>
              <a:rPr lang="en-US" sz="2100" dirty="0">
                <a:solidFill>
                  <a:srgbClr val="17364A"/>
                </a:solidFill>
                <a:latin typeface="Aptos" pitchFamily="34" charset="0"/>
                <a:ea typeface="Aptos" pitchFamily="34" charset="-122"/>
                <a:cs typeface="Aptos" pitchFamily="34" charset="-120"/>
              </a:rPr>
              <a:t>A FHIR resource is a structured representation of a type of health information, such as Patient,.</a:t>
            </a:r>
            <a:endParaRPr lang="en-US" sz="2100" dirty="0"/>
          </a:p>
          <a:p>
            <a:r>
              <a:rPr lang="en-US" sz="2100" dirty="0">
                <a:solidFill>
                  <a:srgbClr val="17364A"/>
                </a:solidFill>
                <a:latin typeface="Aptos" pitchFamily="34" charset="0"/>
                <a:ea typeface="Aptos" pitchFamily="34" charset="-122"/>
                <a:cs typeface="Aptos" pitchFamily="34" charset="-120"/>
              </a:rPr>
              <a:t>AI tools may use combinations of resources to support a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resource.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 Core.</a:t>
            </a:r>
            <a:endParaRPr lang="en-US" sz="2100" dirty="0"/>
          </a:p>
          <a:p>
            <a:r>
              <a:rPr lang="en-US" sz="2100" dirty="0">
                <a:solidFill>
                  <a:srgbClr val="17364A"/>
                </a:solidFill>
                <a:latin typeface="Aptos" pitchFamily="34" charset="0"/>
                <a:ea typeface="Aptos" pitchFamily="34" charset="-122"/>
                <a:cs typeface="Aptos" pitchFamily="34" charset="-120"/>
              </a:rPr>
              <a:t>US Core defines profiles for core U.S. clinical data exchange.</a:t>
            </a:r>
            <a:endParaRPr lang="en-US" sz="2100" dirty="0"/>
          </a:p>
          <a:p>
            <a:r>
              <a:rPr lang="en-US" sz="2100" dirty="0">
                <a:solidFill>
                  <a:srgbClr val="17364A"/>
                </a:solidFill>
                <a:latin typeface="Aptos" pitchFamily="34" charset="0"/>
                <a:ea typeface="Aptos" pitchFamily="34" charset="-122"/>
                <a:cs typeface="Aptos" pitchFamily="34" charset="-120"/>
              </a:rPr>
              <a:t>It can support common data access patterns, but public health workflows may require additional public.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 Core.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2100" dirty="0"/>
          </a:p>
          <a:p>
            <a:r>
              <a:rPr lang="en-US" sz="2100" dirty="0">
                <a:solidFill>
                  <a:srgbClr val="17364A"/>
                </a:solidFill>
                <a:latin typeface="Aptos" pitchFamily="34" charset="0"/>
                <a:ea typeface="Aptos" pitchFamily="34" charset="-122"/>
                <a:cs typeface="Aptos" pitchFamily="34" charset="-120"/>
              </a:rPr>
              <a:t>The tool might need Patient, Encounter, Condition, Observation, DiagnosticReport, MedicationRequest,.</a:t>
            </a:r>
            <a:endParaRPr lang="en-US" sz="2100" dirty="0"/>
          </a:p>
          <a:p>
            <a:r>
              <a:rPr lang="en-US" sz="2100" dirty="0">
                <a:solidFill>
                  <a:srgbClr val="17364A"/>
                </a:solidFill>
                <a:latin typeface="Aptos" pitchFamily="34" charset="0"/>
                <a:ea typeface="Aptos" pitchFamily="34" charset="-122"/>
                <a:cs typeface="Aptos" pitchFamily="34" charset="-120"/>
              </a:rPr>
              <a:t>Staff need to verify whether the source system can provide these resources, whether the data include.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identify the public health decision or task, the data elements required, the FHIR.</a:t>
            </a:r>
            <a:endParaRPr lang="en-US" sz="2100" dirty="0"/>
          </a:p>
          <a:p>
            <a:r>
              <a:rPr lang="en-US" sz="2100" dirty="0">
                <a:solidFill>
                  <a:srgbClr val="17364A"/>
                </a:solidFill>
                <a:latin typeface="Aptos" pitchFamily="34" charset="0"/>
                <a:ea typeface="Aptos" pitchFamily="34" charset="-122"/>
                <a:cs typeface="Aptos" pitchFamily="34" charset="-120"/>
              </a:rPr>
              <a:t>This prevents over-general claims about FHIR from substituting for a concrete data needs analysis.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FHIR-compatible but incomplete.</a:t>
            </a:r>
            <a:endParaRPr lang="en-US" sz="2100" dirty="0"/>
          </a:p>
          <a:p>
            <a:r>
              <a:rPr lang="en-US" sz="2100" dirty="0">
                <a:solidFill>
                  <a:srgbClr val="17364A"/>
                </a:solidFill>
                <a:latin typeface="Aptos" pitchFamily="34" charset="0"/>
                <a:ea typeface="Aptos" pitchFamily="34" charset="-122"/>
                <a:cs typeface="Aptos" pitchFamily="34" charset="-120"/>
              </a:rPr>
              <a:t>A product may support FHIR but not the data needed for the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needs worksheets, test queries, and acceptance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FHIR-compatible but incomplete.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risk.</a:t>
            </a:r>
            <a:endParaRPr lang="en-US" sz="2100" dirty="0"/>
          </a:p>
          <a:p>
            <a:r>
              <a:rPr lang="en-US" sz="2100" dirty="0">
                <a:solidFill>
                  <a:srgbClr val="17364A"/>
                </a:solidFill>
                <a:latin typeface="Aptos" pitchFamily="34" charset="0"/>
                <a:ea typeface="Aptos" pitchFamily="34" charset="-122"/>
                <a:cs typeface="Aptos" pitchFamily="34" charset="-120"/>
              </a:rPr>
              <a:t>FHIR APIs may support updates or task creation.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human approval, restricted permissions, sandbox testing, and rollback procedures.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risk.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derived from FHIR resources, which requires stable extraction and.</a:t>
            </a:r>
            <a:endParaRPr lang="en-US" sz="2100" dirty="0"/>
          </a:p>
          <a:p>
            <a:r>
              <a:rPr lang="en-US" sz="2100" dirty="0">
                <a:solidFill>
                  <a:srgbClr val="17364A"/>
                </a:solidFill>
                <a:latin typeface="Aptos" pitchFamily="34" charset="0"/>
                <a:ea typeface="Aptos" pitchFamily="34" charset="-122"/>
                <a:cs typeface="Aptos" pitchFamily="34" charset="-120"/>
              </a:rPr>
              <a:t>RAG may combine FHIR-derived facts with agency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2100" dirty="0"/>
          </a:p>
          <a:p>
            <a:r>
              <a:rPr lang="en-US" sz="2100" dirty="0">
                <a:solidFill>
                  <a:srgbClr val="17364A"/>
                </a:solidFill>
                <a:latin typeface="Aptos" pitchFamily="34" charset="0"/>
                <a:ea typeface="Aptos" pitchFamily="34" charset="-122"/>
                <a:cs typeface="Aptos" pitchFamily="34" charset="-120"/>
              </a:rPr>
              <a:t>Which data elements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Are those elements available through FHIR in the source systems?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profiles or implementation guides apply?</a:t>
            </a:r>
            <a:endParaRPr lang="en-US" sz="2100" dirty="0"/>
          </a:p>
          <a:p>
            <a:r>
              <a:rPr lang="en-US" sz="210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profiles or implementation guides apply?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data elements, relevant FHIR resources, source systems, API method,.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checklist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checklist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FHIR resource?</a:t>
            </a:r>
            <a:endParaRPr lang="en-US" sz="2100" dirty="0"/>
          </a:p>
          <a:p>
            <a:r>
              <a:rPr lang="en-US" sz="2100" dirty="0">
                <a:solidFill>
                  <a:srgbClr val="17364A"/>
                </a:solidFill>
                <a:latin typeface="Aptos" pitchFamily="34" charset="0"/>
                <a:ea typeface="Aptos" pitchFamily="34" charset="-122"/>
                <a:cs typeface="Aptos" pitchFamily="34" charset="-120"/>
              </a:rPr>
              <a:t>2. Why does FHIR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3. What should staff verify when a vendor says a product is FHIR-compatible?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FHIR resource?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https://hl7.org/fhir/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2026-07-12T20:15:59Z</dcterms:created>
  <dcterms:modified xsi:type="dcterms:W3CDTF">2026-07-12T20:15:59Z</dcterms:modified>
</cp:coreProperties>
</file>