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 what data they rely on, how they were.</a:t>
            </a:r>
            <a:endParaRPr lang="en-US" sz="1700" dirty="0"/>
          </a:p>
          <a:p>
            <a:r>
              <a:rPr lang="en-US" sz="1700" dirty="0">
                <a:solidFill>
                  <a:srgbClr val="17364A"/>
                </a:solidFill>
                <a:latin typeface="Aptos" pitchFamily="34" charset="0"/>
                <a:ea typeface="Aptos" pitchFamily="34" charset="-122"/>
                <a:cs typeface="Aptos" pitchFamily="34" charset="-120"/>
              </a:rPr>
              <a:t>Public health agencies may need this evidence for internal oversight, public records requests, legal review, grant reporting, procurement.</a:t>
            </a:r>
            <a:endParaRPr lang="en-US" sz="1700" dirty="0"/>
          </a:p>
          <a:p>
            <a:r>
              <a:rPr lang="en-US" sz="1700" dirty="0">
                <a:solidFill>
                  <a:srgbClr val="17364A"/>
                </a:solidFill>
                <a:latin typeface="Aptos" pitchFamily="34" charset="0"/>
                <a:ea typeface="Aptos" pitchFamily="34" charset="-122"/>
                <a:cs typeface="Aptos" pitchFamily="34" charset="-120"/>
              </a:rPr>
              <a:t>This module teaches governance, compliance, program, and leadership staff how to manage evidence across the AI lifecycle.</a:t>
            </a:r>
            <a:endParaRPr lang="en-US" sz="1700" dirty="0"/>
          </a:p>
          <a:p>
            <a:r>
              <a:rPr lang="en-US" sz="1700" dirty="0">
                <a:solidFill>
                  <a:srgbClr val="17364A"/>
                </a:solidFill>
                <a:latin typeface="Aptos" pitchFamily="34" charset="0"/>
                <a:ea typeface="Aptos" pitchFamily="34" charset="-122"/>
                <a:cs typeface="Aptos" pitchFamily="34" charset="-120"/>
              </a:rPr>
              <a:t>The emphasis is practical: if a concern arises six months after deployment, the agency should be able to reconstruct the decision pathway,.</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governance-and-security, policy, program-management, public-health-executive-leadership</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 lesson topic to execute.</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 exercise for the module using.</a:t>
            </a:r>
            <a:endParaRPr lang="en-US" sz="1460" dirty="0"/>
          </a:p>
          <a:p>
            <a:r>
              <a:rPr lang="en-US" sz="146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 to translate this lesson.</a:t>
            </a:r>
            <a:endParaRPr lang="en-US" sz="1460" dirty="0"/>
          </a:p>
          <a:p>
            <a:r>
              <a:rPr lang="en-US" sz="146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AI systems require lifecycle evidence management.</a:t>
            </a:r>
            <a:endParaRPr lang="en-US" sz="1700" dirty="0"/>
          </a:p>
          <a:p>
            <a:r>
              <a:rPr lang="en-US" sz="1700" dirty="0">
                <a:solidFill>
                  <a:srgbClr val="17364A"/>
                </a:solidFill>
                <a:latin typeface="Aptos" pitchFamily="34" charset="0"/>
                <a:ea typeface="Aptos" pitchFamily="34" charset="-122"/>
                <a:cs typeface="Aptos" pitchFamily="34" charset="-120"/>
              </a:rPr>
              <a:t>Identify the core records that support AI audit readiness.</a:t>
            </a:r>
            <a:endParaRPr lang="en-US" sz="1700" dirty="0"/>
          </a:p>
          <a:p>
            <a:r>
              <a:rPr lang="en-US" sz="1700" dirty="0">
                <a:solidFill>
                  <a:srgbClr val="17364A"/>
                </a:solidFill>
                <a:latin typeface="Aptos" pitchFamily="34" charset="0"/>
                <a:ea typeface="Aptos" pitchFamily="34" charset="-122"/>
                <a:cs typeface="Aptos" pitchFamily="34" charset="-120"/>
              </a:rPr>
              <a:t>Distinguish between approval evidence, validation evidence, operational evidence, and incident evidence.</a:t>
            </a:r>
            <a:endParaRPr lang="en-US" sz="1700" dirty="0"/>
          </a:p>
          <a:p>
            <a:r>
              <a:rPr lang="en-US" sz="1700" dirty="0">
                <a:solidFill>
                  <a:srgbClr val="17364A"/>
                </a:solidFill>
                <a:latin typeface="Aptos" pitchFamily="34" charset="0"/>
                <a:ea typeface="Aptos" pitchFamily="34" charset="-122"/>
                <a:cs typeface="Aptos" pitchFamily="34" charset="-120"/>
              </a:rPr>
              <a:t>Create an AI evidence inventory for an approved or proposed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AI systems require lifecycle evidence management.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 what data they rely.</a:t>
            </a:r>
            <a:endParaRPr lang="en-US" sz="1700" dirty="0"/>
          </a:p>
          <a:p>
            <a:r>
              <a:rPr lang="en-US" sz="1700" dirty="0">
                <a:solidFill>
                  <a:srgbClr val="17364A"/>
                </a:solidFill>
                <a:latin typeface="Aptos" pitchFamily="34" charset="0"/>
                <a:ea typeface="Aptos" pitchFamily="34" charset="-122"/>
                <a:cs typeface="Aptos" pitchFamily="34" charset="-120"/>
              </a:rPr>
              <a:t>Public health agencies may need this evidence for internal oversight, public records requests, legal review, grant.</a:t>
            </a:r>
            <a:endParaRPr lang="en-US" sz="1700" dirty="0"/>
          </a:p>
          <a:p>
            <a:r>
              <a:rPr lang="en-US" sz="1700" dirty="0">
                <a:solidFill>
                  <a:srgbClr val="17364A"/>
                </a:solidFill>
                <a:latin typeface="Aptos" pitchFamily="34" charset="0"/>
                <a:ea typeface="Aptos" pitchFamily="34" charset="-122"/>
                <a:cs typeface="Aptos" pitchFamily="34" charset="-120"/>
              </a:rPr>
              <a:t>This module teaches governance, compliance, program, and leadership staff how to manage evidence across the AI lifecycle.</a:t>
            </a:r>
            <a:endParaRPr lang="en-US" sz="1700" dirty="0"/>
          </a:p>
          <a:p>
            <a:r>
              <a:rPr lang="en-US" sz="1700" dirty="0">
                <a:solidFill>
                  <a:srgbClr val="17364A"/>
                </a:solidFill>
                <a:latin typeface="Aptos" pitchFamily="34" charset="0"/>
                <a:ea typeface="Aptos" pitchFamily="34" charset="-122"/>
                <a:cs typeface="Aptos" pitchFamily="34" charset="-120"/>
              </a:rPr>
              <a:t>The emphasis is practical: if a concern arises six months after deployment, the agency should be able to reconstruct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 what data they rely.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700" dirty="0"/>
          </a:p>
          <a:p>
            <a:r>
              <a:rPr lang="en-US" sz="1700" dirty="0">
                <a:solidFill>
                  <a:srgbClr val="17364A"/>
                </a:solidFill>
                <a:latin typeface="Aptos" pitchFamily="34" charset="0"/>
                <a:ea typeface="Aptos" pitchFamily="34" charset="-122"/>
                <a:cs typeface="Aptos" pitchFamily="34" charset="-120"/>
              </a:rPr>
              <a:t>Six months later, a concern is raised that the tool may be misclassifying language access requests.</a:t>
            </a:r>
            <a:endParaRPr lang="en-US" sz="1700" dirty="0"/>
          </a:p>
          <a:p>
            <a:r>
              <a:rPr lang="en-US" sz="1700" dirty="0">
                <a:solidFill>
                  <a:srgbClr val="17364A"/>
                </a:solidFill>
                <a:latin typeface="Aptos" pitchFamily="34" charset="0"/>
                <a:ea typeface="Aptos" pitchFamily="34" charset="-122"/>
                <a:cs typeface="Aptos" pitchFamily="34" charset="-120"/>
              </a:rPr>
              <a:t>Audit-ready evidence would include the approved use case, validation plan, subgroup review, SOP, training records, user.</a:t>
            </a:r>
            <a:endParaRPr lang="en-US" sz="1700" dirty="0"/>
          </a:p>
          <a:p>
            <a:r>
              <a:rPr lang="en-US" sz="1700" dirty="0">
                <a:solidFill>
                  <a:srgbClr val="17364A"/>
                </a:solidFill>
                <a:latin typeface="Aptos" pitchFamily="34" charset="0"/>
                <a:ea typeface="Aptos" pitchFamily="34" charset="-122"/>
                <a:cs typeface="Aptos" pitchFamily="34" charset="-120"/>
              </a:rPr>
              <a:t>This evidence allows the agency to investigate the concern and decide whether to modify, pause, or retire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evidence begins at intake.</a:t>
            </a:r>
            <a:endParaRPr lang="en-US" sz="1700" dirty="0"/>
          </a:p>
          <a:p>
            <a:r>
              <a:rPr lang="en-US" sz="1700" dirty="0">
                <a:solidFill>
                  <a:srgbClr val="17364A"/>
                </a:solidFill>
                <a:latin typeface="Aptos" pitchFamily="34" charset="0"/>
                <a:ea typeface="Aptos" pitchFamily="34" charset="-122"/>
                <a:cs typeface="Aptos" pitchFamily="34" charset="-120"/>
              </a:rPr>
              <a:t>The agency should preserve the use case description, risk triage, required reviewers, approval conditions, and rationale.</a:t>
            </a:r>
            <a:endParaRPr lang="en-US" sz="1700" dirty="0"/>
          </a:p>
          <a:p>
            <a:r>
              <a:rPr lang="en-US" sz="1700" dirty="0">
                <a:solidFill>
                  <a:srgbClr val="17364A"/>
                </a:solidFill>
                <a:latin typeface="Aptos" pitchFamily="34" charset="0"/>
                <a:ea typeface="Aptos" pitchFamily="34" charset="-122"/>
                <a:cs typeface="Aptos" pitchFamily="34" charset="-120"/>
              </a:rPr>
              <a:t>If a use case is rejected or deferred, that decision should also be documented.</a:t>
            </a:r>
            <a:endParaRPr lang="en-US" sz="1700" dirty="0"/>
          </a:p>
          <a:p>
            <a:r>
              <a:rPr lang="en-US" sz="1700" dirty="0">
                <a:solidFill>
                  <a:srgbClr val="17364A"/>
                </a:solidFill>
                <a:latin typeface="Aptos" pitchFamily="34" charset="0"/>
                <a:ea typeface="Aptos" pitchFamily="34" charset="-122"/>
                <a:cs typeface="Aptos" pitchFamily="34" charset="-120"/>
              </a:rPr>
              <a:t>These early records help explain why a tool exists and what limits were placed on its use.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evidence begins at intake.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Evidence management requires ownership and retention rules.</a:t>
            </a:r>
            <a:endParaRPr lang="en-US" sz="1700" dirty="0"/>
          </a:p>
          <a:p>
            <a:r>
              <a:rPr lang="en-US" sz="1700" dirty="0">
                <a:solidFill>
                  <a:srgbClr val="17364A"/>
                </a:solidFill>
                <a:latin typeface="Aptos" pitchFamily="34" charset="0"/>
                <a:ea typeface="Aptos" pitchFamily="34" charset="-122"/>
                <a:cs typeface="Aptos" pitchFamily="34" charset="-120"/>
              </a:rPr>
              <a:t>Governance bodies should define who stores each artifact, where it is stored, how long it is retained, who can access it,.</a:t>
            </a:r>
            <a:endParaRPr lang="en-US" sz="1700" dirty="0"/>
          </a:p>
          <a:p>
            <a:r>
              <a:rPr lang="en-US" sz="1700" dirty="0">
                <a:solidFill>
                  <a:srgbClr val="17364A"/>
                </a:solidFill>
                <a:latin typeface="Aptos" pitchFamily="34" charset="0"/>
                <a:ea typeface="Aptos" pitchFamily="34" charset="-122"/>
                <a:cs typeface="Aptos" pitchFamily="34" charset="-120"/>
              </a:rPr>
              <a:t>Audit readiness depends on consistent records, not scattered files and informal emails.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Evidence management requires ownership and retention rules.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Approvals without records of conditions or rationale.</a:t>
            </a:r>
            <a:endParaRPr lang="en-US" sz="1700" dirty="0"/>
          </a:p>
          <a:p>
            <a:r>
              <a:rPr lang="en-US" sz="1700" dirty="0">
                <a:solidFill>
                  <a:srgbClr val="17364A"/>
                </a:solidFill>
                <a:latin typeface="Aptos" pitchFamily="34" charset="0"/>
                <a:ea typeface="Aptos" pitchFamily="34" charset="-122"/>
                <a:cs typeface="Aptos" pitchFamily="34" charset="-120"/>
              </a:rPr>
              <a:t>Validation results stored informally or not retained.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700" dirty="0"/>
          </a:p>
          <a:p>
            <a:r>
              <a:rPr lang="en-US" sz="1700" dirty="0">
                <a:solidFill>
                  <a:srgbClr val="17364A"/>
                </a:solidFill>
                <a:latin typeface="Aptos" pitchFamily="34" charset="0"/>
                <a:ea typeface="Aptos" pitchFamily="34" charset="-122"/>
                <a:cs typeface="Aptos" pitchFamily="34" charset="-120"/>
              </a:rPr>
              <a:t>Incidents that cannot be reconstructed because logs or decisions were not preserved.</a:t>
            </a:r>
            <a:endParaRPr lang="en-US" sz="1700" dirty="0"/>
          </a:p>
          <a:p>
            <a:r>
              <a:rPr lang="en-US" sz="1700" dirty="0">
                <a:solidFill>
                  <a:srgbClr val="17364A"/>
                </a:solidFill>
                <a:latin typeface="Aptos" pitchFamily="34" charset="0"/>
                <a:ea typeface="Aptos" pitchFamily="34" charset="-122"/>
                <a:cs typeface="Aptos" pitchFamily="34" charset="-120"/>
              </a:rPr>
              <a:t>Public records or audit responses delayed because artifacts are scattered.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Maintain an AI evidence inventory for each approved AI use.</a:t>
            </a:r>
            <a:endParaRPr lang="en-US" sz="1700" dirty="0"/>
          </a:p>
          <a:p>
            <a:r>
              <a:rPr lang="en-US" sz="1700" dirty="0">
                <a:solidFill>
                  <a:srgbClr val="17364A"/>
                </a:solidFill>
                <a:latin typeface="Aptos" pitchFamily="34" charset="0"/>
                <a:ea typeface="Aptos" pitchFamily="34" charset="-122"/>
                <a:cs typeface="Aptos" pitchFamily="34" charset="-120"/>
              </a:rPr>
              <a:t>Use decision logs for approvals, deferrals, conditions, changes, and retirement.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700" dirty="0"/>
          </a:p>
          <a:p>
            <a:r>
              <a:rPr lang="en-US" sz="1700" dirty="0">
                <a:solidFill>
                  <a:srgbClr val="17364A"/>
                </a:solidFill>
                <a:latin typeface="Aptos" pitchFamily="34" charset="0"/>
                <a:ea typeface="Aptos" pitchFamily="34" charset="-122"/>
                <a:cs typeface="Aptos" pitchFamily="34" charset="-120"/>
              </a:rPr>
              <a:t>Assign artifact ownership and retention expectations.</a:t>
            </a:r>
            <a:endParaRPr lang="en-US" sz="1700" dirty="0"/>
          </a:p>
          <a:p>
            <a:r>
              <a:rPr lang="en-US" sz="1700" dirty="0">
                <a:solidFill>
                  <a:srgbClr val="17364A"/>
                </a:solidFill>
                <a:latin typeface="Aptos" pitchFamily="34" charset="0"/>
                <a:ea typeface="Aptos" pitchFamily="34" charset="-122"/>
                <a:cs typeface="Aptos" pitchFamily="34" charset="-120"/>
              </a:rPr>
              <a:t>Review evidence completeness during periodic governance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700" dirty="0"/>
          </a:p>
          <a:p>
            <a:r>
              <a:rPr lang="en-US" sz="1700" dirty="0">
                <a:solidFill>
                  <a:srgbClr val="17364A"/>
                </a:solidFill>
                <a:latin typeface="Aptos" pitchFamily="34" charset="0"/>
                <a:ea typeface="Aptos" pitchFamily="34" charset="-122"/>
                <a:cs typeface="Aptos" pitchFamily="34" charset="-120"/>
              </a:rPr>
              <a:t>Identify required artifacts from intake through retirement, the owner of each artifact, storage location, retention.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evidence inventory</a:t>
            </a:r>
            <a:endParaRPr lang="en-US" sz="1700" dirty="0"/>
          </a:p>
          <a:p>
            <a:r>
              <a:rPr lang="en-US" sz="1700" dirty="0">
                <a:solidFill>
                  <a:srgbClr val="17364A"/>
                </a:solidFill>
                <a:latin typeface="Aptos" pitchFamily="34" charset="0"/>
                <a:ea typeface="Aptos" pitchFamily="34" charset="-122"/>
                <a:cs typeface="Aptos" pitchFamily="34" charset="-120"/>
              </a:rPr>
              <a:t>Decision log template</a:t>
            </a:r>
            <a:endParaRPr lang="en-US" sz="1700" dirty="0"/>
          </a:p>
          <a:p>
            <a:r>
              <a:rPr lang="en-US" sz="1700" dirty="0">
                <a:solidFill>
                  <a:srgbClr val="17364A"/>
                </a:solidFill>
                <a:latin typeface="Aptos" pitchFamily="34" charset="0"/>
                <a:ea typeface="Aptos" pitchFamily="34" charset="-122"/>
                <a:cs typeface="Aptos" pitchFamily="34" charset="-120"/>
              </a:rPr>
              <a:t>Artifact ownership and retention table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evidence inventory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Gap list for missing evidence</a:t>
            </a:r>
            <a:endParaRPr lang="en-US" sz="1700" dirty="0"/>
          </a:p>
          <a:p>
            <a:r>
              <a:rPr lang="en-US" sz="1700" dirty="0">
                <a:solidFill>
                  <a:srgbClr val="17364A"/>
                </a:solidFill>
                <a:latin typeface="Aptos" pitchFamily="34" charset="0"/>
                <a:ea typeface="Aptos" pitchFamily="34" charset="-122"/>
                <a:cs typeface="Aptos" pitchFamily="34" charset="-120"/>
              </a:rPr>
              <a:t>Review schedule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Gap list for missing evidence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evidence inventory</a:t>
            </a:r>
            <a:endParaRPr lang="en-US" sz="1700" dirty="0"/>
          </a:p>
          <a:p>
            <a:r>
              <a:rPr lang="en-US" sz="1700" dirty="0">
                <a:solidFill>
                  <a:srgbClr val="17364A"/>
                </a:solidFill>
                <a:latin typeface="Aptos" pitchFamily="34" charset="0"/>
                <a:ea typeface="Aptos" pitchFamily="34" charset="-122"/>
                <a:cs typeface="Aptos" pitchFamily="34" charset="-120"/>
              </a:rPr>
              <a:t>Decision log template</a:t>
            </a:r>
            <a:endParaRPr lang="en-US" sz="1700" dirty="0"/>
          </a:p>
          <a:p>
            <a:r>
              <a:rPr lang="en-US" sz="1700" dirty="0">
                <a:solidFill>
                  <a:srgbClr val="17364A"/>
                </a:solidFill>
                <a:latin typeface="Aptos" pitchFamily="34" charset="0"/>
                <a:ea typeface="Aptos" pitchFamily="34" charset="-122"/>
                <a:cs typeface="Aptos" pitchFamily="34" charset="-120"/>
              </a:rPr>
              <a:t>Artifact ownership and retention table</a:t>
            </a:r>
            <a:endParaRPr lang="en-US" sz="1700" dirty="0"/>
          </a:p>
          <a:p>
            <a:r>
              <a:rPr lang="en-US" sz="1700" dirty="0">
                <a:solidFill>
                  <a:srgbClr val="17364A"/>
                </a:solidFill>
                <a:latin typeface="Aptos" pitchFamily="34" charset="0"/>
                <a:ea typeface="Aptos" pitchFamily="34" charset="-122"/>
                <a:cs typeface="Aptos" pitchFamily="34" charset="-120"/>
              </a:rPr>
              <a:t>Gap list for missing evidence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evidence inventory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AI audit readiness?</a:t>
            </a:r>
            <a:endParaRPr lang="en-US" sz="1700" dirty="0"/>
          </a:p>
          <a:p>
            <a:r>
              <a:rPr lang="en-US" sz="1700" dirty="0">
                <a:solidFill>
                  <a:srgbClr val="17364A"/>
                </a:solidFill>
                <a:latin typeface="Aptos" pitchFamily="34" charset="0"/>
                <a:ea typeface="Aptos" pitchFamily="34" charset="-122"/>
                <a:cs typeface="Aptos" pitchFamily="34" charset="-120"/>
              </a:rPr>
              <a:t>2. Which record should be preserved from AI governance review?</a:t>
            </a:r>
            <a:endParaRPr lang="en-US" sz="1700" dirty="0"/>
          </a:p>
          <a:p>
            <a:r>
              <a:rPr lang="en-US" sz="1700" dirty="0">
                <a:solidFill>
                  <a:srgbClr val="17364A"/>
                </a:solidFill>
                <a:latin typeface="Aptos" pitchFamily="34" charset="0"/>
                <a:ea typeface="Aptos" pitchFamily="34" charset="-122"/>
                <a:cs typeface="Aptos" pitchFamily="34" charset="-120"/>
              </a:rPr>
              <a:t>3. What is validation evidence?</a:t>
            </a:r>
            <a:endParaRPr lang="en-US" sz="1700" dirty="0"/>
          </a:p>
          <a:p>
            <a:r>
              <a:rPr lang="en-US" sz="1700" dirty="0">
                <a:solidFill>
                  <a:srgbClr val="17364A"/>
                </a:solidFill>
                <a:latin typeface="Aptos" pitchFamily="34" charset="0"/>
                <a:ea typeface="Aptos" pitchFamily="34" charset="-122"/>
                <a:cs typeface="Aptos" pitchFamily="34" charset="-120"/>
              </a:rPr>
              <a:t>4. Why is operational evidence important?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AI audit readiness?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2026-07-12T18:54:58Z</dcterms:created>
  <dcterms:modified xsi:type="dcterms:W3CDTF">2026-07-12T18:54:58Z</dcterms:modified>
</cp:coreProperties>
</file>