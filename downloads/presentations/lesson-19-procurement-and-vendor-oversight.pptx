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Procurement and Vendor Oversight is designed for an individual learner using the AI Playbook and Toolkit for Public Health Departments.
AI procurement requires public health departments to evaluate vendor claims, contract terms, data rights, model documentation, auditability, accessibility, cybersecurity, support, and exit plans before an AI-enabled product is approved.
Use the notes in this deck as additional reading and context. They are not written as presenter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concept in plain language for colleagues, leaders, partners, and community-facing discussions.
Identify where the concept affects AI planning, governance, procurement, implementation, monitoring, public trust, or public health decision-making.
Apply the concept to a concrete public health workflow using the linked plays, tools, safeguards, and documentation expectations.
Complete a practical activity that produces an artifact you can use in readiness assessment, governance review, implementation planning, or monitoring.
Produce or contribute to: Vendor AI review checklist.
Produce or contribute to: Procurement questions for governance.
Produce or contribute to: Draft AI contract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departments often encounter AI through vendor platforms, not custom-built internal systems. Procurement staff, program owners, IT, security, privacy, legal, and governance members need shared criteria for evaluating vendor claims before contracts are signed or pilots begin.
Vendor oversight is a public health governance issue, not only a purchasing task. A product may look efficient in a demonstration but still create risks if the department cannot verify how data are used, how outputs are produced, how errors are handled, or how the system can be audited.
You should be trained to ask practical questions before procurement moves forward. What decision or workflow will the tool affect? What data are involved? Who owns the output? What performance evidence exists for populations similar to the department's communities? What contract terms protect the department if the system fails?
This module prepares you to use procurement as a safeguard. Strong procurement requirements can turn responsible AI principles into enforceable vendor obligations.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use agreement: A written agreement that defines what data may be shared or used, for what purpose, by whom, under what safeguards, and with what limits on reuse, disclosure, retention, or transfer.
Risk tiering: Classifying AI uses by potential harm, sensitivity, legal implications, public impact, and level of automation. Higher-risk uses require stronger documentation, review, monitoring, and approval before use.
Total cost of ownership: The full cost of an AI system over time, including procurement, licensing, staff time, training, infrastructure, monitoring, evaluation, maintenance, vendor support, and retirement.
Vendor review: A structured review of a vendor's product, data practices, model documentation, security controls, accessibility, pricing, auditability, subcontractors, contract terms, and exit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Vendor proposal is a core concept for this lesson because it turns procurement and vendor oversight from an abstract AI topic into something you can recognize in daily public health work. Information from a vendor about what the product does, how it uses data, what evidence supports it, and what terms apply.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Audit right is a core concept for this lesson because it turns procurement and vendor oversight from an abstract AI topic into something you can recognize in daily public health work. A contract term allowing the department to inspect logs, performance, security, documentation, or compliance evidence.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Exit plan is a core concept for this lesson because it turns procurement and vendor oversight from an abstract AI topic into something you can recognize in daily public health work. A plan for ending use of a vendor product without losing data, records, continuity, or accountability.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vendor model documentation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Add AI clauses to contracts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Require audit and data-use terms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this module, begin with a real or realistic public health workflow and describe the task in plain language before naming an AI tool. Use the related plays (Play 3, Play 7, Play 8, Play 11, Play 12) to identify the decisions, approvals, people, and timing needed for responsible implementation. Use the related tools (Tool 11, Tool 13, Tool 15, Tool 34, Tool 40, Tool 43) to create documentation that can be reviewed, saved, revised, and used as evidence of readiness. The practical exercise asks you to produce evidence that can feed into that work: Review a sample AI vendor proposal and identify missing documentation, contract protections, validation evidence, data-use terms, accessibility requirements, and governance questions.
The main guardrail for this lesson is that Vendor AI should not bypass governance, privacy, security, accessibility, validation, or public accountability requirements.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Most departments will buy or inherit AI-enabled systems before they build their own. Vendor oversight protects public health authority, data rights, security, equity, and operational continuity.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a sample AI vendor proposal and identify missing documentation, contract protections, validation evidence, data-use terms, accessibility requirements, and governance questions.
Vendor AI review checklist
Procurement questions for governance
Draft AI contract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AI-enabled vendor tools are already in use or under consideration?
Which contract terms would prevent the department from auditing or safely exiting the system?
Who must review vendor claims before a pilot or purchase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AI Risk Management Framework: Use to structure vendor risk, documentation, transparency, and accountability review. https://www.nist.gov/itl/ai-risk-management-framework
FedRAMP: Cloud security authorization context for vendor-hosted systems that may handle sensitive government data. https://www.fedramp.gov/
HHS Civil Rights and AI: Equity, nondiscrimination, and civil rights considerations for AI-enabled vendor tools. https://www.hhs.gov/civil-rights/for-individuals/special-topics/ai/index.html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13232" y="2542032"/>
            <a:ext cx="10607040" cy="777240"/>
          </a:xfrm>
          <a:prstGeom prst="rect">
            <a:avLst/>
          </a:prstGeom>
          <a:noFill/>
          <a:ln/>
        </p:spPr>
        <p:txBody>
          <a:bodyPr wrap="square" lIns="0" tIns="0" rIns="0" bIns="0" rtlCol="0" anchor="ct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Procurement and Vendor Oversight</a:t>
            </a:r>
            <a:endParaRPr lang="en-US" sz="3400" dirty="0"/>
          </a:p>
        </p:txBody>
      </p:sp>
      <p:sp>
        <p:nvSpPr>
          <p:cNvPr id="6" name="Text 3"/>
          <p:cNvSpPr/>
          <p:nvPr/>
        </p:nvSpPr>
        <p:spPr>
          <a:xfrm>
            <a:off x="749808" y="3456432"/>
            <a:ext cx="365760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Learning Module</a:t>
            </a:r>
            <a:endParaRPr lang="en-US" sz="1400" dirty="0"/>
          </a:p>
        </p:txBody>
      </p:sp>
      <p:sp>
        <p:nvSpPr>
          <p:cNvPr id="7" name="Text 4"/>
          <p:cNvSpPr/>
          <p:nvPr/>
        </p:nvSpPr>
        <p:spPr>
          <a:xfrm>
            <a:off x="749808" y="3886200"/>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Procurement and Vendor Oversight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Learning Objectives</a:t>
            </a:r>
            <a:endParaRPr lang="en-US" sz="2800" dirty="0"/>
          </a:p>
        </p:txBody>
      </p:sp>
      <p:sp>
        <p:nvSpPr>
          <p:cNvPr id="7" name="Text 5"/>
          <p:cNvSpPr/>
          <p:nvPr/>
        </p:nvSpPr>
        <p:spPr>
          <a:xfrm>
            <a:off x="822960" y="1417320"/>
            <a:ext cx="10332720" cy="4480560"/>
          </a:xfrm>
          <a:prstGeom prst="rect">
            <a:avLst/>
          </a:prstGeom>
          <a:noFill/>
          <a:ln/>
        </p:spPr>
        <p:txBody>
          <a:bodyPr wrap="square" lIns="635" tIns="635" rIns="635" bIns="635" rtlCol="0" anchor="t">
            <a:normAutofit/>
          </a:bodyPr>
          <a:lstStyle/>
          <a:p>
            <a:r>
              <a:rPr lang="en-US" sz="1600" dirty="0">
                <a:solidFill>
                  <a:srgbClr val="17364A"/>
                </a:solidFill>
                <a:latin typeface="Aptos" pitchFamily="34" charset="0"/>
                <a:ea typeface="Aptos" pitchFamily="34" charset="-122"/>
                <a:cs typeface="Aptos" pitchFamily="34" charset="-120"/>
              </a:rPr>
              <a:t>Define the concept in plain language for colleagues, leaders, partners, and community-facing discussions.</a:t>
            </a:r>
            <a:endParaRPr lang="en-US" sz="1600" dirty="0"/>
          </a:p>
          <a:p>
            <a:r>
              <a:rPr lang="en-US" sz="1600" dirty="0">
                <a:solidFill>
                  <a:srgbClr val="17364A"/>
                </a:solidFill>
                <a:latin typeface="Aptos" pitchFamily="34" charset="0"/>
                <a:ea typeface="Aptos" pitchFamily="34" charset="-122"/>
                <a:cs typeface="Aptos" pitchFamily="34" charset="-120"/>
              </a:rPr>
              <a:t>Identify where the concept affects AI planning, governance, procurement, implementation, monitoring, public trust, or public health decision-making.</a:t>
            </a:r>
            <a:endParaRPr lang="en-US" sz="1600" dirty="0"/>
          </a:p>
          <a:p>
            <a:r>
              <a:rPr lang="en-US" sz="1600" dirty="0">
                <a:solidFill>
                  <a:srgbClr val="17364A"/>
                </a:solidFill>
                <a:latin typeface="Aptos" pitchFamily="34" charset="0"/>
                <a:ea typeface="Aptos" pitchFamily="34" charset="-122"/>
                <a:cs typeface="Aptos" pitchFamily="34" charset="-120"/>
              </a:rPr>
              <a:t>Apply the concept to a concrete public health workflow using the linked plays, tools, safeguards, and documentation expectations.</a:t>
            </a:r>
            <a:endParaRPr lang="en-US" sz="1600" dirty="0"/>
          </a:p>
          <a:p>
            <a:r>
              <a:rPr lang="en-US" sz="1600" dirty="0">
                <a:solidFill>
                  <a:srgbClr val="17364A"/>
                </a:solidFill>
                <a:latin typeface="Aptos" pitchFamily="34" charset="0"/>
                <a:ea typeface="Aptos" pitchFamily="34" charset="-122"/>
                <a:cs typeface="Aptos" pitchFamily="34" charset="-120"/>
              </a:rPr>
              <a:t>Complete a practical activity that produces an artifact you can use in readiness assessment, governance review, implementation planning, or monitoring.</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Vendor AI review checklist.</a:t>
            </a:r>
            <a:endParaRPr lang="en-US" sz="1600" dirty="0"/>
          </a:p>
          <a:p>
            <a:r>
              <a:rPr lang="en-US" sz="1600" dirty="0">
                <a:solidFill>
                  <a:srgbClr val="17364A"/>
                </a:solidFill>
                <a:latin typeface="Aptos" pitchFamily="34" charset="0"/>
                <a:ea typeface="Aptos" pitchFamily="34" charset="-122"/>
                <a:cs typeface="Aptos" pitchFamily="34" charset="-120"/>
              </a:rPr>
              <a:t>Produce or contribute to: Procurement questions for governance.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Procurement and Vendor Oversight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Module Overview</a:t>
            </a:r>
            <a:endParaRPr lang="en-US" sz="2800" dirty="0"/>
          </a:p>
        </p:txBody>
      </p:sp>
      <p:sp>
        <p:nvSpPr>
          <p:cNvPr id="7" name="Text 5"/>
          <p:cNvSpPr/>
          <p:nvPr/>
        </p:nvSpPr>
        <p:spPr>
          <a:xfrm>
            <a:off x="822960" y="1325880"/>
            <a:ext cx="10424160" cy="4434840"/>
          </a:xfrm>
          <a:prstGeom prst="rect">
            <a:avLst/>
          </a:prstGeom>
          <a:noFill/>
          <a:ln/>
        </p:spPr>
        <p:txBody>
          <a:bodyPr wrap="square" lIns="1016" tIns="1016" rIns="1016" bIns="1016" rtlCol="0" anchor="t">
            <a:normAutofit/>
          </a:bodyPr>
          <a:lstStyle/>
          <a:p>
            <a:pPr indent="0" marL="0">
              <a:buNone/>
            </a:pPr>
            <a:r>
              <a:rPr lang="en-US" sz="1600" dirty="0">
                <a:solidFill>
                  <a:srgbClr val="17364A"/>
                </a:solidFill>
                <a:latin typeface="Aptos" pitchFamily="34" charset="0"/>
                <a:ea typeface="Aptos" pitchFamily="34" charset="-122"/>
                <a:cs typeface="Aptos" pitchFamily="34" charset="-120"/>
              </a:rPr>
              <a:t>Public health departments often encounter AI through vendor platforms, not custom-built internal systems. Procurement staff, program owners, IT, security, privacy, legal, and governance members need shared criteria for evaluating vendor claims before contracts are signed or pilots begin.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Procurement and Vendor Oversight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Definitions</a:t>
            </a:r>
            <a:endParaRPr lang="en-US" sz="2800" dirty="0"/>
          </a:p>
        </p:txBody>
      </p:sp>
      <p:sp>
        <p:nvSpPr>
          <p:cNvPr id="7" name="Text 5"/>
          <p:cNvSpPr/>
          <p:nvPr/>
        </p:nvSpPr>
        <p:spPr>
          <a:xfrm>
            <a:off x="822960" y="1325880"/>
            <a:ext cx="10378440" cy="4754880"/>
          </a:xfrm>
          <a:prstGeom prst="rect">
            <a:avLst/>
          </a:prstGeom>
          <a:noFill/>
          <a:ln/>
        </p:spPr>
        <p:txBody>
          <a:bodyPr wrap="square" lIns="635" tIns="635" rIns="635" bIns="635" rtlCol="0" anchor="t">
            <a:normAutofit/>
          </a:bodyPr>
          <a:lstStyle/>
          <a:p>
            <a:r>
              <a:rPr lang="en-US" sz="1320" dirty="0">
                <a:solidFill>
                  <a:srgbClr val="17364A"/>
                </a:solidFill>
                <a:latin typeface="Aptos" pitchFamily="34" charset="0"/>
                <a:ea typeface="Aptos" pitchFamily="34" charset="-122"/>
                <a:cs typeface="Aptos" pitchFamily="34" charset="-120"/>
              </a:rPr>
              <a:t>Data use agreement: A written agreement that defines what data may be shared or used, for what purpose, by whom, under what safeguards, and with what limits on reuse, disclosure, retention, or transfer.</a:t>
            </a:r>
            <a:endParaRPr lang="en-US" sz="1320" dirty="0"/>
          </a:p>
          <a:p>
            <a:r>
              <a:rPr lang="en-US" sz="1320" dirty="0">
                <a:solidFill>
                  <a:srgbClr val="17364A"/>
                </a:solidFill>
                <a:latin typeface="Aptos" pitchFamily="34" charset="0"/>
                <a:ea typeface="Aptos" pitchFamily="34" charset="-122"/>
                <a:cs typeface="Aptos" pitchFamily="34" charset="-120"/>
              </a:rPr>
              <a:t>Risk tiering: Classifying AI uses by potential harm, sensitivity, legal implications, public impact, and level of automation. Higher-risk uses require stronger documentation, review, monitoring, and approval before use.</a:t>
            </a:r>
            <a:endParaRPr lang="en-US" sz="1320" dirty="0"/>
          </a:p>
          <a:p>
            <a:r>
              <a:rPr lang="en-US" sz="1320" dirty="0">
                <a:solidFill>
                  <a:srgbClr val="17364A"/>
                </a:solidFill>
                <a:latin typeface="Aptos" pitchFamily="34" charset="0"/>
                <a:ea typeface="Aptos" pitchFamily="34" charset="-122"/>
                <a:cs typeface="Aptos" pitchFamily="34" charset="-120"/>
              </a:rPr>
              <a:t>Total cost of ownership: The full cost of an AI system over time, including procurement, licensing, staff time, training, infrastructure, monitoring, evaluation, maintenance, vendor support, and retirement.</a:t>
            </a:r>
            <a:endParaRPr lang="en-US" sz="1320" dirty="0"/>
          </a:p>
          <a:p>
            <a:r>
              <a:rPr lang="en-US" sz="1320" dirty="0">
                <a:solidFill>
                  <a:srgbClr val="17364A"/>
                </a:solidFill>
                <a:latin typeface="Aptos" pitchFamily="34" charset="0"/>
                <a:ea typeface="Aptos" pitchFamily="34" charset="-122"/>
                <a:cs typeface="Aptos" pitchFamily="34" charset="-120"/>
              </a:rPr>
              <a:t>Vendor review: A structured review of a vendor's product, data practices, model documentation, security controls, accessibility, pricing, auditability, subcontractors, contract terms, and exit requirements.</a:t>
            </a:r>
            <a:endParaRPr lang="en-US" sz="13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Procurement and Vendor Oversight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Core Concepts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Vendor proposal is a core concept for this lesson because it turns procurement and vendor oversight from an abstract AI topic into something you can recognize in daily public health work. Information from a vendor about what the product does, how it uses data, what evidence supports it, and what terms apply.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Audit right is a core concept for this lesson because it turns procurement and vendor oversight from an abstract AI topic into something you can recognize in daily public health work. A contract term allowing the department to inspect logs, performance, security, documentation, or compliance evidence.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 Exit plan is a core concept for this lesson because it turns procurement and vendor oversight from an abstract AI topic into something you can recognize in daily public health work. A plan for ending use of a vendor product without losing data, records, continuity, or accountability. When you encounter this concept, ask what data are involved, who is accountable for the result, what human review is required, and how the work should be documented. That habit helps you connect the lesson to concrete governance, privacy, equity, workforce, procurement, implementation, and monitoring decisions rather than treating AI as a stand-alone technology issue.</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Procurement and Vendor Oversight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Public Health Application</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Review vendor model documentation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Add AI clauses to contracts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 Require audit and data-use terms is a useful way to apply this lesson because it gives you a concrete workflow to test against the concept. This example should be examined as a workflow, not simply as a possible AI feature. Start by identifying the public health problem, the source information, the users, the people affected, and the decision that remains human. Then document the safeguards needed before the idea could become an approved use case. In practice, you should identify the expected public health value, the staff role responsible for review, the data sensitivity, and the point where governance approval is required. If those elements cannot be described clearly, the idea should remain in exploration rather than moving into procurement, piloting, or deployment.</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Procurement and Vendor Oversight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Implementation Guidance</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To apply this module, begin with a real or realistic public health workflow and describe the task in plain language before naming an AI tool. Use the related plays (Play 3, Play 7, Play 8, Play 11, Play 12) to identify the decisions, approvals, people, and timing needed for responsible implementation. Use the related tools (Tool 11, Tool 13, Tool 15, Tool 34, Tool 40, Tool 43) to create documentation that can be reviewed, saved, revised, and used as evidence of readiness. The practical exercise asks you to produce evidence that can feed into that work: Review a sample AI vendor proposal and identify missing documentation, contract protections, validation evidence, data-use terms, accessibility requirements, and governance questions. The main guardrail for this lesson is that Vendor AI should not bypass governance, privacy, security, accessibility, validation, or public accountability requirements. Treat that guardrail as an operational requirement, not a warning label at the end of the lesson. Before using AI in this area, identify what could go wrong, who would notice the problem, how the concern would be escalated, and what authority exists to pause or change the work. That approach makes risk management part of routine public health practice rather than a separate technical review. If your department already has a relevant process, such as data governance, technology governance, quality improvement, procurement review, privacy review, emergency response planning, or workforce development, use that process as the starting point. The playbook tools are meant to fill gaps where a method or documentation process does not already exist. There is no need to recreate the wheel when an existing process can be extended to include AI-specific questions, evidence, approval points, and monitoring expectations. This keeps AI governance connected to normal public health operations instead of creating a parallel paperwork system.</a:t>
            </a:r>
            <a:endParaRPr lang="en-US" sz="13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Procurement and Vendor Oversight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Using Plays and Tools</a:t>
            </a:r>
            <a:endParaRPr lang="en-US" sz="2800" dirty="0"/>
          </a:p>
        </p:txBody>
      </p:sp>
      <p:sp>
        <p:nvSpPr>
          <p:cNvPr id="7" name="Text 5"/>
          <p:cNvSpPr/>
          <p:nvPr/>
        </p:nvSpPr>
        <p:spPr>
          <a:xfrm>
            <a:off x="822960" y="1325880"/>
            <a:ext cx="10378440" cy="4800600"/>
          </a:xfrm>
          <a:prstGeom prst="rect">
            <a:avLst/>
          </a:prstGeom>
          <a:noFill/>
          <a:ln/>
        </p:spPr>
        <p:txBody>
          <a:bodyPr wrap="square" lIns="1016" tIns="1016" rIns="1016" bIns="1016" rtlCol="0" anchor="t">
            <a:normAutofit/>
          </a:bodyPr>
          <a:lstStyle/>
          <a:p>
            <a:pPr indent="0" marL="0">
              <a:buNone/>
            </a:pPr>
            <a:r>
              <a:rPr lang="en-US" sz="1380" dirty="0">
                <a:solidFill>
                  <a:srgbClr val="17364A"/>
                </a:solidFill>
                <a:latin typeface="Aptos" pitchFamily="34" charset="0"/>
                <a:ea typeface="Aptos" pitchFamily="34" charset="-122"/>
                <a:cs typeface="Aptos" pitchFamily="34" charset="-120"/>
              </a:rPr>
              <a:t>The related plays help you decide where this topic fits in the planning and implementation sequence. The related tools help you convert the lesson into a documented artifact, such as a review checklist, inventory record, policy scan, implementation note, communication plan, training assignment, risk register, or monitoring record. Use the assessment results as a starting recommendation, but adjust the path based on what your department has already completed and what is most useful for your public health goals. When a play or tool is not needed, document why it was deferred so future reviewers understand the decision. This matters for your practice because Most departments will buy or inherit AI-enabled systems before they build their own. Vendor oversight protects public health authority, data rights, security, equity, and operational continuity. Use that purpose to decide how much documentation, governance review, stakeholder input, and monitoring are proportionate to the risk and public health impact of the work. A low-risk internal learning activity may need only basic documentation, while a public-facing or decision-support workflow may need formal review, validation, transparency, and ongoing oversight.</a:t>
            </a:r>
            <a:endParaRPr lang="en-US" sz="13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Procurement and Vendor Oversight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Practical Exercise</a:t>
            </a:r>
            <a:endParaRPr lang="en-US" sz="2800" dirty="0"/>
          </a:p>
        </p:txBody>
      </p:sp>
      <p:sp>
        <p:nvSpPr>
          <p:cNvPr id="7" name="Text 5"/>
          <p:cNvSpPr/>
          <p:nvPr/>
        </p:nvSpPr>
        <p:spPr>
          <a:xfrm>
            <a:off x="822960" y="1234440"/>
            <a:ext cx="10378440" cy="2011680"/>
          </a:xfrm>
          <a:prstGeom prst="rect">
            <a:avLst/>
          </a:prstGeom>
          <a:noFill/>
          <a:ln/>
        </p:spPr>
        <p:txBody>
          <a:bodyPr wrap="square" lIns="1016" tIns="1016" rIns="1016" bIns="1016" rtlCol="0" anchor="t">
            <a:normAutofit/>
          </a:bodyPr>
          <a:lstStyle/>
          <a:p>
            <a:pPr indent="0" marL="0">
              <a:buNone/>
            </a:pPr>
            <a:r>
              <a:rPr lang="en-US" sz="1520" dirty="0">
                <a:solidFill>
                  <a:srgbClr val="17364A"/>
                </a:solidFill>
                <a:latin typeface="Aptos" pitchFamily="34" charset="0"/>
                <a:ea typeface="Aptos" pitchFamily="34" charset="-122"/>
                <a:cs typeface="Aptos" pitchFamily="34" charset="-120"/>
              </a:rPr>
              <a:t>Review a sample AI vendor proposal and identify missing documentation, contract protections, validation evidence, data-use terms, accessibility requirements, and governance questions.</a:t>
            </a:r>
            <a:endParaRPr lang="en-US" sz="1520" dirty="0"/>
          </a:p>
        </p:txBody>
      </p:sp>
      <p:sp>
        <p:nvSpPr>
          <p:cNvPr id="8" name="Text 6"/>
          <p:cNvSpPr/>
          <p:nvPr/>
        </p:nvSpPr>
        <p:spPr>
          <a:xfrm>
            <a:off x="822960" y="3520440"/>
            <a:ext cx="10378440" cy="1828800"/>
          </a:xfrm>
          <a:prstGeom prst="rect">
            <a:avLst/>
          </a:prstGeom>
          <a:noFill/>
          <a:ln/>
        </p:spPr>
        <p:txBody>
          <a:bodyPr wrap="square" lIns="635" tIns="635" rIns="635" bIns="635" rtlCol="0" anchor="t">
            <a:normAutofit/>
          </a:bodyPr>
          <a:lstStyle/>
          <a:p>
            <a:r>
              <a:rPr lang="en-US" sz="1400" dirty="0">
                <a:solidFill>
                  <a:srgbClr val="17364A"/>
                </a:solidFill>
                <a:latin typeface="Aptos" pitchFamily="34" charset="0"/>
                <a:ea typeface="Aptos" pitchFamily="34" charset="-122"/>
                <a:cs typeface="Aptos" pitchFamily="34" charset="-120"/>
              </a:rPr>
              <a:t>Expected artifact: Vendor AI review checklist</a:t>
            </a:r>
            <a:endParaRPr lang="en-US" sz="1400" dirty="0"/>
          </a:p>
          <a:p>
            <a:r>
              <a:rPr lang="en-US" sz="1400" dirty="0">
                <a:solidFill>
                  <a:srgbClr val="17364A"/>
                </a:solidFill>
                <a:latin typeface="Aptos" pitchFamily="34" charset="0"/>
                <a:ea typeface="Aptos" pitchFamily="34" charset="-122"/>
                <a:cs typeface="Aptos" pitchFamily="34" charset="-120"/>
              </a:rPr>
              <a:t>Expected artifact: Procurement questions for governance</a:t>
            </a:r>
            <a:endParaRPr lang="en-US" sz="1400" dirty="0"/>
          </a:p>
          <a:p>
            <a:r>
              <a:rPr lang="en-US" sz="1400" dirty="0">
                <a:solidFill>
                  <a:srgbClr val="17364A"/>
                </a:solidFill>
                <a:latin typeface="Aptos" pitchFamily="34" charset="0"/>
                <a:ea typeface="Aptos" pitchFamily="34" charset="-122"/>
                <a:cs typeface="Aptos" pitchFamily="34" charset="-120"/>
              </a:rPr>
              <a:t>Expected artifact: Draft AI contract requirements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Procurement and Vendor Oversight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Reflection Questions</a:t>
            </a:r>
            <a:endParaRPr lang="en-US" sz="2800" dirty="0"/>
          </a:p>
        </p:txBody>
      </p:sp>
      <p:sp>
        <p:nvSpPr>
          <p:cNvPr id="7" name="Text 5"/>
          <p:cNvSpPr/>
          <p:nvPr/>
        </p:nvSpPr>
        <p:spPr>
          <a:xfrm>
            <a:off x="822960" y="1325880"/>
            <a:ext cx="10378440" cy="4572000"/>
          </a:xfrm>
          <a:prstGeom prst="rect">
            <a:avLst/>
          </a:prstGeom>
          <a:noFill/>
          <a:ln/>
        </p:spPr>
        <p:txBody>
          <a:bodyPr wrap="square" lIns="635" tIns="635" rIns="635" bIns="635" rtlCol="0" anchor="t">
            <a:normAutofit/>
          </a:bodyPr>
          <a:lstStyle/>
          <a:p>
            <a:r>
              <a:rPr lang="en-US" sz="1500" dirty="0">
                <a:solidFill>
                  <a:srgbClr val="17364A"/>
                </a:solidFill>
                <a:latin typeface="Aptos" pitchFamily="34" charset="0"/>
                <a:ea typeface="Aptos" pitchFamily="34" charset="-122"/>
                <a:cs typeface="Aptos" pitchFamily="34" charset="-120"/>
              </a:rPr>
              <a:t>What AI-enabled vendor tools are already in use or under consideration?</a:t>
            </a:r>
            <a:endParaRPr lang="en-US" sz="1500" dirty="0"/>
          </a:p>
          <a:p>
            <a:r>
              <a:rPr lang="en-US" sz="1500" dirty="0">
                <a:solidFill>
                  <a:srgbClr val="17364A"/>
                </a:solidFill>
                <a:latin typeface="Aptos" pitchFamily="34" charset="0"/>
                <a:ea typeface="Aptos" pitchFamily="34" charset="-122"/>
                <a:cs typeface="Aptos" pitchFamily="34" charset="-120"/>
              </a:rPr>
              <a:t>Which contract terms would prevent the department from auditing or safely exiting the system?</a:t>
            </a:r>
            <a:endParaRPr lang="en-US" sz="1500" dirty="0"/>
          </a:p>
          <a:p>
            <a:r>
              <a:rPr lang="en-US" sz="1500" dirty="0">
                <a:solidFill>
                  <a:srgbClr val="17364A"/>
                </a:solidFill>
                <a:latin typeface="Aptos" pitchFamily="34" charset="0"/>
                <a:ea typeface="Aptos" pitchFamily="34" charset="-122"/>
                <a:cs typeface="Aptos" pitchFamily="34" charset="-120"/>
              </a:rPr>
              <a:t>Who must review vendor claims before a pilot or purchase is approved?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Text 1"/>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Procurement and Vendor Oversight</a:t>
            </a:r>
            <a:endParaRPr lang="en-US" sz="900" dirty="0"/>
          </a:p>
        </p:txBody>
      </p:sp>
      <p:sp>
        <p:nvSpPr>
          <p:cNvPr id="4" name="Text 2"/>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5" name="Text 3"/>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 Paula Soper</a:t>
            </a:r>
            <a:endParaRPr lang="en-US" sz="800" dirty="0"/>
          </a:p>
        </p:txBody>
      </p:sp>
      <p:sp>
        <p:nvSpPr>
          <p:cNvPr id="6" name="Text 4"/>
          <p:cNvSpPr/>
          <p:nvPr/>
        </p:nvSpPr>
        <p:spPr>
          <a:xfrm>
            <a:off x="640080" y="658368"/>
            <a:ext cx="10881360" cy="502920"/>
          </a:xfrm>
          <a:prstGeom prst="rect">
            <a:avLst/>
          </a:prstGeom>
          <a:noFill/>
          <a:ln/>
        </p:spPr>
        <p:txBody>
          <a:bodyPr wrap="square" lIns="0" tIns="0" rIns="0" bIns="0" rtlCol="0" anchor="ctr"/>
          <a:lstStyle/>
          <a:p>
            <a:pPr indent="0" marL="0">
              <a:buNone/>
            </a:pPr>
            <a:r>
              <a:rPr lang="en-US" sz="2800" b="1" dirty="0">
                <a:solidFill>
                  <a:srgbClr val="003A63"/>
                </a:solidFill>
                <a:latin typeface="Aptos Display" pitchFamily="34" charset="0"/>
                <a:ea typeface="Aptos Display" pitchFamily="34" charset="-122"/>
                <a:cs typeface="Aptos Display" pitchFamily="34" charset="-120"/>
              </a:rPr>
              <a:t>References and Resources</a:t>
            </a:r>
            <a:endParaRPr lang="en-US" sz="2800" dirty="0"/>
          </a:p>
        </p:txBody>
      </p:sp>
      <p:sp>
        <p:nvSpPr>
          <p:cNvPr id="7" name="Text 5"/>
          <p:cNvSpPr/>
          <p:nvPr/>
        </p:nvSpPr>
        <p:spPr>
          <a:xfrm>
            <a:off x="822960" y="1280160"/>
            <a:ext cx="10378440" cy="4800600"/>
          </a:xfrm>
          <a:prstGeom prst="rect">
            <a:avLst/>
          </a:prstGeom>
          <a:noFill/>
          <a:ln/>
        </p:spPr>
        <p:txBody>
          <a:bodyPr wrap="square" lIns="635" tIns="635" rIns="635" bIns="635" rtlCol="0" anchor="t">
            <a:normAutofit/>
          </a:bodyPr>
          <a:lstStyle/>
          <a:p>
            <a:r>
              <a:rPr lang="en-US" sz="1280" dirty="0">
                <a:solidFill>
                  <a:srgbClr val="17364A"/>
                </a:solidFill>
                <a:latin typeface="Aptos" pitchFamily="34" charset="0"/>
                <a:ea typeface="Aptos" pitchFamily="34" charset="-122"/>
                <a:cs typeface="Aptos" pitchFamily="34" charset="-120"/>
              </a:rPr>
              <a:t>NIST AI Risk Management Framework: Use to structure vendor risk, documentation, transparency, and accountability review.</a:t>
            </a:r>
            <a:endParaRPr lang="en-US" sz="1280" dirty="0"/>
          </a:p>
          <a:p>
            <a:r>
              <a:rPr lang="en-US" sz="1280" dirty="0">
                <a:solidFill>
                  <a:srgbClr val="17364A"/>
                </a:solidFill>
                <a:latin typeface="Aptos" pitchFamily="34" charset="0"/>
                <a:ea typeface="Aptos" pitchFamily="34" charset="-122"/>
                <a:cs typeface="Aptos" pitchFamily="34" charset="-120"/>
              </a:rPr>
              <a:t>FedRAMP: Cloud security authorization context for vendor-hosted systems that may handle sensitive government data.</a:t>
            </a:r>
            <a:endParaRPr lang="en-US" sz="1280" dirty="0"/>
          </a:p>
          <a:p>
            <a:r>
              <a:rPr lang="en-US" sz="1280" dirty="0">
                <a:solidFill>
                  <a:srgbClr val="17364A"/>
                </a:solidFill>
                <a:latin typeface="Aptos" pitchFamily="34" charset="0"/>
                <a:ea typeface="Aptos" pitchFamily="34" charset="-122"/>
                <a:cs typeface="Aptos" pitchFamily="34" charset="-120"/>
              </a:rPr>
              <a:t>HHS Civil Rights and AI: Equity, nondiscrimination, and civil rights considerations for AI-enabled vendor tools.</a:t>
            </a:r>
            <a:endParaRPr lang="en-US" sz="12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Procurement and Vendor Oversight</dc:title>
  <dc:subject>Procurement and Vendor Oversight learning module</dc:subject>
  <dc:creator>Paula Soper</dc:creator>
  <cp:lastModifiedBy>Paula Soper</cp:lastModifiedBy>
  <cp:revision>1</cp:revision>
  <dcterms:created xsi:type="dcterms:W3CDTF">2026-07-09T20:18:52Z</dcterms:created>
  <dcterms:modified xsi:type="dcterms:W3CDTF">2026-07-09T20:18:52Z</dcterms:modified>
</cp:coreProperties>
</file>