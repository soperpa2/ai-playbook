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focuses on protecting AI systems, integrations, prompts, outputs, data, users, and connected tools.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handle sensitive health, demographic, legal, operational, and community information.</a:t>
            </a:r>
            <a:endParaRPr lang="en-US" sz="2100" dirty="0"/>
          </a:p>
          <a:p>
            <a:r>
              <a:rPr lang="en-US" sz="2100" dirty="0">
                <a:solidFill>
                  <a:srgbClr val="17364A"/>
                </a:solidFill>
                <a:latin typeface="Aptos" pitchFamily="34" charset="0"/>
                <a:ea typeface="Aptos" pitchFamily="34" charset="-122"/>
                <a:cs typeface="Aptos" pitchFamily="34" charset="-120"/>
              </a:rPr>
              <a:t>AI security is therefore a core public health safeguard, not only an IT responsibility.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security in public health operational terms.</a:t>
            </a:r>
            <a:endParaRPr lang="en-US" sz="2100" dirty="0"/>
          </a:p>
          <a:p>
            <a:r>
              <a:rPr lang="en-US" sz="2100" dirty="0">
                <a:solidFill>
                  <a:srgbClr val="17364A"/>
                </a:solidFill>
                <a:latin typeface="Aptos" pitchFamily="34" charset="0"/>
                <a:ea typeface="Aptos" pitchFamily="34" charset="-122"/>
                <a:cs typeface="Aptos" pitchFamily="34" charset="-120"/>
              </a:rPr>
              <a:t>Identify prompt injection, data leakage, sensitive information disclosure, insecure output handling,.</a:t>
            </a:r>
            <a:endParaRPr lang="en-US" sz="2100" dirty="0"/>
          </a:p>
          <a:p>
            <a:r>
              <a:rPr lang="en-US" sz="2100" dirty="0">
                <a:solidFill>
                  <a:srgbClr val="17364A"/>
                </a:solidFill>
                <a:latin typeface="Aptos" pitchFamily="34" charset="0"/>
                <a:ea typeface="Aptos" pitchFamily="34" charset="-122"/>
                <a:cs typeface="Aptos" pitchFamily="34" charset="-120"/>
              </a:rPr>
              <a:t>Explain why RAG, plugins, APIs, and agentic workflows increase the need for security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security in public health operational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secure AI workflow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secure AI workflow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handle sensitive health, demographic, legal, operational, and community.</a:t>
            </a:r>
            <a:endParaRPr lang="en-US" sz="2100" dirty="0"/>
          </a:p>
          <a:p>
            <a:r>
              <a:rPr lang="en-US" sz="2100" dirty="0">
                <a:solidFill>
                  <a:srgbClr val="17364A"/>
                </a:solidFill>
                <a:latin typeface="Aptos" pitchFamily="34" charset="0"/>
                <a:ea typeface="Aptos" pitchFamily="34" charset="-122"/>
                <a:cs typeface="Aptos" pitchFamily="34" charset="-120"/>
              </a:rPr>
              <a:t>AI security is therefore a core public health safeguard, not only an IT responsibility.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2100" dirty="0"/>
          </a:p>
          <a:p>
            <a:r>
              <a:rPr lang="en-US" sz="2100" dirty="0">
                <a:solidFill>
                  <a:srgbClr val="17364A"/>
                </a:solidFill>
                <a:latin typeface="Aptos" pitchFamily="34" charset="0"/>
                <a:ea typeface="Aptos" pitchFamily="34" charset="-122"/>
                <a:cs typeface="Aptos" pitchFamily="34" charset="-120"/>
              </a:rPr>
              <a:t>The risks increase when AI tools are connected to email, calendars, case systems, data warehouses,.</a:t>
            </a:r>
            <a:endParaRPr lang="en-US" sz="2100" dirty="0"/>
          </a:p>
          <a:p>
            <a:r>
              <a:rPr lang="en-US" sz="2100" dirty="0">
                <a:solidFill>
                  <a:srgbClr val="17364A"/>
                </a:solidFill>
                <a:latin typeface="Aptos" pitchFamily="34" charset="0"/>
                <a:ea typeface="Aptos" pitchFamily="34" charset="-122"/>
                <a:cs typeface="Aptos" pitchFamily="34" charset="-120"/>
              </a:rPr>
              <a:t>A security weakness can become a privacy breach, operational disruption, public trust problem, or legal.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2100" dirty="0"/>
          </a:p>
          <a:p>
            <a:r>
              <a:rPr lang="en-US" sz="2100" dirty="0">
                <a:solidFill>
                  <a:srgbClr val="17364A"/>
                </a:solidFill>
                <a:latin typeface="Aptos" pitchFamily="34" charset="0"/>
                <a:ea typeface="Aptos" pitchFamily="34" charset="-122"/>
                <a:cs typeface="Aptos" pitchFamily="34" charset="-120"/>
              </a:rPr>
              <a:t>One report could contain hidden or visible instructions telling the AI to ignore prior rules and reveal.</a:t>
            </a:r>
            <a:endParaRPr lang="en-US" sz="2100" dirty="0"/>
          </a:p>
          <a:p>
            <a:r>
              <a:rPr lang="en-US" sz="2100" dirty="0">
                <a:solidFill>
                  <a:srgbClr val="17364A"/>
                </a:solidFill>
                <a:latin typeface="Aptos" pitchFamily="34" charset="0"/>
                <a:ea typeface="Aptos" pitchFamily="34" charset="-122"/>
                <a:cs typeface="Aptos" pitchFamily="34" charset="-120"/>
              </a:rPr>
              <a:t>If the assistant treats the report content as instructions rather than data, it may produce unsafe.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begins with use-case classification.</a:t>
            </a:r>
            <a:endParaRPr lang="en-US" sz="2100" dirty="0"/>
          </a:p>
          <a:p>
            <a:r>
              <a:rPr lang="en-US" sz="2100" dirty="0">
                <a:solidFill>
                  <a:srgbClr val="17364A"/>
                </a:solidFill>
                <a:latin typeface="Aptos" pitchFamily="34" charset="0"/>
                <a:ea typeface="Aptos" pitchFamily="34" charset="-122"/>
                <a:cs typeface="Aptos" pitchFamily="34" charset="-120"/>
              </a:rPr>
              <a:t>A low-risk training exercise using public documents requires different controls than a tool connected.</a:t>
            </a:r>
            <a:endParaRPr lang="en-US" sz="2100" dirty="0"/>
          </a:p>
          <a:p>
            <a:r>
              <a:rPr lang="en-US" sz="2100" dirty="0">
                <a:solidFill>
                  <a:srgbClr val="17364A"/>
                </a:solidFill>
                <a:latin typeface="Aptos" pitchFamily="34" charset="0"/>
                <a:ea typeface="Aptos" pitchFamily="34" charset="-122"/>
                <a:cs typeface="Aptos" pitchFamily="34" charset="-120"/>
              </a:rPr>
              <a:t>Agencies should classify AI uses by data sensitivity, system access, autonomy, public-facing impact,.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begins with use-case classification.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2100" dirty="0"/>
          </a:p>
          <a:p>
            <a:r>
              <a:rPr lang="en-US" sz="2100" dirty="0">
                <a:solidFill>
                  <a:srgbClr val="17364A"/>
                </a:solidFill>
                <a:latin typeface="Aptos" pitchFamily="34" charset="0"/>
                <a:ea typeface="Aptos" pitchFamily="34" charset="-122"/>
                <a:cs typeface="Aptos" pitchFamily="34" charset="-120"/>
              </a:rPr>
              <a:t>Insecure output handling can lead to misinformation, broken code, malicious links, or inappropriate.</a:t>
            </a:r>
            <a:endParaRPr lang="en-US" sz="2100" dirty="0"/>
          </a:p>
          <a:p>
            <a:r>
              <a:rPr lang="en-US" sz="2100" dirty="0">
                <a:solidFill>
                  <a:srgbClr val="17364A"/>
                </a:solidFill>
                <a:latin typeface="Aptos" pitchFamily="34" charset="0"/>
                <a:ea typeface="Aptos" pitchFamily="34" charset="-122"/>
                <a:cs typeface="Aptos" pitchFamily="34" charset="-120"/>
              </a:rPr>
              <a:t>Outputs should be validated before downstream use, especially when they affect systems,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injection.</a:t>
            </a:r>
            <a:endParaRPr lang="en-US" sz="2100" dirty="0"/>
          </a:p>
          <a:p>
            <a:r>
              <a:rPr lang="en-US" sz="2100" dirty="0">
                <a:solidFill>
                  <a:srgbClr val="17364A"/>
                </a:solidFill>
                <a:latin typeface="Aptos" pitchFamily="34" charset="0"/>
                <a:ea typeface="Aptos" pitchFamily="34" charset="-122"/>
                <a:cs typeface="Aptos" pitchFamily="34" charset="-120"/>
              </a:rPr>
              <a:t>Untrusted content may override instructions.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treating external content as data, restricting tools, and testing with adversarial.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injection.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Supply chain risk.</a:t>
            </a:r>
            <a:endParaRPr lang="en-US" sz="2100" dirty="0"/>
          </a:p>
          <a:p>
            <a:r>
              <a:rPr lang="en-US" sz="2100" dirty="0">
                <a:solidFill>
                  <a:srgbClr val="17364A"/>
                </a:solidFill>
                <a:latin typeface="Aptos" pitchFamily="34" charset="0"/>
                <a:ea typeface="Aptos" pitchFamily="34" charset="-122"/>
                <a:cs typeface="Aptos" pitchFamily="34" charset="-120"/>
              </a:rPr>
              <a:t>AI tools may depend on vendors, plugins, models, or libraries with vulnerabilities.</a:t>
            </a:r>
            <a:endParaRPr lang="en-US" sz="2100" dirty="0"/>
          </a:p>
          <a:p>
            <a:r>
              <a:rPr lang="en-US" sz="2100" dirty="0">
                <a:solidFill>
                  <a:srgbClr val="17364A"/>
                </a:solidFill>
                <a:latin typeface="Aptos" pitchFamily="34" charset="0"/>
                <a:ea typeface="Aptos" pitchFamily="34" charset="-122"/>
                <a:cs typeface="Aptos" pitchFamily="34" charset="-120"/>
              </a:rPr>
              <a:t>Guardrails include vendor review, security documentation, patching, and contract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Supply chain risk.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2100" dirty="0"/>
          </a:p>
          <a:p>
            <a:r>
              <a:rPr lang="en-US" sz="2100" dirty="0">
                <a:solidFill>
                  <a:srgbClr val="17364A"/>
                </a:solidFill>
                <a:latin typeface="Aptos" pitchFamily="34" charset="0"/>
                <a:ea typeface="Aptos" pitchFamily="34" charset="-122"/>
                <a:cs typeface="Aptos" pitchFamily="34" charset="-120"/>
              </a:rPr>
              <a:t>RAG systems need document-level permissions and protections against unauthorized retrieval.</a:t>
            </a:r>
            <a:endParaRPr lang="en-US" sz="2100" dirty="0"/>
          </a:p>
          <a:p>
            <a:r>
              <a:rPr lang="en-US" sz="2100" dirty="0">
                <a:solidFill>
                  <a:srgbClr val="17364A"/>
                </a:solidFill>
                <a:latin typeface="Aptos" pitchFamily="34" charset="0"/>
                <a:ea typeface="Aptos" pitchFamily="34" charset="-122"/>
                <a:cs typeface="Aptos" pitchFamily="34" charset="-120"/>
              </a:rPr>
              <a:t>Agentic systems need tool restrictions and action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sensitive data or systems would the AI workflow touch?</a:t>
            </a:r>
            <a:endParaRPr lang="en-US" sz="2100" dirty="0"/>
          </a:p>
          <a:p>
            <a:r>
              <a:rPr lang="en-US" sz="2100" dirty="0">
                <a:solidFill>
                  <a:srgbClr val="17364A"/>
                </a:solidFill>
                <a:latin typeface="Aptos" pitchFamily="34" charset="0"/>
                <a:ea typeface="Aptos" pitchFamily="34" charset="-122"/>
                <a:cs typeface="Aptos" pitchFamily="34" charset="-120"/>
              </a:rPr>
              <a:t>Could the AI tool access more information or actions than necessary?</a:t>
            </a:r>
            <a:endParaRPr lang="en-US" sz="2100" dirty="0"/>
          </a:p>
          <a:p>
            <a:r>
              <a:rPr lang="en-US" sz="2100" dirty="0">
                <a:solidFill>
                  <a:srgbClr val="17364A"/>
                </a:solidFill>
                <a:latin typeface="Aptos" pitchFamily="34" charset="0"/>
                <a:ea typeface="Aptos" pitchFamily="34" charset="-122"/>
                <a:cs typeface="Aptos" pitchFamily="34" charset="-120"/>
              </a:rPr>
              <a:t>What untrusted content might the tool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sensitive data or systems would the AI workflow touch?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2100" dirty="0"/>
          </a:p>
          <a:p>
            <a:r>
              <a:rPr lang="en-US" sz="2100" dirty="0">
                <a:solidFill>
                  <a:srgbClr val="17364A"/>
                </a:solidFill>
                <a:latin typeface="Aptos" pitchFamily="34" charset="0"/>
                <a:ea typeface="Aptos" pitchFamily="34" charset="-122"/>
                <a:cs typeface="Aptos" pitchFamily="34" charset="-120"/>
              </a:rPr>
              <a:t>What logs and incident response steps are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data sensitivity, approved tools, access controls, least-privilege review, prompt injection.</a:t>
            </a:r>
            <a:endParaRPr lang="en-US" sz="2100" dirty="0"/>
          </a:p>
          <a:p>
            <a:r>
              <a:rPr lang="en-US" sz="2100" dirty="0">
                <a:solidFill>
                  <a:srgbClr val="17364A"/>
                </a:solidFill>
                <a:latin typeface="Aptos" pitchFamily="34" charset="0"/>
                <a:ea typeface="Aptos" pitchFamily="34" charset="-122"/>
                <a:cs typeface="Aptos" pitchFamily="34" charset="-120"/>
              </a:rPr>
              <a:t>The checklist should identify which controls must be in place before pilot testing and which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AI workflow checklist</a:t>
            </a:r>
            <a:endParaRPr lang="en-US" sz="2100" dirty="0"/>
          </a:p>
          <a:p>
            <a:r>
              <a:rPr lang="en-US" sz="2100" dirty="0">
                <a:solidFill>
                  <a:srgbClr val="17364A"/>
                </a:solidFill>
                <a:latin typeface="Aptos" pitchFamily="34" charset="0"/>
                <a:ea typeface="Aptos" pitchFamily="34" charset="-122"/>
                <a:cs typeface="Aptos" pitchFamily="34" charset="-120"/>
              </a:rPr>
              <a:t>Vendor and implementation security questions</a:t>
            </a:r>
            <a:endParaRPr lang="en-US" sz="2100" dirty="0"/>
          </a:p>
          <a:p>
            <a:r>
              <a:rPr lang="en-US" sz="2100" dirty="0">
                <a:solidFill>
                  <a:srgbClr val="17364A"/>
                </a:solidFill>
                <a:latin typeface="Aptos" pitchFamily="34" charset="0"/>
                <a:ea typeface="Aptos" pitchFamily="34" charset="-122"/>
                <a:cs typeface="Aptos" pitchFamily="34" charset="-120"/>
              </a:rPr>
              <a:t>Prompt injection risk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AI workflow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incident trigger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incident trigger and escalation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AI workflow checklist</a:t>
            </a:r>
            <a:endParaRPr lang="en-US" sz="2100" dirty="0"/>
          </a:p>
          <a:p>
            <a:r>
              <a:rPr lang="en-US" sz="2100" dirty="0">
                <a:solidFill>
                  <a:srgbClr val="17364A"/>
                </a:solidFill>
                <a:latin typeface="Aptos" pitchFamily="34" charset="0"/>
                <a:ea typeface="Aptos" pitchFamily="34" charset="-122"/>
                <a:cs typeface="Aptos" pitchFamily="34" charset="-120"/>
              </a:rPr>
              <a:t>Vendor and implementation security questions</a:t>
            </a:r>
            <a:endParaRPr lang="en-US" sz="2100" dirty="0"/>
          </a:p>
          <a:p>
            <a:r>
              <a:rPr lang="en-US" sz="2100" dirty="0">
                <a:solidFill>
                  <a:srgbClr val="17364A"/>
                </a:solidFill>
                <a:latin typeface="Aptos" pitchFamily="34" charset="0"/>
                <a:ea typeface="Aptos" pitchFamily="34" charset="-122"/>
                <a:cs typeface="Aptos" pitchFamily="34" charset="-120"/>
              </a:rPr>
              <a:t>Prompt injection risk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AI workflow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prompt injection?</a:t>
            </a:r>
            <a:endParaRPr lang="en-US" sz="2100" dirty="0"/>
          </a:p>
          <a:p>
            <a:r>
              <a:rPr lang="en-US" sz="2100" dirty="0">
                <a:solidFill>
                  <a:srgbClr val="17364A"/>
                </a:solidFill>
                <a:latin typeface="Aptos" pitchFamily="34" charset="0"/>
                <a:ea typeface="Aptos" pitchFamily="34" charset="-122"/>
                <a:cs typeface="Aptos" pitchFamily="34" charset="-120"/>
              </a:rPr>
              <a:t>2. What does least privilege mean?</a:t>
            </a:r>
            <a:endParaRPr lang="en-US" sz="2100" dirty="0"/>
          </a:p>
          <a:p>
            <a:r>
              <a:rPr lang="en-US" sz="2100" dirty="0">
                <a:solidFill>
                  <a:srgbClr val="17364A"/>
                </a:solidFill>
                <a:latin typeface="Aptos" pitchFamily="34" charset="0"/>
                <a:ea typeface="Aptos" pitchFamily="34" charset="-122"/>
                <a:cs typeface="Aptos" pitchFamily="34" charset="-120"/>
              </a:rPr>
              <a:t>3. Why does agentic AI increase security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prompt injection?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2026-07-13T01:54:44Z</dcterms:created>
  <dcterms:modified xsi:type="dcterms:W3CDTF">2026-07-13T01:54:44Z</dcterms:modified>
</cp:coreProperties>
</file>