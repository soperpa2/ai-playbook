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 activities that help a public.</a:t>
            </a:r>
            <a:endParaRPr lang="en-US" sz="1700" dirty="0"/>
          </a:p>
          <a:p>
            <a:r>
              <a:rPr lang="en-US" sz="17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 every AI idea must be blocked by a committee.</a:t>
            </a:r>
            <a:endParaRPr lang="en-US" sz="1700" dirty="0"/>
          </a:p>
          <a:p>
            <a:r>
              <a:rPr lang="en-US" sz="17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 may be used, who is accountable, and how staff.</a:t>
            </a:r>
            <a:endParaRPr lang="en-US" sz="1700" dirty="0"/>
          </a:p>
          <a:p>
            <a:r>
              <a:rPr lang="en-US" sz="1700" dirty="0">
                <a:solidFill>
                  <a:srgbClr val="17364A"/>
                </a:solidFill>
                <a:latin typeface="Aptos" pitchFamily="34" charset="0"/>
                <a:ea typeface="Aptos" pitchFamily="34" charset="-122"/>
                <a:cs typeface="Aptos" pitchFamily="34" charset="-120"/>
              </a:rPr>
              <a:t>This introductory module is designed for all public health staff, including program staff, technical staff, supervisors, epidemiologists,.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introductory</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shared-foundational,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 engage stakeholders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2: Responsible AI Policy Template (Template)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11: AI Advisory Committee Charter (Template)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12: AI Governance Board Charter (Template)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13: AI Use Case Intake, Risk Review, and System Inventory Template (Template) - Use this tool to complete or strengthen the.</a:t>
            </a:r>
            <a:endParaRPr lang="en-US" sz="1460" dirty="0"/>
          </a:p>
          <a:p>
            <a:r>
              <a:rPr lang="en-US" sz="1460" dirty="0">
                <a:solidFill>
                  <a:srgbClr val="17364A"/>
                </a:solidFill>
                <a:latin typeface="Aptos" pitchFamily="34" charset="0"/>
                <a:ea typeface="Aptos" pitchFamily="34" charset="-122"/>
                <a:cs typeface="Aptos" pitchFamily="34" charset="-120"/>
              </a:rPr>
              <a:t>Tool 46: AI Governance Review Meeting Template (Template) - Use this tool to complete or strengthen the practical exercise for the.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700" dirty="0"/>
          </a:p>
          <a:p>
            <a:r>
              <a:rPr lang="en-US" sz="1700" dirty="0">
                <a:solidFill>
                  <a:srgbClr val="17364A"/>
                </a:solidFill>
                <a:latin typeface="Aptos" pitchFamily="34" charset="0"/>
                <a:ea typeface="Aptos" pitchFamily="34" charset="-122"/>
                <a:cs typeface="Aptos" pitchFamily="34" charset="-120"/>
              </a:rPr>
              <a:t>Distinguish AI governance from AI policy, IT security review, project management, and individual tool use.</a:t>
            </a:r>
            <a:endParaRPr lang="en-US" sz="1700" dirty="0"/>
          </a:p>
          <a:p>
            <a:r>
              <a:rPr lang="en-US" sz="1700" dirty="0">
                <a:solidFill>
                  <a:srgbClr val="17364A"/>
                </a:solidFill>
                <a:latin typeface="Aptos" pitchFamily="34" charset="0"/>
                <a:ea typeface="Aptos" pitchFamily="34" charset="-122"/>
                <a:cs typeface="Aptos" pitchFamily="34" charset="-120"/>
              </a:rPr>
              <a:t>Identify common AI governance roles, including program owner, data steward, privacy lead, security lead, legal counsel, equity.</a:t>
            </a:r>
            <a:endParaRPr lang="en-US" sz="1700" dirty="0"/>
          </a:p>
          <a:p>
            <a:r>
              <a:rPr lang="en-US" sz="1700" dirty="0">
                <a:solidFill>
                  <a:srgbClr val="17364A"/>
                </a:solidFill>
                <a:latin typeface="Aptos" pitchFamily="34" charset="0"/>
                <a:ea typeface="Aptos" pitchFamily="34" charset="-122"/>
                <a:cs typeface="Aptos" pitchFamily="34" charset="-120"/>
              </a:rPr>
              <a:t>Recognize which AI uses should be escalated for formal review because they involve sensitive data, public-facing information,.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 health workflow.</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 health workflow.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 activities.</a:t>
            </a:r>
            <a:endParaRPr lang="en-US" sz="1700" dirty="0"/>
          </a:p>
          <a:p>
            <a:r>
              <a:rPr lang="en-US" sz="17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 every AI idea must be.</a:t>
            </a:r>
            <a:endParaRPr lang="en-US" sz="1700" dirty="0"/>
          </a:p>
          <a:p>
            <a:r>
              <a:rPr lang="en-US" sz="17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 may be used, who is.</a:t>
            </a:r>
            <a:endParaRPr lang="en-US" sz="1700" dirty="0"/>
          </a:p>
          <a:p>
            <a:r>
              <a:rPr lang="en-US" sz="1700" dirty="0">
                <a:solidFill>
                  <a:srgbClr val="17364A"/>
                </a:solidFill>
                <a:latin typeface="Aptos" pitchFamily="34" charset="0"/>
                <a:ea typeface="Aptos" pitchFamily="34" charset="-122"/>
                <a:cs typeface="Aptos" pitchFamily="34" charset="-120"/>
              </a:rPr>
              <a:t>This introductory module is designed for all public health staff, including program staff, technical staff, supervisors,.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 activities.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 monitor, and improve AI.</a:t>
            </a:r>
            <a:endParaRPr lang="en-US" sz="1700" dirty="0"/>
          </a:p>
          <a:p>
            <a:r>
              <a:rPr lang="en-US" sz="1700" dirty="0">
                <a:solidFill>
                  <a:srgbClr val="17364A"/>
                </a:solidFill>
                <a:latin typeface="Aptos" pitchFamily="34" charset="0"/>
                <a:ea typeface="Aptos" pitchFamily="34" charset="-122"/>
                <a:cs typeface="Aptos" pitchFamily="34" charset="-120"/>
              </a:rPr>
              <a:t>Governance body: A governance body is the group or structure responsible for reviewing AI use and making or recommending.</a:t>
            </a:r>
            <a:endParaRPr lang="en-US" sz="1700" dirty="0"/>
          </a:p>
          <a:p>
            <a:r>
              <a:rPr lang="en-US" sz="1700" dirty="0">
                <a:solidFill>
                  <a:srgbClr val="17364A"/>
                </a:solidFill>
                <a:latin typeface="Aptos" pitchFamily="34" charset="0"/>
                <a:ea typeface="Aptos" pitchFamily="34" charset="-122"/>
                <a:cs typeface="Aptos" pitchFamily="34" charset="-120"/>
              </a:rPr>
              <a:t>Decision rights: Decision rights define who is allowed to approve, reject, pause, revise, monitor, or retire an AI use..</a:t>
            </a:r>
            <a:endParaRPr lang="en-US" sz="1700" dirty="0"/>
          </a:p>
          <a:p>
            <a:r>
              <a:rPr lang="en-US" sz="1700" dirty="0">
                <a:solidFill>
                  <a:srgbClr val="17364A"/>
                </a:solidFill>
                <a:latin typeface="Aptos" pitchFamily="34" charset="0"/>
                <a:ea typeface="Aptos" pitchFamily="34" charset="-122"/>
                <a:cs typeface="Aptos" pitchFamily="34" charset="-120"/>
              </a:rPr>
              <a:t>AI use case: An AI use case describes a specific way AI will be used to support a public health task or workflow. A strong use.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 monitor, and improve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 for reviewing AI.</a:t>
            </a:r>
            <a:endParaRPr lang="en-US" sz="1700" dirty="0"/>
          </a:p>
          <a:p>
            <a:r>
              <a:rPr lang="en-US" sz="1700" dirty="0">
                <a:solidFill>
                  <a:srgbClr val="17364A"/>
                </a:solidFill>
                <a:latin typeface="Aptos" pitchFamily="34" charset="0"/>
                <a:ea typeface="Aptos" pitchFamily="34" charset="-122"/>
                <a:cs typeface="Aptos" pitchFamily="34" charset="-120"/>
              </a:rPr>
              <a:t>Oversight: Oversight is the ongoing review of AI use after approval. It includes monitoring performance, reviewing incidents,.</a:t>
            </a:r>
            <a:endParaRPr lang="en-US" sz="1700" dirty="0"/>
          </a:p>
          <a:p>
            <a:r>
              <a:rPr lang="en-US" sz="1700" dirty="0">
                <a:solidFill>
                  <a:srgbClr val="17364A"/>
                </a:solidFill>
                <a:latin typeface="Aptos" pitchFamily="34" charset="0"/>
                <a:ea typeface="Aptos" pitchFamily="34" charset="-122"/>
                <a:cs typeface="Aptos" pitchFamily="34" charset="-120"/>
              </a:rPr>
              <a:t>Escalation: Escalation is the process for raising a question, concern, incident, or proposed high-risk use to the appropriate.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 for reviewing AI.</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 funding recipients,.</a:t>
            </a:r>
            <a:endParaRPr lang="en-US" sz="1700" dirty="0"/>
          </a:p>
          <a:p>
            <a:r>
              <a:rPr lang="en-US" sz="1700" dirty="0">
                <a:solidFill>
                  <a:srgbClr val="17364A"/>
                </a:solidFill>
                <a:latin typeface="Aptos" pitchFamily="34" charset="0"/>
                <a:ea typeface="Aptos" pitchFamily="34" charset="-122"/>
                <a:cs typeface="Aptos" pitchFamily="34" charset="-120"/>
              </a:rPr>
              <a:t>AI can help staff work faster and identify patterns, but it can also introduce new risks.</a:t>
            </a:r>
            <a:endParaRPr lang="en-US" sz="1700" dirty="0"/>
          </a:p>
          <a:p>
            <a:r>
              <a:rPr lang="en-US" sz="1700" dirty="0">
                <a:solidFill>
                  <a:srgbClr val="17364A"/>
                </a:solidFill>
                <a:latin typeface="Aptos" pitchFamily="34" charset="0"/>
                <a:ea typeface="Aptos" pitchFamily="34" charset="-122"/>
                <a:cs typeface="Aptos" pitchFamily="34" charset="-120"/>
              </a:rPr>
              <a:t>An AI tool may produce a convincing but incorrect summary, expose protected or sensitive information, make uneven.</a:t>
            </a:r>
            <a:endParaRPr lang="en-US" sz="1700" dirty="0"/>
          </a:p>
          <a:p>
            <a:r>
              <a:rPr lang="en-US" sz="1700" dirty="0">
                <a:solidFill>
                  <a:srgbClr val="17364A"/>
                </a:solidFill>
                <a:latin typeface="Aptos" pitchFamily="34" charset="0"/>
                <a:ea typeface="Aptos" pitchFamily="34" charset="-122"/>
                <a:cs typeface="Aptos" pitchFamily="34" charset="-120"/>
              </a:rPr>
              <a:t>Governance creates a way to identify these risks before they become routine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 funding recipients,.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700" dirty="0"/>
          </a:p>
          <a:p>
            <a:r>
              <a:rPr lang="en-US" sz="1700" dirty="0">
                <a:solidFill>
                  <a:srgbClr val="17364A"/>
                </a:solidFill>
                <a:latin typeface="Aptos" pitchFamily="34" charset="0"/>
                <a:ea typeface="Aptos" pitchFamily="34" charset="-122"/>
                <a:cs typeface="Aptos" pitchFamily="34" charset="-120"/>
              </a:rPr>
              <a:t>A technically impressive tool is not enough.</a:t>
            </a:r>
            <a:endParaRPr lang="en-US" sz="1700" dirty="0"/>
          </a:p>
          <a:p>
            <a:r>
              <a:rPr lang="en-US" sz="1700" dirty="0">
                <a:solidFill>
                  <a:srgbClr val="17364A"/>
                </a:solidFill>
                <a:latin typeface="Aptos" pitchFamily="34" charset="0"/>
                <a:ea typeface="Aptos" pitchFamily="34" charset="-122"/>
                <a:cs typeface="Aptos" pitchFamily="34" charset="-120"/>
              </a:rPr>
              <a:t>The agency must ask whether the tool serves a legitimate public health purpose, uses appropriate data, supports equitable.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 listening session notes.</a:t>
            </a:r>
            <a:endParaRPr lang="en-US" sz="1700" dirty="0"/>
          </a:p>
          <a:p>
            <a:r>
              <a:rPr lang="en-US" sz="1700" dirty="0">
                <a:solidFill>
                  <a:srgbClr val="17364A"/>
                </a:solidFill>
                <a:latin typeface="Aptos" pitchFamily="34" charset="0"/>
                <a:ea typeface="Aptos" pitchFamily="34" charset="-122"/>
                <a:cs typeface="Aptos" pitchFamily="34" charset="-120"/>
              </a:rPr>
              <a:t>The goal is to identify common themes related to access to mobile vaccination clinics, language needs, transportation.</a:t>
            </a:r>
            <a:endParaRPr lang="en-US" sz="1700" dirty="0"/>
          </a:p>
          <a:p>
            <a:r>
              <a:rPr lang="en-US" sz="1700" dirty="0">
                <a:solidFill>
                  <a:srgbClr val="17364A"/>
                </a:solidFill>
                <a:latin typeface="Aptos" pitchFamily="34" charset="0"/>
                <a:ea typeface="Aptos" pitchFamily="34" charset="-122"/>
                <a:cs typeface="Aptos" pitchFamily="34" charset="-120"/>
              </a:rPr>
              <a:t>Program staff see the tool as a way to save time.</a:t>
            </a:r>
            <a:endParaRPr lang="en-US" sz="1700" dirty="0"/>
          </a:p>
          <a:p>
            <a:r>
              <a:rPr lang="en-US" sz="1700" dirty="0">
                <a:solidFill>
                  <a:srgbClr val="17364A"/>
                </a:solidFill>
                <a:latin typeface="Aptos" pitchFamily="34" charset="0"/>
                <a:ea typeface="Aptos" pitchFamily="34" charset="-122"/>
                <a:cs typeface="Aptos" pitchFamily="34" charset="-120"/>
              </a:rPr>
              <a:t>Communications staff want to use the themes in a public report.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 listening session notes.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700" dirty="0"/>
          </a:p>
          <a:p>
            <a:r>
              <a:rPr lang="en-US" sz="1700" dirty="0">
                <a:solidFill>
                  <a:srgbClr val="17364A"/>
                </a:solidFill>
                <a:latin typeface="Aptos" pitchFamily="34" charset="0"/>
                <a:ea typeface="Aptos" pitchFamily="34" charset="-122"/>
                <a:cs typeface="Aptos" pitchFamily="34" charset="-120"/>
              </a:rPr>
              <a:t>Program staff define the purpose and workflow.</a:t>
            </a:r>
            <a:endParaRPr lang="en-US" sz="1700" dirty="0"/>
          </a:p>
          <a:p>
            <a:r>
              <a:rPr lang="en-US" sz="1700" dirty="0">
                <a:solidFill>
                  <a:srgbClr val="17364A"/>
                </a:solidFill>
                <a:latin typeface="Aptos" pitchFamily="34" charset="0"/>
                <a:ea typeface="Aptos" pitchFamily="34" charset="-122"/>
                <a:cs typeface="Aptos" pitchFamily="34" charset="-120"/>
              </a:rPr>
              <a:t>Data and privacy staff assess what may be entered into a tool.</a:t>
            </a:r>
            <a:endParaRPr lang="en-US" sz="1700" dirty="0"/>
          </a:p>
          <a:p>
            <a:r>
              <a:rPr lang="en-US" sz="1700" dirty="0">
                <a:solidFill>
                  <a:srgbClr val="17364A"/>
                </a:solidFill>
                <a:latin typeface="Aptos" pitchFamily="34" charset="0"/>
                <a:ea typeface="Aptos" pitchFamily="34" charset="-122"/>
                <a:cs typeface="Aptos" pitchFamily="34" charset="-120"/>
              </a:rPr>
              <a:t>Equity and community engagement staff consider whether the process preserves community meaning.</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 happen before a formal.</a:t>
            </a:r>
            <a:endParaRPr lang="en-US" sz="1700" dirty="0"/>
          </a:p>
          <a:p>
            <a:r>
              <a:rPr lang="en-US" sz="1700" dirty="0">
                <a:solidFill>
                  <a:srgbClr val="17364A"/>
                </a:solidFill>
                <a:latin typeface="Aptos" pitchFamily="34" charset="0"/>
                <a:ea typeface="Aptos" pitchFamily="34" charset="-122"/>
                <a:cs typeface="Aptos" pitchFamily="34" charset="-120"/>
              </a:rPr>
              <a:t>The first decision is recognizing that an AI use exists.</a:t>
            </a:r>
            <a:endParaRPr lang="en-US" sz="1700" dirty="0"/>
          </a:p>
          <a:p>
            <a:r>
              <a:rPr lang="en-US" sz="1700" dirty="0">
                <a:solidFill>
                  <a:srgbClr val="17364A"/>
                </a:solidFill>
                <a:latin typeface="Aptos" pitchFamily="34" charset="0"/>
                <a:ea typeface="Aptos" pitchFamily="34" charset="-122"/>
                <a:cs typeface="Aptos" pitchFamily="34" charset="-120"/>
              </a:rPr>
              <a:t>Staff should treat AI use as more than “using a tool.” If a tool classifies, summarizes, predicts, prioritizes, recommends,.</a:t>
            </a:r>
            <a:endParaRPr lang="en-US" sz="1700" dirty="0"/>
          </a:p>
          <a:p>
            <a:r>
              <a:rPr lang="en-US" sz="1700" dirty="0">
                <a:solidFill>
                  <a:srgbClr val="17364A"/>
                </a:solidFill>
                <a:latin typeface="Aptos" pitchFamily="34" charset="0"/>
                <a:ea typeface="Aptos" pitchFamily="34" charset="-122"/>
                <a:cs typeface="Aptos" pitchFamily="34" charset="-120"/>
              </a:rPr>
              <a:t>The second decision is identifying the purpose.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 happen before a formal.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fourth decision is defining the role of the AI output.</a:t>
            </a:r>
            <a:endParaRPr lang="en-US" sz="1700" dirty="0"/>
          </a:p>
          <a:p>
            <a:r>
              <a:rPr lang="en-US" sz="1700" dirty="0">
                <a:solidFill>
                  <a:srgbClr val="17364A"/>
                </a:solidFill>
                <a:latin typeface="Aptos" pitchFamily="34" charset="0"/>
                <a:ea typeface="Aptos" pitchFamily="34" charset="-122"/>
                <a:cs typeface="Aptos" pitchFamily="34" charset="-120"/>
              </a:rPr>
              <a:t>An AI output may be a draft, a suggestion, a risk score, a classification, a summary, a translation, a code recommendation,.</a:t>
            </a:r>
            <a:endParaRPr lang="en-US" sz="1700" dirty="0"/>
          </a:p>
          <a:p>
            <a:r>
              <a:rPr lang="en-US" sz="1700" dirty="0">
                <a:solidFill>
                  <a:srgbClr val="17364A"/>
                </a:solidFill>
                <a:latin typeface="Aptos" pitchFamily="34" charset="0"/>
                <a:ea typeface="Aptos" pitchFamily="34" charset="-122"/>
                <a:cs typeface="Aptos" pitchFamily="34" charset="-120"/>
              </a:rPr>
              <a:t>The governance question is whether the output informs human work or changes a decision.</a:t>
            </a:r>
            <a:endParaRPr lang="en-US" sz="1700" dirty="0"/>
          </a:p>
          <a:p>
            <a:r>
              <a:rPr lang="en-US" sz="1700" dirty="0">
                <a:solidFill>
                  <a:srgbClr val="17364A"/>
                </a:solidFill>
                <a:latin typeface="Aptos" pitchFamily="34" charset="0"/>
                <a:ea typeface="Aptos" pitchFamily="34" charset="-122"/>
                <a:cs typeface="Aptos" pitchFamily="34" charset="-120"/>
              </a:rPr>
              <a:t>A draft that a trained staff member reviews may be low risk.</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fourth decision is defining the role of the AI output.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seventh decision is planning oversight after approval.</a:t>
            </a:r>
            <a:endParaRPr lang="en-US" sz="1700" dirty="0"/>
          </a:p>
          <a:p>
            <a:r>
              <a:rPr lang="en-US" sz="1700" dirty="0">
                <a:solidFill>
                  <a:srgbClr val="17364A"/>
                </a:solidFill>
                <a:latin typeface="Aptos" pitchFamily="34" charset="0"/>
                <a:ea typeface="Aptos" pitchFamily="34" charset="-122"/>
                <a:cs typeface="Aptos" pitchFamily="34" charset="-120"/>
              </a:rPr>
              <a:t>AI use should not be approved once and forgotten.</a:t>
            </a:r>
            <a:endParaRPr lang="en-US" sz="1700" dirty="0"/>
          </a:p>
          <a:p>
            <a:r>
              <a:rPr lang="en-US" sz="1700" dirty="0">
                <a:solidFill>
                  <a:srgbClr val="17364A"/>
                </a:solidFill>
                <a:latin typeface="Aptos" pitchFamily="34" charset="0"/>
                <a:ea typeface="Aptos" pitchFamily="34" charset="-122"/>
                <a:cs typeface="Aptos" pitchFamily="34" charset="-120"/>
              </a:rPr>
              <a:t>The agency should know what evidence will be reviewed over time, such as error reports, user feedback, performance.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seventh decision is planning oversight after approval.</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Unapproved tool use.</a:t>
            </a:r>
            <a:endParaRPr lang="en-US" sz="1700" dirty="0"/>
          </a:p>
          <a:p>
            <a:r>
              <a:rPr lang="en-US" sz="1700" dirty="0">
                <a:solidFill>
                  <a:srgbClr val="17364A"/>
                </a:solidFill>
                <a:latin typeface="Aptos" pitchFamily="34" charset="0"/>
                <a:ea typeface="Aptos" pitchFamily="34" charset="-122"/>
                <a:cs typeface="Aptos" pitchFamily="34" charset="-120"/>
              </a:rPr>
              <a:t>Staff may use public or personal AI tools before the agency has reviewed privacy, security, retention, or data-use terms.</a:t>
            </a:r>
            <a:endParaRPr lang="en-US" sz="1700" dirty="0"/>
          </a:p>
          <a:p>
            <a:r>
              <a:rPr lang="en-US" sz="1700" dirty="0">
                <a:solidFill>
                  <a:srgbClr val="17364A"/>
                </a:solidFill>
                <a:latin typeface="Aptos" pitchFamily="34" charset="0"/>
                <a:ea typeface="Aptos" pitchFamily="34" charset="-122"/>
                <a:cs typeface="Aptos" pitchFamily="34" charset="-120"/>
              </a:rPr>
              <a:t>Guardrail: publish a plain-language list of approved, restricted, and prohibited uses, including examples of data that may.</a:t>
            </a:r>
            <a:endParaRPr lang="en-US" sz="1700" dirty="0"/>
          </a:p>
          <a:p>
            <a:r>
              <a:rPr lang="en-US" sz="1700" dirty="0">
                <a:solidFill>
                  <a:srgbClr val="17364A"/>
                </a:solidFill>
                <a:latin typeface="Aptos" pitchFamily="34" charset="0"/>
                <a:ea typeface="Aptos" pitchFamily="34" charset="-122"/>
                <a:cs typeface="Aptos" pitchFamily="34" charset="-120"/>
              </a:rPr>
              <a:t>Hidden automation.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Unapproved tool use.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Privacy and confidentiality failures.</a:t>
            </a:r>
            <a:endParaRPr lang="en-US" sz="1700" dirty="0"/>
          </a:p>
          <a:p>
            <a:r>
              <a:rPr lang="en-US" sz="1700" dirty="0">
                <a:solidFill>
                  <a:srgbClr val="17364A"/>
                </a:solidFill>
                <a:latin typeface="Aptos" pitchFamily="34" charset="0"/>
                <a:ea typeface="Aptos" pitchFamily="34" charset="-122"/>
                <a:cs typeface="Aptos" pitchFamily="34" charset="-120"/>
              </a:rPr>
              <a:t>Sensitive public health information can be exposed through inappropriate prompts, file uploads, model training, vendor.</a:t>
            </a:r>
            <a:endParaRPr lang="en-US" sz="1700" dirty="0"/>
          </a:p>
          <a:p>
            <a:r>
              <a:rPr lang="en-US" sz="1700" dirty="0">
                <a:solidFill>
                  <a:srgbClr val="17364A"/>
                </a:solidFill>
                <a:latin typeface="Aptos" pitchFamily="34" charset="0"/>
                <a:ea typeface="Aptos" pitchFamily="34" charset="-122"/>
                <a:cs typeface="Aptos" pitchFamily="34" charset="-120"/>
              </a:rPr>
              <a:t>Guardrail: require data classification, minimum necessary use, approved environments, access controls, and privacy review.</a:t>
            </a:r>
            <a:endParaRPr lang="en-US" sz="1700" dirty="0"/>
          </a:p>
          <a:p>
            <a:r>
              <a:rPr lang="en-US" sz="1700" dirty="0">
                <a:solidFill>
                  <a:srgbClr val="17364A"/>
                </a:solidFill>
                <a:latin typeface="Aptos" pitchFamily="34" charset="0"/>
                <a:ea typeface="Aptos" pitchFamily="34" charset="-122"/>
                <a:cs typeface="Aptos" pitchFamily="34" charset="-120"/>
              </a:rPr>
              <a:t>Equity and representation harms.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Privacy and confidentiality failures.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Governance overload.</a:t>
            </a:r>
            <a:endParaRPr lang="en-US" sz="1700" dirty="0"/>
          </a:p>
          <a:p>
            <a:r>
              <a:rPr lang="en-US" sz="1700" dirty="0">
                <a:solidFill>
                  <a:srgbClr val="17364A"/>
                </a:solidFill>
                <a:latin typeface="Aptos" pitchFamily="34" charset="0"/>
                <a:ea typeface="Aptos" pitchFamily="34" charset="-122"/>
                <a:cs typeface="Aptos" pitchFamily="34" charset="-120"/>
              </a:rPr>
              <a:t>Agencies can create review processes so burdensome that staff avoid them or innovation stalls.</a:t>
            </a:r>
            <a:endParaRPr lang="en-US" sz="1700" dirty="0"/>
          </a:p>
          <a:p>
            <a:r>
              <a:rPr lang="en-US" sz="1700" dirty="0">
                <a:solidFill>
                  <a:srgbClr val="17364A"/>
                </a:solidFill>
                <a:latin typeface="Aptos" pitchFamily="34" charset="0"/>
                <a:ea typeface="Aptos" pitchFamily="34" charset="-122"/>
                <a:cs typeface="Aptos" pitchFamily="34" charset="-120"/>
              </a:rPr>
              <a:t>Guardrail: use risk tiers, standard intake forms, clear timelines, and lightweight pathways for low-risk uses while.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Governance overload.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700" dirty="0"/>
          </a:p>
          <a:p>
            <a:r>
              <a:rPr lang="en-US" sz="1700" dirty="0">
                <a:solidFill>
                  <a:srgbClr val="17364A"/>
                </a:solidFill>
                <a:latin typeface="Aptos" pitchFamily="34" charset="0"/>
                <a:ea typeface="Aptos" pitchFamily="34" charset="-122"/>
                <a:cs typeface="Aptos" pitchFamily="34" charset="-120"/>
              </a:rPr>
              <a:t>Before use, staff should know whether the tool is approved, what data may be used, what the intended purpose is, and.</a:t>
            </a:r>
            <a:endParaRPr lang="en-US" sz="1700" dirty="0"/>
          </a:p>
          <a:p>
            <a:r>
              <a:rPr lang="en-US" sz="1700" dirty="0">
                <a:solidFill>
                  <a:srgbClr val="17364A"/>
                </a:solidFill>
                <a:latin typeface="Aptos" pitchFamily="34" charset="0"/>
                <a:ea typeface="Aptos" pitchFamily="34" charset="-122"/>
                <a:cs typeface="Aptos" pitchFamily="34" charset="-120"/>
              </a:rPr>
              <a:t>During use, staff should know how to review outputs, document decisions, protect sensitive information, and report problems.</a:t>
            </a:r>
            <a:endParaRPr lang="en-US" sz="1700" dirty="0"/>
          </a:p>
          <a:p>
            <a:r>
              <a:rPr lang="en-US" sz="1700" dirty="0">
                <a:solidFill>
                  <a:srgbClr val="17364A"/>
                </a:solidFill>
                <a:latin typeface="Aptos" pitchFamily="34" charset="0"/>
                <a:ea typeface="Aptos" pitchFamily="34" charset="-122"/>
                <a:cs typeface="Aptos" pitchFamily="34" charset="-120"/>
              </a:rPr>
              <a:t>After use, the agency should be able to audit what was approved, what evidence supported the decision, what outputs were.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 safe way to raise.</a:t>
            </a:r>
            <a:endParaRPr lang="en-US" sz="1700" dirty="0"/>
          </a:p>
          <a:p>
            <a:r>
              <a:rPr lang="en-US" sz="1700" dirty="0">
                <a:solidFill>
                  <a:srgbClr val="17364A"/>
                </a:solidFill>
                <a:latin typeface="Aptos" pitchFamily="34" charset="0"/>
                <a:ea typeface="Aptos" pitchFamily="34" charset="-122"/>
                <a:cs typeface="Aptos" pitchFamily="34" charset="-120"/>
              </a:rPr>
              <a:t>Leaders should avoid approving AI tools without resources for training, monitoring, documentation, and improvement.</a:t>
            </a:r>
            <a:endParaRPr lang="en-US" sz="1700" dirty="0"/>
          </a:p>
          <a:p>
            <a:r>
              <a:rPr lang="en-US" sz="1700" dirty="0">
                <a:solidFill>
                  <a:srgbClr val="17364A"/>
                </a:solidFill>
                <a:latin typeface="Aptos" pitchFamily="34" charset="0"/>
                <a:ea typeface="Aptos" pitchFamily="34" charset="-122"/>
                <a:cs typeface="Aptos" pitchFamily="34" charset="-120"/>
              </a:rPr>
              <a:t>For all staff, governance means pausing when an AI use involves sensitive data, public-facing content, decision support,.</a:t>
            </a:r>
            <a:endParaRPr lang="en-US" sz="1700" dirty="0"/>
          </a:p>
          <a:p>
            <a:r>
              <a:rPr lang="en-US" sz="1700" dirty="0">
                <a:solidFill>
                  <a:srgbClr val="17364A"/>
                </a:solidFill>
                <a:latin typeface="Aptos" pitchFamily="34" charset="0"/>
                <a:ea typeface="Aptos" pitchFamily="34" charset="-122"/>
                <a:cs typeface="Aptos" pitchFamily="34" charset="-120"/>
              </a:rPr>
              <a:t>In those situations, escalation is not a barrier.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 safe way to raise.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 search tools,.</a:t>
            </a:r>
            <a:endParaRPr lang="en-US" sz="1700" dirty="0"/>
          </a:p>
          <a:p>
            <a:r>
              <a:rPr lang="en-US" sz="1700" dirty="0">
                <a:solidFill>
                  <a:srgbClr val="17364A"/>
                </a:solidFill>
                <a:latin typeface="Aptos" pitchFamily="34" charset="0"/>
                <a:ea typeface="Aptos" pitchFamily="34" charset="-122"/>
                <a:cs typeface="Aptos" pitchFamily="34" charset="-120"/>
              </a:rPr>
              <a:t>What AI uses in your program area would be low risk, and what uses would require formal review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Who in your agency would need to review an AI use that involves sensitive data, public-facing communication, resource.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 search tools,.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 partner, community.</a:t>
            </a:r>
            <a:endParaRPr lang="en-US" sz="1700" dirty="0"/>
          </a:p>
          <a:p>
            <a:r>
              <a:rPr lang="en-US" sz="1700" dirty="0">
                <a:solidFill>
                  <a:srgbClr val="17364A"/>
                </a:solidFill>
                <a:latin typeface="Aptos" pitchFamily="34" charset="0"/>
                <a:ea typeface="Aptos" pitchFamily="34" charset="-122"/>
                <a:cs typeface="Aptos" pitchFamily="34" charset="-120"/>
              </a:rPr>
              <a:t>What would make staff comfortable raising concerns about AI outputs or unapproved use without fear of blame?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 partner, community.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700" dirty="0"/>
          </a:p>
          <a:p>
            <a:r>
              <a:rPr lang="en-US" sz="1700" dirty="0">
                <a:solidFill>
                  <a:srgbClr val="17364A"/>
                </a:solidFill>
                <a:latin typeface="Aptos" pitchFamily="34" charset="0"/>
                <a:ea typeface="Aptos" pitchFamily="34" charset="-122"/>
                <a:cs typeface="Aptos" pitchFamily="34" charset="-120"/>
              </a:rPr>
              <a:t>Examples include summarizing meeting notes, drafting public health messages, classifying environmental health complaints,.</a:t>
            </a:r>
            <a:endParaRPr lang="en-US" sz="1700" dirty="0"/>
          </a:p>
          <a:p>
            <a:r>
              <a:rPr lang="en-US" sz="1700" dirty="0">
                <a:solidFill>
                  <a:srgbClr val="17364A"/>
                </a:solidFill>
                <a:latin typeface="Aptos" pitchFamily="34" charset="0"/>
                <a:ea typeface="Aptos" pitchFamily="34" charset="-122"/>
                <a:cs typeface="Aptos" pitchFamily="34" charset="-120"/>
              </a:rPr>
              <a:t>Complete a one-page introductory AI governance intake and escalation note.</a:t>
            </a:r>
            <a:endParaRPr lang="en-US" sz="1700" dirty="0"/>
          </a:p>
          <a:p>
            <a:r>
              <a:rPr lang="en-US" sz="1700" dirty="0">
                <a:solidFill>
                  <a:srgbClr val="17364A"/>
                </a:solidFill>
                <a:latin typeface="Aptos" pitchFamily="34" charset="0"/>
                <a:ea typeface="Aptos" pitchFamily="34" charset="-122"/>
                <a:cs typeface="Aptos" pitchFamily="34" charset="-120"/>
              </a:rPr>
              <a:t>The note should include: the public health purpose; the staff or partners who would use the tool; the data involved;.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700" dirty="0"/>
          </a:p>
          <a:p>
            <a:r>
              <a:rPr lang="en-US" sz="1700" dirty="0">
                <a:solidFill>
                  <a:srgbClr val="17364A"/>
                </a:solidFill>
                <a:latin typeface="Aptos" pitchFamily="34" charset="0"/>
                <a:ea typeface="Aptos" pitchFamily="34" charset="-122"/>
                <a:cs typeface="Aptos" pitchFamily="34" charset="-120"/>
              </a:rPr>
              <a:t>For example: Can this data be entered into the proposed tool under current data-use agreements?</a:t>
            </a:r>
            <a:endParaRPr lang="en-US" sz="1700" dirty="0"/>
          </a:p>
          <a:p>
            <a:r>
              <a:rPr lang="en-US" sz="1700" dirty="0">
                <a:solidFill>
                  <a:srgbClr val="17364A"/>
                </a:solidFill>
                <a:latin typeface="Aptos" pitchFamily="34" charset="0"/>
                <a:ea typeface="Aptos" pitchFamily="34" charset="-122"/>
                <a:cs typeface="Aptos" pitchFamily="34" charset="-120"/>
              </a:rPr>
              <a:t>Who must approve public language based on AI-assisted summaries?</a:t>
            </a:r>
            <a:endParaRPr lang="en-US" sz="1700" dirty="0"/>
          </a:p>
          <a:p>
            <a:r>
              <a:rPr lang="en-US" sz="1700" dirty="0">
                <a:solidFill>
                  <a:srgbClr val="17364A"/>
                </a:solidFill>
                <a:latin typeface="Aptos" pitchFamily="34" charset="0"/>
                <a:ea typeface="Aptos" pitchFamily="34" charset="-122"/>
                <a:cs typeface="Aptos" pitchFamily="34" charset="-120"/>
              </a:rPr>
              <a:t>What threshold would make the project high risk?</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 workflow.</a:t>
            </a:r>
            <a:endParaRPr lang="en-US" sz="1700" dirty="0"/>
          </a:p>
          <a:p>
            <a:r>
              <a:rPr lang="en-US" sz="1700" dirty="0">
                <a:solidFill>
                  <a:srgbClr val="17364A"/>
                </a:solidFill>
                <a:latin typeface="Aptos" pitchFamily="34" charset="0"/>
                <a:ea typeface="Aptos" pitchFamily="34" charset="-122"/>
                <a:cs typeface="Aptos" pitchFamily="34" charset="-120"/>
              </a:rPr>
              <a:t>The artifact should include a purpose statement, data description, AI function, likely users, expected benefit, risk tier,.</a:t>
            </a:r>
            <a:endParaRPr lang="en-US" sz="1700" dirty="0"/>
          </a:p>
          <a:p>
            <a:r>
              <a:rPr lang="en-US" sz="1700" dirty="0">
                <a:solidFill>
                  <a:srgbClr val="17364A"/>
                </a:solidFill>
                <a:latin typeface="Aptos" pitchFamily="34" charset="0"/>
                <a:ea typeface="Aptos" pitchFamily="34" charset="-122"/>
                <a:cs typeface="Aptos" pitchFamily="34" charset="-120"/>
              </a:rPr>
              <a:t>The artifact can be used as a training record, a draft intake form, or a starting point for a real governance discussion.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 workflow. The artifact.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 workflow. The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700" dirty="0"/>
          </a:p>
          <a:p>
            <a:r>
              <a:rPr lang="en-US" sz="1700" dirty="0">
                <a:solidFill>
                  <a:srgbClr val="17364A"/>
                </a:solidFill>
                <a:latin typeface="Aptos" pitchFamily="34" charset="0"/>
                <a:ea typeface="Aptos" pitchFamily="34" charset="-122"/>
                <a:cs typeface="Aptos" pitchFamily="34" charset="-120"/>
              </a:rPr>
              <a:t>2. Which AI use should most clearly be escalated for formal review before implementation?</a:t>
            </a:r>
            <a:endParaRPr lang="en-US" sz="1700" dirty="0"/>
          </a:p>
          <a:p>
            <a:r>
              <a:rPr lang="en-US" sz="1700" dirty="0">
                <a:solidFill>
                  <a:srgbClr val="17364A"/>
                </a:solidFill>
                <a:latin typeface="Aptos" pitchFamily="34" charset="0"/>
                <a:ea typeface="Aptos" pitchFamily="34" charset="-122"/>
                <a:cs typeface="Aptos" pitchFamily="34" charset="-120"/>
              </a:rPr>
              <a:t>3. What is the most important reason to define human review in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4. A staff member wants to paste identifiable case notes into a public AI chatbot to create a quick summary. What should.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 RMF 1.0). 2023.:.</a:t>
            </a:r>
            <a:endParaRPr lang="en-US" sz="1700" dirty="0"/>
          </a:p>
          <a:p>
            <a:r>
              <a:rPr lang="en-US" sz="1700" dirty="0">
                <a:solidFill>
                  <a:srgbClr val="17364A"/>
                </a:solidFill>
                <a:latin typeface="Aptos" pitchFamily="34" charset="0"/>
                <a:ea typeface="Aptos" pitchFamily="34" charset="-122"/>
                <a:cs typeface="Aptos" pitchFamily="34" charset="-120"/>
              </a:rPr>
              <a:t>National Institute of Standards and Technology. AI RMF Playbook.: https://airc.nist.gov/AI_RMF_Knowledge_Base/Playbook</a:t>
            </a:r>
            <a:endParaRPr lang="en-US" sz="1700" dirty="0"/>
          </a:p>
          <a:p>
            <a:r>
              <a:rPr lang="en-US" sz="17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Generative Artificial.</a:t>
            </a:r>
            <a:endParaRPr lang="en-US" sz="1700" dirty="0"/>
          </a:p>
          <a:p>
            <a:r>
              <a:rPr lang="en-US" sz="1700" dirty="0">
                <a:solidFill>
                  <a:srgbClr val="17364A"/>
                </a:solidFill>
                <a:latin typeface="Aptos" pitchFamily="34" charset="0"/>
                <a:ea typeface="Aptos" pitchFamily="34" charset="-122"/>
                <a:cs typeface="Aptos" pitchFamily="34" charset="-120"/>
              </a:rPr>
              <a:t>Centers for Disease Control and Prevention. Public Health Data Strategy.:.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 RMF 1.0). 2023.:.</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2026-07-12T18:54:59Z</dcterms:created>
  <dcterms:modified xsi:type="dcterms:W3CDTF">2026-07-12T18:54:59Z</dcterms:modified>
</cp:coreProperties>
</file>