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EPI 300 AI for Case Investigation and Outbreak Response
Case investigation and outbreak response are high-pressure public health workflows that depend on timely information, structured judgment, coordination, documentation, and community trust. AI may support these workflows by summarizing case records, extracting exposures, identifying missing information, prioritizing review, detecting clusters, drafting situation updates, or organizing response tasks. At the same time, errors can affect real people, public health action, and public confidence. This module teaches epidemiologists, informaticians, and response teams how to evaluate and use AI-supported tools in case investigation and outbreak response. The focus is on support, not replacement. AI can help staff work faster and more consistently, but public health judgment, legal authority, and human accountability remain central. Responsible use requires careful attention to data quality, source traceability, sensitivity, uncertainty, equity, escalation, and documentation. AI should help investigators see relevant information more clearly, not hide assumptions or convert uncertain signals into unsupported conclusions.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intermediate/practitioner
Primary track: Epidemiology Role-Based Track
Appears in tracks: epidemiology, operations-and-data-quality, technical-architecture, public-health-executive-leadership
Case investigation and outbreak response are high-pressure public health workflows that depend on timely information, structured judgment, coordination, documentation, and community trust. AI may support these workflows by summarizing case records, extracting exposures, identifying missing information, prioritizing review, detecting clusters, drafting situation updates, or organizing response tasks. At the same time, errors can affect real people, public health action, and public confidence. This module teaches epidemiologists, informaticians, and response teams how to evaluate and use AI-supported tools in case investigation and outbreak response. The focus is on support, not replacement. AI can help staff work faster and more consistently, but public health judgment, legal authority, and human accountability remain central. Responsible use requires careful attention to data quality, source traceability, sensitivity, uncertainty, equity, escalation, and documentation. AI should help investigators see relevant information more clearly, not hide assumptions or convert uncertain signals into unsupported conclusions.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7: Prioritize Use Cases - This lesson informs Play 7 by helping learners connect the lesson topic to prioritize use cases work in the AI Playbook sequence.
Play 11: Build and Deploy AI Solutions - This lesson informs Play 11 by helping learners connect the lesson topic to build and deploy ai solutions work in the AI Playbook.
Play 1: Vision &amp; Guardrails - This lesson informs Play 1 by helping learners connect the lesson topic to vision &amp; guardrails work in the AI Playbook sequence.
Play 2: Readiness Assessment - This lesson informs Play 2 by helping learners connect the lesson topic to readiness assessment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3: Equity Impact Assessment Checklist (Checklist) - Use this tool to complete or strengthen the practical exercise for the module using fictional, de-identified, or generalized.
Tool 4: AI Policy Landscape Scan (Worksheet) - Use AI Policy Landscape Scan to translate this lesson into a documented public health AI planning, governance, implementation,.
Tool 5: AI Environmental and Resource Impact Review (Checklist) - Use AI Environmental and Resource Impact Review to translate this lesson into a documented public health AI planning,.
Tool 6: Human-Centered AI Decision Rule Checklist (Checklist) - Use Human-Centered AI Decision Rule Checklist to translate this lesson into a documented public health AI planning, governance,.
Tool 8: AI Project Charter (Planning) - Use AI Project Charter to translate this lesson into a documented public health AI planning, governance, implementation, or.
Tool 9: Data Quality Assessment Checklist (Checklist) - Use this tool to complete or strengthen the practical exercise for the module using fictional, de-identified, or generalized.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Identify case investigation and outbreak response tasks that AI may support.
Distinguish between AI-supported triage, summarization, extraction, signal detection, and decision-making.
Assess data quality, timeliness, source traceability, and equity risks in AI-supported response workflows.
Define human review, escalation, and documentation expectations for AI outputs.
Create an AI-supported case investigation or outbreak response workflow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Case investigation and outbreak response are high-pressure public health workflows that depend on timely information, structured judgment, coordination, documentation, and community trust. AI may support these workflows by summarizing case records, extracting exposures, identifying missing information, prioritizing review, detecting clusters, drafting situation updates, or organizing response tasks. At the same time, errors can affect real people, public health action, and public confidence.
This module teaches epidemiologists, informaticians, and response teams how to evaluate and use AI-supported tools in case investigation and outbreak response. The focus is on support, not replacement. AI can help staff work faster and more consistently, but public health judgment, legal authority, and human accountability remain central.
Responsible use requires careful attention to data quality, source traceability, sensitivity, uncertainty, equity, escalation, and documentation. AI should help investigators see relevant information more clearly, not hide assumptions or convert uncertain signals into unsupported conclusions.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Jurisdiction and Agency Policy Note
This national-level module is intended for training and planning purposes. It does not replace legal, privacy, procurement, civil rights, records, or agency policy review. Learners should confirm applicable requirements in their own jurisdiction and organization before implementing AI-supported workflows.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During a foodborne illness investigation, AI is used to summarize interview notes and extract possible exposures. Investigators compare the extracted exposures to original notes, review uncertain or conflicting information, and document final interpretations. The tool helps reduce manual review time, but it does not determine the outbreak source or issue public recommendations without epidemiologist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Deep Dive
AI can support case investigation by reducing the burden of reviewing large volumes of information. Natural language processing and generative AI may help summarize case notes, identify missing fields, extract dates and exposures, or draft follow-up questions. These tasks are appropriate only when outputs are traceable to source material and investigators can correct errors before the information is used.
Outbreak response may involve signal detection, anomaly review, geospatial patterns, laboratory results, syndromic surveillance, community reports, and partner communications. AI can help identify patterns or organize information, but it can also generate false signals or miss subtle context. A signal should trigger epidemiologic review, not automatic public health action.
Data quality is especially important during response. Early outbreak data are often incomplete, changing, biased toward reported cases, and uneven across communities. AI tools may overstate certainty if they do not represent missingness and uncertainty clearly. Response teams should document what data are preliminary, what assumptions are being made, and what additional investigation is needed.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Deep Dive
Equity considerations should be explicit. Some communities may be less likely to seek care, be tested, respond to interviews, speak English, have stable contact information, or appear in digital datasets. AI-supported prioritization must not systematically deprioritize people or communities because the data available about them are incomplete.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Risks and failure modes include the following:
AI summaries omitting uncertainty or unsupported details.
False outbreak signals creating unnecessary response or public concern.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Missed signals because some communities are underrepresented in data.
Automated prioritization replacing epidemiologic judgment.
Sensitive investigation information being used in unapproved tools.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Recommended guardrails include the following:
Require source traceability for summaries and extracted information.
Use AI outputs as prompts for review, not automatic conclusions.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Document uncertainty, missing data, and preliminary status.
Apply equity review to prioritization and signal detection workflows.
Define escalation to epidemiology leadership for unusual, high-risk, or public-facing outputs.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Where does this topic appear in your agency, program, or workflow?
Which staff roles would need to understand or apply this concept before AI use is approved?
What could go wrong if this topic is not addressed before implementation?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evidence would governance, leadership, or operations staff need before moving forward?
Which policy, data, equity, privacy, security, or workflow questions remain unresolved?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an AI-supported case investigation or outbreak response workflow review. Include the supported task, data sources, AI output, source traceability, human review point, uncertainty documentation, equity risks, escalation triggers, and monitoring indicators.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Case investigation or outbreak response workflow review
Source traceability checklist
Uncertainty and missing data documentation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Equity and escalation review
Monitoring indicators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Case investigation or outbreak response workflow review
Source traceability checklist
Uncertainty and missing data documentation
Equity and escalation review
Monitoring indicators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should AI outputs do in case investigation?
2. What is an outbreak signal?
3. Why is uncertainty documentation important during response?
4. Which guardrail is appropriate for AI-extracted exposures?
5. What is strong completion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NIST Artificial Intelligence Risk Management Framework: https://www.nist.gov/itl/ai-risk-management-framework
NIST Generative AI Profile: https://www.nist.gov/publications/artificial-intelligence-risk-management-framework-generative-artificial-intelligence
CDC Public Health Data Strategy and Data Modernization resources: https://www.cdc.gov/public-health-data-strategy/php/about/index.html
OWASP guidance for LLM application security
Agency policies for privacy, cybersecurity, records, procurement, accessibility, and public communications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Relevant public health program SOPs, data governance documentation, and implementation plans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EPI 300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AI for Case Investigation and Outbreak Response</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Case Investigation and Outbreak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Text 5"/>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What this module helps you do</a:t>
            </a:r>
            <a:endParaRPr lang="en-US" sz="2700" dirty="0"/>
          </a:p>
        </p:txBody>
      </p:sp>
      <p:sp>
        <p:nvSpPr>
          <p:cNvPr id="8" name="Text 6"/>
          <p:cNvSpPr/>
          <p:nvPr/>
        </p:nvSpPr>
        <p:spPr>
          <a:xfrm>
            <a:off x="868680" y="1417320"/>
            <a:ext cx="6675120" cy="3291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Case investigation and outbreak response are high-pressure public health workflows that depend on timely information, structured judgment,.</a:t>
            </a:r>
            <a:endParaRPr lang="en-US" sz="1700" dirty="0"/>
          </a:p>
          <a:p>
            <a:r>
              <a:rPr lang="en-US" sz="1700" dirty="0">
                <a:solidFill>
                  <a:srgbClr val="17364A"/>
                </a:solidFill>
                <a:latin typeface="Aptos" pitchFamily="34" charset="0"/>
                <a:ea typeface="Aptos" pitchFamily="34" charset="-122"/>
                <a:cs typeface="Aptos" pitchFamily="34" charset="-120"/>
              </a:rPr>
              <a:t>AI may support these workflows by summarizing case records, extracting exposures, identifying missing information, prioritizing review, detecting.</a:t>
            </a:r>
            <a:endParaRPr lang="en-US" sz="1700" dirty="0"/>
          </a:p>
          <a:p>
            <a:r>
              <a:rPr lang="en-US" sz="1700" dirty="0">
                <a:solidFill>
                  <a:srgbClr val="17364A"/>
                </a:solidFill>
                <a:latin typeface="Aptos" pitchFamily="34" charset="0"/>
                <a:ea typeface="Aptos" pitchFamily="34" charset="-122"/>
                <a:cs typeface="Aptos" pitchFamily="34" charset="-120"/>
              </a:rPr>
              <a:t>At the same time, errors can affect real people, public health action, and public confidence.</a:t>
            </a:r>
            <a:endParaRPr lang="en-US" sz="1700" dirty="0"/>
          </a:p>
          <a:p>
            <a:r>
              <a:rPr lang="en-US" sz="1700" dirty="0">
                <a:solidFill>
                  <a:srgbClr val="17364A"/>
                </a:solidFill>
                <a:latin typeface="Aptos" pitchFamily="34" charset="0"/>
                <a:ea typeface="Aptos" pitchFamily="34" charset="-122"/>
                <a:cs typeface="Aptos" pitchFamily="34" charset="-120"/>
              </a:rPr>
              <a:t>This module teaches epidemiologists, informaticians, and response teams how to evaluate and use AI-supported tools in case investigation and.</a:t>
            </a:r>
            <a:endParaRPr lang="en-US" sz="1700" dirty="0"/>
          </a:p>
        </p:txBody>
      </p:sp>
      <p:sp>
        <p:nvSpPr>
          <p:cNvPr id="9" name="Shape 7"/>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0" name="Text 8"/>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Module details</a:t>
            </a:r>
            <a:endParaRPr lang="en-US" sz="950" dirty="0"/>
          </a:p>
        </p:txBody>
      </p:sp>
      <p:sp>
        <p:nvSpPr>
          <p:cNvPr id="11" name="Text 9"/>
          <p:cNvSpPr/>
          <p:nvPr/>
        </p:nvSpPr>
        <p:spPr>
          <a:xfrm>
            <a:off x="8074152" y="1856232"/>
            <a:ext cx="2825496" cy="135331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Level: intermediate/practitioner</a:t>
            </a:r>
            <a:endParaRPr lang="en-US" sz="1250" dirty="0"/>
          </a:p>
          <a:p>
            <a:pPr indent="0" marL="0">
              <a:buNone/>
            </a:pPr>
            <a:r>
              <a:rPr lang="en-US" sz="1250" dirty="0">
                <a:solidFill>
                  <a:srgbClr val="17364A"/>
                </a:solidFill>
                <a:latin typeface="Aptos" pitchFamily="34" charset="0"/>
                <a:ea typeface="Aptos" pitchFamily="34" charset="-122"/>
                <a:cs typeface="Aptos" pitchFamily="34" charset="-120"/>
              </a:rPr>
              <a:t>Primary track: Epidemiology Role-Based Track</a:t>
            </a:r>
            <a:endParaRPr lang="en-US" sz="1250" dirty="0"/>
          </a:p>
          <a:p>
            <a:pPr indent="0" marL="0">
              <a:buNone/>
            </a:pPr>
            <a:r>
              <a:rPr lang="en-US" sz="1250" dirty="0">
                <a:solidFill>
                  <a:srgbClr val="17364A"/>
                </a:solidFill>
                <a:latin typeface="Aptos" pitchFamily="34" charset="0"/>
                <a:ea typeface="Aptos" pitchFamily="34" charset="-122"/>
                <a:cs typeface="Aptos" pitchFamily="34" charset="-120"/>
              </a:rPr>
              <a:t>Appears in tracks: epidemiology, operations-and-data-quality, technical-architecture, public-health-executive-leadership</a:t>
            </a:r>
            <a:endParaRPr lang="en-US" sz="1250" dirty="0"/>
          </a:p>
        </p:txBody>
      </p:sp>
      <p:sp>
        <p:nvSpPr>
          <p:cNvPr id="12" name="Shape 10"/>
          <p:cNvSpPr/>
          <p:nvPr/>
        </p:nvSpPr>
        <p:spPr>
          <a:xfrm>
            <a:off x="7909560" y="3611880"/>
            <a:ext cx="3154680" cy="1783080"/>
          </a:xfrm>
          <a:prstGeom prst="roundRect">
            <a:avLst>
              <a:gd name="adj" fmla="val 6154"/>
            </a:avLst>
          </a:prstGeom>
          <a:solidFill>
            <a:srgbClr val="EEF8ED"/>
          </a:solidFill>
          <a:ln w="12700">
            <a:solidFill>
              <a:srgbClr val="B9D7E6"/>
            </a:solidFill>
            <a:prstDash val="solid"/>
          </a:ln>
        </p:spPr>
      </p:sp>
      <p:sp>
        <p:nvSpPr>
          <p:cNvPr id="13" name="Text 11"/>
          <p:cNvSpPr/>
          <p:nvPr/>
        </p:nvSpPr>
        <p:spPr>
          <a:xfrm>
            <a:off x="8074152" y="375818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Learning approach</a:t>
            </a:r>
            <a:endParaRPr lang="en-US" sz="950" dirty="0"/>
          </a:p>
        </p:txBody>
      </p:sp>
      <p:sp>
        <p:nvSpPr>
          <p:cNvPr id="14" name="Text 12"/>
          <p:cNvSpPr/>
          <p:nvPr/>
        </p:nvSpPr>
        <p:spPr>
          <a:xfrm>
            <a:off x="8074152" y="4050792"/>
            <a:ext cx="2825496" cy="121615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Review the core ideas, complete the practical exercise, check your understanding, and use the related plays and tools to apply the lesson.</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Case Investigation and Outbreak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Text 5"/>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2700" dirty="0"/>
          </a:p>
        </p:txBody>
      </p:sp>
      <p:sp>
        <p:nvSpPr>
          <p:cNvPr id="8" name="Text 6"/>
          <p:cNvSpPr/>
          <p:nvPr/>
        </p:nvSpPr>
        <p:spPr>
          <a:xfrm>
            <a:off x="868680" y="1417320"/>
            <a:ext cx="6903720" cy="4480560"/>
          </a:xfrm>
          <a:prstGeom prst="rect">
            <a:avLst/>
          </a:prstGeom>
          <a:noFill/>
          <a:ln/>
        </p:spPr>
        <p:txBody>
          <a:bodyPr wrap="square" lIns="635" tIns="635" rIns="635" bIns="635" rtlCol="0" anchor="t">
            <a:normAutofit/>
          </a:bodyPr>
          <a:lstStyle/>
          <a:p>
            <a:r>
              <a:rPr lang="en-US" sz="1540" dirty="0">
                <a:solidFill>
                  <a:srgbClr val="17364A"/>
                </a:solidFill>
                <a:latin typeface="Aptos" pitchFamily="34" charset="0"/>
                <a:ea typeface="Aptos" pitchFamily="34" charset="-122"/>
                <a:cs typeface="Aptos" pitchFamily="34" charset="-120"/>
              </a:rPr>
              <a:t>Play 7: Prioritize Use Cases - This lesson informs Play 7 by helping learners connect the lesson topic to prioritize use cases work.</a:t>
            </a:r>
            <a:endParaRPr lang="en-US" sz="1540" dirty="0"/>
          </a:p>
          <a:p>
            <a:r>
              <a:rPr lang="en-US" sz="1540" dirty="0">
                <a:solidFill>
                  <a:srgbClr val="17364A"/>
                </a:solidFill>
                <a:latin typeface="Aptos" pitchFamily="34" charset="0"/>
                <a:ea typeface="Aptos" pitchFamily="34" charset="-122"/>
                <a:cs typeface="Aptos" pitchFamily="34" charset="-120"/>
              </a:rPr>
              <a:t>Play 11: Build and Deploy AI Solutions - This lesson informs Play 11 by helping learners connect the lesson topic to build and deploy.</a:t>
            </a:r>
            <a:endParaRPr lang="en-US" sz="1540" dirty="0"/>
          </a:p>
          <a:p>
            <a:r>
              <a:rPr lang="en-US" sz="1540" dirty="0">
                <a:solidFill>
                  <a:srgbClr val="17364A"/>
                </a:solidFill>
                <a:latin typeface="Aptos" pitchFamily="34" charset="0"/>
                <a:ea typeface="Aptos" pitchFamily="34" charset="-122"/>
                <a:cs typeface="Aptos" pitchFamily="34" charset="-120"/>
              </a:rPr>
              <a:t>Play 1: Vision &amp; Guardrails - This lesson informs Play 1 by helping learners connect the lesson topic to vision &amp; guardrails work in.</a:t>
            </a:r>
            <a:endParaRPr lang="en-US" sz="1540" dirty="0"/>
          </a:p>
          <a:p>
            <a:r>
              <a:rPr lang="en-US" sz="1540" dirty="0">
                <a:solidFill>
                  <a:srgbClr val="17364A"/>
                </a:solidFill>
                <a:latin typeface="Aptos" pitchFamily="34" charset="0"/>
                <a:ea typeface="Aptos" pitchFamily="34" charset="-122"/>
                <a:cs typeface="Aptos" pitchFamily="34" charset="-120"/>
              </a:rPr>
              <a:t>Play 2: Readiness Assessment - This lesson informs Play 2 by helping learners connect the lesson topic to readiness assessment work.</a:t>
            </a:r>
            <a:endParaRPr lang="en-US" sz="1540" dirty="0"/>
          </a:p>
        </p:txBody>
      </p:sp>
      <p:sp>
        <p:nvSpPr>
          <p:cNvPr id="9" name="Shape 7"/>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0" name="Text 8"/>
          <p:cNvSpPr/>
          <p:nvPr/>
        </p:nvSpPr>
        <p:spPr>
          <a:xfrm>
            <a:off x="8211312" y="1563624"/>
            <a:ext cx="273405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Apply the lesson</a:t>
            </a:r>
            <a:endParaRPr lang="en-US" sz="950" dirty="0"/>
          </a:p>
        </p:txBody>
      </p:sp>
      <p:sp>
        <p:nvSpPr>
          <p:cNvPr id="11" name="Text 9"/>
          <p:cNvSpPr/>
          <p:nvPr/>
        </p:nvSpPr>
        <p:spPr>
          <a:xfrm>
            <a:off x="8211312" y="1856232"/>
            <a:ext cx="2734056" cy="153619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 implementation.</a:t>
            </a:r>
            <a:endParaRPr lang="en-US" sz="1250" dirty="0"/>
          </a:p>
        </p:txBody>
      </p:sp>
      <p:sp>
        <p:nvSpPr>
          <p:cNvPr id="12" name="Shape 10"/>
          <p:cNvSpPr/>
          <p:nvPr/>
        </p:nvSpPr>
        <p:spPr>
          <a:xfrm>
            <a:off x="8046720" y="3794760"/>
            <a:ext cx="3063240" cy="1508760"/>
          </a:xfrm>
          <a:prstGeom prst="roundRect">
            <a:avLst>
              <a:gd name="adj" fmla="val 7273"/>
            </a:avLst>
          </a:prstGeom>
          <a:solidFill>
            <a:srgbClr val="FFF4D9"/>
          </a:solidFill>
          <a:ln w="12700">
            <a:solidFill>
              <a:srgbClr val="B9D7E6"/>
            </a:solidFill>
            <a:prstDash val="solid"/>
          </a:ln>
        </p:spPr>
      </p:sp>
      <p:sp>
        <p:nvSpPr>
          <p:cNvPr id="13" name="Text 11"/>
          <p:cNvSpPr/>
          <p:nvPr/>
        </p:nvSpPr>
        <p:spPr>
          <a:xfrm>
            <a:off x="8211312" y="3941064"/>
            <a:ext cx="273405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Keep in mind</a:t>
            </a:r>
            <a:endParaRPr lang="en-US" sz="950" dirty="0"/>
          </a:p>
        </p:txBody>
      </p:sp>
      <p:sp>
        <p:nvSpPr>
          <p:cNvPr id="14" name="Text 12"/>
          <p:cNvSpPr/>
          <p:nvPr/>
        </p:nvSpPr>
        <p:spPr>
          <a:xfrm>
            <a:off x="8211312" y="4233672"/>
            <a:ext cx="2734056" cy="9418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The playbook connection helps turn training into agency work, not just individual knowledge.</a:t>
            </a:r>
            <a:endParaRPr lang="en-US" sz="12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Case Investigation and Outbreak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Text 5"/>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Related toolkit resources</a:t>
            </a:r>
            <a:endParaRPr lang="en-US" sz="2700" dirty="0"/>
          </a:p>
        </p:txBody>
      </p:sp>
      <p:sp>
        <p:nvSpPr>
          <p:cNvPr id="8" name="Text 6"/>
          <p:cNvSpPr/>
          <p:nvPr/>
        </p:nvSpPr>
        <p:spPr>
          <a:xfrm>
            <a:off x="868680" y="1417320"/>
            <a:ext cx="6903720" cy="4480560"/>
          </a:xfrm>
          <a:prstGeom prst="rect">
            <a:avLst/>
          </a:prstGeom>
          <a:noFill/>
          <a:ln/>
        </p:spPr>
        <p:txBody>
          <a:bodyPr wrap="square" lIns="635" tIns="635" rIns="635" bIns="635" rtlCol="0" anchor="t">
            <a:normAutofit/>
          </a:bodyPr>
          <a:lstStyle/>
          <a:p>
            <a:r>
              <a:rPr lang="en-US" sz="1460" dirty="0">
                <a:solidFill>
                  <a:srgbClr val="17364A"/>
                </a:solidFill>
                <a:latin typeface="Aptos" pitchFamily="34" charset="0"/>
                <a:ea typeface="Aptos" pitchFamily="34" charset="-122"/>
                <a:cs typeface="Aptos" pitchFamily="34" charset="-120"/>
              </a:rPr>
              <a:t>Tool 3: Equity Impact Assessment Checklist (Checklist) - Use this tool to complete or strengthen the practical exercise for the.</a:t>
            </a:r>
            <a:endParaRPr lang="en-US" sz="1460" dirty="0"/>
          </a:p>
          <a:p>
            <a:r>
              <a:rPr lang="en-US" sz="1460" dirty="0">
                <a:solidFill>
                  <a:srgbClr val="17364A"/>
                </a:solidFill>
                <a:latin typeface="Aptos" pitchFamily="34" charset="0"/>
                <a:ea typeface="Aptos" pitchFamily="34" charset="-122"/>
                <a:cs typeface="Aptos" pitchFamily="34" charset="-120"/>
              </a:rPr>
              <a:t>Tool 4: AI Policy Landscape Scan (Worksheet) - Use AI Policy Landscape Scan to translate this lesson into a documented public health.</a:t>
            </a:r>
            <a:endParaRPr lang="en-US" sz="1460" dirty="0"/>
          </a:p>
          <a:p>
            <a:r>
              <a:rPr lang="en-US" sz="1460" dirty="0">
                <a:solidFill>
                  <a:srgbClr val="17364A"/>
                </a:solidFill>
                <a:latin typeface="Aptos" pitchFamily="34" charset="0"/>
                <a:ea typeface="Aptos" pitchFamily="34" charset="-122"/>
                <a:cs typeface="Aptos" pitchFamily="34" charset="-120"/>
              </a:rPr>
              <a:t>Tool 5: AI Environmental and Resource Impact Review (Checklist) - Use AI Environmental and Resource Impact Review to translate this.</a:t>
            </a:r>
            <a:endParaRPr lang="en-US" sz="1460" dirty="0"/>
          </a:p>
          <a:p>
            <a:r>
              <a:rPr lang="en-US" sz="1460" dirty="0">
                <a:solidFill>
                  <a:srgbClr val="17364A"/>
                </a:solidFill>
                <a:latin typeface="Aptos" pitchFamily="34" charset="0"/>
                <a:ea typeface="Aptos" pitchFamily="34" charset="-122"/>
                <a:cs typeface="Aptos" pitchFamily="34" charset="-120"/>
              </a:rPr>
              <a:t>Tool 6: Human-Centered AI Decision Rule Checklist (Checklist) - Use Human-Centered AI Decision Rule Checklist to translate this.</a:t>
            </a:r>
            <a:endParaRPr lang="en-US" sz="1460" dirty="0"/>
          </a:p>
          <a:p>
            <a:r>
              <a:rPr lang="en-US" sz="1460" dirty="0">
                <a:solidFill>
                  <a:srgbClr val="17364A"/>
                </a:solidFill>
                <a:latin typeface="Aptos" pitchFamily="34" charset="0"/>
                <a:ea typeface="Aptos" pitchFamily="34" charset="-122"/>
                <a:cs typeface="Aptos" pitchFamily="34" charset="-120"/>
              </a:rPr>
              <a:t>Tool 8: AI Project Charter (Planning) - Use AI Project Charter to translate this lesson into a documented public health AI planning,.</a:t>
            </a:r>
            <a:endParaRPr lang="en-US" sz="1460" dirty="0"/>
          </a:p>
        </p:txBody>
      </p:sp>
      <p:sp>
        <p:nvSpPr>
          <p:cNvPr id="9" name="Shape 7"/>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0" name="Text 8"/>
          <p:cNvSpPr/>
          <p:nvPr/>
        </p:nvSpPr>
        <p:spPr>
          <a:xfrm>
            <a:off x="8211312" y="1563624"/>
            <a:ext cx="273405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the tools</a:t>
            </a:r>
            <a:endParaRPr lang="en-US" sz="950" dirty="0"/>
          </a:p>
        </p:txBody>
      </p:sp>
      <p:sp>
        <p:nvSpPr>
          <p:cNvPr id="11" name="Text 9"/>
          <p:cNvSpPr/>
          <p:nvPr/>
        </p:nvSpPr>
        <p:spPr>
          <a:xfrm>
            <a:off x="8211312" y="1856232"/>
            <a:ext cx="2734056" cy="153619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 documentation artifact.</a:t>
            </a:r>
            <a:endParaRPr lang="en-US" sz="1250" dirty="0"/>
          </a:p>
        </p:txBody>
      </p:sp>
      <p:sp>
        <p:nvSpPr>
          <p:cNvPr id="12" name="Shape 10"/>
          <p:cNvSpPr/>
          <p:nvPr/>
        </p:nvSpPr>
        <p:spPr>
          <a:xfrm>
            <a:off x="8046720" y="3794760"/>
            <a:ext cx="3063240" cy="1508760"/>
          </a:xfrm>
          <a:prstGeom prst="roundRect">
            <a:avLst>
              <a:gd name="adj" fmla="val 7273"/>
            </a:avLst>
          </a:prstGeom>
          <a:solidFill>
            <a:srgbClr val="EEF8ED"/>
          </a:solidFill>
          <a:ln w="12700">
            <a:solidFill>
              <a:srgbClr val="B9D7E6"/>
            </a:solidFill>
            <a:prstDash val="solid"/>
          </a:ln>
        </p:spPr>
      </p:sp>
      <p:sp>
        <p:nvSpPr>
          <p:cNvPr id="13" name="Text 11"/>
          <p:cNvSpPr/>
          <p:nvPr/>
        </p:nvSpPr>
        <p:spPr>
          <a:xfrm>
            <a:off x="8211312" y="3941064"/>
            <a:ext cx="273405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Avoid duplication</a:t>
            </a:r>
            <a:endParaRPr lang="en-US" sz="950" dirty="0"/>
          </a:p>
        </p:txBody>
      </p:sp>
      <p:sp>
        <p:nvSpPr>
          <p:cNvPr id="14" name="Text 12"/>
          <p:cNvSpPr/>
          <p:nvPr/>
        </p:nvSpPr>
        <p:spPr>
          <a:xfrm>
            <a:off x="8211312" y="4233672"/>
            <a:ext cx="2734056" cy="9418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If your department already has a strong equivalent tool, adapt or use the existing process instead of recreating it.</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Case Investigation and Outbreak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Learning Objectives</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Identify case investigation and outbreak response tasks that AI may support.</a:t>
            </a:r>
            <a:endParaRPr lang="en-US" sz="1700" dirty="0"/>
          </a:p>
          <a:p>
            <a:r>
              <a:rPr lang="en-US" sz="1700" dirty="0">
                <a:solidFill>
                  <a:srgbClr val="17364A"/>
                </a:solidFill>
                <a:latin typeface="Aptos" pitchFamily="34" charset="0"/>
                <a:ea typeface="Aptos" pitchFamily="34" charset="-122"/>
                <a:cs typeface="Aptos" pitchFamily="34" charset="-120"/>
              </a:rPr>
              <a:t>Distinguish between AI-supported triage, summarization, extraction, signal detection, and decision-making.</a:t>
            </a:r>
            <a:endParaRPr lang="en-US" sz="1700" dirty="0"/>
          </a:p>
          <a:p>
            <a:r>
              <a:rPr lang="en-US" sz="1700" dirty="0">
                <a:solidFill>
                  <a:srgbClr val="17364A"/>
                </a:solidFill>
                <a:latin typeface="Aptos" pitchFamily="34" charset="0"/>
                <a:ea typeface="Aptos" pitchFamily="34" charset="-122"/>
                <a:cs typeface="Aptos" pitchFamily="34" charset="-120"/>
              </a:rPr>
              <a:t>Assess data quality, timeliness, source traceability, and equity risks in AI-supported response workflows.</a:t>
            </a:r>
            <a:endParaRPr lang="en-US" sz="1700" dirty="0"/>
          </a:p>
          <a:p>
            <a:r>
              <a:rPr lang="en-US" sz="1700" dirty="0">
                <a:solidFill>
                  <a:srgbClr val="17364A"/>
                </a:solidFill>
                <a:latin typeface="Aptos" pitchFamily="34" charset="0"/>
                <a:ea typeface="Aptos" pitchFamily="34" charset="-122"/>
                <a:cs typeface="Aptos" pitchFamily="34" charset="-120"/>
              </a:rPr>
              <a:t>Define human review, escalation, and documentation expectations for AI outputs.</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Identify case investigation and outbreak response tasks that AI may support.</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Case Investigation and Outbreak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2</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Module Overview</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Case investigation and outbreak response are high-pressure public health workflows that depend on timely information,.</a:t>
            </a:r>
            <a:endParaRPr lang="en-US" sz="1700" dirty="0"/>
          </a:p>
          <a:p>
            <a:r>
              <a:rPr lang="en-US" sz="1700" dirty="0">
                <a:solidFill>
                  <a:srgbClr val="17364A"/>
                </a:solidFill>
                <a:latin typeface="Aptos" pitchFamily="34" charset="0"/>
                <a:ea typeface="Aptos" pitchFamily="34" charset="-122"/>
                <a:cs typeface="Aptos" pitchFamily="34" charset="-120"/>
              </a:rPr>
              <a:t>AI may support these workflows by summarizing case records, extracting exposures, identifying missing information,.</a:t>
            </a:r>
            <a:endParaRPr lang="en-US" sz="1700" dirty="0"/>
          </a:p>
          <a:p>
            <a:r>
              <a:rPr lang="en-US" sz="1700" dirty="0">
                <a:solidFill>
                  <a:srgbClr val="17364A"/>
                </a:solidFill>
                <a:latin typeface="Aptos" pitchFamily="34" charset="0"/>
                <a:ea typeface="Aptos" pitchFamily="34" charset="-122"/>
                <a:cs typeface="Aptos" pitchFamily="34" charset="-120"/>
              </a:rPr>
              <a:t>At the same time, errors can affect real people, public health action, and public confidence.</a:t>
            </a:r>
            <a:endParaRPr lang="en-US" sz="1700" dirty="0"/>
          </a:p>
          <a:p>
            <a:r>
              <a:rPr lang="en-US" sz="1700" dirty="0">
                <a:solidFill>
                  <a:srgbClr val="17364A"/>
                </a:solidFill>
                <a:latin typeface="Aptos" pitchFamily="34" charset="0"/>
                <a:ea typeface="Aptos" pitchFamily="34" charset="-122"/>
                <a:cs typeface="Aptos" pitchFamily="34" charset="-120"/>
              </a:rPr>
              <a:t>This module teaches epidemiologists, informaticians, and response teams how to evaluate and use AI-supported tools in case.</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Case investigation and outbreak response are high-pressure public health workflows that depend on timely information,.</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Case Investigation and Outbreak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3</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Jurisdiction and Agency Policy Note</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This national-level module is intended for training and planning purposes.</a:t>
            </a:r>
            <a:endParaRPr lang="en-US" sz="1700" dirty="0"/>
          </a:p>
          <a:p>
            <a:r>
              <a:rPr lang="en-US" sz="1700" dirty="0">
                <a:solidFill>
                  <a:srgbClr val="17364A"/>
                </a:solidFill>
                <a:latin typeface="Aptos" pitchFamily="34" charset="0"/>
                <a:ea typeface="Aptos" pitchFamily="34" charset="-122"/>
                <a:cs typeface="Aptos" pitchFamily="34" charset="-120"/>
              </a:rPr>
              <a:t>It does not replace legal, privacy, procurement, civil rights, records, or agency policy review.</a:t>
            </a:r>
            <a:endParaRPr lang="en-US" sz="1700" dirty="0"/>
          </a:p>
          <a:p>
            <a:r>
              <a:rPr lang="en-US" sz="1700" dirty="0">
                <a:solidFill>
                  <a:srgbClr val="17364A"/>
                </a:solidFill>
                <a:latin typeface="Aptos" pitchFamily="34" charset="0"/>
                <a:ea typeface="Aptos" pitchFamily="34" charset="-122"/>
                <a:cs typeface="Aptos" pitchFamily="34" charset="-120"/>
              </a:rPr>
              <a:t>Learners should confirm applicable requirements in their own jurisdiction and organization before implementing AI-supported.</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This national-level module is intended for training and planning purposes.</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Case Investigation and Outbreak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4</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Public Health Example</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During a foodborne illness investigation, AI is used to summarize interview notes and extract possible exposures.</a:t>
            </a:r>
            <a:endParaRPr lang="en-US" sz="1700" dirty="0"/>
          </a:p>
          <a:p>
            <a:r>
              <a:rPr lang="en-US" sz="1700" dirty="0">
                <a:solidFill>
                  <a:srgbClr val="17364A"/>
                </a:solidFill>
                <a:latin typeface="Aptos" pitchFamily="34" charset="0"/>
                <a:ea typeface="Aptos" pitchFamily="34" charset="-122"/>
                <a:cs typeface="Aptos" pitchFamily="34" charset="-120"/>
              </a:rPr>
              <a:t>Investigators compare the extracted exposures to original notes, review uncertain or conflicting information, and document.</a:t>
            </a:r>
            <a:endParaRPr lang="en-US" sz="1700" dirty="0"/>
          </a:p>
          <a:p>
            <a:r>
              <a:rPr lang="en-US" sz="1700" dirty="0">
                <a:solidFill>
                  <a:srgbClr val="17364A"/>
                </a:solidFill>
                <a:latin typeface="Aptos" pitchFamily="34" charset="0"/>
                <a:ea typeface="Aptos" pitchFamily="34" charset="-122"/>
                <a:cs typeface="Aptos" pitchFamily="34" charset="-120"/>
              </a:rPr>
              <a:t>The tool helps reduce manual review time, but it does not determine the outbreak source or issue public recommendations.</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During a foodborne illness investigation, AI is used to summarize interview notes and extract possible exposures.</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Case Investigation and Outbreak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5</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Topic Deep Dive</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AI can support case investigation by reducing the burden of reviewing large volumes of information.</a:t>
            </a:r>
            <a:endParaRPr lang="en-US" sz="1700" dirty="0"/>
          </a:p>
          <a:p>
            <a:r>
              <a:rPr lang="en-US" sz="1700" dirty="0">
                <a:solidFill>
                  <a:srgbClr val="17364A"/>
                </a:solidFill>
                <a:latin typeface="Aptos" pitchFamily="34" charset="0"/>
                <a:ea typeface="Aptos" pitchFamily="34" charset="-122"/>
                <a:cs typeface="Aptos" pitchFamily="34" charset="-120"/>
              </a:rPr>
              <a:t>Natural language processing and generative AI may help summarize case notes, identify missing fields, extract dates and.</a:t>
            </a:r>
            <a:endParaRPr lang="en-US" sz="1700" dirty="0"/>
          </a:p>
          <a:p>
            <a:r>
              <a:rPr lang="en-US" sz="1700" dirty="0">
                <a:solidFill>
                  <a:srgbClr val="17364A"/>
                </a:solidFill>
                <a:latin typeface="Aptos" pitchFamily="34" charset="0"/>
                <a:ea typeface="Aptos" pitchFamily="34" charset="-122"/>
                <a:cs typeface="Aptos" pitchFamily="34" charset="-120"/>
              </a:rPr>
              <a:t>These tasks are appropriate only when outputs are traceable to source material and investigators can correct errors before.</a:t>
            </a:r>
            <a:endParaRPr lang="en-US" sz="1700" dirty="0"/>
          </a:p>
          <a:p>
            <a:r>
              <a:rPr lang="en-US" sz="1700" dirty="0">
                <a:solidFill>
                  <a:srgbClr val="17364A"/>
                </a:solidFill>
                <a:latin typeface="Aptos" pitchFamily="34" charset="0"/>
                <a:ea typeface="Aptos" pitchFamily="34" charset="-122"/>
                <a:cs typeface="Aptos" pitchFamily="34" charset="-120"/>
              </a:rPr>
              <a:t>Outbreak response may involve signal detection, anomaly review, geospatial patterns, laboratory results, syndromic.</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AI can support case investigation by reducing the burden of reviewing large volumes of information.</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Case Investigation and Outbreak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Text 5"/>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Topic Deep Dive Continued</a:t>
            </a:r>
            <a:endParaRPr lang="en-US" sz="2700" dirty="0"/>
          </a:p>
        </p:txBody>
      </p:sp>
      <p:sp>
        <p:nvSpPr>
          <p:cNvPr id="8" name="Text 6"/>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Equity considerations should be explicit.</a:t>
            </a:r>
            <a:endParaRPr lang="en-US" sz="1700" dirty="0"/>
          </a:p>
          <a:p>
            <a:r>
              <a:rPr lang="en-US" sz="1700" dirty="0">
                <a:solidFill>
                  <a:srgbClr val="17364A"/>
                </a:solidFill>
                <a:latin typeface="Aptos" pitchFamily="34" charset="0"/>
                <a:ea typeface="Aptos" pitchFamily="34" charset="-122"/>
                <a:cs typeface="Aptos" pitchFamily="34" charset="-120"/>
              </a:rPr>
              <a:t>Some communities may be less likely to seek care, be tested, respond to interviews, speak English, have stable contact.</a:t>
            </a:r>
            <a:endParaRPr lang="en-US" sz="1700" dirty="0"/>
          </a:p>
          <a:p>
            <a:r>
              <a:rPr lang="en-US" sz="1700" dirty="0">
                <a:solidFill>
                  <a:srgbClr val="17364A"/>
                </a:solidFill>
                <a:latin typeface="Aptos" pitchFamily="34" charset="0"/>
                <a:ea typeface="Aptos" pitchFamily="34" charset="-122"/>
                <a:cs typeface="Aptos" pitchFamily="34" charset="-120"/>
              </a:rPr>
              <a:t>AI-supported prioritization must not systematically deprioritize people or communities because the data available about.</a:t>
            </a:r>
            <a:endParaRPr lang="en-US" sz="1700" dirty="0"/>
          </a:p>
        </p:txBody>
      </p:sp>
      <p:sp>
        <p:nvSpPr>
          <p:cNvPr id="9" name="Shape 7"/>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0" name="Text 8"/>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1" name="Text 9"/>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Equity considerations should be explicit.</a:t>
            </a:r>
            <a:endParaRPr lang="en-US" sz="1250" dirty="0"/>
          </a:p>
        </p:txBody>
      </p:sp>
      <p:sp>
        <p:nvSpPr>
          <p:cNvPr id="12" name="Shape 10"/>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3" name="Text 11"/>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4" name="Text 12"/>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Case Investigation and Outbreak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6</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Risks, Failure Modes, and Guardrails</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Risks and failure modes include the following:</a:t>
            </a:r>
            <a:endParaRPr lang="en-US" sz="1700" dirty="0"/>
          </a:p>
          <a:p>
            <a:r>
              <a:rPr lang="en-US" sz="1700" dirty="0">
                <a:solidFill>
                  <a:srgbClr val="17364A"/>
                </a:solidFill>
                <a:latin typeface="Aptos" pitchFamily="34" charset="0"/>
                <a:ea typeface="Aptos" pitchFamily="34" charset="-122"/>
                <a:cs typeface="Aptos" pitchFamily="34" charset="-120"/>
              </a:rPr>
              <a:t>AI summaries omitting uncertainty or unsupported details.</a:t>
            </a:r>
            <a:endParaRPr lang="en-US" sz="1700" dirty="0"/>
          </a:p>
          <a:p>
            <a:r>
              <a:rPr lang="en-US" sz="1700" dirty="0">
                <a:solidFill>
                  <a:srgbClr val="17364A"/>
                </a:solidFill>
                <a:latin typeface="Aptos" pitchFamily="34" charset="0"/>
                <a:ea typeface="Aptos" pitchFamily="34" charset="-122"/>
                <a:cs typeface="Aptos" pitchFamily="34" charset="-120"/>
              </a:rPr>
              <a:t>False outbreak signals creating unnecessary response or public concern.</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Risks and failure modes include the following:</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Case Investigation and Outbreak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Text 5"/>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2700" dirty="0"/>
          </a:p>
        </p:txBody>
      </p:sp>
      <p:sp>
        <p:nvSpPr>
          <p:cNvPr id="8" name="Text 6"/>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Missed signals because some communities are underrepresented in data.</a:t>
            </a:r>
            <a:endParaRPr lang="en-US" sz="1700" dirty="0"/>
          </a:p>
          <a:p>
            <a:r>
              <a:rPr lang="en-US" sz="1700" dirty="0">
                <a:solidFill>
                  <a:srgbClr val="17364A"/>
                </a:solidFill>
                <a:latin typeface="Aptos" pitchFamily="34" charset="0"/>
                <a:ea typeface="Aptos" pitchFamily="34" charset="-122"/>
                <a:cs typeface="Aptos" pitchFamily="34" charset="-120"/>
              </a:rPr>
              <a:t>Automated prioritization replacing epidemiologic judgment.</a:t>
            </a:r>
            <a:endParaRPr lang="en-US" sz="1700" dirty="0"/>
          </a:p>
          <a:p>
            <a:r>
              <a:rPr lang="en-US" sz="1700" dirty="0">
                <a:solidFill>
                  <a:srgbClr val="17364A"/>
                </a:solidFill>
                <a:latin typeface="Aptos" pitchFamily="34" charset="0"/>
                <a:ea typeface="Aptos" pitchFamily="34" charset="-122"/>
                <a:cs typeface="Aptos" pitchFamily="34" charset="-120"/>
              </a:rPr>
              <a:t>Sensitive investigation information being used in unapproved tools.</a:t>
            </a:r>
            <a:endParaRPr lang="en-US" sz="1700" dirty="0"/>
          </a:p>
        </p:txBody>
      </p:sp>
      <p:sp>
        <p:nvSpPr>
          <p:cNvPr id="9" name="Shape 7"/>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0" name="Text 8"/>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1" name="Text 9"/>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Missed signals because some communities are underrepresented in data.</a:t>
            </a:r>
            <a:endParaRPr lang="en-US" sz="1250" dirty="0"/>
          </a:p>
        </p:txBody>
      </p:sp>
      <p:sp>
        <p:nvSpPr>
          <p:cNvPr id="12" name="Shape 10"/>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3" name="Text 11"/>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4" name="Text 12"/>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Case Investigation and Outbreak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Text 5"/>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2700" dirty="0"/>
          </a:p>
        </p:txBody>
      </p:sp>
      <p:sp>
        <p:nvSpPr>
          <p:cNvPr id="8" name="Text 6"/>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Recommended guardrails include the following:</a:t>
            </a:r>
            <a:endParaRPr lang="en-US" sz="1700" dirty="0"/>
          </a:p>
          <a:p>
            <a:r>
              <a:rPr lang="en-US" sz="1700" dirty="0">
                <a:solidFill>
                  <a:srgbClr val="17364A"/>
                </a:solidFill>
                <a:latin typeface="Aptos" pitchFamily="34" charset="0"/>
                <a:ea typeface="Aptos" pitchFamily="34" charset="-122"/>
                <a:cs typeface="Aptos" pitchFamily="34" charset="-120"/>
              </a:rPr>
              <a:t>Require source traceability for summaries and extracted information.</a:t>
            </a:r>
            <a:endParaRPr lang="en-US" sz="1700" dirty="0"/>
          </a:p>
          <a:p>
            <a:r>
              <a:rPr lang="en-US" sz="1700" dirty="0">
                <a:solidFill>
                  <a:srgbClr val="17364A"/>
                </a:solidFill>
                <a:latin typeface="Aptos" pitchFamily="34" charset="0"/>
                <a:ea typeface="Aptos" pitchFamily="34" charset="-122"/>
                <a:cs typeface="Aptos" pitchFamily="34" charset="-120"/>
              </a:rPr>
              <a:t>Use AI outputs as prompts for review, not automatic conclusions.</a:t>
            </a:r>
            <a:endParaRPr lang="en-US" sz="1700" dirty="0"/>
          </a:p>
        </p:txBody>
      </p:sp>
      <p:sp>
        <p:nvSpPr>
          <p:cNvPr id="9" name="Shape 7"/>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0" name="Text 8"/>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1" name="Text 9"/>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Recommended guardrails include the following:</a:t>
            </a:r>
            <a:endParaRPr lang="en-US" sz="1250" dirty="0"/>
          </a:p>
        </p:txBody>
      </p:sp>
      <p:sp>
        <p:nvSpPr>
          <p:cNvPr id="12" name="Shape 10"/>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3" name="Text 11"/>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4" name="Text 12"/>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Case Investigation and Outbreak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Text 5"/>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2700" dirty="0"/>
          </a:p>
        </p:txBody>
      </p:sp>
      <p:sp>
        <p:nvSpPr>
          <p:cNvPr id="8" name="Text 6"/>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Document uncertainty, missing data, and preliminary status.</a:t>
            </a:r>
            <a:endParaRPr lang="en-US" sz="1700" dirty="0"/>
          </a:p>
          <a:p>
            <a:r>
              <a:rPr lang="en-US" sz="1700" dirty="0">
                <a:solidFill>
                  <a:srgbClr val="17364A"/>
                </a:solidFill>
                <a:latin typeface="Aptos" pitchFamily="34" charset="0"/>
                <a:ea typeface="Aptos" pitchFamily="34" charset="-122"/>
                <a:cs typeface="Aptos" pitchFamily="34" charset="-120"/>
              </a:rPr>
              <a:t>Apply equity review to prioritization and signal detection workflows.</a:t>
            </a:r>
            <a:endParaRPr lang="en-US" sz="1700" dirty="0"/>
          </a:p>
          <a:p>
            <a:r>
              <a:rPr lang="en-US" sz="1700" dirty="0">
                <a:solidFill>
                  <a:srgbClr val="17364A"/>
                </a:solidFill>
                <a:latin typeface="Aptos" pitchFamily="34" charset="0"/>
                <a:ea typeface="Aptos" pitchFamily="34" charset="-122"/>
                <a:cs typeface="Aptos" pitchFamily="34" charset="-120"/>
              </a:rPr>
              <a:t>Define escalation to epidemiology leadership for unusual, high-risk, or public-facing outputs.</a:t>
            </a:r>
            <a:endParaRPr lang="en-US" sz="1700" dirty="0"/>
          </a:p>
        </p:txBody>
      </p:sp>
      <p:sp>
        <p:nvSpPr>
          <p:cNvPr id="9" name="Shape 7"/>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0" name="Text 8"/>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1" name="Text 9"/>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Document uncertainty, missing data, and preliminary status.</a:t>
            </a:r>
            <a:endParaRPr lang="en-US" sz="1250" dirty="0"/>
          </a:p>
        </p:txBody>
      </p:sp>
      <p:sp>
        <p:nvSpPr>
          <p:cNvPr id="12" name="Shape 10"/>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3" name="Text 11"/>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4" name="Text 12"/>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Case Investigation and Outbreak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7</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Reflection Questions</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Where does this topic appear in your agency, program, or workflow?</a:t>
            </a:r>
            <a:endParaRPr lang="en-US" sz="1700" dirty="0"/>
          </a:p>
          <a:p>
            <a:r>
              <a:rPr lang="en-US" sz="1700" dirty="0">
                <a:solidFill>
                  <a:srgbClr val="17364A"/>
                </a:solidFill>
                <a:latin typeface="Aptos" pitchFamily="34" charset="0"/>
                <a:ea typeface="Aptos" pitchFamily="34" charset="-122"/>
                <a:cs typeface="Aptos" pitchFamily="34" charset="-120"/>
              </a:rPr>
              <a:t>Which staff roles would need to understand or apply this concept before AI use is approved?</a:t>
            </a:r>
            <a:endParaRPr lang="en-US" sz="1700" dirty="0"/>
          </a:p>
          <a:p>
            <a:r>
              <a:rPr lang="en-US" sz="1700" dirty="0">
                <a:solidFill>
                  <a:srgbClr val="17364A"/>
                </a:solidFill>
                <a:latin typeface="Aptos" pitchFamily="34" charset="0"/>
                <a:ea typeface="Aptos" pitchFamily="34" charset="-122"/>
                <a:cs typeface="Aptos" pitchFamily="34" charset="-120"/>
              </a:rPr>
              <a:t>What could go wrong if this topic is not addressed before implementation?</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Where does this topic appear in your agency, program, or workflow?</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Case Investigation and Outbreak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Text 5"/>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Reflection Questions Continued</a:t>
            </a:r>
            <a:endParaRPr lang="en-US" sz="2700" dirty="0"/>
          </a:p>
        </p:txBody>
      </p:sp>
      <p:sp>
        <p:nvSpPr>
          <p:cNvPr id="8" name="Text 6"/>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What evidence would governance, leadership, or operations staff need before moving forward?</a:t>
            </a:r>
            <a:endParaRPr lang="en-US" sz="1700" dirty="0"/>
          </a:p>
          <a:p>
            <a:r>
              <a:rPr lang="en-US" sz="1700" dirty="0">
                <a:solidFill>
                  <a:srgbClr val="17364A"/>
                </a:solidFill>
                <a:latin typeface="Aptos" pitchFamily="34" charset="0"/>
                <a:ea typeface="Aptos" pitchFamily="34" charset="-122"/>
                <a:cs typeface="Aptos" pitchFamily="34" charset="-120"/>
              </a:rPr>
              <a:t>Which policy, data, equity, privacy, security, or workflow questions remain unresolved?</a:t>
            </a:r>
            <a:endParaRPr lang="en-US" sz="1700" dirty="0"/>
          </a:p>
        </p:txBody>
      </p:sp>
      <p:sp>
        <p:nvSpPr>
          <p:cNvPr id="9" name="Shape 7"/>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0" name="Text 8"/>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1" name="Text 9"/>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What evidence would governance, leadership, or operations staff need before moving forward?</a:t>
            </a:r>
            <a:endParaRPr lang="en-US" sz="1250" dirty="0"/>
          </a:p>
        </p:txBody>
      </p:sp>
      <p:sp>
        <p:nvSpPr>
          <p:cNvPr id="12" name="Shape 10"/>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3" name="Text 11"/>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4" name="Text 12"/>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Case Investigation and Outbreak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8</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Practical Exercise</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Create an AI-supported case investigation or outbreak response workflow review.</a:t>
            </a:r>
            <a:endParaRPr lang="en-US" sz="1700" dirty="0"/>
          </a:p>
          <a:p>
            <a:r>
              <a:rPr lang="en-US" sz="1700" dirty="0">
                <a:solidFill>
                  <a:srgbClr val="17364A"/>
                </a:solidFill>
                <a:latin typeface="Aptos" pitchFamily="34" charset="0"/>
                <a:ea typeface="Aptos" pitchFamily="34" charset="-122"/>
                <a:cs typeface="Aptos" pitchFamily="34" charset="-120"/>
              </a:rPr>
              <a:t>Include the supported task, data sources, AI output, source traceability, human review point, uncertainty documentation,.</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Create an AI-supported case investigation or outbreak response workflow review.</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Case Investigation and Outbreak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9</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Expected Artifact or Evidence</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Case investigation or outbreak response workflow review</a:t>
            </a:r>
            <a:endParaRPr lang="en-US" sz="1700" dirty="0"/>
          </a:p>
          <a:p>
            <a:r>
              <a:rPr lang="en-US" sz="1700" dirty="0">
                <a:solidFill>
                  <a:srgbClr val="17364A"/>
                </a:solidFill>
                <a:latin typeface="Aptos" pitchFamily="34" charset="0"/>
                <a:ea typeface="Aptos" pitchFamily="34" charset="-122"/>
                <a:cs typeface="Aptos" pitchFamily="34" charset="-120"/>
              </a:rPr>
              <a:t>Source traceability checklist</a:t>
            </a:r>
            <a:endParaRPr lang="en-US" sz="1700" dirty="0"/>
          </a:p>
          <a:p>
            <a:r>
              <a:rPr lang="en-US" sz="1700" dirty="0">
                <a:solidFill>
                  <a:srgbClr val="17364A"/>
                </a:solidFill>
                <a:latin typeface="Aptos" pitchFamily="34" charset="0"/>
                <a:ea typeface="Aptos" pitchFamily="34" charset="-122"/>
                <a:cs typeface="Aptos" pitchFamily="34" charset="-120"/>
              </a:rPr>
              <a:t>Uncertainty and missing data documentation</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Case investigation or outbreak response workflow review</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Case Investigation and Outbreak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Text 5"/>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2700" dirty="0"/>
          </a:p>
        </p:txBody>
      </p:sp>
      <p:sp>
        <p:nvSpPr>
          <p:cNvPr id="8" name="Text 6"/>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Equity and escalation review</a:t>
            </a:r>
            <a:endParaRPr lang="en-US" sz="1700" dirty="0"/>
          </a:p>
          <a:p>
            <a:r>
              <a:rPr lang="en-US" sz="1700" dirty="0">
                <a:solidFill>
                  <a:srgbClr val="17364A"/>
                </a:solidFill>
                <a:latin typeface="Aptos" pitchFamily="34" charset="0"/>
                <a:ea typeface="Aptos" pitchFamily="34" charset="-122"/>
                <a:cs typeface="Aptos" pitchFamily="34" charset="-120"/>
              </a:rPr>
              <a:t>Monitoring indicators</a:t>
            </a:r>
            <a:endParaRPr lang="en-US" sz="1700" dirty="0"/>
          </a:p>
        </p:txBody>
      </p:sp>
      <p:sp>
        <p:nvSpPr>
          <p:cNvPr id="9" name="Shape 7"/>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0" name="Text 8"/>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1" name="Text 9"/>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Equity and escalation review</a:t>
            </a:r>
            <a:endParaRPr lang="en-US" sz="1250" dirty="0"/>
          </a:p>
        </p:txBody>
      </p:sp>
      <p:sp>
        <p:nvSpPr>
          <p:cNvPr id="12" name="Shape 10"/>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3" name="Text 11"/>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4" name="Text 12"/>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Case Investigation and Outbreak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10</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Expected Assignment</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Case investigation or outbreak response workflow review</a:t>
            </a:r>
            <a:endParaRPr lang="en-US" sz="1700" dirty="0"/>
          </a:p>
          <a:p>
            <a:r>
              <a:rPr lang="en-US" sz="1700" dirty="0">
                <a:solidFill>
                  <a:srgbClr val="17364A"/>
                </a:solidFill>
                <a:latin typeface="Aptos" pitchFamily="34" charset="0"/>
                <a:ea typeface="Aptos" pitchFamily="34" charset="-122"/>
                <a:cs typeface="Aptos" pitchFamily="34" charset="-120"/>
              </a:rPr>
              <a:t>Source traceability checklist</a:t>
            </a:r>
            <a:endParaRPr lang="en-US" sz="1700" dirty="0"/>
          </a:p>
          <a:p>
            <a:r>
              <a:rPr lang="en-US" sz="1700" dirty="0">
                <a:solidFill>
                  <a:srgbClr val="17364A"/>
                </a:solidFill>
                <a:latin typeface="Aptos" pitchFamily="34" charset="0"/>
                <a:ea typeface="Aptos" pitchFamily="34" charset="-122"/>
                <a:cs typeface="Aptos" pitchFamily="34" charset="-120"/>
              </a:rPr>
              <a:t>Uncertainty and missing data documentation</a:t>
            </a:r>
            <a:endParaRPr lang="en-US" sz="1700" dirty="0"/>
          </a:p>
          <a:p>
            <a:r>
              <a:rPr lang="en-US" sz="1700" dirty="0">
                <a:solidFill>
                  <a:srgbClr val="17364A"/>
                </a:solidFill>
                <a:latin typeface="Aptos" pitchFamily="34" charset="0"/>
                <a:ea typeface="Aptos" pitchFamily="34" charset="-122"/>
                <a:cs typeface="Aptos" pitchFamily="34" charset="-120"/>
              </a:rPr>
              <a:t>Equity and escalation review</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Case investigation or outbreak response workflow review</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Case Investigation and Outbreak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11</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Knowledge Check</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1. What should AI outputs do in case investigation?</a:t>
            </a:r>
            <a:endParaRPr lang="en-US" sz="1700" dirty="0"/>
          </a:p>
          <a:p>
            <a:r>
              <a:rPr lang="en-US" sz="1700" dirty="0">
                <a:solidFill>
                  <a:srgbClr val="17364A"/>
                </a:solidFill>
                <a:latin typeface="Aptos" pitchFamily="34" charset="0"/>
                <a:ea typeface="Aptos" pitchFamily="34" charset="-122"/>
                <a:cs typeface="Aptos" pitchFamily="34" charset="-120"/>
              </a:rPr>
              <a:t>2. What is an outbreak signal?</a:t>
            </a:r>
            <a:endParaRPr lang="en-US" sz="1700" dirty="0"/>
          </a:p>
          <a:p>
            <a:r>
              <a:rPr lang="en-US" sz="1700" dirty="0">
                <a:solidFill>
                  <a:srgbClr val="17364A"/>
                </a:solidFill>
                <a:latin typeface="Aptos" pitchFamily="34" charset="0"/>
                <a:ea typeface="Aptos" pitchFamily="34" charset="-122"/>
                <a:cs typeface="Aptos" pitchFamily="34" charset="-120"/>
              </a:rPr>
              <a:t>3. Why is uncertainty documentation important during response?</a:t>
            </a:r>
            <a:endParaRPr lang="en-US" sz="1700" dirty="0"/>
          </a:p>
          <a:p>
            <a:r>
              <a:rPr lang="en-US" sz="1700" dirty="0">
                <a:solidFill>
                  <a:srgbClr val="17364A"/>
                </a:solidFill>
                <a:latin typeface="Aptos" pitchFamily="34" charset="0"/>
                <a:ea typeface="Aptos" pitchFamily="34" charset="-122"/>
                <a:cs typeface="Aptos" pitchFamily="34" charset="-120"/>
              </a:rPr>
              <a:t>4. Which guardrail is appropriate for AI-extracted exposures?</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1. What should AI outputs do in case investigation?</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Case Investigation and Outbreak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12</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References and Resources</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NIST Artificial Intelligence Risk Management Framework: https://www.nist.gov/itl/ai-risk-management-framework</a:t>
            </a:r>
            <a:endParaRPr lang="en-US" sz="1700" dirty="0"/>
          </a:p>
          <a:p>
            <a:r>
              <a:rPr lang="en-US" sz="1700" dirty="0">
                <a:solidFill>
                  <a:srgbClr val="17364A"/>
                </a:solidFill>
                <a:latin typeface="Aptos" pitchFamily="34" charset="0"/>
                <a:ea typeface="Aptos" pitchFamily="34" charset="-122"/>
                <a:cs typeface="Aptos" pitchFamily="34" charset="-120"/>
              </a:rPr>
              <a:t>NIST Generative AI Profile:.</a:t>
            </a:r>
            <a:endParaRPr lang="en-US" sz="1700" dirty="0"/>
          </a:p>
          <a:p>
            <a:r>
              <a:rPr lang="en-US" sz="1700" dirty="0">
                <a:solidFill>
                  <a:srgbClr val="17364A"/>
                </a:solidFill>
                <a:latin typeface="Aptos" pitchFamily="34" charset="0"/>
                <a:ea typeface="Aptos" pitchFamily="34" charset="-122"/>
                <a:cs typeface="Aptos" pitchFamily="34" charset="-120"/>
              </a:rPr>
              <a:t>CDC Public Health Data Strategy and Data Modernization resources:.</a:t>
            </a:r>
            <a:endParaRPr lang="en-US" sz="1700" dirty="0"/>
          </a:p>
          <a:p>
            <a:r>
              <a:rPr lang="en-US" sz="1700" dirty="0">
                <a:solidFill>
                  <a:srgbClr val="17364A"/>
                </a:solidFill>
                <a:latin typeface="Aptos" pitchFamily="34" charset="0"/>
                <a:ea typeface="Aptos" pitchFamily="34" charset="-122"/>
                <a:cs typeface="Aptos" pitchFamily="34" charset="-120"/>
              </a:rPr>
              <a:t>OWASP guidance for LLM application security</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NIST Artificial Intelligence Risk Management Framework: https://www.nist.gov/itl/ai-risk-management-framework</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Case Investigation and Outbreak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Text 5"/>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References and Resources Continued</a:t>
            </a:r>
            <a:endParaRPr lang="en-US" sz="2700" dirty="0"/>
          </a:p>
        </p:txBody>
      </p:sp>
      <p:sp>
        <p:nvSpPr>
          <p:cNvPr id="8" name="Text 6"/>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Relevant public health program SOPs, data governance documentation, and implementation plans</a:t>
            </a:r>
            <a:endParaRPr lang="en-US" sz="1700" dirty="0"/>
          </a:p>
        </p:txBody>
      </p:sp>
      <p:sp>
        <p:nvSpPr>
          <p:cNvPr id="9" name="Shape 7"/>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0" name="Text 8"/>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1" name="Text 9"/>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Relevant public health program SOPs, data governance documentation, and implementation plans</a:t>
            </a:r>
            <a:endParaRPr lang="en-US" sz="1250" dirty="0"/>
          </a:p>
        </p:txBody>
      </p:sp>
      <p:sp>
        <p:nvSpPr>
          <p:cNvPr id="12" name="Shape 10"/>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3" name="Text 11"/>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4" name="Text 12"/>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for Case Investigation and Outbreak Response</dc:title>
  <dc:subject>AI for Case Investigation and Outbreak Response learning module</dc:subject>
  <dc:creator>Paula Soper</dc:creator>
  <cp:lastModifiedBy>Paula Soper</cp:lastModifiedBy>
  <cp:revision>1</cp:revision>
  <dcterms:created xsi:type="dcterms:W3CDTF">2026-07-12T18:54:57Z</dcterms:created>
  <dcterms:modified xsi:type="dcterms:W3CDTF">2026-07-12T18:54:57Z</dcterms:modified>
</cp:coreProperties>
</file>