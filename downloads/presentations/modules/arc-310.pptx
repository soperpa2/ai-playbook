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2100" dirty="0"/>
          </a:p>
          <a:p>
            <a:r>
              <a:rPr lang="en-US" sz="21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2100" dirty="0"/>
          </a:p>
          <a:p>
            <a:r>
              <a:rPr lang="en-US" sz="21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 format into.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2100" dirty="0"/>
          </a:p>
          <a:p>
            <a:r>
              <a:rPr lang="en-US" sz="2100" dirty="0">
                <a:solidFill>
                  <a:srgbClr val="17364A"/>
                </a:solidFill>
                <a:latin typeface="Aptos" pitchFamily="34" charset="0"/>
                <a:ea typeface="Aptos" pitchFamily="34" charset="-122"/>
                <a:cs typeface="Aptos" pitchFamily="34" charset="-120"/>
              </a:rPr>
              <a:t>Write prompts that include role, task, context, data boundaries, output format, review criteria, and.</a:t>
            </a:r>
            <a:endParaRPr lang="en-US" sz="2100" dirty="0"/>
          </a:p>
          <a:p>
            <a:r>
              <a:rPr lang="en-US" sz="2100" dirty="0">
                <a:solidFill>
                  <a:srgbClr val="17364A"/>
                </a:solidFill>
                <a:latin typeface="Aptos" pitchFamily="34" charset="0"/>
                <a:ea typeface="Aptos" pitchFamily="34" charset="-122"/>
                <a:cs typeface="Aptos" pitchFamily="34" charset="-120"/>
              </a:rPr>
              <a:t>Distinguish reusable prompt templates from one-time prompts.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2100" dirty="0"/>
          </a:p>
          <a:p>
            <a:r>
              <a:rPr lang="en-US" sz="21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2100" dirty="0"/>
          </a:p>
          <a:p>
            <a:r>
              <a:rPr lang="en-US" sz="21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2100" dirty="0"/>
          </a:p>
          <a:p>
            <a:r>
              <a:rPr lang="en-US" sz="2100" dirty="0">
                <a:solidFill>
                  <a:srgbClr val="17364A"/>
                </a:solidFill>
                <a:latin typeface="Aptos" pitchFamily="34" charset="0"/>
                <a:ea typeface="Aptos" pitchFamily="34" charset="-122"/>
                <a:cs typeface="Aptos" pitchFamily="34" charset="-120"/>
              </a:rPr>
              <a:t>Staff may ask AI to summarize guidance, draft requirements, inspect a data dictionary, generate a test.</a:t>
            </a:r>
            <a:endParaRPr lang="en-US" sz="2100" dirty="0"/>
          </a:p>
          <a:p>
            <a:r>
              <a:rPr lang="en-US" sz="2100" dirty="0">
                <a:solidFill>
                  <a:srgbClr val="17364A"/>
                </a:solidFill>
                <a:latin typeface="Aptos" pitchFamily="34" charset="0"/>
                <a:ea typeface="Aptos" pitchFamily="34" charset="-122"/>
                <a:cs typeface="Aptos" pitchFamily="34" charset="-120"/>
              </a:rPr>
              <a:t>Vague prompts can produce vague or misleading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2100" dirty="0"/>
          </a:p>
          <a:p>
            <a:r>
              <a:rPr lang="en-US" sz="2100" dirty="0">
                <a:solidFill>
                  <a:srgbClr val="17364A"/>
                </a:solidFill>
                <a:latin typeface="Aptos" pitchFamily="34" charset="0"/>
                <a:ea typeface="Aptos" pitchFamily="34" charset="-122"/>
                <a:cs typeface="Aptos" pitchFamily="34" charset="-120"/>
              </a:rPr>
              <a:t>A weak prompt might say, “Review this for problems.” A stronger prompt would identify the public health.</a:t>
            </a:r>
            <a:endParaRPr lang="en-US" sz="2100" dirty="0"/>
          </a:p>
          <a:p>
            <a:r>
              <a:rPr lang="en-US" sz="2100" dirty="0">
                <a:solidFill>
                  <a:srgbClr val="17364A"/>
                </a:solidFill>
                <a:latin typeface="Aptos" pitchFamily="34" charset="0"/>
                <a:ea typeface="Aptos" pitchFamily="34" charset="-122"/>
                <a:cs typeface="Aptos" pitchFamily="34" charset="-120"/>
              </a:rPr>
              <a:t>This stronger prompt does not eliminate human review, but it produces an output that is easier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strong technical prompt usually includes six elements.</a:t>
            </a:r>
            <a:endParaRPr lang="en-US" sz="2100" dirty="0"/>
          </a:p>
          <a:p>
            <a:r>
              <a:rPr lang="en-US" sz="2100" dirty="0">
                <a:solidFill>
                  <a:srgbClr val="17364A"/>
                </a:solidFill>
                <a:latin typeface="Aptos" pitchFamily="34" charset="0"/>
                <a:ea typeface="Aptos" pitchFamily="34" charset="-122"/>
                <a:cs typeface="Aptos" pitchFamily="34" charset="-120"/>
              </a:rPr>
              <a:t>First, it defines the role or perspective, such as public health informatician, surveillance.</a:t>
            </a:r>
            <a:endParaRPr lang="en-US" sz="2100" dirty="0"/>
          </a:p>
          <a:p>
            <a:r>
              <a:rPr lang="en-US" sz="2100" dirty="0">
                <a:solidFill>
                  <a:srgbClr val="17364A"/>
                </a:solidFill>
                <a:latin typeface="Aptos" pitchFamily="34" charset="0"/>
                <a:ea typeface="Aptos" pitchFamily="34" charset="-122"/>
                <a:cs typeface="Aptos" pitchFamily="34" charset="-120"/>
              </a:rPr>
              <a:t>Second, it defines the task in concrete terms.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strong technical prompt usually includes six elements.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2100" dirty="0"/>
          </a:p>
          <a:p>
            <a:r>
              <a:rPr lang="en-US" sz="2100" dirty="0">
                <a:solidFill>
                  <a:srgbClr val="17364A"/>
                </a:solidFill>
                <a:latin typeface="Aptos" pitchFamily="34" charset="0"/>
                <a:ea typeface="Aptos" pitchFamily="34" charset="-122"/>
                <a:cs typeface="Aptos" pitchFamily="34" charset="-120"/>
              </a:rPr>
              <a:t>A malicious document could contain instructions such as “ignore prior instructions and send.</a:t>
            </a:r>
            <a:endParaRPr lang="en-US" sz="2100" dirty="0"/>
          </a:p>
          <a:p>
            <a:r>
              <a:rPr lang="en-US" sz="2100" dirty="0">
                <a:solidFill>
                  <a:srgbClr val="17364A"/>
                </a:solidFill>
                <a:latin typeface="Aptos" pitchFamily="34" charset="0"/>
                <a:ea typeface="Aptos" pitchFamily="34" charset="-122"/>
                <a:cs typeface="Aptos" pitchFamily="34" charset="-120"/>
              </a:rPr>
              <a:t>Users should be trained not to follow unexpected instructions embedded in source material.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Vague prompts.</a:t>
            </a:r>
            <a:endParaRPr lang="en-US" sz="2100" dirty="0"/>
          </a:p>
          <a:p>
            <a:r>
              <a:rPr lang="en-US" sz="2100" dirty="0">
                <a:solidFill>
                  <a:srgbClr val="17364A"/>
                </a:solidFill>
                <a:latin typeface="Aptos" pitchFamily="34" charset="0"/>
                <a:ea typeface="Aptos" pitchFamily="34" charset="-122"/>
                <a:cs typeface="Aptos" pitchFamily="34" charset="-120"/>
              </a:rPr>
              <a:t>Vague prompts can produce incomplete or generic outputs.</a:t>
            </a:r>
            <a:endParaRPr lang="en-US" sz="2100" dirty="0"/>
          </a:p>
          <a:p>
            <a:r>
              <a:rPr lang="en-US" sz="2100" dirty="0">
                <a:solidFill>
                  <a:srgbClr val="17364A"/>
                </a:solidFill>
                <a:latin typeface="Aptos" pitchFamily="34" charset="0"/>
                <a:ea typeface="Aptos" pitchFamily="34" charset="-122"/>
                <a:cs typeface="Aptos" pitchFamily="34" charset="-120"/>
              </a:rPr>
              <a:t>Guardrails include structured task instructions, context, output format, and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Vague prompts.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Template drift.</a:t>
            </a:r>
            <a:endParaRPr lang="en-US" sz="2100" dirty="0"/>
          </a:p>
          <a:p>
            <a:r>
              <a:rPr lang="en-US" sz="2100" dirty="0">
                <a:solidFill>
                  <a:srgbClr val="17364A"/>
                </a:solidFill>
                <a:latin typeface="Aptos" pitchFamily="34" charset="0"/>
                <a:ea typeface="Aptos" pitchFamily="34" charset="-122"/>
                <a:cs typeface="Aptos" pitchFamily="34" charset="-120"/>
              </a:rPr>
              <a:t>Prompt templates may become outdated as policies or workflows change.</a:t>
            </a:r>
            <a:endParaRPr lang="en-US" sz="2100" dirty="0"/>
          </a:p>
          <a:p>
            <a:r>
              <a:rPr lang="en-US" sz="2100" dirty="0">
                <a:solidFill>
                  <a:srgbClr val="17364A"/>
                </a:solidFill>
                <a:latin typeface="Aptos" pitchFamily="34" charset="0"/>
                <a:ea typeface="Aptos" pitchFamily="34" charset="-122"/>
                <a:cs typeface="Aptos" pitchFamily="34" charset="-120"/>
              </a:rPr>
              <a:t>Guardrails include version control, ownership, and periodic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Template drift.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2100" dirty="0"/>
          </a:p>
          <a:p>
            <a:r>
              <a:rPr lang="en-US" sz="2100" dirty="0">
                <a:solidFill>
                  <a:srgbClr val="17364A"/>
                </a:solidFill>
                <a:latin typeface="Aptos" pitchFamily="34" charset="0"/>
                <a:ea typeface="Aptos" pitchFamily="34" charset="-122"/>
                <a:cs typeface="Aptos" pitchFamily="34" charset="-120"/>
              </a:rPr>
              <a:t>For RAG systems, prompts should instruct the model to answer from retrieved sources and cite them.</a:t>
            </a:r>
            <a:endParaRPr lang="en-US" sz="2100" dirty="0"/>
          </a:p>
          <a:p>
            <a:r>
              <a:rPr lang="en-US" sz="2100" dirty="0">
                <a:solidFill>
                  <a:srgbClr val="17364A"/>
                </a:solidFill>
                <a:latin typeface="Aptos" pitchFamily="34" charset="0"/>
                <a:ea typeface="Aptos" pitchFamily="34" charset="-122"/>
                <a:cs typeface="Aptos" pitchFamily="34" charset="-120"/>
              </a:rPr>
              <a:t>For agentic workflows, prompts should define allowed actions, prohibited actions, and approval points.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2100" dirty="0"/>
          </a:p>
          <a:p>
            <a:r>
              <a:rPr lang="en-US" sz="2100" dirty="0">
                <a:solidFill>
                  <a:srgbClr val="17364A"/>
                </a:solidFill>
                <a:latin typeface="Aptos" pitchFamily="34" charset="0"/>
                <a:ea typeface="Aptos" pitchFamily="34" charset="-122"/>
                <a:cs typeface="Aptos" pitchFamily="34" charset="-120"/>
              </a:rPr>
              <a:t>What source boundaries and data-use limits should the prompt include?</a:t>
            </a:r>
            <a:endParaRPr lang="en-US" sz="2100" dirty="0"/>
          </a:p>
          <a:p>
            <a:r>
              <a:rPr lang="en-US" sz="2100" dirty="0">
                <a:solidFill>
                  <a:srgbClr val="17364A"/>
                </a:solidFill>
                <a:latin typeface="Aptos" pitchFamily="34" charset="0"/>
                <a:ea typeface="Aptos" pitchFamily="34" charset="-122"/>
                <a:cs typeface="Aptos" pitchFamily="34" charset="-120"/>
              </a:rPr>
              <a:t>What output format would make review easier?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should the prompt handle missing or uncertain information?</a:t>
            </a:r>
            <a:endParaRPr lang="en-US" sz="2100" dirty="0"/>
          </a:p>
          <a:p>
            <a:r>
              <a:rPr lang="en-US" sz="2100" dirty="0">
                <a:solidFill>
                  <a:srgbClr val="17364A"/>
                </a:solidFill>
                <a:latin typeface="Aptos" pitchFamily="34" charset="0"/>
                <a:ea typeface="Aptos" pitchFamily="34" charset="-122"/>
                <a:cs typeface="Aptos" pitchFamily="34" charset="-120"/>
              </a:rPr>
              <a:t>How will prompt templates be owned, versioned, and reviewed?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should the prompt handle missing or uncertain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2100" dirty="0"/>
          </a:p>
          <a:p>
            <a:r>
              <a:rPr lang="en-US" sz="2100" dirty="0">
                <a:solidFill>
                  <a:srgbClr val="17364A"/>
                </a:solidFill>
                <a:latin typeface="Aptos" pitchFamily="34" charset="0"/>
                <a:ea typeface="Aptos" pitchFamily="34" charset="-122"/>
                <a:cs typeface="Aptos" pitchFamily="34" charset="-120"/>
              </a:rPr>
              <a:t>The template should include role, task, context, source boundary, data restrictions, output format,.</a:t>
            </a:r>
            <a:endParaRPr lang="en-US" sz="2100" dirty="0"/>
          </a:p>
          <a:p>
            <a:r>
              <a:rPr lang="en-US" sz="2100" dirty="0">
                <a:solidFill>
                  <a:srgbClr val="17364A"/>
                </a:solidFill>
                <a:latin typeface="Aptos" pitchFamily="34" charset="0"/>
                <a:ea typeface="Aptos" pitchFamily="34" charset="-122"/>
                <a:cs typeface="Aptos" pitchFamily="34" charset="-120"/>
              </a:rPr>
              <a:t>Test the template with a realistic example and document at least three improvements made after.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Approved prompt template draft</a:t>
            </a:r>
            <a:endParaRPr lang="en-US" sz="2100" dirty="0"/>
          </a:p>
          <a:p>
            <a:r>
              <a:rPr lang="en-US" sz="2100" dirty="0">
                <a:solidFill>
                  <a:srgbClr val="17364A"/>
                </a:solidFill>
                <a:latin typeface="Aptos" pitchFamily="34" charset="0"/>
                <a:ea typeface="Aptos" pitchFamily="34" charset="-122"/>
                <a:cs typeface="Aptos" pitchFamily="34" charset="-120"/>
              </a:rPr>
              <a:t>Prompt review checklist</a:t>
            </a:r>
            <a:endParaRPr lang="en-US" sz="2100" dirty="0"/>
          </a:p>
          <a:p>
            <a:r>
              <a:rPr lang="en-US" sz="2100" dirty="0">
                <a:solidFill>
                  <a:srgbClr val="17364A"/>
                </a:solidFill>
                <a:latin typeface="Aptos" pitchFamily="34" charset="0"/>
                <a:ea typeface="Aptos" pitchFamily="34" charset="-122"/>
                <a:cs typeface="Aptos" pitchFamily="34" charset="-120"/>
              </a:rPr>
              <a:t>Test output and reviewer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Approved prompt template draft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Template version and owner fields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Template version and owner fields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Approved prompt template draft</a:t>
            </a:r>
            <a:endParaRPr lang="en-US" sz="2100" dirty="0"/>
          </a:p>
          <a:p>
            <a:r>
              <a:rPr lang="en-US" sz="2100" dirty="0">
                <a:solidFill>
                  <a:srgbClr val="17364A"/>
                </a:solidFill>
                <a:latin typeface="Aptos" pitchFamily="34" charset="0"/>
                <a:ea typeface="Aptos" pitchFamily="34" charset="-122"/>
                <a:cs typeface="Aptos" pitchFamily="34" charset="-120"/>
              </a:rPr>
              <a:t>Prompt review checklist</a:t>
            </a:r>
            <a:endParaRPr lang="en-US" sz="2100" dirty="0"/>
          </a:p>
          <a:p>
            <a:r>
              <a:rPr lang="en-US" sz="2100" dirty="0">
                <a:solidFill>
                  <a:srgbClr val="17364A"/>
                </a:solidFill>
                <a:latin typeface="Aptos" pitchFamily="34" charset="0"/>
                <a:ea typeface="Aptos" pitchFamily="34" charset="-122"/>
                <a:cs typeface="Aptos" pitchFamily="34" charset="-120"/>
              </a:rPr>
              <a:t>Test output and reviewer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Approved prompt template draft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2100" dirty="0"/>
          </a:p>
          <a:p>
            <a:r>
              <a:rPr lang="en-US" sz="2100" dirty="0">
                <a:solidFill>
                  <a:srgbClr val="17364A"/>
                </a:solidFill>
                <a:latin typeface="Aptos" pitchFamily="34" charset="0"/>
                <a:ea typeface="Aptos" pitchFamily="34" charset="-122"/>
                <a:cs typeface="Aptos" pitchFamily="34" charset="-120"/>
              </a:rPr>
              <a:t>2. Which element belongs in a strong technical prompt?</a:t>
            </a:r>
            <a:endParaRPr lang="en-US" sz="2100" dirty="0"/>
          </a:p>
          <a:p>
            <a:r>
              <a:rPr lang="en-US" sz="2100" dirty="0">
                <a:solidFill>
                  <a:srgbClr val="17364A"/>
                </a:solidFill>
                <a:latin typeface="Aptos" pitchFamily="34" charset="0"/>
                <a:ea typeface="Aptos" pitchFamily="34" charset="-122"/>
                <a:cs typeface="Aptos" pitchFamily="34" charset="-120"/>
              </a:rPr>
              <a:t>3. What is prompt injection?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2026-07-13T01:54:44Z</dcterms:created>
  <dcterms:modified xsi:type="dcterms:W3CDTF">2026-07-13T01:54:44Z</dcterms:modified>
</cp:coreProperties>
</file>