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7fd3451cd642e1" /><Relationship Type="http://schemas.openxmlformats.org/officeDocument/2006/relationships/extended-properties" Target="/docProps/app.xml" Id="Ra597a838751546ea" /><Relationship Type="http://schemas.openxmlformats.org/officeDocument/2006/relationships/officeDocument" Target="/ppt/presentation.xml" Id="R2894d8608eb0442f" /></Relationships>
</file>

<file path=ppt/presentation.xml><?xml version="1.0" encoding="utf-8"?>
<p:presentation xmlns:p="http://schemas.openxmlformats.org/presentationml/2006/main">
  <p:sldMasterIdLst>
    <p:sldMasterId xmlns:r="http://schemas.openxmlformats.org/officeDocument/2006/relationships" id="2147483648" r:id="R443199ebe6384341"/>
  </p:sldMasterIdLst>
  <p:notesMasterIdLst>
    <p:notesMasterId xmlns:r="http://schemas.openxmlformats.org/officeDocument/2006/relationships" r:id="Rd2eb676207164143"/>
  </p:notesMasterIdLst>
  <p:sldIdLst>
    <p:sldId xmlns:r="http://schemas.openxmlformats.org/officeDocument/2006/relationships" id="256" r:id="Rb5904ba0eb024829"/>
    <p:sldId xmlns:r="http://schemas.openxmlformats.org/officeDocument/2006/relationships" id="257" r:id="R2b1fbafb96314c1c"/>
    <p:sldId xmlns:r="http://schemas.openxmlformats.org/officeDocument/2006/relationships" id="258" r:id="R37f954881c0e4ba3"/>
    <p:sldId xmlns:r="http://schemas.openxmlformats.org/officeDocument/2006/relationships" id="259" r:id="Rb0ab2d067e24440e"/>
    <p:sldId xmlns:r="http://schemas.openxmlformats.org/officeDocument/2006/relationships" id="260" r:id="Rbc83eaf45542499e"/>
    <p:sldId xmlns:r="http://schemas.openxmlformats.org/officeDocument/2006/relationships" id="261" r:id="R99a7d8f317824c18"/>
    <p:sldId xmlns:r="http://schemas.openxmlformats.org/officeDocument/2006/relationships" id="262" r:id="Rd4d09d08e24c4fab"/>
    <p:sldId xmlns:r="http://schemas.openxmlformats.org/officeDocument/2006/relationships" id="263" r:id="R1e7e42ff9e0b4c1d"/>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f09e0808a14629" /><Relationship Type="http://schemas.openxmlformats.org/officeDocument/2006/relationships/slideMaster" Target="/ppt/slideMasters/slideMaster1.xml" Id="R443199ebe6384341" /><Relationship Type="http://schemas.openxmlformats.org/officeDocument/2006/relationships/notesMaster" Target="/ppt/notesMasters/notesMaster1.xml" Id="Rd2eb676207164143" /><Relationship Type="http://schemas.openxmlformats.org/officeDocument/2006/relationships/presProps" Target="/ppt/presProps.xml" Id="R82e46c8b1d8940f1" /><Relationship Type="http://schemas.openxmlformats.org/officeDocument/2006/relationships/tableStyles" Target="/ppt/tableStyles.xml" Id="Rf23a1991a11c47c4" /><Relationship Type="http://schemas.openxmlformats.org/officeDocument/2006/relationships/slide" Target="/ppt/slides/slide1.xml" Id="Rb5904ba0eb024829" /><Relationship Type="http://schemas.openxmlformats.org/officeDocument/2006/relationships/slide" Target="/ppt/slides/slide2.xml" Id="R2b1fbafb96314c1c" /><Relationship Type="http://schemas.openxmlformats.org/officeDocument/2006/relationships/slide" Target="/ppt/slides/slide3.xml" Id="R37f954881c0e4ba3" /><Relationship Type="http://schemas.openxmlformats.org/officeDocument/2006/relationships/slide" Target="/ppt/slides/slide4.xml" Id="Rb0ab2d067e24440e" /><Relationship Type="http://schemas.openxmlformats.org/officeDocument/2006/relationships/slide" Target="/ppt/slides/slide5.xml" Id="Rbc83eaf45542499e" /><Relationship Type="http://schemas.openxmlformats.org/officeDocument/2006/relationships/slide" Target="/ppt/slides/slide6.xml" Id="R99a7d8f317824c18" /><Relationship Type="http://schemas.openxmlformats.org/officeDocument/2006/relationships/slide" Target="/ppt/slides/slide7.xml" Id="Rd4d09d08e24c4fab" /><Relationship Type="http://schemas.openxmlformats.org/officeDocument/2006/relationships/slide" Target="/ppt/slides/slide8.xml" Id="R1e7e42ff9e0b4c1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25ee9201a44b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59553ed7e64a69" /><Relationship Type="http://schemas.openxmlformats.org/officeDocument/2006/relationships/notesMaster" Target="/ppt/notesMasters/notesMaster1.xml" Id="Re5518b5c239345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5d49a9e9a89349f1" /><Relationship Type="http://schemas.openxmlformats.org/officeDocument/2006/relationships/notesMaster" Target="/ppt/notesMasters/notesMaster1.xml" Id="Ra059f761eac445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7c5bb29fbd4c4b" /><Relationship Type="http://schemas.openxmlformats.org/officeDocument/2006/relationships/notesMaster" Target="/ppt/notesMasters/notesMaster1.xml" Id="Re39bf32563464d8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5cbd8473b924340" /><Relationship Type="http://schemas.openxmlformats.org/officeDocument/2006/relationships/notesMaster" Target="/ppt/notesMasters/notesMaster1.xml" Id="Rfbe6373eb31048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0835c5e9e348bb" /><Relationship Type="http://schemas.openxmlformats.org/officeDocument/2006/relationships/notesMaster" Target="/ppt/notesMasters/notesMaster1.xml" Id="Rcf19ea4b656344b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470fa1ace149d7" /><Relationship Type="http://schemas.openxmlformats.org/officeDocument/2006/relationships/notesMaster" Target="/ppt/notesMasters/notesMaster1.xml" Id="Rf4c8731dfc4342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f376556c182a4143" /><Relationship Type="http://schemas.openxmlformats.org/officeDocument/2006/relationships/notesMaster" Target="/ppt/notesMasters/notesMaster1.xml" Id="R6e8a88fcad5549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2a8d2ac58d4867" /><Relationship Type="http://schemas.openxmlformats.org/officeDocument/2006/relationships/notesMaster" Target="/ppt/notesMasters/notesMaster1.xml" Id="R83eb7bb34cc14b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participants to the Tiered Data Use for AI lesson.</a:t>
            </a:r>
          </a:p>
          <a:p xmlns:a="http://schemas.openxmlformats.org/drawingml/2006/main">
            <a:r>
              <a:t>Explain that this deck is designed for staff training, leadership orientation, governance preparation, or cross-program discussion.</a:t>
            </a:r>
          </a:p>
          <a:p xmlns:a="http://schemas.openxmlformats.org/drawingml/2006/main">
            <a:r>
              <a:t>Frame the topic in plain language: Tiered data use classifies information by sensitivity and defines which AI environments are appropriate for public, internal, confidential, and highly restricted data.</a:t>
            </a:r>
          </a:p>
          <a:p xmlns:a="http://schemas.openxmlformats.org/drawingml/2006/main">
            <a:r>
              <a:t>Invite participants to think about where this topic already appears in their department's workflows, vendor tools, data systems, communications, or planning conversations.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Tiered Data Use for AI training module.</a:t>
            </a:r>
          </a:p>
          <a:p xmlns:a="http://schemas.openxmlformats.org/drawingml/2006/main">
            <a:r>
              <a:t>Use this slide to explain the practical public health reason for learning this topic before AI tools are approved or deployed.</a:t>
            </a:r>
          </a:p>
          <a:p xmlns:a="http://schemas.openxmlformats.org/drawingml/2006/main">
            <a:r>
              <a:t>Connect the discussion back to the playbook: this topic supports Plays 2, 3, 11 and Tools 10, 15, 34.</a:t>
            </a:r>
          </a:p>
          <a:p xmlns:a="http://schemas.openxmlformats.org/drawingml/2006/main">
            <a:r>
              <a:t>Emphasize the core guardrail: Without data tiers, staff may unintentionally place confidential, protected, or sovereign data into unsuitable AI environments.</a:t>
            </a:r>
          </a:p>
          <a:p xmlns:a="http://schemas.openxmlformats.org/drawingml/2006/main">
            <a:r>
              <a:t>Ask participants how this topic could affect their own program area, staff roles, community relationships, data, or public communications.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Tiered Data Use for AI training module.</a:t>
            </a:r>
          </a:p>
          <a:p xmlns:a="http://schemas.openxmlformats.org/drawingml/2006/main">
            <a:r>
              <a:t>Walk through the objectives and connect each one to a practical implementation decision.</a:t>
            </a:r>
          </a:p>
          <a:p xmlns:a="http://schemas.openxmlformats.org/drawingml/2006/main">
            <a:r>
              <a:t>Connect the discussion back to the playbook: this topic supports Plays 2, 3, 11 and Tools 10, 15, 34.</a:t>
            </a:r>
          </a:p>
          <a:p xmlns:a="http://schemas.openxmlformats.org/drawingml/2006/main">
            <a:r>
              <a:t>Explain that participants do not need technical expertise to use this material. The goal is enough shared understanding to participate in governance, readiness assessment, use case review, procurement, deployment, or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Tiered Data Use for AI training module.</a:t>
            </a:r>
          </a:p>
          <a:p xmlns:a="http://schemas.openxmlformats.org/drawingml/2006/main">
            <a:r>
              <a:t>Use this slide to provide the narrative overview and definition before moving into detailed application.</a:t>
            </a:r>
          </a:p>
          <a:p xmlns:a="http://schemas.openxmlformats.org/drawingml/2006/main">
            <a:r>
              <a:t>Connect the discussion back to the playbook: this topic supports Plays 2, 3, 11 and Tools 10, 15, 34.</a:t>
            </a:r>
          </a:p>
          <a:p xmlns:a="http://schemas.openxmlformats.org/drawingml/2006/main">
            <a:r>
              <a:t>Ask the group to restate the topic in their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Tiered Data Use for AI training module.</a:t>
            </a:r>
          </a:p>
          <a:p xmlns:a="http://schemas.openxmlformats.org/drawingml/2006/main">
            <a:r>
              <a:t>Use this slide to turn the concept into practical behaviors, decisions, and safeguards.</a:t>
            </a:r>
          </a:p>
          <a:p xmlns:a="http://schemas.openxmlformats.org/drawingml/2006/main">
            <a:r>
              <a:t>Connect the discussion back to the playbook: this topic supports Plays 2, 3, 11 and Tools 10, 15, 34.</a:t>
            </a:r>
          </a:p>
          <a:p xmlns:a="http://schemas.openxmlformats.org/drawingml/2006/main">
            <a:r>
              <a:t>Invite participants to identify where these practices would need to be documented in their own department.</a:t>
            </a:r>
          </a:p>
          <a:p xmlns:a="http://schemas.openxmlformats.org/drawingml/2006/main">
            <a:r>
              <a:t>Start with Data Tiers, then compare it with the other practice areas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Tiered Data Use for AI training module.</a:t>
            </a:r>
          </a:p>
          <a:p xmlns:a="http://schemas.openxmlformats.org/drawingml/2006/main">
            <a:r>
              <a:t>Use this slide to make the topic concrete through public health workflow examples.</a:t>
            </a:r>
          </a:p>
          <a:p xmlns:a="http://schemas.openxmlformats.org/drawingml/2006/main">
            <a:r>
              <a:t>Connect the discussion back to the playbook: this topic supports Plays 2, 3, 11 and Tools 10, 15, 34.</a:t>
            </a:r>
          </a:p>
          <a:p xmlns:a="http://schemas.openxmlformats.org/drawingml/2006/main">
            <a:r>
              <a:t>For each example, ask: What problem is being solved? What data would be used? Who reviews the AI output? What decision remains human? What could go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Tiered Data Use for AI training module.</a:t>
            </a:r>
          </a:p>
          <a:p xmlns:a="http://schemas.openxmlformats.org/drawingml/2006/main">
            <a:r>
              <a:t>Use this slide for a facilitated activity near the end of the lesson.</a:t>
            </a:r>
          </a:p>
          <a:p xmlns:a="http://schemas.openxmlformats.org/drawingml/2006/main">
            <a:r>
              <a:t>Connect the discussion back to the playbook: this topic supports Plays 2, 3, 11 and Tools 10, 15, 34.</a:t>
            </a:r>
          </a:p>
          <a:p xmlns:a="http://schemas.openxmlformats.org/drawingml/2006/main">
            <a:r>
              <a:t>Give participants time to work individually or in small groups. Ask them to produce a practical artifact that can feed into readiness assessment, governance review, use case prioritization, or implementation planning.</a:t>
            </a:r>
          </a:p>
          <a:p xmlns:a="http://schemas.openxmlformats.org/drawingml/2006/main">
            <a:r>
              <a:t>Expected takeaways include: Tiered data classification table, Approved AI environment list, Data-use approval pathway.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in the Tiered Data Use for AI training module.</a:t>
            </a:r>
          </a:p>
          <a:p xmlns:a="http://schemas.openxmlformats.org/drawingml/2006/main">
            <a:r>
              <a:t>Close by connecting the lesson to next actions and resources.</a:t>
            </a:r>
          </a:p>
          <a:p xmlns:a="http://schemas.openxmlformats.org/drawingml/2006/main">
            <a:r>
              <a:t>Connect the discussion back to the playbook: this topic supports Plays 2, 3, 11 and Tools 10, 15, 34.</a:t>
            </a:r>
          </a:p>
          <a:p xmlns:a="http://schemas.openxmlformats.org/drawingml/2006/main">
            <a:r>
              <a:t>Point participants to the first resource: HIPAA.</a:t>
            </a:r>
          </a:p>
          <a:p xmlns:a="http://schemas.openxmlformats.org/drawingml/2006/main">
            <a:r>
              <a:t>End by asking each participant or team to name one follow-up action they will take after the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a9a89b0c87b4a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37ded1b96d4d5e" /><Relationship Type="http://schemas.openxmlformats.org/officeDocument/2006/relationships/slideLayout" Target="/ppt/slideLayouts/slideLayout1.xml" Id="R4e9e0c39322541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9e0c39322541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1126c8022444874" /><Relationship Type="http://schemas.openxmlformats.org/officeDocument/2006/relationships/image" Target="/ppt/media/image.png" Id="R4987918fdb984d83" /><Relationship Type="http://schemas.openxmlformats.org/officeDocument/2006/relationships/notesSlide" Target="/ppt/notesSlides/notesSlide1.xml" Id="Re3d07a28ac514f9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674f12e61ab4cc4" /><Relationship Type="http://schemas.openxmlformats.org/officeDocument/2006/relationships/notesSlide" Target="/ppt/notesSlides/notesSlide2.xml" Id="Rc5cf631cc8ff4e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32e633ea0c04b22" /><Relationship Type="http://schemas.openxmlformats.org/officeDocument/2006/relationships/notesSlide" Target="/ppt/notesSlides/notesSlide3.xml" Id="R6ed49e387de8453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6c1946aadf140e8" /><Relationship Type="http://schemas.openxmlformats.org/officeDocument/2006/relationships/notesSlide" Target="/ppt/notesSlides/notesSlide4.xml" Id="R73e8a9704c0e42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e7b1c21360e47eb" /><Relationship Type="http://schemas.openxmlformats.org/officeDocument/2006/relationships/notesSlide" Target="/ppt/notesSlides/notesSlide5.xml" Id="R4dfaa56e3eee4d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6893387cd9e4a45" /><Relationship Type="http://schemas.openxmlformats.org/officeDocument/2006/relationships/notesSlide" Target="/ppt/notesSlides/notesSlide6.xml" Id="Rdd6bd910a82c40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153538192224303" /><Relationship Type="http://schemas.openxmlformats.org/officeDocument/2006/relationships/notesSlide" Target="/ppt/notesSlides/notesSlide7.xml" Id="Rc7d5e8825f2c42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43b07e2d3fc4b56" /><Relationship Type="http://schemas.openxmlformats.org/officeDocument/2006/relationships/notesSlide" Target="/ppt/notesSlides/notesSlide8.xml" Id="R2560d9053a534477" /></Relationships>
</file>

<file path=ppt/slides/slide1.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987918fdb984d83"/>
          <a:stretch xmlns:a="http://schemas.openxmlformats.org/drawingml/2006/main"/>
        </p:blipFill>
        <p:spPr>
          <a:xfrm xmlns:a="http://schemas.openxmlformats.org/drawingml/2006/main">
            <a:off x="5316097" y="514350"/>
            <a:ext cx="1559806" cy="1524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89D63B2-9889-44CE-AC25-94211E353966}"/>
              </a:ext>
            </a:extLst>
          </p:cNvPr>
          <p:cNvSpPr>
            <a:spLocks xmlns:a="http://schemas.openxmlformats.org/drawingml/2006/main" noGrp="1"/>
          </p:cNvSpPr>
          <p:nvPr/>
        </p:nvSpPr>
        <p:spPr>
          <a:xfrm xmlns:a="http://schemas.openxmlformats.org/drawingml/2006/main">
            <a:off x="4953000" y="23050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287320"/>
                </a:solidFill>
              </a:defRPr>
            </a:pPr>
            <a:r>
              <a:rPr sz="1800" b="1">
                <a:solidFill>
                  <a:srgbClr val="287320"/>
                </a:solidFill>
              </a:rPr>
              <a:t>Lesson 15</a:t>
            </a:r>
          </a:p>
        </p:txBody>
      </p:sp>
      <p:sp>
        <p:nvSpPr>
          <p:cNvPr id="3" name="">
            <a:extLst xmlns:a="http://schemas.openxmlformats.org/drawingml/2006/main">
              <a:ext uri="{FF2B5EF4-FFF2-40B4-BE49-F238E27FC236}">
                <a16:creationId xmlns:a16="http://schemas.microsoft.com/office/drawing/2014/main" id="{48FB63E2-3CCE-47A1-AC4C-DB5E475AE20F}"/>
              </a:ext>
            </a:extLst>
          </p:cNvPr>
          <p:cNvSpPr>
            <a:spLocks xmlns:a="http://schemas.openxmlformats.org/drawingml/2006/main" noGrp="1"/>
          </p:cNvSpPr>
          <p:nvPr/>
        </p:nvSpPr>
        <p:spPr>
          <a:xfrm xmlns:a="http://schemas.openxmlformats.org/drawingml/2006/main">
            <a:off x="1333500" y="2781300"/>
            <a:ext cx="9525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900" b="1">
                <a:solidFill>
                  <a:srgbClr val="003B70"/>
                </a:solidFill>
              </a:defRPr>
            </a:pPr>
            <a:r>
              <a:rPr sz="3900" b="1">
                <a:solidFill>
                  <a:srgbClr val="003B70"/>
                </a:solidFill>
              </a:rPr>
              <a:t>Tiered Data Use for AI</a:t>
            </a:r>
          </a:p>
        </p:txBody>
      </p:sp>
      <p:sp>
        <p:nvSpPr>
          <p:cNvPr id="4" name="">
            <a:extLst xmlns:a="http://schemas.openxmlformats.org/drawingml/2006/main">
              <a:ext uri="{FF2B5EF4-FFF2-40B4-BE49-F238E27FC236}">
                <a16:creationId xmlns:a16="http://schemas.microsoft.com/office/drawing/2014/main" id="{84A1BB79-1F25-41F5-BA84-F9FB58A37233}"/>
              </a:ext>
            </a:extLst>
          </p:cNvPr>
          <p:cNvSpPr>
            <a:spLocks xmlns:a="http://schemas.openxmlformats.org/drawingml/2006/main" noGrp="1"/>
          </p:cNvSpPr>
          <p:nvPr/>
        </p:nvSpPr>
        <p:spPr>
          <a:xfrm xmlns:a="http://schemas.openxmlformats.org/drawingml/2006/main">
            <a:off x="3714750" y="3857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a:solidFill>
                  <a:srgbClr val="005DAA"/>
                </a:solidFill>
              </a:defRPr>
            </a:pPr>
            <a:r>
              <a:rPr sz="2025" b="1">
                <a:solidFill>
                  <a:srgbClr val="005DAA"/>
                </a:solidFill>
              </a:rPr>
              <a:t>Staff Training Module</a:t>
            </a:r>
          </a:p>
        </p:txBody>
      </p:sp>
      <p:sp>
        <p:nvSpPr>
          <p:cNvPr id="5" name="">
            <a:extLst xmlns:a="http://schemas.openxmlformats.org/drawingml/2006/main">
              <a:ext uri="{FF2B5EF4-FFF2-40B4-BE49-F238E27FC236}">
                <a16:creationId xmlns:a16="http://schemas.microsoft.com/office/drawing/2014/main" id="{4056364D-F82E-40E3-AA12-017B1BF7C0D4}"/>
              </a:ext>
            </a:extLst>
          </p:cNvPr>
          <p:cNvSpPr>
            <a:spLocks xmlns:a="http://schemas.openxmlformats.org/drawingml/2006/main" noGrp="1"/>
          </p:cNvSpPr>
          <p:nvPr/>
        </p:nvSpPr>
        <p:spPr>
          <a:xfrm xmlns:a="http://schemas.openxmlformats.org/drawingml/2006/main">
            <a:off x="3429000" y="4495800"/>
            <a:ext cx="5334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D3014A9D-FD28-43E8-80F9-CBF5DCDFE531}"/>
              </a:ext>
            </a:extLst>
          </p:cNvPr>
          <p:cNvSpPr>
            <a:spLocks xmlns:a="http://schemas.openxmlformats.org/drawingml/2006/main" noGrp="1"/>
          </p:cNvSpPr>
          <p:nvPr/>
        </p:nvSpPr>
        <p:spPr>
          <a:xfrm xmlns:a="http://schemas.openxmlformats.org/drawingml/2006/main">
            <a:off x="2286000" y="490537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87320"/>
                </a:solidFill>
              </a:defRPr>
            </a:pPr>
            <a:r>
              <a:rPr sz="1500" b="1">
                <a:solidFill>
                  <a:srgbClr val="287320"/>
                </a:solidFill>
              </a:rPr>
              <a:t>AI Playbook and Toolkit for Public Health Departments</a:t>
            </a:r>
          </a:p>
        </p:txBody>
      </p:sp>
    </p:spTree>
    <p:extLst>
      <p:ext uri="{BB962C8B-B14F-4D97-AF65-F5344CB8AC3E}">
        <p14:creationId xmlns:p14="http://schemas.microsoft.com/office/powerpoint/2010/main" val="2513636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A7D2B6D-4248-42ED-96C3-93E599D66C5B}"/>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53785DE2-521A-4241-828B-8F5E56FA2B75}"/>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Why this topic matters</a:t>
            </a:r>
          </a:p>
        </p:txBody>
      </p:sp>
      <p:sp>
        <p:nvSpPr>
          <p:cNvPr id="3" name="">
            <a:extLst xmlns:a="http://schemas.openxmlformats.org/drawingml/2006/main">
              <a:ext uri="{FF2B5EF4-FFF2-40B4-BE49-F238E27FC236}">
                <a16:creationId xmlns:a16="http://schemas.microsoft.com/office/drawing/2014/main" id="{4BDE289A-AE61-4F15-BCA7-5DFA73C1777E}"/>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A4C51075-085E-43FF-B254-7921C0B942BE}"/>
              </a:ext>
            </a:extLst>
          </p:cNvPr>
          <p:cNvSpPr>
            <a:spLocks xmlns:a="http://schemas.openxmlformats.org/drawingml/2006/main" noGrp="1"/>
          </p:cNvSpPr>
          <p:nvPr/>
        </p:nvSpPr>
        <p:spPr>
          <a:xfrm xmlns:a="http://schemas.openxmlformats.org/drawingml/2006/main">
            <a:off x="685800" y="17145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Tiered data use classifies information by sensitivity and defines which AI environments are appropriate for public, internal, confidential, and highly restricted data.</a:t>
            </a:r>
          </a:p>
        </p:txBody>
      </p:sp>
      <p:sp>
        <p:nvSpPr>
          <p:cNvPr id="5" name="">
            <a:extLst xmlns:a="http://schemas.openxmlformats.org/drawingml/2006/main">
              <a:ext uri="{FF2B5EF4-FFF2-40B4-BE49-F238E27FC236}">
                <a16:creationId xmlns:a16="http://schemas.microsoft.com/office/drawing/2014/main" id="{7C19E8F8-8626-476A-AB44-1382BEF93599}"/>
              </a:ext>
            </a:extLst>
          </p:cNvPr>
          <p:cNvSpPr>
            <a:spLocks xmlns:a="http://schemas.openxmlformats.org/drawingml/2006/main" noGrp="1"/>
          </p:cNvSpPr>
          <p:nvPr/>
        </p:nvSpPr>
        <p:spPr>
          <a:xfrm xmlns:a="http://schemas.openxmlformats.org/drawingml/2006/main">
            <a:off x="685800"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864F5225-C093-44FA-B5F0-3EFD76B4597E}"/>
              </a:ext>
            </a:extLst>
          </p:cNvPr>
          <p:cNvSpPr>
            <a:spLocks xmlns:a="http://schemas.openxmlformats.org/drawingml/2006/main" noGrp="1"/>
          </p:cNvSpPr>
          <p:nvPr/>
        </p:nvSpPr>
        <p:spPr>
          <a:xfrm xmlns:a="http://schemas.openxmlformats.org/drawingml/2006/main">
            <a:off x="685800" y="2905125"/>
            <a:ext cx="66675" cy="2190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D20B2DBC-05B4-401B-9A4C-7FE45A4A17F0}"/>
              </a:ext>
            </a:extLst>
          </p:cNvPr>
          <p:cNvSpPr>
            <a:spLocks xmlns:a="http://schemas.openxmlformats.org/drawingml/2006/main" noGrp="1"/>
          </p:cNvSpPr>
          <p:nvPr/>
        </p:nvSpPr>
        <p:spPr>
          <a:xfrm xmlns:a="http://schemas.openxmlformats.org/drawingml/2006/main">
            <a:off x="914400"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Public health value</a:t>
            </a:r>
          </a:p>
        </p:txBody>
      </p:sp>
      <p:sp>
        <p:nvSpPr>
          <p:cNvPr id="8" name="">
            <a:extLst xmlns:a="http://schemas.openxmlformats.org/drawingml/2006/main">
              <a:ext uri="{FF2B5EF4-FFF2-40B4-BE49-F238E27FC236}">
                <a16:creationId xmlns:a16="http://schemas.microsoft.com/office/drawing/2014/main" id="{CB3728DC-1437-4F3F-B3C8-365DFBC3DCD7}"/>
              </a:ext>
            </a:extLst>
          </p:cNvPr>
          <p:cNvSpPr>
            <a:spLocks xmlns:a="http://schemas.openxmlformats.org/drawingml/2006/main" noGrp="1"/>
          </p:cNvSpPr>
          <p:nvPr/>
        </p:nvSpPr>
        <p:spPr>
          <a:xfrm xmlns:a="http://schemas.openxmlformats.org/drawingml/2006/main">
            <a:off x="914400"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Clear data tiers turn privacy and security rules into daily practice. Staff need to know which data can be used in which AI environments, what approvals are needed, and what tools are prohibited for sensitive information.</a:t>
            </a:r>
          </a:p>
        </p:txBody>
      </p:sp>
      <p:sp>
        <p:nvSpPr>
          <p:cNvPr id="9" name="">
            <a:extLst xmlns:a="http://schemas.openxmlformats.org/drawingml/2006/main">
              <a:ext uri="{FF2B5EF4-FFF2-40B4-BE49-F238E27FC236}">
                <a16:creationId xmlns:a16="http://schemas.microsoft.com/office/drawing/2014/main" id="{D26BA0ED-BC0F-4A28-9AFA-3D918E39A09F}"/>
              </a:ext>
            </a:extLst>
          </p:cNvPr>
          <p:cNvSpPr>
            <a:spLocks xmlns:a="http://schemas.openxmlformats.org/drawingml/2006/main" noGrp="1"/>
          </p:cNvSpPr>
          <p:nvPr/>
        </p:nvSpPr>
        <p:spPr>
          <a:xfrm xmlns:a="http://schemas.openxmlformats.org/drawingml/2006/main">
            <a:off x="5953125" y="2905125"/>
            <a:ext cx="47625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1313A8ED-68AB-4CE8-8410-478E5DF7FA25}"/>
              </a:ext>
            </a:extLst>
          </p:cNvPr>
          <p:cNvSpPr>
            <a:spLocks xmlns:a="http://schemas.openxmlformats.org/drawingml/2006/main" noGrp="1"/>
          </p:cNvSpPr>
          <p:nvPr/>
        </p:nvSpPr>
        <p:spPr>
          <a:xfrm xmlns:a="http://schemas.openxmlformats.org/drawingml/2006/main">
            <a:off x="5953125" y="2905125"/>
            <a:ext cx="66675" cy="2190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C72A6097-B77D-4FA1-90A3-C62C0182B612}"/>
              </a:ext>
            </a:extLst>
          </p:cNvPr>
          <p:cNvSpPr>
            <a:spLocks xmlns:a="http://schemas.openxmlformats.org/drawingml/2006/main" noGrp="1"/>
          </p:cNvSpPr>
          <p:nvPr/>
        </p:nvSpPr>
        <p:spPr>
          <a:xfrm xmlns:a="http://schemas.openxmlformats.org/drawingml/2006/main">
            <a:off x="6181725" y="3095625"/>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Guardrail</a:t>
            </a:r>
          </a:p>
        </p:txBody>
      </p:sp>
      <p:sp>
        <p:nvSpPr>
          <p:cNvPr id="12" name="">
            <a:extLst xmlns:a="http://schemas.openxmlformats.org/drawingml/2006/main">
              <a:ext uri="{FF2B5EF4-FFF2-40B4-BE49-F238E27FC236}">
                <a16:creationId xmlns:a16="http://schemas.microsoft.com/office/drawing/2014/main" id="{567C4137-2FAA-42AC-BA3F-7BB1A9867C95}"/>
              </a:ext>
            </a:extLst>
          </p:cNvPr>
          <p:cNvSpPr>
            <a:spLocks xmlns:a="http://schemas.openxmlformats.org/drawingml/2006/main" noGrp="1"/>
          </p:cNvSpPr>
          <p:nvPr/>
        </p:nvSpPr>
        <p:spPr>
          <a:xfrm xmlns:a="http://schemas.openxmlformats.org/drawingml/2006/main">
            <a:off x="6181725" y="3552825"/>
            <a:ext cx="43053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Without data tiers, staff may unintentionally place confidential, protected, or sovereign data into unsuitable AI environments.</a:t>
            </a:r>
          </a:p>
        </p:txBody>
      </p:sp>
      <p:sp>
        <p:nvSpPr>
          <p:cNvPr id="13" name="">
            <a:extLst xmlns:a="http://schemas.openxmlformats.org/drawingml/2006/main">
              <a:ext uri="{FF2B5EF4-FFF2-40B4-BE49-F238E27FC236}">
                <a16:creationId xmlns:a16="http://schemas.microsoft.com/office/drawing/2014/main" id="{DF571029-10F2-4856-A1C3-5539BF8AA18B}"/>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Tiered Data Use for AI</a:t>
            </a:r>
          </a:p>
        </p:txBody>
      </p:sp>
      <p:sp>
        <p:nvSpPr>
          <p:cNvPr id="14" name="">
            <a:extLst xmlns:a="http://schemas.openxmlformats.org/drawingml/2006/main">
              <a:ext uri="{FF2B5EF4-FFF2-40B4-BE49-F238E27FC236}">
                <a16:creationId xmlns:a16="http://schemas.microsoft.com/office/drawing/2014/main" id="{8B541227-58B4-4E36-A05D-A4F9D787EE32}"/>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02</a:t>
            </a:r>
          </a:p>
        </p:txBody>
      </p:sp>
    </p:spTree>
    <p:extLst>
      <p:ext uri="{BB962C8B-B14F-4D97-AF65-F5344CB8AC3E}">
        <p14:creationId xmlns:p14="http://schemas.microsoft.com/office/powerpoint/2010/main" val="1792704146"/>
      </p:ext>
    </p:extLst>
  </p:cSld>
</p:sld>
</file>

<file path=ppt/slides/slide3.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435AC84-8274-4F45-BB10-EA67CAF88E25}"/>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E4579C8F-2671-441E-B523-3190A3841D1E}"/>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Learning objectives</a:t>
            </a:r>
          </a:p>
        </p:txBody>
      </p:sp>
      <p:sp>
        <p:nvSpPr>
          <p:cNvPr id="3" name="">
            <a:extLst xmlns:a="http://schemas.openxmlformats.org/drawingml/2006/main">
              <a:ext uri="{FF2B5EF4-FFF2-40B4-BE49-F238E27FC236}">
                <a16:creationId xmlns:a16="http://schemas.microsoft.com/office/drawing/2014/main" id="{8110A651-9996-4CC6-9FEC-08B14DD5E0E8}"/>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EC9F203E-BAE1-4608-BABA-15FAFD6FD5EC}"/>
              </a:ext>
            </a:extLst>
          </p:cNvPr>
          <p:cNvSpPr>
            <a:spLocks xmlns:a="http://schemas.openxmlformats.org/drawingml/2006/main" noGrp="1"/>
          </p:cNvSpPr>
          <p:nvPr/>
        </p:nvSpPr>
        <p:spPr>
          <a:xfrm xmlns:a="http://schemas.openxmlformats.org/drawingml/2006/main">
            <a:off x="685800" y="16573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2324A"/>
                </a:solidFill>
              </a:defRPr>
            </a:pPr>
            <a:r>
              <a:rPr sz="1875" b="1">
                <a:solidFill>
                  <a:srgbClr val="12324A"/>
                </a:solidFill>
              </a:rPr>
              <a:t>By the end of this lesson, staff should be able to:</a:t>
            </a:r>
          </a:p>
        </p:txBody>
      </p:sp>
      <p:sp>
        <p:nvSpPr>
          <p:cNvPr id="5" name="">
            <a:extLst xmlns:a="http://schemas.openxmlformats.org/drawingml/2006/main">
              <a:ext uri="{FF2B5EF4-FFF2-40B4-BE49-F238E27FC236}">
                <a16:creationId xmlns:a16="http://schemas.microsoft.com/office/drawing/2014/main" id="{B72F5D0A-063A-49E7-B8AC-C52103AB9FD2}"/>
              </a:ext>
            </a:extLst>
          </p:cNvPr>
          <p:cNvSpPr>
            <a:spLocks xmlns:a="http://schemas.openxmlformats.org/drawingml/2006/main" noGrp="1"/>
          </p:cNvSpPr>
          <p:nvPr/>
        </p:nvSpPr>
        <p:spPr>
          <a:xfrm xmlns:a="http://schemas.openxmlformats.org/drawingml/2006/main">
            <a:off x="1047750" y="2286000"/>
            <a:ext cx="942975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24394A"/>
                </a:solidFill>
              </a:defRPr>
            </a:pPr>
            <a:r>
              <a:rPr sz="1725" b="0">
                <a:solidFill>
                  <a:srgbClr val="24394A"/>
                </a:solidFill>
              </a:rPr>
              <a:t>• Explain Tiered Data Use for AI in plain language.</a:t>
            </a:r>
          </a:p>
          <a:p xmlns:a="http://schemas.openxmlformats.org/drawingml/2006/main">
            <a:pPr algn="l">
              <a:defRPr sz="1725" b="0">
                <a:solidFill>
                  <a:srgbClr val="24394A"/>
                </a:solidFill>
              </a:defRPr>
            </a:pPr>
            <a:r>
              <a:rPr sz="1725" b="0">
                <a:solidFill>
                  <a:srgbClr val="24394A"/>
                </a:solidFill>
              </a:rPr>
              <a:t>• Identify appropriate public health uses and limits.</a:t>
            </a:r>
          </a:p>
          <a:p xmlns:a="http://schemas.openxmlformats.org/drawingml/2006/main">
            <a:pPr algn="l">
              <a:defRPr sz="1725" b="0">
                <a:solidFill>
                  <a:srgbClr val="24394A"/>
                </a:solidFill>
              </a:defRPr>
            </a:pPr>
            <a:r>
              <a:rPr sz="1725" b="0">
                <a:solidFill>
                  <a:srgbClr val="24394A"/>
                </a:solidFill>
              </a:rPr>
              <a:t>• Describe human review, governance, equity, privacy, and monitoring expectations.</a:t>
            </a:r>
          </a:p>
          <a:p xmlns:a="http://schemas.openxmlformats.org/drawingml/2006/main">
            <a:pPr algn="l">
              <a:defRPr sz="1725" b="0">
                <a:solidFill>
                  <a:srgbClr val="24394A"/>
                </a:solidFill>
              </a:defRPr>
            </a:pPr>
            <a:r>
              <a:rPr sz="1725" b="0">
                <a:solidFill>
                  <a:srgbClr val="24394A"/>
                </a:solidFill>
              </a:rPr>
              <a:t>• Connect the topic to the related plays and tools.</a:t>
            </a:r>
          </a:p>
        </p:txBody>
      </p:sp>
      <p:sp>
        <p:nvSpPr>
          <p:cNvPr id="6" name="">
            <a:extLst xmlns:a="http://schemas.openxmlformats.org/drawingml/2006/main">
              <a:ext uri="{FF2B5EF4-FFF2-40B4-BE49-F238E27FC236}">
                <a16:creationId xmlns:a16="http://schemas.microsoft.com/office/drawing/2014/main" id="{E1B7AFBF-94AE-4E9A-8CCB-C59105FB4626}"/>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Tiered Data Use for AI</a:t>
            </a:r>
          </a:p>
        </p:txBody>
      </p:sp>
      <p:sp>
        <p:nvSpPr>
          <p:cNvPr id="7" name="">
            <a:extLst xmlns:a="http://schemas.openxmlformats.org/drawingml/2006/main">
              <a:ext uri="{FF2B5EF4-FFF2-40B4-BE49-F238E27FC236}">
                <a16:creationId xmlns:a16="http://schemas.microsoft.com/office/drawing/2014/main" id="{3C30C45B-AC50-4ACB-8EB3-7DAC96ADB848}"/>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03</a:t>
            </a:r>
          </a:p>
        </p:txBody>
      </p:sp>
    </p:spTree>
    <p:extLst>
      <p:ext uri="{BB962C8B-B14F-4D97-AF65-F5344CB8AC3E}">
        <p14:creationId xmlns:p14="http://schemas.microsoft.com/office/powerpoint/2010/main" val="20189737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473737A-F0A7-4B46-A81A-04C9444A5E05}"/>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1CC6ACD0-5397-4082-AD1E-640A19730372}"/>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Module overview</a:t>
            </a:r>
          </a:p>
        </p:txBody>
      </p:sp>
      <p:sp>
        <p:nvSpPr>
          <p:cNvPr id="3" name="">
            <a:extLst xmlns:a="http://schemas.openxmlformats.org/drawingml/2006/main">
              <a:ext uri="{FF2B5EF4-FFF2-40B4-BE49-F238E27FC236}">
                <a16:creationId xmlns:a16="http://schemas.microsoft.com/office/drawing/2014/main" id="{70A0A27F-06BE-45A6-BB46-BB2A868C46C3}"/>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2733D61D-C6DF-48F4-83FF-0B919E09AE48}"/>
              </a:ext>
            </a:extLst>
          </p:cNvPr>
          <p:cNvSpPr>
            <a:spLocks xmlns:a="http://schemas.openxmlformats.org/drawingml/2006/main" noGrp="1"/>
          </p:cNvSpPr>
          <p:nvPr/>
        </p:nvSpPr>
        <p:spPr>
          <a:xfrm xmlns:a="http://schemas.openxmlformats.org/drawingml/2006/main">
            <a:off x="685800" y="1695450"/>
            <a:ext cx="1019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24394A"/>
                </a:solidFill>
              </a:defRPr>
            </a:pPr>
            <a:r>
              <a:rPr sz="1800" b="0">
                <a:solidFill>
                  <a:srgbClr val="24394A"/>
                </a:solidFill>
              </a:rPr>
              <a:t>Tiered data use gives staff practical rules for which AI environments can be used with which kinds of information. Public, internal, confidential, protected, restricted, and sovereign data may require different tools, approvals, vendors, contracts, security controls, and documentation. Without tiers, staff may unintentionally place sensitive data in inappropriate AI systems.</a:t>
            </a:r>
          </a:p>
        </p:txBody>
      </p:sp>
      <p:sp>
        <p:nvSpPr>
          <p:cNvPr id="5" name="">
            <a:extLst xmlns:a="http://schemas.openxmlformats.org/drawingml/2006/main">
              <a:ext uri="{FF2B5EF4-FFF2-40B4-BE49-F238E27FC236}">
                <a16:creationId xmlns:a16="http://schemas.microsoft.com/office/drawing/2014/main" id="{50C079A0-E9A3-4CB6-89AD-26F7AB29C227}"/>
              </a:ext>
            </a:extLst>
          </p:cNvPr>
          <p:cNvSpPr>
            <a:spLocks xmlns:a="http://schemas.openxmlformats.org/drawingml/2006/main" noGrp="1"/>
          </p:cNvSpPr>
          <p:nvPr/>
        </p:nvSpPr>
        <p:spPr>
          <a:xfrm xmlns:a="http://schemas.openxmlformats.org/drawingml/2006/main">
            <a:off x="685800" y="3524250"/>
            <a:ext cx="9953625" cy="1381125"/>
          </a:xfrm>
          <a:prstGeom xmlns:a="http://schemas.openxmlformats.org/drawingml/2006/main" prst="roundRect">
            <a:avLst>
              <a:gd name="adj" fmla="val 827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FC076A9-C64E-4BE0-9044-2D12033DF32C}"/>
              </a:ext>
            </a:extLst>
          </p:cNvPr>
          <p:cNvSpPr>
            <a:spLocks xmlns:a="http://schemas.openxmlformats.org/drawingml/2006/main" noGrp="1"/>
          </p:cNvSpPr>
          <p:nvPr/>
        </p:nvSpPr>
        <p:spPr>
          <a:xfrm xmlns:a="http://schemas.openxmlformats.org/drawingml/2006/main">
            <a:off x="685800" y="3524250"/>
            <a:ext cx="66675" cy="138112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A55FCC50-4BFF-4C8B-980D-99D4D844FC01}"/>
              </a:ext>
            </a:extLst>
          </p:cNvPr>
          <p:cNvSpPr>
            <a:spLocks xmlns:a="http://schemas.openxmlformats.org/drawingml/2006/main" noGrp="1"/>
          </p:cNvSpPr>
          <p:nvPr/>
        </p:nvSpPr>
        <p:spPr>
          <a:xfrm xmlns:a="http://schemas.openxmlformats.org/drawingml/2006/main">
            <a:off x="914400" y="3714750"/>
            <a:ext cx="94964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Working definition</a:t>
            </a:r>
          </a:p>
        </p:txBody>
      </p:sp>
      <p:sp>
        <p:nvSpPr>
          <p:cNvPr id="8" name="">
            <a:extLst xmlns:a="http://schemas.openxmlformats.org/drawingml/2006/main">
              <a:ext uri="{FF2B5EF4-FFF2-40B4-BE49-F238E27FC236}">
                <a16:creationId xmlns:a16="http://schemas.microsoft.com/office/drawing/2014/main" id="{221B8C5F-DA7F-4D33-8223-B519D7339B77}"/>
              </a:ext>
            </a:extLst>
          </p:cNvPr>
          <p:cNvSpPr>
            <a:spLocks xmlns:a="http://schemas.openxmlformats.org/drawingml/2006/main" noGrp="1"/>
          </p:cNvSpPr>
          <p:nvPr/>
        </p:nvSpPr>
        <p:spPr>
          <a:xfrm xmlns:a="http://schemas.openxmlformats.org/drawingml/2006/main">
            <a:off x="914400" y="4171950"/>
            <a:ext cx="9496425"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Tiered data use classifies information by sensitivity and defines which AI environments are appropriate for public, internal, confidential, and highly restricted data.</a:t>
            </a:r>
          </a:p>
        </p:txBody>
      </p:sp>
      <p:sp>
        <p:nvSpPr>
          <p:cNvPr id="9" name="">
            <a:extLst xmlns:a="http://schemas.openxmlformats.org/drawingml/2006/main">
              <a:ext uri="{FF2B5EF4-FFF2-40B4-BE49-F238E27FC236}">
                <a16:creationId xmlns:a16="http://schemas.microsoft.com/office/drawing/2014/main" id="{6884A2B1-7882-4C2F-8E7D-3E262BFEB36A}"/>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Tiered Data Use for AI</a:t>
            </a:r>
          </a:p>
        </p:txBody>
      </p:sp>
      <p:sp>
        <p:nvSpPr>
          <p:cNvPr id="10" name="">
            <a:extLst xmlns:a="http://schemas.openxmlformats.org/drawingml/2006/main">
              <a:ext uri="{FF2B5EF4-FFF2-40B4-BE49-F238E27FC236}">
                <a16:creationId xmlns:a16="http://schemas.microsoft.com/office/drawing/2014/main" id="{49729A14-4CBB-4229-B9D4-4BFDD2DBD187}"/>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04</a:t>
            </a:r>
          </a:p>
        </p:txBody>
      </p:sp>
    </p:spTree>
    <p:extLst>
      <p:ext uri="{BB962C8B-B14F-4D97-AF65-F5344CB8AC3E}">
        <p14:creationId xmlns:p14="http://schemas.microsoft.com/office/powerpoint/2010/main" val="2012781769"/>
      </p:ext>
    </p:extLst>
  </p:cSld>
</p:sld>
</file>

<file path=ppt/slides/slide5.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907464D-DB2D-48E4-A5BA-066FDBE45EF4}"/>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A76BEA8D-632C-4A4E-94D8-6F4994B71BE6}"/>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What this means in practice</a:t>
            </a:r>
          </a:p>
        </p:txBody>
      </p:sp>
      <p:sp>
        <p:nvSpPr>
          <p:cNvPr id="3" name="">
            <a:extLst xmlns:a="http://schemas.openxmlformats.org/drawingml/2006/main">
              <a:ext uri="{FF2B5EF4-FFF2-40B4-BE49-F238E27FC236}">
                <a16:creationId xmlns:a16="http://schemas.microsoft.com/office/drawing/2014/main" id="{C43AB5F3-28A7-4072-8C07-873D5F6E1D3D}"/>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1D371EA0-B221-4C12-B48E-F7EC80F58658}"/>
              </a:ext>
            </a:extLst>
          </p:cNvPr>
          <p:cNvSpPr>
            <a:spLocks xmlns:a="http://schemas.openxmlformats.org/drawingml/2006/main" noGrp="1"/>
          </p:cNvSpPr>
          <p:nvPr/>
        </p:nvSpPr>
        <p:spPr>
          <a:xfrm xmlns:a="http://schemas.openxmlformats.org/drawingml/2006/main">
            <a:off x="68580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42FE9DDC-6EDA-4267-B723-1E014B2D2778}"/>
              </a:ext>
            </a:extLst>
          </p:cNvPr>
          <p:cNvSpPr>
            <a:spLocks xmlns:a="http://schemas.openxmlformats.org/drawingml/2006/main" noGrp="1"/>
          </p:cNvSpPr>
          <p:nvPr/>
        </p:nvSpPr>
        <p:spPr>
          <a:xfrm xmlns:a="http://schemas.openxmlformats.org/drawingml/2006/main">
            <a:off x="68580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FFF6AD83-81AE-40E5-9462-578A5B97F174}"/>
              </a:ext>
            </a:extLst>
          </p:cNvPr>
          <p:cNvSpPr>
            <a:spLocks xmlns:a="http://schemas.openxmlformats.org/drawingml/2006/main" noGrp="1"/>
          </p:cNvSpPr>
          <p:nvPr/>
        </p:nvSpPr>
        <p:spPr>
          <a:xfrm xmlns:a="http://schemas.openxmlformats.org/drawingml/2006/main">
            <a:off x="91440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Data Tiers</a:t>
            </a:r>
          </a:p>
        </p:txBody>
      </p:sp>
      <p:sp>
        <p:nvSpPr>
          <p:cNvPr id="7" name="">
            <a:extLst xmlns:a="http://schemas.openxmlformats.org/drawingml/2006/main">
              <a:ext uri="{FF2B5EF4-FFF2-40B4-BE49-F238E27FC236}">
                <a16:creationId xmlns:a16="http://schemas.microsoft.com/office/drawing/2014/main" id="{B955A1BD-B7C1-4F43-979B-96CA802647A7}"/>
              </a:ext>
            </a:extLst>
          </p:cNvPr>
          <p:cNvSpPr>
            <a:spLocks xmlns:a="http://schemas.openxmlformats.org/drawingml/2006/main" noGrp="1"/>
          </p:cNvSpPr>
          <p:nvPr/>
        </p:nvSpPr>
        <p:spPr>
          <a:xfrm xmlns:a="http://schemas.openxmlformats.org/drawingml/2006/main">
            <a:off x="91440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Public information that can be used in approved public or enterprise tools. Internal information that should stay within approved organizational environments. Confidential or sensitive operational data that require restricted access and.</a:t>
            </a:r>
          </a:p>
        </p:txBody>
      </p:sp>
      <p:sp>
        <p:nvSpPr>
          <p:cNvPr id="8" name="">
            <a:extLst xmlns:a="http://schemas.openxmlformats.org/drawingml/2006/main">
              <a:ext uri="{FF2B5EF4-FFF2-40B4-BE49-F238E27FC236}">
                <a16:creationId xmlns:a16="http://schemas.microsoft.com/office/drawing/2014/main" id="{49BE274D-8834-4B93-893C-214980D8AE19}"/>
              </a:ext>
            </a:extLst>
          </p:cNvPr>
          <p:cNvSpPr>
            <a:spLocks xmlns:a="http://schemas.openxmlformats.org/drawingml/2006/main" noGrp="1"/>
          </p:cNvSpPr>
          <p:nvPr/>
        </p:nvSpPr>
        <p:spPr>
          <a:xfrm xmlns:a="http://schemas.openxmlformats.org/drawingml/2006/main">
            <a:off x="4257675"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9DB38BAC-54C1-4506-9A35-A56BCC0E1205}"/>
              </a:ext>
            </a:extLst>
          </p:cNvPr>
          <p:cNvSpPr>
            <a:spLocks xmlns:a="http://schemas.openxmlformats.org/drawingml/2006/main" noGrp="1"/>
          </p:cNvSpPr>
          <p:nvPr/>
        </p:nvSpPr>
        <p:spPr>
          <a:xfrm xmlns:a="http://schemas.openxmlformats.org/drawingml/2006/main">
            <a:off x="4257675" y="1809750"/>
            <a:ext cx="66675" cy="31432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4E291B84-DD37-408C-8A49-98A100BC1A78}"/>
              </a:ext>
            </a:extLst>
          </p:cNvPr>
          <p:cNvSpPr>
            <a:spLocks xmlns:a="http://schemas.openxmlformats.org/drawingml/2006/main" noGrp="1"/>
          </p:cNvSpPr>
          <p:nvPr/>
        </p:nvSpPr>
        <p:spPr>
          <a:xfrm xmlns:a="http://schemas.openxmlformats.org/drawingml/2006/main">
            <a:off x="4486275"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Operational Rules</a:t>
            </a:r>
          </a:p>
        </p:txBody>
      </p:sp>
      <p:sp>
        <p:nvSpPr>
          <p:cNvPr id="11" name="">
            <a:extLst xmlns:a="http://schemas.openxmlformats.org/drawingml/2006/main">
              <a:ext uri="{FF2B5EF4-FFF2-40B4-BE49-F238E27FC236}">
                <a16:creationId xmlns:a16="http://schemas.microsoft.com/office/drawing/2014/main" id="{5721A3C5-3CFA-4F09-87C6-37A45BD1A22A}"/>
              </a:ext>
            </a:extLst>
          </p:cNvPr>
          <p:cNvSpPr>
            <a:spLocks xmlns:a="http://schemas.openxmlformats.org/drawingml/2006/main" noGrp="1"/>
          </p:cNvSpPr>
          <p:nvPr/>
        </p:nvSpPr>
        <p:spPr>
          <a:xfrm xmlns:a="http://schemas.openxmlformats.org/drawingml/2006/main">
            <a:off x="4486275"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Define which AI tools are approved for each data tier. Require data use agreements, business associate agreements, or vendor addenda when needed. Prohibit restricted information in public consumer AI tools. Document data sources, retention,.</a:t>
            </a:r>
          </a:p>
        </p:txBody>
      </p:sp>
      <p:sp>
        <p:nvSpPr>
          <p:cNvPr id="12" name="">
            <a:extLst xmlns:a="http://schemas.openxmlformats.org/drawingml/2006/main">
              <a:ext uri="{FF2B5EF4-FFF2-40B4-BE49-F238E27FC236}">
                <a16:creationId xmlns:a16="http://schemas.microsoft.com/office/drawing/2014/main" id="{6732EC34-9432-4D80-B218-1475FAA23F03}"/>
              </a:ext>
            </a:extLst>
          </p:cNvPr>
          <p:cNvSpPr>
            <a:spLocks xmlns:a="http://schemas.openxmlformats.org/drawingml/2006/main" noGrp="1"/>
          </p:cNvSpPr>
          <p:nvPr/>
        </p:nvSpPr>
        <p:spPr>
          <a:xfrm xmlns:a="http://schemas.openxmlformats.org/drawingml/2006/main">
            <a:off x="7829550" y="1809750"/>
            <a:ext cx="3143250" cy="314325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9F538798-1E8B-40F0-A160-8B9723F2C899}"/>
              </a:ext>
            </a:extLst>
          </p:cNvPr>
          <p:cNvSpPr>
            <a:spLocks xmlns:a="http://schemas.openxmlformats.org/drawingml/2006/main" noGrp="1"/>
          </p:cNvSpPr>
          <p:nvPr/>
        </p:nvSpPr>
        <p:spPr>
          <a:xfrm xmlns:a="http://schemas.openxmlformats.org/drawingml/2006/main">
            <a:off x="7829550" y="1809750"/>
            <a:ext cx="66675" cy="31432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4" name="">
            <a:extLst xmlns:a="http://schemas.openxmlformats.org/drawingml/2006/main">
              <a:ext uri="{FF2B5EF4-FFF2-40B4-BE49-F238E27FC236}">
                <a16:creationId xmlns:a16="http://schemas.microsoft.com/office/drawing/2014/main" id="{421AF41C-8516-458F-A958-4AE3D65746C4}"/>
              </a:ext>
            </a:extLst>
          </p:cNvPr>
          <p:cNvSpPr>
            <a:spLocks xmlns:a="http://schemas.openxmlformats.org/drawingml/2006/main" noGrp="1"/>
          </p:cNvSpPr>
          <p:nvPr/>
        </p:nvSpPr>
        <p:spPr>
          <a:xfrm xmlns:a="http://schemas.openxmlformats.org/drawingml/2006/main">
            <a:off x="8058150" y="2000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Implementation Steps</a:t>
            </a:r>
          </a:p>
        </p:txBody>
      </p:sp>
      <p:sp>
        <p:nvSpPr>
          <p:cNvPr id="15" name="">
            <a:extLst xmlns:a="http://schemas.openxmlformats.org/drawingml/2006/main">
              <a:ext uri="{FF2B5EF4-FFF2-40B4-BE49-F238E27FC236}">
                <a16:creationId xmlns:a16="http://schemas.microsoft.com/office/drawing/2014/main" id="{6453AC93-2871-4ACF-915C-1B0E1DD2A5CF}"/>
              </a:ext>
            </a:extLst>
          </p:cNvPr>
          <p:cNvSpPr>
            <a:spLocks xmlns:a="http://schemas.openxmlformats.org/drawingml/2006/main" noGrp="1"/>
          </p:cNvSpPr>
          <p:nvPr/>
        </p:nvSpPr>
        <p:spPr>
          <a:xfrm xmlns:a="http://schemas.openxmlformats.org/drawingml/2006/main">
            <a:off x="8058150" y="2457450"/>
            <a:ext cx="268605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Train staff using real examples from their workflows. Include tiered data review in intake, procurement, governance, and incident response. Review vendor claims about data retention, training, logging, and deletion.</a:t>
            </a:r>
          </a:p>
        </p:txBody>
      </p:sp>
      <p:sp>
        <p:nvSpPr>
          <p:cNvPr id="16" name="">
            <a:extLst xmlns:a="http://schemas.openxmlformats.org/drawingml/2006/main">
              <a:ext uri="{FF2B5EF4-FFF2-40B4-BE49-F238E27FC236}">
                <a16:creationId xmlns:a16="http://schemas.microsoft.com/office/drawing/2014/main" id="{F61193FF-3DF6-4F81-8EB0-8B20A5E10715}"/>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Tiered Data Use for AI</a:t>
            </a:r>
          </a:p>
        </p:txBody>
      </p:sp>
      <p:sp>
        <p:nvSpPr>
          <p:cNvPr id="17" name="">
            <a:extLst xmlns:a="http://schemas.openxmlformats.org/drawingml/2006/main">
              <a:ext uri="{FF2B5EF4-FFF2-40B4-BE49-F238E27FC236}">
                <a16:creationId xmlns:a16="http://schemas.microsoft.com/office/drawing/2014/main" id="{AD99AFD0-2E5A-4FE0-A0A8-FB91855E345C}"/>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05</a:t>
            </a:r>
          </a:p>
        </p:txBody>
      </p:sp>
    </p:spTree>
    <p:extLst>
      <p:ext uri="{BB962C8B-B14F-4D97-AF65-F5344CB8AC3E}">
        <p14:creationId xmlns:p14="http://schemas.microsoft.com/office/powerpoint/2010/main" val="52967632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557C11F-9B43-42D5-8537-90E9EF0979AC}"/>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0541F48E-3BBD-4B3B-BA74-9388F735C2C5}"/>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Public health application</a:t>
            </a:r>
          </a:p>
        </p:txBody>
      </p:sp>
      <p:sp>
        <p:nvSpPr>
          <p:cNvPr id="3" name="">
            <a:extLst xmlns:a="http://schemas.openxmlformats.org/drawingml/2006/main">
              <a:ext uri="{FF2B5EF4-FFF2-40B4-BE49-F238E27FC236}">
                <a16:creationId xmlns:a16="http://schemas.microsoft.com/office/drawing/2014/main" id="{A60CE3F1-A1B2-472A-973B-103B234F11B0}"/>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F2A7FA14-8FE1-4EDB-AE2C-3B46747849B5}"/>
              </a:ext>
            </a:extLst>
          </p:cNvPr>
          <p:cNvSpPr>
            <a:spLocks xmlns:a="http://schemas.openxmlformats.org/drawingml/2006/main" noGrp="1"/>
          </p:cNvSpPr>
          <p:nvPr/>
        </p:nvSpPr>
        <p:spPr>
          <a:xfrm xmlns:a="http://schemas.openxmlformats.org/drawingml/2006/main">
            <a:off x="685800" y="17145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12324A"/>
                </a:solidFill>
              </a:defRPr>
            </a:pPr>
            <a:r>
              <a:rPr sz="2025" b="1">
                <a:solidFill>
                  <a:srgbClr val="12324A"/>
                </a:solidFill>
              </a:rPr>
              <a:t>Use the topic to examine real workflows, not abstract technology.</a:t>
            </a:r>
          </a:p>
        </p:txBody>
      </p:sp>
      <p:sp>
        <p:nvSpPr>
          <p:cNvPr id="5" name="">
            <a:extLst xmlns:a="http://schemas.openxmlformats.org/drawingml/2006/main">
              <a:ext uri="{FF2B5EF4-FFF2-40B4-BE49-F238E27FC236}">
                <a16:creationId xmlns:a16="http://schemas.microsoft.com/office/drawing/2014/main" id="{8D77CBE2-FC76-4664-B220-9771A435F6CB}"/>
              </a:ext>
            </a:extLst>
          </p:cNvPr>
          <p:cNvSpPr>
            <a:spLocks xmlns:a="http://schemas.openxmlformats.org/drawingml/2006/main" noGrp="1"/>
          </p:cNvSpPr>
          <p:nvPr/>
        </p:nvSpPr>
        <p:spPr>
          <a:xfrm xmlns:a="http://schemas.openxmlformats.org/drawingml/2006/main">
            <a:off x="68580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539F1DD0-95D3-4FFD-8F23-17D36B93782F}"/>
              </a:ext>
            </a:extLst>
          </p:cNvPr>
          <p:cNvSpPr>
            <a:spLocks xmlns:a="http://schemas.openxmlformats.org/drawingml/2006/main" noGrp="1"/>
          </p:cNvSpPr>
          <p:nvPr/>
        </p:nvSpPr>
        <p:spPr>
          <a:xfrm xmlns:a="http://schemas.openxmlformats.org/drawingml/2006/main">
            <a:off x="68580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7" name="">
            <a:extLst xmlns:a="http://schemas.openxmlformats.org/drawingml/2006/main">
              <a:ext uri="{FF2B5EF4-FFF2-40B4-BE49-F238E27FC236}">
                <a16:creationId xmlns:a16="http://schemas.microsoft.com/office/drawing/2014/main" id="{004A1BD7-8C97-4BBB-833F-33338EE64ED0}"/>
              </a:ext>
            </a:extLst>
          </p:cNvPr>
          <p:cNvSpPr>
            <a:spLocks xmlns:a="http://schemas.openxmlformats.org/drawingml/2006/main" noGrp="1"/>
          </p:cNvSpPr>
          <p:nvPr/>
        </p:nvSpPr>
        <p:spPr>
          <a:xfrm xmlns:a="http://schemas.openxmlformats.org/drawingml/2006/main">
            <a:off x="91440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Restrict PHI from public AI tools</a:t>
            </a:r>
          </a:p>
        </p:txBody>
      </p:sp>
      <p:sp>
        <p:nvSpPr>
          <p:cNvPr id="8" name="">
            <a:extLst xmlns:a="http://schemas.openxmlformats.org/drawingml/2006/main">
              <a:ext uri="{FF2B5EF4-FFF2-40B4-BE49-F238E27FC236}">
                <a16:creationId xmlns:a16="http://schemas.microsoft.com/office/drawing/2014/main" id="{93D4A9D9-DD8D-4E7D-96CD-274AB66E74B1}"/>
              </a:ext>
            </a:extLst>
          </p:cNvPr>
          <p:cNvSpPr>
            <a:spLocks xmlns:a="http://schemas.openxmlformats.org/drawingml/2006/main" noGrp="1"/>
          </p:cNvSpPr>
          <p:nvPr/>
        </p:nvSpPr>
        <p:spPr>
          <a:xfrm xmlns:a="http://schemas.openxmlformats.org/drawingml/2006/main">
            <a:off x="91440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9" name="">
            <a:extLst xmlns:a="http://schemas.openxmlformats.org/drawingml/2006/main">
              <a:ext uri="{FF2B5EF4-FFF2-40B4-BE49-F238E27FC236}">
                <a16:creationId xmlns:a16="http://schemas.microsoft.com/office/drawing/2014/main" id="{EA8EAF8C-B5F5-4350-AF0E-5C98BF991C54}"/>
              </a:ext>
            </a:extLst>
          </p:cNvPr>
          <p:cNvSpPr>
            <a:spLocks xmlns:a="http://schemas.openxmlformats.org/drawingml/2006/main" noGrp="1"/>
          </p:cNvSpPr>
          <p:nvPr/>
        </p:nvSpPr>
        <p:spPr>
          <a:xfrm xmlns:a="http://schemas.openxmlformats.org/drawingml/2006/main">
            <a:off x="4257675"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870131BB-6C1D-4981-9524-5CF148F4161C}"/>
              </a:ext>
            </a:extLst>
          </p:cNvPr>
          <p:cNvSpPr>
            <a:spLocks xmlns:a="http://schemas.openxmlformats.org/drawingml/2006/main" noGrp="1"/>
          </p:cNvSpPr>
          <p:nvPr/>
        </p:nvSpPr>
        <p:spPr>
          <a:xfrm xmlns:a="http://schemas.openxmlformats.org/drawingml/2006/main">
            <a:off x="4257675" y="2571750"/>
            <a:ext cx="66675" cy="22383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1" name="">
            <a:extLst xmlns:a="http://schemas.openxmlformats.org/drawingml/2006/main">
              <a:ext uri="{FF2B5EF4-FFF2-40B4-BE49-F238E27FC236}">
                <a16:creationId xmlns:a16="http://schemas.microsoft.com/office/drawing/2014/main" id="{62B8F23C-38F4-4D28-B616-74852EAB9996}"/>
              </a:ext>
            </a:extLst>
          </p:cNvPr>
          <p:cNvSpPr>
            <a:spLocks xmlns:a="http://schemas.openxmlformats.org/drawingml/2006/main" noGrp="1"/>
          </p:cNvSpPr>
          <p:nvPr/>
        </p:nvSpPr>
        <p:spPr>
          <a:xfrm xmlns:a="http://schemas.openxmlformats.org/drawingml/2006/main">
            <a:off x="4486275"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Approve enterprise AI for internal drafts</a:t>
            </a:r>
          </a:p>
        </p:txBody>
      </p:sp>
      <p:sp>
        <p:nvSpPr>
          <p:cNvPr id="12" name="">
            <a:extLst xmlns:a="http://schemas.openxmlformats.org/drawingml/2006/main">
              <a:ext uri="{FF2B5EF4-FFF2-40B4-BE49-F238E27FC236}">
                <a16:creationId xmlns:a16="http://schemas.microsoft.com/office/drawing/2014/main" id="{6F83BFD4-DF02-4BDC-900F-5D5B36F0BCA6}"/>
              </a:ext>
            </a:extLst>
          </p:cNvPr>
          <p:cNvSpPr>
            <a:spLocks xmlns:a="http://schemas.openxmlformats.org/drawingml/2006/main" noGrp="1"/>
          </p:cNvSpPr>
          <p:nvPr/>
        </p:nvSpPr>
        <p:spPr>
          <a:xfrm xmlns:a="http://schemas.openxmlformats.org/drawingml/2006/main">
            <a:off x="4486275"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3" name="">
            <a:extLst xmlns:a="http://schemas.openxmlformats.org/drawingml/2006/main">
              <a:ext uri="{FF2B5EF4-FFF2-40B4-BE49-F238E27FC236}">
                <a16:creationId xmlns:a16="http://schemas.microsoft.com/office/drawing/2014/main" id="{7146F9AD-8E86-4D6D-9086-1EDAFE2A6FBB}"/>
              </a:ext>
            </a:extLst>
          </p:cNvPr>
          <p:cNvSpPr>
            <a:spLocks xmlns:a="http://schemas.openxmlformats.org/drawingml/2006/main" noGrp="1"/>
          </p:cNvSpPr>
          <p:nvPr/>
        </p:nvSpPr>
        <p:spPr>
          <a:xfrm xmlns:a="http://schemas.openxmlformats.org/drawingml/2006/main">
            <a:off x="7829550" y="2571750"/>
            <a:ext cx="3143250" cy="2238375"/>
          </a:xfrm>
          <a:prstGeom xmlns:a="http://schemas.openxmlformats.org/drawingml/2006/main" prst="roundRect">
            <a:avLst>
              <a:gd name="adj" fmla="val 5106"/>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01AF29E9-495B-4E2B-ADF7-7BBDF1E85AD4}"/>
              </a:ext>
            </a:extLst>
          </p:cNvPr>
          <p:cNvSpPr>
            <a:spLocks xmlns:a="http://schemas.openxmlformats.org/drawingml/2006/main" noGrp="1"/>
          </p:cNvSpPr>
          <p:nvPr/>
        </p:nvSpPr>
        <p:spPr>
          <a:xfrm xmlns:a="http://schemas.openxmlformats.org/drawingml/2006/main">
            <a:off x="7829550" y="2571750"/>
            <a:ext cx="66675" cy="2238375"/>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5" name="">
            <a:extLst xmlns:a="http://schemas.openxmlformats.org/drawingml/2006/main">
              <a:ext uri="{FF2B5EF4-FFF2-40B4-BE49-F238E27FC236}">
                <a16:creationId xmlns:a16="http://schemas.microsoft.com/office/drawing/2014/main" id="{7351ADDE-8517-4EBB-8F1D-FF95ED4BE343}"/>
              </a:ext>
            </a:extLst>
          </p:cNvPr>
          <p:cNvSpPr>
            <a:spLocks xmlns:a="http://schemas.openxmlformats.org/drawingml/2006/main" noGrp="1"/>
          </p:cNvSpPr>
          <p:nvPr/>
        </p:nvSpPr>
        <p:spPr>
          <a:xfrm xmlns:a="http://schemas.openxmlformats.org/drawingml/2006/main">
            <a:off x="8058150" y="2762250"/>
            <a:ext cx="2686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Use in-house/RAG systems for restricted materials</a:t>
            </a:r>
          </a:p>
        </p:txBody>
      </p:sp>
      <p:sp>
        <p:nvSpPr>
          <p:cNvPr id="16" name="">
            <a:extLst xmlns:a="http://schemas.openxmlformats.org/drawingml/2006/main">
              <a:ext uri="{FF2B5EF4-FFF2-40B4-BE49-F238E27FC236}">
                <a16:creationId xmlns:a16="http://schemas.microsoft.com/office/drawing/2014/main" id="{8F804AB7-D6B2-479A-80DF-9F57BA6F076C}"/>
              </a:ext>
            </a:extLst>
          </p:cNvPr>
          <p:cNvSpPr>
            <a:spLocks xmlns:a="http://schemas.openxmlformats.org/drawingml/2006/main" noGrp="1"/>
          </p:cNvSpPr>
          <p:nvPr/>
        </p:nvSpPr>
        <p:spPr>
          <a:xfrm xmlns:a="http://schemas.openxmlformats.org/drawingml/2006/main">
            <a:off x="8058150" y="3219450"/>
            <a:ext cx="26860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Discuss how this could support a public health workflow, what data would be involved, who would review outputs, and what safeguards would be needed.</a:t>
            </a:r>
          </a:p>
        </p:txBody>
      </p:sp>
      <p:sp>
        <p:nvSpPr>
          <p:cNvPr id="17" name="">
            <a:extLst xmlns:a="http://schemas.openxmlformats.org/drawingml/2006/main">
              <a:ext uri="{FF2B5EF4-FFF2-40B4-BE49-F238E27FC236}">
                <a16:creationId xmlns:a16="http://schemas.microsoft.com/office/drawing/2014/main" id="{782DACD8-336C-40E0-8E8F-257E1CD92028}"/>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Tiered Data Use for AI</a:t>
            </a:r>
          </a:p>
        </p:txBody>
      </p:sp>
      <p:sp>
        <p:nvSpPr>
          <p:cNvPr id="18" name="">
            <a:extLst xmlns:a="http://schemas.openxmlformats.org/drawingml/2006/main">
              <a:ext uri="{FF2B5EF4-FFF2-40B4-BE49-F238E27FC236}">
                <a16:creationId xmlns:a16="http://schemas.microsoft.com/office/drawing/2014/main" id="{C9E42DE3-6138-492F-8C91-BF966F72FA72}"/>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06</a:t>
            </a:r>
          </a:p>
        </p:txBody>
      </p:sp>
    </p:spTree>
    <p:extLst>
      <p:ext uri="{BB962C8B-B14F-4D97-AF65-F5344CB8AC3E}">
        <p14:creationId xmlns:p14="http://schemas.microsoft.com/office/powerpoint/2010/main" val="285862386"/>
      </p:ext>
    </p:extLst>
  </p:cSld>
</p:sld>
</file>

<file path=ppt/slides/slide7.xml><?xml version="1.0" encoding="utf-8"?>
<p:sld xmlns:p="http://schemas.openxmlformats.org/presentationml/2006/main">
  <p:cSld>
    <p:bg>
      <p:bgPr>
        <a:solidFill xmlns:a="http://schemas.openxmlformats.org/drawingml/2006/main">
          <a:srgbClr val="F7FBF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20EEADB-54CB-4F2E-9DB7-3D5132FA6B69}"/>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78ABDC24-7877-4A91-81D1-226AA4EAC5D5}"/>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Facilitated discussion and exercise</a:t>
            </a:r>
          </a:p>
        </p:txBody>
      </p:sp>
      <p:sp>
        <p:nvSpPr>
          <p:cNvPr id="3" name="">
            <a:extLst xmlns:a="http://schemas.openxmlformats.org/drawingml/2006/main">
              <a:ext uri="{FF2B5EF4-FFF2-40B4-BE49-F238E27FC236}">
                <a16:creationId xmlns:a16="http://schemas.microsoft.com/office/drawing/2014/main" id="{7D69ADB6-58DE-4230-9291-8694367B0AF9}"/>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94EF9D4E-0197-4A5C-9877-C35041386D6D}"/>
              </a:ext>
            </a:extLst>
          </p:cNvPr>
          <p:cNvSpPr>
            <a:spLocks xmlns:a="http://schemas.openxmlformats.org/drawingml/2006/main" noGrp="1"/>
          </p:cNvSpPr>
          <p:nvPr/>
        </p:nvSpPr>
        <p:spPr>
          <a:xfrm xmlns:a="http://schemas.openxmlformats.org/drawingml/2006/main">
            <a:off x="685800"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D4A28945-70CA-4589-888D-984DEBD03D53}"/>
              </a:ext>
            </a:extLst>
          </p:cNvPr>
          <p:cNvSpPr>
            <a:spLocks xmlns:a="http://schemas.openxmlformats.org/drawingml/2006/main" noGrp="1"/>
          </p:cNvSpPr>
          <p:nvPr/>
        </p:nvSpPr>
        <p:spPr>
          <a:xfrm xmlns:a="http://schemas.openxmlformats.org/drawingml/2006/main">
            <a:off x="685800" y="1809750"/>
            <a:ext cx="66675" cy="295275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6" name="">
            <a:extLst xmlns:a="http://schemas.openxmlformats.org/drawingml/2006/main">
              <a:ext uri="{FF2B5EF4-FFF2-40B4-BE49-F238E27FC236}">
                <a16:creationId xmlns:a16="http://schemas.microsoft.com/office/drawing/2014/main" id="{DCA66D04-34C0-43C1-AED9-9AC1AE9F5010}"/>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Discussion questions</a:t>
            </a:r>
          </a:p>
        </p:txBody>
      </p:sp>
      <p:sp>
        <p:nvSpPr>
          <p:cNvPr id="7" name="">
            <a:extLst xmlns:a="http://schemas.openxmlformats.org/drawingml/2006/main">
              <a:ext uri="{FF2B5EF4-FFF2-40B4-BE49-F238E27FC236}">
                <a16:creationId xmlns:a16="http://schemas.microsoft.com/office/drawing/2014/main" id="{73E22106-81E0-442F-A991-3B4E7F825E6A}"/>
              </a:ext>
            </a:extLst>
          </p:cNvPr>
          <p:cNvSpPr>
            <a:spLocks xmlns:a="http://schemas.openxmlformats.org/drawingml/2006/main" noGrp="1"/>
          </p:cNvSpPr>
          <p:nvPr/>
        </p:nvSpPr>
        <p:spPr>
          <a:xfrm xmlns:a="http://schemas.openxmlformats.org/drawingml/2006/main">
            <a:off x="914400"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What data tiers does the department use? Which AI tools are approved for each tier? What vendor, contract, logging, retention, and training restrictions are required?</a:t>
            </a:r>
          </a:p>
        </p:txBody>
      </p:sp>
      <p:sp>
        <p:nvSpPr>
          <p:cNvPr id="8" name="">
            <a:extLst xmlns:a="http://schemas.openxmlformats.org/drawingml/2006/main">
              <a:ext uri="{FF2B5EF4-FFF2-40B4-BE49-F238E27FC236}">
                <a16:creationId xmlns:a16="http://schemas.microsoft.com/office/drawing/2014/main" id="{3F93ACE6-98AA-4288-9C0B-B089F8B6E242}"/>
              </a:ext>
            </a:extLst>
          </p:cNvPr>
          <p:cNvSpPr>
            <a:spLocks xmlns:a="http://schemas.openxmlformats.org/drawingml/2006/main" noGrp="1"/>
          </p:cNvSpPr>
          <p:nvPr/>
        </p:nvSpPr>
        <p:spPr>
          <a:xfrm xmlns:a="http://schemas.openxmlformats.org/drawingml/2006/main">
            <a:off x="5953125" y="1809750"/>
            <a:ext cx="47625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05A73DBB-DE5B-4DE9-89F2-0F71D5AD064D}"/>
              </a:ext>
            </a:extLst>
          </p:cNvPr>
          <p:cNvSpPr>
            <a:spLocks xmlns:a="http://schemas.openxmlformats.org/drawingml/2006/main" noGrp="1"/>
          </p:cNvSpPr>
          <p:nvPr/>
        </p:nvSpPr>
        <p:spPr>
          <a:xfrm xmlns:a="http://schemas.openxmlformats.org/drawingml/2006/main">
            <a:off x="5953125" y="1809750"/>
            <a:ext cx="66675" cy="295275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10" name="">
            <a:extLst xmlns:a="http://schemas.openxmlformats.org/drawingml/2006/main">
              <a:ext uri="{FF2B5EF4-FFF2-40B4-BE49-F238E27FC236}">
                <a16:creationId xmlns:a16="http://schemas.microsoft.com/office/drawing/2014/main" id="{85BC1C5D-998E-4E24-86C4-A65B323A9216}"/>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Training exercise</a:t>
            </a:r>
          </a:p>
        </p:txBody>
      </p:sp>
      <p:sp>
        <p:nvSpPr>
          <p:cNvPr id="11" name="">
            <a:extLst xmlns:a="http://schemas.openxmlformats.org/drawingml/2006/main">
              <a:ext uri="{FF2B5EF4-FFF2-40B4-BE49-F238E27FC236}">
                <a16:creationId xmlns:a16="http://schemas.microsoft.com/office/drawing/2014/main" id="{C3D49BB3-776D-4B79-B68B-182263F3157F}"/>
              </a:ext>
            </a:extLst>
          </p:cNvPr>
          <p:cNvSpPr>
            <a:spLocks xmlns:a="http://schemas.openxmlformats.org/drawingml/2006/main" noGrp="1"/>
          </p:cNvSpPr>
          <p:nvPr/>
        </p:nvSpPr>
        <p:spPr>
          <a:xfrm xmlns:a="http://schemas.openxmlformats.org/drawingml/2006/main">
            <a:off x="6181725" y="2457450"/>
            <a:ext cx="4305300" cy="215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Create a table that maps public, internal, confidential, protected, restricted, and sovereign data categories to approved AI environments and required review steps.</a:t>
            </a:r>
          </a:p>
        </p:txBody>
      </p:sp>
      <p:sp>
        <p:nvSpPr>
          <p:cNvPr id="12" name="">
            <a:extLst xmlns:a="http://schemas.openxmlformats.org/drawingml/2006/main">
              <a:ext uri="{FF2B5EF4-FFF2-40B4-BE49-F238E27FC236}">
                <a16:creationId xmlns:a16="http://schemas.microsoft.com/office/drawing/2014/main" id="{DE2A2268-C8D3-486A-8F73-231079251CD2}"/>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Tiered Data Use for AI</a:t>
            </a:r>
          </a:p>
        </p:txBody>
      </p:sp>
      <p:sp>
        <p:nvSpPr>
          <p:cNvPr id="13" name="">
            <a:extLst xmlns:a="http://schemas.openxmlformats.org/drawingml/2006/main">
              <a:ext uri="{FF2B5EF4-FFF2-40B4-BE49-F238E27FC236}">
                <a16:creationId xmlns:a16="http://schemas.microsoft.com/office/drawing/2014/main" id="{512D954F-BFEA-4C93-AE7C-B42D66967201}"/>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07</a:t>
            </a:r>
          </a:p>
        </p:txBody>
      </p:sp>
    </p:spTree>
    <p:extLst>
      <p:ext uri="{BB962C8B-B14F-4D97-AF65-F5344CB8AC3E}">
        <p14:creationId xmlns:p14="http://schemas.microsoft.com/office/powerpoint/2010/main" val="6705355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7604374-D00C-4CD4-940A-79B48CB18CBF}"/>
              </a:ext>
            </a:extLst>
          </p:cNvPr>
          <p:cNvSpPr>
            <a:spLocks xmlns:a="http://schemas.openxmlformats.org/drawingml/2006/main" noGrp="1"/>
          </p:cNvSpPr>
          <p:nvPr/>
        </p:nvSpPr>
        <p:spPr>
          <a:xfrm xmlns:a="http://schemas.openxmlformats.org/drawingml/2006/main">
            <a:off x="685800" y="323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287320"/>
                </a:solidFill>
              </a:defRPr>
            </a:pPr>
            <a:r>
              <a:rPr sz="975" b="1">
                <a:solidFill>
                  <a:srgbClr val="287320"/>
                </a:solidFill>
              </a:rPr>
              <a:t>AI PLAYBOOK AND TOOLKIT</a:t>
            </a:r>
          </a:p>
        </p:txBody>
      </p:sp>
      <p:sp>
        <p:nvSpPr>
          <p:cNvPr id="2" name="">
            <a:extLst xmlns:a="http://schemas.openxmlformats.org/drawingml/2006/main">
              <a:ext uri="{FF2B5EF4-FFF2-40B4-BE49-F238E27FC236}">
                <a16:creationId xmlns:a16="http://schemas.microsoft.com/office/drawing/2014/main" id="{FD3C48BF-CC2F-4565-B080-562B5907F449}"/>
              </a:ext>
            </a:extLst>
          </p:cNvPr>
          <p:cNvSpPr>
            <a:spLocks xmlns:a="http://schemas.openxmlformats.org/drawingml/2006/main" noGrp="1"/>
          </p:cNvSpPr>
          <p:nvPr/>
        </p:nvSpPr>
        <p:spPr>
          <a:xfrm xmlns:a="http://schemas.openxmlformats.org/drawingml/2006/main">
            <a:off x="685800" y="6667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03B70"/>
                </a:solidFill>
              </a:defRPr>
            </a:pPr>
            <a:r>
              <a:rPr sz="2700" b="1">
                <a:solidFill>
                  <a:srgbClr val="003B70"/>
                </a:solidFill>
              </a:rPr>
              <a:t>Next steps and resources</a:t>
            </a:r>
          </a:p>
        </p:txBody>
      </p:sp>
      <p:sp>
        <p:nvSpPr>
          <p:cNvPr id="3" name="">
            <a:extLst xmlns:a="http://schemas.openxmlformats.org/drawingml/2006/main">
              <a:ext uri="{FF2B5EF4-FFF2-40B4-BE49-F238E27FC236}">
                <a16:creationId xmlns:a16="http://schemas.microsoft.com/office/drawing/2014/main" id="{F7516C43-C152-4B32-852E-36584D0ACC8D}"/>
              </a:ext>
            </a:extLst>
          </p:cNvPr>
          <p:cNvSpPr>
            <a:spLocks xmlns:a="http://schemas.openxmlformats.org/drawingml/2006/main" noGrp="1"/>
          </p:cNvSpPr>
          <p:nvPr/>
        </p:nvSpPr>
        <p:spPr>
          <a:xfrm xmlns:a="http://schemas.openxmlformats.org/drawingml/2006/main">
            <a:off x="685800" y="1381125"/>
            <a:ext cx="10287000" cy="28575"/>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4" name="">
            <a:extLst xmlns:a="http://schemas.openxmlformats.org/drawingml/2006/main">
              <a:ext uri="{FF2B5EF4-FFF2-40B4-BE49-F238E27FC236}">
                <a16:creationId xmlns:a16="http://schemas.microsoft.com/office/drawing/2014/main" id="{8B28DD37-20AD-4360-A2DB-6F1CDB6F6EA5}"/>
              </a:ext>
            </a:extLst>
          </p:cNvPr>
          <p:cNvSpPr>
            <a:spLocks xmlns:a="http://schemas.openxmlformats.org/drawingml/2006/main" noGrp="1"/>
          </p:cNvSpPr>
          <p:nvPr/>
        </p:nvSpPr>
        <p:spPr>
          <a:xfrm xmlns:a="http://schemas.openxmlformats.org/drawingml/2006/main">
            <a:off x="685800" y="1809750"/>
            <a:ext cx="4762500" cy="2095500"/>
          </a:xfrm>
          <a:prstGeom xmlns:a="http://schemas.openxmlformats.org/drawingml/2006/main" prst="roundRect">
            <a:avLst>
              <a:gd name="adj" fmla="val 5455"/>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5" name="">
            <a:extLst xmlns:a="http://schemas.openxmlformats.org/drawingml/2006/main">
              <a:ext uri="{FF2B5EF4-FFF2-40B4-BE49-F238E27FC236}">
                <a16:creationId xmlns:a16="http://schemas.microsoft.com/office/drawing/2014/main" id="{A8FA298F-327B-405D-8144-32EEE90B8A3C}"/>
              </a:ext>
            </a:extLst>
          </p:cNvPr>
          <p:cNvSpPr>
            <a:spLocks xmlns:a="http://schemas.openxmlformats.org/drawingml/2006/main" noGrp="1"/>
          </p:cNvSpPr>
          <p:nvPr/>
        </p:nvSpPr>
        <p:spPr>
          <a:xfrm xmlns:a="http://schemas.openxmlformats.org/drawingml/2006/main">
            <a:off x="685800" y="1809750"/>
            <a:ext cx="66675" cy="2095500"/>
          </a:xfrm>
          <a:prstGeom xmlns:a="http://schemas.openxmlformats.org/drawingml/2006/main" prst="rect">
            <a:avLst/>
          </a:prstGeom>
          <a:solidFill xmlns:a="http://schemas.openxmlformats.org/drawingml/2006/main">
            <a:srgbClr val="368F2C"/>
          </a:solidFill>
          <a:ln xmlns:a="http://schemas.openxmlformats.org/drawingml/2006/main" w="0">
            <a:solidFill>
              <a:srgbClr val="368F2C"/>
            </a:solidFill>
            <a:prstDash val="solid"/>
          </a:ln>
        </p:spPr>
      </p:sp>
      <p:sp>
        <p:nvSpPr>
          <p:cNvPr id="6" name="">
            <a:extLst xmlns:a="http://schemas.openxmlformats.org/drawingml/2006/main">
              <a:ext uri="{FF2B5EF4-FFF2-40B4-BE49-F238E27FC236}">
                <a16:creationId xmlns:a16="http://schemas.microsoft.com/office/drawing/2014/main" id="{33A0DBF6-6676-4652-8899-E1406C4DAA2C}"/>
              </a:ext>
            </a:extLst>
          </p:cNvPr>
          <p:cNvSpPr>
            <a:spLocks xmlns:a="http://schemas.openxmlformats.org/drawingml/2006/main" noGrp="1"/>
          </p:cNvSpPr>
          <p:nvPr/>
        </p:nvSpPr>
        <p:spPr>
          <a:xfrm xmlns:a="http://schemas.openxmlformats.org/drawingml/2006/main">
            <a:off x="914400"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Apply the lesson</a:t>
            </a:r>
          </a:p>
        </p:txBody>
      </p:sp>
      <p:sp>
        <p:nvSpPr>
          <p:cNvPr id="7" name="">
            <a:extLst xmlns:a="http://schemas.openxmlformats.org/drawingml/2006/main">
              <a:ext uri="{FF2B5EF4-FFF2-40B4-BE49-F238E27FC236}">
                <a16:creationId xmlns:a16="http://schemas.microsoft.com/office/drawing/2014/main" id="{AE73591E-6AE1-4B38-B79E-DB9889BE361D}"/>
              </a:ext>
            </a:extLst>
          </p:cNvPr>
          <p:cNvSpPr>
            <a:spLocks xmlns:a="http://schemas.openxmlformats.org/drawingml/2006/main" noGrp="1"/>
          </p:cNvSpPr>
          <p:nvPr/>
        </p:nvSpPr>
        <p:spPr>
          <a:xfrm xmlns:a="http://schemas.openxmlformats.org/drawingml/2006/main">
            <a:off x="914400" y="2457450"/>
            <a:ext cx="43053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Use this topic with Plays 2, 3, 11 and Tools 10, 15, 34. Turn the discussion into a documented question, decision, gap, or implementation artifact.</a:t>
            </a:r>
          </a:p>
        </p:txBody>
      </p:sp>
      <p:sp>
        <p:nvSpPr>
          <p:cNvPr id="8" name="">
            <a:extLst xmlns:a="http://schemas.openxmlformats.org/drawingml/2006/main">
              <a:ext uri="{FF2B5EF4-FFF2-40B4-BE49-F238E27FC236}">
                <a16:creationId xmlns:a16="http://schemas.microsoft.com/office/drawing/2014/main" id="{FEF9A271-651E-4632-BFBD-85B81C7FCD05}"/>
              </a:ext>
            </a:extLst>
          </p:cNvPr>
          <p:cNvSpPr>
            <a:spLocks xmlns:a="http://schemas.openxmlformats.org/drawingml/2006/main" noGrp="1"/>
          </p:cNvSpPr>
          <p:nvPr/>
        </p:nvSpPr>
        <p:spPr>
          <a:xfrm xmlns:a="http://schemas.openxmlformats.org/drawingml/2006/main">
            <a:off x="5953125" y="1809750"/>
            <a:ext cx="4762500" cy="3048000"/>
          </a:xfrm>
          <a:prstGeom xmlns:a="http://schemas.openxmlformats.org/drawingml/2006/main" prst="roundRect">
            <a:avLst>
              <a:gd name="adj" fmla="val 3750"/>
            </a:avLst>
          </a:prstGeom>
          <a:solidFill xmlns:a="http://schemas.openxmlformats.org/drawingml/2006/main">
            <a:srgbClr val="FFFFFF"/>
          </a:solidFill>
          <a:ln xmlns:a="http://schemas.openxmlformats.org/drawingml/2006/main" w="9525">
            <a:solidFill>
              <a:srgbClr val="CFE0EC"/>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9" name="">
            <a:extLst xmlns:a="http://schemas.openxmlformats.org/drawingml/2006/main">
              <a:ext uri="{FF2B5EF4-FFF2-40B4-BE49-F238E27FC236}">
                <a16:creationId xmlns:a16="http://schemas.microsoft.com/office/drawing/2014/main" id="{AAB8010D-1016-4270-B0DC-10E9D5667800}"/>
              </a:ext>
            </a:extLst>
          </p:cNvPr>
          <p:cNvSpPr>
            <a:spLocks xmlns:a="http://schemas.openxmlformats.org/drawingml/2006/main" noGrp="1"/>
          </p:cNvSpPr>
          <p:nvPr/>
        </p:nvSpPr>
        <p:spPr>
          <a:xfrm xmlns:a="http://schemas.openxmlformats.org/drawingml/2006/main">
            <a:off x="5953125" y="1809750"/>
            <a:ext cx="66675" cy="3048000"/>
          </a:xfrm>
          <a:prstGeom xmlns:a="http://schemas.openxmlformats.org/drawingml/2006/main" prst="rect">
            <a:avLst/>
          </a:prstGeom>
          <a:solidFill xmlns:a="http://schemas.openxmlformats.org/drawingml/2006/main">
            <a:srgbClr val="005DAA"/>
          </a:solidFill>
          <a:ln xmlns:a="http://schemas.openxmlformats.org/drawingml/2006/main" w="0">
            <a:solidFill>
              <a:srgbClr val="005DAA"/>
            </a:solidFill>
            <a:prstDash val="solid"/>
          </a:ln>
        </p:spPr>
      </p:sp>
      <p:sp>
        <p:nvSpPr>
          <p:cNvPr id="10" name="">
            <a:extLst xmlns:a="http://schemas.openxmlformats.org/drawingml/2006/main">
              <a:ext uri="{FF2B5EF4-FFF2-40B4-BE49-F238E27FC236}">
                <a16:creationId xmlns:a16="http://schemas.microsoft.com/office/drawing/2014/main" id="{4EC1DE19-A949-4A2C-A9D7-C786E9DD3069}"/>
              </a:ext>
            </a:extLst>
          </p:cNvPr>
          <p:cNvSpPr>
            <a:spLocks xmlns:a="http://schemas.openxmlformats.org/drawingml/2006/main" noGrp="1"/>
          </p:cNvSpPr>
          <p:nvPr/>
        </p:nvSpPr>
        <p:spPr>
          <a:xfrm xmlns:a="http://schemas.openxmlformats.org/drawingml/2006/main">
            <a:off x="6181725" y="2000250"/>
            <a:ext cx="4305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03B70"/>
                </a:solidFill>
              </a:defRPr>
            </a:pPr>
            <a:r>
              <a:rPr sz="1650" b="1">
                <a:solidFill>
                  <a:srgbClr val="003B70"/>
                </a:solidFill>
              </a:rPr>
              <a:t>References and resources</a:t>
            </a:r>
          </a:p>
        </p:txBody>
      </p:sp>
      <p:sp>
        <p:nvSpPr>
          <p:cNvPr id="11" name="">
            <a:extLst xmlns:a="http://schemas.openxmlformats.org/drawingml/2006/main">
              <a:ext uri="{FF2B5EF4-FFF2-40B4-BE49-F238E27FC236}">
                <a16:creationId xmlns:a16="http://schemas.microsoft.com/office/drawing/2014/main" id="{05E81314-BE19-4A08-9040-56EFD0D3E55F}"/>
              </a:ext>
            </a:extLst>
          </p:cNvPr>
          <p:cNvSpPr>
            <a:spLocks xmlns:a="http://schemas.openxmlformats.org/drawingml/2006/main" noGrp="1"/>
          </p:cNvSpPr>
          <p:nvPr/>
        </p:nvSpPr>
        <p:spPr>
          <a:xfrm xmlns:a="http://schemas.openxmlformats.org/drawingml/2006/main">
            <a:off x="6181725" y="2457450"/>
            <a:ext cx="4305300" cy="2247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24394A"/>
                </a:solidFill>
              </a:defRPr>
            </a:pPr>
            <a:r>
              <a:rPr sz="1275" b="0">
                <a:solidFill>
                  <a:srgbClr val="24394A"/>
                </a:solidFill>
              </a:rPr>
              <a:t>HIPAA: Privacy requirements when protected health information may be involved. FedRAMP: Cloud security authorization context for systems handling sensitive government data. NIH Tribal Health Research Office: Tribal data governance and tribal.</a:t>
            </a:r>
          </a:p>
        </p:txBody>
      </p:sp>
      <p:sp>
        <p:nvSpPr>
          <p:cNvPr id="12" name="">
            <a:extLst xmlns:a="http://schemas.openxmlformats.org/drawingml/2006/main">
              <a:ext uri="{FF2B5EF4-FFF2-40B4-BE49-F238E27FC236}">
                <a16:creationId xmlns:a16="http://schemas.microsoft.com/office/drawing/2014/main" id="{41881A0D-0E36-42DB-9C35-D92CE7557B29}"/>
              </a:ext>
            </a:extLst>
          </p:cNvPr>
          <p:cNvSpPr>
            <a:spLocks xmlns:a="http://schemas.openxmlformats.org/drawingml/2006/main" noGrp="1"/>
          </p:cNvSpPr>
          <p:nvPr/>
        </p:nvSpPr>
        <p:spPr>
          <a:xfrm xmlns:a="http://schemas.openxmlformats.org/drawingml/2006/main">
            <a:off x="685800" y="6429375"/>
            <a:ext cx="723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0">
                <a:solidFill>
                  <a:srgbClr val="5D7080"/>
                </a:solidFill>
              </a:defRPr>
            </a:pPr>
            <a:r>
              <a:rPr sz="900" b="0">
                <a:solidFill>
                  <a:srgbClr val="5D7080"/>
                </a:solidFill>
              </a:rPr>
              <a:t>Tiered Data Use for AI</a:t>
            </a:r>
          </a:p>
        </p:txBody>
      </p:sp>
      <p:sp>
        <p:nvSpPr>
          <p:cNvPr id="13" name="">
            <a:extLst xmlns:a="http://schemas.openxmlformats.org/drawingml/2006/main">
              <a:ext uri="{FF2B5EF4-FFF2-40B4-BE49-F238E27FC236}">
                <a16:creationId xmlns:a16="http://schemas.microsoft.com/office/drawing/2014/main" id="{1DFABC72-5E18-407A-BA80-75E62D4C5CF3}"/>
              </a:ext>
            </a:extLst>
          </p:cNvPr>
          <p:cNvSpPr>
            <a:spLocks xmlns:a="http://schemas.openxmlformats.org/drawingml/2006/main" noGrp="1"/>
          </p:cNvSpPr>
          <p:nvPr/>
        </p:nvSpPr>
        <p:spPr>
          <a:xfrm xmlns:a="http://schemas.openxmlformats.org/drawingml/2006/main">
            <a:off x="11049000" y="64293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005DAA"/>
                </a:solidFill>
              </a:defRPr>
            </a:pPr>
            <a:r>
              <a:rPr sz="900" b="1">
                <a:solidFill>
                  <a:srgbClr val="005DAA"/>
                </a:solidFill>
              </a:rPr>
              <a:t>08</a:t>
            </a:r>
          </a:p>
        </p:txBody>
      </p:sp>
    </p:spTree>
    <p:extLst>
      <p:ext uri="{BB962C8B-B14F-4D97-AF65-F5344CB8AC3E}">
        <p14:creationId xmlns:p14="http://schemas.microsoft.com/office/powerpoint/2010/main" val="429407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2026-07-02T16:03:04.1530000Z</dcterms:created>
  <dcterms:modified xsi:type="dcterms:W3CDTF">2026-07-02T16:03:04.1530000Z</dcterms:modified>
</coreProperties>
</file>