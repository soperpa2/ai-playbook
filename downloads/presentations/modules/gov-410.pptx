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410 AI Risk Appetite and Risk Tolerance for Public Health
Leaders cannot manage AI risk effectively unless they define how much risk the agency is willing to accept for different types of use. Risk appetite describes the broad level of risk an organization is willing to take in pursuit of its mission. Risk tolerance translates that appetite into practical thresholds, conditions, and limits for specific AI uses. This module helps public health leaders define AI risk appetite in a way that reflects public health authority, community trust, legal obligations, health equity, privacy, safety, and operational needs. The goal is not to eliminate all risk. The goal is to make risk decisions explicit, proportionate, documented, and aligned with public health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Governance and Security Track
Appears in tracks: governance-security
Leaders cannot manage AI risk effectively unless they define how much risk the agency is willing to accept for different types of use. Risk appetite describes the broad level of risk an organization is willing to take in pursuit of its mission. Risk tolerance translates that appetite into practical thresholds, conditions, and limits for specific AI uses. This module helps public health leaders define AI risk appetite in a way that reflects public health authority, community trust, legal obligations, health equity, privacy, safety, and operational needs. The goal is not to eliminate all risk. The goal is to make risk decisions explicit, proportionate, documented, and aligned with public health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difference between risk appetite, risk tolerance, and risk acceptance.
Identify AI uses that may be low, moderate, high, or unacceptable risk in a public health context.
Develop risk tolerance statements for different AI use categories.
Connect risk tolerance to review level, safeguards, monitoring, and escalation.
Produce a draft AI risk appetite statement for leadership or governance discussion.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Leaders cannot manage AI risk effectively unless they define how much risk the agency is willing to accept for different types of use. Risk appetite describes the broad level of risk an organization is willing to take in pursuit of its mission. Risk tolerance translates that appetite into practical thresholds, conditions, and limits for specific AI uses.
This module helps public health leaders define AI risk appetite in a way that reflects public health authority, community trust, legal obligations, health equity, privacy, safety, and operational needs. The goal is not to eliminate all risk. The goal is to make risk decisions explicit, proportionate, documented, and aligned with public health values.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make risk decisions every day, but AI can make those decisions less visible. A generative AI tool might be acceptable for drafting internal meeting notes but not for producing unsupervised public health guidance. A predictive model might be acceptable for planning staffing levels but not for denying services. An agentic workflow might be acceptable for creating a draft task but not for sending an enforcement notice without human approval.
Risk appetite helps agencies explain these distinctions. It provides a leadership-level statement of where the agency encourages innovation, where it requires caution, and where it prohibits use. It also helps staff understand that responsible AI is not a binary choice between adoption and avoidance. It is a disciplined process for matching safeguards to risk.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agency may define a higher risk appetite for internal administrative uses that do not involve sensitive data, public communication, or public health action. It may define a moderate appetite for staff-facing decision support when human review, validation, and documentation are required. It may define a very low appetite for unsupervised public-facing advice, automated eligibility decisions, enforcement actions, or tools that process sensitive data without approved safeguards.
These statements help governance reviewers make consistent decisions. Instead of debating each proposal from the beginning, reviewers can ask whether the proposed use fits the agency's defined risk category and whether required safeguards are present. The discussion becomes more disciplined and less dependent on individual comfort with AI.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Risk appetite should be expressed in plain language and translated into operating rules. For example, an agency might state that it encourages low-risk AI uses that reduce internal administrative burden when no sensitive data are used and outputs are reviewed by staff. It might state that it will consider moderate-risk uses involving operational data only with documented validation, access controls, human review, and monitoring. It might state that it does not permit AI to make final public health enforcement, eligibility, or legal decisions without authorized human review.
Risk tolerance turns these statements into thresholds. A tolerance may specify that a tool cannot be launched if source traceability is absent, if subgroup performance cannot be assessed for a prioritization model, if the false negative rate exceeds a defined threshold, or if the vendor cannot provide adequate documentation. Tolerances should be appropriate to the use case. A lower threshold may be acceptable for internal drafting than for case triage.
Risk appetite should be reviewed regularly. Public expectations, laws, model capabilities, agency experience, and technical safeguards change over time. A use that was too risky during the first year of AI adoption may become acceptable after better infrastructure, policies, and monitoring are in place. Conversely, a use may become unacceptable if incidents, evidence, or community concerns reveal new harms.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vague risk language. Phrases like 'use AI responsibly' do not help staff decide what is allowed. A guardrail is to define concrete examples of encouraged, conditional, restricted, and prohibited uses.
Another risk is risk appetite that ignores equity. A tool may appear operationally useful while shifting burden to communities that are already underrepresented or over-surveilled. A guardrail is to require equity impact review for uses that affect prioritization, access, enforcement, communication, or resource allocation.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Risk appetite applies differently across AI types. Generative AI for internal drafting may fall into a lower-risk category when reviewed by humans. Predictive models used for prioritization require stronger validation and monitoring. Agentic tools that can take system actions require strict limits, stop authority, and auditability. Risk appetite helps define these boundaries in advance.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Draft a risk appetite statement and a risk tolerance table for at least four AI use categories: internal productivity, staff decision support, public-facing communication, and automated or agentic workflows.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risk appetite statement; risk tolerance table; prohibited-use examples; mitigation and escalation conditions.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risk appetite statement; risk tolerance table; prohibited-use examples; mitigation and escalation conditions.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410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Risk Appetite and Risk Tolerance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Leaders cannot manage AI risk effectively unless they define how much risk the agency is.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appetite describes the broad level of risk an organization is willing to take in pursuit.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tolerance translates that appetite into practical thresholds, conditions, and limits for.</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892808"/>
            <a:ext cx="2825496" cy="135331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Level: advanced/leadership Primary track: Governance and Security Track Appears in tracks: governance-security</a:t>
            </a:r>
            <a:endParaRPr lang="en-US" sz="13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Read the module for shared vocabulary and context.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Complete the practical exercise to apply the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 the notes and references for deeper review.</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Locate the decision point in the playbook sequence.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who should participate in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Document the review, approval, or implementation step.</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 AI Vision &amp; Principles Workshop (Workshop) - Use AI Vision &amp; Principles Workshop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3: Equity Impact Assessment Checklist (Checklist) - Use this tool to complete or.</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 to translate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 Environmental and.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a tool when no comparable local process exists.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Adapt existing department templates when they already fit the.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Save the completed artifact as evidence of the decision.</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Explain the difference between risk appetite, risk tolerance, and risk acceptance.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Identify AI uses that may be low, moderate, high, or unacceptable risk in a public health.</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Develop risk tolerance statements for different AI use categories.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Explain the difference between risk appetite, risk tolerance, and risk acceptance.</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risk tolerance to review level, safeguards, monitoring,.</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Produce a draft AI risk appetite statement for leadership or.</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Leaders cannot manage AI risk effectively unless they define how much risk the agency is.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appetite describes the broad level of risk an organization is willing to take in pursuit.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tolerance translates that appetite into practical thresholds, conditions, and limits for.</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Leaders cannot manage AI risk effectively unless they define how much risk the agency is willing to.</a:t>
            </a:r>
            <a:endParaRPr lang="en-US" sz="1320" dirty="0"/>
          </a:p>
        </p:txBody>
      </p:sp>
      <p:sp>
        <p:nvSpPr>
          <p:cNvPr id="13" name="Shape 11"/>
          <p:cNvSpPr/>
          <p:nvPr/>
        </p:nvSpPr>
        <p:spPr>
          <a:xfrm>
            <a:off x="7635240" y="2718511"/>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46527"/>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Risk control loop</a:t>
            </a:r>
            <a:endParaRPr lang="en-US" sz="1250" dirty="0"/>
          </a:p>
        </p:txBody>
      </p:sp>
      <p:sp>
        <p:nvSpPr>
          <p:cNvPr id="15" name="Shape 13"/>
          <p:cNvSpPr/>
          <p:nvPr/>
        </p:nvSpPr>
        <p:spPr>
          <a:xfrm>
            <a:off x="8763000" y="3399739"/>
            <a:ext cx="164592" cy="0"/>
          </a:xfrm>
          <a:prstGeom prst="line">
            <a:avLst/>
          </a:prstGeom>
          <a:noFill/>
          <a:ln w="15240">
            <a:solidFill>
              <a:srgbClr val="8ABBD8"/>
            </a:solidFill>
            <a:prstDash val="solid"/>
          </a:ln>
        </p:spPr>
      </p:sp>
      <p:sp>
        <p:nvSpPr>
          <p:cNvPr id="16" name="Shape 14"/>
          <p:cNvSpPr/>
          <p:nvPr/>
        </p:nvSpPr>
        <p:spPr>
          <a:xfrm>
            <a:off x="7872984" y="3248863"/>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399739"/>
            <a:ext cx="164592" cy="0"/>
          </a:xfrm>
          <a:prstGeom prst="line">
            <a:avLst/>
          </a:prstGeom>
          <a:noFill/>
          <a:ln w="15240">
            <a:solidFill>
              <a:srgbClr val="8ABBD8"/>
            </a:solidFill>
            <a:prstDash val="solid"/>
          </a:ln>
        </p:spPr>
      </p:sp>
      <p:sp>
        <p:nvSpPr>
          <p:cNvPr id="19" name="Shape 17"/>
          <p:cNvSpPr/>
          <p:nvPr/>
        </p:nvSpPr>
        <p:spPr>
          <a:xfrm>
            <a:off x="8927592" y="3248863"/>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48863"/>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854696" y="3742639"/>
            <a:ext cx="3035808" cy="365760"/>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Responsible use depends on finding risks early, applying safeguards, and watching for drift or harm over time.</a:t>
            </a:r>
            <a:endParaRPr lang="en-US" sz="1120" dirty="0"/>
          </a:p>
        </p:txBody>
      </p:sp>
      <p:sp>
        <p:nvSpPr>
          <p:cNvPr id="24" name="Shape 22"/>
          <p:cNvSpPr/>
          <p:nvPr/>
        </p:nvSpPr>
        <p:spPr>
          <a:xfrm>
            <a:off x="7635240" y="4391863"/>
            <a:ext cx="3474720" cy="1255471"/>
          </a:xfrm>
          <a:prstGeom prst="roundRect">
            <a:avLst>
              <a:gd name="adj" fmla="val 8740"/>
            </a:avLst>
          </a:prstGeom>
          <a:solidFill>
            <a:srgbClr val="EAF6F8"/>
          </a:solidFill>
          <a:ln w="12700">
            <a:solidFill>
              <a:srgbClr val="B9D7E6"/>
            </a:solidFill>
            <a:prstDash val="solid"/>
          </a:ln>
        </p:spPr>
      </p:sp>
      <p:sp>
        <p:nvSpPr>
          <p:cNvPr id="25" name="Text 23"/>
          <p:cNvSpPr/>
          <p:nvPr/>
        </p:nvSpPr>
        <p:spPr>
          <a:xfrm>
            <a:off x="7799832" y="4538167"/>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6" name="Text 24"/>
          <p:cNvSpPr/>
          <p:nvPr/>
        </p:nvSpPr>
        <p:spPr>
          <a:xfrm>
            <a:off x="7799832" y="4867351"/>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provides national-level training guidance for public health agencies and partners.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not legal advice and does not replace review by agency legal counsel, privacy officers,.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Requirements may vary by state, locality, territory, Tribe, agency, funding source,.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module provides national-level training guidance for public health agencies and.</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Public health agencies make risk decisions every day, but AI can make those decisions less.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generative AI tool might be acceptable for drafting internal meeting notes but not for.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predictive model might be acceptable for planning staffing levels but not for denying.</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Public health agencies make risk decisions every day, but AI can make those decisions less visible.</a:t>
            </a:r>
            <a:endParaRPr lang="en-US" sz="1320" dirty="0"/>
          </a:p>
        </p:txBody>
      </p:sp>
      <p:sp>
        <p:nvSpPr>
          <p:cNvPr id="13" name="Shape 11"/>
          <p:cNvSpPr/>
          <p:nvPr/>
        </p:nvSpPr>
        <p:spPr>
          <a:xfrm>
            <a:off x="7635240" y="2718511"/>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46527"/>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Risk control loop</a:t>
            </a:r>
            <a:endParaRPr lang="en-US" sz="1250" dirty="0"/>
          </a:p>
        </p:txBody>
      </p:sp>
      <p:sp>
        <p:nvSpPr>
          <p:cNvPr id="15" name="Shape 13"/>
          <p:cNvSpPr/>
          <p:nvPr/>
        </p:nvSpPr>
        <p:spPr>
          <a:xfrm>
            <a:off x="8763000" y="3399739"/>
            <a:ext cx="164592" cy="0"/>
          </a:xfrm>
          <a:prstGeom prst="line">
            <a:avLst/>
          </a:prstGeom>
          <a:noFill/>
          <a:ln w="15240">
            <a:solidFill>
              <a:srgbClr val="8ABBD8"/>
            </a:solidFill>
            <a:prstDash val="solid"/>
          </a:ln>
        </p:spPr>
      </p:sp>
      <p:sp>
        <p:nvSpPr>
          <p:cNvPr id="16" name="Shape 14"/>
          <p:cNvSpPr/>
          <p:nvPr/>
        </p:nvSpPr>
        <p:spPr>
          <a:xfrm>
            <a:off x="7872984" y="3248863"/>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399739"/>
            <a:ext cx="164592" cy="0"/>
          </a:xfrm>
          <a:prstGeom prst="line">
            <a:avLst/>
          </a:prstGeom>
          <a:noFill/>
          <a:ln w="15240">
            <a:solidFill>
              <a:srgbClr val="8ABBD8"/>
            </a:solidFill>
            <a:prstDash val="solid"/>
          </a:ln>
        </p:spPr>
      </p:sp>
      <p:sp>
        <p:nvSpPr>
          <p:cNvPr id="19" name="Shape 17"/>
          <p:cNvSpPr/>
          <p:nvPr/>
        </p:nvSpPr>
        <p:spPr>
          <a:xfrm>
            <a:off x="8927592" y="3248863"/>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48863"/>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854696" y="3742639"/>
            <a:ext cx="3035808" cy="365760"/>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Responsible use depends on finding risks early, applying safeguards, and watching for drift or harm over time.</a:t>
            </a:r>
            <a:endParaRPr lang="en-US" sz="1120" dirty="0"/>
          </a:p>
        </p:txBody>
      </p:sp>
      <p:sp>
        <p:nvSpPr>
          <p:cNvPr id="24" name="Shape 22"/>
          <p:cNvSpPr/>
          <p:nvPr/>
        </p:nvSpPr>
        <p:spPr>
          <a:xfrm>
            <a:off x="7635240" y="4391863"/>
            <a:ext cx="3474720" cy="1255471"/>
          </a:xfrm>
          <a:prstGeom prst="roundRect">
            <a:avLst>
              <a:gd name="adj" fmla="val 8740"/>
            </a:avLst>
          </a:prstGeom>
          <a:solidFill>
            <a:srgbClr val="EAF6F8"/>
          </a:solidFill>
          <a:ln w="12700">
            <a:solidFill>
              <a:srgbClr val="B9D7E6"/>
            </a:solidFill>
            <a:prstDash val="solid"/>
          </a:ln>
        </p:spPr>
      </p:sp>
      <p:sp>
        <p:nvSpPr>
          <p:cNvPr id="25" name="Text 23"/>
          <p:cNvSpPr/>
          <p:nvPr/>
        </p:nvSpPr>
        <p:spPr>
          <a:xfrm>
            <a:off x="7799832" y="4538167"/>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6" name="Text 24"/>
          <p:cNvSpPr/>
          <p:nvPr/>
        </p:nvSpPr>
        <p:spPr>
          <a:xfrm>
            <a:off x="7799832" y="4867351"/>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An agency may define a higher risk appetite for internal administrative uses that do not.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may define a moderate appetite for staff-facing decision support when human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may define a very low appetite for unsupervised public-facing advice, automated eligibility.</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An agency may define a higher risk appetite for internal administrative uses that do not involve.</a:t>
            </a:r>
            <a:endParaRPr lang="en-US" sz="1320" dirty="0"/>
          </a:p>
        </p:txBody>
      </p:sp>
      <p:sp>
        <p:nvSpPr>
          <p:cNvPr id="13" name="Shape 11"/>
          <p:cNvSpPr/>
          <p:nvPr/>
        </p:nvSpPr>
        <p:spPr>
          <a:xfrm>
            <a:off x="7635240" y="2718511"/>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 agency may define a higher risk appetite for internal.</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It may define a moderate appetite for staff-facing decision.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It may define a very low appetite for unsupervised public-facing.</a:t>
            </a:r>
            <a:endParaRPr lang="en-US" sz="1220" dirty="0"/>
          </a:p>
        </p:txBody>
      </p:sp>
      <p:sp>
        <p:nvSpPr>
          <p:cNvPr id="16" name="Shape 14"/>
          <p:cNvSpPr/>
          <p:nvPr/>
        </p:nvSpPr>
        <p:spPr>
          <a:xfrm>
            <a:off x="7635240" y="4391863"/>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538167"/>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67351"/>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Risk appetite should be expressed in plain language and translated into operating rules.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For example, an agency might state that it encourages low-risk AI uses that reduce internal.</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might state that it will consider moderate-risk uses involving operational data only with.</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Risk appetite should be expressed in plain language and translated into operating rules.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For example, an agency might state that it encourages low-risk AI.</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It might state that it will consider moderate-risk uses involving.</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It might state that it does not permit AI to make final public.</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common failure mode is vague risk language.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Phrases like 'use AI responsibly' do not help staff decide what is allowed.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guardrail is to define concrete examples of encouraged, conditional, restricted, and.</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common failure mode is vague risk language.</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Another risk is risk appetite that ignores equity.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tool may appear operationally useful while shifting burden to.</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guardrail is to require equity impact review for uses that.</a:t>
            </a:r>
            <a:endParaRPr lang="en-US" sz="1220" dirty="0"/>
          </a:p>
        </p:txBody>
      </p:sp>
      <p:sp>
        <p:nvSpPr>
          <p:cNvPr id="16" name="Shape 14"/>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Risk appetite applies differently across AI types.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Generative AI for internal drafting may fall into a lower-risk category when reviewed by humans.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Predictive models used for prioritization require stronger validation and monitoring.</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Risk appetite applies differently across AI types.</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Agentic tools that can take system actions require strict limits,.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Risk appetite helps define these boundaries in advance.</a:t>
            </a:r>
            <a:endParaRPr lang="en-US" sz="1220" dirty="0"/>
          </a:p>
        </p:txBody>
      </p:sp>
      <p:sp>
        <p:nvSpPr>
          <p:cNvPr id="16" name="Shape 14"/>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Which current or proposed AI use case in your agency raises this leadership or governance.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currently has authority to make decisions about this issue, and is that authority.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evidence would governance or leadership need before approving the use case?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320" dirty="0"/>
          </a:p>
        </p:txBody>
      </p:sp>
      <p:sp>
        <p:nvSpPr>
          <p:cNvPr id="13" name="Shape 11"/>
          <p:cNvSpPr/>
          <p:nvPr/>
        </p:nvSpPr>
        <p:spPr>
          <a:xfrm>
            <a:off x="7635240" y="2718511"/>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current or proposed AI use case in your agency raises this.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Who currently has authority to make decisions about this issue,.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evidence would governance or leadership need before approving.</a:t>
            </a:r>
            <a:endParaRPr lang="en-US" sz="1220" dirty="0"/>
          </a:p>
        </p:txBody>
      </p:sp>
      <p:sp>
        <p:nvSpPr>
          <p:cNvPr id="16" name="Shape 14"/>
          <p:cNvSpPr/>
          <p:nvPr/>
        </p:nvSpPr>
        <p:spPr>
          <a:xfrm>
            <a:off x="7635240" y="4391863"/>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538167"/>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67351"/>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Which staff, partners, or communities would be affected if this issue were handled poorly?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policy, process, or artifact should be created or updated after this module?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Which staff, partners, or communities would be affected if this issue were handled.</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staff, partners, or communities would be affected if this.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policy, process, or artifact should be created or updated.</a:t>
            </a:r>
            <a:endParaRPr lang="en-US" sz="1220" dirty="0"/>
          </a:p>
        </p:txBody>
      </p:sp>
      <p:sp>
        <p:nvSpPr>
          <p:cNvPr id="16" name="Shape 14"/>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Draft a risk appetite statement and a risk tolerance table for at least four AI use categories:.</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Draft a risk appetite statement and a risk tolerance table for at least four AI use categories:.</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Draft a risk appetite statement and a risk tolerance table for at.</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Choose a real or realistic public health AI use case.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Document assumptions, unresolved questions, and which agency roles would need to review the.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exercise should produce a work product that could support governance review, leadership.</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Choose a real or realistic public health AI use case.</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Document assumptions, unresolved questions, and which agency roles.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exercise should produce a work product that could support.</a:t>
            </a:r>
            <a:endParaRPr lang="en-US" sz="1220" dirty="0"/>
          </a:p>
        </p:txBody>
      </p:sp>
      <p:sp>
        <p:nvSpPr>
          <p:cNvPr id="16" name="Shape 14"/>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risk appetite statement; risk tolerance table; prohibited-use examples; mitigation and.</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risk appetite statement; risk tolerance table; prohibited-use examples; mitigation and escalation.</a:t>
            </a:r>
            <a:endParaRPr lang="en-US" sz="1320" dirty="0"/>
          </a:p>
        </p:txBody>
      </p:sp>
      <p:sp>
        <p:nvSpPr>
          <p:cNvPr id="13" name="Shape 11"/>
          <p:cNvSpPr/>
          <p:nvPr/>
        </p:nvSpPr>
        <p:spPr>
          <a:xfrm>
            <a:off x="7635240" y="2718511"/>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risk appetite statement; risk tolerance table; prohibited-use.</a:t>
            </a:r>
            <a:endParaRPr lang="en-US" sz="1220" dirty="0"/>
          </a:p>
        </p:txBody>
      </p:sp>
      <p:sp>
        <p:nvSpPr>
          <p:cNvPr id="16" name="Shape 14"/>
          <p:cNvSpPr/>
          <p:nvPr/>
        </p:nvSpPr>
        <p:spPr>
          <a:xfrm>
            <a:off x="7635240" y="4391863"/>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538167"/>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67351"/>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risk appetite statement; risk tolerance table; prohibited-use examples; mitigation and.</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risk appetite statement; risk tolerance table; prohibited-use examples; mitigation and escalation.</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risk appetite statement; risk tolerance table; prohibited-use.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1. What is the strongest reason this module topic belongs in AI leadership and governance.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2. Which practice best supports accountable public health AI governance?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3. When should an AI use case be escalated for leadership or governance review?</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is the strongest reason this module topic belongs in AI.</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2.</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NIST Artificial Intelligence Risk Management Framework (AI RMF 1.0):.</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Generative AI Profile:.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Privacy Framework</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Artificial Intelligence Risk Management Framework (AI RMF.</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WHO Ethics and Governance of Artificial Intelligence for Health:.</a:t>
            </a:r>
            <a:endParaRPr lang="en-US" sz="1220" dirty="0"/>
          </a:p>
        </p:txBody>
      </p:sp>
      <p:sp>
        <p:nvSpPr>
          <p:cNvPr id="16" name="Shape 14"/>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OMB Memorandum M-24-10 on federal AI governance, risk management, and innovation, where.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Agency strategic plans, procurement policies, privacy policies, cybersecurity policies, records.</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320" dirty="0"/>
          </a:p>
        </p:txBody>
      </p:sp>
      <p:sp>
        <p:nvSpPr>
          <p:cNvPr id="13" name="Shape 11"/>
          <p:cNvSpPr/>
          <p:nvPr/>
        </p:nvSpPr>
        <p:spPr>
          <a:xfrm>
            <a:off x="7635240" y="2718511"/>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OMB Memorandum M-24-10 on federal AI governance, risk management,.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Agency strategic plans, procurement policies, privacy policies,.</a:t>
            </a:r>
            <a:endParaRPr lang="en-US" sz="1220" dirty="0"/>
          </a:p>
        </p:txBody>
      </p:sp>
      <p:sp>
        <p:nvSpPr>
          <p:cNvPr id="16" name="Shape 14"/>
          <p:cNvSpPr/>
          <p:nvPr/>
        </p:nvSpPr>
        <p:spPr>
          <a:xfrm>
            <a:off x="7635240" y="4391863"/>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538167"/>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67351"/>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Risk Appetite and Risk Tolerance for Public Health</dc:title>
  <dc:subject>AI Risk Appetite and Risk Tolerance for Public Health learning module</dc:subject>
  <dc:creator>Paula Soper</dc:creator>
  <cp:lastModifiedBy>Paula Soper</cp:lastModifiedBy>
  <cp:revision>1</cp:revision>
  <dcterms:created xsi:type="dcterms:W3CDTF">2026-07-13T02:33:45Z</dcterms:created>
  <dcterms:modified xsi:type="dcterms:W3CDTF">2026-07-13T02:33:45Z</dcterms:modified>
</cp:coreProperties>
</file>