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700" dirty="0"/>
          </a:p>
          <a:p>
            <a:r>
              <a:rPr lang="en-US" sz="17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 IISs, surveillance systems, vital records.</a:t>
            </a:r>
            <a:endParaRPr lang="en-US" sz="1700" dirty="0"/>
          </a:p>
          <a:p>
            <a:r>
              <a:rPr lang="en-US" sz="17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 FHIR, implementation guides, APIs,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700" dirty="0"/>
          </a:p>
          <a:p>
            <a:r>
              <a:rPr lang="en-US" sz="1700" dirty="0">
                <a:solidFill>
                  <a:srgbClr val="17364A"/>
                </a:solidFill>
                <a:latin typeface="Aptos" pitchFamily="34" charset="0"/>
                <a:ea typeface="Aptos" pitchFamily="34" charset="-122"/>
                <a:cs typeface="Aptos" pitchFamily="34" charset="-120"/>
              </a:rPr>
              <a:t>Distinguish among HL7 v2 messages, CDA documents, FHIR resources, and APIs.</a:t>
            </a:r>
            <a:endParaRPr lang="en-US" sz="1700" dirty="0"/>
          </a:p>
          <a:p>
            <a:r>
              <a:rPr lang="en-US" sz="1700" dirty="0">
                <a:solidFill>
                  <a:srgbClr val="17364A"/>
                </a:solidFill>
                <a:latin typeface="Aptos" pitchFamily="34" charset="0"/>
                <a:ea typeface="Aptos" pitchFamily="34" charset="-122"/>
                <a:cs typeface="Aptos" pitchFamily="34" charset="-120"/>
              </a:rPr>
              <a:t>Identify where interoperability standards appear in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Explain the purpose of implementation guides and terminology standards.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700" dirty="0"/>
          </a:p>
          <a:p>
            <a:r>
              <a:rPr lang="en-US" sz="17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 IISs, surveillance.</a:t>
            </a:r>
            <a:endParaRPr lang="en-US" sz="1700" dirty="0"/>
          </a:p>
          <a:p>
            <a:r>
              <a:rPr lang="en-US" sz="17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 FHIR,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700" dirty="0"/>
          </a:p>
          <a:p>
            <a:r>
              <a:rPr lang="en-US" sz="1700" dirty="0">
                <a:solidFill>
                  <a:srgbClr val="17364A"/>
                </a:solidFill>
                <a:latin typeface="Aptos" pitchFamily="34" charset="0"/>
                <a:ea typeface="Aptos" pitchFamily="34" charset="-122"/>
                <a:cs typeface="Aptos" pitchFamily="34" charset="-120"/>
              </a:rPr>
              <a:t>A public health agency may receive data from hundreds or thousands of healthcare and laboratory partners.</a:t>
            </a:r>
            <a:endParaRPr lang="en-US" sz="1700" dirty="0"/>
          </a:p>
          <a:p>
            <a:r>
              <a:rPr lang="en-US" sz="1700" dirty="0">
                <a:solidFill>
                  <a:srgbClr val="17364A"/>
                </a:solidFill>
                <a:latin typeface="Aptos" pitchFamily="34" charset="0"/>
                <a:ea typeface="Aptos" pitchFamily="34" charset="-122"/>
                <a:cs typeface="Aptos" pitchFamily="34" charset="-120"/>
              </a:rPr>
              <a:t>Without consistent standards, data exchange becomes a patchwork of custom interfaces, manual uploads, local workarounds,.</a:t>
            </a:r>
            <a:endParaRPr lang="en-US" sz="1700" dirty="0"/>
          </a:p>
          <a:p>
            <a:r>
              <a:rPr lang="en-US" sz="1700" dirty="0">
                <a:solidFill>
                  <a:srgbClr val="17364A"/>
                </a:solidFill>
                <a:latin typeface="Aptos" pitchFamily="34" charset="0"/>
                <a:ea typeface="Aptos" pitchFamily="34" charset="-122"/>
                <a:cs typeface="Aptos" pitchFamily="34" charset="-120"/>
              </a:rPr>
              <a:t>AI tools built on top of that environment may appear sophisticated while depending on fragile inputs.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HL7 v2.</a:t>
            </a:r>
            <a:endParaRPr lang="en-US" sz="1700" dirty="0"/>
          </a:p>
          <a:p>
            <a:r>
              <a:rPr lang="en-US" sz="1700" dirty="0">
                <a:solidFill>
                  <a:srgbClr val="17364A"/>
                </a:solidFill>
                <a:latin typeface="Aptos" pitchFamily="34" charset="0"/>
                <a:ea typeface="Aptos" pitchFamily="34" charset="-122"/>
                <a:cs typeface="Aptos" pitchFamily="34" charset="-120"/>
              </a:rPr>
              <a:t>HL7 v2 is a widely used message-based standard in healthcare and public health.</a:t>
            </a:r>
            <a:endParaRPr lang="en-US" sz="1700" dirty="0"/>
          </a:p>
          <a:p>
            <a:r>
              <a:rPr lang="en-US" sz="1700" dirty="0">
                <a:solidFill>
                  <a:srgbClr val="17364A"/>
                </a:solidFill>
                <a:latin typeface="Aptos" pitchFamily="34" charset="0"/>
                <a:ea typeface="Aptos" pitchFamily="34" charset="-122"/>
                <a:cs typeface="Aptos" pitchFamily="34" charset="-120"/>
              </a:rPr>
              <a:t>It is common in laboratory reporting, immunization messaging, admission-discharge-transfer notifications, and other.</a:t>
            </a:r>
            <a:endParaRPr lang="en-US" sz="1700" dirty="0"/>
          </a:p>
          <a:p>
            <a:r>
              <a:rPr lang="en-US" sz="1700" dirty="0">
                <a:solidFill>
                  <a:srgbClr val="17364A"/>
                </a:solidFill>
                <a:latin typeface="Aptos" pitchFamily="34" charset="0"/>
                <a:ea typeface="Aptos" pitchFamily="34" charset="-122"/>
                <a:cs typeface="Aptos" pitchFamily="34" charset="-120"/>
              </a:rPr>
              <a:t>HL7 v2 is mature and widely deployed, but messages can vary by implementation, making validation and local onboarding.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HL7 v2.</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API.</a:t>
            </a:r>
            <a:endParaRPr lang="en-US" sz="1700" dirty="0"/>
          </a:p>
          <a:p>
            <a:r>
              <a:rPr lang="en-US" sz="1700" dirty="0">
                <a:solidFill>
                  <a:srgbClr val="17364A"/>
                </a:solidFill>
                <a:latin typeface="Aptos" pitchFamily="34" charset="0"/>
                <a:ea typeface="Aptos" pitchFamily="34" charset="-122"/>
                <a:cs typeface="Aptos" pitchFamily="34" charset="-120"/>
              </a:rPr>
              <a:t>An API allows one system to request data or services from another system.</a:t>
            </a:r>
            <a:endParaRPr lang="en-US" sz="1700" dirty="0"/>
          </a:p>
          <a:p>
            <a:r>
              <a:rPr lang="en-US" sz="1700" dirty="0">
                <a:solidFill>
                  <a:srgbClr val="17364A"/>
                </a:solidFill>
                <a:latin typeface="Aptos" pitchFamily="34" charset="0"/>
                <a:ea typeface="Aptos" pitchFamily="34" charset="-122"/>
                <a:cs typeface="Aptos" pitchFamily="34" charset="-120"/>
              </a:rPr>
              <a:t>In AI workflows, APIs may support retrieval, task creation, status updates, or integration with systems of record.</a:t>
            </a:r>
            <a:endParaRPr lang="en-US" sz="1700" dirty="0"/>
          </a:p>
          <a:p>
            <a:r>
              <a:rPr lang="en-US" sz="1700" dirty="0">
                <a:solidFill>
                  <a:srgbClr val="17364A"/>
                </a:solidFill>
                <a:latin typeface="Aptos" pitchFamily="34" charset="0"/>
                <a:ea typeface="Aptos" pitchFamily="34" charset="-122"/>
                <a:cs typeface="Aptos" pitchFamily="34" charset="-120"/>
              </a:rPr>
              <a:t>API access must be governed by permissions, authentication, rate limits, logging, and intended use.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API.</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700" dirty="0"/>
          </a:p>
          <a:p>
            <a:r>
              <a:rPr lang="en-US" sz="1700" dirty="0">
                <a:solidFill>
                  <a:srgbClr val="17364A"/>
                </a:solidFill>
                <a:latin typeface="Aptos" pitchFamily="34" charset="0"/>
                <a:ea typeface="Aptos" pitchFamily="34" charset="-122"/>
                <a:cs typeface="Aptos" pitchFamily="34" charset="-120"/>
              </a:rPr>
              <a:t>If an AI tool is used to identify vaccination gaps or generate reminder lists, it depends on correctly parsed vaccine.</a:t>
            </a:r>
            <a:endParaRPr lang="en-US" sz="1700" dirty="0"/>
          </a:p>
          <a:p>
            <a:r>
              <a:rPr lang="en-US" sz="1700" dirty="0">
                <a:solidFill>
                  <a:srgbClr val="17364A"/>
                </a:solidFill>
                <a:latin typeface="Aptos" pitchFamily="34" charset="0"/>
                <a:ea typeface="Aptos" pitchFamily="34" charset="-122"/>
                <a:cs typeface="Aptos" pitchFamily="34" charset="-120"/>
              </a:rPr>
              <a:t>Interoperability failures can look like epidemiologic gaps even when the problem is actually message quality.</a:t>
            </a:r>
            <a:endParaRPr lang="en-US" sz="1700" dirty="0"/>
          </a:p>
          <a:p>
            <a:r>
              <a:rPr lang="en-US" sz="1700" dirty="0">
                <a:solidFill>
                  <a:srgbClr val="17364A"/>
                </a:solidFill>
                <a:latin typeface="Aptos" pitchFamily="34" charset="0"/>
                <a:ea typeface="Aptos" pitchFamily="34" charset="-122"/>
                <a:cs typeface="Aptos" pitchFamily="34" charset="-120"/>
              </a:rPr>
              <a:t>A public health agency exploring AI-supported case summaries from EHR data may need to understand whether the data arrive.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 data elements, and.</a:t>
            </a:r>
            <a:endParaRPr lang="en-US" sz="1700" dirty="0"/>
          </a:p>
          <a:p>
            <a:r>
              <a:rPr lang="en-US" sz="1700" dirty="0">
                <a:solidFill>
                  <a:srgbClr val="17364A"/>
                </a:solidFill>
                <a:latin typeface="Aptos" pitchFamily="34" charset="0"/>
                <a:ea typeface="Aptos" pitchFamily="34" charset="-122"/>
                <a:cs typeface="Aptos" pitchFamily="34" charset="-120"/>
              </a:rPr>
              <a:t>Staff should ask whether the workflow uses messages, documents, resources, files, or manual entry.</a:t>
            </a:r>
            <a:endParaRPr lang="en-US" sz="1700" dirty="0"/>
          </a:p>
          <a:p>
            <a:r>
              <a:rPr lang="en-US" sz="1700" dirty="0">
                <a:solidFill>
                  <a:srgbClr val="17364A"/>
                </a:solidFill>
                <a:latin typeface="Aptos" pitchFamily="34" charset="0"/>
                <a:ea typeface="Aptos" pitchFamily="34" charset="-122"/>
                <a:cs typeface="Aptos" pitchFamily="34" charset="-120"/>
              </a:rPr>
              <a:t>They should also identify required terminology systems, such as LOINC, SNOMED CT, CVX, ICD-10-CM, UCUM, or local codes.</a:t>
            </a:r>
            <a:endParaRPr lang="en-US" sz="1700" dirty="0"/>
          </a:p>
          <a:p>
            <a:r>
              <a:rPr lang="en-US" sz="1700" dirty="0">
                <a:solidFill>
                  <a:srgbClr val="17364A"/>
                </a:solidFill>
                <a:latin typeface="Aptos" pitchFamily="34" charset="0"/>
                <a:ea typeface="Aptos" pitchFamily="34" charset="-122"/>
                <a:cs typeface="Aptos" pitchFamily="34" charset="-120"/>
              </a:rPr>
              <a:t>Validation is a central part of interoperability.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 data elements,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Vague standards claims.</a:t>
            </a:r>
            <a:endParaRPr lang="en-US" sz="1700" dirty="0"/>
          </a:p>
          <a:p>
            <a:r>
              <a:rPr lang="en-US" sz="1700" dirty="0">
                <a:solidFill>
                  <a:srgbClr val="17364A"/>
                </a:solidFill>
                <a:latin typeface="Aptos" pitchFamily="34" charset="0"/>
                <a:ea typeface="Aptos" pitchFamily="34" charset="-122"/>
                <a:cs typeface="Aptos" pitchFamily="34" charset="-120"/>
              </a:rPr>
              <a:t>Vendors may claim standards support without demonstrating required profiles, data elements, or workflows.</a:t>
            </a:r>
            <a:endParaRPr lang="en-US" sz="1700" dirty="0"/>
          </a:p>
          <a:p>
            <a:r>
              <a:rPr lang="en-US" sz="1700" dirty="0">
                <a:solidFill>
                  <a:srgbClr val="17364A"/>
                </a:solidFill>
                <a:latin typeface="Aptos" pitchFamily="34" charset="0"/>
                <a:ea typeface="Aptos" pitchFamily="34" charset="-122"/>
                <a:cs typeface="Aptos" pitchFamily="34" charset="-120"/>
              </a:rPr>
              <a:t>Guardrails include conformance testing, test messages, implementation guide references, and acceptance criteria.</a:t>
            </a:r>
            <a:endParaRPr lang="en-US" sz="1700" dirty="0"/>
          </a:p>
          <a:p>
            <a:r>
              <a:rPr lang="en-US" sz="1700" dirty="0">
                <a:solidFill>
                  <a:srgbClr val="17364A"/>
                </a:solidFill>
                <a:latin typeface="Aptos" pitchFamily="34" charset="0"/>
                <a:ea typeface="Aptos" pitchFamily="34" charset="-122"/>
                <a:cs typeface="Aptos" pitchFamily="34" charset="-120"/>
              </a:rPr>
              <a:t>Manual workarounds.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Vague standards claims.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Over-reliance on structured data.</a:t>
            </a:r>
            <a:endParaRPr lang="en-US" sz="1700" dirty="0"/>
          </a:p>
          <a:p>
            <a:r>
              <a:rPr lang="en-US" sz="1700" dirty="0">
                <a:solidFill>
                  <a:srgbClr val="17364A"/>
                </a:solidFill>
                <a:latin typeface="Aptos" pitchFamily="34" charset="0"/>
                <a:ea typeface="Aptos" pitchFamily="34" charset="-122"/>
                <a:cs typeface="Aptos" pitchFamily="34" charset="-120"/>
              </a:rPr>
              <a:t>Structured exchange may omit context found in notes or local fields.</a:t>
            </a:r>
            <a:endParaRPr lang="en-US" sz="1700" dirty="0"/>
          </a:p>
          <a:p>
            <a:r>
              <a:rPr lang="en-US" sz="1700" dirty="0">
                <a:solidFill>
                  <a:srgbClr val="17364A"/>
                </a:solidFill>
                <a:latin typeface="Aptos" pitchFamily="34" charset="0"/>
                <a:ea typeface="Aptos" pitchFamily="34" charset="-122"/>
                <a:cs typeface="Aptos" pitchFamily="34" charset="-120"/>
              </a:rPr>
              <a:t>Guardrails include source review, workflow validation, and documentation of known data gaps.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Over-reliance on structured data.</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 it must preserve.</a:t>
            </a:r>
            <a:endParaRPr lang="en-US" sz="1700" dirty="0"/>
          </a:p>
          <a:p>
            <a:r>
              <a:rPr lang="en-US" sz="1700" dirty="0">
                <a:solidFill>
                  <a:srgbClr val="17364A"/>
                </a:solidFill>
                <a:latin typeface="Aptos" pitchFamily="34" charset="0"/>
                <a:ea typeface="Aptos" pitchFamily="34" charset="-122"/>
                <a:cs typeface="Aptos" pitchFamily="34" charset="-120"/>
              </a:rPr>
              <a:t>Predictive analytics may depend on standardized fields and terminology, so interoperability gaps can affect model validity.</a:t>
            </a:r>
            <a:endParaRPr lang="en-US" sz="1700" dirty="0"/>
          </a:p>
          <a:p>
            <a:r>
              <a:rPr lang="en-US" sz="1700" dirty="0">
                <a:solidFill>
                  <a:srgbClr val="17364A"/>
                </a:solidFill>
                <a:latin typeface="Aptos" pitchFamily="34" charset="0"/>
                <a:ea typeface="Aptos" pitchFamily="34" charset="-122"/>
                <a:cs typeface="Aptos" pitchFamily="34" charset="-120"/>
              </a:rPr>
              <a:t>RAG tools may retrieve implementation guides or agency protocols, but document governance is needed to avoid stale guidance.</a:t>
            </a:r>
            <a:endParaRPr lang="en-US" sz="1700" dirty="0"/>
          </a:p>
          <a:p>
            <a:r>
              <a:rPr lang="en-US" sz="1700" dirty="0">
                <a:solidFill>
                  <a:srgbClr val="17364A"/>
                </a:solidFill>
                <a:latin typeface="Aptos" pitchFamily="34" charset="0"/>
                <a:ea typeface="Aptos" pitchFamily="34" charset="-122"/>
                <a:cs typeface="Aptos" pitchFamily="34" charset="-120"/>
              </a:rPr>
              <a:t>Agentic AI may use APIs to take actions, making permissions, audit logs, and write-back controls essential.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 it must preserve.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700" dirty="0"/>
          </a:p>
          <a:p>
            <a:r>
              <a:rPr lang="en-US" sz="1700" dirty="0">
                <a:solidFill>
                  <a:srgbClr val="17364A"/>
                </a:solidFill>
                <a:latin typeface="Aptos" pitchFamily="34" charset="0"/>
                <a:ea typeface="Aptos" pitchFamily="34" charset="-122"/>
                <a:cs typeface="Aptos" pitchFamily="34" charset="-120"/>
              </a:rPr>
              <a:t>Which workflows still depend on manual uploads or copy-paste processes?</a:t>
            </a:r>
            <a:endParaRPr lang="en-US" sz="1700" dirty="0"/>
          </a:p>
          <a:p>
            <a:r>
              <a:rPr lang="en-US" sz="170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terminology standards are required for the workflow?</a:t>
            </a:r>
            <a:endParaRPr lang="en-US" sz="1700" dirty="0"/>
          </a:p>
          <a:p>
            <a:r>
              <a:rPr lang="en-US" sz="1700" dirty="0">
                <a:solidFill>
                  <a:srgbClr val="17364A"/>
                </a:solidFill>
                <a:latin typeface="Aptos" pitchFamily="34" charset="0"/>
                <a:ea typeface="Aptos" pitchFamily="34" charset="-122"/>
                <a:cs typeface="Aptos" pitchFamily="34" charset="-120"/>
              </a:rPr>
              <a:t>How would interoperability gaps affect AI outputs or equity?</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terminology standards are required for the workflow?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700" dirty="0"/>
          </a:p>
          <a:p>
            <a:r>
              <a:rPr lang="en-US" sz="1700" dirty="0">
                <a:solidFill>
                  <a:srgbClr val="17364A"/>
                </a:solidFill>
                <a:latin typeface="Aptos" pitchFamily="34" charset="0"/>
                <a:ea typeface="Aptos" pitchFamily="34" charset="-122"/>
                <a:cs typeface="Aptos" pitchFamily="34" charset="-120"/>
              </a:rPr>
              <a:t>Identify the sending and receiving systems, exchange standard, required data elements, terminology standards, validation.</a:t>
            </a:r>
            <a:endParaRPr lang="en-US" sz="1700" dirty="0"/>
          </a:p>
          <a:p>
            <a:r>
              <a:rPr lang="en-US" sz="1700" dirty="0">
                <a:solidFill>
                  <a:srgbClr val="17364A"/>
                </a:solidFill>
                <a:latin typeface="Aptos" pitchFamily="34" charset="0"/>
                <a:ea typeface="Aptos" pitchFamily="34" charset="-122"/>
                <a:cs typeface="Aptos" pitchFamily="34" charset="-120"/>
              </a:rPr>
              <a:t>Include at least one test scenario that would show whether the exchange supports the public health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Interoperability checklist</a:t>
            </a:r>
            <a:endParaRPr lang="en-US" sz="1700" dirty="0"/>
          </a:p>
          <a:p>
            <a:r>
              <a:rPr lang="en-US" sz="1700" dirty="0">
                <a:solidFill>
                  <a:srgbClr val="17364A"/>
                </a:solidFill>
                <a:latin typeface="Aptos" pitchFamily="34" charset="0"/>
                <a:ea typeface="Aptos" pitchFamily="34" charset="-122"/>
                <a:cs typeface="Aptos" pitchFamily="34" charset="-120"/>
              </a:rPr>
              <a:t>Data exchange diagram</a:t>
            </a:r>
            <a:endParaRPr lang="en-US" sz="1700" dirty="0"/>
          </a:p>
          <a:p>
            <a:r>
              <a:rPr lang="en-US" sz="1700" dirty="0">
                <a:solidFill>
                  <a:srgbClr val="17364A"/>
                </a:solidFill>
                <a:latin typeface="Aptos" pitchFamily="34" charset="0"/>
                <a:ea typeface="Aptos" pitchFamily="34" charset="-122"/>
                <a:cs typeface="Aptos" pitchFamily="34" charset="-120"/>
              </a:rPr>
              <a:t>Vendor questions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Interoperability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Test scenario and acceptance criteria</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Test scenario and acceptance criteria</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Interoperability checklist</a:t>
            </a:r>
            <a:endParaRPr lang="en-US" sz="1700" dirty="0"/>
          </a:p>
          <a:p>
            <a:r>
              <a:rPr lang="en-US" sz="1700" dirty="0">
                <a:solidFill>
                  <a:srgbClr val="17364A"/>
                </a:solidFill>
                <a:latin typeface="Aptos" pitchFamily="34" charset="0"/>
                <a:ea typeface="Aptos" pitchFamily="34" charset="-122"/>
                <a:cs typeface="Aptos" pitchFamily="34" charset="-120"/>
              </a:rPr>
              <a:t>Data exchange diagram</a:t>
            </a:r>
            <a:endParaRPr lang="en-US" sz="1700" dirty="0"/>
          </a:p>
          <a:p>
            <a:r>
              <a:rPr lang="en-US" sz="1700" dirty="0">
                <a:solidFill>
                  <a:srgbClr val="17364A"/>
                </a:solidFill>
                <a:latin typeface="Aptos" pitchFamily="34" charset="0"/>
                <a:ea typeface="Aptos" pitchFamily="34" charset="-122"/>
                <a:cs typeface="Aptos" pitchFamily="34" charset="-120"/>
              </a:rPr>
              <a:t>Vendor questions</a:t>
            </a:r>
            <a:endParaRPr lang="en-US" sz="1700" dirty="0"/>
          </a:p>
          <a:p>
            <a:r>
              <a:rPr lang="en-US" sz="1700" dirty="0">
                <a:solidFill>
                  <a:srgbClr val="17364A"/>
                </a:solidFill>
                <a:latin typeface="Aptos" pitchFamily="34" charset="0"/>
                <a:ea typeface="Aptos" pitchFamily="34" charset="-122"/>
                <a:cs typeface="Aptos" pitchFamily="34" charset="-120"/>
              </a:rPr>
              <a:t>Test scenario and acceptance criteria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Interoperability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2. What is FHIR commonly used for?</a:t>
            </a:r>
            <a:endParaRPr lang="en-US" sz="1700" dirty="0"/>
          </a:p>
          <a:p>
            <a:r>
              <a:rPr lang="en-US" sz="1700" dirty="0">
                <a:solidFill>
                  <a:srgbClr val="17364A"/>
                </a:solidFill>
                <a:latin typeface="Aptos" pitchFamily="34" charset="0"/>
                <a:ea typeface="Aptos" pitchFamily="34" charset="-122"/>
                <a:cs typeface="Aptos" pitchFamily="34" charset="-120"/>
              </a:rPr>
              <a:t>3. What is an implementation guide?</a:t>
            </a:r>
            <a:endParaRPr lang="en-US" sz="1700" dirty="0"/>
          </a:p>
          <a:p>
            <a:r>
              <a:rPr lang="en-US" sz="1700" dirty="0">
                <a:solidFill>
                  <a:srgbClr val="17364A"/>
                </a:solidFill>
                <a:latin typeface="Aptos" pitchFamily="34" charset="0"/>
                <a:ea typeface="Aptos" pitchFamily="34" charset="-122"/>
                <a:cs typeface="Aptos" pitchFamily="34" charset="-120"/>
              </a:rPr>
              <a:t>4. Which question should be asked during AI vendor review?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HL7 FHIR resources and implementation guides: https://hl7.org/fhir/</a:t>
            </a:r>
            <a:endParaRPr lang="en-US" sz="1700" dirty="0"/>
          </a:p>
          <a:p>
            <a:r>
              <a:rPr lang="en-US" sz="1700" dirty="0">
                <a:solidFill>
                  <a:srgbClr val="17364A"/>
                </a:solidFill>
                <a:latin typeface="Aptos" pitchFamily="34" charset="0"/>
                <a:ea typeface="Aptos" pitchFamily="34" charset="-122"/>
                <a:cs typeface="Aptos" pitchFamily="34" charset="-120"/>
              </a:rPr>
              <a:t>HL7 US Core Implementation Guide: https://build.fhir.org/ig/HL7/US-Core/</a:t>
            </a:r>
            <a:endParaRPr lang="en-US" sz="1700" dirty="0"/>
          </a:p>
          <a:p>
            <a:r>
              <a:rPr lang="en-US" sz="170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HL7 FHIR resources and implementation guides: https://hl7.org/fhir/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2026-07-12T18:54:57Z</dcterms:created>
  <dcterms:modified xsi:type="dcterms:W3CDTF">2026-07-12T18:54:57Z</dcterms:modified>
</cp:coreProperties>
</file>