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 310 AI Policy Development and Approval Workflow
This module focuses on creating, approving, implementing, and updating internal AI policies.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Policy Role-Based Track
Appears in tracks: governance-security, policy, public-health-executive-leadership
This module focuses on creating, approving, implementing, and updating internal AI policies.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ai policy development and approval workflow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creating, approving, implementing, and updating internal AI policies.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Policy Development and Approval Workflow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creating, approving, implementing, and updating internal AI policies.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ai policy development and approval workflow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Policy Development and Approval Workflow artifact
Role and responsibility table
Risk and safeguard summary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Policy Development and Approval Workflow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ai policy development and approval workflow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POL 310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Policy Development and Approval Workflow</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creating, approving, implementing, and updating internal AI policies.</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 decisions,.</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 used in.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Policy Role-Based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governance-security, policy, public-health-executive-leadership</a:t>
            </a:r>
            <a:endParaRPr lang="en-US" sz="155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Read the module for shared vocabulary and context.</a:t>
            </a:r>
            <a:endParaRPr lang="en-US" sz="1380" dirty="0"/>
          </a:p>
          <a:p>
            <a:r>
              <a:rPr lang="en-US" sz="1380" dirty="0">
                <a:solidFill>
                  <a:srgbClr val="17364A"/>
                </a:solidFill>
                <a:latin typeface="Aptos" pitchFamily="34" charset="0"/>
                <a:ea typeface="Aptos" pitchFamily="34" charset="-122"/>
                <a:cs typeface="Aptos" pitchFamily="34" charset="-120"/>
              </a:rPr>
              <a:t>Complete the practical exercise to apply the concept.</a:t>
            </a:r>
            <a:endParaRPr lang="en-US" sz="1380" dirty="0"/>
          </a:p>
          <a:p>
            <a:r>
              <a:rPr lang="en-US" sz="1380" dirty="0">
                <a:solidFill>
                  <a:srgbClr val="17364A"/>
                </a:solidFill>
                <a:latin typeface="Aptos" pitchFamily="34" charset="0"/>
                <a:ea typeface="Aptos" pitchFamily="34" charset="-122"/>
                <a:cs typeface="Aptos" pitchFamily="34" charset="-120"/>
              </a:rPr>
              <a:t>Use the notes and references for deeper review.</a:t>
            </a:r>
            <a:endParaRPr lang="en-US" sz="13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Locate the decision point in the playbook sequence.</a:t>
            </a:r>
            <a:endParaRPr lang="en-US" sz="1380" dirty="0"/>
          </a:p>
          <a:p>
            <a:r>
              <a:rPr lang="en-US" sz="1380" dirty="0">
                <a:solidFill>
                  <a:srgbClr val="17364A"/>
                </a:solidFill>
                <a:latin typeface="Aptos" pitchFamily="34" charset="0"/>
                <a:ea typeface="Aptos" pitchFamily="34" charset="-122"/>
                <a:cs typeface="Aptos" pitchFamily="34" charset="-120"/>
              </a:rPr>
              <a:t>Identify who should participate in the work.</a:t>
            </a:r>
            <a:endParaRPr lang="en-US" sz="1380" dirty="0"/>
          </a:p>
          <a:p>
            <a:r>
              <a:rPr lang="en-US" sz="1380" dirty="0">
                <a:solidFill>
                  <a:srgbClr val="17364A"/>
                </a:solidFill>
                <a:latin typeface="Aptos" pitchFamily="34" charset="0"/>
                <a:ea typeface="Aptos" pitchFamily="34" charset="-122"/>
                <a:cs typeface="Aptos" pitchFamily="34" charset="-120"/>
              </a:rPr>
              <a:t>Document the review, approval, or implementation step.</a:t>
            </a:r>
            <a:endParaRPr lang="en-US" sz="13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1: AI Vision &amp; Principles Workshop (Workshop) - Use AI Vision &amp; Principles Workshop to translate this.</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Use a tool when no comparable local process exists.</a:t>
            </a:r>
            <a:endParaRPr lang="en-US" sz="1380" dirty="0"/>
          </a:p>
          <a:p>
            <a:r>
              <a:rPr lang="en-US" sz="1380" dirty="0">
                <a:solidFill>
                  <a:srgbClr val="17364A"/>
                </a:solidFill>
                <a:latin typeface="Aptos" pitchFamily="34" charset="0"/>
                <a:ea typeface="Aptos" pitchFamily="34" charset="-122"/>
                <a:cs typeface="Aptos" pitchFamily="34" charset="-120"/>
              </a:rPr>
              <a:t>Adapt existing department templates when they already fit the purpose.</a:t>
            </a:r>
            <a:endParaRPr lang="en-US" sz="1380" dirty="0"/>
          </a:p>
          <a:p>
            <a:r>
              <a:rPr lang="en-US" sz="1380" dirty="0">
                <a:solidFill>
                  <a:srgbClr val="17364A"/>
                </a:solidFill>
                <a:latin typeface="Aptos" pitchFamily="34" charset="0"/>
                <a:ea typeface="Aptos" pitchFamily="34" charset="-122"/>
                <a:cs typeface="Aptos" pitchFamily="34" charset="-120"/>
              </a:rPr>
              <a:t>Save the completed artifact as evidence of the decision.</a:t>
            </a:r>
            <a:endParaRPr lang="en-US" sz="13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purpose of ai policy development and approval workflow in public health AI.</a:t>
            </a:r>
            <a:endParaRPr lang="en-US" sz="2100" dirty="0"/>
          </a:p>
          <a:p>
            <a:r>
              <a:rPr lang="en-US" sz="2100" dirty="0">
                <a:solidFill>
                  <a:srgbClr val="17364A"/>
                </a:solidFill>
                <a:latin typeface="Aptos" pitchFamily="34" charset="0"/>
                <a:ea typeface="Aptos" pitchFamily="34" charset="-122"/>
                <a:cs typeface="Aptos" pitchFamily="34" charset="-120"/>
              </a:rPr>
              <a:t>Identify the roles, decisions, risks, and documentation needed for the topic.</a:t>
            </a:r>
            <a:endParaRPr lang="en-US" sz="2100" dirty="0"/>
          </a:p>
          <a:p>
            <a:r>
              <a:rPr lang="en-US" sz="2100" dirty="0">
                <a:solidFill>
                  <a:srgbClr val="17364A"/>
                </a:solidFill>
                <a:latin typeface="Aptos" pitchFamily="34" charset="0"/>
                <a:ea typeface="Aptos" pitchFamily="34" charset="-122"/>
                <a:cs typeface="Aptos" pitchFamily="34" charset="-120"/>
              </a:rPr>
              <a:t>Apply the topic to a real or realistic public health workflow or decision.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purpose of ai policy development and approval workflow in public health AI.</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Recognize equity, privacy, security, legal, operational, and public trust implications.</a:t>
            </a:r>
            <a:endParaRPr lang="en-US" sz="1380" dirty="0"/>
          </a:p>
          <a:p>
            <a:r>
              <a:rPr lang="en-US" sz="1380" dirty="0">
                <a:solidFill>
                  <a:srgbClr val="17364A"/>
                </a:solidFill>
                <a:latin typeface="Aptos" pitchFamily="34" charset="0"/>
                <a:ea typeface="Aptos" pitchFamily="34" charset="-122"/>
                <a:cs typeface="Aptos" pitchFamily="34" charset="-120"/>
              </a:rPr>
              <a:t>Produce a practical artifact that supports readiness, governance, implementation,.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creating, approving, implementing, and updating internal AI policies.</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focuses on creating, approving, implementing, and updating internal AI policies.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It is designed for public health staff who must translate responsible AI principles into.</a:t>
            </a:r>
            <a:endParaRPr lang="en-US" sz="1380" dirty="0"/>
          </a:p>
          <a:p>
            <a:r>
              <a:rPr lang="en-US" sz="1380" dirty="0">
                <a:solidFill>
                  <a:srgbClr val="17364A"/>
                </a:solidFill>
                <a:latin typeface="Aptos" pitchFamily="34" charset="0"/>
                <a:ea typeface="Aptos" pitchFamily="34" charset="-122"/>
                <a:cs typeface="Aptos" pitchFamily="34" charset="-120"/>
              </a:rPr>
              <a:t>The module helps learners move beyond general awareness by producing a practical artifact.</a:t>
            </a:r>
            <a:endParaRPr lang="en-US" sz="1380" dirty="0"/>
          </a:p>
          <a:p>
            <a:r>
              <a:rPr lang="en-US" sz="1380" dirty="0">
                <a:solidFill>
                  <a:srgbClr val="17364A"/>
                </a:solidFill>
                <a:latin typeface="Aptos" pitchFamily="34" charset="0"/>
                <a:ea typeface="Aptos" pitchFamily="34" charset="-122"/>
                <a:cs typeface="Aptos" pitchFamily="34" charset="-120"/>
              </a:rPr>
              <a:t>It emphasizes paragraph-based reasoning, defined responsibilities, and documentation that.</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2100" dirty="0"/>
          </a:p>
          <a:p>
            <a:r>
              <a:rPr lang="en-US" sz="2100" dirty="0">
                <a:solidFill>
                  <a:srgbClr val="17364A"/>
                </a:solidFill>
                <a:latin typeface="Aptos" pitchFamily="34" charset="0"/>
                <a:ea typeface="Aptos" pitchFamily="34" charset="-122"/>
                <a:cs typeface="Aptos" pitchFamily="34" charset="-120"/>
              </a:rPr>
              <a:t>Evidence artifact: A document, log, checklist, test result, approval record, or review note that.</a:t>
            </a:r>
            <a:endParaRPr lang="en-US" sz="2100" dirty="0"/>
          </a:p>
          <a:p>
            <a:r>
              <a:rPr lang="en-US" sz="2100" dirty="0">
                <a:solidFill>
                  <a:srgbClr val="17364A"/>
                </a:solidFill>
                <a:latin typeface="Aptos" pitchFamily="34" charset="0"/>
                <a:ea typeface="Aptos" pitchFamily="34" charset="-122"/>
                <a:cs typeface="Aptos" pitchFamily="34" charset="-120"/>
              </a:rPr>
              <a:t>Escalation pathway: A defined route for raising concerns to the appropriate reviewer or decision-maker.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Decision right: The authority to approve, deny, modify, pause, or escalate an AI use case.</a:t>
            </a:r>
            <a:endParaRPr lang="en-US" sz="1380" dirty="0"/>
          </a:p>
          <a:p>
            <a:r>
              <a:rPr lang="en-US" sz="1380" dirty="0">
                <a:solidFill>
                  <a:srgbClr val="17364A"/>
                </a:solidFill>
                <a:latin typeface="Aptos" pitchFamily="34" charset="0"/>
                <a:ea typeface="Aptos" pitchFamily="34" charset="-122"/>
                <a:cs typeface="Aptos" pitchFamily="34" charset="-120"/>
              </a:rPr>
              <a:t>Evidence artifact: A document, log, checklist, test result, approval record, or review.</a:t>
            </a:r>
            <a:endParaRPr lang="en-US" sz="1380" dirty="0"/>
          </a:p>
          <a:p>
            <a:r>
              <a:rPr lang="en-US" sz="1380" dirty="0">
                <a:solidFill>
                  <a:srgbClr val="17364A"/>
                </a:solidFill>
                <a:latin typeface="Aptos" pitchFamily="34" charset="0"/>
                <a:ea typeface="Aptos" pitchFamily="34" charset="-122"/>
                <a:cs typeface="Aptos" pitchFamily="34" charset="-120"/>
              </a:rPr>
              <a:t>Accountability owner: The person or role responsible for ensuring that an AI use case is.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It is not legal advice and does not replace review by agency legal counsel, privacy.</a:t>
            </a:r>
            <a:endParaRPr lang="en-US" sz="1380" dirty="0"/>
          </a:p>
          <a:p>
            <a:r>
              <a:rPr lang="en-US" sz="1380" dirty="0">
                <a:solidFill>
                  <a:srgbClr val="17364A"/>
                </a:solidFill>
                <a:latin typeface="Aptos" pitchFamily="34" charset="0"/>
                <a:ea typeface="Aptos" pitchFamily="34" charset="-122"/>
                <a:cs typeface="Aptos" pitchFamily="34" charset="-120"/>
              </a:rPr>
              <a:t>Requirements may vary by state, locality, territory, Tribe, agency, funding source,.</a:t>
            </a:r>
            <a:endParaRPr lang="en-US" sz="1380" dirty="0"/>
          </a:p>
          <a:p>
            <a:r>
              <a:rPr lang="en-US" sz="1380" dirty="0">
                <a:solidFill>
                  <a:srgbClr val="17364A"/>
                </a:solidFill>
                <a:latin typeface="Aptos" pitchFamily="34" charset="0"/>
                <a:ea typeface="Aptos" pitchFamily="34" charset="-122"/>
                <a:cs typeface="Aptos" pitchFamily="34" charset="-120"/>
              </a:rPr>
              <a:t>Learners should use this module to identify the issues that require review and should.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Policy Development and Approval Workflow matters because AI adoption changes how public health.</a:t>
            </a:r>
            <a:endParaRPr lang="en-US" sz="2100" dirty="0"/>
          </a:p>
          <a:p>
            <a:r>
              <a:rPr lang="en-US" sz="2100" dirty="0">
                <a:solidFill>
                  <a:srgbClr val="17364A"/>
                </a:solidFill>
                <a:latin typeface="Aptos" pitchFamily="34" charset="0"/>
                <a:ea typeface="Aptos" pitchFamily="34" charset="-122"/>
                <a:cs typeface="Aptos" pitchFamily="34" charset="-120"/>
              </a:rPr>
              <a:t>Without a structured approach, staff may rely on informal practices, vendor assurances, or one-time.</a:t>
            </a:r>
            <a:endParaRPr lang="en-US" sz="2100" dirty="0"/>
          </a:p>
          <a:p>
            <a:r>
              <a:rPr lang="en-US" sz="2100" dirty="0">
                <a:solidFill>
                  <a:srgbClr val="17364A"/>
                </a:solidFill>
                <a:latin typeface="Aptos" pitchFamily="34" charset="0"/>
                <a:ea typeface="Aptos" pitchFamily="34" charset="-122"/>
                <a:cs typeface="Aptos" pitchFamily="34" charset="-120"/>
              </a:rPr>
              <a:t>Public health agencies operate under legal authorities, public accountability, resource constraints,.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Policy Development and Approval Workflow matters because AI adoption changes how public health.</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AI Policy Development and Approval Workflow matters because AI adoption changes how public.</a:t>
            </a:r>
            <a:endParaRPr lang="en-US" sz="1380" dirty="0"/>
          </a:p>
          <a:p>
            <a:r>
              <a:rPr lang="en-US" sz="1380" dirty="0">
                <a:solidFill>
                  <a:srgbClr val="17364A"/>
                </a:solidFill>
                <a:latin typeface="Aptos" pitchFamily="34" charset="0"/>
                <a:ea typeface="Aptos" pitchFamily="34" charset="-122"/>
                <a:cs typeface="Aptos" pitchFamily="34" charset="-120"/>
              </a:rPr>
              <a:t>Without a structured approach, staff may rely on informal practices, vendor assurances, or.</a:t>
            </a:r>
            <a:endParaRPr lang="en-US" sz="1380" dirty="0"/>
          </a:p>
          <a:p>
            <a:r>
              <a:rPr lang="en-US" sz="1380" dirty="0">
                <a:solidFill>
                  <a:srgbClr val="17364A"/>
                </a:solidFill>
                <a:latin typeface="Aptos" pitchFamily="34" charset="0"/>
                <a:ea typeface="Aptos" pitchFamily="34" charset="-122"/>
                <a:cs typeface="Aptos" pitchFamily="34" charset="-120"/>
              </a:rPr>
              <a:t>Public health agencies operate under legal authorities, public accountability, resource.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public health agency is preparing to use AI in a workflow related to creating, approving,.</a:t>
            </a:r>
            <a:endParaRPr lang="en-US" sz="2100" dirty="0"/>
          </a:p>
          <a:p>
            <a:r>
              <a:rPr lang="en-US" sz="2100" dirty="0">
                <a:solidFill>
                  <a:srgbClr val="17364A"/>
                </a:solidFill>
                <a:latin typeface="Aptos" pitchFamily="34" charset="0"/>
                <a:ea typeface="Aptos" pitchFamily="34" charset="-122"/>
                <a:cs typeface="Aptos" pitchFamily="34" charset="-120"/>
              </a:rPr>
              <a:t>The project team initially treats the tool as a helpful efficiency aid, but governance reviewers.</a:t>
            </a:r>
            <a:endParaRPr lang="en-US" sz="2100" dirty="0"/>
          </a:p>
          <a:p>
            <a:r>
              <a:rPr lang="en-US" sz="2100" dirty="0">
                <a:solidFill>
                  <a:srgbClr val="17364A"/>
                </a:solidFill>
                <a:latin typeface="Aptos" pitchFamily="34" charset="0"/>
                <a:ea typeface="Aptos" pitchFamily="34" charset="-122"/>
                <a:cs typeface="Aptos" pitchFamily="34" charset="-120"/>
              </a:rPr>
              <a:t>The agency responds by creating a clear artifact that defines intended use, prohibited use, responsible.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public health agency is preparing to use AI in a workflow related to creating, approving,.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 public health agency is preparing to use AI in a workflow related to creating,.</a:t>
            </a:r>
            <a:endParaRPr lang="en-US" sz="1380" dirty="0"/>
          </a:p>
          <a:p>
            <a:r>
              <a:rPr lang="en-US" sz="1380" dirty="0">
                <a:solidFill>
                  <a:srgbClr val="17364A"/>
                </a:solidFill>
                <a:latin typeface="Aptos" pitchFamily="34" charset="0"/>
                <a:ea typeface="Aptos" pitchFamily="34" charset="-122"/>
                <a:cs typeface="Aptos" pitchFamily="34" charset="-120"/>
              </a:rPr>
              <a:t>The project team initially treats the tool as a helpful efficiency aid, but governance.</a:t>
            </a:r>
            <a:endParaRPr lang="en-US" sz="1380" dirty="0"/>
          </a:p>
          <a:p>
            <a:r>
              <a:rPr lang="en-US" sz="1380" dirty="0">
                <a:solidFill>
                  <a:srgbClr val="17364A"/>
                </a:solidFill>
                <a:latin typeface="Aptos" pitchFamily="34" charset="0"/>
                <a:ea typeface="Aptos" pitchFamily="34" charset="-122"/>
                <a:cs typeface="Aptos" pitchFamily="34" charset="-120"/>
              </a:rPr>
              <a:t>The agency responds by creating a clear artifact that defines intended use, prohibited.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2100" dirty="0"/>
          </a:p>
          <a:p>
            <a:r>
              <a:rPr lang="en-US" sz="2100" dirty="0">
                <a:solidFill>
                  <a:srgbClr val="17364A"/>
                </a:solidFill>
                <a:latin typeface="Aptos" pitchFamily="34" charset="0"/>
                <a:ea typeface="Aptos" pitchFamily="34" charset="-122"/>
                <a:cs typeface="Aptos" pitchFamily="34" charset="-120"/>
              </a:rPr>
              <a:t>Staff should identify who is affected, what data are used, what AI output is produced, who reviews the.</a:t>
            </a:r>
            <a:endParaRPr lang="en-US" sz="2100" dirty="0"/>
          </a:p>
          <a:p>
            <a:r>
              <a:rPr lang="en-US" sz="2100" dirty="0">
                <a:solidFill>
                  <a:srgbClr val="17364A"/>
                </a:solidFill>
                <a:latin typeface="Aptos" pitchFamily="34" charset="0"/>
                <a:ea typeface="Aptos" pitchFamily="34" charset="-122"/>
                <a:cs typeface="Aptos" pitchFamily="34" charset="-120"/>
              </a:rPr>
              <a:t>This prevents the module from becoming abstract and anchors the work in public health practice.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Staff should identify who is affected, what data are used, what AI output is produced, who.</a:t>
            </a:r>
            <a:endParaRPr lang="en-US" sz="1380" dirty="0"/>
          </a:p>
          <a:p>
            <a:r>
              <a:rPr lang="en-US" sz="1380" dirty="0">
                <a:solidFill>
                  <a:srgbClr val="17364A"/>
                </a:solidFill>
                <a:latin typeface="Aptos" pitchFamily="34" charset="0"/>
                <a:ea typeface="Aptos" pitchFamily="34" charset="-122"/>
                <a:cs typeface="Aptos" pitchFamily="34" charset="-120"/>
              </a:rPr>
              <a:t>The second step is to assign responsibilities.</a:t>
            </a:r>
            <a:endParaRPr lang="en-US" sz="1380" dirty="0"/>
          </a:p>
          <a:p>
            <a:r>
              <a:rPr lang="en-US" sz="1380" dirty="0">
                <a:solidFill>
                  <a:srgbClr val="17364A"/>
                </a:solidFill>
                <a:latin typeface="Aptos" pitchFamily="34" charset="0"/>
                <a:ea typeface="Aptos" pitchFamily="34" charset="-122"/>
                <a:cs typeface="Aptos" pitchFamily="34" charset="-120"/>
              </a:rPr>
              <a:t>AI-supported workflows often cross program, IT, legal, privacy, communications,.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2100" dirty="0"/>
          </a:p>
          <a:p>
            <a:r>
              <a:rPr lang="en-US" sz="2100" dirty="0">
                <a:solidFill>
                  <a:srgbClr val="17364A"/>
                </a:solidFill>
                <a:latin typeface="Aptos" pitchFamily="34" charset="0"/>
                <a:ea typeface="Aptos" pitchFamily="34" charset="-122"/>
                <a:cs typeface="Aptos" pitchFamily="34" charset="-120"/>
              </a:rPr>
              <a:t>AI risks can change when data sources, models, vendors, policies, users, or public expectations change.</a:t>
            </a:r>
            <a:endParaRPr lang="en-US" sz="2100" dirty="0"/>
          </a:p>
          <a:p>
            <a:r>
              <a:rPr lang="en-US" sz="2100" dirty="0">
                <a:solidFill>
                  <a:srgbClr val="17364A"/>
                </a:solidFill>
                <a:latin typeface="Aptos" pitchFamily="34" charset="0"/>
                <a:ea typeface="Aptos" pitchFamily="34" charset="-122"/>
                <a:cs typeface="Aptos" pitchFamily="34" charset="-120"/>
              </a:rPr>
              <a:t>A guardrail is to define review intervals and change triggers.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Another failure mode is unclear ownership.</a:t>
            </a:r>
            <a:endParaRPr lang="en-US" sz="1380" dirty="0"/>
          </a:p>
          <a:p>
            <a:r>
              <a:rPr lang="en-US" sz="1380" dirty="0">
                <a:solidFill>
                  <a:srgbClr val="17364A"/>
                </a:solidFill>
                <a:latin typeface="Aptos" pitchFamily="34" charset="0"/>
                <a:ea typeface="Aptos" pitchFamily="34" charset="-122"/>
                <a:cs typeface="Aptos" pitchFamily="34" charset="-120"/>
              </a:rPr>
              <a:t>When everyone is responsible in general, no one may be responsible in practice.</a:t>
            </a:r>
            <a:endParaRPr lang="en-US" sz="1380" dirty="0"/>
          </a:p>
          <a:p>
            <a:r>
              <a:rPr lang="en-US" sz="1380" dirty="0">
                <a:solidFill>
                  <a:srgbClr val="17364A"/>
                </a:solidFill>
                <a:latin typeface="Aptos" pitchFamily="34" charset="0"/>
                <a:ea typeface="Aptos" pitchFamily="34" charset="-122"/>
                <a:cs typeface="Aptos" pitchFamily="34" charset="-120"/>
              </a:rPr>
              <a:t>A guardrail is to assign an accountability owner and name escalation pathways.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2100" dirty="0"/>
          </a:p>
          <a:p>
            <a:r>
              <a:rPr lang="en-US" sz="2100" dirty="0">
                <a:solidFill>
                  <a:srgbClr val="17364A"/>
                </a:solidFill>
                <a:latin typeface="Aptos" pitchFamily="34" charset="0"/>
                <a:ea typeface="Aptos" pitchFamily="34" charset="-122"/>
                <a:cs typeface="Aptos" pitchFamily="34" charset="-120"/>
              </a:rPr>
              <a:t>The more sensitive the data, the more consequential the output, or the more automated the action, the.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This topic applies across generative AI, predictive analytics, NLP, RAG, automation, and.</a:t>
            </a:r>
            <a:endParaRPr lang="en-US" sz="1380" dirty="0"/>
          </a:p>
          <a:p>
            <a:r>
              <a:rPr lang="en-US" sz="1380" dirty="0">
                <a:solidFill>
                  <a:srgbClr val="17364A"/>
                </a:solidFill>
                <a:latin typeface="Aptos" pitchFamily="34" charset="0"/>
                <a:ea typeface="Aptos" pitchFamily="34" charset="-122"/>
                <a:cs typeface="Aptos" pitchFamily="34" charset="-120"/>
              </a:rPr>
              <a:t>The more sensitive the data, the more consequential the output, or the more automated the.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public health decision or workflow does this topic affect?</a:t>
            </a:r>
            <a:endParaRPr lang="en-US" sz="2100" dirty="0"/>
          </a:p>
          <a:p>
            <a:r>
              <a:rPr lang="en-US" sz="2100" dirty="0">
                <a:solidFill>
                  <a:srgbClr val="17364A"/>
                </a:solidFill>
                <a:latin typeface="Aptos" pitchFamily="34" charset="0"/>
                <a:ea typeface="Aptos" pitchFamily="34" charset="-122"/>
                <a:cs typeface="Aptos" pitchFamily="34" charset="-120"/>
              </a:rPr>
              <a:t>Who has authority to approve or pause the work?</a:t>
            </a:r>
            <a:endParaRPr lang="en-US" sz="2100" dirty="0"/>
          </a:p>
          <a:p>
            <a:r>
              <a:rPr lang="en-US" sz="2100" dirty="0">
                <a:solidFill>
                  <a:srgbClr val="17364A"/>
                </a:solidFill>
                <a:latin typeface="Aptos" pitchFamily="34" charset="0"/>
                <a:ea typeface="Aptos" pitchFamily="34" charset="-122"/>
                <a:cs typeface="Aptos" pitchFamily="34" charset="-120"/>
              </a:rPr>
              <a:t>What evidence would show that the workflow is responsible and effective?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public health decision or workflow does this topic affect?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What public health decision or workflow does this topic affect?</a:t>
            </a:r>
            <a:endParaRPr lang="en-US" sz="1380" dirty="0"/>
          </a:p>
          <a:p>
            <a:r>
              <a:rPr lang="en-US" sz="1380" dirty="0">
                <a:solidFill>
                  <a:srgbClr val="17364A"/>
                </a:solidFill>
                <a:latin typeface="Aptos" pitchFamily="34" charset="0"/>
                <a:ea typeface="Aptos" pitchFamily="34" charset="-122"/>
                <a:cs typeface="Aptos" pitchFamily="34" charset="-120"/>
              </a:rPr>
              <a:t>Who has authority to approve or pause the work?</a:t>
            </a:r>
            <a:endParaRPr lang="en-US" sz="1380" dirty="0"/>
          </a:p>
          <a:p>
            <a:r>
              <a:rPr lang="en-US" sz="1380" dirty="0">
                <a:solidFill>
                  <a:srgbClr val="17364A"/>
                </a:solidFill>
                <a:latin typeface="Aptos" pitchFamily="34" charset="0"/>
                <a:ea typeface="Aptos" pitchFamily="34" charset="-122"/>
                <a:cs typeface="Aptos" pitchFamily="34" charset="-120"/>
              </a:rPr>
              <a:t>What evidence would show that the workflow is responsible and effective?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2100" dirty="0"/>
          </a:p>
          <a:p>
            <a:r>
              <a:rPr lang="en-US" sz="2100" dirty="0">
                <a:solidFill>
                  <a:srgbClr val="17364A"/>
                </a:solidFill>
                <a:latin typeface="Aptos" pitchFamily="34" charset="0"/>
                <a:ea typeface="Aptos" pitchFamily="34" charset="-122"/>
                <a:cs typeface="Aptos" pitchFamily="34" charset="-120"/>
              </a:rPr>
              <a:t>How will the agency know when the workflow needs to be revised?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380" dirty="0"/>
          </a:p>
          <a:p>
            <a:r>
              <a:rPr lang="en-US" sz="1380" dirty="0">
                <a:solidFill>
                  <a:srgbClr val="17364A"/>
                </a:solidFill>
                <a:latin typeface="Aptos" pitchFamily="34" charset="0"/>
                <a:ea typeface="Aptos" pitchFamily="34" charset="-122"/>
                <a:cs typeface="Aptos" pitchFamily="34" charset="-120"/>
              </a:rPr>
              <a:t>How will the agency know when the workflow needs to be revised?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practical ai policy development and approval workflow artifact for one AI-supported public.</a:t>
            </a:r>
            <a:endParaRPr lang="en-US" sz="2100" dirty="0"/>
          </a:p>
          <a:p>
            <a:r>
              <a:rPr lang="en-US" sz="2100" dirty="0">
                <a:solidFill>
                  <a:srgbClr val="17364A"/>
                </a:solidFill>
                <a:latin typeface="Aptos" pitchFamily="34" charset="0"/>
                <a:ea typeface="Aptos" pitchFamily="34" charset="-122"/>
                <a:cs typeface="Aptos" pitchFamily="34" charset="-120"/>
              </a:rPr>
              <a:t>The artifact should define the use case, affected roles, review criteria, safeguards, documentation.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practical ai policy development and approval workflow artifact for one AI-supported public.</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Create a practical ai policy development and approval workflow artifact for one.</a:t>
            </a:r>
            <a:endParaRPr lang="en-US" sz="1380" dirty="0"/>
          </a:p>
          <a:p>
            <a:r>
              <a:rPr lang="en-US" sz="1380" dirty="0">
                <a:solidFill>
                  <a:srgbClr val="17364A"/>
                </a:solidFill>
                <a:latin typeface="Aptos" pitchFamily="34" charset="0"/>
                <a:ea typeface="Aptos" pitchFamily="34" charset="-122"/>
                <a:cs typeface="Aptos" pitchFamily="34" charset="-120"/>
              </a:rPr>
              <a:t>The artifact should define the use case, affected roles, review criteria, safeguards,.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Policy Development and Approval Workflow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Policy Development and Approval Workflow artifact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AI Policy Development and Approval Workflow artifact</a:t>
            </a:r>
            <a:endParaRPr lang="en-US" sz="1380" dirty="0"/>
          </a:p>
          <a:p>
            <a:r>
              <a:rPr lang="en-US" sz="1380" dirty="0">
                <a:solidFill>
                  <a:srgbClr val="17364A"/>
                </a:solidFill>
                <a:latin typeface="Aptos" pitchFamily="34" charset="0"/>
                <a:ea typeface="Aptos" pitchFamily="34" charset="-122"/>
                <a:cs typeface="Aptos" pitchFamily="34" charset="-120"/>
              </a:rPr>
              <a:t>Role and responsibility table</a:t>
            </a:r>
            <a:endParaRPr lang="en-US" sz="1380" dirty="0"/>
          </a:p>
          <a:p>
            <a:r>
              <a:rPr lang="en-US" sz="1380" dirty="0">
                <a:solidFill>
                  <a:srgbClr val="17364A"/>
                </a:solidFill>
                <a:latin typeface="Aptos" pitchFamily="34" charset="0"/>
                <a:ea typeface="Aptos" pitchFamily="34" charset="-122"/>
                <a:cs typeface="Aptos" pitchFamily="34" charset="-120"/>
              </a:rPr>
              <a:t>Risk and safeguard summary</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Escalation and monitoring plan</a:t>
            </a:r>
            <a:endParaRPr lang="en-US" sz="2100" dirty="0"/>
          </a:p>
          <a:p>
            <a:r>
              <a:rPr lang="en-US" sz="2100" dirty="0">
                <a:solidFill>
                  <a:srgbClr val="17364A"/>
                </a:solidFill>
                <a:latin typeface="Aptos" pitchFamily="34" charset="0"/>
                <a:ea typeface="Aptos" pitchFamily="34" charset="-122"/>
                <a:cs typeface="Aptos" pitchFamily="34" charset="-120"/>
              </a:rPr>
              <a:t>Approval or review note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Escalation and monitoring plan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Escalation and monitoring plan</a:t>
            </a:r>
            <a:endParaRPr lang="en-US" sz="1380" dirty="0"/>
          </a:p>
          <a:p>
            <a:r>
              <a:rPr lang="en-US" sz="1380" dirty="0">
                <a:solidFill>
                  <a:srgbClr val="17364A"/>
                </a:solidFill>
                <a:latin typeface="Aptos" pitchFamily="34" charset="0"/>
                <a:ea typeface="Aptos" pitchFamily="34" charset="-122"/>
                <a:cs typeface="Aptos" pitchFamily="34" charset="-120"/>
              </a:rPr>
              <a:t>Approval or review note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Policy Development and Approval Workflow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Policy Development and Approval Workflow artifact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Escalation and monitoring plan</a:t>
            </a:r>
            <a:endParaRPr lang="en-US" sz="1380" dirty="0"/>
          </a:p>
          <a:p>
            <a:r>
              <a:rPr lang="en-US" sz="1380" dirty="0">
                <a:solidFill>
                  <a:srgbClr val="17364A"/>
                </a:solidFill>
                <a:latin typeface="Aptos" pitchFamily="34" charset="0"/>
                <a:ea typeface="Aptos" pitchFamily="34" charset="-122"/>
                <a:cs typeface="Aptos" pitchFamily="34" charset="-120"/>
              </a:rPr>
              <a:t>Approval or review note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strongest evidence that ai policy development and approval workflow has been applied.</a:t>
            </a:r>
            <a:endParaRPr lang="en-US" sz="2100" dirty="0"/>
          </a:p>
          <a:p>
            <a:r>
              <a:rPr lang="en-US" sz="2100" dirty="0">
                <a:solidFill>
                  <a:srgbClr val="17364A"/>
                </a:solidFill>
                <a:latin typeface="Aptos" pitchFamily="34" charset="0"/>
                <a:ea typeface="Aptos" pitchFamily="34" charset="-122"/>
                <a:cs typeface="Aptos" pitchFamily="34" charset="-120"/>
              </a:rPr>
              <a:t>2. What is the best reason to assign an accountability owner?</a:t>
            </a:r>
            <a:endParaRPr lang="en-US" sz="2100" dirty="0"/>
          </a:p>
          <a:p>
            <a:r>
              <a:rPr lang="en-US" sz="2100" dirty="0">
                <a:solidFill>
                  <a:srgbClr val="17364A"/>
                </a:solidFill>
                <a:latin typeface="Aptos" pitchFamily="34" charset="0"/>
                <a:ea typeface="Aptos" pitchFamily="34" charset="-122"/>
                <a:cs typeface="Aptos" pitchFamily="34" charset="-120"/>
              </a:rPr>
              <a:t>3. When should an AI-supported workflow be escalated for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strongest evidence that ai policy development and approval workflow has been applied.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1.</a:t>
            </a:r>
            <a:endParaRPr lang="en-US" sz="1380" dirty="0"/>
          </a:p>
          <a:p>
            <a:r>
              <a:rPr lang="en-US" sz="1380" dirty="0">
                <a:solidFill>
                  <a:srgbClr val="17364A"/>
                </a:solidFill>
                <a:latin typeface="Aptos" pitchFamily="34" charset="0"/>
                <a:ea typeface="Aptos" pitchFamily="34" charset="-122"/>
                <a:cs typeface="Aptos" pitchFamily="34" charset="-120"/>
              </a:rPr>
              <a:t>What is the strongest evidence that ai policy development and approval workflow has been.</a:t>
            </a:r>
            <a:endParaRPr lang="en-US" sz="1380" dirty="0"/>
          </a:p>
          <a:p>
            <a:r>
              <a:rPr lang="en-US" sz="1380" dirty="0">
                <a:solidFill>
                  <a:srgbClr val="17364A"/>
                </a:solidFill>
                <a:latin typeface="Aptos" pitchFamily="34" charset="0"/>
                <a:ea typeface="Aptos" pitchFamily="34" charset="-122"/>
                <a:cs typeface="Aptos" pitchFamily="34" charset="-120"/>
              </a:rPr>
              <a:t>2.</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 and 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WHO Ethics and Governance of Artificial Intelligence for Health guidance:.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OWASP Top 10 for Large Language Model Applications:.</a:t>
            </a:r>
            <a:endParaRPr lang="en-US" sz="1380" dirty="0"/>
          </a:p>
          <a:p>
            <a:r>
              <a:rPr lang="en-US" sz="1380" dirty="0">
                <a:solidFill>
                  <a:srgbClr val="17364A"/>
                </a:solidFill>
                <a:latin typeface="Aptos" pitchFamily="34" charset="0"/>
                <a:ea typeface="Aptos" pitchFamily="34" charset="-122"/>
                <a:cs typeface="Aptos" pitchFamily="34" charset="-120"/>
              </a:rPr>
              <a:t>ONC health IT, interoperability, and information blocking resources:.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Agency policies for privacy, public records, cybersecurity, procurement, civil rights,.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Policy Development and Approval Workflow</dc:title>
  <dc:subject>AI Policy Development and Approval Workflow learning module</dc:subject>
  <dc:creator>Paula Soper</dc:creator>
  <cp:lastModifiedBy>Paula Soper</cp:lastModifiedBy>
  <cp:revision>1</cp:revision>
  <dcterms:created xsi:type="dcterms:W3CDTF">2026-07-13T02:11:44Z</dcterms:created>
  <dcterms:modified xsi:type="dcterms:W3CDTF">2026-07-13T02:11:44Z</dcterms:modified>
</cp:coreProperties>
</file>