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Lst>
  <p:notesMasterIdLst>
    <p:notesMasterId r:id="rId2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notesMaster" Target="notesMasters/notesMaster1.xml"/><Relationship Id="rId25" Type="http://schemas.openxmlformats.org/officeDocument/2006/relationships/presProps" Target="presProps.xml"/><Relationship Id="rId26" Type="http://schemas.openxmlformats.org/officeDocument/2006/relationships/viewProps" Target="viewProps.xml"/><Relationship Id="rId27" Type="http://schemas.openxmlformats.org/officeDocument/2006/relationships/theme" Target="theme/theme1.xml"/><Relationship Id="rId2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ANL 310 Evaluation of Generative AI Outputs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Analytics and Modeling Track
Appears in tracks: analytics-modeling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4: Engage Stakeholders - This lesson informs Play 4 by helping learners connect the lesson topic to engage stakeholders work in the AI Playbook sequence.
Play 7: Prioritize Use Cases - This lesson informs Play 7 by helping learners connect the lesson topic to prioritize use cases work in the AI Playbook sequence.
Play 1: Vision &amp; Guardrails - This lesson informs Play 1 by helping learners connect the lesson topic to vision &amp; guardrails work in the AI Playbook sequence.
Play 13: Monitor and Evaluate AI Systems - This lesson informs Play 13 by helping learners connect the lesson topic to monitor and evaluate ai systems work in the AI Playbook.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1: AI Vision &amp; Principles Workshop (Workshop) - Use this tool to complete or strengthen the practical exercise for the module using fictional, de-identified, or generalized.
Tool 3: Equity Impact Assessment Checklist (Checklist) - Use this tool to complete or strengthen the practical exercise for the module using fictional, de-identified, or generalized.
Tool 20: Community Engagement Planning (Planning) - Use Community Engagement Planning to translate this lesson into a documented public health AI planning, governance,.
Tool 21: Stakeholder Mapping &amp; RACI (Template) - Use Stakeholder Mapping &amp; RACI to translate this lesson into a documented public health AI planning, governance, implementation,.
Tool 22: Missing Voices Analysis (Checklist) - Use this tool to complete or strengthen the practical exercise for the module using fictional, de-identified, or generalized.
Tool 47: Equity &amp; Disparity Impact Monitoring (Dashboard)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why generative AI outputs require structured review before public health use.
Distinguish factuality, source grounding, completeness, relevance, tone, and accessibility.
Identify hallucinations, omissions, unsupported claims, and misleading certainty.
Design review criteria for different output types, including summaries, drafts, classifications, and recommendations.
Apply stronger review requirements for sensitive, public-facing, or consequential outputs.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Produce a generative AI output evaluation rubric.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Generative AI can draft, summarize, translate, classify, explain, and synthesize information, but its outputs require careful evaluation. In public health, generated content may affect case review, public communication, policy interpretation, community trust, staff training, or leadership decisions. Fluent writing does not guarantee accuracy, completeness, appropriateness, or safety.
This module teaches learners how to evaluate generative AI outputs using structured review criteria. The module emphasizes factuality, source grounding, omissions, unsupported claims, bias, privacy, tone, accessibility, language quality, and fitness for intended use. Learners will distinguish low-risk drafting support from outputs that require stronger review because they could affect public health action.
By the end of the module, learners should be able to create and apply an evaluation rubric for generative AI outputs in a public health workflow.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This Topic Matters for Public Health AI
Generative AI matters for public health because it can reduce burden in text-heavy workflows. Staff may use it to summarize guidance, draft meeting notes, simplify technical language, translate or adapt messages, organize case information, or synthesize stakeholder feedback. These uses can be valuable when they save time and improve clarity.
The same capabilities create risk. Generative AI can invent facts, omit caveats, misstate guidance, flatten uncertainty, or produce language that sounds more definitive than the evidence supports. It may introduce bias, inappropriate tone, or inaccessible wording. When sensitive data are involved, prompting and output handling can also create privacy and records concerns.
Public health agencies need structured evaluation because informal review is inconsistent. A reviewer may notice grammar errors but miss unsupported claims. Another may trust a polished summary without checking source documents. A rubric helps reviewers evaluate outputs against the purpose, source material, audience, and safeguards required for the use case.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 communications team may use generative AI to draft a plain-language public message about a local respiratory illness increase. The draft may be clear and readable, but reviewers must check whether the numbers are correct, whether the recommendations match current guidance, whether uncertainty is represented accurately, and whether the message is accessible in multiple languages.
An epidemiology team may use generative AI to summarize case investigation notes for internal review. The summary must be checked against source notes because a missed exposure, incorrect date, or invented symptom could affect follow-up. The team should document whether the summary was accepted, edited, or rejected.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Generative AI evaluation should begin with intended use. A brainstormed outline, internal draft, public advisory, case summary, policy synthesis, or operational recommendation requires different levels of review. The more sensitive, public-facing, or consequential the use, the stronger the review should be.
Factuality review requires comparison to source material. Reviewers should check names, dates, numbers, conditions, legal requirements, recommendations, and causal statements. They should also verify that the output does not add unsupported claims or remove important caveats. For RAG systems, reviewers should inspect whether citations actually support the claims they accompany.
Completeness review asks whether the output includes the information needed for the task. A summary can be accurate but incomplete if it omits a critical exposure, eligibility criterion, limitation, or escalation instruction. Public health review should consider whether omitted information could change interpretation or action.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Deep Dive
Equity and accessibility review should be included when outputs affect staff, partners, or the public. Reviewers should assess reading level, language access, disability accessibility, cultural context, stigma, blame, and whether the output addresses affected communities respectfully. Translation or multilingual adaptation should include review by qualified humans when used for public-facing or consequential communication.
Documentation should be proportionate to risk. Low-risk drafting may require only human review before use. Higher-risk workflows may require saved prompts, source references, reviewer initials, revision history, approval records, and incident escalation procedures.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Fluent but false outputs. A polished output may contain unsupported claims. Guardrails include source checking, citations, and reviewer signoff.
Omitted caveats. AI may simplify uncertainty away. Guardrails include completeness review and required caveat checks.
Inappropriate tone or accessibility. Outputs may be stigmatizing or inaccessible. Guardrails include plain language, equity, language access, and accessibility review.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Privacy exposure. Prompts or outputs may include sensitive data. Guardrails include approved tools, data-use tiers, redaction, access controls, and records guidance.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Application to AI-Supported Workflows
Generative AI output evaluation applies to drafting, summarization, classification, translation, code generation, and decision-support explanation. It is also relevant to RAG and agentic workflows because generated text may summarize retrieved sources or explain automated actions. Evaluation should be built into workflow design, not added after deployment.
The strongest approach is to create rubrics for specific output types. A case summary rubric will differ from a public message rubric, and a policy synthesis rubric will differ from a code review rubric. Each rubric should define what reviewers must check, who approves final use, and how errors are documented.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type of generative AI output is being evaluated?
What source material should be used to verify the output?
What errors or omissions would be most harmful?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review criteria are needed for equity, accessibility, language, and tone?
What documentation is required before the output can be used?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 generative AI output evaluation rubric for one public health use case. Include intended use, source verification, factuality, completeness, unsupported claims, omissions, bias, tone, accessibility, privacy, approval requirements, and escalation criteria.
Then apply the rubric to a sample AI-generated output and document whether the output should be accepted, edited, rejected, or escalated.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Generative AI output evaluation rubric
Completed sample review
Source verification notes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Approval or escalation documentation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Generative AI output evaluation rubric
Completed sample review
Source verification notes
Approval or escalation documentation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Why is fluency not enough to trust a generative AI output?
2. What does grounding mean?
3. Which issue can be as harmful as an incorrect statement?
4. What should a rubric define?
5. Which output usually requires stronger review?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AI RMF Generative AI Profile: https://www.nist.gov/publications/artificial-intelligence-risk-management-framework-generative-artificial-intelligence
NIST Artificial Intelligence Risk Management Framework: https://www.nist.gov/itl/ai-risk-management-framework
OWASP Top 10 for Large Language Model Applications: https://owasp.org/www-project-top-10-for-large-language-model-applications/
WHO Guidance on Large Multi-Modal Models: https://www.who.int/publications/i/item/9789240084759
Application guidance: Connect the concept to data quality, model performance, validation evidence, monitoring measures, and decisions that remain under human control.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ANL 310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Evaluation of Generative AI Outputs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 outputs.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 interpretation,.</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920240"/>
            <a:ext cx="2825496" cy="128016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Level: intermediate/practitioner</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Primary track: Analytics and Modeling Track</a:t>
            </a:r>
            <a:endParaRPr lang="en-US" sz="1550" dirty="0"/>
          </a:p>
          <a:p>
            <a:pPr indent="0" marL="0">
              <a:buNone/>
            </a:pPr>
            <a:r>
              <a:rPr lang="en-US" sz="1550" dirty="0">
                <a:solidFill>
                  <a:srgbClr val="17364A"/>
                </a:solidFill>
                <a:latin typeface="Aptos" pitchFamily="34" charset="0"/>
                <a:ea typeface="Aptos" pitchFamily="34" charset="-122"/>
                <a:cs typeface="Aptos" pitchFamily="34" charset="-120"/>
              </a:rPr>
              <a:t>Appears in tracks: analytics-modeling</a:t>
            </a:r>
            <a:endParaRPr lang="en-US" sz="1550" dirty="0"/>
          </a:p>
        </p:txBody>
      </p:sp>
      <p:sp>
        <p:nvSpPr>
          <p:cNvPr id="13" name="Shape 11"/>
          <p:cNvSpPr/>
          <p:nvPr/>
        </p:nvSpPr>
        <p:spPr>
          <a:xfrm>
            <a:off x="7635240" y="3730752"/>
            <a:ext cx="103327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708392"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Learn</a:t>
            </a:r>
            <a:endParaRPr lang="en-US" sz="1500" dirty="0"/>
          </a:p>
        </p:txBody>
      </p:sp>
      <p:sp>
        <p:nvSpPr>
          <p:cNvPr id="15" name="Shape 13"/>
          <p:cNvSpPr/>
          <p:nvPr/>
        </p:nvSpPr>
        <p:spPr>
          <a:xfrm>
            <a:off x="8924544" y="3730752"/>
            <a:ext cx="103327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8997696"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Apply</a:t>
            </a:r>
            <a:endParaRPr lang="en-US" sz="1500" dirty="0"/>
          </a:p>
        </p:txBody>
      </p:sp>
      <p:sp>
        <p:nvSpPr>
          <p:cNvPr id="17" name="Shape 15"/>
          <p:cNvSpPr/>
          <p:nvPr/>
        </p:nvSpPr>
        <p:spPr>
          <a:xfrm>
            <a:off x="10213848" y="3730752"/>
            <a:ext cx="103327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287000" y="3922776"/>
            <a:ext cx="88696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Document</a:t>
            </a:r>
            <a:endParaRPr lang="en-US" sz="15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900" dirty="0">
                <a:solidFill>
                  <a:srgbClr val="17364A"/>
                </a:solidFill>
                <a:latin typeface="Aptos" pitchFamily="34" charset="0"/>
                <a:ea typeface="Aptos" pitchFamily="34" charset="-122"/>
                <a:cs typeface="Aptos" pitchFamily="34" charset="-120"/>
              </a:rPr>
              <a:t>Play 4: Engage Stakeholders - This lesson informs Play 4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7: Prioritize Use Cases - This lesson informs Play 7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 Vision &amp; Guardrails - This lesson informs Play 1 by helping learners connect the lesson topic to.</a:t>
            </a:r>
            <a:endParaRPr lang="en-US" sz="1900" dirty="0"/>
          </a:p>
          <a:p>
            <a:r>
              <a:rPr lang="en-US" sz="1900" dirty="0">
                <a:solidFill>
                  <a:srgbClr val="17364A"/>
                </a:solidFill>
                <a:latin typeface="Aptos" pitchFamily="34" charset="0"/>
                <a:ea typeface="Aptos" pitchFamily="34" charset="-122"/>
                <a:cs typeface="Aptos" pitchFamily="34" charset="-120"/>
              </a:rPr>
              <a:t>Play 13: Monitor and Evaluate AI Systems - This lesson informs Play 13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Lesson</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Plays</a:t>
            </a:r>
            <a:endParaRPr lang="en-US" sz="1500" dirty="0"/>
          </a:p>
        </p:txBody>
      </p:sp>
      <p:sp>
        <p:nvSpPr>
          <p:cNvPr id="17" name="Shape 15"/>
          <p:cNvSpPr/>
          <p:nvPr/>
        </p:nvSpPr>
        <p:spPr>
          <a:xfrm>
            <a:off x="10274808" y="3977640"/>
            <a:ext cx="972312" cy="749808"/>
          </a:xfrm>
          <a:prstGeom prst="roundRect">
            <a:avLst>
              <a:gd name="adj" fmla="val 14634"/>
            </a:avLst>
          </a:prstGeom>
          <a:solidFill>
            <a:srgbClr val="6A4CA3"/>
          </a:solidFill>
          <a:ln w="12700">
            <a:solidFill>
              <a:srgbClr val="6A4CA3"/>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Action</a:t>
            </a:r>
            <a:endParaRPr lang="en-US" sz="15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635" tIns="635" rIns="635" bIns="635" rtlCol="0" anchor="t">
            <a:normAutofit/>
          </a:bodyPr>
          <a:lstStyle/>
          <a:p>
            <a:r>
              <a:rPr lang="en-US" sz="1850" dirty="0">
                <a:solidFill>
                  <a:srgbClr val="17364A"/>
                </a:solidFill>
                <a:latin typeface="Aptos" pitchFamily="34" charset="0"/>
                <a:ea typeface="Aptos" pitchFamily="34" charset="-122"/>
                <a:cs typeface="Aptos" pitchFamily="34" charset="-120"/>
              </a:rPr>
              <a:t>Tool 1: AI Vision &amp; Principles Workshop (Workshop) - Use this tool to complete or strengthen the practical.</a:t>
            </a:r>
            <a:endParaRPr lang="en-US" sz="1850" dirty="0"/>
          </a:p>
          <a:p>
            <a:r>
              <a:rPr lang="en-US" sz="1850" dirty="0">
                <a:solidFill>
                  <a:srgbClr val="17364A"/>
                </a:solidFill>
                <a:latin typeface="Aptos" pitchFamily="34" charset="0"/>
                <a:ea typeface="Aptos" pitchFamily="34" charset="-122"/>
                <a:cs typeface="Aptos" pitchFamily="34" charset="-120"/>
              </a:rPr>
              <a:t>Tool 3: Equity Impact Assessment Checklist (Checklist) - Use this tool to complete or strengthen the.</a:t>
            </a:r>
            <a:endParaRPr lang="en-US" sz="1850" dirty="0"/>
          </a:p>
          <a:p>
            <a:r>
              <a:rPr lang="en-US" sz="1850" dirty="0">
                <a:solidFill>
                  <a:srgbClr val="17364A"/>
                </a:solidFill>
                <a:latin typeface="Aptos" pitchFamily="34" charset="0"/>
                <a:ea typeface="Aptos" pitchFamily="34" charset="-122"/>
                <a:cs typeface="Aptos" pitchFamily="34" charset="-120"/>
              </a:rPr>
              <a:t>Tool 20: Community Engagement Planning (Planning) - Use Community Engagement Planning to translate this.</a:t>
            </a:r>
            <a:endParaRPr lang="en-US" sz="1850" dirty="0"/>
          </a:p>
          <a:p>
            <a:r>
              <a:rPr lang="en-US" sz="1850" dirty="0">
                <a:solidFill>
                  <a:srgbClr val="17364A"/>
                </a:solidFill>
                <a:latin typeface="Aptos" pitchFamily="34" charset="0"/>
                <a:ea typeface="Aptos" pitchFamily="34" charset="-122"/>
                <a:cs typeface="Aptos" pitchFamily="34" charset="-120"/>
              </a:rPr>
              <a:t>Tool 21: Stakeholder Mapping &amp; RACI (Template) - Use Stakeholder Mapping &amp; RACI to translate this lesson.</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920240"/>
            <a:ext cx="2734056" cy="146304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550" dirty="0"/>
          </a:p>
        </p:txBody>
      </p:sp>
      <p:sp>
        <p:nvSpPr>
          <p:cNvPr id="13" name="Shape 11"/>
          <p:cNvSpPr/>
          <p:nvPr/>
        </p:nvSpPr>
        <p:spPr>
          <a:xfrm>
            <a:off x="7818120" y="3977640"/>
            <a:ext cx="972312" cy="749808"/>
          </a:xfrm>
          <a:prstGeom prst="roundRect">
            <a:avLst>
              <a:gd name="adj" fmla="val 14634"/>
            </a:avLst>
          </a:prstGeom>
          <a:solidFill>
            <a:srgbClr val="0068B7"/>
          </a:solidFill>
          <a:ln w="12700">
            <a:solidFill>
              <a:srgbClr val="0068B7"/>
            </a:solidFill>
            <a:prstDash val="solid"/>
          </a:ln>
        </p:spPr>
      </p:sp>
      <p:sp>
        <p:nvSpPr>
          <p:cNvPr id="14" name="Text 12"/>
          <p:cNvSpPr/>
          <p:nvPr/>
        </p:nvSpPr>
        <p:spPr>
          <a:xfrm>
            <a:off x="7891272"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Concept</a:t>
            </a:r>
            <a:endParaRPr lang="en-US" sz="1500" dirty="0"/>
          </a:p>
        </p:txBody>
      </p:sp>
      <p:sp>
        <p:nvSpPr>
          <p:cNvPr id="15" name="Shape 13"/>
          <p:cNvSpPr/>
          <p:nvPr/>
        </p:nvSpPr>
        <p:spPr>
          <a:xfrm>
            <a:off x="9046464" y="3977640"/>
            <a:ext cx="972312" cy="749808"/>
          </a:xfrm>
          <a:prstGeom prst="roundRect">
            <a:avLst>
              <a:gd name="adj" fmla="val 14634"/>
            </a:avLst>
          </a:prstGeom>
          <a:solidFill>
            <a:srgbClr val="2F8A28"/>
          </a:solidFill>
          <a:ln w="12700">
            <a:solidFill>
              <a:srgbClr val="2F8A28"/>
            </a:solidFill>
            <a:prstDash val="solid"/>
          </a:ln>
        </p:spPr>
      </p:sp>
      <p:sp>
        <p:nvSpPr>
          <p:cNvPr id="16" name="Text 14"/>
          <p:cNvSpPr/>
          <p:nvPr/>
        </p:nvSpPr>
        <p:spPr>
          <a:xfrm>
            <a:off x="9119616"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Tool</a:t>
            </a:r>
            <a:endParaRPr lang="en-US" sz="1500" dirty="0"/>
          </a:p>
        </p:txBody>
      </p:sp>
      <p:sp>
        <p:nvSpPr>
          <p:cNvPr id="17" name="Shape 15"/>
          <p:cNvSpPr/>
          <p:nvPr/>
        </p:nvSpPr>
        <p:spPr>
          <a:xfrm>
            <a:off x="10274808" y="3977640"/>
            <a:ext cx="972312" cy="749808"/>
          </a:xfrm>
          <a:prstGeom prst="roundRect">
            <a:avLst>
              <a:gd name="adj" fmla="val 14634"/>
            </a:avLst>
          </a:prstGeom>
          <a:solidFill>
            <a:srgbClr val="D69A2D"/>
          </a:solidFill>
          <a:ln w="12700">
            <a:solidFill>
              <a:srgbClr val="D69A2D"/>
            </a:solidFill>
            <a:prstDash val="solid"/>
          </a:ln>
        </p:spPr>
      </p:sp>
      <p:sp>
        <p:nvSpPr>
          <p:cNvPr id="18" name="Text 16"/>
          <p:cNvSpPr/>
          <p:nvPr/>
        </p:nvSpPr>
        <p:spPr>
          <a:xfrm>
            <a:off x="10347960" y="4169664"/>
            <a:ext cx="826008" cy="310896"/>
          </a:xfrm>
          <a:prstGeom prst="rect">
            <a:avLst/>
          </a:prstGeom>
          <a:noFill/>
          <a:ln/>
        </p:spPr>
        <p:txBody>
          <a:bodyPr wrap="square" lIns="0" tIns="0" rIns="0" bIns="0" rtlCol="0" anchor="ctr">
            <a:normAutofit/>
          </a:bodyPr>
          <a:lstStyle/>
          <a:p>
            <a:pPr algn="ctr" indent="0" marL="0">
              <a:buNone/>
            </a:pPr>
            <a:r>
              <a:rPr lang="en-US" sz="1500" b="1" dirty="0">
                <a:solidFill>
                  <a:srgbClr val="FFFFFF"/>
                </a:solidFill>
                <a:latin typeface="Aptos" pitchFamily="34" charset="0"/>
                <a:ea typeface="Aptos" pitchFamily="34" charset="-122"/>
                <a:cs typeface="Aptos" pitchFamily="34" charset="-120"/>
              </a:rPr>
              <a:t>Artifact</a:t>
            </a:r>
            <a:endParaRPr lang="en-US" sz="15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2100" dirty="0"/>
          </a:p>
          <a:p>
            <a:r>
              <a:rPr lang="en-US" sz="2100" dirty="0">
                <a:solidFill>
                  <a:srgbClr val="17364A"/>
                </a:solidFill>
                <a:latin typeface="Aptos" pitchFamily="34" charset="0"/>
                <a:ea typeface="Aptos" pitchFamily="34" charset="-122"/>
                <a:cs typeface="Aptos" pitchFamily="34" charset="-120"/>
              </a:rPr>
              <a:t>Distinguish factuality, source grounding, completeness, relevance, tone, and accessibility.</a:t>
            </a:r>
            <a:endParaRPr lang="en-US" sz="2100" dirty="0"/>
          </a:p>
          <a:p>
            <a:r>
              <a:rPr lang="en-US" sz="2100" dirty="0">
                <a:solidFill>
                  <a:srgbClr val="17364A"/>
                </a:solidFill>
                <a:latin typeface="Aptos" pitchFamily="34" charset="0"/>
                <a:ea typeface="Aptos" pitchFamily="34" charset="-122"/>
                <a:cs typeface="Aptos" pitchFamily="34" charset="-120"/>
              </a:rPr>
              <a:t>Identify hallucinations, omissions, unsupported claims, and misleading certainty.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Explain why generative AI outputs require structured review before public health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Produce a generative AI output evaluation rubric.</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Produce a generative AI output evaluation rubric.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2100" dirty="0"/>
          </a:p>
          <a:p>
            <a:r>
              <a:rPr lang="en-US" sz="2100" dirty="0">
                <a:solidFill>
                  <a:srgbClr val="17364A"/>
                </a:solidFill>
                <a:latin typeface="Aptos" pitchFamily="34" charset="0"/>
                <a:ea typeface="Aptos" pitchFamily="34" charset="-122"/>
                <a:cs typeface="Aptos" pitchFamily="34" charset="-120"/>
              </a:rPr>
              <a:t>In public health, generated content may affect case review, public communication, policy.</a:t>
            </a:r>
            <a:endParaRPr lang="en-US" sz="2100" dirty="0"/>
          </a:p>
          <a:p>
            <a:r>
              <a:rPr lang="en-US" sz="2100" dirty="0">
                <a:solidFill>
                  <a:srgbClr val="17364A"/>
                </a:solidFill>
                <a:latin typeface="Aptos" pitchFamily="34" charset="0"/>
                <a:ea typeface="Aptos" pitchFamily="34" charset="-122"/>
                <a:cs typeface="Aptos" pitchFamily="34" charset="-120"/>
              </a:rPr>
              <a:t>Fluent writing does not guarantee accuracy, completeness, appropriateness, or safety.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can draft, summarize, translate, classify, explain, and synthesize information, but its.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Why This Topic Matters for Public Health AI</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2100" dirty="0"/>
          </a:p>
          <a:p>
            <a:r>
              <a:rPr lang="en-US" sz="2100" dirty="0">
                <a:solidFill>
                  <a:srgbClr val="17364A"/>
                </a:solidFill>
                <a:latin typeface="Aptos" pitchFamily="34" charset="0"/>
                <a:ea typeface="Aptos" pitchFamily="34" charset="-122"/>
                <a:cs typeface="Aptos" pitchFamily="34" charset="-120"/>
              </a:rPr>
              <a:t>Staff may use it to summarize guidance, draft meeting notes, simplify technical language, translate or.</a:t>
            </a:r>
            <a:endParaRPr lang="en-US" sz="2100" dirty="0"/>
          </a:p>
          <a:p>
            <a:r>
              <a:rPr lang="en-US" sz="2100" dirty="0">
                <a:solidFill>
                  <a:srgbClr val="17364A"/>
                </a:solidFill>
                <a:latin typeface="Aptos" pitchFamily="34" charset="0"/>
                <a:ea typeface="Aptos" pitchFamily="34" charset="-122"/>
                <a:cs typeface="Aptos" pitchFamily="34" charset="-120"/>
              </a:rPr>
              <a:t>These uses can be valuable when they save time and improve clarity.</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matters for public health because it can reduce burden in text-heavy workflows.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2100" dirty="0"/>
          </a:p>
          <a:p>
            <a:r>
              <a:rPr lang="en-US" sz="2100" dirty="0">
                <a:solidFill>
                  <a:srgbClr val="17364A"/>
                </a:solidFill>
                <a:latin typeface="Aptos" pitchFamily="34" charset="0"/>
                <a:ea typeface="Aptos" pitchFamily="34" charset="-122"/>
                <a:cs typeface="Aptos" pitchFamily="34" charset="-120"/>
              </a:rPr>
              <a:t>The draft may be clear and readable, but reviewers must check whether the numbers are correct, whether.</a:t>
            </a:r>
            <a:endParaRPr lang="en-US" sz="2100" dirty="0"/>
          </a:p>
          <a:p>
            <a:r>
              <a:rPr lang="en-US" sz="2100" dirty="0">
                <a:solidFill>
                  <a:srgbClr val="17364A"/>
                </a:solidFill>
                <a:latin typeface="Aptos" pitchFamily="34" charset="0"/>
                <a:ea typeface="Aptos" pitchFamily="34" charset="-122"/>
                <a:cs typeface="Aptos" pitchFamily="34" charset="-120"/>
              </a:rPr>
              <a:t>An epidemiology team may use generative AI to summarize case investigation notes for internal review.</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 communications team may use generative AI to draft a plain-language public message about a local.</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evaluation should begin with intended use.</a:t>
            </a:r>
            <a:endParaRPr lang="en-US" sz="2100" dirty="0"/>
          </a:p>
          <a:p>
            <a:r>
              <a:rPr lang="en-US" sz="2100" dirty="0">
                <a:solidFill>
                  <a:srgbClr val="17364A"/>
                </a:solidFill>
                <a:latin typeface="Aptos" pitchFamily="34" charset="0"/>
                <a:ea typeface="Aptos" pitchFamily="34" charset="-122"/>
                <a:cs typeface="Aptos" pitchFamily="34" charset="-120"/>
              </a:rPr>
              <a:t>A brainstormed outline, internal draft, public advisory, case summary, policy synthesis, or operational.</a:t>
            </a:r>
            <a:endParaRPr lang="en-US" sz="2100" dirty="0"/>
          </a:p>
          <a:p>
            <a:r>
              <a:rPr lang="en-US" sz="2100" dirty="0">
                <a:solidFill>
                  <a:srgbClr val="17364A"/>
                </a:solidFill>
                <a:latin typeface="Aptos" pitchFamily="34" charset="0"/>
                <a:ea typeface="Aptos" pitchFamily="34" charset="-122"/>
                <a:cs typeface="Aptos" pitchFamily="34" charset="-120"/>
              </a:rPr>
              <a:t>The more sensitive, public-facing, or consequential the use, the stronger the review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evaluation should begin with intended use.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2100" dirty="0"/>
          </a:p>
          <a:p>
            <a:r>
              <a:rPr lang="en-US" sz="2100" dirty="0">
                <a:solidFill>
                  <a:srgbClr val="17364A"/>
                </a:solidFill>
                <a:latin typeface="Aptos" pitchFamily="34" charset="0"/>
                <a:ea typeface="Aptos" pitchFamily="34" charset="-122"/>
                <a:cs typeface="Aptos" pitchFamily="34" charset="-120"/>
              </a:rPr>
              <a:t>Reviewers should assess reading level, language access, disability accessibility, cultural context,.</a:t>
            </a:r>
            <a:endParaRPr lang="en-US" sz="2100" dirty="0"/>
          </a:p>
          <a:p>
            <a:r>
              <a:rPr lang="en-US" sz="2100" dirty="0">
                <a:solidFill>
                  <a:srgbClr val="17364A"/>
                </a:solidFill>
                <a:latin typeface="Aptos" pitchFamily="34" charset="0"/>
                <a:ea typeface="Aptos" pitchFamily="34" charset="-122"/>
                <a:cs typeface="Aptos" pitchFamily="34" charset="-120"/>
              </a:rPr>
              <a:t>Translation or multilingual adaptation should include review by qualified humans when used for.</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Equity and accessibility review should be included when outputs affect staff, partners, or the public.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Fluent but false outputs.</a:t>
            </a:r>
            <a:endParaRPr lang="en-US" sz="2100" dirty="0"/>
          </a:p>
          <a:p>
            <a:r>
              <a:rPr lang="en-US" sz="2100" dirty="0">
                <a:solidFill>
                  <a:srgbClr val="17364A"/>
                </a:solidFill>
                <a:latin typeface="Aptos" pitchFamily="34" charset="0"/>
                <a:ea typeface="Aptos" pitchFamily="34" charset="-122"/>
                <a:cs typeface="Aptos" pitchFamily="34" charset="-120"/>
              </a:rPr>
              <a:t>A polished output may contain unsupported claims.</a:t>
            </a:r>
            <a:endParaRPr lang="en-US" sz="2100" dirty="0"/>
          </a:p>
          <a:p>
            <a:r>
              <a:rPr lang="en-US" sz="2100" dirty="0">
                <a:solidFill>
                  <a:srgbClr val="17364A"/>
                </a:solidFill>
                <a:latin typeface="Aptos" pitchFamily="34" charset="0"/>
                <a:ea typeface="Aptos" pitchFamily="34" charset="-122"/>
                <a:cs typeface="Aptos" pitchFamily="34" charset="-120"/>
              </a:rPr>
              <a:t>Guardrails include source checking, citations, and reviewer signoff.</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Fluent but false outputs.</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Privacy exposure.</a:t>
            </a:r>
            <a:endParaRPr lang="en-US" sz="2100" dirty="0"/>
          </a:p>
          <a:p>
            <a:r>
              <a:rPr lang="en-US" sz="2100" dirty="0">
                <a:solidFill>
                  <a:srgbClr val="17364A"/>
                </a:solidFill>
                <a:latin typeface="Aptos" pitchFamily="34" charset="0"/>
                <a:ea typeface="Aptos" pitchFamily="34" charset="-122"/>
                <a:cs typeface="Aptos" pitchFamily="34" charset="-120"/>
              </a:rPr>
              <a:t>Prompts or outputs may include sensitive data.</a:t>
            </a:r>
            <a:endParaRPr lang="en-US" sz="2100" dirty="0"/>
          </a:p>
          <a:p>
            <a:r>
              <a:rPr lang="en-US" sz="2100" dirty="0">
                <a:solidFill>
                  <a:srgbClr val="17364A"/>
                </a:solidFill>
                <a:latin typeface="Aptos" pitchFamily="34" charset="0"/>
                <a:ea typeface="Aptos" pitchFamily="34" charset="-122"/>
                <a:cs typeface="Aptos" pitchFamily="34" charset="-120"/>
              </a:rPr>
              <a:t>Guardrails include approved tools, data-use tiers, redaction, access controls, and records guidance.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Privacy exposure.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046720" y="3108960"/>
            <a:ext cx="2651760" cy="896112"/>
          </a:xfrm>
          <a:prstGeom prst="arc">
            <a:avLst/>
          </a:prstGeom>
          <a:noFill/>
          <a:ln w="25400">
            <a:solidFill>
              <a:srgbClr val="0068B7"/>
            </a:solidFill>
            <a:prstDash val="solid"/>
          </a:ln>
        </p:spPr>
      </p:sp>
      <p:sp>
        <p:nvSpPr>
          <p:cNvPr id="15" name="Text 13"/>
          <p:cNvSpPr/>
          <p:nvPr/>
        </p:nvSpPr>
        <p:spPr>
          <a:xfrm>
            <a:off x="7909560" y="3099816"/>
            <a:ext cx="2926080" cy="256032"/>
          </a:xfrm>
          <a:prstGeom prst="rect">
            <a:avLst/>
          </a:prstGeom>
          <a:noFill/>
          <a:ln/>
        </p:spPr>
        <p:txBody>
          <a:bodyPr wrap="square" lIns="0" tIns="0" rIns="0" bIns="0" rtlCol="0" anchor="ctr"/>
          <a:lstStyle/>
          <a:p>
            <a:pPr algn="ctr" indent="0" marL="0">
              <a:buNone/>
            </a:pPr>
            <a:r>
              <a:rPr lang="en-US" sz="1500" b="1" dirty="0">
                <a:solidFill>
                  <a:srgbClr val="003A63"/>
                </a:solidFill>
                <a:latin typeface="Aptos" pitchFamily="34" charset="0"/>
                <a:ea typeface="Aptos" pitchFamily="34" charset="-122"/>
                <a:cs typeface="Aptos" pitchFamily="34" charset="-120"/>
              </a:rPr>
              <a:t>Risk</a:t>
            </a:r>
            <a:endParaRPr lang="en-US" sz="1500" dirty="0"/>
          </a:p>
        </p:txBody>
      </p:sp>
      <p:sp>
        <p:nvSpPr>
          <p:cNvPr id="16" name="Shape 14"/>
          <p:cNvSpPr/>
          <p:nvPr/>
        </p:nvSpPr>
        <p:spPr>
          <a:xfrm>
            <a:off x="8366760" y="3639312"/>
            <a:ext cx="2011680" cy="0"/>
          </a:xfrm>
          <a:prstGeom prst="line">
            <a:avLst/>
          </a:prstGeom>
          <a:noFill/>
          <a:ln w="63500">
            <a:solidFill>
              <a:srgbClr val="2F8A28"/>
            </a:solidFill>
            <a:prstDash val="solid"/>
          </a:ln>
        </p:spPr>
      </p:sp>
      <p:sp>
        <p:nvSpPr>
          <p:cNvPr id="17" name="Text 15"/>
          <p:cNvSpPr/>
          <p:nvPr/>
        </p:nvSpPr>
        <p:spPr>
          <a:xfrm>
            <a:off x="7909560" y="3849624"/>
            <a:ext cx="2926080" cy="164592"/>
          </a:xfrm>
          <a:prstGeom prst="rect">
            <a:avLst/>
          </a:prstGeom>
          <a:noFill/>
          <a:ln/>
        </p:spPr>
        <p:txBody>
          <a:bodyPr wrap="square" lIns="0" tIns="0" rIns="0" bIns="0" rtlCol="0" anchor="ctr"/>
          <a:lstStyle/>
          <a:p>
            <a:pPr algn="ctr" indent="0" marL="0">
              <a:buNone/>
            </a:pPr>
            <a:r>
              <a:rPr lang="en-US" sz="900" dirty="0">
                <a:solidFill>
                  <a:srgbClr val="003A63"/>
                </a:solidFill>
                <a:latin typeface="Aptos" pitchFamily="34" charset="0"/>
                <a:ea typeface="Aptos" pitchFamily="34" charset="-122"/>
                <a:cs typeface="Aptos" pitchFamily="34" charset="-120"/>
              </a:rPr>
              <a:t>Human review</a:t>
            </a:r>
            <a:endParaRPr lang="en-US" sz="900" dirty="0"/>
          </a:p>
        </p:txBody>
      </p:sp>
      <p:sp>
        <p:nvSpPr>
          <p:cNvPr id="18" name="Shape 16"/>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19" name="Text 17"/>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20" name="Text 18"/>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 expands.</a:t>
            </a:r>
            <a:endParaRPr lang="en-US" sz="15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Application to AI-Supported Workflows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2100" dirty="0"/>
          </a:p>
          <a:p>
            <a:r>
              <a:rPr lang="en-US" sz="2100" dirty="0">
                <a:solidFill>
                  <a:srgbClr val="17364A"/>
                </a:solidFill>
                <a:latin typeface="Aptos" pitchFamily="34" charset="0"/>
                <a:ea typeface="Aptos" pitchFamily="34" charset="-122"/>
                <a:cs typeface="Aptos" pitchFamily="34" charset="-120"/>
              </a:rPr>
              <a:t>It is also relevant to RAG and agentic workflows because generated text may summarize retrieved sources.</a:t>
            </a:r>
            <a:endParaRPr lang="en-US" sz="2100" dirty="0"/>
          </a:p>
          <a:p>
            <a:r>
              <a:rPr lang="en-US" sz="2100" dirty="0">
                <a:solidFill>
                  <a:srgbClr val="17364A"/>
                </a:solidFill>
                <a:latin typeface="Aptos" pitchFamily="34" charset="0"/>
                <a:ea typeface="Aptos" pitchFamily="34" charset="-122"/>
                <a:cs typeface="Aptos" pitchFamily="34" charset="-120"/>
              </a:rPr>
              <a:t>Evaluation should be built into workflow design, not added after deployment.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applies to drafting, summarization, classification, translation, code.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type of generative AI output is being evaluated?</a:t>
            </a:r>
            <a:endParaRPr lang="en-US" sz="2100" dirty="0"/>
          </a:p>
          <a:p>
            <a:r>
              <a:rPr lang="en-US" sz="2100" dirty="0">
                <a:solidFill>
                  <a:srgbClr val="17364A"/>
                </a:solidFill>
                <a:latin typeface="Aptos" pitchFamily="34" charset="0"/>
                <a:ea typeface="Aptos" pitchFamily="34" charset="-122"/>
                <a:cs typeface="Aptos" pitchFamily="34" charset="-120"/>
              </a:rPr>
              <a:t>What source material should be used to verify the output?</a:t>
            </a:r>
            <a:endParaRPr lang="en-US" sz="2100" dirty="0"/>
          </a:p>
          <a:p>
            <a:r>
              <a:rPr lang="en-US" sz="2100" dirty="0">
                <a:solidFill>
                  <a:srgbClr val="17364A"/>
                </a:solidFill>
                <a:latin typeface="Aptos" pitchFamily="34" charset="0"/>
                <a:ea typeface="Aptos" pitchFamily="34" charset="-122"/>
                <a:cs typeface="Aptos" pitchFamily="34" charset="-120"/>
              </a:rPr>
              <a:t>What errors or omissions would be most harmful?</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type of generative AI output is being evaluated?</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2100" dirty="0"/>
          </a:p>
          <a:p>
            <a:r>
              <a:rPr lang="en-US" sz="2100" dirty="0">
                <a:solidFill>
                  <a:srgbClr val="17364A"/>
                </a:solidFill>
                <a:latin typeface="Aptos" pitchFamily="34" charset="0"/>
                <a:ea typeface="Aptos" pitchFamily="34" charset="-122"/>
                <a:cs typeface="Aptos" pitchFamily="34" charset="-120"/>
              </a:rPr>
              <a:t>What documentation is required before the output can be used?</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What review criteria are needed for equity, accessibility, language, and tone?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2100" dirty="0"/>
          </a:p>
          <a:p>
            <a:r>
              <a:rPr lang="en-US" sz="2100" dirty="0">
                <a:solidFill>
                  <a:srgbClr val="17364A"/>
                </a:solidFill>
                <a:latin typeface="Aptos" pitchFamily="34" charset="0"/>
                <a:ea typeface="Aptos" pitchFamily="34" charset="-122"/>
                <a:cs typeface="Aptos" pitchFamily="34" charset="-120"/>
              </a:rPr>
              <a:t>Include intended use, source verification, factuality, completeness, unsupported claims, omissions,.</a:t>
            </a:r>
            <a:endParaRPr lang="en-US" sz="2100" dirty="0"/>
          </a:p>
          <a:p>
            <a:r>
              <a:rPr lang="en-US" sz="2100" dirty="0">
                <a:solidFill>
                  <a:srgbClr val="17364A"/>
                </a:solidFill>
                <a:latin typeface="Aptos" pitchFamily="34" charset="0"/>
                <a:ea typeface="Aptos" pitchFamily="34" charset="-122"/>
                <a:cs typeface="Aptos" pitchFamily="34" charset="-120"/>
              </a:rPr>
              <a:t>Then apply the rubric to a sample AI-generated output and document whether the output should be.</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Create a generative AI output evaluation rubric for one public health use case.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Approval or escalation documentation</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Approval or escalation documentation</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Generative AI output evaluation rubric</a:t>
            </a:r>
            <a:endParaRPr lang="en-US" sz="2100" dirty="0"/>
          </a:p>
          <a:p>
            <a:r>
              <a:rPr lang="en-US" sz="2100" dirty="0">
                <a:solidFill>
                  <a:srgbClr val="17364A"/>
                </a:solidFill>
                <a:latin typeface="Aptos" pitchFamily="34" charset="0"/>
                <a:ea typeface="Aptos" pitchFamily="34" charset="-122"/>
                <a:cs typeface="Aptos" pitchFamily="34" charset="-120"/>
              </a:rPr>
              <a:t>Completed sample review</a:t>
            </a:r>
            <a:endParaRPr lang="en-US" sz="2100" dirty="0"/>
          </a:p>
          <a:p>
            <a:r>
              <a:rPr lang="en-US" sz="2100" dirty="0">
                <a:solidFill>
                  <a:srgbClr val="17364A"/>
                </a:solidFill>
                <a:latin typeface="Aptos" pitchFamily="34" charset="0"/>
                <a:ea typeface="Aptos" pitchFamily="34" charset="-122"/>
                <a:cs typeface="Aptos" pitchFamily="34" charset="-120"/>
              </a:rPr>
              <a:t>Source verification notes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Generative AI output evaluation rubric</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1. Why is fluency not enough to trust a generative AI output?</a:t>
            </a:r>
            <a:endParaRPr lang="en-US" sz="2100" dirty="0"/>
          </a:p>
          <a:p>
            <a:r>
              <a:rPr lang="en-US" sz="2100" dirty="0">
                <a:solidFill>
                  <a:srgbClr val="17364A"/>
                </a:solidFill>
                <a:latin typeface="Aptos" pitchFamily="34" charset="0"/>
                <a:ea typeface="Aptos" pitchFamily="34" charset="-122"/>
                <a:cs typeface="Aptos" pitchFamily="34" charset="-120"/>
              </a:rPr>
              <a:t>2. What does grounding mean?</a:t>
            </a:r>
            <a:endParaRPr lang="en-US" sz="2100" dirty="0"/>
          </a:p>
          <a:p>
            <a:r>
              <a:rPr lang="en-US" sz="2100" dirty="0">
                <a:solidFill>
                  <a:srgbClr val="17364A"/>
                </a:solidFill>
                <a:latin typeface="Aptos" pitchFamily="34" charset="0"/>
                <a:ea typeface="Aptos" pitchFamily="34" charset="-122"/>
                <a:cs typeface="Aptos" pitchFamily="34" charset="-120"/>
              </a:rPr>
              <a:t>3. Which issue can be as harmful as an incorrect statement?</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1. Why is fluency not enough to trust a generative AI output?</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5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Evaluation of Generative AI Outputs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635" tIns="635" rIns="635" bIns="635" rtlCol="0" anchor="t">
            <a:normAutofit/>
          </a:bodyPr>
          <a:lstStyle/>
          <a:p>
            <a:r>
              <a:rPr lang="en-US" sz="2100" dirty="0">
                <a:solidFill>
                  <a:srgbClr val="17364A"/>
                </a:solidFill>
                <a:latin typeface="Aptos" pitchFamily="34" charset="0"/>
                <a:ea typeface="Aptos" pitchFamily="34" charset="-122"/>
                <a:cs typeface="Aptos" pitchFamily="34" charset="-120"/>
              </a:rPr>
              <a:t>NIST AI RMF Generative AI Profile:.</a:t>
            </a:r>
            <a:endParaRPr lang="en-US" sz="2100" dirty="0"/>
          </a:p>
          <a:p>
            <a:r>
              <a:rPr lang="en-US" sz="2100" dirty="0">
                <a:solidFill>
                  <a:srgbClr val="17364A"/>
                </a:solidFill>
                <a:latin typeface="Aptos" pitchFamily="34" charset="0"/>
                <a:ea typeface="Aptos" pitchFamily="34" charset="-122"/>
                <a:cs typeface="Aptos" pitchFamily="34" charset="-120"/>
              </a:rPr>
              <a:t>NIST Artificial Intelligence Risk Management Framework:.</a:t>
            </a:r>
            <a:endParaRPr lang="en-US" sz="2100" dirty="0"/>
          </a:p>
          <a:p>
            <a:r>
              <a:rPr lang="en-US" sz="2100" dirty="0">
                <a:solidFill>
                  <a:srgbClr val="17364A"/>
                </a:solidFill>
                <a:latin typeface="Aptos" pitchFamily="34" charset="0"/>
                <a:ea typeface="Aptos" pitchFamily="34" charset="-122"/>
                <a:cs typeface="Aptos" pitchFamily="34" charset="-120"/>
              </a:rPr>
              <a:t>OWASP Top 10 for Large Language Model Applications:.</a:t>
            </a:r>
            <a:endParaRPr lang="en-US" sz="2100" dirty="0"/>
          </a:p>
        </p:txBody>
      </p:sp>
      <p:sp>
        <p:nvSpPr>
          <p:cNvPr id="10" name="Shape 8"/>
          <p:cNvSpPr/>
          <p:nvPr/>
        </p:nvSpPr>
        <p:spPr>
          <a:xfrm>
            <a:off x="7635240" y="1325880"/>
            <a:ext cx="3474720" cy="1325880"/>
          </a:xfrm>
          <a:prstGeom prst="roundRect">
            <a:avLst>
              <a:gd name="adj" fmla="val 8276"/>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Data decision</a:t>
            </a:r>
            <a:endParaRPr lang="en-US" sz="1300" dirty="0"/>
          </a:p>
        </p:txBody>
      </p:sp>
      <p:sp>
        <p:nvSpPr>
          <p:cNvPr id="12" name="Text 10"/>
          <p:cNvSpPr/>
          <p:nvPr/>
        </p:nvSpPr>
        <p:spPr>
          <a:xfrm>
            <a:off x="7799832" y="1828800"/>
            <a:ext cx="3145536" cy="68580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NIST AI RMF Generative AI Profile:.</a:t>
            </a:r>
            <a:endParaRPr lang="en-US" sz="1550" dirty="0"/>
          </a:p>
        </p:txBody>
      </p:sp>
      <p:sp>
        <p:nvSpPr>
          <p:cNvPr id="13" name="Shape 11"/>
          <p:cNvSpPr/>
          <p:nvPr/>
        </p:nvSpPr>
        <p:spPr>
          <a:xfrm>
            <a:off x="7635240" y="2788920"/>
            <a:ext cx="3474720" cy="1536192"/>
          </a:xfrm>
          <a:prstGeom prst="roundRect">
            <a:avLst>
              <a:gd name="adj" fmla="val 7143"/>
            </a:avLst>
          </a:prstGeom>
          <a:solidFill>
            <a:srgbClr val="FFFFFF">
              <a:alpha val="88000"/>
            </a:srgbClr>
          </a:solidFill>
          <a:ln w="12700">
            <a:solidFill>
              <a:srgbClr val="D6E8F2"/>
            </a:solidFill>
            <a:prstDash val="solid"/>
          </a:ln>
        </p:spPr>
      </p:sp>
      <p:sp>
        <p:nvSpPr>
          <p:cNvPr id="14" name="Shape 12"/>
          <p:cNvSpPr/>
          <p:nvPr/>
        </p:nvSpPr>
        <p:spPr>
          <a:xfrm>
            <a:off x="8138160" y="3474720"/>
            <a:ext cx="256032" cy="411480"/>
          </a:xfrm>
          <a:prstGeom prst="rect">
            <a:avLst/>
          </a:prstGeom>
          <a:solidFill>
            <a:srgbClr val="0068B7"/>
          </a:solidFill>
          <a:ln w="12700">
            <a:solidFill>
              <a:srgbClr val="0068B7"/>
            </a:solidFill>
            <a:prstDash val="solid"/>
          </a:ln>
        </p:spPr>
      </p:sp>
      <p:sp>
        <p:nvSpPr>
          <p:cNvPr id="15" name="Shape 13"/>
          <p:cNvSpPr/>
          <p:nvPr/>
        </p:nvSpPr>
        <p:spPr>
          <a:xfrm>
            <a:off x="8577072" y="3172968"/>
            <a:ext cx="256032" cy="713232"/>
          </a:xfrm>
          <a:prstGeom prst="rect">
            <a:avLst/>
          </a:prstGeom>
          <a:solidFill>
            <a:srgbClr val="2F8A28"/>
          </a:solidFill>
          <a:ln w="12700">
            <a:solidFill>
              <a:srgbClr val="2F8A28"/>
            </a:solidFill>
            <a:prstDash val="solid"/>
          </a:ln>
        </p:spPr>
      </p:sp>
      <p:sp>
        <p:nvSpPr>
          <p:cNvPr id="16" name="Shape 14"/>
          <p:cNvSpPr/>
          <p:nvPr/>
        </p:nvSpPr>
        <p:spPr>
          <a:xfrm>
            <a:off x="9015984" y="2880360"/>
            <a:ext cx="256032" cy="1005840"/>
          </a:xfrm>
          <a:prstGeom prst="rect">
            <a:avLst/>
          </a:prstGeom>
          <a:solidFill>
            <a:srgbClr val="D69A2D"/>
          </a:solidFill>
          <a:ln w="12700">
            <a:solidFill>
              <a:srgbClr val="D69A2D"/>
            </a:solidFill>
            <a:prstDash val="solid"/>
          </a:ln>
        </p:spPr>
      </p:sp>
      <p:sp>
        <p:nvSpPr>
          <p:cNvPr id="17" name="Shape 15"/>
          <p:cNvSpPr/>
          <p:nvPr/>
        </p:nvSpPr>
        <p:spPr>
          <a:xfrm>
            <a:off x="9454896" y="3319272"/>
            <a:ext cx="256032" cy="566928"/>
          </a:xfrm>
          <a:prstGeom prst="rect">
            <a:avLst/>
          </a:prstGeom>
          <a:solidFill>
            <a:srgbClr val="6A4CA3"/>
          </a:solidFill>
          <a:ln w="12700">
            <a:solidFill>
              <a:srgbClr val="6A4CA3"/>
            </a:solidFill>
            <a:prstDash val="solid"/>
          </a:ln>
        </p:spPr>
      </p:sp>
      <p:sp>
        <p:nvSpPr>
          <p:cNvPr id="18" name="Shape 16"/>
          <p:cNvSpPr/>
          <p:nvPr/>
        </p:nvSpPr>
        <p:spPr>
          <a:xfrm>
            <a:off x="8019288" y="3886200"/>
            <a:ext cx="2706624" cy="0"/>
          </a:xfrm>
          <a:prstGeom prst="line">
            <a:avLst/>
          </a:prstGeom>
          <a:noFill/>
          <a:ln w="15240">
            <a:solidFill>
              <a:srgbClr val="003A63"/>
            </a:solidFill>
            <a:prstDash val="solid"/>
          </a:ln>
        </p:spPr>
      </p:sp>
      <p:sp>
        <p:nvSpPr>
          <p:cNvPr id="19" name="Text 17"/>
          <p:cNvSpPr/>
          <p:nvPr/>
        </p:nvSpPr>
        <p:spPr>
          <a:xfrm>
            <a:off x="7863840" y="3017520"/>
            <a:ext cx="3017520" cy="201168"/>
          </a:xfrm>
          <a:prstGeom prst="rect">
            <a:avLst/>
          </a:prstGeom>
          <a:noFill/>
          <a:ln/>
        </p:spPr>
        <p:txBody>
          <a:bodyPr wrap="square" lIns="0" tIns="0" rIns="0" bIns="0" rtlCol="0" anchor="ctr"/>
          <a:lstStyle/>
          <a:p>
            <a:pPr algn="ctr" indent="0" marL="0">
              <a:buNone/>
            </a:pPr>
            <a:r>
              <a:rPr lang="en-US" sz="1050" b="1" dirty="0">
                <a:solidFill>
                  <a:srgbClr val="003A63"/>
                </a:solidFill>
                <a:latin typeface="Aptos" pitchFamily="34" charset="0"/>
                <a:ea typeface="Aptos" pitchFamily="34" charset="-122"/>
                <a:cs typeface="Aptos" pitchFamily="34" charset="-120"/>
              </a:rPr>
              <a:t>Measure and monitor</a:t>
            </a:r>
            <a:endParaRPr lang="en-US" sz="1050" dirty="0"/>
          </a:p>
        </p:txBody>
      </p:sp>
      <p:sp>
        <p:nvSpPr>
          <p:cNvPr id="20" name="Shape 18"/>
          <p:cNvSpPr/>
          <p:nvPr/>
        </p:nvSpPr>
        <p:spPr>
          <a:xfrm>
            <a:off x="7635240" y="4498848"/>
            <a:ext cx="3474720" cy="1143000"/>
          </a:xfrm>
          <a:prstGeom prst="roundRect">
            <a:avLst>
              <a:gd name="adj" fmla="val 9600"/>
            </a:avLst>
          </a:prstGeom>
          <a:solidFill>
            <a:srgbClr val="EAF6F8"/>
          </a:solidFill>
          <a:ln w="12700">
            <a:solidFill>
              <a:srgbClr val="B9D7E6"/>
            </a:solidFill>
            <a:prstDash val="solid"/>
          </a:ln>
        </p:spPr>
      </p:sp>
      <p:sp>
        <p:nvSpPr>
          <p:cNvPr id="21" name="Text 19"/>
          <p:cNvSpPr/>
          <p:nvPr/>
        </p:nvSpPr>
        <p:spPr>
          <a:xfrm>
            <a:off x="7799832" y="46451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How to validate</a:t>
            </a:r>
            <a:endParaRPr lang="en-US" sz="1300" dirty="0"/>
          </a:p>
        </p:txBody>
      </p:sp>
      <p:sp>
        <p:nvSpPr>
          <p:cNvPr id="22" name="Text 20"/>
          <p:cNvSpPr/>
          <p:nvPr/>
        </p:nvSpPr>
        <p:spPr>
          <a:xfrm>
            <a:off x="7799832" y="5001768"/>
            <a:ext cx="3145536" cy="502920"/>
          </a:xfrm>
          <a:prstGeom prst="rect">
            <a:avLst/>
          </a:prstGeom>
          <a:noFill/>
          <a:ln/>
        </p:spPr>
        <p:txBody>
          <a:bodyPr wrap="square" lIns="0" tIns="0" rIns="0" bIns="0" rtlCol="0" anchor="t">
            <a:normAutofit/>
          </a:bodyPr>
          <a:lstStyle/>
          <a:p>
            <a:pPr indent="0" marL="0">
              <a:buNone/>
            </a:pPr>
            <a:r>
              <a:rPr lang="en-US" sz="1550" dirty="0">
                <a:solidFill>
                  <a:srgbClr val="17364A"/>
                </a:solidFill>
                <a:latin typeface="Aptos" pitchFamily="34" charset="0"/>
                <a:ea typeface="Aptos" pitchFamily="34" charset="-122"/>
                <a:cs typeface="Aptos" pitchFamily="34" charset="-120"/>
              </a:rPr>
              <a:t>Connect the concept to data quality, model performance, validation evidence, monitoring measures, and decisions that remain under human control.</a:t>
            </a:r>
            <a:endParaRPr lang="en-US" sz="15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22</Slides>
  <Notes>22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22</vt:i4>
      </vt:variant>
    </vt:vector>
  </HeadingPairs>
  <TitlesOfParts>
    <vt:vector size="2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Evaluation of Generative AI Outputs</dc:title>
  <dc:subject>Evaluation of Generative AI Outputs learning module</dc:subject>
  <dc:creator>Paula Soper</dc:creator>
  <cp:lastModifiedBy>Paula Soper</cp:lastModifiedBy>
  <cp:revision>1</cp:revision>
  <dcterms:created xsi:type="dcterms:W3CDTF">2026-07-13T01:54:43Z</dcterms:created>
  <dcterms:modified xsi:type="dcterms:W3CDTF">2026-07-13T01:54:43Z</dcterms:modified>
</cp:coreProperties>
</file>