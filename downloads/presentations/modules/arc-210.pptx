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 210 Data Pipelines for Public Health AI
Data pipelines are the operational pathways that move public health data from source systems into analytic, reporting, and workflow environments. AI tools depend on these pathways even when users do not see them. A model that classifies cases, summarizes laboratory reports, or predicts service demand can only work responsibly if the data feeding the model are timely, complete, transformed correctly, and monitored. This module helps learners understand the pipeline steps that shape AI outputs and the safeguards needed when pipeline failures could affect public health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Technical Architecture Track
Appears in tracks: technical-architecture
Data pipelines are the operational pathways that move public health data from source systems into analytic, reporting, and workflow environments. AI tools depend on these pathways even when users do not see them. A model that classifies cases, summarizes laboratory reports, or predicts service demand can only work responsibly if the data feeding the model are timely, complete, transformed correctly, and monitored. This module helps learners understand the pipeline steps that shape AI outputs and the safeguards needed when pipeline failures could affect public health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12: Execute Governance and Oversight - This lesson informs Play 12 by helping learners connect the lesson topic to execute governance and oversight work in the AI Playbook.
Play 3: Establish AI Governance - This lesson informs Play 3 by helping learners connect the lesson topic to establish ai governance work in the AI Playbook sequence.
Play 13: Monitor and Evaluate AI Systems - This lesson informs Play 13 by helping learners connect the lesson topic to monitor and evaluate ai systems work in the AI Playbook.
Play 11: Build and Deploy AI Solutions - This lesson informs Play 11 by helping learners connect the lesson topic to build and deploy ai solutions work in the AI Playbook.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16: Incident Response Checklist (Checklist) - Use Incident Response Checklist to translate this lesson into a documented public health AI planning, governance,.
Tool 17: Compliance Audit Checklist (Checklist) - Use Compliance Audit Checklist to translate this lesson into a documented public health AI planning, governance, implementation,.
Tool 18: Policy Update &amp; Version Control Log (Log) - Use this tool to complete or strengthen the practical exercise for the module using fictional, de-identified, or generalized.
Tool 19: Plain-Language AI Public Notice Template (Template) - Use Plain-Language AI Public Notice Template to translate this lesson into a documented public health AI planning, governance,.
Tool 44: Performance Monitoring Dashboard (Dashboard) - Use this tool to complete or strengthen the practical exercise for the module using fictional, de-identified, or generalized.
Tool 45: Continuous Improvement Log (Log) - Use Continuous Improvement Log to translate this lesson into a documented public health AI planning, governance,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Describe the major steps in public health data pipelines, including ingestion, validation, transformation, storage, access, and monitoring.
Distinguish between batch, real-time, and event-driven data flows.
Explain how pipeline failures can affect AI outputs and operational decisions.
Identify metadata, lineage, version control, and audit needs for AI-supported workflows.
Produce a data pipeline readiness checklist for a public health AI use case.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Data pipelines are the operational pathways that move public health data from source systems into analytic, reporting, and workflow environments. AI tools depend on these pathways even when users do not see them. A model that classifies cases, summarizes laboratory reports, or predicts service demand can only work responsibly if the data feeding the model are timely, complete, transformed correctly, and monitored. This module helps learners understand the pipeline steps that shape AI outputs and the safeguards needed when pipeline failures could affect public health action.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Data pipeline readiness matters because AI systems can amplify routine data management problems. A delayed file, changed field name, failed interface, missing date, duplicate record, or outdated transformation rule may not be obvious to an end user. The AI tool may continue generating fluent summaries or confident classifications even after the data feed has become unreliable.
Public health agencies need pipeline visibility before they rely on AI for operational workflows. Visibility means knowing where data originate, how often they update, what transformations occur, what validation checks run, and who is alerted when something fails. A pipeline should not be treated as a hidden technical detail. It is part of the safety infrastructure for AI.
Pipeline review also supports public accountability. When an AI output affects case prioritization, outreach, resource allocation, or public messaging, the agency may need to explain which data were used and whether those data were current. A well-documented pipeline makes that explanation possible.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Data pipeline. A data pipeline is a set of technical and operational steps that moves data from a source to a destination where the data can be used. In public health, pipelines may include laboratory interfaces, EHR feeds, IIS submissions, syndromic surveillance feeds, vital records extracts, HIE connections, and program datasets. Each step creates an opportunity to improve or degrade data quality.
ETL and ELT. ETL stands for extract, transform, load, while ELT stands for extract, load, transform. ETL transforms data before they enter the target system, while ELT loads data first and transforms them later. The distinction matters for AI because staff need to know where data were changed and which version was used by the AI tool.
Pipeline monitoring. Pipeline monitoring is the routine process of checking whether data feeds, transformations, and outputs are working as intended. Monitoring may include file receipt, schema validation, required-field checks, timeliness checks, duplicate review, error queues, and volume trends. Monitoring should be tied to escalation when failures affect AI use.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Data lineage. Data lineage shows where data came from, what happened to them, and where they were used. Lineage supports validation, troubleshooting, incident response, and public records review. In AI workflows, lineage helps staff trace a questionable output back to its source data and transformation history.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syndromic surveillance team may use AI to identify unusual emergency department visit patterns. The model depends on timely data feeds from hospitals, correct parsing of chief complaint text, reliable facility identifiers, and consistent geographic information. If one large hospital feed stops or a field changes after an EHR upgrade, the AI tool may miss a signal or generate a false alert. Pipeline monitoring is therefore part of outbreak detection readiness.
A second example is an AI tool that drafts summaries of lab-based cases. The tool may rely on an ELR feed, a terminology mapping table, a deduplication process, and a case management interface. If any of those steps fail, the summary may omit a result, duplicate a patient, or misrepresent reportability. The pipeline must be reviewed before the AI output can be trusted.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Pipeline design begins with the source and ends with the user-facing decision or output. In between, data may be received, staged, validated, transformed, standardized, linked, loaded, indexed, analyzed, and displayed. Each step should have an owner, a purpose, a quality check, and a documented failure process.
Batch pipelines move data on a schedule, such as nightly files or weekly extracts. Real-time pipelines move data as events occur, such as laboratory reports or eCR messages. Event-driven pipelines trigger actions when a defined event occurs, such as creating a review task when a high-priority result arrives. AI workflows may use any of these models, but the monitoring and risk profile differ for each.
Metadata and version control are essential for AI-supported pipelines. Staff need to know which data dictionary, code mapping, model version, prompt template, transformation rule, and document collection were used at a specific time. This is especially important when an agency investigates an incident or compares AI performance before and after a system change.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Silent feed failure. A data feed can stop or change without visible failure in the AI interface. Guardrails include automated feed monitoring, expected volume thresholds, error queues, and notification procedures.
Schema and terminology changes. Source systems may change field names, formats, codes, or units. Guardrails include schema validation, terminology governance, release notes, and regression testing.
Unclear fallback process. Staff may continue using AI outputs when data are stale or incomplete. Guardrails include visible freshness indicators, pause rules, and manual fallback procedures.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Weak lineage. If transformations are not documented, staff may not be able to explain or correct AI errors. Guardrails include lineage documentation, version control, and audit trails.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may use pipeline outputs to summarize records, but the summary should indicate source freshness and preserve traceability. Predictive models may rely on engineered features created by a pipeline, so the feature pipeline must be monitored for drift and missingness. RAG systems depend on document ingestion pipelines, which must track document source, version, permissions, and refresh schedules. Agentic workflows may depend on event-driven pipelines, making failure handling and approval points especially important.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public health data feeds are most important to daily decisions in your program?
Which pipelines are automatically monitored, and which depend on manual review?
What failures would materially affect an AI output?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How would staff know if an AI output was based on stale or incomplete data?
Who has authority to pause AI use when a pipeline fails?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data pipeline readiness checklist for one AI-supported workflow. Identify the data source, update frequency, required fields, validation checks, transformations, lineage documentation, monitoring indicators, error notification process, and fallback procedure.
Document at least three pipeline failure scenarios and describe how each should be detected, escalated, and communicated to users.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Data pipeline map
Pipeline readiness checklist
Failure and escalation plan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Known data limitations statement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Data pipeline map
Pipeline readiness checklist
Failure and escalation plan
Known data limitations statement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reason to document data lineage for an AI-supported workflow?
2. Which pipeline type is most likely to trigger a workflow immediately after a defined event?
3. What is a practical guardrail for silent feed failure?
4. Why should source freshness be visible to users?
5. What is strong evidence of completion for this module?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Data Modernization Initiative materials: https://www.cdc.gov/data-modernization/php/index.html
CDC Public Health Data Strategy: https://www.cdc.gov/public-health-data-strategy/php/about/index.html
NIST AI Risk Management Framework: https://www.nist.gov/itl/ai-risk-management-framework
Agency data governance and system monitoring documentation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ARC 210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Data Pipelines for Public Health AI</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Data pipelines are the operational pathways that move public health data from source systems into analytic,.</a:t>
            </a:r>
            <a:endParaRPr lang="en-US" sz="2100" dirty="0"/>
          </a:p>
          <a:p>
            <a:r>
              <a:rPr lang="en-US" sz="2100" dirty="0">
                <a:solidFill>
                  <a:srgbClr val="17364A"/>
                </a:solidFill>
                <a:latin typeface="Aptos" pitchFamily="34" charset="0"/>
                <a:ea typeface="Aptos" pitchFamily="34" charset="-122"/>
                <a:cs typeface="Aptos" pitchFamily="34" charset="-120"/>
              </a:rPr>
              <a:t>AI tools depend on these pathways even when users do not see them.</a:t>
            </a:r>
            <a:endParaRPr lang="en-US" sz="2100" dirty="0"/>
          </a:p>
          <a:p>
            <a:r>
              <a:rPr lang="en-US" sz="2100" dirty="0">
                <a:solidFill>
                  <a:srgbClr val="17364A"/>
                </a:solidFill>
                <a:latin typeface="Aptos" pitchFamily="34" charset="0"/>
                <a:ea typeface="Aptos" pitchFamily="34" charset="-122"/>
                <a:cs typeface="Aptos" pitchFamily="34" charset="-120"/>
              </a:rPr>
              <a:t>A model that classifies cases, summarizes laboratory reports, or predicts service demand can only work.</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applied/foundational</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Technical Architecture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technical-architecture</a:t>
            </a:r>
            <a:endParaRPr lang="en-US" sz="155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22192"/>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Learning sequence</a:t>
            </a:r>
            <a:endParaRPr lang="en-US" sz="1300" dirty="0"/>
          </a:p>
        </p:txBody>
      </p:sp>
      <p:sp>
        <p:nvSpPr>
          <p:cNvPr id="15" name="Text 13"/>
          <p:cNvSpPr/>
          <p:nvPr/>
        </p:nvSpPr>
        <p:spPr>
          <a:xfrm>
            <a:off x="8092440" y="4187952"/>
            <a:ext cx="2770632" cy="1033272"/>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Read the module for shared vocabulary and context.</a:t>
            </a:r>
            <a:endParaRPr lang="en-US" sz="1380" dirty="0"/>
          </a:p>
          <a:p>
            <a:r>
              <a:rPr lang="en-US" sz="1380" dirty="0">
                <a:solidFill>
                  <a:srgbClr val="17364A"/>
                </a:solidFill>
                <a:latin typeface="Aptos" pitchFamily="34" charset="0"/>
                <a:ea typeface="Aptos" pitchFamily="34" charset="-122"/>
                <a:cs typeface="Aptos" pitchFamily="34" charset="-120"/>
              </a:rPr>
              <a:t>Complete the practical exercise to apply the concept.</a:t>
            </a:r>
            <a:endParaRPr lang="en-US" sz="1380" dirty="0"/>
          </a:p>
          <a:p>
            <a:r>
              <a:rPr lang="en-US" sz="1380" dirty="0">
                <a:solidFill>
                  <a:srgbClr val="17364A"/>
                </a:solidFill>
                <a:latin typeface="Aptos" pitchFamily="34" charset="0"/>
                <a:ea typeface="Aptos" pitchFamily="34" charset="-122"/>
                <a:cs typeface="Aptos" pitchFamily="34" charset="-120"/>
              </a:rPr>
              <a:t>Use the notes and references for deeper review.</a:t>
            </a:r>
            <a:endParaRPr lang="en-US" sz="13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12: Execute Governance and Oversight - This lesson informs Play 12 by helping learners connect the.</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13: Monitor and Evaluate AI Systems - This lesson informs Play 13 by helping learners connect the.</a:t>
            </a:r>
            <a:endParaRPr lang="en-US" sz="1900" dirty="0"/>
          </a:p>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4106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play links to</a:t>
            </a:r>
            <a:endParaRPr lang="en-US" sz="1300" dirty="0"/>
          </a:p>
        </p:txBody>
      </p:sp>
      <p:sp>
        <p:nvSpPr>
          <p:cNvPr id="15" name="Text 13"/>
          <p:cNvSpPr/>
          <p:nvPr/>
        </p:nvSpPr>
        <p:spPr>
          <a:xfrm>
            <a:off x="8229600" y="4306824"/>
            <a:ext cx="2679192" cy="941832"/>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Locate the decision point in the playbook sequence.</a:t>
            </a:r>
            <a:endParaRPr lang="en-US" sz="1380" dirty="0"/>
          </a:p>
          <a:p>
            <a:r>
              <a:rPr lang="en-US" sz="1380" dirty="0">
                <a:solidFill>
                  <a:srgbClr val="17364A"/>
                </a:solidFill>
                <a:latin typeface="Aptos" pitchFamily="34" charset="0"/>
                <a:ea typeface="Aptos" pitchFamily="34" charset="-122"/>
                <a:cs typeface="Aptos" pitchFamily="34" charset="-120"/>
              </a:rPr>
              <a:t>Identify who should participate in the work.</a:t>
            </a:r>
            <a:endParaRPr lang="en-US" sz="1380" dirty="0"/>
          </a:p>
          <a:p>
            <a:r>
              <a:rPr lang="en-US" sz="1380" dirty="0">
                <a:solidFill>
                  <a:srgbClr val="17364A"/>
                </a:solidFill>
                <a:latin typeface="Aptos" pitchFamily="34" charset="0"/>
                <a:ea typeface="Aptos" pitchFamily="34" charset="-122"/>
                <a:cs typeface="Aptos" pitchFamily="34" charset="-120"/>
              </a:rPr>
              <a:t>Document the review, approval, or implementation step.</a:t>
            </a:r>
            <a:endParaRPr lang="en-US" sz="13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16: Incident Response Checklist (Checklist) - Use Incident Response Checklist to translate this lesson.</a:t>
            </a:r>
            <a:endParaRPr lang="en-US" sz="1850" dirty="0"/>
          </a:p>
          <a:p>
            <a:r>
              <a:rPr lang="en-US" sz="1850" dirty="0">
                <a:solidFill>
                  <a:srgbClr val="17364A"/>
                </a:solidFill>
                <a:latin typeface="Aptos" pitchFamily="34" charset="0"/>
                <a:ea typeface="Aptos" pitchFamily="34" charset="-122"/>
                <a:cs typeface="Aptos" pitchFamily="34" charset="-120"/>
              </a:rPr>
              <a:t>Tool 17: Compliance Audit Checklist (Checklist) - Use Compliance Audit Checklist to translate this lesson.</a:t>
            </a:r>
            <a:endParaRPr lang="en-US" sz="1850" dirty="0"/>
          </a:p>
          <a:p>
            <a:r>
              <a:rPr lang="en-US" sz="1850" dirty="0">
                <a:solidFill>
                  <a:srgbClr val="17364A"/>
                </a:solidFill>
                <a:latin typeface="Aptos" pitchFamily="34" charset="0"/>
                <a:ea typeface="Aptos" pitchFamily="34" charset="-122"/>
                <a:cs typeface="Aptos" pitchFamily="34" charset="-120"/>
              </a:rPr>
              <a:t>Tool 18: Policy Update &amp; Version Control Log (Log) - Use this tool to complete or strengthen the practical.</a:t>
            </a:r>
            <a:endParaRPr lang="en-US" sz="1850" dirty="0"/>
          </a:p>
          <a:p>
            <a:r>
              <a:rPr lang="en-US" sz="1850" dirty="0">
                <a:solidFill>
                  <a:srgbClr val="17364A"/>
                </a:solidFill>
                <a:latin typeface="Aptos" pitchFamily="34" charset="0"/>
                <a:ea typeface="Aptos" pitchFamily="34" charset="-122"/>
                <a:cs typeface="Aptos" pitchFamily="34" charset="-120"/>
              </a:rPr>
              <a:t>Tool 19: Plain-Language AI Public Notice Template (Template) - Use Plain-Language AI Public Notice Template.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4106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Tool selection cues</a:t>
            </a:r>
            <a:endParaRPr lang="en-US" sz="1300" dirty="0"/>
          </a:p>
        </p:txBody>
      </p:sp>
      <p:sp>
        <p:nvSpPr>
          <p:cNvPr id="15" name="Text 13"/>
          <p:cNvSpPr/>
          <p:nvPr/>
        </p:nvSpPr>
        <p:spPr>
          <a:xfrm>
            <a:off x="8229600" y="4306824"/>
            <a:ext cx="2679192" cy="941832"/>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Use a tool when no comparable local process exists.</a:t>
            </a:r>
            <a:endParaRPr lang="en-US" sz="1380" dirty="0"/>
          </a:p>
          <a:p>
            <a:r>
              <a:rPr lang="en-US" sz="1380" dirty="0">
                <a:solidFill>
                  <a:srgbClr val="17364A"/>
                </a:solidFill>
                <a:latin typeface="Aptos" pitchFamily="34" charset="0"/>
                <a:ea typeface="Aptos" pitchFamily="34" charset="-122"/>
                <a:cs typeface="Aptos" pitchFamily="34" charset="-120"/>
              </a:rPr>
              <a:t>Adapt existing department templates when they already fit the purpose.</a:t>
            </a:r>
            <a:endParaRPr lang="en-US" sz="1380" dirty="0"/>
          </a:p>
          <a:p>
            <a:r>
              <a:rPr lang="en-US" sz="1380" dirty="0">
                <a:solidFill>
                  <a:srgbClr val="17364A"/>
                </a:solidFill>
                <a:latin typeface="Aptos" pitchFamily="34" charset="0"/>
                <a:ea typeface="Aptos" pitchFamily="34" charset="-122"/>
                <a:cs typeface="Aptos" pitchFamily="34" charset="-120"/>
              </a:rPr>
              <a:t>Save the completed artifact as evidence of the decision.</a:t>
            </a:r>
            <a:endParaRPr lang="en-US" sz="13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Describe the major steps in public health data pipelines, including ingestion, validation,.</a:t>
            </a:r>
            <a:endParaRPr lang="en-US" sz="2100" dirty="0"/>
          </a:p>
          <a:p>
            <a:r>
              <a:rPr lang="en-US" sz="2100" dirty="0">
                <a:solidFill>
                  <a:srgbClr val="17364A"/>
                </a:solidFill>
                <a:latin typeface="Aptos" pitchFamily="34" charset="0"/>
                <a:ea typeface="Aptos" pitchFamily="34" charset="-122"/>
                <a:cs typeface="Aptos" pitchFamily="34" charset="-120"/>
              </a:rPr>
              <a:t>Distinguish between batch, real-time, and event-driven data flows.</a:t>
            </a:r>
            <a:endParaRPr lang="en-US" sz="2100" dirty="0"/>
          </a:p>
          <a:p>
            <a:r>
              <a:rPr lang="en-US" sz="2100" dirty="0">
                <a:solidFill>
                  <a:srgbClr val="17364A"/>
                </a:solidFill>
                <a:latin typeface="Aptos" pitchFamily="34" charset="0"/>
                <a:ea typeface="Aptos" pitchFamily="34" charset="-122"/>
                <a:cs typeface="Aptos" pitchFamily="34" charset="-120"/>
              </a:rPr>
              <a:t>Explain how pipeline failures can affect AI outputs and operational decisions.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Data decision</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Describe the major steps in public health data pipelines, including ingestion, validation,.</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Describe the major steps in public health data pipelines, including ingestion, validation,.</a:t>
            </a:r>
            <a:endParaRPr lang="en-US" sz="1380" dirty="0"/>
          </a:p>
          <a:p>
            <a:r>
              <a:rPr lang="en-US" sz="1380" dirty="0">
                <a:solidFill>
                  <a:srgbClr val="17364A"/>
                </a:solidFill>
                <a:latin typeface="Aptos" pitchFamily="34" charset="0"/>
                <a:ea typeface="Aptos" pitchFamily="34" charset="-122"/>
                <a:cs typeface="Aptos" pitchFamily="34" charset="-120"/>
              </a:rPr>
              <a:t>Identify metadata, lineage, version control, and audit needs for AI-supported workflows.</a:t>
            </a:r>
            <a:endParaRPr lang="en-US" sz="1380" dirty="0"/>
          </a:p>
          <a:p>
            <a:r>
              <a:rPr lang="en-US" sz="1380" dirty="0">
                <a:solidFill>
                  <a:srgbClr val="17364A"/>
                </a:solidFill>
                <a:latin typeface="Aptos" pitchFamily="34" charset="0"/>
                <a:ea typeface="Aptos" pitchFamily="34" charset="-122"/>
                <a:cs typeface="Aptos" pitchFamily="34" charset="-120"/>
              </a:rPr>
              <a:t>Produce a data pipeline readiness checklist for a public health AI use case.</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How to validate</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Data pipelines are the operational pathways that move public health data from source systems into.</a:t>
            </a:r>
            <a:endParaRPr lang="en-US" sz="2100" dirty="0"/>
          </a:p>
          <a:p>
            <a:r>
              <a:rPr lang="en-US" sz="2100" dirty="0">
                <a:solidFill>
                  <a:srgbClr val="17364A"/>
                </a:solidFill>
                <a:latin typeface="Aptos" pitchFamily="34" charset="0"/>
                <a:ea typeface="Aptos" pitchFamily="34" charset="-122"/>
                <a:cs typeface="Aptos" pitchFamily="34" charset="-120"/>
              </a:rPr>
              <a:t>AI tools depend on these pathways even when users do not see them.</a:t>
            </a:r>
            <a:endParaRPr lang="en-US" sz="2100" dirty="0"/>
          </a:p>
          <a:p>
            <a:r>
              <a:rPr lang="en-US" sz="2100" dirty="0">
                <a:solidFill>
                  <a:srgbClr val="17364A"/>
                </a:solidFill>
                <a:latin typeface="Aptos" pitchFamily="34" charset="0"/>
                <a:ea typeface="Aptos" pitchFamily="34" charset="-122"/>
                <a:cs typeface="Aptos" pitchFamily="34" charset="-120"/>
              </a:rPr>
              <a:t>A model that classifies cases, summarizes laboratory reports, or predicts service demand can only work.</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Data decision</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Data pipelines are the operational pathways that move public health data from source systems into.</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Data pipelines are the operational pathways that move public health data from source.</a:t>
            </a:r>
            <a:endParaRPr lang="en-US" sz="1380" dirty="0"/>
          </a:p>
          <a:p>
            <a:r>
              <a:rPr lang="en-US" sz="1380" dirty="0">
                <a:solidFill>
                  <a:srgbClr val="17364A"/>
                </a:solidFill>
                <a:latin typeface="Aptos" pitchFamily="34" charset="0"/>
                <a:ea typeface="Aptos" pitchFamily="34" charset="-122"/>
                <a:cs typeface="Aptos" pitchFamily="34" charset="-120"/>
              </a:rPr>
              <a:t>A model that classifies cases, summarizes laboratory reports, or predicts service demand.</a:t>
            </a:r>
            <a:endParaRPr lang="en-US" sz="1380" dirty="0"/>
          </a:p>
          <a:p>
            <a:r>
              <a:rPr lang="en-US" sz="1380" dirty="0">
                <a:solidFill>
                  <a:srgbClr val="17364A"/>
                </a:solidFill>
                <a:latin typeface="Aptos" pitchFamily="34" charset="0"/>
                <a:ea typeface="Aptos" pitchFamily="34" charset="-122"/>
                <a:cs typeface="Aptos" pitchFamily="34" charset="-120"/>
              </a:rPr>
              <a:t>This module helps learners understand the pipeline steps that shape AI outputs and the.</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How to validate</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data quality, model performance, validation evidence, monitoring measures, and decisions that remain under human control.</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Data pipeline readiness matters because AI systems can amplify routine data management problems.</a:t>
            </a:r>
            <a:endParaRPr lang="en-US" sz="2100" dirty="0"/>
          </a:p>
          <a:p>
            <a:r>
              <a:rPr lang="en-US" sz="2100" dirty="0">
                <a:solidFill>
                  <a:srgbClr val="17364A"/>
                </a:solidFill>
                <a:latin typeface="Aptos" pitchFamily="34" charset="0"/>
                <a:ea typeface="Aptos" pitchFamily="34" charset="-122"/>
                <a:cs typeface="Aptos" pitchFamily="34" charset="-120"/>
              </a:rPr>
              <a:t>A delayed file, changed field name, failed interface, missing date, duplicate record, or outdated.</a:t>
            </a:r>
            <a:endParaRPr lang="en-US" sz="2100" dirty="0"/>
          </a:p>
          <a:p>
            <a:r>
              <a:rPr lang="en-US" sz="2100" dirty="0">
                <a:solidFill>
                  <a:srgbClr val="17364A"/>
                </a:solidFill>
                <a:latin typeface="Aptos" pitchFamily="34" charset="0"/>
                <a:ea typeface="Aptos" pitchFamily="34" charset="-122"/>
                <a:cs typeface="Aptos" pitchFamily="34" charset="-120"/>
              </a:rPr>
              <a:t>The AI tool may continue generating fluent summaries or confident classifications even after the data.</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Data decision</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Data pipeline readiness matters because AI systems can amplify routine data management problems.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A delayed file, changed field name, failed interface, missing date, duplicate record, or.</a:t>
            </a:r>
            <a:endParaRPr lang="en-US" sz="1380" dirty="0"/>
          </a:p>
          <a:p>
            <a:r>
              <a:rPr lang="en-US" sz="1380" dirty="0">
                <a:solidFill>
                  <a:srgbClr val="17364A"/>
                </a:solidFill>
                <a:latin typeface="Aptos" pitchFamily="34" charset="0"/>
                <a:ea typeface="Aptos" pitchFamily="34" charset="-122"/>
                <a:cs typeface="Aptos" pitchFamily="34" charset="-120"/>
              </a:rPr>
              <a:t>The AI tool may continue generating fluent summaries or confident classifications even.</a:t>
            </a:r>
            <a:endParaRPr lang="en-US" sz="1380" dirty="0"/>
          </a:p>
          <a:p>
            <a:r>
              <a:rPr lang="en-US" sz="1380" dirty="0">
                <a:solidFill>
                  <a:srgbClr val="17364A"/>
                </a:solidFill>
                <a:latin typeface="Aptos" pitchFamily="34" charset="0"/>
                <a:ea typeface="Aptos" pitchFamily="34" charset="-122"/>
                <a:cs typeface="Aptos" pitchFamily="34" charset="-120"/>
              </a:rPr>
              <a:t>Public health agencies need pipeline visibility before they rely on AI for operational.</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How to validate</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data quality, model performance, validation evidence, monitoring measures, and decisions that remain under human control.</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Data pipeline.</a:t>
            </a:r>
            <a:endParaRPr lang="en-US" sz="2100" dirty="0"/>
          </a:p>
          <a:p>
            <a:r>
              <a:rPr lang="en-US" sz="2100" dirty="0">
                <a:solidFill>
                  <a:srgbClr val="17364A"/>
                </a:solidFill>
                <a:latin typeface="Aptos" pitchFamily="34" charset="0"/>
                <a:ea typeface="Aptos" pitchFamily="34" charset="-122"/>
                <a:cs typeface="Aptos" pitchFamily="34" charset="-120"/>
              </a:rPr>
              <a:t>A data pipeline is a set of technical and operational steps that moves data from a source to a.</a:t>
            </a:r>
            <a:endParaRPr lang="en-US" sz="2100" dirty="0"/>
          </a:p>
          <a:p>
            <a:r>
              <a:rPr lang="en-US" sz="2100" dirty="0">
                <a:solidFill>
                  <a:srgbClr val="17364A"/>
                </a:solidFill>
                <a:latin typeface="Aptos" pitchFamily="34" charset="0"/>
                <a:ea typeface="Aptos" pitchFamily="34" charset="-122"/>
                <a:cs typeface="Aptos" pitchFamily="34" charset="-120"/>
              </a:rPr>
              <a:t>In public health, pipelines may include laboratory interfaces, EHR feeds, IIS submissions, syndromic.</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Data decision</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Data pipeline.</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A data pipeline is a set of technical and operational steps that moves data from a source.</a:t>
            </a:r>
            <a:endParaRPr lang="en-US" sz="1380" dirty="0"/>
          </a:p>
          <a:p>
            <a:r>
              <a:rPr lang="en-US" sz="1380" dirty="0">
                <a:solidFill>
                  <a:srgbClr val="17364A"/>
                </a:solidFill>
                <a:latin typeface="Aptos" pitchFamily="34" charset="0"/>
                <a:ea typeface="Aptos" pitchFamily="34" charset="-122"/>
                <a:cs typeface="Aptos" pitchFamily="34" charset="-120"/>
              </a:rPr>
              <a:t>In public health, pipelines may include laboratory interfaces, EHR feeds, IIS submissions,.</a:t>
            </a:r>
            <a:endParaRPr lang="en-US" sz="1380" dirty="0"/>
          </a:p>
          <a:p>
            <a:r>
              <a:rPr lang="en-US" sz="1380" dirty="0">
                <a:solidFill>
                  <a:srgbClr val="17364A"/>
                </a:solidFill>
                <a:latin typeface="Aptos" pitchFamily="34" charset="0"/>
                <a:ea typeface="Aptos" pitchFamily="34" charset="-122"/>
                <a:cs typeface="Aptos" pitchFamily="34" charset="-120"/>
              </a:rPr>
              <a:t>Each step creates an opportunity to improve or degrade data quality.</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How to validate</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data quality, model performance, validation evidence, monitoring measures, and decisions that remain under human control.</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Data lineage.</a:t>
            </a:r>
            <a:endParaRPr lang="en-US" sz="2100" dirty="0"/>
          </a:p>
          <a:p>
            <a:r>
              <a:rPr lang="en-US" sz="2100" dirty="0">
                <a:solidFill>
                  <a:srgbClr val="17364A"/>
                </a:solidFill>
                <a:latin typeface="Aptos" pitchFamily="34" charset="0"/>
                <a:ea typeface="Aptos" pitchFamily="34" charset="-122"/>
                <a:cs typeface="Aptos" pitchFamily="34" charset="-120"/>
              </a:rPr>
              <a:t>Data lineage shows where data came from, what happened to them, and where they were used.</a:t>
            </a:r>
            <a:endParaRPr lang="en-US" sz="2100" dirty="0"/>
          </a:p>
          <a:p>
            <a:r>
              <a:rPr lang="en-US" sz="2100" dirty="0">
                <a:solidFill>
                  <a:srgbClr val="17364A"/>
                </a:solidFill>
                <a:latin typeface="Aptos" pitchFamily="34" charset="0"/>
                <a:ea typeface="Aptos" pitchFamily="34" charset="-122"/>
                <a:cs typeface="Aptos" pitchFamily="34" charset="-120"/>
              </a:rPr>
              <a:t>Lineage supports validation, troubleshooting, incident response, and public records review.</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Data decision</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Data lineage.</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Data lineage.</a:t>
            </a:r>
            <a:endParaRPr lang="en-US" sz="1380" dirty="0"/>
          </a:p>
          <a:p>
            <a:r>
              <a:rPr lang="en-US" sz="1380" dirty="0">
                <a:solidFill>
                  <a:srgbClr val="17364A"/>
                </a:solidFill>
                <a:latin typeface="Aptos" pitchFamily="34" charset="0"/>
                <a:ea typeface="Aptos" pitchFamily="34" charset="-122"/>
                <a:cs typeface="Aptos" pitchFamily="34" charset="-120"/>
              </a:rPr>
              <a:t>Data lineage shows where data came from, what happened to them, and where they were used.</a:t>
            </a:r>
            <a:endParaRPr lang="en-US" sz="1380" dirty="0"/>
          </a:p>
          <a:p>
            <a:r>
              <a:rPr lang="en-US" sz="1380" dirty="0">
                <a:solidFill>
                  <a:srgbClr val="17364A"/>
                </a:solidFill>
                <a:latin typeface="Aptos" pitchFamily="34" charset="0"/>
                <a:ea typeface="Aptos" pitchFamily="34" charset="-122"/>
                <a:cs typeface="Aptos" pitchFamily="34" charset="-120"/>
              </a:rPr>
              <a:t>Lineage supports validation, troubleshooting, incident response, and public records review.</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How to validate</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data quality, model performance, validation evidence, monitoring measures, and decisions that remain under human control.</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syndromic surveillance team may use AI to identify unusual emergency department visit patterns.</a:t>
            </a:r>
            <a:endParaRPr lang="en-US" sz="2100" dirty="0"/>
          </a:p>
          <a:p>
            <a:r>
              <a:rPr lang="en-US" sz="2100" dirty="0">
                <a:solidFill>
                  <a:srgbClr val="17364A"/>
                </a:solidFill>
                <a:latin typeface="Aptos" pitchFamily="34" charset="0"/>
                <a:ea typeface="Aptos" pitchFamily="34" charset="-122"/>
                <a:cs typeface="Aptos" pitchFamily="34" charset="-120"/>
              </a:rPr>
              <a:t>The model depends on timely data feeds from hospitals, correct parsing of chief complaint text,.</a:t>
            </a:r>
            <a:endParaRPr lang="en-US" sz="2100" dirty="0"/>
          </a:p>
          <a:p>
            <a:r>
              <a:rPr lang="en-US" sz="2100" dirty="0">
                <a:solidFill>
                  <a:srgbClr val="17364A"/>
                </a:solidFill>
                <a:latin typeface="Aptos" pitchFamily="34" charset="0"/>
                <a:ea typeface="Aptos" pitchFamily="34" charset="-122"/>
                <a:cs typeface="Aptos" pitchFamily="34" charset="-120"/>
              </a:rPr>
              <a:t>If one large hospital feed stops or a field changes after an EHR upgrade, the AI tool may miss a signal.</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Data decision</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syndromic surveillance team may use AI to identify unusual emergency department visit patterns.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The model depends on timely data feeds from hospitals, correct parsing of chief complaint.</a:t>
            </a:r>
            <a:endParaRPr lang="en-US" sz="1380" dirty="0"/>
          </a:p>
          <a:p>
            <a:r>
              <a:rPr lang="en-US" sz="1380" dirty="0">
                <a:solidFill>
                  <a:srgbClr val="17364A"/>
                </a:solidFill>
                <a:latin typeface="Aptos" pitchFamily="34" charset="0"/>
                <a:ea typeface="Aptos" pitchFamily="34" charset="-122"/>
                <a:cs typeface="Aptos" pitchFamily="34" charset="-120"/>
              </a:rPr>
              <a:t>If one large hospital feed stops or a field changes after an EHR upgrade, the AI tool may.</a:t>
            </a:r>
            <a:endParaRPr lang="en-US" sz="1380" dirty="0"/>
          </a:p>
          <a:p>
            <a:r>
              <a:rPr lang="en-US" sz="1380" dirty="0">
                <a:solidFill>
                  <a:srgbClr val="17364A"/>
                </a:solidFill>
                <a:latin typeface="Aptos" pitchFamily="34" charset="0"/>
                <a:ea typeface="Aptos" pitchFamily="34" charset="-122"/>
                <a:cs typeface="Aptos" pitchFamily="34" charset="-120"/>
              </a:rPr>
              <a:t>Pipeline monitoring is therefore part of outbreak detection readiness.</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How to validate</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data quality, model performance, validation evidence, monitoring measures, and decisions that remain under human control.</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Pipeline design begins with the source and ends with the user-facing decision or output.</a:t>
            </a:r>
            <a:endParaRPr lang="en-US" sz="2100" dirty="0"/>
          </a:p>
          <a:p>
            <a:r>
              <a:rPr lang="en-US" sz="2100" dirty="0">
                <a:solidFill>
                  <a:srgbClr val="17364A"/>
                </a:solidFill>
                <a:latin typeface="Aptos" pitchFamily="34" charset="0"/>
                <a:ea typeface="Aptos" pitchFamily="34" charset="-122"/>
                <a:cs typeface="Aptos" pitchFamily="34" charset="-120"/>
              </a:rPr>
              <a:t>In between, data may be received, staged, validated, transformed, standardized, linked, loaded,.</a:t>
            </a:r>
            <a:endParaRPr lang="en-US" sz="2100" dirty="0"/>
          </a:p>
          <a:p>
            <a:r>
              <a:rPr lang="en-US" sz="2100" dirty="0">
                <a:solidFill>
                  <a:srgbClr val="17364A"/>
                </a:solidFill>
                <a:latin typeface="Aptos" pitchFamily="34" charset="0"/>
                <a:ea typeface="Aptos" pitchFamily="34" charset="-122"/>
                <a:cs typeface="Aptos" pitchFamily="34" charset="-120"/>
              </a:rPr>
              <a:t>Each step should have an owner, a purpose, a quality check, and a documented failure process.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Data decision</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Pipeline design begins with the source and ends with the user-facing decision or output.</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In between, data may be received, staged, validated, transformed, standardized, linked,.</a:t>
            </a:r>
            <a:endParaRPr lang="en-US" sz="1380" dirty="0"/>
          </a:p>
          <a:p>
            <a:r>
              <a:rPr lang="en-US" sz="1380" dirty="0">
                <a:solidFill>
                  <a:srgbClr val="17364A"/>
                </a:solidFill>
                <a:latin typeface="Aptos" pitchFamily="34" charset="0"/>
                <a:ea typeface="Aptos" pitchFamily="34" charset="-122"/>
                <a:cs typeface="Aptos" pitchFamily="34" charset="-120"/>
              </a:rPr>
              <a:t>Batch pipelines move data on a schedule, such as nightly files or weekly extracts.</a:t>
            </a:r>
            <a:endParaRPr lang="en-US" sz="1380" dirty="0"/>
          </a:p>
          <a:p>
            <a:r>
              <a:rPr lang="en-US" sz="1380" dirty="0">
                <a:solidFill>
                  <a:srgbClr val="17364A"/>
                </a:solidFill>
                <a:latin typeface="Aptos" pitchFamily="34" charset="0"/>
                <a:ea typeface="Aptos" pitchFamily="34" charset="-122"/>
                <a:cs typeface="Aptos" pitchFamily="34" charset="-120"/>
              </a:rPr>
              <a:t>Real-time pipelines move data as events occur, such as laboratory reports or eCR messages.</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How to validate</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data quality, model performance, validation evidence, monitoring measures, and decisions that remain under human control.</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Silent feed failure.</a:t>
            </a:r>
            <a:endParaRPr lang="en-US" sz="2100" dirty="0"/>
          </a:p>
          <a:p>
            <a:r>
              <a:rPr lang="en-US" sz="2100" dirty="0">
                <a:solidFill>
                  <a:srgbClr val="17364A"/>
                </a:solidFill>
                <a:latin typeface="Aptos" pitchFamily="34" charset="0"/>
                <a:ea typeface="Aptos" pitchFamily="34" charset="-122"/>
                <a:cs typeface="Aptos" pitchFamily="34" charset="-120"/>
              </a:rPr>
              <a:t>A data feed can stop or change without visible failure in the AI interface.</a:t>
            </a:r>
            <a:endParaRPr lang="en-US" sz="2100" dirty="0"/>
          </a:p>
          <a:p>
            <a:r>
              <a:rPr lang="en-US" sz="2100" dirty="0">
                <a:solidFill>
                  <a:srgbClr val="17364A"/>
                </a:solidFill>
                <a:latin typeface="Aptos" pitchFamily="34" charset="0"/>
                <a:ea typeface="Aptos" pitchFamily="34" charset="-122"/>
                <a:cs typeface="Aptos" pitchFamily="34" charset="-120"/>
              </a:rPr>
              <a:t>Guardrails include automated feed monitoring, expected volume thresholds, error queues, and.</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Silent feed failure.</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Guardrails include automated feed monitoring, expected volume thresholds, error queues,.</a:t>
            </a:r>
            <a:endParaRPr lang="en-US" sz="1380" dirty="0"/>
          </a:p>
          <a:p>
            <a:r>
              <a:rPr lang="en-US" sz="1380" dirty="0">
                <a:solidFill>
                  <a:srgbClr val="17364A"/>
                </a:solidFill>
                <a:latin typeface="Aptos" pitchFamily="34" charset="0"/>
                <a:ea typeface="Aptos" pitchFamily="34" charset="-122"/>
                <a:cs typeface="Aptos" pitchFamily="34" charset="-120"/>
              </a:rPr>
              <a:t>Schema and terminology changes.</a:t>
            </a:r>
            <a:endParaRPr lang="en-US" sz="1380" dirty="0"/>
          </a:p>
          <a:p>
            <a:r>
              <a:rPr lang="en-US" sz="1380" dirty="0">
                <a:solidFill>
                  <a:srgbClr val="17364A"/>
                </a:solidFill>
                <a:latin typeface="Aptos" pitchFamily="34" charset="0"/>
                <a:ea typeface="Aptos" pitchFamily="34" charset="-122"/>
                <a:cs typeface="Aptos" pitchFamily="34" charset="-120"/>
              </a:rPr>
              <a:t>Source systems may change field names, formats, codes, or units.</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Weak lineage.</a:t>
            </a:r>
            <a:endParaRPr lang="en-US" sz="2100" dirty="0"/>
          </a:p>
          <a:p>
            <a:r>
              <a:rPr lang="en-US" sz="2100" dirty="0">
                <a:solidFill>
                  <a:srgbClr val="17364A"/>
                </a:solidFill>
                <a:latin typeface="Aptos" pitchFamily="34" charset="0"/>
                <a:ea typeface="Aptos" pitchFamily="34" charset="-122"/>
                <a:cs typeface="Aptos" pitchFamily="34" charset="-120"/>
              </a:rPr>
              <a:t>If transformations are not documented, staff may not be able to explain or correct AI errors.</a:t>
            </a:r>
            <a:endParaRPr lang="en-US" sz="2100" dirty="0"/>
          </a:p>
          <a:p>
            <a:r>
              <a:rPr lang="en-US" sz="2100" dirty="0">
                <a:solidFill>
                  <a:srgbClr val="17364A"/>
                </a:solidFill>
                <a:latin typeface="Aptos" pitchFamily="34" charset="0"/>
                <a:ea typeface="Aptos" pitchFamily="34" charset="-122"/>
                <a:cs typeface="Aptos" pitchFamily="34" charset="-120"/>
              </a:rPr>
              <a:t>Guardrails include lineage documentation, version control, and audit trails.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Weak lineage.</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Weak lineage.</a:t>
            </a:r>
            <a:endParaRPr lang="en-US" sz="1380" dirty="0"/>
          </a:p>
          <a:p>
            <a:r>
              <a:rPr lang="en-US" sz="1380" dirty="0">
                <a:solidFill>
                  <a:srgbClr val="17364A"/>
                </a:solidFill>
                <a:latin typeface="Aptos" pitchFamily="34" charset="0"/>
                <a:ea typeface="Aptos" pitchFamily="34" charset="-122"/>
                <a:cs typeface="Aptos" pitchFamily="34" charset="-120"/>
              </a:rPr>
              <a:t>If transformations are not documented, staff may not be able to explain or correct AI.</a:t>
            </a:r>
            <a:endParaRPr lang="en-US" sz="1380" dirty="0"/>
          </a:p>
          <a:p>
            <a:r>
              <a:rPr lang="en-US" sz="1380" dirty="0">
                <a:solidFill>
                  <a:srgbClr val="17364A"/>
                </a:solidFill>
                <a:latin typeface="Aptos" pitchFamily="34" charset="0"/>
                <a:ea typeface="Aptos" pitchFamily="34" charset="-122"/>
                <a:cs typeface="Aptos" pitchFamily="34" charset="-120"/>
              </a:rPr>
              <a:t>Guardrails include lineage documentation, version control, and audit trails.</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Generative AI may use pipeline outputs to summarize records, but the summary should indicate source.</a:t>
            </a:r>
            <a:endParaRPr lang="en-US" sz="2100" dirty="0"/>
          </a:p>
          <a:p>
            <a:r>
              <a:rPr lang="en-US" sz="2100" dirty="0">
                <a:solidFill>
                  <a:srgbClr val="17364A"/>
                </a:solidFill>
                <a:latin typeface="Aptos" pitchFamily="34" charset="0"/>
                <a:ea typeface="Aptos" pitchFamily="34" charset="-122"/>
                <a:cs typeface="Aptos" pitchFamily="34" charset="-120"/>
              </a:rPr>
              <a:t>Predictive models may rely on engineered features created by a pipeline, so the feature pipeline must.</a:t>
            </a:r>
            <a:endParaRPr lang="en-US" sz="2100" dirty="0"/>
          </a:p>
          <a:p>
            <a:r>
              <a:rPr lang="en-US" sz="2100" dirty="0">
                <a:solidFill>
                  <a:srgbClr val="17364A"/>
                </a:solidFill>
                <a:latin typeface="Aptos" pitchFamily="34" charset="0"/>
                <a:ea typeface="Aptos" pitchFamily="34" charset="-122"/>
                <a:cs typeface="Aptos" pitchFamily="34" charset="-120"/>
              </a:rPr>
              <a:t>RAG systems depend on document ingestion pipelines, which must track document source, version,.</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Data decision</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Generative AI may use pipeline outputs to summarize records, but the summary should indicate source.</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Generative AI may use pipeline outputs to summarize records, but the summary should.</a:t>
            </a:r>
            <a:endParaRPr lang="en-US" sz="1380" dirty="0"/>
          </a:p>
          <a:p>
            <a:r>
              <a:rPr lang="en-US" sz="1380" dirty="0">
                <a:solidFill>
                  <a:srgbClr val="17364A"/>
                </a:solidFill>
                <a:latin typeface="Aptos" pitchFamily="34" charset="0"/>
                <a:ea typeface="Aptos" pitchFamily="34" charset="-122"/>
                <a:cs typeface="Aptos" pitchFamily="34" charset="-120"/>
              </a:rPr>
              <a:t>Predictive models may rely on engineered features created by a pipeline, so the feature.</a:t>
            </a:r>
            <a:endParaRPr lang="en-US" sz="1380" dirty="0"/>
          </a:p>
          <a:p>
            <a:r>
              <a:rPr lang="en-US" sz="1380" dirty="0">
                <a:solidFill>
                  <a:srgbClr val="17364A"/>
                </a:solidFill>
                <a:latin typeface="Aptos" pitchFamily="34" charset="0"/>
                <a:ea typeface="Aptos" pitchFamily="34" charset="-122"/>
                <a:cs typeface="Aptos" pitchFamily="34" charset="-120"/>
              </a:rPr>
              <a:t>RAG systems depend on document ingestion pipelines, which must track document source,.</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How to validate</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data quality, model performance, validation evidence, monitoring measures, and decisions that remain under human control.</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public health data feeds are most important to daily decisions in your program?</a:t>
            </a:r>
            <a:endParaRPr lang="en-US" sz="2100" dirty="0"/>
          </a:p>
          <a:p>
            <a:r>
              <a:rPr lang="en-US" sz="2100" dirty="0">
                <a:solidFill>
                  <a:srgbClr val="17364A"/>
                </a:solidFill>
                <a:latin typeface="Aptos" pitchFamily="34" charset="0"/>
                <a:ea typeface="Aptos" pitchFamily="34" charset="-122"/>
                <a:cs typeface="Aptos" pitchFamily="34" charset="-120"/>
              </a:rPr>
              <a:t>Which pipelines are automatically monitored, and which depend on manual review?</a:t>
            </a:r>
            <a:endParaRPr lang="en-US" sz="2100" dirty="0"/>
          </a:p>
          <a:p>
            <a:r>
              <a:rPr lang="en-US" sz="2100" dirty="0">
                <a:solidFill>
                  <a:srgbClr val="17364A"/>
                </a:solidFill>
                <a:latin typeface="Aptos" pitchFamily="34" charset="0"/>
                <a:ea typeface="Aptos" pitchFamily="34" charset="-122"/>
                <a:cs typeface="Aptos" pitchFamily="34" charset="-120"/>
              </a:rPr>
              <a:t>What failures would materially affect an AI output?</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Data decision</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public health data feeds are most important to daily decisions in your program?</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Which public health data feeds are most important to daily decisions in your program?</a:t>
            </a:r>
            <a:endParaRPr lang="en-US" sz="1380" dirty="0"/>
          </a:p>
          <a:p>
            <a:r>
              <a:rPr lang="en-US" sz="1380" dirty="0">
                <a:solidFill>
                  <a:srgbClr val="17364A"/>
                </a:solidFill>
                <a:latin typeface="Aptos" pitchFamily="34" charset="0"/>
                <a:ea typeface="Aptos" pitchFamily="34" charset="-122"/>
                <a:cs typeface="Aptos" pitchFamily="34" charset="-120"/>
              </a:rPr>
              <a:t>Which pipelines are automatically monitored, and which depend on manual review?</a:t>
            </a:r>
            <a:endParaRPr lang="en-US" sz="1380" dirty="0"/>
          </a:p>
          <a:p>
            <a:r>
              <a:rPr lang="en-US" sz="1380" dirty="0">
                <a:solidFill>
                  <a:srgbClr val="17364A"/>
                </a:solidFill>
                <a:latin typeface="Aptos" pitchFamily="34" charset="0"/>
                <a:ea typeface="Aptos" pitchFamily="34" charset="-122"/>
                <a:cs typeface="Aptos" pitchFamily="34" charset="-120"/>
              </a:rPr>
              <a:t>What failures would materially affect an AI output?</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How to validate</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data quality, model performance, validation evidence, monitoring measures, and decisions that remain under human control.</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How would staff know if an AI output was based on stale or incomplete data?</a:t>
            </a:r>
            <a:endParaRPr lang="en-US" sz="2100" dirty="0"/>
          </a:p>
          <a:p>
            <a:r>
              <a:rPr lang="en-US" sz="2100" dirty="0">
                <a:solidFill>
                  <a:srgbClr val="17364A"/>
                </a:solidFill>
                <a:latin typeface="Aptos" pitchFamily="34" charset="0"/>
                <a:ea typeface="Aptos" pitchFamily="34" charset="-122"/>
                <a:cs typeface="Aptos" pitchFamily="34" charset="-120"/>
              </a:rPr>
              <a:t>Who has authority to pause AI use when a pipeline fails?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Data decision</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How would staff know if an AI output was based on stale or incomplete data?</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How would staff know if an AI output was based on stale or incomplete data?</a:t>
            </a:r>
            <a:endParaRPr lang="en-US" sz="1380" dirty="0"/>
          </a:p>
          <a:p>
            <a:r>
              <a:rPr lang="en-US" sz="1380" dirty="0">
                <a:solidFill>
                  <a:srgbClr val="17364A"/>
                </a:solidFill>
                <a:latin typeface="Aptos" pitchFamily="34" charset="0"/>
                <a:ea typeface="Aptos" pitchFamily="34" charset="-122"/>
                <a:cs typeface="Aptos" pitchFamily="34" charset="-120"/>
              </a:rPr>
              <a:t>Who has authority to pause AI use when a pipeline fails?</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How to validate</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data quality, model performance, validation evidence, monitoring measures, and decisions that remain under human control.</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data pipeline readiness checklist for one AI-supported workflow.</a:t>
            </a:r>
            <a:endParaRPr lang="en-US" sz="2100" dirty="0"/>
          </a:p>
          <a:p>
            <a:r>
              <a:rPr lang="en-US" sz="2100" dirty="0">
                <a:solidFill>
                  <a:srgbClr val="17364A"/>
                </a:solidFill>
                <a:latin typeface="Aptos" pitchFamily="34" charset="0"/>
                <a:ea typeface="Aptos" pitchFamily="34" charset="-122"/>
                <a:cs typeface="Aptos" pitchFamily="34" charset="-120"/>
              </a:rPr>
              <a:t>Identify the data source, update frequency, required fields, validation checks, transformations,.</a:t>
            </a:r>
            <a:endParaRPr lang="en-US" sz="2100" dirty="0"/>
          </a:p>
          <a:p>
            <a:r>
              <a:rPr lang="en-US" sz="2100" dirty="0">
                <a:solidFill>
                  <a:srgbClr val="17364A"/>
                </a:solidFill>
                <a:latin typeface="Aptos" pitchFamily="34" charset="0"/>
                <a:ea typeface="Aptos" pitchFamily="34" charset="-122"/>
                <a:cs typeface="Aptos" pitchFamily="34" charset="-120"/>
              </a:rPr>
              <a:t>Document at least three pipeline failure scenarios and describe how each should be detected, escalated,.</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Data decision</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data pipeline readiness checklist for one AI-supported workflow.</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Identify the data source, update frequency, required fields, validation checks,.</a:t>
            </a:r>
            <a:endParaRPr lang="en-US" sz="1380" dirty="0"/>
          </a:p>
          <a:p>
            <a:r>
              <a:rPr lang="en-US" sz="1380" dirty="0">
                <a:solidFill>
                  <a:srgbClr val="17364A"/>
                </a:solidFill>
                <a:latin typeface="Aptos" pitchFamily="34" charset="0"/>
                <a:ea typeface="Aptos" pitchFamily="34" charset="-122"/>
                <a:cs typeface="Aptos" pitchFamily="34" charset="-120"/>
              </a:rPr>
              <a:t>Document at least three pipeline failure scenarios and describe how each should be.</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How to validate</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Data pipeline map</a:t>
            </a:r>
            <a:endParaRPr lang="en-US" sz="2100" dirty="0"/>
          </a:p>
          <a:p>
            <a:r>
              <a:rPr lang="en-US" sz="2100" dirty="0">
                <a:solidFill>
                  <a:srgbClr val="17364A"/>
                </a:solidFill>
                <a:latin typeface="Aptos" pitchFamily="34" charset="0"/>
                <a:ea typeface="Aptos" pitchFamily="34" charset="-122"/>
                <a:cs typeface="Aptos" pitchFamily="34" charset="-120"/>
              </a:rPr>
              <a:t>Pipeline readiness checklist</a:t>
            </a:r>
            <a:endParaRPr lang="en-US" sz="2100" dirty="0"/>
          </a:p>
          <a:p>
            <a:r>
              <a:rPr lang="en-US" sz="2100" dirty="0">
                <a:solidFill>
                  <a:srgbClr val="17364A"/>
                </a:solidFill>
                <a:latin typeface="Aptos" pitchFamily="34" charset="0"/>
                <a:ea typeface="Aptos" pitchFamily="34" charset="-122"/>
                <a:cs typeface="Aptos" pitchFamily="34" charset="-120"/>
              </a:rPr>
              <a:t>Failure and escalation plan</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Data decision</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Data pipeline map</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Data pipeline map</a:t>
            </a:r>
            <a:endParaRPr lang="en-US" sz="1380" dirty="0"/>
          </a:p>
          <a:p>
            <a:r>
              <a:rPr lang="en-US" sz="1380" dirty="0">
                <a:solidFill>
                  <a:srgbClr val="17364A"/>
                </a:solidFill>
                <a:latin typeface="Aptos" pitchFamily="34" charset="0"/>
                <a:ea typeface="Aptos" pitchFamily="34" charset="-122"/>
                <a:cs typeface="Aptos" pitchFamily="34" charset="-120"/>
              </a:rPr>
              <a:t>Pipeline readiness checklist</a:t>
            </a:r>
            <a:endParaRPr lang="en-US" sz="1380" dirty="0"/>
          </a:p>
          <a:p>
            <a:r>
              <a:rPr lang="en-US" sz="1380" dirty="0">
                <a:solidFill>
                  <a:srgbClr val="17364A"/>
                </a:solidFill>
                <a:latin typeface="Aptos" pitchFamily="34" charset="0"/>
                <a:ea typeface="Aptos" pitchFamily="34" charset="-122"/>
                <a:cs typeface="Aptos" pitchFamily="34" charset="-120"/>
              </a:rPr>
              <a:t>Failure and escalation plan</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How to validate</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data quality, model performance, validation evidence, monitoring measures, and decisions that remain under human control.</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Known data limitations statement</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Data decision</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Known data limitations statement</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Known data limitations statement</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How to validate</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data quality, model performance, validation evidence, monitoring measures, and decisions that remain under human control.</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Data pipeline map</a:t>
            </a:r>
            <a:endParaRPr lang="en-US" sz="2100" dirty="0"/>
          </a:p>
          <a:p>
            <a:r>
              <a:rPr lang="en-US" sz="2100" dirty="0">
                <a:solidFill>
                  <a:srgbClr val="17364A"/>
                </a:solidFill>
                <a:latin typeface="Aptos" pitchFamily="34" charset="0"/>
                <a:ea typeface="Aptos" pitchFamily="34" charset="-122"/>
                <a:cs typeface="Aptos" pitchFamily="34" charset="-120"/>
              </a:rPr>
              <a:t>Pipeline readiness checklist</a:t>
            </a:r>
            <a:endParaRPr lang="en-US" sz="2100" dirty="0"/>
          </a:p>
          <a:p>
            <a:r>
              <a:rPr lang="en-US" sz="2100" dirty="0">
                <a:solidFill>
                  <a:srgbClr val="17364A"/>
                </a:solidFill>
                <a:latin typeface="Aptos" pitchFamily="34" charset="0"/>
                <a:ea typeface="Aptos" pitchFamily="34" charset="-122"/>
                <a:cs typeface="Aptos" pitchFamily="34" charset="-120"/>
              </a:rPr>
              <a:t>Failure and escalation plan</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Data decision</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Data pipeline map</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Data pipeline map</a:t>
            </a:r>
            <a:endParaRPr lang="en-US" sz="1380" dirty="0"/>
          </a:p>
          <a:p>
            <a:r>
              <a:rPr lang="en-US" sz="1380" dirty="0">
                <a:solidFill>
                  <a:srgbClr val="17364A"/>
                </a:solidFill>
                <a:latin typeface="Aptos" pitchFamily="34" charset="0"/>
                <a:ea typeface="Aptos" pitchFamily="34" charset="-122"/>
                <a:cs typeface="Aptos" pitchFamily="34" charset="-120"/>
              </a:rPr>
              <a:t>Pipeline readiness checklist</a:t>
            </a:r>
            <a:endParaRPr lang="en-US" sz="1380" dirty="0"/>
          </a:p>
          <a:p>
            <a:r>
              <a:rPr lang="en-US" sz="1380" dirty="0">
                <a:solidFill>
                  <a:srgbClr val="17364A"/>
                </a:solidFill>
                <a:latin typeface="Aptos" pitchFamily="34" charset="0"/>
                <a:ea typeface="Aptos" pitchFamily="34" charset="-122"/>
                <a:cs typeface="Aptos" pitchFamily="34" charset="-120"/>
              </a:rPr>
              <a:t>Failure and escalation plan</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How to validate</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strongest reason to document data lineage for an AI-supported workflow?</a:t>
            </a:r>
            <a:endParaRPr lang="en-US" sz="2100" dirty="0"/>
          </a:p>
          <a:p>
            <a:r>
              <a:rPr lang="en-US" sz="2100" dirty="0">
                <a:solidFill>
                  <a:srgbClr val="17364A"/>
                </a:solidFill>
                <a:latin typeface="Aptos" pitchFamily="34" charset="0"/>
                <a:ea typeface="Aptos" pitchFamily="34" charset="-122"/>
                <a:cs typeface="Aptos" pitchFamily="34" charset="-120"/>
              </a:rPr>
              <a:t>2. Which pipeline type is most likely to trigger a workflow immediately after a defined event?</a:t>
            </a:r>
            <a:endParaRPr lang="en-US" sz="2100" dirty="0"/>
          </a:p>
          <a:p>
            <a:r>
              <a:rPr lang="en-US" sz="2100" dirty="0">
                <a:solidFill>
                  <a:srgbClr val="17364A"/>
                </a:solidFill>
                <a:latin typeface="Aptos" pitchFamily="34" charset="0"/>
                <a:ea typeface="Aptos" pitchFamily="34" charset="-122"/>
                <a:cs typeface="Aptos" pitchFamily="34" charset="-120"/>
              </a:rPr>
              <a:t>3. What is a practical guardrail for silent feed failure?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Data decision</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strongest reason to document data lineage for an AI-supported workflow?</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1.</a:t>
            </a:r>
            <a:endParaRPr lang="en-US" sz="1380" dirty="0"/>
          </a:p>
          <a:p>
            <a:r>
              <a:rPr lang="en-US" sz="1380" dirty="0">
                <a:solidFill>
                  <a:srgbClr val="17364A"/>
                </a:solidFill>
                <a:latin typeface="Aptos" pitchFamily="34" charset="0"/>
                <a:ea typeface="Aptos" pitchFamily="34" charset="-122"/>
                <a:cs typeface="Aptos" pitchFamily="34" charset="-120"/>
              </a:rPr>
              <a:t>What is the strongest reason to document data lineage for an AI-supported workflow?</a:t>
            </a:r>
            <a:endParaRPr lang="en-US" sz="1380" dirty="0"/>
          </a:p>
          <a:p>
            <a:r>
              <a:rPr lang="en-US" sz="1380" dirty="0">
                <a:solidFill>
                  <a:srgbClr val="17364A"/>
                </a:solidFill>
                <a:latin typeface="Aptos" pitchFamily="34" charset="0"/>
                <a:ea typeface="Aptos" pitchFamily="34" charset="-122"/>
                <a:cs typeface="Aptos" pitchFamily="34" charset="-120"/>
              </a:rPr>
              <a:t>2.</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How to validate</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CDC Data Modernization Initiative materials: https://www.cdc.gov/data-modernization/php/index.html</a:t>
            </a:r>
            <a:endParaRPr lang="en-US" sz="2100" dirty="0"/>
          </a:p>
          <a:p>
            <a:r>
              <a:rPr lang="en-US" sz="2100" dirty="0">
                <a:solidFill>
                  <a:srgbClr val="17364A"/>
                </a:solidFill>
                <a:latin typeface="Aptos" pitchFamily="34" charset="0"/>
                <a:ea typeface="Aptos" pitchFamily="34" charset="-122"/>
                <a:cs typeface="Aptos" pitchFamily="34" charset="-120"/>
              </a:rPr>
              <a:t>CDC Public Health Data Strategy: https://www.cdc.gov/public-health-data-strategy/php/about/index.html</a:t>
            </a:r>
            <a:endParaRPr lang="en-US" sz="2100" dirty="0"/>
          </a:p>
          <a:p>
            <a:r>
              <a:rPr lang="en-US" sz="2100" dirty="0">
                <a:solidFill>
                  <a:srgbClr val="17364A"/>
                </a:solidFill>
                <a:latin typeface="Aptos" pitchFamily="34" charset="0"/>
                <a:ea typeface="Aptos" pitchFamily="34" charset="-122"/>
                <a:cs typeface="Aptos" pitchFamily="34" charset="-120"/>
              </a:rPr>
              <a:t>NIST AI Risk Management Framework: https://www.nist.gov/itl/ai-risk-management-framework</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Data decision</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CDC Data Modernization Initiative materials: https://www.cdc.gov/data-modernization/php/index.html</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CDC Data Modernization Initiative materials:.</a:t>
            </a:r>
            <a:endParaRPr lang="en-US" sz="1380" dirty="0"/>
          </a:p>
          <a:p>
            <a:r>
              <a:rPr lang="en-US" sz="1380" dirty="0">
                <a:solidFill>
                  <a:srgbClr val="17364A"/>
                </a:solidFill>
                <a:latin typeface="Aptos" pitchFamily="34" charset="0"/>
                <a:ea typeface="Aptos" pitchFamily="34" charset="-122"/>
                <a:cs typeface="Aptos" pitchFamily="34" charset="-120"/>
              </a:rPr>
              <a:t>CDC Public Health Data Strategy:.</a:t>
            </a:r>
            <a:endParaRPr lang="en-US" sz="1380" dirty="0"/>
          </a:p>
          <a:p>
            <a:r>
              <a:rPr lang="en-US" sz="1380" dirty="0">
                <a:solidFill>
                  <a:srgbClr val="17364A"/>
                </a:solidFill>
                <a:latin typeface="Aptos" pitchFamily="34" charset="0"/>
                <a:ea typeface="Aptos" pitchFamily="34" charset="-122"/>
                <a:cs typeface="Aptos" pitchFamily="34" charset="-120"/>
              </a:rPr>
              <a:t>NIST AI Risk Management Framework: https://www.nist.gov/itl/ai-risk-management-framework</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How to validate</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data quality, model performance, validation evidence, monitoring measures, and decisions that remain under human control.</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Pipelines for Public Health AI</dc:title>
  <dc:subject>Data Pipelines for Public Health AI learning module</dc:subject>
  <dc:creator>Paula Soper</dc:creator>
  <cp:lastModifiedBy>Paula Soper</cp:lastModifiedBy>
  <cp:revision>1</cp:revision>
  <dcterms:created xsi:type="dcterms:W3CDTF">2026-07-13T02:11:42Z</dcterms:created>
  <dcterms:modified xsi:type="dcterms:W3CDTF">2026-07-13T02:11:42Z</dcterms:modified>
</cp:coreProperties>
</file>