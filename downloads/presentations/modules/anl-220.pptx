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2100" dirty="0"/>
          </a:p>
          <a:p>
            <a:r>
              <a:rPr lang="en-US" sz="2100" dirty="0">
                <a:solidFill>
                  <a:srgbClr val="17364A"/>
                </a:solidFill>
                <a:latin typeface="Aptos" pitchFamily="34" charset="0"/>
                <a:ea typeface="Aptos" pitchFamily="34" charset="-122"/>
                <a:cs typeface="Aptos" pitchFamily="34" charset="-120"/>
              </a:rPr>
              <a:t>In public health, predictive models may be used to anticipate disease burden, identify populations at higher.</a:t>
            </a:r>
            <a:endParaRPr lang="en-US" sz="2100" dirty="0"/>
          </a:p>
          <a:p>
            <a:r>
              <a:rPr lang="en-US" sz="2100" dirty="0">
                <a:solidFill>
                  <a:srgbClr val="17364A"/>
                </a:solidFill>
                <a:latin typeface="Aptos" pitchFamily="34" charset="0"/>
                <a:ea typeface="Aptos" pitchFamily="34" charset="-122"/>
                <a:cs typeface="Aptos" pitchFamily="34" charset="-120"/>
              </a:rPr>
              <a:t>Risk stratification is the practice of grouping individuals, facilities, areas, events, or populations into.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prediction from causation, diagnosis, and eligibility determination.</a:t>
            </a:r>
            <a:endParaRPr lang="en-US" sz="2100" dirty="0"/>
          </a:p>
          <a:p>
            <a:r>
              <a:rPr lang="en-US" sz="2100" dirty="0">
                <a:solidFill>
                  <a:srgbClr val="17364A"/>
                </a:solidFill>
                <a:latin typeface="Aptos" pitchFamily="34" charset="0"/>
                <a:ea typeface="Aptos" pitchFamily="34" charset="-122"/>
                <a:cs typeface="Aptos" pitchFamily="34" charset="-120"/>
              </a:rPr>
              <a:t>Interpret basic risk categories, thresholds, calibration, and error tradeoffs.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2100" dirty="0"/>
          </a:p>
          <a:p>
            <a:r>
              <a:rPr lang="en-US" sz="2100" dirty="0">
                <a:solidFill>
                  <a:srgbClr val="17364A"/>
                </a:solidFill>
                <a:latin typeface="Aptos" pitchFamily="34" charset="0"/>
                <a:ea typeface="Aptos" pitchFamily="34" charset="-122"/>
                <a:cs typeface="Aptos" pitchFamily="34" charset="-120"/>
              </a:rPr>
              <a:t>In public health, predictive models may be used to anticipate disease burden, identify populations at.</a:t>
            </a:r>
            <a:endParaRPr lang="en-US" sz="2100" dirty="0"/>
          </a:p>
          <a:p>
            <a:r>
              <a:rPr lang="en-US" sz="2100" dirty="0">
                <a:solidFill>
                  <a:srgbClr val="17364A"/>
                </a:solidFill>
                <a:latin typeface="Aptos" pitchFamily="34" charset="0"/>
                <a:ea typeface="Aptos" pitchFamily="34" charset="-122"/>
                <a:cs typeface="Aptos" pitchFamily="34" charset="-120"/>
              </a:rPr>
              <a:t>Risk stratification is the practice of grouping individuals, facilities, areas, events, or populations.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uses data to estimate the likelihood of future events or outcomes.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a:t>
            </a:r>
            <a:endParaRPr lang="en-US" sz="2100" dirty="0"/>
          </a:p>
          <a:p>
            <a:r>
              <a:rPr lang="en-US" sz="2100" dirty="0">
                <a:solidFill>
                  <a:srgbClr val="17364A"/>
                </a:solidFill>
                <a:latin typeface="Aptos" pitchFamily="34" charset="0"/>
                <a:ea typeface="Aptos" pitchFamily="34" charset="-122"/>
                <a:cs typeface="Aptos" pitchFamily="34" charset="-120"/>
              </a:rPr>
              <a:t>During outbreaks, emergencies, or resource-constrained programs, agencies may need to decide where to.</a:t>
            </a:r>
            <a:endParaRPr lang="en-US" sz="2100" dirty="0"/>
          </a:p>
          <a:p>
            <a:r>
              <a:rPr lang="en-US" sz="2100" dirty="0">
                <a:solidFill>
                  <a:srgbClr val="17364A"/>
                </a:solidFill>
                <a:latin typeface="Aptos" pitchFamily="34" charset="0"/>
                <a:ea typeface="Aptos" pitchFamily="34" charset="-122"/>
                <a:cs typeface="Aptos" pitchFamily="34" charset="-120"/>
              </a:rPr>
              <a:t>Prediction can help organize uncertainty, but it cannot remove uncertainty.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matters because public health agencies often must act before all information is.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a:t>
            </a:r>
            <a:endParaRPr lang="en-US" sz="2100" dirty="0"/>
          </a:p>
          <a:p>
            <a:r>
              <a:rPr lang="en-US" sz="2100" dirty="0">
                <a:solidFill>
                  <a:srgbClr val="17364A"/>
                </a:solidFill>
                <a:latin typeface="Aptos" pitchFamily="34" charset="0"/>
                <a:ea typeface="Aptos" pitchFamily="34" charset="-122"/>
                <a:cs typeface="Aptos" pitchFamily="34" charset="-120"/>
              </a:rPr>
              <a:t>The model could use prior immunization data, school enrollment patterns, appointment availability,.</a:t>
            </a:r>
            <a:endParaRPr lang="en-US" sz="2100" dirty="0"/>
          </a:p>
          <a:p>
            <a:r>
              <a:rPr lang="en-US" sz="2100" dirty="0">
                <a:solidFill>
                  <a:srgbClr val="17364A"/>
                </a:solidFill>
                <a:latin typeface="Aptos" pitchFamily="34" charset="0"/>
                <a:ea typeface="Aptos" pitchFamily="34" charset="-122"/>
                <a:cs typeface="Aptos" pitchFamily="34" charset="-120"/>
              </a:rPr>
              <a:t>The output might help prioritize community outreach and mobile clinics.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may want to predict which neighborhoods are at increased risk of 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predictive workflow begins with the outcome.</a:t>
            </a:r>
            <a:endParaRPr lang="en-US" sz="2100" dirty="0"/>
          </a:p>
          <a:p>
            <a:r>
              <a:rPr lang="en-US" sz="2100" dirty="0">
                <a:solidFill>
                  <a:srgbClr val="17364A"/>
                </a:solidFill>
                <a:latin typeface="Aptos" pitchFamily="34" charset="0"/>
                <a:ea typeface="Aptos" pitchFamily="34" charset="-122"/>
                <a:cs typeface="Aptos" pitchFamily="34" charset="-120"/>
              </a:rPr>
              <a:t>The outcome must be specific, measurable, and aligned with a public health action.</a:t>
            </a:r>
            <a:endParaRPr lang="en-US" sz="2100" dirty="0"/>
          </a:p>
          <a:p>
            <a:r>
              <a:rPr lang="en-US" sz="2100" dirty="0">
                <a:solidFill>
                  <a:srgbClr val="17364A"/>
                </a:solidFill>
                <a:latin typeface="Aptos" pitchFamily="34" charset="0"/>
                <a:ea typeface="Aptos" pitchFamily="34" charset="-122"/>
                <a:cs typeface="Aptos" pitchFamily="34" charset="-120"/>
              </a:rPr>
              <a:t>Predicting “risk” is not enough.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predictive workflow begins with the outcome.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2100" dirty="0"/>
          </a:p>
          <a:p>
            <a:r>
              <a:rPr lang="en-US" sz="2100" dirty="0">
                <a:solidFill>
                  <a:srgbClr val="17364A"/>
                </a:solidFill>
                <a:latin typeface="Aptos" pitchFamily="34" charset="0"/>
                <a:ea typeface="Aptos" pitchFamily="34" charset="-122"/>
                <a:cs typeface="Aptos" pitchFamily="34" charset="-120"/>
              </a:rPr>
              <a:t>A lower threshold may catch more true high-risk cases but create more false positives and burden staff.</a:t>
            </a:r>
            <a:endParaRPr lang="en-US" sz="2100" dirty="0"/>
          </a:p>
          <a:p>
            <a:r>
              <a:rPr lang="en-US" sz="2100" dirty="0">
                <a:solidFill>
                  <a:srgbClr val="17364A"/>
                </a:solidFill>
                <a:latin typeface="Aptos" pitchFamily="34" charset="0"/>
                <a:ea typeface="Aptos" pitchFamily="34" charset="-122"/>
                <a:cs typeface="Aptos" pitchFamily="34" charset="-120"/>
              </a:rPr>
              <a:t>A higher threshold may conserve resources but miss people or places needing support.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Prediction used as decision.</a:t>
            </a:r>
            <a:endParaRPr lang="en-US" sz="2100" dirty="0"/>
          </a:p>
          <a:p>
            <a:r>
              <a:rPr lang="en-US" sz="2100" dirty="0">
                <a:solidFill>
                  <a:srgbClr val="17364A"/>
                </a:solidFill>
                <a:latin typeface="Aptos" pitchFamily="34" charset="0"/>
                <a:ea typeface="Aptos" pitchFamily="34" charset="-122"/>
                <a:cs typeface="Aptos" pitchFamily="34" charset="-120"/>
              </a:rPr>
              <a:t>A risk score may be treated as a final decision rather than decision support.</a:t>
            </a:r>
            <a:endParaRPr lang="en-US" sz="2100" dirty="0"/>
          </a:p>
          <a:p>
            <a:r>
              <a:rPr lang="en-US" sz="2100" dirty="0">
                <a:solidFill>
                  <a:srgbClr val="17364A"/>
                </a:solidFill>
                <a:latin typeface="Aptos" pitchFamily="34" charset="0"/>
                <a:ea typeface="Aptos" pitchFamily="34" charset="-122"/>
                <a:cs typeface="Aptos" pitchFamily="34" charset="-120"/>
              </a:rPr>
              <a:t>Guardrails include role-based guidance, human review, and documentation of final decisions.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Prediction used as decision.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drift.</a:t>
            </a:r>
            <a:endParaRPr lang="en-US" sz="2100" dirty="0"/>
          </a:p>
          <a:p>
            <a:r>
              <a:rPr lang="en-US" sz="2100" dirty="0">
                <a:solidFill>
                  <a:srgbClr val="17364A"/>
                </a:solidFill>
                <a:latin typeface="Aptos" pitchFamily="34" charset="0"/>
                <a:ea typeface="Aptos" pitchFamily="34" charset="-122"/>
                <a:cs typeface="Aptos" pitchFamily="34" charset="-120"/>
              </a:rPr>
              <a:t>Performance may change over time.</a:t>
            </a:r>
            <a:endParaRPr lang="en-US" sz="2100" dirty="0"/>
          </a:p>
          <a:p>
            <a:r>
              <a:rPr lang="en-US" sz="2100" dirty="0">
                <a:solidFill>
                  <a:srgbClr val="17364A"/>
                </a:solidFill>
                <a:latin typeface="Aptos" pitchFamily="34" charset="0"/>
                <a:ea typeface="Aptos" pitchFamily="34" charset="-122"/>
                <a:cs typeface="Aptos" pitchFamily="34" charset="-120"/>
              </a:rPr>
              <a:t>Guardrails include periodic recalibration, drift monitoring, and authority to pause or modify use.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drift.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a:t>
            </a:r>
            <a:endParaRPr lang="en-US" sz="2100" dirty="0"/>
          </a:p>
          <a:p>
            <a:r>
              <a:rPr lang="en-US" sz="2100" dirty="0">
                <a:solidFill>
                  <a:srgbClr val="17364A"/>
                </a:solidFill>
                <a:latin typeface="Aptos" pitchFamily="34" charset="0"/>
                <a:ea typeface="Aptos" pitchFamily="34" charset="-122"/>
                <a:cs typeface="Aptos" pitchFamily="34" charset="-120"/>
              </a:rPr>
              <a:t>Generative AI may explain or summarize predictive outputs, but those explanations must not imply.</a:t>
            </a:r>
            <a:endParaRPr lang="en-US" sz="2100" dirty="0"/>
          </a:p>
          <a:p>
            <a:r>
              <a:rPr lang="en-US" sz="2100" dirty="0">
                <a:solidFill>
                  <a:srgbClr val="17364A"/>
                </a:solidFill>
                <a:latin typeface="Aptos" pitchFamily="34" charset="0"/>
                <a:ea typeface="Aptos" pitchFamily="34" charset="-122"/>
                <a:cs typeface="Aptos" pitchFamily="34" charset="-120"/>
              </a:rPr>
              <a:t>RAG systems may combine risk results with policy guidance, while agentic workflows may trigger tasks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analytics may be embedded in dashboards, case management systems, early warning tools,.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outcome is being predicted, and over what time period?</a:t>
            </a:r>
            <a:endParaRPr lang="en-US" sz="2100" dirty="0"/>
          </a:p>
          <a:p>
            <a:r>
              <a:rPr lang="en-US" sz="2100" dirty="0">
                <a:solidFill>
                  <a:srgbClr val="17364A"/>
                </a:solidFill>
                <a:latin typeface="Aptos" pitchFamily="34" charset="0"/>
                <a:ea typeface="Aptos" pitchFamily="34" charset="-122"/>
                <a:cs typeface="Aptos" pitchFamily="34" charset="-120"/>
              </a:rPr>
              <a:t>What public health action will follow a high-risk score?</a:t>
            </a:r>
            <a:endParaRPr lang="en-US" sz="2100" dirty="0"/>
          </a:p>
          <a:p>
            <a:r>
              <a:rPr lang="en-US" sz="2100" dirty="0">
                <a:solidFill>
                  <a:srgbClr val="17364A"/>
                </a:solidFill>
                <a:latin typeface="Aptos" pitchFamily="34" charset="0"/>
                <a:ea typeface="Aptos" pitchFamily="34" charset="-122"/>
                <a:cs typeface="Aptos" pitchFamily="34" charset="-120"/>
              </a:rPr>
              <a:t>Which data sources may underrepresent some populations?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outcome is being predicted, and over what time period?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2100" dirty="0"/>
          </a:p>
          <a:p>
            <a:r>
              <a:rPr lang="en-US" sz="2100" dirty="0">
                <a:solidFill>
                  <a:srgbClr val="17364A"/>
                </a:solidFill>
                <a:latin typeface="Aptos" pitchFamily="34" charset="0"/>
                <a:ea typeface="Aptos" pitchFamily="34" charset="-122"/>
                <a:cs typeface="Aptos" pitchFamily="34" charset="-120"/>
              </a:rPr>
              <a:t>How will thresholds, calibration, and subgroup performance be monitored?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the outcome, population, time horizon, data sources, candidate features, risk categories,.</a:t>
            </a:r>
            <a:endParaRPr lang="en-US" sz="2100" dirty="0"/>
          </a:p>
          <a:p>
            <a:r>
              <a:rPr lang="en-US" sz="2100" dirty="0">
                <a:solidFill>
                  <a:srgbClr val="17364A"/>
                </a:solidFill>
                <a:latin typeface="Aptos" pitchFamily="34" charset="0"/>
                <a:ea typeface="Aptos" pitchFamily="34" charset="-122"/>
                <a:cs typeface="Aptos" pitchFamily="34" charset="-120"/>
              </a:rPr>
              <a:t>The plan should also identify whether the use is supportive, restrictive, or consequential.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 review plan</a:t>
            </a:r>
            <a:endParaRPr lang="en-US" sz="2100" dirty="0"/>
          </a:p>
          <a:p>
            <a:r>
              <a:rPr lang="en-US" sz="2100" dirty="0">
                <a:solidFill>
                  <a:srgbClr val="17364A"/>
                </a:solidFill>
                <a:latin typeface="Aptos" pitchFamily="34" charset="0"/>
                <a:ea typeface="Aptos" pitchFamily="34" charset="-122"/>
                <a:cs typeface="Aptos" pitchFamily="34" charset="-120"/>
              </a:rPr>
              <a:t>Risk score interpretation guide</a:t>
            </a:r>
            <a:endParaRPr lang="en-US" sz="2100" dirty="0"/>
          </a:p>
          <a:p>
            <a:r>
              <a:rPr lang="en-US" sz="2100" dirty="0">
                <a:solidFill>
                  <a:srgbClr val="17364A"/>
                </a:solidFill>
                <a:latin typeface="Aptos" pitchFamily="34" charset="0"/>
                <a:ea typeface="Aptos" pitchFamily="34" charset="-122"/>
                <a:cs typeface="Aptos" pitchFamily="34" charset="-120"/>
              </a:rPr>
              <a:t>Threshold and error tradeoff memo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Subgroup monitoring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Subgroup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Predictive model review plan</a:t>
            </a:r>
            <a:endParaRPr lang="en-US" sz="2100" dirty="0"/>
          </a:p>
          <a:p>
            <a:r>
              <a:rPr lang="en-US" sz="2100" dirty="0">
                <a:solidFill>
                  <a:srgbClr val="17364A"/>
                </a:solidFill>
                <a:latin typeface="Aptos" pitchFamily="34" charset="0"/>
                <a:ea typeface="Aptos" pitchFamily="34" charset="-122"/>
                <a:cs typeface="Aptos" pitchFamily="34" charset="-120"/>
              </a:rPr>
              <a:t>Risk score interpretation guide</a:t>
            </a:r>
            <a:endParaRPr lang="en-US" sz="2100" dirty="0"/>
          </a:p>
          <a:p>
            <a:r>
              <a:rPr lang="en-US" sz="2100" dirty="0">
                <a:solidFill>
                  <a:srgbClr val="17364A"/>
                </a:solidFill>
                <a:latin typeface="Aptos" pitchFamily="34" charset="0"/>
                <a:ea typeface="Aptos" pitchFamily="34" charset="-122"/>
                <a:cs typeface="Aptos" pitchFamily="34" charset="-120"/>
              </a:rPr>
              <a:t>Threshold and error tradeoff memo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Predictive model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calibration?</a:t>
            </a:r>
            <a:endParaRPr lang="en-US" sz="2100" dirty="0"/>
          </a:p>
          <a:p>
            <a:r>
              <a:rPr lang="en-US" sz="2100" dirty="0">
                <a:solidFill>
                  <a:srgbClr val="17364A"/>
                </a:solidFill>
                <a:latin typeface="Aptos" pitchFamily="34" charset="0"/>
                <a:ea typeface="Aptos" pitchFamily="34" charset="-122"/>
                <a:cs typeface="Aptos" pitchFamily="34" charset="-120"/>
              </a:rPr>
              <a:t>2. Why should thresholds be reviewed by public health staff?</a:t>
            </a:r>
            <a:endParaRPr lang="en-US" sz="2100" dirty="0"/>
          </a:p>
          <a:p>
            <a:r>
              <a:rPr lang="en-US" sz="2100" dirty="0">
                <a:solidFill>
                  <a:srgbClr val="17364A"/>
                </a:solidFill>
                <a:latin typeface="Aptos" pitchFamily="34" charset="0"/>
                <a:ea typeface="Aptos" pitchFamily="34" charset="-122"/>
                <a:cs typeface="Aptos" pitchFamily="34" charset="-120"/>
              </a:rPr>
              <a:t>3. Which use of a risk score is most concerning without additional safeguards?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calibration?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2026-07-12T20:15:58Z</dcterms:created>
  <dcterms:modified xsi:type="dcterms:W3CDTF">2026-07-12T20:15:58Z</dcterms:modified>
</cp:coreProperties>
</file>