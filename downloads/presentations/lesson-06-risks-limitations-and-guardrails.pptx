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6abbc0fb1a463e" /><Relationship Type="http://schemas.openxmlformats.org/officeDocument/2006/relationships/extended-properties" Target="/docProps/app.xml" Id="R91c8cb5224a24fd9" /><Relationship Type="http://schemas.openxmlformats.org/officeDocument/2006/relationships/officeDocument" Target="/ppt/presentation.xml" Id="R3bbb8104c1794cbf" /></Relationships>
</file>

<file path=ppt/presentation.xml><?xml version="1.0" encoding="utf-8"?>
<p:presentation xmlns:p="http://schemas.openxmlformats.org/presentationml/2006/main">
  <p:sldMasterIdLst>
    <p:sldMasterId xmlns:r="http://schemas.openxmlformats.org/officeDocument/2006/relationships" id="2147483648" r:id="Re8ec3ff577aa4577"/>
  </p:sldMasterIdLst>
  <p:notesMasterIdLst>
    <p:notesMasterId xmlns:r="http://schemas.openxmlformats.org/officeDocument/2006/relationships" r:id="R1be8618a690042fe"/>
  </p:notesMasterIdLst>
  <p:sldIdLst>
    <p:sldId xmlns:r="http://schemas.openxmlformats.org/officeDocument/2006/relationships" id="256" r:id="R41f4579ae1bb4d0d"/>
    <p:sldId xmlns:r="http://schemas.openxmlformats.org/officeDocument/2006/relationships" id="257" r:id="R2d2213ed4fea4358"/>
    <p:sldId xmlns:r="http://schemas.openxmlformats.org/officeDocument/2006/relationships" id="258" r:id="R9ea01cdcda9044cf"/>
    <p:sldId xmlns:r="http://schemas.openxmlformats.org/officeDocument/2006/relationships" id="259" r:id="R30a621588f074205"/>
    <p:sldId xmlns:r="http://schemas.openxmlformats.org/officeDocument/2006/relationships" id="260" r:id="Rb16950756c4042cd"/>
    <p:sldId xmlns:r="http://schemas.openxmlformats.org/officeDocument/2006/relationships" id="261" r:id="R6336d2684a6e4726"/>
    <p:sldId xmlns:r="http://schemas.openxmlformats.org/officeDocument/2006/relationships" id="262" r:id="R5ff56cc478a445ba"/>
    <p:sldId xmlns:r="http://schemas.openxmlformats.org/officeDocument/2006/relationships" id="263" r:id="R83964614b244462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9212a7fe4249ce" /><Relationship Type="http://schemas.openxmlformats.org/officeDocument/2006/relationships/slideMaster" Target="/ppt/slideMasters/slideMaster1.xml" Id="Re8ec3ff577aa4577" /><Relationship Type="http://schemas.openxmlformats.org/officeDocument/2006/relationships/notesMaster" Target="/ppt/notesMasters/notesMaster1.xml" Id="R1be8618a690042fe" /><Relationship Type="http://schemas.openxmlformats.org/officeDocument/2006/relationships/presProps" Target="/ppt/presProps.xml" Id="R89b5d4c667e34c87" /><Relationship Type="http://schemas.openxmlformats.org/officeDocument/2006/relationships/tableStyles" Target="/ppt/tableStyles.xml" Id="R995e89c8e33b4e43" /><Relationship Type="http://schemas.openxmlformats.org/officeDocument/2006/relationships/slide" Target="/ppt/slides/slide1.xml" Id="R41f4579ae1bb4d0d" /><Relationship Type="http://schemas.openxmlformats.org/officeDocument/2006/relationships/slide" Target="/ppt/slides/slide2.xml" Id="R2d2213ed4fea4358" /><Relationship Type="http://schemas.openxmlformats.org/officeDocument/2006/relationships/slide" Target="/ppt/slides/slide3.xml" Id="R9ea01cdcda9044cf" /><Relationship Type="http://schemas.openxmlformats.org/officeDocument/2006/relationships/slide" Target="/ppt/slides/slide4.xml" Id="R30a621588f074205" /><Relationship Type="http://schemas.openxmlformats.org/officeDocument/2006/relationships/slide" Target="/ppt/slides/slide5.xml" Id="Rb16950756c4042cd" /><Relationship Type="http://schemas.openxmlformats.org/officeDocument/2006/relationships/slide" Target="/ppt/slides/slide6.xml" Id="R6336d2684a6e4726" /><Relationship Type="http://schemas.openxmlformats.org/officeDocument/2006/relationships/slide" Target="/ppt/slides/slide7.xml" Id="R5ff56cc478a445ba" /><Relationship Type="http://schemas.openxmlformats.org/officeDocument/2006/relationships/slide" Target="/ppt/slides/slide8.xml" Id="R83964614b24446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ed8c7a791049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f111959245404f" /><Relationship Type="http://schemas.openxmlformats.org/officeDocument/2006/relationships/notesMaster" Target="/ppt/notesMasters/notesMaster1.xml" Id="Rff9b46ecbb494e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dd0631a5164633" /><Relationship Type="http://schemas.openxmlformats.org/officeDocument/2006/relationships/notesMaster" Target="/ppt/notesMasters/notesMaster1.xml" Id="R413ece2413a74d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6e5f7939dc4e71" /><Relationship Type="http://schemas.openxmlformats.org/officeDocument/2006/relationships/notesMaster" Target="/ppt/notesMasters/notesMaster1.xml" Id="Ra51de0dd14664b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99f3bea6c34eee" /><Relationship Type="http://schemas.openxmlformats.org/officeDocument/2006/relationships/notesMaster" Target="/ppt/notesMasters/notesMaster1.xml" Id="R8a8a757ce2e944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5fe7658c294d4c" /><Relationship Type="http://schemas.openxmlformats.org/officeDocument/2006/relationships/notesMaster" Target="/ppt/notesMasters/notesMaster1.xml" Id="Recddd5f5f41841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4d123a8b2948c8" /><Relationship Type="http://schemas.openxmlformats.org/officeDocument/2006/relationships/notesMaster" Target="/ppt/notesMasters/notesMaster1.xml" Id="R9fc44ba690bc4a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1fad6f834547d7" /><Relationship Type="http://schemas.openxmlformats.org/officeDocument/2006/relationships/notesMaster" Target="/ppt/notesMasters/notesMaster1.xml" Id="R557fafc348db40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b0d1346dff4bb6" /><Relationship Type="http://schemas.openxmlformats.org/officeDocument/2006/relationships/notesMaster" Target="/ppt/notesMasters/notesMaster1.xml" Id="Rbe4939c2da524f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Risks, Limitations, and Guardrails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Public health AI risks include hallucination, bias, privacy exposure, automation bias, model drift, and performance loss on complex tasks.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11, 12, 13 and Tools 3, 16, 14, 47, 17.</a:t>
            </a:r>
          </a:p>
          <a:p xmlns:a="http://schemas.openxmlformats.org/drawingml/2006/main">
            <a:r>
              <a:t>Emphasize the core guardrail: Governance, documentation, validation, and monitoring are mandatory, not optional.</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11, 12, 13 and Tools 3, 16, 14, 47, 17.</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11, 12, 13 and Tools 3, 16, 14, 47, 17.</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11, 12, 13 and Tools 3, 16, 14, 47, 17.</a:t>
            </a:r>
          </a:p>
          <a:p xmlns:a="http://schemas.openxmlformats.org/drawingml/2006/main">
            <a:r>
              <a:t>Invite participants to identify where these practices would need to be documented in their own department.</a:t>
            </a:r>
          </a:p>
          <a:p xmlns:a="http://schemas.openxmlformats.org/drawingml/2006/main">
            <a:r>
              <a:t>Start with Common Risk Categories,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11, 12, 13 and Tools 3, 16, 14, 47, 17.</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11, 12, 13 and Tools 3, 16, 14, 47, 17.</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Risk register, Mitigation plan, Incident escalation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Risks, Limitations, and Guardrails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11, 12, 13 and Tools 3, 16, 14, 47, 17.</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05f5a05dcd42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4730c821224a8d" /><Relationship Type="http://schemas.openxmlformats.org/officeDocument/2006/relationships/slideLayout" Target="/ppt/slideLayouts/slideLayout1.xml" Id="R95225c72c42546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225c72c42546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91c26a608943b7" /><Relationship Type="http://schemas.openxmlformats.org/officeDocument/2006/relationships/image" Target="/ppt/media/image.png" Id="R3595c869393a499d" /><Relationship Type="http://schemas.openxmlformats.org/officeDocument/2006/relationships/notesSlide" Target="/ppt/notesSlides/notesSlide1.xml" Id="R29adc9e7061a4a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f02b1a5dd44c28" /><Relationship Type="http://schemas.openxmlformats.org/officeDocument/2006/relationships/notesSlide" Target="/ppt/notesSlides/notesSlide2.xml" Id="Raa09fb461b9d4a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f640118e1d4630" /><Relationship Type="http://schemas.openxmlformats.org/officeDocument/2006/relationships/notesSlide" Target="/ppt/notesSlides/notesSlide3.xml" Id="R3946843d3e5e44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2291a9e0bf4ddd" /><Relationship Type="http://schemas.openxmlformats.org/officeDocument/2006/relationships/notesSlide" Target="/ppt/notesSlides/notesSlide4.xml" Id="R904536a854c146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e74806ce2f4785" /><Relationship Type="http://schemas.openxmlformats.org/officeDocument/2006/relationships/notesSlide" Target="/ppt/notesSlides/notesSlide5.xml" Id="R454cffc4f44740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c493f6dd0742fa" /><Relationship Type="http://schemas.openxmlformats.org/officeDocument/2006/relationships/notesSlide" Target="/ppt/notesSlides/notesSlide6.xml" Id="R24ad0d78b6eb49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eb9bc1a8634fb7" /><Relationship Type="http://schemas.openxmlformats.org/officeDocument/2006/relationships/notesSlide" Target="/ppt/notesSlides/notesSlide7.xml" Id="Re6d4dc4335654b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a46aec16be4722" /><Relationship Type="http://schemas.openxmlformats.org/officeDocument/2006/relationships/notesSlide" Target="/ppt/notesSlides/notesSlide8.xml" Id="Rcdf16c56370b432e"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95c869393a499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AF4CA4-E430-4536-9AC6-24B397143D14}"/>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6</a:t>
            </a:r>
          </a:p>
        </p:txBody>
      </p:sp>
      <p:sp>
        <p:nvSpPr>
          <p:cNvPr id="3" name="">
            <a:extLst xmlns:a="http://schemas.openxmlformats.org/drawingml/2006/main">
              <a:ext uri="{FF2B5EF4-FFF2-40B4-BE49-F238E27FC236}">
                <a16:creationId xmlns:a16="http://schemas.microsoft.com/office/drawing/2014/main" id="{B3A91B09-CA3A-467C-A7AB-6B24DB2CA23E}"/>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Risks, Limitations, and Guardrails</a:t>
            </a:r>
          </a:p>
        </p:txBody>
      </p:sp>
      <p:sp>
        <p:nvSpPr>
          <p:cNvPr id="4" name="">
            <a:extLst xmlns:a="http://schemas.openxmlformats.org/drawingml/2006/main">
              <a:ext uri="{FF2B5EF4-FFF2-40B4-BE49-F238E27FC236}">
                <a16:creationId xmlns:a16="http://schemas.microsoft.com/office/drawing/2014/main" id="{72F4A6D4-2C12-45FA-A457-674DD8AFE3A4}"/>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AAA52C35-0D68-4FAC-803F-977950F17A63}"/>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36A80DC-7AB3-4C40-A0A0-F75CCFAA677A}"/>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8051078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F20672-8F20-4E34-8DF3-4BD5DBD9254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18562EE-73D1-49F2-9801-882DAB4BDFC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D39C71C2-16B7-4579-AEEF-2EE5844549F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A249313-77CA-4E4F-BC9C-8C2668FE20F1}"/>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Public health AI risks include hallucination, bias, privacy exposure, automation bias, model drift, and performance loss on complex tasks.</a:t>
            </a:r>
          </a:p>
        </p:txBody>
      </p:sp>
      <p:sp>
        <p:nvSpPr>
          <p:cNvPr id="5" name="">
            <a:extLst xmlns:a="http://schemas.openxmlformats.org/drawingml/2006/main">
              <a:ext uri="{FF2B5EF4-FFF2-40B4-BE49-F238E27FC236}">
                <a16:creationId xmlns:a16="http://schemas.microsoft.com/office/drawing/2014/main" id="{00D5A078-B60F-4E62-A264-9989EBBFC85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2C5D00E-D2DB-4210-BD37-9E7C646F2DF2}"/>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4FBFACE-34FB-425C-9D5D-B64CF5DA15DA}"/>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CB2BDA8-3F28-44BB-B572-850C36186CFC}"/>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Responsible AI risk management is not a one-time checklist. Public health risks change as data, models, vendors, disease patterns, staff behavior, and community needs change. Agencies need repeatable risk review methods that can be used before.</a:t>
            </a:r>
          </a:p>
        </p:txBody>
      </p:sp>
      <p:sp>
        <p:nvSpPr>
          <p:cNvPr id="9" name="">
            <a:extLst xmlns:a="http://schemas.openxmlformats.org/drawingml/2006/main">
              <a:ext uri="{FF2B5EF4-FFF2-40B4-BE49-F238E27FC236}">
                <a16:creationId xmlns:a16="http://schemas.microsoft.com/office/drawing/2014/main" id="{7564DCC1-4E1D-4CDE-B77F-000315E6DF83}"/>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0D4210F-4565-4B44-AC7A-217907F29765}"/>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645EC11-55F0-434C-8B87-D5FFC4B66F1F}"/>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23CAF93E-B925-4E04-803E-BD6E1CDD76AD}"/>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Governance, documentation, validation, and monitoring are mandatory, not optional.</a:t>
            </a:r>
          </a:p>
        </p:txBody>
      </p:sp>
      <p:sp>
        <p:nvSpPr>
          <p:cNvPr id="13" name="">
            <a:extLst xmlns:a="http://schemas.openxmlformats.org/drawingml/2006/main">
              <a:ext uri="{FF2B5EF4-FFF2-40B4-BE49-F238E27FC236}">
                <a16:creationId xmlns:a16="http://schemas.microsoft.com/office/drawing/2014/main" id="{561F3C1D-AE13-4B26-92C9-519CCF6032B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4" name="">
            <a:extLst xmlns:a="http://schemas.openxmlformats.org/drawingml/2006/main">
              <a:ext uri="{FF2B5EF4-FFF2-40B4-BE49-F238E27FC236}">
                <a16:creationId xmlns:a16="http://schemas.microsoft.com/office/drawing/2014/main" id="{B8EBC1D9-6BF8-48DD-89D8-39B477C1345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110448743"/>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5C9C36-32F9-49ED-AAA9-E684B334F62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A89E507-A44A-4CEF-B42C-1307AAB15BF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A0FDDE1D-F55D-4EBD-8376-EB97F677672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96ABBDC-0313-4CEC-847F-E206413A5C49}"/>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5090EC7F-18F5-4E17-B3CB-2966EADD27D9}"/>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Risks, Limitations, and Guardrails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F3F15D72-5A4D-4E81-8AE7-FAB396E5DB7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7" name="">
            <a:extLst xmlns:a="http://schemas.openxmlformats.org/drawingml/2006/main">
              <a:ext uri="{FF2B5EF4-FFF2-40B4-BE49-F238E27FC236}">
                <a16:creationId xmlns:a16="http://schemas.microsoft.com/office/drawing/2014/main" id="{85EBD1BC-18FE-44C4-8197-EF95185CD9C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3583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3C4A7C-F954-424E-A580-D7310497459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2F6B5B0-154B-48D1-A2F9-65A5D555B7C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2FDC93A-0519-4957-8537-236BFD7A049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69AC93D-1BFE-4A85-81EE-4BFC514C37BF}"/>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risks in public health are not limited to technical errors. They include privacy exposure, hallucinated guidance, biased prioritization, automation bias, model drift, vendor opacity, accessibility barriers, environmental burden, and loss of public trust. Risk management should begin before tool selection and continue through deployment and monitoring.</a:t>
            </a:r>
          </a:p>
        </p:txBody>
      </p:sp>
      <p:sp>
        <p:nvSpPr>
          <p:cNvPr id="5" name="">
            <a:extLst xmlns:a="http://schemas.openxmlformats.org/drawingml/2006/main">
              <a:ext uri="{FF2B5EF4-FFF2-40B4-BE49-F238E27FC236}">
                <a16:creationId xmlns:a16="http://schemas.microsoft.com/office/drawing/2014/main" id="{E288219D-871D-4AEA-A2A7-AC25C45488F5}"/>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4B78AEF-706D-404F-979A-36A807E1915D}"/>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616E6672-E791-4AA6-8DD8-38FB4737A588}"/>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64FAF883-7DC2-433D-BF93-54E5407FB0DD}"/>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health AI risks include hallucination, bias, privacy exposure, automation bias, model drift, and performance loss on complex tasks.</a:t>
            </a:r>
          </a:p>
        </p:txBody>
      </p:sp>
      <p:sp>
        <p:nvSpPr>
          <p:cNvPr id="9" name="">
            <a:extLst xmlns:a="http://schemas.openxmlformats.org/drawingml/2006/main">
              <a:ext uri="{FF2B5EF4-FFF2-40B4-BE49-F238E27FC236}">
                <a16:creationId xmlns:a16="http://schemas.microsoft.com/office/drawing/2014/main" id="{BE37761C-1C99-4558-B143-9A564693A32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0" name="">
            <a:extLst xmlns:a="http://schemas.openxmlformats.org/drawingml/2006/main">
              <a:ext uri="{FF2B5EF4-FFF2-40B4-BE49-F238E27FC236}">
                <a16:creationId xmlns:a16="http://schemas.microsoft.com/office/drawing/2014/main" id="{8595482A-3032-4D9B-98D4-BE08D3E9A43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92122787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5C4476-E4D4-4CBD-A34C-4736E154375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2D6E906-97E6-47C8-835C-E457E5932F7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631FF498-197E-439D-B3D4-897435E39D8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6C9BDA4-CC90-40DA-9B84-F5801F4A009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231AEA8-012E-404A-A302-CD5709533F9E}"/>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F342676-6BBA-480C-88BB-29B744680116}"/>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Common Risk Categories</a:t>
            </a:r>
          </a:p>
        </p:txBody>
      </p:sp>
      <p:sp>
        <p:nvSpPr>
          <p:cNvPr id="7" name="">
            <a:extLst xmlns:a="http://schemas.openxmlformats.org/drawingml/2006/main">
              <a:ext uri="{FF2B5EF4-FFF2-40B4-BE49-F238E27FC236}">
                <a16:creationId xmlns:a16="http://schemas.microsoft.com/office/drawing/2014/main" id="{2268627D-8842-4F21-A478-C73FAE22F7B7}"/>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Accuracy risk: the output is wrong, incomplete, out of date, or unsupported by evidence. Equity risk: the system performs worse for a subgroup, language community, rural area, disability group, Tribal community, or. Privacy and security risk:.</a:t>
            </a:r>
          </a:p>
        </p:txBody>
      </p:sp>
      <p:sp>
        <p:nvSpPr>
          <p:cNvPr id="8" name="">
            <a:extLst xmlns:a="http://schemas.openxmlformats.org/drawingml/2006/main">
              <a:ext uri="{FF2B5EF4-FFF2-40B4-BE49-F238E27FC236}">
                <a16:creationId xmlns:a16="http://schemas.microsoft.com/office/drawing/2014/main" id="{FD9580F5-2BEA-4814-A842-81C5C745952A}"/>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7D281E6-9244-46A6-B2D7-EA8A14922831}"/>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C1F414A-9102-44D1-B521-007D4E57B824}"/>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Mitigation Practices</a:t>
            </a:r>
          </a:p>
        </p:txBody>
      </p:sp>
      <p:sp>
        <p:nvSpPr>
          <p:cNvPr id="11" name="">
            <a:extLst xmlns:a="http://schemas.openxmlformats.org/drawingml/2006/main">
              <a:ext uri="{FF2B5EF4-FFF2-40B4-BE49-F238E27FC236}">
                <a16:creationId xmlns:a16="http://schemas.microsoft.com/office/drawing/2014/main" id="{8E5F9101-8820-4010-84F4-237CD75F71D1}"/>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risk tiers so higher-impact systems receive deeper review, documentation, validation, and monitoring. Require human review, source verification, and documented decision ownership. Test outputs with realistic public health examples before.</a:t>
            </a:r>
          </a:p>
        </p:txBody>
      </p:sp>
      <p:sp>
        <p:nvSpPr>
          <p:cNvPr id="12" name="">
            <a:extLst xmlns:a="http://schemas.openxmlformats.org/drawingml/2006/main">
              <a:ext uri="{FF2B5EF4-FFF2-40B4-BE49-F238E27FC236}">
                <a16:creationId xmlns:a16="http://schemas.microsoft.com/office/drawing/2014/main" id="{6A89615C-29D5-4A09-B592-7ED77846FD42}"/>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76591B97-77A1-4786-AA57-6147A93B025B}"/>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C04BF0F3-4834-43FB-A370-D73F7085EB48}"/>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Governance Triggers</a:t>
            </a:r>
          </a:p>
        </p:txBody>
      </p:sp>
      <p:sp>
        <p:nvSpPr>
          <p:cNvPr id="15" name="">
            <a:extLst xmlns:a="http://schemas.openxmlformats.org/drawingml/2006/main">
              <a:ext uri="{FF2B5EF4-FFF2-40B4-BE49-F238E27FC236}">
                <a16:creationId xmlns:a16="http://schemas.microsoft.com/office/drawing/2014/main" id="{9A2CC67C-599D-4CDF-B3FC-DD7025F54556}"/>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Escalate to governance when AI affects public communication, eligibility, enforcement, surveillance prioritization, resource. Pause or retire systems when risk controls fail, performance changes, or the use no longer aligns with agency.</a:t>
            </a:r>
          </a:p>
        </p:txBody>
      </p:sp>
      <p:sp>
        <p:nvSpPr>
          <p:cNvPr id="16" name="">
            <a:extLst xmlns:a="http://schemas.openxmlformats.org/drawingml/2006/main">
              <a:ext uri="{FF2B5EF4-FFF2-40B4-BE49-F238E27FC236}">
                <a16:creationId xmlns:a16="http://schemas.microsoft.com/office/drawing/2014/main" id="{50FFC9AA-00B9-485C-BE2C-EA58E0386EA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7" name="">
            <a:extLst xmlns:a="http://schemas.openxmlformats.org/drawingml/2006/main">
              <a:ext uri="{FF2B5EF4-FFF2-40B4-BE49-F238E27FC236}">
                <a16:creationId xmlns:a16="http://schemas.microsoft.com/office/drawing/2014/main" id="{65930247-DB44-4C71-BAEF-B3B96AC0E9D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3491129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848BD4-82D0-4F0B-AA2B-4F2DCD60552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923D80F-0968-4887-AD31-6F56E50D372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06316F35-0CE1-4AF8-B5A1-B58555401C7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29F12F4-2B89-45AE-8C30-3FF229E08CE7}"/>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7D050BB0-2C5D-4B21-BC52-7826FA4CECC8}"/>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281C057-829E-4E9C-8CF2-0AE2D703370E}"/>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4475B66-D513-4473-8E24-9D58831706D9}"/>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Equity audit before scale</a:t>
            </a:r>
          </a:p>
        </p:txBody>
      </p:sp>
      <p:sp>
        <p:nvSpPr>
          <p:cNvPr id="8" name="">
            <a:extLst xmlns:a="http://schemas.openxmlformats.org/drawingml/2006/main">
              <a:ext uri="{FF2B5EF4-FFF2-40B4-BE49-F238E27FC236}">
                <a16:creationId xmlns:a16="http://schemas.microsoft.com/office/drawing/2014/main" id="{D25148DC-D6A5-4750-9F81-C950DCCCA94A}"/>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subgroup performance, access barriers, language needs, and potential disparate impacts before a pilot expands.</a:t>
            </a:r>
          </a:p>
        </p:txBody>
      </p:sp>
      <p:sp>
        <p:nvSpPr>
          <p:cNvPr id="9" name="">
            <a:extLst xmlns:a="http://schemas.openxmlformats.org/drawingml/2006/main">
              <a:ext uri="{FF2B5EF4-FFF2-40B4-BE49-F238E27FC236}">
                <a16:creationId xmlns:a16="http://schemas.microsoft.com/office/drawing/2014/main" id="{ABFF5E11-7AE1-4CA4-B5D1-B5142BB4A65D}"/>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F25DD29-AB0D-4E8C-9385-F2E7971A2A14}"/>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C090F67-A24D-484F-8934-9428CBC32428}"/>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Hallucination audit for public-facing products</a:t>
            </a:r>
          </a:p>
        </p:txBody>
      </p:sp>
      <p:sp>
        <p:nvSpPr>
          <p:cNvPr id="12" name="">
            <a:extLst xmlns:a="http://schemas.openxmlformats.org/drawingml/2006/main">
              <a:ext uri="{FF2B5EF4-FFF2-40B4-BE49-F238E27FC236}">
                <a16:creationId xmlns:a16="http://schemas.microsoft.com/office/drawing/2014/main" id="{A14D08CB-2000-4476-8836-B13B6139C296}"/>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Test generated content against authoritative sources and require correction before public release.</a:t>
            </a:r>
          </a:p>
        </p:txBody>
      </p:sp>
      <p:sp>
        <p:nvSpPr>
          <p:cNvPr id="13" name="">
            <a:extLst xmlns:a="http://schemas.openxmlformats.org/drawingml/2006/main">
              <a:ext uri="{FF2B5EF4-FFF2-40B4-BE49-F238E27FC236}">
                <a16:creationId xmlns:a16="http://schemas.microsoft.com/office/drawing/2014/main" id="{233D1D1D-D9D9-4199-A56E-3D32C0A75707}"/>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1D03B6F-417D-4D7B-A366-6A666D95A021}"/>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9E2697AD-1E5F-43B2-8AF3-760F429AF8AF}"/>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Incident response for unsafe outputs</a:t>
            </a:r>
          </a:p>
        </p:txBody>
      </p:sp>
      <p:sp>
        <p:nvSpPr>
          <p:cNvPr id="16" name="">
            <a:extLst xmlns:a="http://schemas.openxmlformats.org/drawingml/2006/main">
              <a:ext uri="{FF2B5EF4-FFF2-40B4-BE49-F238E27FC236}">
                <a16:creationId xmlns:a16="http://schemas.microsoft.com/office/drawing/2014/main" id="{51A68A21-0034-4ED8-9632-2BCFC6E91533}"/>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Document unsafe, biased, private, or inaccurate outputs and route them through escalation, containment, and corrective action.</a:t>
            </a:r>
          </a:p>
        </p:txBody>
      </p:sp>
      <p:sp>
        <p:nvSpPr>
          <p:cNvPr id="17" name="">
            <a:extLst xmlns:a="http://schemas.openxmlformats.org/drawingml/2006/main">
              <a:ext uri="{FF2B5EF4-FFF2-40B4-BE49-F238E27FC236}">
                <a16:creationId xmlns:a16="http://schemas.microsoft.com/office/drawing/2014/main" id="{EB9DDCA6-ACEC-4FDA-83FB-45533EBA77D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8" name="">
            <a:extLst xmlns:a="http://schemas.openxmlformats.org/drawingml/2006/main">
              <a:ext uri="{FF2B5EF4-FFF2-40B4-BE49-F238E27FC236}">
                <a16:creationId xmlns:a16="http://schemas.microsoft.com/office/drawing/2014/main" id="{65996E84-EE66-4F9D-B98D-0F6A9C8A4DC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19835975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AC02C8-AD19-4C4F-8F28-59FAFCBF8C7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47D3DA6-255A-4634-8410-8B1F2007674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B3968AF3-A9B1-457B-AA9C-5BD7284B1C6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88F21AB-2AEC-4C41-B2C6-17B4BE9B903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7E7CA48-AD9F-4A67-B344-93C53BEB7AC1}"/>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46DB44C-CE35-4C57-85DA-C9BD632402B1}"/>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F48E74A0-684D-48F7-9068-A81D3B4E3C56}"/>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harms could occur if the AI output is wrong, biased, delayed, misunderstood, or over-trusted? What data, populations, or workflows are most vulnerable to error? What conditions should trigger pause, review, correction, or retirement?</a:t>
            </a:r>
          </a:p>
        </p:txBody>
      </p:sp>
      <p:sp>
        <p:nvSpPr>
          <p:cNvPr id="8" name="">
            <a:extLst xmlns:a="http://schemas.openxmlformats.org/drawingml/2006/main">
              <a:ext uri="{FF2B5EF4-FFF2-40B4-BE49-F238E27FC236}">
                <a16:creationId xmlns:a16="http://schemas.microsoft.com/office/drawing/2014/main" id="{50E3E066-56CD-4A92-AB5D-141850C5EEFC}"/>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8F8D897-F67E-4DA7-9C39-1582B5FC6D44}"/>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309DFE48-E78F-4A86-886D-D66DCAF89A56}"/>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77642991-003B-4444-A1B8-3893F386BA9D}"/>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Select a proposed AI use case and identify risks across accuracy, privacy, security, equity, transparency, workforce burden, legal authority, and public trust. Define one mitigation for each risk.</a:t>
            </a:r>
          </a:p>
        </p:txBody>
      </p:sp>
      <p:sp>
        <p:nvSpPr>
          <p:cNvPr id="12" name="">
            <a:extLst xmlns:a="http://schemas.openxmlformats.org/drawingml/2006/main">
              <a:ext uri="{FF2B5EF4-FFF2-40B4-BE49-F238E27FC236}">
                <a16:creationId xmlns:a16="http://schemas.microsoft.com/office/drawing/2014/main" id="{8632B0D0-5ED7-4ECE-A39C-73C782A8132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3" name="">
            <a:extLst xmlns:a="http://schemas.openxmlformats.org/drawingml/2006/main">
              <a:ext uri="{FF2B5EF4-FFF2-40B4-BE49-F238E27FC236}">
                <a16:creationId xmlns:a16="http://schemas.microsoft.com/office/drawing/2014/main" id="{45AFFE5A-A8E2-4C0B-9B3B-B9B20E83650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7279177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11378C-A027-4BD6-971F-6D8F21F5E7D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8D00017-6738-492D-94AA-7D720510859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20A7633C-B887-4072-BED9-64413548ACF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8BE82AD-4E97-4580-AC0C-1841714E760A}"/>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875A745-0081-42FB-BC47-2613F08AD42F}"/>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9091E372-92C2-484F-AB80-305BA7FD905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050C5DDE-4AF6-4E8F-ACAB-1237750E8581}"/>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11, 12, 13 and Tools 3, 16, 14, 47, 17.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1E3A5567-BB43-4FEE-93DA-C5A1771911D9}"/>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3DC52E4-2247-4A99-BCF5-E0840A741374}"/>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8C8AF75-9A71-440D-AE33-FE4127D853A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CEA220A3-3514-406E-ABD8-B3FE34DF6704}"/>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Core framework for identifying, measuring, managing, and governing AI risk. HHS Civil Rights and AI: Civil rights and nondiscrimination considerations for AI in health and human services. WHO: Ethics and.</a:t>
            </a:r>
          </a:p>
        </p:txBody>
      </p:sp>
      <p:sp>
        <p:nvSpPr>
          <p:cNvPr id="12" name="">
            <a:extLst xmlns:a="http://schemas.openxmlformats.org/drawingml/2006/main">
              <a:ext uri="{FF2B5EF4-FFF2-40B4-BE49-F238E27FC236}">
                <a16:creationId xmlns:a16="http://schemas.microsoft.com/office/drawing/2014/main" id="{33D7CC24-9DA5-41C7-9734-2C9F1BC4E7A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Risks, Limitations, and Guardrails</a:t>
            </a:r>
          </a:p>
        </p:txBody>
      </p:sp>
      <p:sp>
        <p:nvSpPr>
          <p:cNvPr id="13" name="">
            <a:extLst xmlns:a="http://schemas.openxmlformats.org/drawingml/2006/main">
              <a:ext uri="{FF2B5EF4-FFF2-40B4-BE49-F238E27FC236}">
                <a16:creationId xmlns:a16="http://schemas.microsoft.com/office/drawing/2014/main" id="{DFDC5576-A249-4C68-917A-D953181B321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6180334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2026-07-02T17:47:02.1120000Z</dcterms:created>
  <dcterms:modified xsi:type="dcterms:W3CDTF">2026-07-02T17:47:02.1120000Z</dcterms:modified>
</coreProperties>
</file>