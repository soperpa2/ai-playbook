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Lst>
  <p:notesMasterIdLst>
    <p:notesMasterId r:id="rId2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notesMaster" Target="notesMasters/notesMaster1.xml"/><Relationship Id="rId26" Type="http://schemas.openxmlformats.org/officeDocument/2006/relationships/presProps" Target="presProps.xml"/><Relationship Id="rId27" Type="http://schemas.openxmlformats.org/officeDocument/2006/relationships/viewProps" Target="viewProps.xml"/><Relationship Id="rId28" Type="http://schemas.openxmlformats.org/officeDocument/2006/relationships/theme" Target="theme/theme1.xml"/><Relationship Id="rId2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POL 300 Public Health AI Policy Landscape and Regulatory Readiness
The public health AI policy landscape is evolving quickly across federal agencies, states, local governments, professional organizations, courts, standards bodies, and procurement offices. Public health agencies do not need to wait for every rule to be settled before acting responsibly, but they do need a process for monitoring policy changes and translating them into agency practice. Regulatory readiness means the agency can identify relevant requirements, update internal policies, and document compliance as AI uses change. This module teaches policy and governance staff how to track AI policy developments, interpret their relevance to public health, and maintain internal AI policies that are adaptable. It focuses on readiness rather than legal advice. Learners examine how privacy, civil rights, procurement, public records, cybersecurity, accessibility, data governance, and administrative law may intersect with AI-supported public health work. Policy readiness protects agencies from both inaction and unstructured adoption. It helps leaders make decisions while acknowledging uncertainty, documenting assumptions, and creating mechanisms to update policies as the external environment changes.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Context
Level: intermediate/practitioner
Primary track: Policy Role-Based Track
Appears in tracks: policy, governance-and-security, public-health-executive-leadership, program-management
The public health AI policy landscape is evolving quickly across federal agencies, states, local governments, professional organizations, courts, standards bodies, and procurement offices. Public health agencies do not need to wait for every rule to be settled before acting responsibly, but they do need a process for monitoring policy changes and translating them into agency practice. Regulatory readiness means the agency can identify relevant requirements, update internal policies, and document compliance as AI uses change. This module teaches policy and governance staff how to track AI policy developments, interpret their relevance to public health, and maintain internal AI policies that are adaptable. It focuses on readiness rather than legal advice. Learners examine how privacy, civil rights, procurement, public records, cybersecurity, accessibility, data governance, and administrative law may intersect with AI-supported public health work. Policy readiness protects agencies from both inaction and unstructured adoption. It helps leaders make decisions while acknowledging uncertainty, documenting assumptions, and creating mechanisms to update policies as the external environment changes.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Related Playbook Plays
Play 3: Establish AI Governance - This lesson informs Play 3 by helping learners connect the lesson topic to establish ai governance work in the AI Playbook sequence.
Play 12: Execute Governance and Oversight - This lesson informs Play 12 by helping learners connect the lesson topic to execute governance and oversight work in the AI Playbook.
Play 11: Build and Deploy AI Solutions - This lesson informs Play 11 by helping learners connect the lesson topic to build and deploy ai solutions work in the AI Playbook.
Play 8: Develop a Funding Strategy - This lesson informs Play 8 by helping learners connect the lesson topic to develop a funding strategy work in the AI Playbook sequence.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Related Toolkit Resources
Tool 16: Incident Response Checklist (Checklist) - Use this tool to complete or strengthen the practical exercise for the module using fictional, de-identified, or generalized.
Tool 17: Compliance Audit Checklist (Checklist) - Use this tool to complete or strengthen the practical exercise for the module using fictional, de-identified, or generalized.
Tool 18: Policy Update &amp; Version Control Log (Log) - Use this tool to complete or strengthen the practical exercise for the module using fictional, de-identified, or generalized.
Tool 19: Plain-Language AI Public Notice Template (Template) - Use this tool to complete or strengthen the practical exercise for the module using fictional, de-identified, or generalized.
Tool 32: Vendor Evaluation Checklist (Checklist) - Use this tool to complete or strengthen the practical exercise for the module using fictional, de-identified, or generalized.
Tool 34: STLT AI Procurement and Vendor Addendum (Checklist) - Use this tool to complete or strengthen the practical exercise for the module using fictional, de-identified, or generalized.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Learning Objectives
Identify categories of law, policy, standards, and guidance that may affect public health AI.
Explain why regulatory readiness requires monitoring, interpretation, documentation, and policy maintenance.
Distinguish between binding requirements, agency policy, professional guidance, standards, and best practices.
Create a policy scan process for AI-related developments.
Produce an AI regulatory readiness memo or policy update plan.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Overview
The public health AI policy landscape is evolving quickly across federal agencies, states, local governments, professional organizations, courts, standards bodies, and procurement offices. Public health agencies do not need to wait for every rule to be settled before acting responsibly, but they do need a process for monitoring policy changes and translating them into agency practice. Regulatory readiness means the agency can identify relevant requirements, update internal policies, and document compliance as AI uses change.
This module teaches policy and governance staff how to track AI policy developments, interpret their relevance to public health, and maintain internal AI policies that are adaptable. It focuses on readiness rather than legal advice. Learners examine how privacy, civil rights, procurement, public records, cybersecurity, accessibility, data governance, and administrative law may intersect with AI-supported public health work.
Policy readiness protects agencies from both inaction and unstructured adoption. It helps leaders make decisions while acknowledging uncertainty, documenting assumptions, and creating mechanisms to update policies as the external environment changes.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Jurisdiction and Agency Policy Note
This module provides national-level training guidance for public health agencies and partners. It is not legal advice and does not replace review by agency legal counsel, privacy officers, procurement officials, civil rights staff, records officers, or other authorized decision-makers. Requirements may vary by state, locality, territory, Tribe, agency, funding source, data-sharing agreement, emergency authority, and organizational policy. Learners should use this module to identify the issues that require review and should confirm applicable requirements before approving, procuring, deploying, or publicly communicating about AI-supported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Public Health Example
A local health department is considering AI tools for translation, complaint triage, and case note summarization. A policy scan identifies privacy, public records, procurement, accessibility, cybersecurity, and civil rights considerations. The agency creates a readiness memo that distinguishes existing requirements from emerging guidance, recommends interim safeguards, and establishes a quarterly process to update AI policies as requirements evolve.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Topic Deep Dive
Policy readiness begins by identifying relevant domains rather than looking for a single AI law. Public health AI may be affected by health privacy rules, state confidentiality laws, public records requirements, procurement standards, accessibility laws, cybersecurity policies, civil rights obligations, data sharing agreements, records retention rules, and professional ethics. AI-specific policy should be layered onto this existing policy environment.
Agencies should distinguish between different levels of authority. A statute, regulation, contract clause, grant requirement, executive order, agency policy, professional guideline, and technical standard do not all carry the same legal weight. However, nonbinding guidance can still be important because it may reflect emerging expectations for responsible practice, risk management, transparency, documentation, or auditability.
A policy scan should be assigned to a responsible role or group. The scan should identify sources to monitor, frequency of review, criteria for relevance, and a process for escalating items that may affect agency policy or active AI use cases. The process should avoid overreacting to every news item while still ensuring that meaningful changes are not missed.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Topic Deep Dive
Regulatory readiness also requires change management. When policy requirements change, the agency may need to update SOPs, procurement language, risk tiers, training, documentation, vendor oversight, public transparency materials, or incident response procedures. A policy update is not complete until it has been translated into operational practice.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Risks, Failure Modes, and Guardrails
Risks and failure modes include the following:
Assuming there is no policy risk because there is no single AI statute.
Treating nonbinding guidance as irrelevant even when it reflects expected practice.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Risks, Failure Modes, and Guardrails
Failing to update internal policies after legal, procurement, privacy, or cybersecurity changes.
Allowing vendors to define compliance obligations without agency review.
Maintaining policies that are too vague to guide real decisions.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Risks, Failure Modes, and Guardrails
Recommended guardrails include the following:
Assign responsibility for AI policy scanning and interpretation.
Distinguish binding requirements from guidance and best practices.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Risks, Failure Modes, and Guardrails
Maintain a crosswalk from external requirements to internal policies and procedures.
Update training, SOPs, and procurement language when policies change.
Document assumptions, decisions, and unresolved legal or policy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Reflection Questions
Where does this topic appear in your agency, program, or workflow?
Which staff roles would need to understand or apply this concept before AI use is approved?
What could go wrong if this topic is not addressed before implementation?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Reflection Questions
What evidence would governance, leadership, or operations staff need before moving forward?
Which policy, data, equity, privacy, security, or workflow questions remain unresolved?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Practical Exercise
Create a public health AI policy scan and regulatory readiness memo. Identify relevant policy domains, sources to monitor, current agency policy gaps, likely operational implications, recommended interim safeguards, and a process for ongoing updates.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Artifact or Evidence
AI policy scan plan
Regulatory readiness memo
Policy-domain crosswalk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Artifact or Evidence
Recommended policy updates
Ongoing monitoring process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Assignment
AI policy scan plan
Regulatory readiness memo
Policy-domain crosswalk
Recommended policy updates
Ongoing monitoring process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Knowledge Check
1. What does regulatory readiness mean in this module?
2. Which statement is most accurate?
3. What is a policy scan?
4. What should happen after a policy change affects AI use?
5. What is strong completion evidence?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References and Resources
NIST Artificial Intelligence Risk Management Framework: https://www.nist.gov/itl/ai-risk-management-framework
NIST Generative AI Profile: https://www.nist.gov/publications/artificial-intelligence-risk-management-framework-generative-artificial-intelligence
CDC Public Health Data Strategy and Data Modernization resources: https://www.cdc.gov/public-health-data-strategy/php/about/index.html
OWASP guidance for LLM application security
Agency policies for privacy, cybersecurity, records, procurement, accessibility, and public communications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References and Resources
Relevant public health program SOPs, data governance documentation, and implementation plans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7FBFD"/>
          </a:solidFill>
          <a:ln w="12700">
            <a:solidFill>
              <a:srgbClr val="F7FBFD"/>
            </a:solidFill>
            <a:prstDash val="solid"/>
          </a:ln>
        </p:spPr>
      </p:sp>
      <p:pic>
        <p:nvPicPr>
          <p:cNvPr id="3" name="Image 0" descr="C:\Users\paula\Documents\Codex\2026-06-30\files-mentioned-by-the-user-ai\outputs\ai-playbook-site\assets\ai-playbook-logo-public-health.png">    </p:cNvPr>
          <p:cNvPicPr>
            <a:picLocks noChangeAspect="1"/>
          </p:cNvPicPr>
          <p:nvPr/>
        </p:nvPicPr>
        <p:blipFill>
          <a:blip r:embed="rId1"/>
          <a:stretch>
            <a:fillRect/>
          </a:stretch>
        </p:blipFill>
        <p:spPr>
          <a:xfrm>
            <a:off x="713232" y="566928"/>
            <a:ext cx="1353312" cy="1353312"/>
          </a:xfrm>
          <a:prstGeom prst="rect">
            <a:avLst/>
          </a:prstGeom>
        </p:spPr>
      </p:pic>
      <p:sp>
        <p:nvSpPr>
          <p:cNvPr id="4" name="Shape 1"/>
          <p:cNvSpPr/>
          <p:nvPr/>
        </p:nvSpPr>
        <p:spPr>
          <a:xfrm>
            <a:off x="713232" y="2240280"/>
            <a:ext cx="10698480" cy="0"/>
          </a:xfrm>
          <a:prstGeom prst="line">
            <a:avLst/>
          </a:prstGeom>
          <a:noFill/>
          <a:ln w="25400">
            <a:solidFill>
              <a:srgbClr val="2F8A28"/>
            </a:solidFill>
            <a:prstDash val="solid"/>
          </a:ln>
        </p:spPr>
      </p:sp>
      <p:sp>
        <p:nvSpPr>
          <p:cNvPr id="5" name="Text 2"/>
          <p:cNvSpPr/>
          <p:nvPr/>
        </p:nvSpPr>
        <p:spPr>
          <a:xfrm>
            <a:off x="749808" y="2487168"/>
            <a:ext cx="2926080" cy="274320"/>
          </a:xfrm>
          <a:prstGeom prst="rect">
            <a:avLst/>
          </a:prstGeom>
          <a:noFill/>
          <a:ln/>
        </p:spPr>
        <p:txBody>
          <a:bodyPr wrap="square" lIns="0" tIns="0" rIns="0" bIns="0" rtlCol="0" anchor="ctr"/>
          <a:lstStyle/>
          <a:p>
            <a:pPr indent="0" marL="0">
              <a:buNone/>
            </a:pPr>
            <a:r>
              <a:rPr lang="en-US" sz="1400" b="1" dirty="0">
                <a:solidFill>
                  <a:srgbClr val="2F8A28"/>
                </a:solidFill>
                <a:latin typeface="Aptos" pitchFamily="34" charset="0"/>
                <a:ea typeface="Aptos" pitchFamily="34" charset="-122"/>
                <a:cs typeface="Aptos" pitchFamily="34" charset="-120"/>
              </a:rPr>
              <a:t>POL 300</a:t>
            </a:r>
            <a:endParaRPr lang="en-US" sz="1400" dirty="0"/>
          </a:p>
        </p:txBody>
      </p:sp>
      <p:sp>
        <p:nvSpPr>
          <p:cNvPr id="6" name="Text 3"/>
          <p:cNvSpPr/>
          <p:nvPr/>
        </p:nvSpPr>
        <p:spPr>
          <a:xfrm>
            <a:off x="713232" y="2816352"/>
            <a:ext cx="10607040" cy="868680"/>
          </a:xfrm>
          <a:prstGeom prst="rect">
            <a:avLst/>
          </a:prstGeom>
          <a:noFill/>
          <a:ln/>
        </p:spPr>
        <p:txBody>
          <a:bodyPr wrap="square" lIns="0" tIns="0" rIns="0" bIns="0" rtlCol="0" anchor="ctr">
            <a:normAutofit/>
          </a:bodyPr>
          <a:lstStyle/>
          <a:p>
            <a:pPr indent="0" marL="0">
              <a:buNone/>
            </a:pPr>
            <a:r>
              <a:rPr lang="en-US" sz="3200" b="1" dirty="0">
                <a:solidFill>
                  <a:srgbClr val="003A63"/>
                </a:solidFill>
                <a:latin typeface="Aptos Display" pitchFamily="34" charset="0"/>
                <a:ea typeface="Aptos Display" pitchFamily="34" charset="-122"/>
                <a:cs typeface="Aptos Display" pitchFamily="34" charset="-120"/>
              </a:rPr>
              <a:t>Public Health AI Policy Landscape and Regulatory Readiness</a:t>
            </a:r>
            <a:endParaRPr lang="en-US" sz="3200" dirty="0"/>
          </a:p>
        </p:txBody>
      </p:sp>
      <p:sp>
        <p:nvSpPr>
          <p:cNvPr id="7" name="Text 4"/>
          <p:cNvSpPr/>
          <p:nvPr/>
        </p:nvSpPr>
        <p:spPr>
          <a:xfrm>
            <a:off x="749808" y="3968496"/>
            <a:ext cx="8686800" cy="320040"/>
          </a:xfrm>
          <a:prstGeom prst="rect">
            <a:avLst/>
          </a:prstGeom>
          <a:noFill/>
          <a:ln/>
        </p:spPr>
        <p:txBody>
          <a:bodyPr wrap="square" lIns="0" tIns="0" rIns="0" bIns="0" rtlCol="0" anchor="ctr"/>
          <a:lstStyle/>
          <a:p>
            <a:pPr indent="0" marL="0">
              <a:buNone/>
            </a:pPr>
            <a:r>
              <a:rPr lang="en-US" sz="1800" dirty="0">
                <a:solidFill>
                  <a:srgbClr val="17364A"/>
                </a:solidFill>
                <a:latin typeface="Aptos" pitchFamily="34" charset="0"/>
                <a:ea typeface="Aptos" pitchFamily="34" charset="-122"/>
                <a:cs typeface="Aptos" pitchFamily="34" charset="-120"/>
              </a:rPr>
              <a:t>AI Playbook and Toolkit for Public Health Departments</a:t>
            </a:r>
            <a:endParaRPr lang="en-US" sz="1800" dirty="0"/>
          </a:p>
        </p:txBody>
      </p:sp>
      <p:sp>
        <p:nvSpPr>
          <p:cNvPr id="8"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Public Health AI Policy Landscape and Regulatory Readiness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What this module helps you do</a:t>
            </a:r>
            <a:endParaRPr lang="en-US" sz="3400" dirty="0"/>
          </a:p>
        </p:txBody>
      </p:sp>
      <p:sp>
        <p:nvSpPr>
          <p:cNvPr id="9" name="Text 7"/>
          <p:cNvSpPr/>
          <p:nvPr/>
        </p:nvSpPr>
        <p:spPr>
          <a:xfrm>
            <a:off x="868680" y="1508760"/>
            <a:ext cx="6446520" cy="292608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The public health AI policy landscape is evolving quickly across federal agencies, states, local governments,.</a:t>
            </a:r>
            <a:endParaRPr lang="en-US" sz="2100" dirty="0"/>
          </a:p>
          <a:p>
            <a:r>
              <a:rPr lang="en-US" sz="2100" dirty="0">
                <a:solidFill>
                  <a:srgbClr val="17364A"/>
                </a:solidFill>
                <a:latin typeface="Aptos" pitchFamily="34" charset="0"/>
                <a:ea typeface="Aptos" pitchFamily="34" charset="-122"/>
                <a:cs typeface="Aptos" pitchFamily="34" charset="-120"/>
              </a:rPr>
              <a:t>Public health agencies do not need to wait for every rule to be settled before acting responsibly, but they do.</a:t>
            </a:r>
            <a:endParaRPr lang="en-US" sz="2100" dirty="0"/>
          </a:p>
          <a:p>
            <a:r>
              <a:rPr lang="en-US" sz="2100" dirty="0">
                <a:solidFill>
                  <a:srgbClr val="17364A"/>
                </a:solidFill>
                <a:latin typeface="Aptos" pitchFamily="34" charset="0"/>
                <a:ea typeface="Aptos" pitchFamily="34" charset="-122"/>
                <a:cs typeface="Aptos" pitchFamily="34" charset="-120"/>
              </a:rPr>
              <a:t>Regulatory readiness means the agency can identify relevant requirements, update internal policies, and document.</a:t>
            </a:r>
            <a:endParaRPr lang="en-US" sz="2100" dirty="0"/>
          </a:p>
        </p:txBody>
      </p:sp>
      <p:sp>
        <p:nvSpPr>
          <p:cNvPr id="10" name="Shape 8"/>
          <p:cNvSpPr/>
          <p:nvPr/>
        </p:nvSpPr>
        <p:spPr>
          <a:xfrm>
            <a:off x="7909560" y="1417320"/>
            <a:ext cx="3154680" cy="1920240"/>
          </a:xfrm>
          <a:prstGeom prst="roundRect">
            <a:avLst>
              <a:gd name="adj" fmla="val 5714"/>
            </a:avLst>
          </a:prstGeom>
          <a:solidFill>
            <a:srgbClr val="EAF6F8"/>
          </a:solidFill>
          <a:ln w="12700">
            <a:solidFill>
              <a:srgbClr val="B9D7E6"/>
            </a:solidFill>
            <a:prstDash val="solid"/>
          </a:ln>
        </p:spPr>
      </p:sp>
      <p:sp>
        <p:nvSpPr>
          <p:cNvPr id="11" name="Text 9"/>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Module details</a:t>
            </a:r>
            <a:endParaRPr lang="en-US" sz="1300" dirty="0"/>
          </a:p>
        </p:txBody>
      </p:sp>
      <p:sp>
        <p:nvSpPr>
          <p:cNvPr id="12" name="Text 10"/>
          <p:cNvSpPr/>
          <p:nvPr/>
        </p:nvSpPr>
        <p:spPr>
          <a:xfrm>
            <a:off x="8074152" y="1920240"/>
            <a:ext cx="2825496" cy="128016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Level: intermediate/practitioner</a:t>
            </a:r>
            <a:endParaRPr lang="en-US" sz="1550" dirty="0"/>
          </a:p>
          <a:p>
            <a:pPr indent="0" marL="0">
              <a:buNone/>
            </a:pPr>
            <a:r>
              <a:rPr lang="en-US" sz="1550" dirty="0">
                <a:solidFill>
                  <a:srgbClr val="17364A"/>
                </a:solidFill>
                <a:latin typeface="Aptos" pitchFamily="34" charset="0"/>
                <a:ea typeface="Aptos" pitchFamily="34" charset="-122"/>
                <a:cs typeface="Aptos" pitchFamily="34" charset="-120"/>
              </a:rPr>
              <a:t>Primary track: Policy Role-Based Track</a:t>
            </a:r>
            <a:endParaRPr lang="en-US" sz="1550" dirty="0"/>
          </a:p>
          <a:p>
            <a:pPr indent="0" marL="0">
              <a:buNone/>
            </a:pPr>
            <a:r>
              <a:rPr lang="en-US" sz="1550" dirty="0">
                <a:solidFill>
                  <a:srgbClr val="17364A"/>
                </a:solidFill>
                <a:latin typeface="Aptos" pitchFamily="34" charset="0"/>
                <a:ea typeface="Aptos" pitchFamily="34" charset="-122"/>
                <a:cs typeface="Aptos" pitchFamily="34" charset="-120"/>
              </a:rPr>
              <a:t>Appears in tracks: policy, governance-and-security, public-health-executive-leadership, program-management</a:t>
            </a:r>
            <a:endParaRPr lang="en-US" sz="1550" dirty="0"/>
          </a:p>
        </p:txBody>
      </p:sp>
      <p:sp>
        <p:nvSpPr>
          <p:cNvPr id="13" name="Shape 11"/>
          <p:cNvSpPr/>
          <p:nvPr/>
        </p:nvSpPr>
        <p:spPr>
          <a:xfrm>
            <a:off x="7635240" y="3730752"/>
            <a:ext cx="1033272" cy="749808"/>
          </a:xfrm>
          <a:prstGeom prst="roundRect">
            <a:avLst>
              <a:gd name="adj" fmla="val 14634"/>
            </a:avLst>
          </a:prstGeom>
          <a:solidFill>
            <a:srgbClr val="0068B7"/>
          </a:solidFill>
          <a:ln w="12700">
            <a:solidFill>
              <a:srgbClr val="0068B7"/>
            </a:solidFill>
            <a:prstDash val="solid"/>
          </a:ln>
        </p:spPr>
      </p:sp>
      <p:sp>
        <p:nvSpPr>
          <p:cNvPr id="14" name="Text 12"/>
          <p:cNvSpPr/>
          <p:nvPr/>
        </p:nvSpPr>
        <p:spPr>
          <a:xfrm>
            <a:off x="7708392" y="3922776"/>
            <a:ext cx="88696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Learn</a:t>
            </a:r>
            <a:endParaRPr lang="en-US" sz="1500" dirty="0"/>
          </a:p>
        </p:txBody>
      </p:sp>
      <p:sp>
        <p:nvSpPr>
          <p:cNvPr id="15" name="Text 13"/>
          <p:cNvSpPr/>
          <p:nvPr/>
        </p:nvSpPr>
        <p:spPr>
          <a:xfrm>
            <a:off x="8695944" y="3941064"/>
            <a:ext cx="201168" cy="256032"/>
          </a:xfrm>
          <a:prstGeom prst="rect">
            <a:avLst/>
          </a:prstGeom>
          <a:noFill/>
          <a:ln/>
        </p:spPr>
        <p:txBody>
          <a:bodyPr wrap="square" lIns="0" tIns="0" rIns="0" bIns="0" rtlCol="0" anchor="ctr"/>
          <a:lstStyle/>
          <a:p>
            <a:pPr algn="ctr" indent="0" marL="0">
              <a:buNone/>
            </a:pPr>
            <a:r>
              <a:rPr lang="en-US" sz="1800" b="1" dirty="0">
                <a:solidFill>
                  <a:srgbClr val="0068B7"/>
                </a:solidFill>
                <a:latin typeface="Aptos" pitchFamily="34" charset="0"/>
                <a:ea typeface="Aptos" pitchFamily="34" charset="-122"/>
                <a:cs typeface="Aptos" pitchFamily="34" charset="-120"/>
              </a:rPr>
              <a:t>â†’</a:t>
            </a:r>
            <a:endParaRPr lang="en-US" sz="1800" dirty="0"/>
          </a:p>
        </p:txBody>
      </p:sp>
      <p:sp>
        <p:nvSpPr>
          <p:cNvPr id="16" name="Shape 14"/>
          <p:cNvSpPr/>
          <p:nvPr/>
        </p:nvSpPr>
        <p:spPr>
          <a:xfrm>
            <a:off x="8924544" y="3730752"/>
            <a:ext cx="1033272" cy="749808"/>
          </a:xfrm>
          <a:prstGeom prst="roundRect">
            <a:avLst>
              <a:gd name="adj" fmla="val 14634"/>
            </a:avLst>
          </a:prstGeom>
          <a:solidFill>
            <a:srgbClr val="2F8A28"/>
          </a:solidFill>
          <a:ln w="12700">
            <a:solidFill>
              <a:srgbClr val="2F8A28"/>
            </a:solidFill>
            <a:prstDash val="solid"/>
          </a:ln>
        </p:spPr>
      </p:sp>
      <p:sp>
        <p:nvSpPr>
          <p:cNvPr id="17" name="Text 15"/>
          <p:cNvSpPr/>
          <p:nvPr/>
        </p:nvSpPr>
        <p:spPr>
          <a:xfrm>
            <a:off x="8997696" y="3922776"/>
            <a:ext cx="88696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Apply</a:t>
            </a:r>
            <a:endParaRPr lang="en-US" sz="1500" dirty="0"/>
          </a:p>
        </p:txBody>
      </p:sp>
      <p:sp>
        <p:nvSpPr>
          <p:cNvPr id="18" name="Text 16"/>
          <p:cNvSpPr/>
          <p:nvPr/>
        </p:nvSpPr>
        <p:spPr>
          <a:xfrm>
            <a:off x="9985248" y="3941064"/>
            <a:ext cx="201168" cy="256032"/>
          </a:xfrm>
          <a:prstGeom prst="rect">
            <a:avLst/>
          </a:prstGeom>
          <a:noFill/>
          <a:ln/>
        </p:spPr>
        <p:txBody>
          <a:bodyPr wrap="square" lIns="0" tIns="0" rIns="0" bIns="0" rtlCol="0" anchor="ctr"/>
          <a:lstStyle/>
          <a:p>
            <a:pPr algn="ctr" indent="0" marL="0">
              <a:buNone/>
            </a:pPr>
            <a:r>
              <a:rPr lang="en-US" sz="1800" b="1" dirty="0">
                <a:solidFill>
                  <a:srgbClr val="0068B7"/>
                </a:solidFill>
                <a:latin typeface="Aptos" pitchFamily="34" charset="0"/>
                <a:ea typeface="Aptos" pitchFamily="34" charset="-122"/>
                <a:cs typeface="Aptos" pitchFamily="34" charset="-120"/>
              </a:rPr>
              <a:t>â†’</a:t>
            </a:r>
            <a:endParaRPr lang="en-US" sz="1800" dirty="0"/>
          </a:p>
        </p:txBody>
      </p:sp>
      <p:sp>
        <p:nvSpPr>
          <p:cNvPr id="19" name="Shape 17"/>
          <p:cNvSpPr/>
          <p:nvPr/>
        </p:nvSpPr>
        <p:spPr>
          <a:xfrm>
            <a:off x="10213848" y="3730752"/>
            <a:ext cx="1033272" cy="749808"/>
          </a:xfrm>
          <a:prstGeom prst="roundRect">
            <a:avLst>
              <a:gd name="adj" fmla="val 14634"/>
            </a:avLst>
          </a:prstGeom>
          <a:solidFill>
            <a:srgbClr val="6A4CA3"/>
          </a:solidFill>
          <a:ln w="12700">
            <a:solidFill>
              <a:srgbClr val="6A4CA3"/>
            </a:solidFill>
            <a:prstDash val="solid"/>
          </a:ln>
        </p:spPr>
      </p:sp>
      <p:sp>
        <p:nvSpPr>
          <p:cNvPr id="20" name="Text 18"/>
          <p:cNvSpPr/>
          <p:nvPr/>
        </p:nvSpPr>
        <p:spPr>
          <a:xfrm>
            <a:off x="10287000" y="3922776"/>
            <a:ext cx="88696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Document</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Public Health AI Policy Landscape and Regulatory Readiness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3</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How this module connects to the playbook</a:t>
            </a:r>
            <a:endParaRPr lang="en-US" sz="3400" dirty="0"/>
          </a:p>
        </p:txBody>
      </p:sp>
      <p:sp>
        <p:nvSpPr>
          <p:cNvPr id="9" name="Text 7"/>
          <p:cNvSpPr/>
          <p:nvPr/>
        </p:nvSpPr>
        <p:spPr>
          <a:xfrm>
            <a:off x="868680" y="1508760"/>
            <a:ext cx="6812280" cy="3977640"/>
          </a:xfrm>
          <a:prstGeom prst="rect">
            <a:avLst/>
          </a:prstGeom>
          <a:noFill/>
          <a:ln/>
        </p:spPr>
        <p:txBody>
          <a:bodyPr wrap="square" lIns="635" tIns="635" rIns="635" bIns="635" rtlCol="0" anchor="t">
            <a:normAutofit/>
          </a:bodyPr>
          <a:lstStyle/>
          <a:p>
            <a:r>
              <a:rPr lang="en-US" sz="1900" dirty="0">
                <a:solidFill>
                  <a:srgbClr val="17364A"/>
                </a:solidFill>
                <a:latin typeface="Aptos" pitchFamily="34" charset="0"/>
                <a:ea typeface="Aptos" pitchFamily="34" charset="-122"/>
                <a:cs typeface="Aptos" pitchFamily="34" charset="-120"/>
              </a:rPr>
              <a:t>Play 3: Establish AI Governance - This lesson informs Play 3 by helping learners connect the lesson topic to.</a:t>
            </a:r>
            <a:endParaRPr lang="en-US" sz="1900" dirty="0"/>
          </a:p>
          <a:p>
            <a:r>
              <a:rPr lang="en-US" sz="1900" dirty="0">
                <a:solidFill>
                  <a:srgbClr val="17364A"/>
                </a:solidFill>
                <a:latin typeface="Aptos" pitchFamily="34" charset="0"/>
                <a:ea typeface="Aptos" pitchFamily="34" charset="-122"/>
                <a:cs typeface="Aptos" pitchFamily="34" charset="-120"/>
              </a:rPr>
              <a:t>Play 12: Execute Governance and Oversight - This lesson informs Play 12 by helping learners connect the.</a:t>
            </a:r>
            <a:endParaRPr lang="en-US" sz="1900" dirty="0"/>
          </a:p>
          <a:p>
            <a:r>
              <a:rPr lang="en-US" sz="1900" dirty="0">
                <a:solidFill>
                  <a:srgbClr val="17364A"/>
                </a:solidFill>
                <a:latin typeface="Aptos" pitchFamily="34" charset="0"/>
                <a:ea typeface="Aptos" pitchFamily="34" charset="-122"/>
                <a:cs typeface="Aptos" pitchFamily="34" charset="-120"/>
              </a:rPr>
              <a:t>Play 11: Build and Deploy AI Solutions - This lesson informs Play 11 by helping learners connect the lesson.</a:t>
            </a:r>
            <a:endParaRPr lang="en-US" sz="1900" dirty="0"/>
          </a:p>
          <a:p>
            <a:r>
              <a:rPr lang="en-US" sz="1900" dirty="0">
                <a:solidFill>
                  <a:srgbClr val="17364A"/>
                </a:solidFill>
                <a:latin typeface="Aptos" pitchFamily="34" charset="0"/>
                <a:ea typeface="Aptos" pitchFamily="34" charset="-122"/>
                <a:cs typeface="Aptos" pitchFamily="34" charset="-120"/>
              </a:rPr>
              <a:t>Play 8: Develop a Funding Strategy - This lesson informs Play 8 by helping learners connect the lesson topic.</a:t>
            </a:r>
            <a:endParaRPr lang="en-US" sz="1900" dirty="0"/>
          </a:p>
        </p:txBody>
      </p:sp>
      <p:sp>
        <p:nvSpPr>
          <p:cNvPr id="10" name="Shape 8"/>
          <p:cNvSpPr/>
          <p:nvPr/>
        </p:nvSpPr>
        <p:spPr>
          <a:xfrm>
            <a:off x="8046720" y="1417320"/>
            <a:ext cx="3063240" cy="2103120"/>
          </a:xfrm>
          <a:prstGeom prst="roundRect">
            <a:avLst>
              <a:gd name="adj" fmla="val 5217"/>
            </a:avLst>
          </a:prstGeom>
          <a:solidFill>
            <a:srgbClr val="EEF8ED"/>
          </a:solidFill>
          <a:ln w="12700">
            <a:solidFill>
              <a:srgbClr val="B9D7E6"/>
            </a:solidFill>
            <a:prstDash val="solid"/>
          </a:ln>
        </p:spPr>
      </p:sp>
      <p:sp>
        <p:nvSpPr>
          <p:cNvPr id="11" name="Text 9"/>
          <p:cNvSpPr/>
          <p:nvPr/>
        </p:nvSpPr>
        <p:spPr>
          <a:xfrm>
            <a:off x="8211312" y="1563624"/>
            <a:ext cx="273405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Apply the lesson</a:t>
            </a:r>
            <a:endParaRPr lang="en-US" sz="1300" dirty="0"/>
          </a:p>
        </p:txBody>
      </p:sp>
      <p:sp>
        <p:nvSpPr>
          <p:cNvPr id="12" name="Text 10"/>
          <p:cNvSpPr/>
          <p:nvPr/>
        </p:nvSpPr>
        <p:spPr>
          <a:xfrm>
            <a:off x="8211312" y="1920240"/>
            <a:ext cx="2734056" cy="146304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Use the related plays to identify decisions, participants, timing, approvals, and documentation needed for responsible implementation.</a:t>
            </a:r>
            <a:endParaRPr lang="en-US" sz="1550" dirty="0"/>
          </a:p>
        </p:txBody>
      </p:sp>
      <p:sp>
        <p:nvSpPr>
          <p:cNvPr id="13" name="Shape 11"/>
          <p:cNvSpPr/>
          <p:nvPr/>
        </p:nvSpPr>
        <p:spPr>
          <a:xfrm>
            <a:off x="7818120" y="3977640"/>
            <a:ext cx="972312" cy="749808"/>
          </a:xfrm>
          <a:prstGeom prst="roundRect">
            <a:avLst>
              <a:gd name="adj" fmla="val 14634"/>
            </a:avLst>
          </a:prstGeom>
          <a:solidFill>
            <a:srgbClr val="0068B7"/>
          </a:solidFill>
          <a:ln w="12700">
            <a:solidFill>
              <a:srgbClr val="0068B7"/>
            </a:solidFill>
            <a:prstDash val="solid"/>
          </a:ln>
        </p:spPr>
      </p:sp>
      <p:sp>
        <p:nvSpPr>
          <p:cNvPr id="14" name="Text 12"/>
          <p:cNvSpPr/>
          <p:nvPr/>
        </p:nvSpPr>
        <p:spPr>
          <a:xfrm>
            <a:off x="7891272" y="4169664"/>
            <a:ext cx="82600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Lesson</a:t>
            </a:r>
            <a:endParaRPr lang="en-US" sz="1500" dirty="0"/>
          </a:p>
        </p:txBody>
      </p:sp>
      <p:sp>
        <p:nvSpPr>
          <p:cNvPr id="15" name="Text 13"/>
          <p:cNvSpPr/>
          <p:nvPr/>
        </p:nvSpPr>
        <p:spPr>
          <a:xfrm>
            <a:off x="8817864" y="4187952"/>
            <a:ext cx="201168" cy="256032"/>
          </a:xfrm>
          <a:prstGeom prst="rect">
            <a:avLst/>
          </a:prstGeom>
          <a:noFill/>
          <a:ln/>
        </p:spPr>
        <p:txBody>
          <a:bodyPr wrap="square" lIns="0" tIns="0" rIns="0" bIns="0" rtlCol="0" anchor="ctr"/>
          <a:lstStyle/>
          <a:p>
            <a:pPr algn="ctr" indent="0" marL="0">
              <a:buNone/>
            </a:pPr>
            <a:r>
              <a:rPr lang="en-US" sz="1800" b="1" dirty="0">
                <a:solidFill>
                  <a:srgbClr val="0068B7"/>
                </a:solidFill>
                <a:latin typeface="Aptos" pitchFamily="34" charset="0"/>
                <a:ea typeface="Aptos" pitchFamily="34" charset="-122"/>
                <a:cs typeface="Aptos" pitchFamily="34" charset="-120"/>
              </a:rPr>
              <a:t>â†’</a:t>
            </a:r>
            <a:endParaRPr lang="en-US" sz="1800" dirty="0"/>
          </a:p>
        </p:txBody>
      </p:sp>
      <p:sp>
        <p:nvSpPr>
          <p:cNvPr id="16" name="Shape 14"/>
          <p:cNvSpPr/>
          <p:nvPr/>
        </p:nvSpPr>
        <p:spPr>
          <a:xfrm>
            <a:off x="9046464" y="3977640"/>
            <a:ext cx="972312" cy="749808"/>
          </a:xfrm>
          <a:prstGeom prst="roundRect">
            <a:avLst>
              <a:gd name="adj" fmla="val 14634"/>
            </a:avLst>
          </a:prstGeom>
          <a:solidFill>
            <a:srgbClr val="2F8A28"/>
          </a:solidFill>
          <a:ln w="12700">
            <a:solidFill>
              <a:srgbClr val="2F8A28"/>
            </a:solidFill>
            <a:prstDash val="solid"/>
          </a:ln>
        </p:spPr>
      </p:sp>
      <p:sp>
        <p:nvSpPr>
          <p:cNvPr id="17" name="Text 15"/>
          <p:cNvSpPr/>
          <p:nvPr/>
        </p:nvSpPr>
        <p:spPr>
          <a:xfrm>
            <a:off x="9119616" y="4169664"/>
            <a:ext cx="82600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Plays</a:t>
            </a:r>
            <a:endParaRPr lang="en-US" sz="1500" dirty="0"/>
          </a:p>
        </p:txBody>
      </p:sp>
      <p:sp>
        <p:nvSpPr>
          <p:cNvPr id="18" name="Text 16"/>
          <p:cNvSpPr/>
          <p:nvPr/>
        </p:nvSpPr>
        <p:spPr>
          <a:xfrm>
            <a:off x="10046208" y="4187952"/>
            <a:ext cx="201168" cy="256032"/>
          </a:xfrm>
          <a:prstGeom prst="rect">
            <a:avLst/>
          </a:prstGeom>
          <a:noFill/>
          <a:ln/>
        </p:spPr>
        <p:txBody>
          <a:bodyPr wrap="square" lIns="0" tIns="0" rIns="0" bIns="0" rtlCol="0" anchor="ctr"/>
          <a:lstStyle/>
          <a:p>
            <a:pPr algn="ctr" indent="0" marL="0">
              <a:buNone/>
            </a:pPr>
            <a:r>
              <a:rPr lang="en-US" sz="1800" b="1" dirty="0">
                <a:solidFill>
                  <a:srgbClr val="0068B7"/>
                </a:solidFill>
                <a:latin typeface="Aptos" pitchFamily="34" charset="0"/>
                <a:ea typeface="Aptos" pitchFamily="34" charset="-122"/>
                <a:cs typeface="Aptos" pitchFamily="34" charset="-120"/>
              </a:rPr>
              <a:t>â†’</a:t>
            </a:r>
            <a:endParaRPr lang="en-US" sz="1800" dirty="0"/>
          </a:p>
        </p:txBody>
      </p:sp>
      <p:sp>
        <p:nvSpPr>
          <p:cNvPr id="19" name="Shape 17"/>
          <p:cNvSpPr/>
          <p:nvPr/>
        </p:nvSpPr>
        <p:spPr>
          <a:xfrm>
            <a:off x="10274808" y="3977640"/>
            <a:ext cx="972312" cy="749808"/>
          </a:xfrm>
          <a:prstGeom prst="roundRect">
            <a:avLst>
              <a:gd name="adj" fmla="val 14634"/>
            </a:avLst>
          </a:prstGeom>
          <a:solidFill>
            <a:srgbClr val="6A4CA3"/>
          </a:solidFill>
          <a:ln w="12700">
            <a:solidFill>
              <a:srgbClr val="6A4CA3"/>
            </a:solidFill>
            <a:prstDash val="solid"/>
          </a:ln>
        </p:spPr>
      </p:sp>
      <p:sp>
        <p:nvSpPr>
          <p:cNvPr id="20" name="Text 18"/>
          <p:cNvSpPr/>
          <p:nvPr/>
        </p:nvSpPr>
        <p:spPr>
          <a:xfrm>
            <a:off x="10347960" y="4169664"/>
            <a:ext cx="82600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Action</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Public Health AI Policy Landscape and Regulatory Readiness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4</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Related toolkit resources</a:t>
            </a:r>
            <a:endParaRPr lang="en-US" sz="3400" dirty="0"/>
          </a:p>
        </p:txBody>
      </p:sp>
      <p:sp>
        <p:nvSpPr>
          <p:cNvPr id="9" name="Text 7"/>
          <p:cNvSpPr/>
          <p:nvPr/>
        </p:nvSpPr>
        <p:spPr>
          <a:xfrm>
            <a:off x="868680" y="1508760"/>
            <a:ext cx="6812280" cy="3977640"/>
          </a:xfrm>
          <a:prstGeom prst="rect">
            <a:avLst/>
          </a:prstGeom>
          <a:noFill/>
          <a:ln/>
        </p:spPr>
        <p:txBody>
          <a:bodyPr wrap="square" lIns="635" tIns="635" rIns="635" bIns="635" rtlCol="0" anchor="t">
            <a:normAutofit/>
          </a:bodyPr>
          <a:lstStyle/>
          <a:p>
            <a:r>
              <a:rPr lang="en-US" sz="1850" dirty="0">
                <a:solidFill>
                  <a:srgbClr val="17364A"/>
                </a:solidFill>
                <a:latin typeface="Aptos" pitchFamily="34" charset="0"/>
                <a:ea typeface="Aptos" pitchFamily="34" charset="-122"/>
                <a:cs typeface="Aptos" pitchFamily="34" charset="-120"/>
              </a:rPr>
              <a:t>Tool 16: Incident Response Checklist (Checklist) - Use this tool to complete or strengthen the practical.</a:t>
            </a:r>
            <a:endParaRPr lang="en-US" sz="1850" dirty="0"/>
          </a:p>
          <a:p>
            <a:r>
              <a:rPr lang="en-US" sz="1850" dirty="0">
                <a:solidFill>
                  <a:srgbClr val="17364A"/>
                </a:solidFill>
                <a:latin typeface="Aptos" pitchFamily="34" charset="0"/>
                <a:ea typeface="Aptos" pitchFamily="34" charset="-122"/>
                <a:cs typeface="Aptos" pitchFamily="34" charset="-120"/>
              </a:rPr>
              <a:t>Tool 17: Compliance Audit Checklist (Checklist) - Use this tool to complete or strengthen the practical.</a:t>
            </a:r>
            <a:endParaRPr lang="en-US" sz="1850" dirty="0"/>
          </a:p>
          <a:p>
            <a:r>
              <a:rPr lang="en-US" sz="1850" dirty="0">
                <a:solidFill>
                  <a:srgbClr val="17364A"/>
                </a:solidFill>
                <a:latin typeface="Aptos" pitchFamily="34" charset="0"/>
                <a:ea typeface="Aptos" pitchFamily="34" charset="-122"/>
                <a:cs typeface="Aptos" pitchFamily="34" charset="-120"/>
              </a:rPr>
              <a:t>Tool 18: Policy Update &amp; Version Control Log (Log) - Use this tool to complete or strengthen the practical.</a:t>
            </a:r>
            <a:endParaRPr lang="en-US" sz="1850" dirty="0"/>
          </a:p>
          <a:p>
            <a:r>
              <a:rPr lang="en-US" sz="1850" dirty="0">
                <a:solidFill>
                  <a:srgbClr val="17364A"/>
                </a:solidFill>
                <a:latin typeface="Aptos" pitchFamily="34" charset="0"/>
                <a:ea typeface="Aptos" pitchFamily="34" charset="-122"/>
                <a:cs typeface="Aptos" pitchFamily="34" charset="-120"/>
              </a:rPr>
              <a:t>Tool 19: Plain-Language AI Public Notice Template (Template) - Use this tool to complete or strengthen the.</a:t>
            </a:r>
            <a:endParaRPr lang="en-US" sz="1850" dirty="0"/>
          </a:p>
        </p:txBody>
      </p:sp>
      <p:sp>
        <p:nvSpPr>
          <p:cNvPr id="10" name="Shape 8"/>
          <p:cNvSpPr/>
          <p:nvPr/>
        </p:nvSpPr>
        <p:spPr>
          <a:xfrm>
            <a:off x="8046720" y="1417320"/>
            <a:ext cx="3063240" cy="2103120"/>
          </a:xfrm>
          <a:prstGeom prst="roundRect">
            <a:avLst>
              <a:gd name="adj" fmla="val 5217"/>
            </a:avLst>
          </a:prstGeom>
          <a:solidFill>
            <a:srgbClr val="EAF6F8"/>
          </a:solidFill>
          <a:ln w="12700">
            <a:solidFill>
              <a:srgbClr val="B9D7E6"/>
            </a:solidFill>
            <a:prstDash val="solid"/>
          </a:ln>
        </p:spPr>
      </p:sp>
      <p:sp>
        <p:nvSpPr>
          <p:cNvPr id="11" name="Text 9"/>
          <p:cNvSpPr/>
          <p:nvPr/>
        </p:nvSpPr>
        <p:spPr>
          <a:xfrm>
            <a:off x="8211312" y="1563624"/>
            <a:ext cx="273405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the tools</a:t>
            </a:r>
            <a:endParaRPr lang="en-US" sz="1300" dirty="0"/>
          </a:p>
        </p:txBody>
      </p:sp>
      <p:sp>
        <p:nvSpPr>
          <p:cNvPr id="12" name="Text 10"/>
          <p:cNvSpPr/>
          <p:nvPr/>
        </p:nvSpPr>
        <p:spPr>
          <a:xfrm>
            <a:off x="8211312" y="1920240"/>
            <a:ext cx="2734056" cy="146304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Use linked tools when your department needs a structured worksheet, template, checklist, review process, or documentation artifact.</a:t>
            </a:r>
            <a:endParaRPr lang="en-US" sz="1550" dirty="0"/>
          </a:p>
        </p:txBody>
      </p:sp>
      <p:sp>
        <p:nvSpPr>
          <p:cNvPr id="13" name="Shape 11"/>
          <p:cNvSpPr/>
          <p:nvPr/>
        </p:nvSpPr>
        <p:spPr>
          <a:xfrm>
            <a:off x="7818120" y="3977640"/>
            <a:ext cx="972312" cy="749808"/>
          </a:xfrm>
          <a:prstGeom prst="roundRect">
            <a:avLst>
              <a:gd name="adj" fmla="val 14634"/>
            </a:avLst>
          </a:prstGeom>
          <a:solidFill>
            <a:srgbClr val="0068B7"/>
          </a:solidFill>
          <a:ln w="12700">
            <a:solidFill>
              <a:srgbClr val="0068B7"/>
            </a:solidFill>
            <a:prstDash val="solid"/>
          </a:ln>
        </p:spPr>
      </p:sp>
      <p:sp>
        <p:nvSpPr>
          <p:cNvPr id="14" name="Text 12"/>
          <p:cNvSpPr/>
          <p:nvPr/>
        </p:nvSpPr>
        <p:spPr>
          <a:xfrm>
            <a:off x="7891272" y="4169664"/>
            <a:ext cx="82600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Concept</a:t>
            </a:r>
            <a:endParaRPr lang="en-US" sz="1500" dirty="0"/>
          </a:p>
        </p:txBody>
      </p:sp>
      <p:sp>
        <p:nvSpPr>
          <p:cNvPr id="15" name="Text 13"/>
          <p:cNvSpPr/>
          <p:nvPr/>
        </p:nvSpPr>
        <p:spPr>
          <a:xfrm>
            <a:off x="8817864" y="4187952"/>
            <a:ext cx="201168" cy="256032"/>
          </a:xfrm>
          <a:prstGeom prst="rect">
            <a:avLst/>
          </a:prstGeom>
          <a:noFill/>
          <a:ln/>
        </p:spPr>
        <p:txBody>
          <a:bodyPr wrap="square" lIns="0" tIns="0" rIns="0" bIns="0" rtlCol="0" anchor="ctr"/>
          <a:lstStyle/>
          <a:p>
            <a:pPr algn="ctr" indent="0" marL="0">
              <a:buNone/>
            </a:pPr>
            <a:r>
              <a:rPr lang="en-US" sz="1800" b="1" dirty="0">
                <a:solidFill>
                  <a:srgbClr val="0068B7"/>
                </a:solidFill>
                <a:latin typeface="Aptos" pitchFamily="34" charset="0"/>
                <a:ea typeface="Aptos" pitchFamily="34" charset="-122"/>
                <a:cs typeface="Aptos" pitchFamily="34" charset="-120"/>
              </a:rPr>
              <a:t>â†’</a:t>
            </a:r>
            <a:endParaRPr lang="en-US" sz="1800" dirty="0"/>
          </a:p>
        </p:txBody>
      </p:sp>
      <p:sp>
        <p:nvSpPr>
          <p:cNvPr id="16" name="Shape 14"/>
          <p:cNvSpPr/>
          <p:nvPr/>
        </p:nvSpPr>
        <p:spPr>
          <a:xfrm>
            <a:off x="9046464" y="3977640"/>
            <a:ext cx="972312" cy="749808"/>
          </a:xfrm>
          <a:prstGeom prst="roundRect">
            <a:avLst>
              <a:gd name="adj" fmla="val 14634"/>
            </a:avLst>
          </a:prstGeom>
          <a:solidFill>
            <a:srgbClr val="2F8A28"/>
          </a:solidFill>
          <a:ln w="12700">
            <a:solidFill>
              <a:srgbClr val="2F8A28"/>
            </a:solidFill>
            <a:prstDash val="solid"/>
          </a:ln>
        </p:spPr>
      </p:sp>
      <p:sp>
        <p:nvSpPr>
          <p:cNvPr id="17" name="Text 15"/>
          <p:cNvSpPr/>
          <p:nvPr/>
        </p:nvSpPr>
        <p:spPr>
          <a:xfrm>
            <a:off x="9119616" y="4169664"/>
            <a:ext cx="82600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Tool</a:t>
            </a:r>
            <a:endParaRPr lang="en-US" sz="1500" dirty="0"/>
          </a:p>
        </p:txBody>
      </p:sp>
      <p:sp>
        <p:nvSpPr>
          <p:cNvPr id="18" name="Text 16"/>
          <p:cNvSpPr/>
          <p:nvPr/>
        </p:nvSpPr>
        <p:spPr>
          <a:xfrm>
            <a:off x="10046208" y="4187952"/>
            <a:ext cx="201168" cy="256032"/>
          </a:xfrm>
          <a:prstGeom prst="rect">
            <a:avLst/>
          </a:prstGeom>
          <a:noFill/>
          <a:ln/>
        </p:spPr>
        <p:txBody>
          <a:bodyPr wrap="square" lIns="0" tIns="0" rIns="0" bIns="0" rtlCol="0" anchor="ctr"/>
          <a:lstStyle/>
          <a:p>
            <a:pPr algn="ctr" indent="0" marL="0">
              <a:buNone/>
            </a:pPr>
            <a:r>
              <a:rPr lang="en-US" sz="1800" b="1" dirty="0">
                <a:solidFill>
                  <a:srgbClr val="0068B7"/>
                </a:solidFill>
                <a:latin typeface="Aptos" pitchFamily="34" charset="0"/>
                <a:ea typeface="Aptos" pitchFamily="34" charset="-122"/>
                <a:cs typeface="Aptos" pitchFamily="34" charset="-120"/>
              </a:rPr>
              <a:t>â†’</a:t>
            </a:r>
            <a:endParaRPr lang="en-US" sz="1800" dirty="0"/>
          </a:p>
        </p:txBody>
      </p:sp>
      <p:sp>
        <p:nvSpPr>
          <p:cNvPr id="19" name="Shape 17"/>
          <p:cNvSpPr/>
          <p:nvPr/>
        </p:nvSpPr>
        <p:spPr>
          <a:xfrm>
            <a:off x="10274808" y="3977640"/>
            <a:ext cx="972312" cy="749808"/>
          </a:xfrm>
          <a:prstGeom prst="roundRect">
            <a:avLst>
              <a:gd name="adj" fmla="val 14634"/>
            </a:avLst>
          </a:prstGeom>
          <a:solidFill>
            <a:srgbClr val="D69A2D"/>
          </a:solidFill>
          <a:ln w="12700">
            <a:solidFill>
              <a:srgbClr val="D69A2D"/>
            </a:solidFill>
            <a:prstDash val="solid"/>
          </a:ln>
        </p:spPr>
      </p:sp>
      <p:sp>
        <p:nvSpPr>
          <p:cNvPr id="20" name="Text 18"/>
          <p:cNvSpPr/>
          <p:nvPr/>
        </p:nvSpPr>
        <p:spPr>
          <a:xfrm>
            <a:off x="10347960" y="4169664"/>
            <a:ext cx="82600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Artifact</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Public Health AI Policy Landscape and Regulatory Readiness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5</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Learning Objectives</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Identify categories of law, policy, standards, and guidance that may affect public health AI.</a:t>
            </a:r>
            <a:endParaRPr lang="en-US" sz="2100" dirty="0"/>
          </a:p>
          <a:p>
            <a:r>
              <a:rPr lang="en-US" sz="2100" dirty="0">
                <a:solidFill>
                  <a:srgbClr val="17364A"/>
                </a:solidFill>
                <a:latin typeface="Aptos" pitchFamily="34" charset="0"/>
                <a:ea typeface="Aptos" pitchFamily="34" charset="-122"/>
                <a:cs typeface="Aptos" pitchFamily="34" charset="-120"/>
              </a:rPr>
              <a:t>Explain why regulatory readiness requires monitoring, interpretation, documentation, and policy.</a:t>
            </a:r>
            <a:endParaRPr lang="en-US" sz="2100" dirty="0"/>
          </a:p>
          <a:p>
            <a:r>
              <a:rPr lang="en-US" sz="2100" dirty="0">
                <a:solidFill>
                  <a:srgbClr val="17364A"/>
                </a:solidFill>
                <a:latin typeface="Aptos" pitchFamily="34" charset="0"/>
                <a:ea typeface="Aptos" pitchFamily="34" charset="-122"/>
                <a:cs typeface="Aptos" pitchFamily="34" charset="-120"/>
              </a:rPr>
              <a:t>Distinguish between binding requirements, agency policy, professional guidance, standards, and best.</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Identify categories of law, policy, standards, and guidance that may affect public health AI.</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Public Health AI Policy Landscape and Regulatory Readiness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6</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2</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Module Overview</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The public health AI policy landscape is evolving quickly across federal agencies, states, local.</a:t>
            </a:r>
            <a:endParaRPr lang="en-US" sz="2100" dirty="0"/>
          </a:p>
          <a:p>
            <a:r>
              <a:rPr lang="en-US" sz="2100" dirty="0">
                <a:solidFill>
                  <a:srgbClr val="17364A"/>
                </a:solidFill>
                <a:latin typeface="Aptos" pitchFamily="34" charset="0"/>
                <a:ea typeface="Aptos" pitchFamily="34" charset="-122"/>
                <a:cs typeface="Aptos" pitchFamily="34" charset="-120"/>
              </a:rPr>
              <a:t>Public health agencies do not need to wait for every rule to be settled before acting responsibly, but.</a:t>
            </a:r>
            <a:endParaRPr lang="en-US" sz="2100" dirty="0"/>
          </a:p>
          <a:p>
            <a:r>
              <a:rPr lang="en-US" sz="2100" dirty="0">
                <a:solidFill>
                  <a:srgbClr val="17364A"/>
                </a:solidFill>
                <a:latin typeface="Aptos" pitchFamily="34" charset="0"/>
                <a:ea typeface="Aptos" pitchFamily="34" charset="-122"/>
                <a:cs typeface="Aptos" pitchFamily="34" charset="-120"/>
              </a:rPr>
              <a:t>Regulatory readiness means the agency can identify relevant requirements, update internal policies, and.</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The public health AI policy landscape is evolving quickly across federal agencies, states, local.</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Public Health AI Policy Landscape and Regulatory Readiness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7</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3</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Jurisdiction and Agency Policy Note</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This module provides national-level training guidance for public health agencies and partners.</a:t>
            </a:r>
            <a:endParaRPr lang="en-US" sz="2100" dirty="0"/>
          </a:p>
          <a:p>
            <a:r>
              <a:rPr lang="en-US" sz="2100" dirty="0">
                <a:solidFill>
                  <a:srgbClr val="17364A"/>
                </a:solidFill>
                <a:latin typeface="Aptos" pitchFamily="34" charset="0"/>
                <a:ea typeface="Aptos" pitchFamily="34" charset="-122"/>
                <a:cs typeface="Aptos" pitchFamily="34" charset="-120"/>
              </a:rPr>
              <a:t>It is not legal advice and does not replace review by agency legal counsel, privacy officers,.</a:t>
            </a:r>
            <a:endParaRPr lang="en-US" sz="2100" dirty="0"/>
          </a:p>
          <a:p>
            <a:r>
              <a:rPr lang="en-US" sz="2100" dirty="0">
                <a:solidFill>
                  <a:srgbClr val="17364A"/>
                </a:solidFill>
                <a:latin typeface="Aptos" pitchFamily="34" charset="0"/>
                <a:ea typeface="Aptos" pitchFamily="34" charset="-122"/>
                <a:cs typeface="Aptos" pitchFamily="34" charset="-120"/>
              </a:rPr>
              <a:t>Requirements may vary by state, locality, territory, Tribe, agency, funding source, data-sharing.</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This module provides national-level training guidance for public health agencies and partners.</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Public Health AI Policy Landscape and Regulatory Readiness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8</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4</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Public Health Example</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A local health department is considering AI tools for translation, complaint triage, and case note.</a:t>
            </a:r>
            <a:endParaRPr lang="en-US" sz="2100" dirty="0"/>
          </a:p>
          <a:p>
            <a:r>
              <a:rPr lang="en-US" sz="2100" dirty="0">
                <a:solidFill>
                  <a:srgbClr val="17364A"/>
                </a:solidFill>
                <a:latin typeface="Aptos" pitchFamily="34" charset="0"/>
                <a:ea typeface="Aptos" pitchFamily="34" charset="-122"/>
                <a:cs typeface="Aptos" pitchFamily="34" charset="-120"/>
              </a:rPr>
              <a:t>A policy scan identifies privacy, public records, procurement, accessibility, cybersecurity, and civil.</a:t>
            </a:r>
            <a:endParaRPr lang="en-US" sz="2100" dirty="0"/>
          </a:p>
          <a:p>
            <a:r>
              <a:rPr lang="en-US" sz="2100" dirty="0">
                <a:solidFill>
                  <a:srgbClr val="17364A"/>
                </a:solidFill>
                <a:latin typeface="Aptos" pitchFamily="34" charset="0"/>
                <a:ea typeface="Aptos" pitchFamily="34" charset="-122"/>
                <a:cs typeface="Aptos" pitchFamily="34" charset="-120"/>
              </a:rPr>
              <a:t>The agency creates a readiness memo that distinguishes existing requirements from emerging guidance,.</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A local health department is considering AI tools for translation, complaint triage, and case note.</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Public Health AI Policy Landscape and Regulatory Readiness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9</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5</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Topic Deep Dive</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Policy readiness begins by identifying relevant domains rather than looking for a single AI law.</a:t>
            </a:r>
            <a:endParaRPr lang="en-US" sz="2100" dirty="0"/>
          </a:p>
          <a:p>
            <a:r>
              <a:rPr lang="en-US" sz="2100" dirty="0">
                <a:solidFill>
                  <a:srgbClr val="17364A"/>
                </a:solidFill>
                <a:latin typeface="Aptos" pitchFamily="34" charset="0"/>
                <a:ea typeface="Aptos" pitchFamily="34" charset="-122"/>
                <a:cs typeface="Aptos" pitchFamily="34" charset="-120"/>
              </a:rPr>
              <a:t>Public health AI may be affected by health privacy rules, state confidentiality laws, public records.</a:t>
            </a:r>
            <a:endParaRPr lang="en-US" sz="2100" dirty="0"/>
          </a:p>
          <a:p>
            <a:r>
              <a:rPr lang="en-US" sz="2100" dirty="0">
                <a:solidFill>
                  <a:srgbClr val="17364A"/>
                </a:solidFill>
                <a:latin typeface="Aptos" pitchFamily="34" charset="0"/>
                <a:ea typeface="Aptos" pitchFamily="34" charset="-122"/>
                <a:cs typeface="Aptos" pitchFamily="34" charset="-120"/>
              </a:rPr>
              <a:t>AI-specific policy should be layered onto this existing policy environment.</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Policy readiness begins by identifying relevant domains rather than looking for a single AI law.</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Public Health AI Policy Landscape and Regulatory Readiness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10</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Topic Deep Dive Continued</a:t>
            </a:r>
            <a:endParaRPr lang="en-US" sz="3400" dirty="0"/>
          </a:p>
        </p:txBody>
      </p:sp>
      <p:sp>
        <p:nvSpPr>
          <p:cNvPr id="9" name="Text 7"/>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Regulatory readiness also requires change management.</a:t>
            </a:r>
            <a:endParaRPr lang="en-US" sz="2100" dirty="0"/>
          </a:p>
          <a:p>
            <a:r>
              <a:rPr lang="en-US" sz="2100" dirty="0">
                <a:solidFill>
                  <a:srgbClr val="17364A"/>
                </a:solidFill>
                <a:latin typeface="Aptos" pitchFamily="34" charset="0"/>
                <a:ea typeface="Aptos" pitchFamily="34" charset="-122"/>
                <a:cs typeface="Aptos" pitchFamily="34" charset="-120"/>
              </a:rPr>
              <a:t>When policy requirements change, the agency may need to update SOPs, procurement language, risk tiers,.</a:t>
            </a:r>
            <a:endParaRPr lang="en-US" sz="2100" dirty="0"/>
          </a:p>
          <a:p>
            <a:r>
              <a:rPr lang="en-US" sz="2100" dirty="0">
                <a:solidFill>
                  <a:srgbClr val="17364A"/>
                </a:solidFill>
                <a:latin typeface="Aptos" pitchFamily="34" charset="0"/>
                <a:ea typeface="Aptos" pitchFamily="34" charset="-122"/>
                <a:cs typeface="Aptos" pitchFamily="34" charset="-120"/>
              </a:rPr>
              <a:t>A policy update is not complete until it has been translated into operational practice.</a:t>
            </a:r>
            <a:endParaRPr lang="en-US" sz="2100" dirty="0"/>
          </a:p>
        </p:txBody>
      </p:sp>
      <p:sp>
        <p:nvSpPr>
          <p:cNvPr id="10" name="Shape 8"/>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1" name="Text 9"/>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2" name="Text 10"/>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Regulatory readiness also requires change management.</a:t>
            </a:r>
            <a:endParaRPr lang="en-US" sz="1550" dirty="0"/>
          </a:p>
        </p:txBody>
      </p:sp>
      <p:sp>
        <p:nvSpPr>
          <p:cNvPr id="13" name="Shape 11"/>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4" name="Text 12"/>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5" name="Text 13"/>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Public Health AI Policy Landscape and Regulatory Readiness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11</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6</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Risks, Failure Modes, and Guardrails</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Risks and failure modes include the following:</a:t>
            </a:r>
            <a:endParaRPr lang="en-US" sz="2100" dirty="0"/>
          </a:p>
          <a:p>
            <a:r>
              <a:rPr lang="en-US" sz="2100" dirty="0">
                <a:solidFill>
                  <a:srgbClr val="17364A"/>
                </a:solidFill>
                <a:latin typeface="Aptos" pitchFamily="34" charset="0"/>
                <a:ea typeface="Aptos" pitchFamily="34" charset="-122"/>
                <a:cs typeface="Aptos" pitchFamily="34" charset="-120"/>
              </a:rPr>
              <a:t>Assuming there is no policy risk because there is no single AI statute.</a:t>
            </a:r>
            <a:endParaRPr lang="en-US" sz="2100" dirty="0"/>
          </a:p>
          <a:p>
            <a:r>
              <a:rPr lang="en-US" sz="2100" dirty="0">
                <a:solidFill>
                  <a:srgbClr val="17364A"/>
                </a:solidFill>
                <a:latin typeface="Aptos" pitchFamily="34" charset="0"/>
                <a:ea typeface="Aptos" pitchFamily="34" charset="-122"/>
                <a:cs typeface="Aptos" pitchFamily="34" charset="-120"/>
              </a:rPr>
              <a:t>Treating nonbinding guidance as irrelevant even when it reflects expected practice.</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Risks and failure modes include the following:</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Public Health AI Policy Landscape and Regulatory Readiness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12</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Risks, Failure Modes, and Guardrails Continued</a:t>
            </a:r>
            <a:endParaRPr lang="en-US" sz="3400" dirty="0"/>
          </a:p>
        </p:txBody>
      </p:sp>
      <p:sp>
        <p:nvSpPr>
          <p:cNvPr id="9" name="Text 7"/>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Failing to update internal policies after legal, procurement, privacy, or cybersecurity changes.</a:t>
            </a:r>
            <a:endParaRPr lang="en-US" sz="2100" dirty="0"/>
          </a:p>
          <a:p>
            <a:r>
              <a:rPr lang="en-US" sz="2100" dirty="0">
                <a:solidFill>
                  <a:srgbClr val="17364A"/>
                </a:solidFill>
                <a:latin typeface="Aptos" pitchFamily="34" charset="0"/>
                <a:ea typeface="Aptos" pitchFamily="34" charset="-122"/>
                <a:cs typeface="Aptos" pitchFamily="34" charset="-120"/>
              </a:rPr>
              <a:t>Allowing vendors to define compliance obligations without agency review.</a:t>
            </a:r>
            <a:endParaRPr lang="en-US" sz="2100" dirty="0"/>
          </a:p>
          <a:p>
            <a:r>
              <a:rPr lang="en-US" sz="2100" dirty="0">
                <a:solidFill>
                  <a:srgbClr val="17364A"/>
                </a:solidFill>
                <a:latin typeface="Aptos" pitchFamily="34" charset="0"/>
                <a:ea typeface="Aptos" pitchFamily="34" charset="-122"/>
                <a:cs typeface="Aptos" pitchFamily="34" charset="-120"/>
              </a:rPr>
              <a:t>Maintaining policies that are too vague to guide real decisions.</a:t>
            </a:r>
            <a:endParaRPr lang="en-US" sz="2100" dirty="0"/>
          </a:p>
        </p:txBody>
      </p:sp>
      <p:sp>
        <p:nvSpPr>
          <p:cNvPr id="10" name="Shape 8"/>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1" name="Text 9"/>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2" name="Text 10"/>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Failing to update internal policies after legal, procurement, privacy, or cybersecurity changes.</a:t>
            </a:r>
            <a:endParaRPr lang="en-US" sz="1550" dirty="0"/>
          </a:p>
        </p:txBody>
      </p:sp>
      <p:sp>
        <p:nvSpPr>
          <p:cNvPr id="13" name="Shape 11"/>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4" name="Text 12"/>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5" name="Text 13"/>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Public Health AI Policy Landscape and Regulatory Readiness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13</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Risks, Failure Modes, and Guardrails Continued</a:t>
            </a:r>
            <a:endParaRPr lang="en-US" sz="3400" dirty="0"/>
          </a:p>
        </p:txBody>
      </p:sp>
      <p:sp>
        <p:nvSpPr>
          <p:cNvPr id="9" name="Text 7"/>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Recommended guardrails include the following:</a:t>
            </a:r>
            <a:endParaRPr lang="en-US" sz="2100" dirty="0"/>
          </a:p>
          <a:p>
            <a:r>
              <a:rPr lang="en-US" sz="2100" dirty="0">
                <a:solidFill>
                  <a:srgbClr val="17364A"/>
                </a:solidFill>
                <a:latin typeface="Aptos" pitchFamily="34" charset="0"/>
                <a:ea typeface="Aptos" pitchFamily="34" charset="-122"/>
                <a:cs typeface="Aptos" pitchFamily="34" charset="-120"/>
              </a:rPr>
              <a:t>Assign responsibility for AI policy scanning and interpretation.</a:t>
            </a:r>
            <a:endParaRPr lang="en-US" sz="2100" dirty="0"/>
          </a:p>
          <a:p>
            <a:r>
              <a:rPr lang="en-US" sz="2100" dirty="0">
                <a:solidFill>
                  <a:srgbClr val="17364A"/>
                </a:solidFill>
                <a:latin typeface="Aptos" pitchFamily="34" charset="0"/>
                <a:ea typeface="Aptos" pitchFamily="34" charset="-122"/>
                <a:cs typeface="Aptos" pitchFamily="34" charset="-120"/>
              </a:rPr>
              <a:t>Distinguish binding requirements from guidance and best practices.</a:t>
            </a:r>
            <a:endParaRPr lang="en-US" sz="2100" dirty="0"/>
          </a:p>
        </p:txBody>
      </p:sp>
      <p:sp>
        <p:nvSpPr>
          <p:cNvPr id="10" name="Shape 8"/>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1" name="Text 9"/>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2" name="Text 10"/>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Recommended guardrails include the following:</a:t>
            </a:r>
            <a:endParaRPr lang="en-US" sz="1550" dirty="0"/>
          </a:p>
        </p:txBody>
      </p:sp>
      <p:sp>
        <p:nvSpPr>
          <p:cNvPr id="13" name="Shape 11"/>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4" name="Text 12"/>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5" name="Text 13"/>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Public Health AI Policy Landscape and Regulatory Readiness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14</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Risks, Failure Modes, and Guardrails Continued</a:t>
            </a:r>
            <a:endParaRPr lang="en-US" sz="3400" dirty="0"/>
          </a:p>
        </p:txBody>
      </p:sp>
      <p:sp>
        <p:nvSpPr>
          <p:cNvPr id="9" name="Text 7"/>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Maintain a crosswalk from external requirements to internal policies and procedures.</a:t>
            </a:r>
            <a:endParaRPr lang="en-US" sz="2100" dirty="0"/>
          </a:p>
          <a:p>
            <a:r>
              <a:rPr lang="en-US" sz="2100" dirty="0">
                <a:solidFill>
                  <a:srgbClr val="17364A"/>
                </a:solidFill>
                <a:latin typeface="Aptos" pitchFamily="34" charset="0"/>
                <a:ea typeface="Aptos" pitchFamily="34" charset="-122"/>
                <a:cs typeface="Aptos" pitchFamily="34" charset="-120"/>
              </a:rPr>
              <a:t>Update training, SOPs, and procurement language when policies change.</a:t>
            </a:r>
            <a:endParaRPr lang="en-US" sz="2100" dirty="0"/>
          </a:p>
          <a:p>
            <a:r>
              <a:rPr lang="en-US" sz="2100" dirty="0">
                <a:solidFill>
                  <a:srgbClr val="17364A"/>
                </a:solidFill>
                <a:latin typeface="Aptos" pitchFamily="34" charset="0"/>
                <a:ea typeface="Aptos" pitchFamily="34" charset="-122"/>
                <a:cs typeface="Aptos" pitchFamily="34" charset="-120"/>
              </a:rPr>
              <a:t>Document assumptions, decisions, and unresolved legal or policy questions.</a:t>
            </a:r>
            <a:endParaRPr lang="en-US" sz="2100" dirty="0"/>
          </a:p>
        </p:txBody>
      </p:sp>
      <p:sp>
        <p:nvSpPr>
          <p:cNvPr id="10" name="Shape 8"/>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1" name="Text 9"/>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2" name="Text 10"/>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Maintain a crosswalk from external requirements to internal policies and procedures.</a:t>
            </a:r>
            <a:endParaRPr lang="en-US" sz="1550" dirty="0"/>
          </a:p>
        </p:txBody>
      </p:sp>
      <p:sp>
        <p:nvSpPr>
          <p:cNvPr id="13" name="Shape 11"/>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4" name="Text 12"/>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5" name="Text 13"/>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Public Health AI Policy Landscape and Regulatory Readiness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15</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7</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Reflection Questions</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Where does this topic appear in your agency, program, or workflow?</a:t>
            </a:r>
            <a:endParaRPr lang="en-US" sz="2100" dirty="0"/>
          </a:p>
          <a:p>
            <a:r>
              <a:rPr lang="en-US" sz="2100" dirty="0">
                <a:solidFill>
                  <a:srgbClr val="17364A"/>
                </a:solidFill>
                <a:latin typeface="Aptos" pitchFamily="34" charset="0"/>
                <a:ea typeface="Aptos" pitchFamily="34" charset="-122"/>
                <a:cs typeface="Aptos" pitchFamily="34" charset="-120"/>
              </a:rPr>
              <a:t>Which staff roles would need to understand or apply this concept before AI use is approved?</a:t>
            </a:r>
            <a:endParaRPr lang="en-US" sz="2100" dirty="0"/>
          </a:p>
          <a:p>
            <a:r>
              <a:rPr lang="en-US" sz="2100" dirty="0">
                <a:solidFill>
                  <a:srgbClr val="17364A"/>
                </a:solidFill>
                <a:latin typeface="Aptos" pitchFamily="34" charset="0"/>
                <a:ea typeface="Aptos" pitchFamily="34" charset="-122"/>
                <a:cs typeface="Aptos" pitchFamily="34" charset="-120"/>
              </a:rPr>
              <a:t>What could go wrong if this topic is not addressed before implementation?</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Where does this topic appear in your agency, program, or workflow?</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Public Health AI Policy Landscape and Regulatory Readiness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16</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Reflection Questions Continued</a:t>
            </a:r>
            <a:endParaRPr lang="en-US" sz="3400" dirty="0"/>
          </a:p>
        </p:txBody>
      </p:sp>
      <p:sp>
        <p:nvSpPr>
          <p:cNvPr id="9" name="Text 7"/>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What evidence would governance, leadership, or operations staff need before moving forward?</a:t>
            </a:r>
            <a:endParaRPr lang="en-US" sz="2100" dirty="0"/>
          </a:p>
          <a:p>
            <a:r>
              <a:rPr lang="en-US" sz="2100" dirty="0">
                <a:solidFill>
                  <a:srgbClr val="17364A"/>
                </a:solidFill>
                <a:latin typeface="Aptos" pitchFamily="34" charset="0"/>
                <a:ea typeface="Aptos" pitchFamily="34" charset="-122"/>
                <a:cs typeface="Aptos" pitchFamily="34" charset="-120"/>
              </a:rPr>
              <a:t>Which policy, data, equity, privacy, security, or workflow questions remain unresolved?</a:t>
            </a:r>
            <a:endParaRPr lang="en-US" sz="2100" dirty="0"/>
          </a:p>
        </p:txBody>
      </p:sp>
      <p:sp>
        <p:nvSpPr>
          <p:cNvPr id="10" name="Shape 8"/>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1" name="Text 9"/>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2" name="Text 10"/>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What evidence would governance, leadership, or operations staff need before moving forward?</a:t>
            </a:r>
            <a:endParaRPr lang="en-US" sz="1550" dirty="0"/>
          </a:p>
        </p:txBody>
      </p:sp>
      <p:sp>
        <p:nvSpPr>
          <p:cNvPr id="13" name="Shape 11"/>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4" name="Text 12"/>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5" name="Text 13"/>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Public Health AI Policy Landscape and Regulatory Readiness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17</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8</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Practical Exercise</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Create a public health AI policy scan and regulatory readiness memo.</a:t>
            </a:r>
            <a:endParaRPr lang="en-US" sz="2100" dirty="0"/>
          </a:p>
          <a:p>
            <a:r>
              <a:rPr lang="en-US" sz="2100" dirty="0">
                <a:solidFill>
                  <a:srgbClr val="17364A"/>
                </a:solidFill>
                <a:latin typeface="Aptos" pitchFamily="34" charset="0"/>
                <a:ea typeface="Aptos" pitchFamily="34" charset="-122"/>
                <a:cs typeface="Aptos" pitchFamily="34" charset="-120"/>
              </a:rPr>
              <a:t>Identify relevant policy domains, sources to monitor, current agency policy gaps, likely operational.</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Create a public health AI policy scan and regulatory readiness memo.</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Public Health AI Policy Landscape and Regulatory Readiness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18</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9</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Expected Artifact or Evidence</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AI policy scan plan</a:t>
            </a:r>
            <a:endParaRPr lang="en-US" sz="2100" dirty="0"/>
          </a:p>
          <a:p>
            <a:r>
              <a:rPr lang="en-US" sz="2100" dirty="0">
                <a:solidFill>
                  <a:srgbClr val="17364A"/>
                </a:solidFill>
                <a:latin typeface="Aptos" pitchFamily="34" charset="0"/>
                <a:ea typeface="Aptos" pitchFamily="34" charset="-122"/>
                <a:cs typeface="Aptos" pitchFamily="34" charset="-120"/>
              </a:rPr>
              <a:t>Regulatory readiness memo</a:t>
            </a:r>
            <a:endParaRPr lang="en-US" sz="2100" dirty="0"/>
          </a:p>
          <a:p>
            <a:r>
              <a:rPr lang="en-US" sz="2100" dirty="0">
                <a:solidFill>
                  <a:srgbClr val="17364A"/>
                </a:solidFill>
                <a:latin typeface="Aptos" pitchFamily="34" charset="0"/>
                <a:ea typeface="Aptos" pitchFamily="34" charset="-122"/>
                <a:cs typeface="Aptos" pitchFamily="34" charset="-120"/>
              </a:rPr>
              <a:t>Policy-domain crosswalk</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AI policy scan plan</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Public Health AI Policy Landscape and Regulatory Readiness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19</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Expected Artifact or Evidence Continued</a:t>
            </a:r>
            <a:endParaRPr lang="en-US" sz="3400" dirty="0"/>
          </a:p>
        </p:txBody>
      </p:sp>
      <p:sp>
        <p:nvSpPr>
          <p:cNvPr id="9" name="Text 7"/>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Recommended policy updates</a:t>
            </a:r>
            <a:endParaRPr lang="en-US" sz="2100" dirty="0"/>
          </a:p>
          <a:p>
            <a:r>
              <a:rPr lang="en-US" sz="2100" dirty="0">
                <a:solidFill>
                  <a:srgbClr val="17364A"/>
                </a:solidFill>
                <a:latin typeface="Aptos" pitchFamily="34" charset="0"/>
                <a:ea typeface="Aptos" pitchFamily="34" charset="-122"/>
                <a:cs typeface="Aptos" pitchFamily="34" charset="-120"/>
              </a:rPr>
              <a:t>Ongoing monitoring process</a:t>
            </a:r>
            <a:endParaRPr lang="en-US" sz="2100" dirty="0"/>
          </a:p>
        </p:txBody>
      </p:sp>
      <p:sp>
        <p:nvSpPr>
          <p:cNvPr id="10" name="Shape 8"/>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1" name="Text 9"/>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2" name="Text 10"/>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Recommended policy updates</a:t>
            </a:r>
            <a:endParaRPr lang="en-US" sz="1550" dirty="0"/>
          </a:p>
        </p:txBody>
      </p:sp>
      <p:sp>
        <p:nvSpPr>
          <p:cNvPr id="13" name="Shape 11"/>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4" name="Text 12"/>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5" name="Text 13"/>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Public Health AI Policy Landscape and Regulatory Readiness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20</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10</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Expected Assignment</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AI policy scan plan</a:t>
            </a:r>
            <a:endParaRPr lang="en-US" sz="2100" dirty="0"/>
          </a:p>
          <a:p>
            <a:r>
              <a:rPr lang="en-US" sz="2100" dirty="0">
                <a:solidFill>
                  <a:srgbClr val="17364A"/>
                </a:solidFill>
                <a:latin typeface="Aptos" pitchFamily="34" charset="0"/>
                <a:ea typeface="Aptos" pitchFamily="34" charset="-122"/>
                <a:cs typeface="Aptos" pitchFamily="34" charset="-120"/>
              </a:rPr>
              <a:t>Regulatory readiness memo</a:t>
            </a:r>
            <a:endParaRPr lang="en-US" sz="2100" dirty="0"/>
          </a:p>
          <a:p>
            <a:r>
              <a:rPr lang="en-US" sz="2100" dirty="0">
                <a:solidFill>
                  <a:srgbClr val="17364A"/>
                </a:solidFill>
                <a:latin typeface="Aptos" pitchFamily="34" charset="0"/>
                <a:ea typeface="Aptos" pitchFamily="34" charset="-122"/>
                <a:cs typeface="Aptos" pitchFamily="34" charset="-120"/>
              </a:rPr>
              <a:t>Policy-domain crosswalk</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AI policy scan plan</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Public Health AI Policy Landscape and Regulatory Readiness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21</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11</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Knowledge Check</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1. What does regulatory readiness mean in this module?</a:t>
            </a:r>
            <a:endParaRPr lang="en-US" sz="2100" dirty="0"/>
          </a:p>
          <a:p>
            <a:r>
              <a:rPr lang="en-US" sz="2100" dirty="0">
                <a:solidFill>
                  <a:srgbClr val="17364A"/>
                </a:solidFill>
                <a:latin typeface="Aptos" pitchFamily="34" charset="0"/>
                <a:ea typeface="Aptos" pitchFamily="34" charset="-122"/>
                <a:cs typeface="Aptos" pitchFamily="34" charset="-120"/>
              </a:rPr>
              <a:t>2. Which statement is most accurate?</a:t>
            </a:r>
            <a:endParaRPr lang="en-US" sz="2100" dirty="0"/>
          </a:p>
          <a:p>
            <a:r>
              <a:rPr lang="en-US" sz="2100" dirty="0">
                <a:solidFill>
                  <a:srgbClr val="17364A"/>
                </a:solidFill>
                <a:latin typeface="Aptos" pitchFamily="34" charset="0"/>
                <a:ea typeface="Aptos" pitchFamily="34" charset="-122"/>
                <a:cs typeface="Aptos" pitchFamily="34" charset="-120"/>
              </a:rPr>
              <a:t>3. What is a policy scan?</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1. What does regulatory readiness mean in this module?</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Public Health AI Policy Landscape and Regulatory Readiness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22</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12</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References and Resources</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NIST Artificial Intelligence Risk Management Framework:.</a:t>
            </a:r>
            <a:endParaRPr lang="en-US" sz="2100" dirty="0"/>
          </a:p>
          <a:p>
            <a:r>
              <a:rPr lang="en-US" sz="2100" dirty="0">
                <a:solidFill>
                  <a:srgbClr val="17364A"/>
                </a:solidFill>
                <a:latin typeface="Aptos" pitchFamily="34" charset="0"/>
                <a:ea typeface="Aptos" pitchFamily="34" charset="-122"/>
                <a:cs typeface="Aptos" pitchFamily="34" charset="-120"/>
              </a:rPr>
              <a:t>NIST Generative AI Profile:.</a:t>
            </a:r>
            <a:endParaRPr lang="en-US" sz="2100" dirty="0"/>
          </a:p>
          <a:p>
            <a:r>
              <a:rPr lang="en-US" sz="2100" dirty="0">
                <a:solidFill>
                  <a:srgbClr val="17364A"/>
                </a:solidFill>
                <a:latin typeface="Aptos" pitchFamily="34" charset="0"/>
                <a:ea typeface="Aptos" pitchFamily="34" charset="-122"/>
                <a:cs typeface="Aptos" pitchFamily="34" charset="-120"/>
              </a:rPr>
              <a:t>CDC Public Health Data Strategy and Data Modernization resources:.</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NIST Artificial Intelligence Risk Management Framework:.</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Public Health AI Policy Landscape and Regulatory Readiness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23</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References and Resources Continued</a:t>
            </a:r>
            <a:endParaRPr lang="en-US" sz="3400" dirty="0"/>
          </a:p>
        </p:txBody>
      </p:sp>
      <p:sp>
        <p:nvSpPr>
          <p:cNvPr id="9" name="Text 7"/>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Relevant public health program SOPs, data governance documentation, and implementation plans</a:t>
            </a:r>
            <a:endParaRPr lang="en-US" sz="2100" dirty="0"/>
          </a:p>
        </p:txBody>
      </p:sp>
      <p:sp>
        <p:nvSpPr>
          <p:cNvPr id="10" name="Shape 8"/>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1" name="Text 9"/>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2" name="Text 10"/>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Relevant public health program SOPs, data governance documentation, and implementation plans</a:t>
            </a:r>
            <a:endParaRPr lang="en-US" sz="1550" dirty="0"/>
          </a:p>
        </p:txBody>
      </p:sp>
      <p:sp>
        <p:nvSpPr>
          <p:cNvPr id="13" name="Shape 11"/>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4" name="Text 12"/>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5" name="Text 13"/>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23</Slides>
  <Notes>23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23</vt:i4>
      </vt:variant>
    </vt:vector>
  </HeadingPairs>
  <TitlesOfParts>
    <vt:vector size="2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vector>
  </TitlesOfParts>
  <Company>AI Playbook for Public Health</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Public Health AI Policy Landscape and Regulatory Readiness</dc:title>
  <dc:subject>Public Health AI Policy Landscape and Regulatory Readiness learning module</dc:subject>
  <dc:creator>Paula Soper</dc:creator>
  <cp:lastModifiedBy>Paula Soper</cp:lastModifiedBy>
  <cp:revision>1</cp:revision>
  <dcterms:created xsi:type="dcterms:W3CDTF">2026-07-12T19:55:21Z</dcterms:created>
  <dcterms:modified xsi:type="dcterms:W3CDTF">2026-07-12T19:55:21Z</dcterms:modified>
</cp:coreProperties>
</file>