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220 AI Project Management and Implementation Planning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program-management, operations-and-data-quality, technical-architecture, public-health-executive-leadership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this tool to complete or strengthen the practical exercise for the module using fictional, de-identified, or generalized.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major phases of an AI implementation project.
Develop an AI project charter that includes scope, objectives, roles, risks, dependencies, and governance gates.
Identify implementation dependencies across data, systems, privacy, security, procurement, workflow, training, and evaluation.
Create a launch readiness checklist for an AI-supported workflow.
Plan transition from pilot to operations, including ownership, monitoring, maintenance, and sustainability.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plans to pilot an AI tool that drafts summaries of incoming case reports. The project plan identifies governance approval, data access, system integration, validation, user training, SOP development, incident response, and monitoring as required workstreams. The project cannot launch simply because the tool works in a demonstration. It must pass readiness checks showing that staff know how to review the output, errors can be reported, and the tool is monitored after launch.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project planning should begin with a charter that defines the use case and sets boundaries. The charter should explain the public health problem, intended users, expected benefits, data involved, systems affected, approved use, prohibited use, and success measures. It should also identify the sponsor, product owner, implementation lead, technical lead, privacy or legal contacts, security contact, evaluation lead, and operational owner.
Implementation should be organized into phases. Early phases usually include discovery, intake, feasibility review, governance approval, and business analysis. Middle phases include design, procurement or configuration, data access setup, integration, validation, workflow design, SOP development, and training. Later phases include user acceptance testing, launch readiness review, deployment, monitoring, and transition to operations. Governance gates should be placed between phases to prevent premature launch.
AI project risk management should be more detailed than a general project risk log. Risks may include poor data quality, unavailable interfaces, unclear authority, model performance problems, vendor delays, privacy concerns, security vulnerabilities, staff resistance, workflow burden, community trust concerns, and sustainability gaps. Each risk should have an owner, mitigation plan, status, and escalation threshold.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Transition to operations is often neglected. A pilot may show promise, but routine use requires support, monitoring, maintenance, budget, staff training, user feedback, incident response, and periodic review. The project plan should define when the implementation team ends and who becomes responsible for ongoing operations.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Pilots launching without governance approval or operational ownership.
Project plans overlooking data, privacy, security, workflow, or training dependencies.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Vendors controlling implementation timelines without agency readiness gates.
No transition plan from pilot to routine operations.
Success measured only by deployment rather than public health value and safe use.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an AI-specific project charter and risk log.
Define governance gates before implementation begins.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Create separate workstreams for data, technology, governance, workflow, training, validation, and evaluation.
Require launch readiness review before deployment.
Document transition to operations and sustainability responsibilities.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project charter and implementation plan for one proposed AI-supported public health workflow. Include project purpose, scope, objectives, roles, governance gates, milestones, workstreams, dependencies, risks, launch readiness criteria, and transition-to-operations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project charter
Implementation workplan
AI-specific risk log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Launch readiness checklist
Transition-to-operations plan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project charter
Implementation workplan
AI-specific risk log
Launch readiness checklist
Transition-to-operations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distinguishes AI project management from ordinary software implementation?
2. What is a governance gate?
3. Which item belongs in an AI project charter?
4. Why is transition to operations important?
5. What is strong completion evidence?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Project Management and Implementation Planning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require disciplined implementation planning because they combine technology, data, governance,.</a:t>
            </a:r>
            <a:endParaRPr lang="en-US" sz="2100" dirty="0"/>
          </a:p>
          <a:p>
            <a:r>
              <a:rPr lang="en-US" sz="2100" dirty="0">
                <a:solidFill>
                  <a:srgbClr val="17364A"/>
                </a:solidFill>
                <a:latin typeface="Aptos" pitchFamily="34" charset="0"/>
                <a:ea typeface="Aptos" pitchFamily="34" charset="-122"/>
                <a:cs typeface="Aptos" pitchFamily="34" charset="-120"/>
              </a:rPr>
              <a:t>A project that appears small, such as adding an AI summarization tool, may still require data access decisions,.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need project management methods that account for these dependencies before implementation.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program-management, operations-and-data-quality, technical-architecture,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this tool to complete or strengthen the practical exercise for.</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the major phases of an AI implementation project.</a:t>
            </a:r>
            <a:endParaRPr lang="en-US" sz="2100" dirty="0"/>
          </a:p>
          <a:p>
            <a:r>
              <a:rPr lang="en-US" sz="2100" dirty="0">
                <a:solidFill>
                  <a:srgbClr val="17364A"/>
                </a:solidFill>
                <a:latin typeface="Aptos" pitchFamily="34" charset="0"/>
                <a:ea typeface="Aptos" pitchFamily="34" charset="-122"/>
                <a:cs typeface="Aptos" pitchFamily="34" charset="-120"/>
              </a:rPr>
              <a:t>Develop an AI project charter that includes scope, objectives, roles, risks, dependencies, and.</a:t>
            </a:r>
            <a:endParaRPr lang="en-US" sz="2100" dirty="0"/>
          </a:p>
          <a:p>
            <a:r>
              <a:rPr lang="en-US" sz="2100" dirty="0">
                <a:solidFill>
                  <a:srgbClr val="17364A"/>
                </a:solidFill>
                <a:latin typeface="Aptos" pitchFamily="34" charset="0"/>
                <a:ea typeface="Aptos" pitchFamily="34" charset="-122"/>
                <a:cs typeface="Aptos" pitchFamily="34" charset="-120"/>
              </a:rPr>
              <a:t>Identify implementation dependencies across data, systems, privacy, security, procurement, workflow,.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the major phases of an AI implementation project.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require disciplined implementation planning because they combine technology, data,.</a:t>
            </a:r>
            <a:endParaRPr lang="en-US" sz="2100" dirty="0"/>
          </a:p>
          <a:p>
            <a:r>
              <a:rPr lang="en-US" sz="2100" dirty="0">
                <a:solidFill>
                  <a:srgbClr val="17364A"/>
                </a:solidFill>
                <a:latin typeface="Aptos" pitchFamily="34" charset="0"/>
                <a:ea typeface="Aptos" pitchFamily="34" charset="-122"/>
                <a:cs typeface="Aptos" pitchFamily="34" charset="-120"/>
              </a:rPr>
              <a:t>A project that appears small, such as adding an AI summarization tool, may still require data access.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need project management methods that account for these dependencies before.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projects require disciplined implementation planning because they combine technology, data,.</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plans to pilot an AI tool that drafts summaries of incoming case reports.</a:t>
            </a:r>
            <a:endParaRPr lang="en-US" sz="2100" dirty="0"/>
          </a:p>
          <a:p>
            <a:r>
              <a:rPr lang="en-US" sz="2100" dirty="0">
                <a:solidFill>
                  <a:srgbClr val="17364A"/>
                </a:solidFill>
                <a:latin typeface="Aptos" pitchFamily="34" charset="0"/>
                <a:ea typeface="Aptos" pitchFamily="34" charset="-122"/>
                <a:cs typeface="Aptos" pitchFamily="34" charset="-120"/>
              </a:rPr>
              <a:t>The project plan identifies governance approval, data access, system integration, validation, user.</a:t>
            </a:r>
            <a:endParaRPr lang="en-US" sz="2100" dirty="0"/>
          </a:p>
          <a:p>
            <a:r>
              <a:rPr lang="en-US" sz="2100" dirty="0">
                <a:solidFill>
                  <a:srgbClr val="17364A"/>
                </a:solidFill>
                <a:latin typeface="Aptos" pitchFamily="34" charset="0"/>
                <a:ea typeface="Aptos" pitchFamily="34" charset="-122"/>
                <a:cs typeface="Aptos" pitchFamily="34" charset="-120"/>
              </a:rPr>
              <a:t>The project cannot launch simply because the tool works in a demonstration.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plans to pilot an AI tool that drafts summaries of incoming case reports.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planning should begin with a charter that defines the use case and sets boundaries.</a:t>
            </a:r>
            <a:endParaRPr lang="en-US" sz="2100" dirty="0"/>
          </a:p>
          <a:p>
            <a:r>
              <a:rPr lang="en-US" sz="2100" dirty="0">
                <a:solidFill>
                  <a:srgbClr val="17364A"/>
                </a:solidFill>
                <a:latin typeface="Aptos" pitchFamily="34" charset="0"/>
                <a:ea typeface="Aptos" pitchFamily="34" charset="-122"/>
                <a:cs typeface="Aptos" pitchFamily="34" charset="-120"/>
              </a:rPr>
              <a:t>The charter should explain the public health problem, intended users, expected benefits, data involved,.</a:t>
            </a:r>
            <a:endParaRPr lang="en-US" sz="2100" dirty="0"/>
          </a:p>
          <a:p>
            <a:r>
              <a:rPr lang="en-US" sz="2100" dirty="0">
                <a:solidFill>
                  <a:srgbClr val="17364A"/>
                </a:solidFill>
                <a:latin typeface="Aptos" pitchFamily="34" charset="0"/>
                <a:ea typeface="Aptos" pitchFamily="34" charset="-122"/>
                <a:cs typeface="Aptos" pitchFamily="34" charset="-120"/>
              </a:rPr>
              <a:t>It should also identify the sponsor, product owner, implementation lead, technical lead, privacy 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planning should begin with a charter that defines the use case and sets boundaries.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Transition to operations is often neglected.</a:t>
            </a:r>
            <a:endParaRPr lang="en-US" sz="2100" dirty="0"/>
          </a:p>
          <a:p>
            <a:r>
              <a:rPr lang="en-US" sz="2100" dirty="0">
                <a:solidFill>
                  <a:srgbClr val="17364A"/>
                </a:solidFill>
                <a:latin typeface="Aptos" pitchFamily="34" charset="0"/>
                <a:ea typeface="Aptos" pitchFamily="34" charset="-122"/>
                <a:cs typeface="Aptos" pitchFamily="34" charset="-120"/>
              </a:rPr>
              <a:t>A pilot may show promise, but routine use requires support, monitoring, maintenance, budget, staff.</a:t>
            </a:r>
            <a:endParaRPr lang="en-US" sz="2100" dirty="0"/>
          </a:p>
          <a:p>
            <a:r>
              <a:rPr lang="en-US" sz="2100" dirty="0">
                <a:solidFill>
                  <a:srgbClr val="17364A"/>
                </a:solidFill>
                <a:latin typeface="Aptos" pitchFamily="34" charset="0"/>
                <a:ea typeface="Aptos" pitchFamily="34" charset="-122"/>
                <a:cs typeface="Aptos" pitchFamily="34" charset="-120"/>
              </a:rPr>
              <a:t>The project plan should define when the implementation team ends and who becomes responsible for.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Transition to operations is often neglected.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Pilots launching without governance approval or operational ownership.</a:t>
            </a:r>
            <a:endParaRPr lang="en-US" sz="2100" dirty="0"/>
          </a:p>
          <a:p>
            <a:r>
              <a:rPr lang="en-US" sz="2100" dirty="0">
                <a:solidFill>
                  <a:srgbClr val="17364A"/>
                </a:solidFill>
                <a:latin typeface="Aptos" pitchFamily="34" charset="0"/>
                <a:ea typeface="Aptos" pitchFamily="34" charset="-122"/>
                <a:cs typeface="Aptos" pitchFamily="34" charset="-120"/>
              </a:rPr>
              <a:t>Project plans overlooking data, privacy, security, workflow, or training dependencies.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Vendors controlling implementation timelines without agency readiness gates.</a:t>
            </a:r>
            <a:endParaRPr lang="en-US" sz="2100" dirty="0"/>
          </a:p>
          <a:p>
            <a:r>
              <a:rPr lang="en-US" sz="2100" dirty="0">
                <a:solidFill>
                  <a:srgbClr val="17364A"/>
                </a:solidFill>
                <a:latin typeface="Aptos" pitchFamily="34" charset="0"/>
                <a:ea typeface="Aptos" pitchFamily="34" charset="-122"/>
                <a:cs typeface="Aptos" pitchFamily="34" charset="-120"/>
              </a:rPr>
              <a:t>No transition plan from pilot to routine operations.</a:t>
            </a:r>
            <a:endParaRPr lang="en-US" sz="2100" dirty="0"/>
          </a:p>
          <a:p>
            <a:r>
              <a:rPr lang="en-US" sz="2100" dirty="0">
                <a:solidFill>
                  <a:srgbClr val="17364A"/>
                </a:solidFill>
                <a:latin typeface="Aptos" pitchFamily="34" charset="0"/>
                <a:ea typeface="Aptos" pitchFamily="34" charset="-122"/>
                <a:cs typeface="Aptos" pitchFamily="34" charset="-120"/>
              </a:rPr>
              <a:t>Success measured only by deployment rather than public health value and safe use.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Vendors controlling implementation timelines without agency readiness gates.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Use an AI-specific project charter and risk log.</a:t>
            </a:r>
            <a:endParaRPr lang="en-US" sz="2100" dirty="0"/>
          </a:p>
          <a:p>
            <a:r>
              <a:rPr lang="en-US" sz="2100" dirty="0">
                <a:solidFill>
                  <a:srgbClr val="17364A"/>
                </a:solidFill>
                <a:latin typeface="Aptos" pitchFamily="34" charset="0"/>
                <a:ea typeface="Aptos" pitchFamily="34" charset="-122"/>
                <a:cs typeface="Aptos" pitchFamily="34" charset="-120"/>
              </a:rPr>
              <a:t>Define governance gates before implementation begins.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separate workstreams for data, technology, governance, workflow, training, validation, and.</a:t>
            </a:r>
            <a:endParaRPr lang="en-US" sz="2100" dirty="0"/>
          </a:p>
          <a:p>
            <a:r>
              <a:rPr lang="en-US" sz="2100" dirty="0">
                <a:solidFill>
                  <a:srgbClr val="17364A"/>
                </a:solidFill>
                <a:latin typeface="Aptos" pitchFamily="34" charset="0"/>
                <a:ea typeface="Aptos" pitchFamily="34" charset="-122"/>
                <a:cs typeface="Aptos" pitchFamily="34" charset="-120"/>
              </a:rPr>
              <a:t>Require launch readiness review before deployment.</a:t>
            </a:r>
            <a:endParaRPr lang="en-US" sz="2100" dirty="0"/>
          </a:p>
          <a:p>
            <a:r>
              <a:rPr lang="en-US" sz="2100" dirty="0">
                <a:solidFill>
                  <a:srgbClr val="17364A"/>
                </a:solidFill>
                <a:latin typeface="Aptos" pitchFamily="34" charset="0"/>
                <a:ea typeface="Aptos" pitchFamily="34" charset="-122"/>
                <a:cs typeface="Aptos" pitchFamily="34" charset="-120"/>
              </a:rPr>
              <a:t>Document transition to operations and sustainability responsibilities.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separate workstreams for data, technology, governance, workflow, training, validation, and.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 project charter and implementation plan for one proposed AI-supported public health.</a:t>
            </a:r>
            <a:endParaRPr lang="en-US" sz="2100" dirty="0"/>
          </a:p>
          <a:p>
            <a:r>
              <a:rPr lang="en-US" sz="2100" dirty="0">
                <a:solidFill>
                  <a:srgbClr val="17364A"/>
                </a:solidFill>
                <a:latin typeface="Aptos" pitchFamily="34" charset="0"/>
                <a:ea typeface="Aptos" pitchFamily="34" charset="-122"/>
                <a:cs typeface="Aptos" pitchFamily="34" charset="-120"/>
              </a:rPr>
              <a:t>Include project purpose, scope, objectives, roles, governance gates, milestones, workstreams,.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 project charter and implementation plan for one proposed AI-supported public health.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charter</a:t>
            </a:r>
            <a:endParaRPr lang="en-US" sz="2100" dirty="0"/>
          </a:p>
          <a:p>
            <a:r>
              <a:rPr lang="en-US" sz="2100" dirty="0">
                <a:solidFill>
                  <a:srgbClr val="17364A"/>
                </a:solidFill>
                <a:latin typeface="Aptos" pitchFamily="34" charset="0"/>
                <a:ea typeface="Aptos" pitchFamily="34" charset="-122"/>
                <a:cs typeface="Aptos" pitchFamily="34" charset="-120"/>
              </a:rPr>
              <a:t>Implementation workplan</a:t>
            </a:r>
            <a:endParaRPr lang="en-US" sz="2100" dirty="0"/>
          </a:p>
          <a:p>
            <a:r>
              <a:rPr lang="en-US" sz="2100" dirty="0">
                <a:solidFill>
                  <a:srgbClr val="17364A"/>
                </a:solidFill>
                <a:latin typeface="Aptos" pitchFamily="34" charset="0"/>
                <a:ea typeface="Aptos" pitchFamily="34" charset="-122"/>
                <a:cs typeface="Aptos" pitchFamily="34" charset="-120"/>
              </a:rPr>
              <a:t>AI-specific risk log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charter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Launch readiness checklist</a:t>
            </a:r>
            <a:endParaRPr lang="en-US" sz="2100" dirty="0"/>
          </a:p>
          <a:p>
            <a:r>
              <a:rPr lang="en-US" sz="2100" dirty="0">
                <a:solidFill>
                  <a:srgbClr val="17364A"/>
                </a:solidFill>
                <a:latin typeface="Aptos" pitchFamily="34" charset="0"/>
                <a:ea typeface="Aptos" pitchFamily="34" charset="-122"/>
                <a:cs typeface="Aptos" pitchFamily="34" charset="-120"/>
              </a:rPr>
              <a:t>Transition-to-operations plan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Launch readiness checklist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charter</a:t>
            </a:r>
            <a:endParaRPr lang="en-US" sz="2100" dirty="0"/>
          </a:p>
          <a:p>
            <a:r>
              <a:rPr lang="en-US" sz="2100" dirty="0">
                <a:solidFill>
                  <a:srgbClr val="17364A"/>
                </a:solidFill>
                <a:latin typeface="Aptos" pitchFamily="34" charset="0"/>
                <a:ea typeface="Aptos" pitchFamily="34" charset="-122"/>
                <a:cs typeface="Aptos" pitchFamily="34" charset="-120"/>
              </a:rPr>
              <a:t>Implementation workplan</a:t>
            </a:r>
            <a:endParaRPr lang="en-US" sz="2100" dirty="0"/>
          </a:p>
          <a:p>
            <a:r>
              <a:rPr lang="en-US" sz="2100" dirty="0">
                <a:solidFill>
                  <a:srgbClr val="17364A"/>
                </a:solidFill>
                <a:latin typeface="Aptos" pitchFamily="34" charset="0"/>
                <a:ea typeface="Aptos" pitchFamily="34" charset="-122"/>
                <a:cs typeface="Aptos" pitchFamily="34" charset="-120"/>
              </a:rPr>
              <a:t>AI-specific risk log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charter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distinguishes AI project management from ordinary software implementation?</a:t>
            </a:r>
            <a:endParaRPr lang="en-US" sz="2100" dirty="0"/>
          </a:p>
          <a:p>
            <a:r>
              <a:rPr lang="en-US" sz="2100" dirty="0">
                <a:solidFill>
                  <a:srgbClr val="17364A"/>
                </a:solidFill>
                <a:latin typeface="Aptos" pitchFamily="34" charset="0"/>
                <a:ea typeface="Aptos" pitchFamily="34" charset="-122"/>
                <a:cs typeface="Aptos" pitchFamily="34" charset="-120"/>
              </a:rPr>
              <a:t>2. What is a governance gate?</a:t>
            </a:r>
            <a:endParaRPr lang="en-US" sz="2100" dirty="0"/>
          </a:p>
          <a:p>
            <a:r>
              <a:rPr lang="en-US" sz="2100" dirty="0">
                <a:solidFill>
                  <a:srgbClr val="17364A"/>
                </a:solidFill>
                <a:latin typeface="Aptos" pitchFamily="34" charset="0"/>
                <a:ea typeface="Aptos" pitchFamily="34" charset="-122"/>
                <a:cs typeface="Aptos" pitchFamily="34" charset="-120"/>
              </a:rPr>
              <a:t>3. Which item belongs in an AI project charter?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distinguishes AI project management from ordinary software implementation?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Project Management and Implementation Planning</dc:title>
  <dc:subject>AI Project Management and Implementation Planning learning module</dc:subject>
  <dc:creator>Paula Soper</dc:creator>
  <cp:lastModifiedBy>Paula Soper</cp:lastModifiedBy>
  <cp:revision>1</cp:revision>
  <dcterms:created xsi:type="dcterms:W3CDTF">2026-07-13T01:54:45Z</dcterms:created>
  <dcterms:modified xsi:type="dcterms:W3CDTF">2026-07-13T01:54:45Z</dcterms:modified>
</cp:coreProperties>
</file>