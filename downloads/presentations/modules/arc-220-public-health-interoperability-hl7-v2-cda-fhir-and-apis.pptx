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220 Public Health Interoperability: HL7 v2, CDA, FHIR, and APIs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interoperability is a technical foundation for public health AI.
Distinguish among HL7 v2 messages, CDA documents, FHIR resources, and APIs.
Identify where interoperability standards appear in public health workflows.
Explain the purpose of implementation guides and terminology standards.
Develop interoperability requirements and vendor questions for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Interoperability matters because AI tools cannot safely use data they cannot access, parse, or interpret. A public health agency may receive data from hundreds or thousands of healthcare and laboratory partners. Without consistent standards, data exchange becomes a patchwork of custom interfaces, manual uploads, local workarounds, and incomplete fields. AI tools built on top of that environment may appear sophisticated while depending on fragile inputs.
Standards also affect equity and efficiency. When data exchange is inconsistent, some providers or communities may be represented more completely than others. AI-supported surveillance, prioritization, or outreach may then reflect uneven reporting infrastructure rather than true public health need. Interoperability review helps identify these gaps before outputs are used operationally.
For procurement and implementation, interoperability knowledge helps public health staff move beyond broad vendor claims. A vendor statement that a product supports FHIR or APIs is not enough. Staff need to know which resources, profiles, data elements, security controls, terminology mappings, validation methods, and workflows are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HL7 v2. HL7 v2 is a widely used message-based standard in healthcare and public health. It is common in laboratory reporting, immunization messaging, admission-discharge-transfer notifications, and other interfaces. HL7 v2 is mature and widely deployed, but messages can vary by implementation, making validation and local onboarding important.
CDA. Clinical Document Architecture is a document-based standard used to represent structured clinical documents. CDA has been used in public health reporting contexts, including case reporting. CDA documents can include structured sections and narrative text, which can be useful but also require careful parsing and interpretation.
FHIR. FHIR, or Fast Healthcare Interoperability Resources, represents health information as modular resources and commonly supports API-based exchange. FHIR can make specific data easier to request and reuse, but FHIR compatibility does not guarantee that required public health data are complete or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API. An API allows one system to request data or services from another system. In AI workflows, APIs may support retrieval, task creation, status updates, or integration with systems of record. API access must be governed by permissions, authentication, rate limits, logging, and intended use.
Implementation guide. An implementation guide specifies how a standard should be used for a particular purpose. Public health implementation guides help reduce ambiguity by defining required data elements, profiles, value sets, and exchange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immunization information system may receive HL7 v2 VXU messages from providers and pharmacies. If an AI tool is used to identify vaccination gaps or generate reminder lists, it depends on correctly parsed vaccine codes, patient matching, dates, dose validity, and provider information. Interoperability failures can look like epidemiologic gaps even when the problem is actually message quality.
A public health agency exploring AI-supported case summaries from EHR data may need to understand whether the data arrive as CDA documents, FHIR resources, or extracted fields in a surveillance system. Each option affects what the AI can access, how source traceability is preserved, and how errors are corrected. Standards knowledge helps staff evaluate the feasibility and safety of the proposed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Interoperability review starts by identifying the sending system, receiving system, exchange standard, data elements, and intended use. Staff should ask whether the workflow uses messages, documents, resources, files, or manual entry. They should also identify required terminology systems, such as LOINC, SNOMED CT, CVX, ICD-10-CM, UCUM, or local codes.
Validation is a central part of interoperability. A message or API response may be syntactically valid but still not fit for a public health use case. For example, a lab result may include a test code but not the specimen source, or an immunization message may include a vaccine code but not enough information to evaluate dose validity. AI readiness requires validation against the intended public health workflow, not only technical message acceptance.
Interoperability requirements should be explicit in AI procurement and implementation. Requirements may include supported standards, required fields, value sets, error handling, data provenance, access controls, audit logs, test scenarios, implementation guide conformance, and documentation. These details help prevent expensive custom workarounds and unsafe manual data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Vague standards claims. Vendors may claim standards support without demonstrating required profiles, data elements, or workflows. Guardrails include conformance testing, test messages, implementation guide references, and acceptance criteria.
Manual workarounds. Weak interoperability can lead to copying and pasting sensitive data into AI tools. Guardrails include approved interfaces, secure environments, and prohibitions on unapproved data movement.
Terminology mismatch. Codes may be missing, local, outdated, or mapped incorrectly. Guardrails include terminology governance, value-set review, and data quality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Over-reliance on structured data. Structured exchange may omit context found in notes or local fields. Guardrails include source review, workflow validation, and documentation of known data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structured and narrative data received through interoperable exchange, but it must preserve source traceability. Predictive analytics may depend on standardized fields and terminology, so interoperability gaps can affect model validity. RAG tools may retrieve implementation guides or agency protocols, but document governance is needed to avoid stale guidance. Agentic AI may use APIs to take actions, making permissions, audit logs, and write-back controls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standards are used in your agency’s major data exchange workflows?
Which workflows still depend on manual uploads or copy-paste processes?
What vendor claims would need to be tested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terminology standards are required for the workflow?
How would interoperability gaps affect AI outputs or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interoperability review checklist for one proposed AI-supported workflow. Identify the sending and receiving systems, exchange standard, required data elements, terminology standards, validation tests, error handling, security controls, audit logs, and vendor questions.
Include at least one test scenario that would show whether the exchange supports the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Interoperability checklist
Data exchange diagram
Vendor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Test scenario and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Interoperability checklist
Data exchange diagram
Vendor questions
Test scenario and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does interoperability matter for AI-supported public health workflows?
2. What is FHIR commonly used for?
3. What is an implementation guide?
4. Which question should be asked during AI vendor review?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resources and implementation guides: https://hl7.org/fhir/
HL7 US Core Implementation Guide: https://build.fhir.org/ig/HL7/US-Core/
ONC USCDI resources: https://isp.healthit.gov/united-states-core-data-interoperability-uscdi
CDC Public Health Data Strategy: https://www.cdc.gov/public-health-data-strategy/php/about/index.html
Public health implementation guides for eCR, ELR, IIS, and syndromic surveillance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Interoperability: HL7 v2, CDA, FHIR, and APIs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depends on the ability of systems to exchange and interpret data.</a:t>
            </a:r>
            <a:endParaRPr lang="en-US" sz="2100" dirty="0"/>
          </a:p>
          <a:p>
            <a:r>
              <a:rPr lang="en-US" sz="2100" dirty="0">
                <a:solidFill>
                  <a:srgbClr val="17364A"/>
                </a:solidFill>
                <a:latin typeface="Aptos" pitchFamily="34" charset="0"/>
                <a:ea typeface="Aptos" pitchFamily="34" charset="-122"/>
                <a:cs typeface="Aptos" pitchFamily="34" charset="-120"/>
              </a:rPr>
              <a:t>Interoperability is the discipline that makes this exchange possible across EHRs, laboratories, HIEs, IISs,.</a:t>
            </a:r>
            <a:endParaRPr lang="en-US" sz="2100" dirty="0"/>
          </a:p>
          <a:p>
            <a:r>
              <a:rPr lang="en-US" sz="2100" dirty="0">
                <a:solidFill>
                  <a:srgbClr val="17364A"/>
                </a:solidFill>
                <a:latin typeface="Aptos" pitchFamily="34" charset="0"/>
                <a:ea typeface="Aptos" pitchFamily="34" charset="-122"/>
                <a:cs typeface="Aptos" pitchFamily="34" charset="-120"/>
              </a:rPr>
              <a:t>This module introduces the major standards that public health staff encounter, including HL7 v2, CDA, FHIR,.</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interoperability is a technical foundation for public health AI.</a:t>
            </a:r>
            <a:endParaRPr lang="en-US" sz="2100" dirty="0"/>
          </a:p>
          <a:p>
            <a:r>
              <a:rPr lang="en-US" sz="2100" dirty="0">
                <a:solidFill>
                  <a:srgbClr val="17364A"/>
                </a:solidFill>
                <a:latin typeface="Aptos" pitchFamily="34" charset="0"/>
                <a:ea typeface="Aptos" pitchFamily="34" charset="-122"/>
                <a:cs typeface="Aptos" pitchFamily="34" charset="-120"/>
              </a:rPr>
              <a:t>Distinguish among HL7 v2 messages, CDA documents, FHIR resources, and APIs.</a:t>
            </a:r>
            <a:endParaRPr lang="en-US" sz="2100" dirty="0"/>
          </a:p>
          <a:p>
            <a:r>
              <a:rPr lang="en-US" sz="2100" dirty="0">
                <a:solidFill>
                  <a:srgbClr val="17364A"/>
                </a:solidFill>
                <a:latin typeface="Aptos" pitchFamily="34" charset="0"/>
                <a:ea typeface="Aptos" pitchFamily="34" charset="-122"/>
                <a:cs typeface="Aptos" pitchFamily="34" charset="-120"/>
              </a:rPr>
              <a:t>Identify where interoperability standards appear in public health workflows.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interoperability is a technical foundation for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depends on the ability of systems to exchange and interpret data.</a:t>
            </a:r>
            <a:endParaRPr lang="en-US" sz="2100" dirty="0"/>
          </a:p>
          <a:p>
            <a:r>
              <a:rPr lang="en-US" sz="2100" dirty="0">
                <a:solidFill>
                  <a:srgbClr val="17364A"/>
                </a:solidFill>
                <a:latin typeface="Aptos" pitchFamily="34" charset="0"/>
                <a:ea typeface="Aptos" pitchFamily="34" charset="-122"/>
                <a:cs typeface="Aptos" pitchFamily="34" charset="-120"/>
              </a:rPr>
              <a:t>Interoperability is the discipline that makes this exchange possible across EHRs, laboratories, HIEs,.</a:t>
            </a:r>
            <a:endParaRPr lang="en-US" sz="2100" dirty="0"/>
          </a:p>
          <a:p>
            <a:r>
              <a:rPr lang="en-US" sz="2100" dirty="0">
                <a:solidFill>
                  <a:srgbClr val="17364A"/>
                </a:solidFill>
                <a:latin typeface="Aptos" pitchFamily="34" charset="0"/>
                <a:ea typeface="Aptos" pitchFamily="34" charset="-122"/>
                <a:cs typeface="Aptos" pitchFamily="34" charset="-120"/>
              </a:rPr>
              <a:t>This module introduces the major standards that public health staff encounter, including HL7 v2, CDA,.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AI depends on the ability of systems to exchange and interpret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matters because AI tools cannot safely use data they cannot access, parse, or interpret.</a:t>
            </a:r>
            <a:endParaRPr lang="en-US" sz="2100" dirty="0"/>
          </a:p>
          <a:p>
            <a:r>
              <a:rPr lang="en-US" sz="2100" dirty="0">
                <a:solidFill>
                  <a:srgbClr val="17364A"/>
                </a:solidFill>
                <a:latin typeface="Aptos" pitchFamily="34" charset="0"/>
                <a:ea typeface="Aptos" pitchFamily="34" charset="-122"/>
                <a:cs typeface="Aptos" pitchFamily="34" charset="-120"/>
              </a:rPr>
              <a:t>A public health agency may receive data from hundreds or thousands of healthcare and laboratory partners.</a:t>
            </a:r>
            <a:endParaRPr lang="en-US" sz="2100" dirty="0"/>
          </a:p>
          <a:p>
            <a:r>
              <a:rPr lang="en-US" sz="2100" dirty="0">
                <a:solidFill>
                  <a:srgbClr val="17364A"/>
                </a:solidFill>
                <a:latin typeface="Aptos" pitchFamily="34" charset="0"/>
                <a:ea typeface="Aptos" pitchFamily="34" charset="-122"/>
                <a:cs typeface="Aptos" pitchFamily="34" charset="-120"/>
              </a:rPr>
              <a:t>Without consistent standards, data exchange becomes a patchwork of custom interfaces, manual uploads,.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matters because AI tools cannot safely use data they cannot access, parse, or interpret.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v2.</a:t>
            </a:r>
            <a:endParaRPr lang="en-US" sz="2100" dirty="0"/>
          </a:p>
          <a:p>
            <a:r>
              <a:rPr lang="en-US" sz="2100" dirty="0">
                <a:solidFill>
                  <a:srgbClr val="17364A"/>
                </a:solidFill>
                <a:latin typeface="Aptos" pitchFamily="34" charset="0"/>
                <a:ea typeface="Aptos" pitchFamily="34" charset="-122"/>
                <a:cs typeface="Aptos" pitchFamily="34" charset="-120"/>
              </a:rPr>
              <a:t>HL7 v2 is a widely used message-based standard in healthcare and public health.</a:t>
            </a:r>
            <a:endParaRPr lang="en-US" sz="2100" dirty="0"/>
          </a:p>
          <a:p>
            <a:r>
              <a:rPr lang="en-US" sz="2100" dirty="0">
                <a:solidFill>
                  <a:srgbClr val="17364A"/>
                </a:solidFill>
                <a:latin typeface="Aptos" pitchFamily="34" charset="0"/>
                <a:ea typeface="Aptos" pitchFamily="34" charset="-122"/>
                <a:cs typeface="Aptos" pitchFamily="34" charset="-120"/>
              </a:rPr>
              <a:t>It is common in laboratory reporting, immunization messaging, admission-discharge-transfer.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v2.</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a:t>
            </a:r>
            <a:endParaRPr lang="en-US" sz="2100" dirty="0"/>
          </a:p>
          <a:p>
            <a:r>
              <a:rPr lang="en-US" sz="2100" dirty="0">
                <a:solidFill>
                  <a:srgbClr val="17364A"/>
                </a:solidFill>
                <a:latin typeface="Aptos" pitchFamily="34" charset="0"/>
                <a:ea typeface="Aptos" pitchFamily="34" charset="-122"/>
                <a:cs typeface="Aptos" pitchFamily="34" charset="-120"/>
              </a:rPr>
              <a:t>An API allows one system to request data or services from another system.</a:t>
            </a:r>
            <a:endParaRPr lang="en-US" sz="2100" dirty="0"/>
          </a:p>
          <a:p>
            <a:r>
              <a:rPr lang="en-US" sz="2100" dirty="0">
                <a:solidFill>
                  <a:srgbClr val="17364A"/>
                </a:solidFill>
                <a:latin typeface="Aptos" pitchFamily="34" charset="0"/>
                <a:ea typeface="Aptos" pitchFamily="34" charset="-122"/>
                <a:cs typeface="Aptos" pitchFamily="34" charset="-120"/>
              </a:rPr>
              <a:t>In AI workflows, APIs may support retrieval, task creation, status updates, or integration with systems.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immunization information system may receive HL7 v2 VXU messages from providers and pharmacies.</a:t>
            </a:r>
            <a:endParaRPr lang="en-US" sz="2100" dirty="0"/>
          </a:p>
          <a:p>
            <a:r>
              <a:rPr lang="en-US" sz="2100" dirty="0">
                <a:solidFill>
                  <a:srgbClr val="17364A"/>
                </a:solidFill>
                <a:latin typeface="Aptos" pitchFamily="34" charset="0"/>
                <a:ea typeface="Aptos" pitchFamily="34" charset="-122"/>
                <a:cs typeface="Aptos" pitchFamily="34" charset="-120"/>
              </a:rPr>
              <a:t>If an AI tool is used to identify vaccination gaps or generate reminder lists, it depends on correctly.</a:t>
            </a:r>
            <a:endParaRPr lang="en-US" sz="2100" dirty="0"/>
          </a:p>
          <a:p>
            <a:r>
              <a:rPr lang="en-US" sz="2100" dirty="0">
                <a:solidFill>
                  <a:srgbClr val="17364A"/>
                </a:solidFill>
                <a:latin typeface="Aptos" pitchFamily="34" charset="0"/>
                <a:ea typeface="Aptos" pitchFamily="34" charset="-122"/>
                <a:cs typeface="Aptos" pitchFamily="34" charset="-120"/>
              </a:rPr>
              <a:t>Interoperability failures can look like epidemiologic gaps even when the problem is actually message.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immunization information system may receive HL7 v2 VXU messages from providers and pharmacies.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review starts by identifying the sending system, receiving system, exchange standard,.</a:t>
            </a:r>
            <a:endParaRPr lang="en-US" sz="2100" dirty="0"/>
          </a:p>
          <a:p>
            <a:r>
              <a:rPr lang="en-US" sz="2100" dirty="0">
                <a:solidFill>
                  <a:srgbClr val="17364A"/>
                </a:solidFill>
                <a:latin typeface="Aptos" pitchFamily="34" charset="0"/>
                <a:ea typeface="Aptos" pitchFamily="34" charset="-122"/>
                <a:cs typeface="Aptos" pitchFamily="34" charset="-120"/>
              </a:rPr>
              <a:t>Staff should ask whether the workflow uses messages, documents, resources, files, or manual entry.</a:t>
            </a:r>
            <a:endParaRPr lang="en-US" sz="2100" dirty="0"/>
          </a:p>
          <a:p>
            <a:r>
              <a:rPr lang="en-US" sz="2100" dirty="0">
                <a:solidFill>
                  <a:srgbClr val="17364A"/>
                </a:solidFill>
                <a:latin typeface="Aptos" pitchFamily="34" charset="0"/>
                <a:ea typeface="Aptos" pitchFamily="34" charset="-122"/>
                <a:cs typeface="Aptos" pitchFamily="34" charset="-120"/>
              </a:rPr>
              <a:t>They should also identify required terminology systems, such as LOINC, SNOMED CT, CVX, ICD-10-CM, UCUM,.</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review starts by identifying the sending system, receiving system, exchange standard,.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Vague standards claims.</a:t>
            </a:r>
            <a:endParaRPr lang="en-US" sz="2100" dirty="0"/>
          </a:p>
          <a:p>
            <a:r>
              <a:rPr lang="en-US" sz="2100" dirty="0">
                <a:solidFill>
                  <a:srgbClr val="17364A"/>
                </a:solidFill>
                <a:latin typeface="Aptos" pitchFamily="34" charset="0"/>
                <a:ea typeface="Aptos" pitchFamily="34" charset="-122"/>
                <a:cs typeface="Aptos" pitchFamily="34" charset="-120"/>
              </a:rPr>
              <a:t>Vendors may claim standards support without demonstrating required profiles, data elements, or workflows.</a:t>
            </a:r>
            <a:endParaRPr lang="en-US" sz="2100" dirty="0"/>
          </a:p>
          <a:p>
            <a:r>
              <a:rPr lang="en-US" sz="2100" dirty="0">
                <a:solidFill>
                  <a:srgbClr val="17364A"/>
                </a:solidFill>
                <a:latin typeface="Aptos" pitchFamily="34" charset="0"/>
                <a:ea typeface="Aptos" pitchFamily="34" charset="-122"/>
                <a:cs typeface="Aptos" pitchFamily="34" charset="-120"/>
              </a:rPr>
              <a:t>Guardrails include conformance testing, test messages, implementation guide references, and acceptance.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Vague standards claims.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Over-reliance on structured data.</a:t>
            </a:r>
            <a:endParaRPr lang="en-US" sz="2100" dirty="0"/>
          </a:p>
          <a:p>
            <a:r>
              <a:rPr lang="en-US" sz="2100" dirty="0">
                <a:solidFill>
                  <a:srgbClr val="17364A"/>
                </a:solidFill>
                <a:latin typeface="Aptos" pitchFamily="34" charset="0"/>
                <a:ea typeface="Aptos" pitchFamily="34" charset="-122"/>
                <a:cs typeface="Aptos" pitchFamily="34" charset="-120"/>
              </a:rPr>
              <a:t>Structured exchange may omit context found in notes or local fields.</a:t>
            </a:r>
            <a:endParaRPr lang="en-US" sz="2100" dirty="0"/>
          </a:p>
          <a:p>
            <a:r>
              <a:rPr lang="en-US" sz="2100" dirty="0">
                <a:solidFill>
                  <a:srgbClr val="17364A"/>
                </a:solidFill>
                <a:latin typeface="Aptos" pitchFamily="34" charset="0"/>
                <a:ea typeface="Aptos" pitchFamily="34" charset="-122"/>
                <a:cs typeface="Aptos" pitchFamily="34" charset="-120"/>
              </a:rPr>
              <a:t>Guardrails include source review, workflow validation, and documentation of known data gaps.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Over-reliance on structured data.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summarize structured and narrative data received through interoperable exchange, but.</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depend on standardized fields and terminology, so interoperability gaps can.</a:t>
            </a:r>
            <a:endParaRPr lang="en-US" sz="2100" dirty="0"/>
          </a:p>
          <a:p>
            <a:r>
              <a:rPr lang="en-US" sz="2100" dirty="0">
                <a:solidFill>
                  <a:srgbClr val="17364A"/>
                </a:solidFill>
                <a:latin typeface="Aptos" pitchFamily="34" charset="0"/>
                <a:ea typeface="Aptos" pitchFamily="34" charset="-122"/>
                <a:cs typeface="Aptos" pitchFamily="34" charset="-120"/>
              </a:rPr>
              <a:t>RAG tools may retrieve implementation guides or agency protocols, but document governance is needed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summarize structured and narrative data received through interoperable exchange, but.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standards are used in your agency’s major data exchange workflows?</a:t>
            </a:r>
            <a:endParaRPr lang="en-US" sz="2100" dirty="0"/>
          </a:p>
          <a:p>
            <a:r>
              <a:rPr lang="en-US" sz="2100" dirty="0">
                <a:solidFill>
                  <a:srgbClr val="17364A"/>
                </a:solidFill>
                <a:latin typeface="Aptos" pitchFamily="34" charset="0"/>
                <a:ea typeface="Aptos" pitchFamily="34" charset="-122"/>
                <a:cs typeface="Aptos" pitchFamily="34" charset="-120"/>
              </a:rPr>
              <a:t>Which workflows still depend on manual uploads or copy-paste processes?</a:t>
            </a:r>
            <a:endParaRPr lang="en-US" sz="2100" dirty="0"/>
          </a:p>
          <a:p>
            <a:r>
              <a:rPr lang="en-US" sz="2100" dirty="0">
                <a:solidFill>
                  <a:srgbClr val="17364A"/>
                </a:solidFill>
                <a:latin typeface="Aptos" pitchFamily="34" charset="0"/>
                <a:ea typeface="Aptos" pitchFamily="34" charset="-122"/>
                <a:cs typeface="Aptos" pitchFamily="34" charset="-120"/>
              </a:rPr>
              <a:t>What vendor claims would need to be tested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standards are used in your agency’s major data exchange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terminology standards are required for the workflow?</a:t>
            </a:r>
            <a:endParaRPr lang="en-US" sz="2100" dirty="0"/>
          </a:p>
          <a:p>
            <a:r>
              <a:rPr lang="en-US" sz="2100" dirty="0">
                <a:solidFill>
                  <a:srgbClr val="17364A"/>
                </a:solidFill>
                <a:latin typeface="Aptos" pitchFamily="34" charset="0"/>
                <a:ea typeface="Aptos" pitchFamily="34" charset="-122"/>
                <a:cs typeface="Aptos" pitchFamily="34" charset="-120"/>
              </a:rPr>
              <a:t>How would interoperability gaps affect AI outputs or equity?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terminology standards are required for the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interoperability review checklist for one proposed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the sending and receiving systems, exchange standard, required data elements, terminology.</a:t>
            </a:r>
            <a:endParaRPr lang="en-US" sz="2100" dirty="0"/>
          </a:p>
          <a:p>
            <a:r>
              <a:rPr lang="en-US" sz="2100" dirty="0">
                <a:solidFill>
                  <a:srgbClr val="17364A"/>
                </a:solidFill>
                <a:latin typeface="Aptos" pitchFamily="34" charset="0"/>
                <a:ea typeface="Aptos" pitchFamily="34" charset="-122"/>
                <a:cs typeface="Aptos" pitchFamily="34" charset="-120"/>
              </a:rPr>
              <a:t>Include at least one test scenario that would show whether the exchange supports the public health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interoperability review checklist for one proposed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checklist</a:t>
            </a:r>
            <a:endParaRPr lang="en-US" sz="2100" dirty="0"/>
          </a:p>
          <a:p>
            <a:r>
              <a:rPr lang="en-US" sz="2100" dirty="0">
                <a:solidFill>
                  <a:srgbClr val="17364A"/>
                </a:solidFill>
                <a:latin typeface="Aptos" pitchFamily="34" charset="0"/>
                <a:ea typeface="Aptos" pitchFamily="34" charset="-122"/>
                <a:cs typeface="Aptos" pitchFamily="34" charset="-120"/>
              </a:rPr>
              <a:t>Data exchange diagram</a:t>
            </a:r>
            <a:endParaRPr lang="en-US" sz="2100" dirty="0"/>
          </a:p>
          <a:p>
            <a:r>
              <a:rPr lang="en-US" sz="2100" dirty="0">
                <a:solidFill>
                  <a:srgbClr val="17364A"/>
                </a:solidFill>
                <a:latin typeface="Aptos" pitchFamily="34" charset="0"/>
                <a:ea typeface="Aptos" pitchFamily="34" charset="-122"/>
                <a:cs typeface="Aptos" pitchFamily="34" charset="-120"/>
              </a:rPr>
              <a:t>Vendor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Test scenario and acceptance criteria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Test scenario and acceptance criteria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checklist</a:t>
            </a:r>
            <a:endParaRPr lang="en-US" sz="2100" dirty="0"/>
          </a:p>
          <a:p>
            <a:r>
              <a:rPr lang="en-US" sz="2100" dirty="0">
                <a:solidFill>
                  <a:srgbClr val="17364A"/>
                </a:solidFill>
                <a:latin typeface="Aptos" pitchFamily="34" charset="0"/>
                <a:ea typeface="Aptos" pitchFamily="34" charset="-122"/>
                <a:cs typeface="Aptos" pitchFamily="34" charset="-120"/>
              </a:rPr>
              <a:t>Data exchange diagram</a:t>
            </a:r>
            <a:endParaRPr lang="en-US" sz="2100" dirty="0"/>
          </a:p>
          <a:p>
            <a:r>
              <a:rPr lang="en-US" sz="2100" dirty="0">
                <a:solidFill>
                  <a:srgbClr val="17364A"/>
                </a:solidFill>
                <a:latin typeface="Aptos" pitchFamily="34" charset="0"/>
                <a:ea typeface="Aptos" pitchFamily="34" charset="-122"/>
                <a:cs typeface="Aptos" pitchFamily="34" charset="-120"/>
              </a:rPr>
              <a:t>Vendor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does interoperability matter for AI-supported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2. What is FHIR commonly used for?</a:t>
            </a:r>
            <a:endParaRPr lang="en-US" sz="2100" dirty="0"/>
          </a:p>
          <a:p>
            <a:r>
              <a:rPr lang="en-US" sz="2100" dirty="0">
                <a:solidFill>
                  <a:srgbClr val="17364A"/>
                </a:solidFill>
                <a:latin typeface="Aptos" pitchFamily="34" charset="0"/>
                <a:ea typeface="Aptos" pitchFamily="34" charset="-122"/>
                <a:cs typeface="Aptos" pitchFamily="34" charset="-120"/>
              </a:rPr>
              <a:t>3. What is an implementation guide?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does interoperability matter for AI-supported public health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FHIR resources and implementation guides: https://hl7.org/fhir/</a:t>
            </a:r>
            <a:endParaRPr lang="en-US" sz="2100" dirty="0"/>
          </a:p>
          <a:p>
            <a:r>
              <a:rPr lang="en-US" sz="2100" dirty="0">
                <a:solidFill>
                  <a:srgbClr val="17364A"/>
                </a:solidFill>
                <a:latin typeface="Aptos" pitchFamily="34" charset="0"/>
                <a:ea typeface="Aptos" pitchFamily="34" charset="-122"/>
                <a:cs typeface="Aptos" pitchFamily="34" charset="-120"/>
              </a:rPr>
              <a:t>HL7 US Core Implementation Guide: https://build.fhir.org/ig/HL7/US-Core/</a:t>
            </a:r>
            <a:endParaRPr lang="en-US" sz="2100" dirty="0"/>
          </a:p>
          <a:p>
            <a:r>
              <a:rPr lang="en-US" sz="2100" dirty="0">
                <a:solidFill>
                  <a:srgbClr val="17364A"/>
                </a:solidFill>
                <a:latin typeface="Aptos" pitchFamily="34" charset="0"/>
                <a:ea typeface="Aptos" pitchFamily="34" charset="-122"/>
                <a:cs typeface="Aptos" pitchFamily="34" charset="-120"/>
              </a:rPr>
              <a:t>ONC USCDI resources: https://isp.healthit.gov/united-states-core-data-interoperability-uscdi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FHIR resources and implementation guides: https://hl7.org/fhir/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Interoperability: HL7 v2, CDA, FHIR, and APIs</dc:title>
  <dc:subject>Public Health Interoperability: HL7 v2, CDA, FHIR, and APIs learning module</dc:subject>
  <dc:creator>Paula Soper</dc:creator>
  <cp:lastModifiedBy>Paula Soper</cp:lastModifiedBy>
  <cp:revision>1</cp:revision>
  <dcterms:created xsi:type="dcterms:W3CDTF">2026-07-12T19:55:20Z</dcterms:created>
  <dcterms:modified xsi:type="dcterms:W3CDTF">2026-07-12T19:55:20Z</dcterms:modified>
</cp:coreProperties>
</file>