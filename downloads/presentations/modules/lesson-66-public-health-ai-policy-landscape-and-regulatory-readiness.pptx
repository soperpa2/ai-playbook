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 300 Public Health AI Policy Landscape and Regulatory Readiness
The public health AI policy landscape is evolving quickly across federal agencies, states, local governments, professional organizations, courts, standards bodies, and procurement offices. Public health agencies do not need to wait for every rule to be settled before acting responsibly, but they do need a process for monitoring policy changes and translating them into agency practice. Regulatory readiness means the agency can identify relevant requirements, update internal policies, and document compliance as AI uses change. This module teaches policy and governance staff how to track AI policy developments, interpret their relevance to public health, and maintain internal AI policies that are adaptable. It focuses on readiness rather than legal advice. Learners examine how privacy, civil rights, procurement, public records, cybersecurity, accessibility, data governance, and administrative law may intersect with AI-supported public health work. Policy readiness protects agencies from both inaction and unstructured adoption. It helps leaders make decisions while acknowledging uncertainty, documenting assumptions, and creating mechanisms to update policies as the external environment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Policy Role-Based Track
Appears in tracks: policy, governance-and-security, public-health-executive-leadership, program-management
The public health AI policy landscape is evolving quickly across federal agencies, states, local governments, professional organizations, courts, standards bodies, and procurement offices. Public health agencies do not need to wait for every rule to be settled before acting responsibly, but they do need a process for monitoring policy changes and translating them into agency practice. Regulatory readiness means the agency can identify relevant requirements, update internal policies, and document compliance as AI uses change. This module teaches policy and governance staff how to track AI policy developments, interpret their relevance to public health, and maintain internal AI policies that are adaptable. It focuses on readiness rather than legal advice. Learners examine how privacy, civil rights, procurement, public records, cybersecurity, accessibility, data governance, and administrative law may intersect with AI-supported public health work. Policy readiness protects agencies from both inaction and unstructured adoption. It helps leaders make decisions while acknowledging uncertainty, documenting assumptions, and creating mechanisms to update policies as the external environment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3: Establish AI Governance - This lesson informs Play 3 by helping learners connect the lesson topic to establish ai governance work in the AI Playbook sequence.
Play 12: Execute Governance and Oversight - This lesson informs Play 12 by helping learners connect the lesson topic to execute governance and oversight work in the AI Playbook.
Play 11: Build and Deploy AI Solutions - This lesson informs Play 11 by helping learners connect the lesson topic to build and deploy ai solutions work in the AI Playbook.
Play 8: Develop a Funding Strategy - This lesson informs Play 8 by helping learners connect the lesson topic to develop a funding strategy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16: Incident Response Checklist (Checklist) - Use this tool to complete or strengthen the practical exercise for the module using fictional, de-identified, or generalized.
Tool 17: Compliance Audit Checklist (Checklist) - Use this tool to complete or strengthen the practical exercise for the module using fictional, de-identified, or generalized.
Tool 18: Policy Update &amp; Version Control Log (Log) - Use this tool to complete or strengthen the practical exercise for the module using fictional, de-identified, or generalized.
Tool 19: Plain-Language AI Public Notice Template (Template) - Use this tool to complete or strengthen the practical exercise for the module using fictional, de-identified, or generalized.
Tool 32: Vendor Evaluation Checklist (Checklist) - Use this tool to complete or strengthen the practical exercise for the module using fictional, de-identified, or generalized.
Tool 34: STLT AI Procurement and Vendor Addendum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Identify categories of law, policy, standards, and guidance that may affect public health AI.
Explain why regulatory readiness requires monitoring, interpretation, documentation, and policy maintenance.
Distinguish between binding requirements, agency policy, professional guidance, standards, and best practices.
Create a policy scan process for AI-related developments.
Produce an AI regulatory readiness memo or policy update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The public health AI policy landscape is evolving quickly across federal agencies, states, local governments, professional organizations, courts, standards bodies, and procurement offices. Public health agencies do not need to wait for every rule to be settled before acting responsibly, but they do need a process for monitoring policy changes and translating them into agency practice. Regulatory readiness means the agency can identify relevant requirements, update internal policies, and document compliance as AI uses change.
This module teaches policy and governance staff how to track AI policy developments, interpret their relevance to public health, and maintain internal AI policies that are adaptable. It focuses on readiness rather than legal advice. Learners examine how privacy, civil rights, procurement, public records, cybersecurity, accessibility, data governance, and administrative law may intersect with AI-supported public health work.
Policy readiness protects agencies from both inaction and unstructured adoption. It helps leaders make decisions while acknowledging uncertainty, documenting assumptions, and creating mechanisms to update policies as the external environment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local health department is considering AI tools for translation, complaint triage, and case note summarization. A policy scan identifies privacy, public records, procurement, accessibility, cybersecurity, and civil rights considerations. The agency creates a readiness memo that distinguishes existing requirements from emerging guidance, recommends interim safeguards, and establishes a quarterly process to update AI policies as requirements evolve.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Policy readiness begins by identifying relevant domains rather than looking for a single AI law. Public health AI may be affected by health privacy rules, state confidentiality laws, public records requirements, procurement standards, accessibility laws, cybersecurity policies, civil rights obligations, data sharing agreements, records retention rules, and professional ethics. AI-specific policy should be layered onto this existing policy environment.
Agencies should distinguish between different levels of authority. A statute, regulation, contract clause, grant requirement, executive order, agency policy, professional guideline, and technical standard do not all carry the same legal weight. However, nonbinding guidance can still be important because it may reflect emerging expectations for responsible practice, risk management, transparency, documentation, or auditability.
A policy scan should be assigned to a responsible role or group. The scan should identify sources to monitor, frequency of review, criteria for relevance, and a process for escalating items that may affect agency policy or active AI use cases. The process should avoid overreacting to every news item while still ensuring that meaningful changes are not missed.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Regulatory readiness also requires change management. When policy requirements change, the agency may need to update SOPs, procurement language, risk tiers, training, documentation, vendor oversight, public transparency materials, or incident response procedures. A policy update is not complete until it has been translated into operational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Risks and failure modes include the following:
Assuming there is no policy risk because there is no single AI statute.
Treating nonbinding guidance as irrelevant even when it reflects expected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Failing to update internal policies after legal, procurement, privacy, or cybersecurity changes.
Allowing vendors to define compliance obligations without agency review.
Maintaining policies that are too vague to guide real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Recommended guardrails include the following:
Assign responsibility for AI policy scanning and interpretation.
Distinguish binding requirements from guidance and best practices.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Maintain a crosswalk from external requirements to internal policies and procedures.
Update training, SOPs, and procurement language when policies change.
Document assumptions, decisions, and unresolved legal or policy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your agency, program, or workflow?
Which staff roles would need to understand or apply this concept before AI use is approved?
What could go wrong if this topic is not addressed before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evidence would governance, leadership, or operations staff need before moving forward?
Which policy, data, equity, privacy, security, or workflow questions remain unresolved?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public health AI policy scan and regulatory readiness memo. Identify relevant policy domains, sources to monitor, current agency policy gaps, likely operational implications, recommended interim safeguards, and a process for ongoing updates.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policy scan plan
Regulatory readiness memo
Policy-domain crosswalk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Recommended policy updates
Ongoing monitoring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policy scan plan
Regulatory readiness memo
Policy-domain crosswalk
Recommended policy updates
Ongoing monitoring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does regulatory readiness mean in this module?
2. Which statement is most accurate?
3. What is a policy scan?
4. What should happen after a policy change affects AI use?
5. What is strong completion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https://www.nist.gov/itl/ai-risk-management-framework
NIST Generative AI Profile: https://www.nist.gov/publications/artificial-intelligence-risk-management-framework-generative-artificial-intelligence
CDC Public Health Data Strategy and Data Modernization resources: https://www.cdc.gov/public-health-data-strategy/php/about/index.html
OWASP guidance for LLM application security
Agency policies for privacy, cybersecurity, records, procurement, accessibility, and public communications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Relevant public health program SOPs, data governance documentation, and implementation plans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POL 300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Public Health AI Policy Landscape and Regulatory Readiness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What this module helps you do</a:t>
            </a:r>
            <a:endParaRPr lang="en-US" sz="2700" dirty="0"/>
          </a:p>
        </p:txBody>
      </p:sp>
      <p:sp>
        <p:nvSpPr>
          <p:cNvPr id="8" name="Text 6"/>
          <p:cNvSpPr/>
          <p:nvPr/>
        </p:nvSpPr>
        <p:spPr>
          <a:xfrm>
            <a:off x="868680" y="1417320"/>
            <a:ext cx="6675120" cy="3291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The public health AI policy landscape is evolving quickly across federal agencies, states, local governments, professional organizations, courts,.</a:t>
            </a:r>
            <a:endParaRPr lang="en-US" sz="1700" dirty="0"/>
          </a:p>
          <a:p>
            <a:r>
              <a:rPr lang="en-US" sz="1700" dirty="0">
                <a:solidFill>
                  <a:srgbClr val="17364A"/>
                </a:solidFill>
                <a:latin typeface="Aptos" pitchFamily="34" charset="0"/>
                <a:ea typeface="Aptos" pitchFamily="34" charset="-122"/>
                <a:cs typeface="Aptos" pitchFamily="34" charset="-120"/>
              </a:rPr>
              <a:t>Public health agencies do not need to wait for every rule to be settled before acting responsibly, but they do need a process for monitoring policy.</a:t>
            </a:r>
            <a:endParaRPr lang="en-US" sz="1700" dirty="0"/>
          </a:p>
          <a:p>
            <a:r>
              <a:rPr lang="en-US" sz="1700" dirty="0">
                <a:solidFill>
                  <a:srgbClr val="17364A"/>
                </a:solidFill>
                <a:latin typeface="Aptos" pitchFamily="34" charset="0"/>
                <a:ea typeface="Aptos" pitchFamily="34" charset="-122"/>
                <a:cs typeface="Aptos" pitchFamily="34" charset="-120"/>
              </a:rPr>
              <a:t>Regulatory readiness means the agency can identify relevant requirements, update internal policies, and document compliance as AI uses change.</a:t>
            </a:r>
            <a:endParaRPr lang="en-US" sz="1700" dirty="0"/>
          </a:p>
          <a:p>
            <a:r>
              <a:rPr lang="en-US" sz="1700" dirty="0">
                <a:solidFill>
                  <a:srgbClr val="17364A"/>
                </a:solidFill>
                <a:latin typeface="Aptos" pitchFamily="34" charset="0"/>
                <a:ea typeface="Aptos" pitchFamily="34" charset="-122"/>
                <a:cs typeface="Aptos" pitchFamily="34" charset="-120"/>
              </a:rPr>
              <a:t>This module teaches policy and governance staff how to track AI policy developments, interpret their relevance to public health, and maintain.</a:t>
            </a:r>
            <a:endParaRPr lang="en-US" sz="1700" dirty="0"/>
          </a:p>
        </p:txBody>
      </p:sp>
      <p:sp>
        <p:nvSpPr>
          <p:cNvPr id="9" name="Shape 7"/>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Module details</a:t>
            </a:r>
            <a:endParaRPr lang="en-US" sz="950" dirty="0"/>
          </a:p>
        </p:txBody>
      </p:sp>
      <p:sp>
        <p:nvSpPr>
          <p:cNvPr id="11" name="Text 9"/>
          <p:cNvSpPr/>
          <p:nvPr/>
        </p:nvSpPr>
        <p:spPr>
          <a:xfrm>
            <a:off x="8074152" y="1856232"/>
            <a:ext cx="2825496" cy="135331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Level: intermediate/practitioner</a:t>
            </a:r>
            <a:endParaRPr lang="en-US" sz="1250" dirty="0"/>
          </a:p>
          <a:p>
            <a:pPr indent="0" marL="0">
              <a:buNone/>
            </a:pPr>
            <a:r>
              <a:rPr lang="en-US" sz="1250" dirty="0">
                <a:solidFill>
                  <a:srgbClr val="17364A"/>
                </a:solidFill>
                <a:latin typeface="Aptos" pitchFamily="34" charset="0"/>
                <a:ea typeface="Aptos" pitchFamily="34" charset="-122"/>
                <a:cs typeface="Aptos" pitchFamily="34" charset="-120"/>
              </a:rPr>
              <a:t>Primary track: Policy Role-Based Track</a:t>
            </a:r>
            <a:endParaRPr lang="en-US" sz="1250" dirty="0"/>
          </a:p>
          <a:p>
            <a:pPr indent="0" marL="0">
              <a:buNone/>
            </a:pPr>
            <a:r>
              <a:rPr lang="en-US" sz="1250" dirty="0">
                <a:solidFill>
                  <a:srgbClr val="17364A"/>
                </a:solidFill>
                <a:latin typeface="Aptos" pitchFamily="34" charset="0"/>
                <a:ea typeface="Aptos" pitchFamily="34" charset="-122"/>
                <a:cs typeface="Aptos" pitchFamily="34" charset="-120"/>
              </a:rPr>
              <a:t>Appears in tracks: policy, governance-and-security, public-health-executive-leadership, program-management</a:t>
            </a:r>
            <a:endParaRPr lang="en-US" sz="1250" dirty="0"/>
          </a:p>
        </p:txBody>
      </p:sp>
      <p:sp>
        <p:nvSpPr>
          <p:cNvPr id="12" name="Shape 10"/>
          <p:cNvSpPr/>
          <p:nvPr/>
        </p:nvSpPr>
        <p:spPr>
          <a:xfrm>
            <a:off x="7909560" y="3611880"/>
            <a:ext cx="3154680" cy="1783080"/>
          </a:xfrm>
          <a:prstGeom prst="roundRect">
            <a:avLst>
              <a:gd name="adj" fmla="val 6154"/>
            </a:avLst>
          </a:prstGeom>
          <a:solidFill>
            <a:srgbClr val="EEF8ED"/>
          </a:solidFill>
          <a:ln w="12700">
            <a:solidFill>
              <a:srgbClr val="B9D7E6"/>
            </a:solidFill>
            <a:prstDash val="solid"/>
          </a:ln>
        </p:spPr>
      </p:sp>
      <p:sp>
        <p:nvSpPr>
          <p:cNvPr id="13" name="Text 11"/>
          <p:cNvSpPr/>
          <p:nvPr/>
        </p:nvSpPr>
        <p:spPr>
          <a:xfrm>
            <a:off x="8074152" y="375818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Learning approach</a:t>
            </a:r>
            <a:endParaRPr lang="en-US" sz="950" dirty="0"/>
          </a:p>
        </p:txBody>
      </p:sp>
      <p:sp>
        <p:nvSpPr>
          <p:cNvPr id="14" name="Text 12"/>
          <p:cNvSpPr/>
          <p:nvPr/>
        </p:nvSpPr>
        <p:spPr>
          <a:xfrm>
            <a:off x="8074152" y="4050792"/>
            <a:ext cx="2825496" cy="121615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Review the core ideas, complete the practical exercise, check your understanding, and use the related plays and tools to apply the lesson.</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2700" dirty="0"/>
          </a:p>
        </p:txBody>
      </p:sp>
      <p:sp>
        <p:nvSpPr>
          <p:cNvPr id="8" name="Text 6"/>
          <p:cNvSpPr/>
          <p:nvPr/>
        </p:nvSpPr>
        <p:spPr>
          <a:xfrm>
            <a:off x="868680" y="1417320"/>
            <a:ext cx="6903720" cy="4480560"/>
          </a:xfrm>
          <a:prstGeom prst="rect">
            <a:avLst/>
          </a:prstGeom>
          <a:noFill/>
          <a:ln/>
        </p:spPr>
        <p:txBody>
          <a:bodyPr wrap="square" lIns="635" tIns="635" rIns="635" bIns="635" rtlCol="0" anchor="t">
            <a:normAutofit/>
          </a:bodyPr>
          <a:lstStyle/>
          <a:p>
            <a:r>
              <a:rPr lang="en-US" sz="154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 establish ai governance.</a:t>
            </a:r>
            <a:endParaRPr lang="en-US" sz="1540" dirty="0"/>
          </a:p>
          <a:p>
            <a:r>
              <a:rPr lang="en-US" sz="1540" dirty="0">
                <a:solidFill>
                  <a:srgbClr val="17364A"/>
                </a:solidFill>
                <a:latin typeface="Aptos" pitchFamily="34" charset="0"/>
                <a:ea typeface="Aptos" pitchFamily="34" charset="-122"/>
                <a:cs typeface="Aptos" pitchFamily="34" charset="-120"/>
              </a:rPr>
              <a:t>Play 12: Execute Governance and Oversight - This lesson informs Play 12 by helping learners connect the lesson topic to execute.</a:t>
            </a:r>
            <a:endParaRPr lang="en-US" sz="1540" dirty="0"/>
          </a:p>
          <a:p>
            <a:r>
              <a:rPr lang="en-US" sz="154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 topic to build and deploy.</a:t>
            </a:r>
            <a:endParaRPr lang="en-US" sz="1540" dirty="0"/>
          </a:p>
          <a:p>
            <a:r>
              <a:rPr lang="en-US" sz="1540" dirty="0">
                <a:solidFill>
                  <a:srgbClr val="17364A"/>
                </a:solidFill>
                <a:latin typeface="Aptos" pitchFamily="34" charset="0"/>
                <a:ea typeface="Aptos" pitchFamily="34" charset="-122"/>
                <a:cs typeface="Aptos" pitchFamily="34" charset="-120"/>
              </a:rPr>
              <a:t>Play 8: Develop a Funding Strategy - This lesson informs Play 8 by helping learners connect the lesson topic to develop a funding.</a:t>
            </a:r>
            <a:endParaRPr lang="en-US" sz="1540" dirty="0"/>
          </a:p>
        </p:txBody>
      </p:sp>
      <p:sp>
        <p:nvSpPr>
          <p:cNvPr id="9" name="Shape 7"/>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0" name="Text 8"/>
          <p:cNvSpPr/>
          <p:nvPr/>
        </p:nvSpPr>
        <p:spPr>
          <a:xfrm>
            <a:off x="8211312" y="156362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Apply the lesson</a:t>
            </a:r>
            <a:endParaRPr lang="en-US" sz="950" dirty="0"/>
          </a:p>
        </p:txBody>
      </p:sp>
      <p:sp>
        <p:nvSpPr>
          <p:cNvPr id="11" name="Text 9"/>
          <p:cNvSpPr/>
          <p:nvPr/>
        </p:nvSpPr>
        <p:spPr>
          <a:xfrm>
            <a:off x="8211312" y="1856232"/>
            <a:ext cx="2734056" cy="153619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250" dirty="0"/>
          </a:p>
        </p:txBody>
      </p:sp>
      <p:sp>
        <p:nvSpPr>
          <p:cNvPr id="12" name="Shape 10"/>
          <p:cNvSpPr/>
          <p:nvPr/>
        </p:nvSpPr>
        <p:spPr>
          <a:xfrm>
            <a:off x="8046720" y="3794760"/>
            <a:ext cx="3063240" cy="1508760"/>
          </a:xfrm>
          <a:prstGeom prst="roundRect">
            <a:avLst>
              <a:gd name="adj" fmla="val 7273"/>
            </a:avLst>
          </a:prstGeom>
          <a:solidFill>
            <a:srgbClr val="FFF4D9"/>
          </a:solidFill>
          <a:ln w="12700">
            <a:solidFill>
              <a:srgbClr val="B9D7E6"/>
            </a:solidFill>
            <a:prstDash val="solid"/>
          </a:ln>
        </p:spPr>
      </p:sp>
      <p:sp>
        <p:nvSpPr>
          <p:cNvPr id="13" name="Text 11"/>
          <p:cNvSpPr/>
          <p:nvPr/>
        </p:nvSpPr>
        <p:spPr>
          <a:xfrm>
            <a:off x="8211312" y="394106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Keep in mind</a:t>
            </a:r>
            <a:endParaRPr lang="en-US" sz="950" dirty="0"/>
          </a:p>
        </p:txBody>
      </p:sp>
      <p:sp>
        <p:nvSpPr>
          <p:cNvPr id="14" name="Text 12"/>
          <p:cNvSpPr/>
          <p:nvPr/>
        </p:nvSpPr>
        <p:spPr>
          <a:xfrm>
            <a:off x="8211312" y="4233672"/>
            <a:ext cx="2734056" cy="9418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The playbook connection helps turn training into agency work, not just individual knowledge.</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Related toolkit resources</a:t>
            </a:r>
            <a:endParaRPr lang="en-US" sz="2700" dirty="0"/>
          </a:p>
        </p:txBody>
      </p:sp>
      <p:sp>
        <p:nvSpPr>
          <p:cNvPr id="8" name="Text 6"/>
          <p:cNvSpPr/>
          <p:nvPr/>
        </p:nvSpPr>
        <p:spPr>
          <a:xfrm>
            <a:off x="868680" y="1417320"/>
            <a:ext cx="6903720" cy="4480560"/>
          </a:xfrm>
          <a:prstGeom prst="rect">
            <a:avLst/>
          </a:prstGeom>
          <a:noFill/>
          <a:ln/>
        </p:spPr>
        <p:txBody>
          <a:bodyPr wrap="square" lIns="635" tIns="635" rIns="635" bIns="635" rtlCol="0" anchor="t">
            <a:normAutofit/>
          </a:bodyPr>
          <a:lstStyle/>
          <a:p>
            <a:r>
              <a:rPr lang="en-US" sz="1460" dirty="0">
                <a:solidFill>
                  <a:srgbClr val="17364A"/>
                </a:solidFill>
                <a:latin typeface="Aptos" pitchFamily="34" charset="0"/>
                <a:ea typeface="Aptos" pitchFamily="34" charset="-122"/>
                <a:cs typeface="Aptos" pitchFamily="34" charset="-120"/>
              </a:rPr>
              <a:t>Tool 16: Incident Response Checklist (Checklist) - Use this tool to complete or strengthen the practical exercise for the module.</a:t>
            </a:r>
            <a:endParaRPr lang="en-US" sz="1460" dirty="0"/>
          </a:p>
          <a:p>
            <a:r>
              <a:rPr lang="en-US" sz="1460" dirty="0">
                <a:solidFill>
                  <a:srgbClr val="17364A"/>
                </a:solidFill>
                <a:latin typeface="Aptos" pitchFamily="34" charset="0"/>
                <a:ea typeface="Aptos" pitchFamily="34" charset="-122"/>
                <a:cs typeface="Aptos" pitchFamily="34" charset="-120"/>
              </a:rPr>
              <a:t>Tool 17: Compliance Audit Checklist (Checklist) - Use this tool to complete or strengthen the practical exercise for the module using.</a:t>
            </a:r>
            <a:endParaRPr lang="en-US" sz="1460" dirty="0"/>
          </a:p>
          <a:p>
            <a:r>
              <a:rPr lang="en-US" sz="1460" dirty="0">
                <a:solidFill>
                  <a:srgbClr val="17364A"/>
                </a:solidFill>
                <a:latin typeface="Aptos" pitchFamily="34" charset="0"/>
                <a:ea typeface="Aptos" pitchFamily="34" charset="-122"/>
                <a:cs typeface="Aptos" pitchFamily="34" charset="-120"/>
              </a:rPr>
              <a:t>Tool 18: Policy Update &amp; Version Control Log (Log) - Use this tool to complete or strengthen the practical exercise for the module.</a:t>
            </a:r>
            <a:endParaRPr lang="en-US" sz="1460" dirty="0"/>
          </a:p>
          <a:p>
            <a:r>
              <a:rPr lang="en-US" sz="1460" dirty="0">
                <a:solidFill>
                  <a:srgbClr val="17364A"/>
                </a:solidFill>
                <a:latin typeface="Aptos" pitchFamily="34" charset="0"/>
                <a:ea typeface="Aptos" pitchFamily="34" charset="-122"/>
                <a:cs typeface="Aptos" pitchFamily="34" charset="-120"/>
              </a:rPr>
              <a:t>Tool 19: Plain-Language AI Public Notice Template (Template) - Use this tool to complete or strengthen the practical exercise for the.</a:t>
            </a:r>
            <a:endParaRPr lang="en-US" sz="1460" dirty="0"/>
          </a:p>
          <a:p>
            <a:r>
              <a:rPr lang="en-US" sz="1460" dirty="0">
                <a:solidFill>
                  <a:srgbClr val="17364A"/>
                </a:solidFill>
                <a:latin typeface="Aptos" pitchFamily="34" charset="0"/>
                <a:ea typeface="Aptos" pitchFamily="34" charset="-122"/>
                <a:cs typeface="Aptos" pitchFamily="34" charset="-120"/>
              </a:rPr>
              <a:t>Tool 32: Vendor Evaluation Checklist (Checklist) - Use this tool to complete or strengthen the practical exercise for the module.</a:t>
            </a:r>
            <a:endParaRPr lang="en-US" sz="1460" dirty="0"/>
          </a:p>
        </p:txBody>
      </p:sp>
      <p:sp>
        <p:nvSpPr>
          <p:cNvPr id="9" name="Shape 7"/>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0" name="Text 8"/>
          <p:cNvSpPr/>
          <p:nvPr/>
        </p:nvSpPr>
        <p:spPr>
          <a:xfrm>
            <a:off x="8211312" y="156362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the tools</a:t>
            </a:r>
            <a:endParaRPr lang="en-US" sz="950" dirty="0"/>
          </a:p>
        </p:txBody>
      </p:sp>
      <p:sp>
        <p:nvSpPr>
          <p:cNvPr id="11" name="Text 9"/>
          <p:cNvSpPr/>
          <p:nvPr/>
        </p:nvSpPr>
        <p:spPr>
          <a:xfrm>
            <a:off x="8211312" y="1856232"/>
            <a:ext cx="2734056" cy="153619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250" dirty="0"/>
          </a:p>
        </p:txBody>
      </p:sp>
      <p:sp>
        <p:nvSpPr>
          <p:cNvPr id="12" name="Shape 10"/>
          <p:cNvSpPr/>
          <p:nvPr/>
        </p:nvSpPr>
        <p:spPr>
          <a:xfrm>
            <a:off x="8046720" y="3794760"/>
            <a:ext cx="3063240" cy="1508760"/>
          </a:xfrm>
          <a:prstGeom prst="roundRect">
            <a:avLst>
              <a:gd name="adj" fmla="val 7273"/>
            </a:avLst>
          </a:prstGeom>
          <a:solidFill>
            <a:srgbClr val="EEF8ED"/>
          </a:solidFill>
          <a:ln w="12700">
            <a:solidFill>
              <a:srgbClr val="B9D7E6"/>
            </a:solidFill>
            <a:prstDash val="solid"/>
          </a:ln>
        </p:spPr>
      </p:sp>
      <p:sp>
        <p:nvSpPr>
          <p:cNvPr id="13" name="Text 11"/>
          <p:cNvSpPr/>
          <p:nvPr/>
        </p:nvSpPr>
        <p:spPr>
          <a:xfrm>
            <a:off x="8211312" y="394106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Avoid duplication</a:t>
            </a:r>
            <a:endParaRPr lang="en-US" sz="950" dirty="0"/>
          </a:p>
        </p:txBody>
      </p:sp>
      <p:sp>
        <p:nvSpPr>
          <p:cNvPr id="14" name="Text 12"/>
          <p:cNvSpPr/>
          <p:nvPr/>
        </p:nvSpPr>
        <p:spPr>
          <a:xfrm>
            <a:off x="8211312" y="4233672"/>
            <a:ext cx="2734056" cy="9418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If your department already has a strong equivalent tool, adapt or use the existing process instead of recreating it.</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Identify categories of law, policy, standards, and guidance that may affect public health AI.</a:t>
            </a:r>
            <a:endParaRPr lang="en-US" sz="1700" dirty="0"/>
          </a:p>
          <a:p>
            <a:r>
              <a:rPr lang="en-US" sz="1700" dirty="0">
                <a:solidFill>
                  <a:srgbClr val="17364A"/>
                </a:solidFill>
                <a:latin typeface="Aptos" pitchFamily="34" charset="0"/>
                <a:ea typeface="Aptos" pitchFamily="34" charset="-122"/>
                <a:cs typeface="Aptos" pitchFamily="34" charset="-120"/>
              </a:rPr>
              <a:t>Explain why regulatory readiness requires monitoring, interpretation, documentation, and policy maintenance.</a:t>
            </a:r>
            <a:endParaRPr lang="en-US" sz="1700" dirty="0"/>
          </a:p>
          <a:p>
            <a:r>
              <a:rPr lang="en-US" sz="1700" dirty="0">
                <a:solidFill>
                  <a:srgbClr val="17364A"/>
                </a:solidFill>
                <a:latin typeface="Aptos" pitchFamily="34" charset="0"/>
                <a:ea typeface="Aptos" pitchFamily="34" charset="-122"/>
                <a:cs typeface="Aptos" pitchFamily="34" charset="-120"/>
              </a:rPr>
              <a:t>Distinguish between binding requirements, agency policy, professional guidance, standards, and best practices.</a:t>
            </a:r>
            <a:endParaRPr lang="en-US" sz="1700" dirty="0"/>
          </a:p>
          <a:p>
            <a:r>
              <a:rPr lang="en-US" sz="1700" dirty="0">
                <a:solidFill>
                  <a:srgbClr val="17364A"/>
                </a:solidFill>
                <a:latin typeface="Aptos" pitchFamily="34" charset="0"/>
                <a:ea typeface="Aptos" pitchFamily="34" charset="-122"/>
                <a:cs typeface="Aptos" pitchFamily="34" charset="-120"/>
              </a:rPr>
              <a:t>Create a policy scan process for AI-related developments.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Identify categories of law, policy, standards, and guidance that may affect public health AI.</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Overview</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The public health AI policy landscape is evolving quickly across federal agencies, states, local governments, professional.</a:t>
            </a:r>
            <a:endParaRPr lang="en-US" sz="1700" dirty="0"/>
          </a:p>
          <a:p>
            <a:r>
              <a:rPr lang="en-US" sz="1700" dirty="0">
                <a:solidFill>
                  <a:srgbClr val="17364A"/>
                </a:solidFill>
                <a:latin typeface="Aptos" pitchFamily="34" charset="0"/>
                <a:ea typeface="Aptos" pitchFamily="34" charset="-122"/>
                <a:cs typeface="Aptos" pitchFamily="34" charset="-120"/>
              </a:rPr>
              <a:t>Public health agencies do not need to wait for every rule to be settled before acting responsibly, but they do need a.</a:t>
            </a:r>
            <a:endParaRPr lang="en-US" sz="1700" dirty="0"/>
          </a:p>
          <a:p>
            <a:r>
              <a:rPr lang="en-US" sz="1700" dirty="0">
                <a:solidFill>
                  <a:srgbClr val="17364A"/>
                </a:solidFill>
                <a:latin typeface="Aptos" pitchFamily="34" charset="0"/>
                <a:ea typeface="Aptos" pitchFamily="34" charset="-122"/>
                <a:cs typeface="Aptos" pitchFamily="34" charset="-120"/>
              </a:rPr>
              <a:t>Regulatory readiness means the agency can identify relevant requirements, update internal policies, and document compliance.</a:t>
            </a:r>
            <a:endParaRPr lang="en-US" sz="1700" dirty="0"/>
          </a:p>
          <a:p>
            <a:r>
              <a:rPr lang="en-US" sz="1700" dirty="0">
                <a:solidFill>
                  <a:srgbClr val="17364A"/>
                </a:solidFill>
                <a:latin typeface="Aptos" pitchFamily="34" charset="0"/>
                <a:ea typeface="Aptos" pitchFamily="34" charset="-122"/>
                <a:cs typeface="Aptos" pitchFamily="34" charset="-120"/>
              </a:rPr>
              <a:t>This module teaches policy and governance staff how to track AI policy developments, interpret their relevance to public.</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The public health AI policy landscape is evolving quickly across federal agencies, states, local governments, professional.</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Jurisdiction and Agency Policy Note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700" dirty="0"/>
          </a:p>
          <a:p>
            <a:r>
              <a:rPr lang="en-US" sz="1700" dirty="0">
                <a:solidFill>
                  <a:srgbClr val="17364A"/>
                </a:solidFill>
                <a:latin typeface="Aptos" pitchFamily="34" charset="0"/>
                <a:ea typeface="Aptos" pitchFamily="34" charset="-122"/>
                <a:cs typeface="Aptos" pitchFamily="34" charset="-120"/>
              </a:rPr>
              <a:t>It is not legal advice and does not replace review by agency legal counsel, privacy officers, procurement officials, civil.</a:t>
            </a:r>
            <a:endParaRPr lang="en-US" sz="1700" dirty="0"/>
          </a:p>
          <a:p>
            <a:r>
              <a:rPr lang="en-US" sz="1700" dirty="0">
                <a:solidFill>
                  <a:srgbClr val="17364A"/>
                </a:solidFill>
                <a:latin typeface="Aptos" pitchFamily="34" charset="0"/>
                <a:ea typeface="Aptos" pitchFamily="34" charset="-122"/>
                <a:cs typeface="Aptos" pitchFamily="34" charset="-120"/>
              </a:rPr>
              <a:t>Requirements may vary by state, locality, territory, Tribe, agency, funding source, data-sharing agreement, emergency.</a:t>
            </a:r>
            <a:endParaRPr lang="en-US" sz="1700" dirty="0"/>
          </a:p>
          <a:p>
            <a:r>
              <a:rPr lang="en-US" sz="1700" dirty="0">
                <a:solidFill>
                  <a:srgbClr val="17364A"/>
                </a:solidFill>
                <a:latin typeface="Aptos" pitchFamily="34" charset="0"/>
                <a:ea typeface="Aptos" pitchFamily="34" charset="-122"/>
                <a:cs typeface="Aptos" pitchFamily="34" charset="-120"/>
              </a:rPr>
              <a:t>Learners should use this module to identify the issues that require review and should confirm applicable requirements.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Public Health Example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 local health department is considering AI tools for translation, complaint triage, and case note summarization.</a:t>
            </a:r>
            <a:endParaRPr lang="en-US" sz="1700" dirty="0"/>
          </a:p>
          <a:p>
            <a:r>
              <a:rPr lang="en-US" sz="1700" dirty="0">
                <a:solidFill>
                  <a:srgbClr val="17364A"/>
                </a:solidFill>
                <a:latin typeface="Aptos" pitchFamily="34" charset="0"/>
                <a:ea typeface="Aptos" pitchFamily="34" charset="-122"/>
                <a:cs typeface="Aptos" pitchFamily="34" charset="-120"/>
              </a:rPr>
              <a:t>A policy scan identifies privacy, public records, procurement, accessibility, cybersecurity, and civil rights considerations.</a:t>
            </a:r>
            <a:endParaRPr lang="en-US" sz="1700" dirty="0"/>
          </a:p>
          <a:p>
            <a:r>
              <a:rPr lang="en-US" sz="1700" dirty="0">
                <a:solidFill>
                  <a:srgbClr val="17364A"/>
                </a:solidFill>
                <a:latin typeface="Aptos" pitchFamily="34" charset="0"/>
                <a:ea typeface="Aptos" pitchFamily="34" charset="-122"/>
                <a:cs typeface="Aptos" pitchFamily="34" charset="-120"/>
              </a:rPr>
              <a:t>The agency creates a readiness memo that distinguishes existing requirements from emerging guidance, recommends interim.</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 local health department is considering AI tools for translation, complaint triage, and case note summarization.</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Topic Deep Dive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Policy readiness begins by identifying relevant domains rather than looking for a single AI law.</a:t>
            </a:r>
            <a:endParaRPr lang="en-US" sz="1700" dirty="0"/>
          </a:p>
          <a:p>
            <a:r>
              <a:rPr lang="en-US" sz="1700" dirty="0">
                <a:solidFill>
                  <a:srgbClr val="17364A"/>
                </a:solidFill>
                <a:latin typeface="Aptos" pitchFamily="34" charset="0"/>
                <a:ea typeface="Aptos" pitchFamily="34" charset="-122"/>
                <a:cs typeface="Aptos" pitchFamily="34" charset="-120"/>
              </a:rPr>
              <a:t>Public health AI may be affected by health privacy rules, state confidentiality laws, public records requirements,.</a:t>
            </a:r>
            <a:endParaRPr lang="en-US" sz="1700" dirty="0"/>
          </a:p>
          <a:p>
            <a:r>
              <a:rPr lang="en-US" sz="1700" dirty="0">
                <a:solidFill>
                  <a:srgbClr val="17364A"/>
                </a:solidFill>
                <a:latin typeface="Aptos" pitchFamily="34" charset="0"/>
                <a:ea typeface="Aptos" pitchFamily="34" charset="-122"/>
                <a:cs typeface="Aptos" pitchFamily="34" charset="-120"/>
              </a:rPr>
              <a:t>AI-specific policy should be layered onto this existing policy environment.</a:t>
            </a:r>
            <a:endParaRPr lang="en-US" sz="1700" dirty="0"/>
          </a:p>
          <a:p>
            <a:r>
              <a:rPr lang="en-US" sz="1700" dirty="0">
                <a:solidFill>
                  <a:srgbClr val="17364A"/>
                </a:solidFill>
                <a:latin typeface="Aptos" pitchFamily="34" charset="0"/>
                <a:ea typeface="Aptos" pitchFamily="34" charset="-122"/>
                <a:cs typeface="Aptos" pitchFamily="34" charset="-120"/>
              </a:rPr>
              <a:t>Agencies should distinguish between different levels of authority.</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Policy readiness begins by identifying relevant domains rather than looking for a single AI law.</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Topic Deep Dive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Regulatory readiness also requires change management.</a:t>
            </a:r>
            <a:endParaRPr lang="en-US" sz="1700" dirty="0"/>
          </a:p>
          <a:p>
            <a:r>
              <a:rPr lang="en-US" sz="1700" dirty="0">
                <a:solidFill>
                  <a:srgbClr val="17364A"/>
                </a:solidFill>
                <a:latin typeface="Aptos" pitchFamily="34" charset="0"/>
                <a:ea typeface="Aptos" pitchFamily="34" charset="-122"/>
                <a:cs typeface="Aptos" pitchFamily="34" charset="-120"/>
              </a:rPr>
              <a:t>When policy requirements change, the agency may need to update SOPs, procurement language, risk tiers, training,.</a:t>
            </a:r>
            <a:endParaRPr lang="en-US" sz="1700" dirty="0"/>
          </a:p>
          <a:p>
            <a:r>
              <a:rPr lang="en-US" sz="1700" dirty="0">
                <a:solidFill>
                  <a:srgbClr val="17364A"/>
                </a:solidFill>
                <a:latin typeface="Aptos" pitchFamily="34" charset="0"/>
                <a:ea typeface="Aptos" pitchFamily="34" charset="-122"/>
                <a:cs typeface="Aptos" pitchFamily="34" charset="-120"/>
              </a:rPr>
              <a:t>A policy update is not complete until it has been translated into operational practice.</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Regulatory readiness also requires change management.</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Risks and failure modes include the following:</a:t>
            </a:r>
            <a:endParaRPr lang="en-US" sz="1700" dirty="0"/>
          </a:p>
          <a:p>
            <a:r>
              <a:rPr lang="en-US" sz="1700" dirty="0">
                <a:solidFill>
                  <a:srgbClr val="17364A"/>
                </a:solidFill>
                <a:latin typeface="Aptos" pitchFamily="34" charset="0"/>
                <a:ea typeface="Aptos" pitchFamily="34" charset="-122"/>
                <a:cs typeface="Aptos" pitchFamily="34" charset="-120"/>
              </a:rPr>
              <a:t>Assuming there is no policy risk because there is no single AI statute.</a:t>
            </a:r>
            <a:endParaRPr lang="en-US" sz="1700" dirty="0"/>
          </a:p>
          <a:p>
            <a:r>
              <a:rPr lang="en-US" sz="1700" dirty="0">
                <a:solidFill>
                  <a:srgbClr val="17364A"/>
                </a:solidFill>
                <a:latin typeface="Aptos" pitchFamily="34" charset="0"/>
                <a:ea typeface="Aptos" pitchFamily="34" charset="-122"/>
                <a:cs typeface="Aptos" pitchFamily="34" charset="-120"/>
              </a:rPr>
              <a:t>Treating nonbinding guidance as irrelevant even when it reflects expected practice.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Risks and failure modes include the following:</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Failing to update internal policies after legal, procurement, privacy, or cybersecurity changes.</a:t>
            </a:r>
            <a:endParaRPr lang="en-US" sz="1700" dirty="0"/>
          </a:p>
          <a:p>
            <a:r>
              <a:rPr lang="en-US" sz="1700" dirty="0">
                <a:solidFill>
                  <a:srgbClr val="17364A"/>
                </a:solidFill>
                <a:latin typeface="Aptos" pitchFamily="34" charset="0"/>
                <a:ea typeface="Aptos" pitchFamily="34" charset="-122"/>
                <a:cs typeface="Aptos" pitchFamily="34" charset="-120"/>
              </a:rPr>
              <a:t>Allowing vendors to define compliance obligations without agency review.</a:t>
            </a:r>
            <a:endParaRPr lang="en-US" sz="1700" dirty="0"/>
          </a:p>
          <a:p>
            <a:r>
              <a:rPr lang="en-US" sz="1700" dirty="0">
                <a:solidFill>
                  <a:srgbClr val="17364A"/>
                </a:solidFill>
                <a:latin typeface="Aptos" pitchFamily="34" charset="0"/>
                <a:ea typeface="Aptos" pitchFamily="34" charset="-122"/>
                <a:cs typeface="Aptos" pitchFamily="34" charset="-120"/>
              </a:rPr>
              <a:t>Maintaining policies that are too vague to guide real decisions.</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Failing to update internal policies after legal, procurement, privacy, or cybersecurity changes.</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Recommended guardrails include the following:</a:t>
            </a:r>
            <a:endParaRPr lang="en-US" sz="1700" dirty="0"/>
          </a:p>
          <a:p>
            <a:r>
              <a:rPr lang="en-US" sz="1700" dirty="0">
                <a:solidFill>
                  <a:srgbClr val="17364A"/>
                </a:solidFill>
                <a:latin typeface="Aptos" pitchFamily="34" charset="0"/>
                <a:ea typeface="Aptos" pitchFamily="34" charset="-122"/>
                <a:cs typeface="Aptos" pitchFamily="34" charset="-120"/>
              </a:rPr>
              <a:t>Assign responsibility for AI policy scanning and interpretation.</a:t>
            </a:r>
            <a:endParaRPr lang="en-US" sz="1700" dirty="0"/>
          </a:p>
          <a:p>
            <a:r>
              <a:rPr lang="en-US" sz="1700" dirty="0">
                <a:solidFill>
                  <a:srgbClr val="17364A"/>
                </a:solidFill>
                <a:latin typeface="Aptos" pitchFamily="34" charset="0"/>
                <a:ea typeface="Aptos" pitchFamily="34" charset="-122"/>
                <a:cs typeface="Aptos" pitchFamily="34" charset="-120"/>
              </a:rPr>
              <a:t>Distinguish binding requirements from guidance and best practices.</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Recommended guardrails include the following:</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Maintain a crosswalk from external requirements to internal policies and procedures.</a:t>
            </a:r>
            <a:endParaRPr lang="en-US" sz="1700" dirty="0"/>
          </a:p>
          <a:p>
            <a:r>
              <a:rPr lang="en-US" sz="1700" dirty="0">
                <a:solidFill>
                  <a:srgbClr val="17364A"/>
                </a:solidFill>
                <a:latin typeface="Aptos" pitchFamily="34" charset="0"/>
                <a:ea typeface="Aptos" pitchFamily="34" charset="-122"/>
                <a:cs typeface="Aptos" pitchFamily="34" charset="-120"/>
              </a:rPr>
              <a:t>Update training, SOPs, and procurement language when policies change.</a:t>
            </a:r>
            <a:endParaRPr lang="en-US" sz="1700" dirty="0"/>
          </a:p>
          <a:p>
            <a:r>
              <a:rPr lang="en-US" sz="1700" dirty="0">
                <a:solidFill>
                  <a:srgbClr val="17364A"/>
                </a:solidFill>
                <a:latin typeface="Aptos" pitchFamily="34" charset="0"/>
                <a:ea typeface="Aptos" pitchFamily="34" charset="-122"/>
                <a:cs typeface="Aptos" pitchFamily="34" charset="-120"/>
              </a:rPr>
              <a:t>Document assumptions, decisions, and unresolved legal or policy questions.</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Maintain a crosswalk from external requirements to internal policies and procedures.</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700" dirty="0"/>
          </a:p>
          <a:p>
            <a:r>
              <a:rPr lang="en-US" sz="1700" dirty="0">
                <a:solidFill>
                  <a:srgbClr val="17364A"/>
                </a:solidFill>
                <a:latin typeface="Aptos" pitchFamily="34" charset="0"/>
                <a:ea typeface="Aptos" pitchFamily="34" charset="-122"/>
                <a:cs typeface="Aptos" pitchFamily="34" charset="-120"/>
              </a:rPr>
              <a:t>Which staff roles would need to understand or apply this concept before AI use is approved?</a:t>
            </a:r>
            <a:endParaRPr lang="en-US" sz="1700" dirty="0"/>
          </a:p>
          <a:p>
            <a:r>
              <a:rPr lang="en-US" sz="1700" dirty="0">
                <a:solidFill>
                  <a:srgbClr val="17364A"/>
                </a:solidFill>
                <a:latin typeface="Aptos" pitchFamily="34" charset="0"/>
                <a:ea typeface="Aptos" pitchFamily="34" charset="-122"/>
                <a:cs typeface="Aptos" pitchFamily="34" charset="-120"/>
              </a:rPr>
              <a:t>What could go wrong if this topic is not addressed before implementation?</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What evidence would governance, leadership, or operations staff need before moving forward?</a:t>
            </a:r>
            <a:endParaRPr lang="en-US" sz="1700" dirty="0"/>
          </a:p>
          <a:p>
            <a:r>
              <a:rPr lang="en-US" sz="1700" dirty="0">
                <a:solidFill>
                  <a:srgbClr val="17364A"/>
                </a:solidFill>
                <a:latin typeface="Aptos" pitchFamily="34" charset="0"/>
                <a:ea typeface="Aptos" pitchFamily="34" charset="-122"/>
                <a:cs typeface="Aptos" pitchFamily="34" charset="-120"/>
              </a:rPr>
              <a:t>Which policy, data, equity, privacy, security, or workflow questions remain unresolved?</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What evidence would governance, leadership, or operations staff need before moving forward?</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Practical Exercise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Create a public health AI policy scan and regulatory readiness memo.</a:t>
            </a:r>
            <a:endParaRPr lang="en-US" sz="1700" dirty="0"/>
          </a:p>
          <a:p>
            <a:r>
              <a:rPr lang="en-US" sz="1700" dirty="0">
                <a:solidFill>
                  <a:srgbClr val="17364A"/>
                </a:solidFill>
                <a:latin typeface="Aptos" pitchFamily="34" charset="0"/>
                <a:ea typeface="Aptos" pitchFamily="34" charset="-122"/>
                <a:cs typeface="Aptos" pitchFamily="34" charset="-120"/>
              </a:rPr>
              <a:t>Identify relevant policy domains, sources to monitor, current agency policy gaps, likely operational implications,.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Create a public health AI policy scan and regulatory readiness memo.</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AI policy scan plan</a:t>
            </a:r>
            <a:endParaRPr lang="en-US" sz="1700" dirty="0"/>
          </a:p>
          <a:p>
            <a:r>
              <a:rPr lang="en-US" sz="1700" dirty="0">
                <a:solidFill>
                  <a:srgbClr val="17364A"/>
                </a:solidFill>
                <a:latin typeface="Aptos" pitchFamily="34" charset="0"/>
                <a:ea typeface="Aptos" pitchFamily="34" charset="-122"/>
                <a:cs typeface="Aptos" pitchFamily="34" charset="-120"/>
              </a:rPr>
              <a:t>Regulatory readiness memo</a:t>
            </a:r>
            <a:endParaRPr lang="en-US" sz="1700" dirty="0"/>
          </a:p>
          <a:p>
            <a:r>
              <a:rPr lang="en-US" sz="1700" dirty="0">
                <a:solidFill>
                  <a:srgbClr val="17364A"/>
                </a:solidFill>
                <a:latin typeface="Aptos" pitchFamily="34" charset="0"/>
                <a:ea typeface="Aptos" pitchFamily="34" charset="-122"/>
                <a:cs typeface="Aptos" pitchFamily="34" charset="-120"/>
              </a:rPr>
              <a:t>Policy-domain crosswalk</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AI policy scan plan</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Recommended policy updates</a:t>
            </a:r>
            <a:endParaRPr lang="en-US" sz="1700" dirty="0"/>
          </a:p>
          <a:p>
            <a:r>
              <a:rPr lang="en-US" sz="1700" dirty="0">
                <a:solidFill>
                  <a:srgbClr val="17364A"/>
                </a:solidFill>
                <a:latin typeface="Aptos" pitchFamily="34" charset="0"/>
                <a:ea typeface="Aptos" pitchFamily="34" charset="-122"/>
                <a:cs typeface="Aptos" pitchFamily="34" charset="-120"/>
              </a:rPr>
              <a:t>Ongoing monitoring process</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Recommended policy updates</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Assignment</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AI policy scan plan</a:t>
            </a:r>
            <a:endParaRPr lang="en-US" sz="1700" dirty="0"/>
          </a:p>
          <a:p>
            <a:r>
              <a:rPr lang="en-US" sz="1700" dirty="0">
                <a:solidFill>
                  <a:srgbClr val="17364A"/>
                </a:solidFill>
                <a:latin typeface="Aptos" pitchFamily="34" charset="0"/>
                <a:ea typeface="Aptos" pitchFamily="34" charset="-122"/>
                <a:cs typeface="Aptos" pitchFamily="34" charset="-120"/>
              </a:rPr>
              <a:t>Regulatory readiness memo</a:t>
            </a:r>
            <a:endParaRPr lang="en-US" sz="1700" dirty="0"/>
          </a:p>
          <a:p>
            <a:r>
              <a:rPr lang="en-US" sz="1700" dirty="0">
                <a:solidFill>
                  <a:srgbClr val="17364A"/>
                </a:solidFill>
                <a:latin typeface="Aptos" pitchFamily="34" charset="0"/>
                <a:ea typeface="Aptos" pitchFamily="34" charset="-122"/>
                <a:cs typeface="Aptos" pitchFamily="34" charset="-120"/>
              </a:rPr>
              <a:t>Policy-domain crosswalk</a:t>
            </a:r>
            <a:endParaRPr lang="en-US" sz="1700" dirty="0"/>
          </a:p>
          <a:p>
            <a:r>
              <a:rPr lang="en-US" sz="1700" dirty="0">
                <a:solidFill>
                  <a:srgbClr val="17364A"/>
                </a:solidFill>
                <a:latin typeface="Aptos" pitchFamily="34" charset="0"/>
                <a:ea typeface="Aptos" pitchFamily="34" charset="-122"/>
                <a:cs typeface="Aptos" pitchFamily="34" charset="-120"/>
              </a:rPr>
              <a:t>Recommended policy updates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AI policy scan plan</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Knowledge Check</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1. What does regulatory readiness mean in this module?</a:t>
            </a:r>
            <a:endParaRPr lang="en-US" sz="1700" dirty="0"/>
          </a:p>
          <a:p>
            <a:r>
              <a:rPr lang="en-US" sz="1700" dirty="0">
                <a:solidFill>
                  <a:srgbClr val="17364A"/>
                </a:solidFill>
                <a:latin typeface="Aptos" pitchFamily="34" charset="0"/>
                <a:ea typeface="Aptos" pitchFamily="34" charset="-122"/>
                <a:cs typeface="Aptos" pitchFamily="34" charset="-120"/>
              </a:rPr>
              <a:t>2. Which statement is most accurate?</a:t>
            </a:r>
            <a:endParaRPr lang="en-US" sz="1700" dirty="0"/>
          </a:p>
          <a:p>
            <a:r>
              <a:rPr lang="en-US" sz="1700" dirty="0">
                <a:solidFill>
                  <a:srgbClr val="17364A"/>
                </a:solidFill>
                <a:latin typeface="Aptos" pitchFamily="34" charset="0"/>
                <a:ea typeface="Aptos" pitchFamily="34" charset="-122"/>
                <a:cs typeface="Aptos" pitchFamily="34" charset="-120"/>
              </a:rPr>
              <a:t>3. What is a policy scan?</a:t>
            </a:r>
            <a:endParaRPr lang="en-US" sz="1700" dirty="0"/>
          </a:p>
          <a:p>
            <a:r>
              <a:rPr lang="en-US" sz="1700" dirty="0">
                <a:solidFill>
                  <a:srgbClr val="17364A"/>
                </a:solidFill>
                <a:latin typeface="Aptos" pitchFamily="34" charset="0"/>
                <a:ea typeface="Aptos" pitchFamily="34" charset="-122"/>
                <a:cs typeface="Aptos" pitchFamily="34" charset="-120"/>
              </a:rPr>
              <a:t>4. What should happen after a policy change affects AI use?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1. What does regulatory readiness mean in this module?</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NIST Artificial Intelligence Risk Management Framework: https://www.nist.gov/itl/ai-risk-management-framework</a:t>
            </a:r>
            <a:endParaRPr lang="en-US" sz="1700" dirty="0"/>
          </a:p>
          <a:p>
            <a:r>
              <a:rPr lang="en-US" sz="1700" dirty="0">
                <a:solidFill>
                  <a:srgbClr val="17364A"/>
                </a:solidFill>
                <a:latin typeface="Aptos" pitchFamily="34" charset="0"/>
                <a:ea typeface="Aptos" pitchFamily="34" charset="-122"/>
                <a:cs typeface="Aptos" pitchFamily="34" charset="-120"/>
              </a:rPr>
              <a:t>NIST Generative AI Profile:.</a:t>
            </a:r>
            <a:endParaRPr lang="en-US" sz="1700" dirty="0"/>
          </a:p>
          <a:p>
            <a:r>
              <a:rPr lang="en-US" sz="17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700" dirty="0"/>
          </a:p>
          <a:p>
            <a:r>
              <a:rPr lang="en-US" sz="1700" dirty="0">
                <a:solidFill>
                  <a:srgbClr val="17364A"/>
                </a:solidFill>
                <a:latin typeface="Aptos" pitchFamily="34" charset="0"/>
                <a:ea typeface="Aptos" pitchFamily="34" charset="-122"/>
                <a:cs typeface="Aptos" pitchFamily="34" charset="-120"/>
              </a:rPr>
              <a:t>OWASP guidance for LLM application security</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NIST Artificial Intelligence Risk Management Framework: https://www.nist.gov/itl/ai-risk-management-framework</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Relevant public health program SOPs, data governance documentation, and implementation plans</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Relevant public health program SOPs, data governance documentation, and implementation plans</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Public Health AI Policy Landscape and Regulatory Readiness</dc:title>
  <dc:subject>Public Health AI Policy Landscape and Regulatory Readiness learning module</dc:subject>
  <dc:creator>Paula Soper</dc:creator>
  <cp:lastModifiedBy>Paula Soper</cp:lastModifiedBy>
  <cp:revision>1</cp:revision>
  <dcterms:created xsi:type="dcterms:W3CDTF">2026-07-12T18:54:58Z</dcterms:created>
  <dcterms:modified xsi:type="dcterms:W3CDTF">2026-07-12T18:54:58Z</dcterms:modified>
</cp:coreProperties>
</file>