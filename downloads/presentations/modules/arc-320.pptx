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 320 Agentic Workflow Design and Orchestration
Agentic AI refers to AI systems configured to pursue a goal through multiple steps, often by using tools, calling APIs, retrieving information, creating tasks, or taking actions. In public health, agentic workflows may eventually support intake triage, document routing, surveillance review, resource referral, emergency operations, procurement review, or administrative automation. These uses require stronger controls than simple drafting or summarization. This module teaches learners how to design agentic workflows with clear boundaries. An AI agent should not be understood as an independent decision-maker. It is a software component operating within a governed workflow. Public health agencies must define the goal, permitted tools, data access, action limits, human approval points, logs, failure handling, and rollback procedures. Learners will create an agentic workflow control plan that identifies allowed actions, prohibited actions, oversight requirements, and incident triggers.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Technical Architecture Track
Appears in tracks: analytics-modeling
Agentic AI refers to AI systems configured to pursue a goal through multiple steps, often by using tools, calling APIs, retrieving information, creating tasks, or taking actions. In public health, agentic workflows may eventually support intake triage, document routing, surveillance review, resource referral, emergency operations, procurement review, or administrative automation. These uses require stronger controls than simple drafting or summarization. This module teaches learners how to design agentic workflows with clear boundaries. An AI agent should not be understood as an independent decision-maker. It is a software component operating within a governed workflow. Public health agencies must define the goal, permitted tools, data access, action limits, human approval points, logs, failure handling, and rollback procedures. Learners will create an agentic workflow control plan that identifies allowed actions, prohibited actions, oversight requirements, and incident triggers.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3: Establish AI Governance - This lesson informs Play 3 by helping learners connect the lesson topic to establish ai governance work in the AI Playbook sequence.
Play 12: Execute Governance and Oversight - This lesson informs Play 12 by helping learners connect the lesson topic to execute governance and oversight work in the AI Playbook.
Play 4: Engage Stakeholders - This lesson informs Play 4 by helping learners connect the lesson topic to engage stakeholders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16: Incident Response Checklist (Checklist) - Use Incident Response Checklist to translate this lesson into a documented public health AI planning, governance,.
Tool 17: Compliance Audit Checklist (Checklist) - Use Compliance Audit Checklist to translate this lesson into a documented public health AI planning, governance, implementation,.
Tool 18: Policy Update &amp; Version Control Log (Log) - Use this tool to complete or strengthen the practical exercise for the module using fictional, de-identified, or generalized.
Tool 19: Plain-Language AI Public Notice Template (Template) - Use Plain-Language AI Public Notice Template to translate this lesson into a documented public health AI planning, governance,.
Tool 32: Vendor Evaluation Checklist (Checklist) - Use this tool to complete or strengthen the practical exercise for the module using fictional, de-identified, or generalized.
Tool 34: STLT AI Procurement and Vendor Addendum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agentic AI and orchestration in public health terms.
Distinguish advisory outputs from tool-using or action-taking AI workflows.
Identify the components of an agentic workflow, including goals, tools, permissions, memory, planning, human approval, logs, and rollback.
Assess risks from excessive agency, unauthorized actions, error propagation, prompt injection, and unclear accountability.
Design human-in-the-loop and human-on-the-loop controls for public health workflows.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an agentic workflow control plan.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Agentic AI refers to AI systems configured to pursue a goal through multiple steps, often by using tools, calling APIs, retrieving information, creating tasks, or taking actions. In public health, agentic workflows may eventually support intake triage, document routing, surveillance review, resource referral, emergency operations, procurement review, or administrative automation. These uses require stronger controls than simple drafting or summarization.
This module teaches learners how to design agentic workflows with clear boundaries. An AI agent should not be understood as an independent decision-maker. It is a software component operating within a governed workflow. Public health agencies must define the goal, permitted tools, data access, action limits, human approval points, logs, failure handling, and rollback procedures.
Learners will create an agentic workflow control plan that identifies allowed actions, prohibited actions, oversight requirements, and incident triggers.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Agentic AI matters because it shifts AI from generating outputs to participating in workflows. A chatbot that drafts a message is one level of risk. An agent that sends the message, updates a case record, creates a task, or notifies a partner is a different level of risk. Action-taking systems require explicit governance because errors can propagate quickly.
Public health workflows often involve legal authority, sensitive data, vulnerable communities, and time-sensitive decisions. An agentic workflow could be valuable if it helps route records, gather relevant documents, prepare draft summaries, or create follow-up tasks. It could be harmful if it acts outside scope, updates records incorrectly, exposes information, or creates alerts without appropriate review.
Responsible agentic design begins with constraint. Agencies should define what the agent is allowed to know, allowed to do, required to ask, required to log, and prohibited from doing. The system should fail safely when it encounters uncertainty, missing data, conflicting guidance, or requests outside approved scope.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may consider an agentic workflow for incoming public health inquiries. The agent could classify the inquiry, retrieve relevant approved guidance, draft a response, create a ticket, and route the item to the appropriate program. For low-risk general information, the agent might prepare a draft for staff review. For sensitive complaints, reportable disease concerns, media inquiries, or legal issues, the agent should escalate rather than respond.
This design requires orchestration rules. The agent needs classification criteria, approved guidance sources, limits on data access, prohibited response categories, human approval before sending messages, audit logs, and procedures for correcting misrouted items. The value comes from workflow support, not from removing accountability.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Agentic workflow design begins with the goal. The goal should be narrow and operationally defined. “Help with surveillance” is too broad. “Draft a summary of new records and create a review task for a supervisor when defined criteria are met” is more suitable. Narrow goals make it easier to define tools, permissions, validation, and monitoring.
Tool access is a central design decision. An agent may be allowed to search documents, query a database, create a task, send a draft message, or update a record. Each tool should be reviewed for sensitivity, consequence, and reversibility. Read-only access is generally lower risk than write access. External communication and system-of-record updates usually require human approval.
Memory should be handled carefully. Some agents retain context across interactions or workflows. Persistent memory may improve continuity but can create privacy, accuracy, and records risks. Agencies should define what may be stored, for how long, who can access it, and how it can be corrected or deleted.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Human oversight should match risk. Human-in-the-loop approval is appropriate for actions that affect records, services, public communication, legal obligations, or partners. Human-on-the-loop monitoring may be appropriate for lower-risk background tasks if users can intervene quickly. Fully automated action should be limited to low-risk, well-tested, reversible tasks.
Agentic workflows require incident response planning. Agencies should define what counts as an agentic incident, such as unauthorized action, data exposure, repeated error, misrouting, unsafe recommendation, or failure to escalate. Logs should support reconstruction of prompts, retrieved sources, tool calls, actions, approvals, and outcomes.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Excessive agency. An agent may take actions beyond intended scope. Guardrails include narrow goals, allowed-action lists, prohibited actions, and approval gates.
Unauthorized system access. Tool access may expose sensitive data or functions. Guardrails include least privilege, scoped credentials, role-based access, and audit logs.
Error propagation. One wrong step may trigger downstream errors. Guardrails include checkpoints, validation, rollback, and staged deployment.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Unclear accountability. Staff may not know who is responsible for agent actions. Guardrails include role definitions, review records, and governance ownership.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Agentic workflows may combine RAG, APIs, prompts, classification models, workflow rules, and messaging systems. They are most appropriate when tasks are repetitive, bounded, reviewable, and supported by reliable data. They are least appropriate when the task requires complex judgment, legal interpretation, community sensitivity, or irreversible action without review.
Public health agencies should pilot agentic workflows in limited, low-risk settings before expanding. Monitoring should include tool calls, failed actions, overrides, user feedback, time saved, error types, and unintended consequences.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goal would the agent pursue, and how narrowly can it be defined?
Which tools or systems would the agent access?
Which actions are allowed, prohibited, or require human approval?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logs are needed to reconstruct agent behavior?
What rollback or correction process is needed if the agent makes an error?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agentic workflow control plan. Include the goal, trigger, data sources, tools, allowed actions, prohibited actions, approval points, memory rules, logs, monitoring indicators, rollback process, incident triggers, and responsible owner.
The plan should identify at least one low-risk pilot boundary and one condition that would require pausing the workflow.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Agentic workflow control plan
Allowed/prohibited action list
Human approval and escalation map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Tool-call logging requirements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Agentic workflow control plan
Allowed/prohibited action list
Human approval and escalation map
Tool-call logging requirements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makes agentic AI different from simple drafting support?
2. Which action usually requires stronger oversight?
3. What is orchestration?
4. What should happen when an agent encounters an out-of-scope request?
5. What is strong completion evidence for this module?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OWASP Top 10 for Large Language Model Applications: https://owasp.org/www-project-top-10-for-large-language-model-applications/
NIST AI RMF Generative AI Profile: https://www.nist.gov/publications/artificial-intelligence-risk-management-framework-generative-artificial-intelligence
NIST Artificial Intelligence Risk Management Framework: https://www.nist.gov/itl/ai-risk-management-framework
NIST Privacy Framework: https://www.nist.gov/privacy-framework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ARC 320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Agentic Workflow Design and Orchestration</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Agentic AI refers to AI systems configured to pursue a goal through multiple steps, often by.</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In public health, agentic workflows may eventually support intake triage, document routing,.</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These uses require stronger controls than simple drafting or summarization.</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892808"/>
            <a:ext cx="2825496" cy="135331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Level: intermediate/practitioner Primary track: Technical Architecture Track Appears in tracks: analytics-modeling</a:t>
            </a:r>
            <a:endParaRPr lang="en-US" sz="13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22192"/>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Learning sequence</a:t>
            </a:r>
            <a:endParaRPr lang="en-US" sz="1300" dirty="0"/>
          </a:p>
        </p:txBody>
      </p:sp>
      <p:sp>
        <p:nvSpPr>
          <p:cNvPr id="15" name="Text 13"/>
          <p:cNvSpPr/>
          <p:nvPr/>
        </p:nvSpPr>
        <p:spPr>
          <a:xfrm>
            <a:off x="8092440" y="4187952"/>
            <a:ext cx="2770632" cy="103327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Read the module for shared vocabulary and context.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Complete the practical exercise to apply the concept.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Use the notes and references for deeper review.</a:t>
            </a:r>
            <a:endParaRPr lang="en-US" sz="12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 helping learners.</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3: Establish AI Governance - This lesson informs Play 3 by helping learners connect the.</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12: Execute Governance and Oversight - This lesson informs Play 12 by helping learners.</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4: Engage Stakeholders - This lesson informs Play 4 by helping learners connect the.</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892808"/>
            <a:ext cx="2734056" cy="153619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3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play links to</a:t>
            </a:r>
            <a:endParaRPr lang="en-US" sz="1300" dirty="0"/>
          </a:p>
        </p:txBody>
      </p:sp>
      <p:sp>
        <p:nvSpPr>
          <p:cNvPr id="15" name="Text 13"/>
          <p:cNvSpPr/>
          <p:nvPr/>
        </p:nvSpPr>
        <p:spPr>
          <a:xfrm>
            <a:off x="8229600" y="4306824"/>
            <a:ext cx="2679192" cy="94183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Locate the decision point in the playbook sequence.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Identify who should participate in the work.</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Document the review, approval, or implementation step.</a:t>
            </a:r>
            <a:endParaRPr lang="en-US" sz="12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16: Incident Response Checklist (Checklist) - Use Incident Response Checklist to.</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17: Compliance Audit Checklist (Checklist) - Use Compliance Audit Checklist to translate.</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18: Policy Update &amp; Version Control Log (Log) - Use this tool to complete or strengthen.</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19: Plain-Language AI Public Notice Template (Template) - Use Plain-Language AI Public.</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892808"/>
            <a:ext cx="2734056" cy="153619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3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Tool selection cues</a:t>
            </a:r>
            <a:endParaRPr lang="en-US" sz="1300" dirty="0"/>
          </a:p>
        </p:txBody>
      </p:sp>
      <p:sp>
        <p:nvSpPr>
          <p:cNvPr id="15" name="Text 13"/>
          <p:cNvSpPr/>
          <p:nvPr/>
        </p:nvSpPr>
        <p:spPr>
          <a:xfrm>
            <a:off x="8229600" y="4306824"/>
            <a:ext cx="2679192" cy="94183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a tool when no comparable local process exists.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Adapt existing department templates when they already fit the.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Save the completed artifact as evidence of the decision.</a:t>
            </a:r>
            <a:endParaRPr lang="en-US" sz="12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Define agentic AI and orchestration in public health terms.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Distinguish advisory outputs from tool-using or action-taking AI workflows.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Identify the components of an agentic workflow, including goals, tools, permissions, memory,.</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Define agentic AI and orchestration in public health terms.</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the components of an agentic workflow, including goals,.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Assess risks from excessive agency, unauthorized actions, error.</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Design human-in-the-loop and human-on-the-loop controls for public.</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Produce an agentic workflow control plan.</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Produce an agentic workflow control plan.</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Produce an agentic workflow control plan.</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Agentic AI refers to AI systems configured to pursue a goal through multiple steps, often by.</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In public health, agentic workflows may eventually support intake triage, document routing,.</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These uses require stronger controls than simple drafting or summarization.</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Agentic AI refers to AI systems configured to pursue a goal through multiple steps, often by using.</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46527"/>
            <a:ext cx="3145536" cy="237744"/>
          </a:xfrm>
          <a:prstGeom prst="rect">
            <a:avLst/>
          </a:prstGeom>
          <a:noFill/>
          <a:ln/>
        </p:spPr>
        <p:txBody>
          <a:bodyPr wrap="square" lIns="0" tIns="0" rIns="0" bIns="0" rtlCol="0" anchor="ctr"/>
          <a:lstStyle/>
          <a:p>
            <a:pPr indent="0" marL="0">
              <a:buNone/>
            </a:pPr>
            <a:r>
              <a:rPr lang="en-US" sz="1250" b="1" dirty="0">
                <a:solidFill>
                  <a:srgbClr val="0068B7"/>
                </a:solidFill>
                <a:latin typeface="Aptos" pitchFamily="34" charset="0"/>
                <a:ea typeface="Aptos" pitchFamily="34" charset="-122"/>
                <a:cs typeface="Aptos" pitchFamily="34" charset="-120"/>
              </a:rPr>
              <a:t>Implementation path</a:t>
            </a:r>
            <a:endParaRPr lang="en-US" sz="1250" dirty="0"/>
          </a:p>
        </p:txBody>
      </p:sp>
      <p:sp>
        <p:nvSpPr>
          <p:cNvPr id="15" name="Shape 13"/>
          <p:cNvSpPr/>
          <p:nvPr/>
        </p:nvSpPr>
        <p:spPr>
          <a:xfrm>
            <a:off x="8763000" y="3399739"/>
            <a:ext cx="164592" cy="0"/>
          </a:xfrm>
          <a:prstGeom prst="line">
            <a:avLst/>
          </a:prstGeom>
          <a:noFill/>
          <a:ln w="15240">
            <a:solidFill>
              <a:srgbClr val="8ABBD8"/>
            </a:solidFill>
            <a:prstDash val="solid"/>
          </a:ln>
        </p:spPr>
      </p:sp>
      <p:sp>
        <p:nvSpPr>
          <p:cNvPr id="16" name="Shape 14"/>
          <p:cNvSpPr/>
          <p:nvPr/>
        </p:nvSpPr>
        <p:spPr>
          <a:xfrm>
            <a:off x="7872984" y="3248863"/>
            <a:ext cx="89001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909560"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399739"/>
            <a:ext cx="164592" cy="0"/>
          </a:xfrm>
          <a:prstGeom prst="line">
            <a:avLst/>
          </a:prstGeom>
          <a:noFill/>
          <a:ln w="15240">
            <a:solidFill>
              <a:srgbClr val="8ABBD8"/>
            </a:solidFill>
            <a:prstDash val="solid"/>
          </a:ln>
        </p:spPr>
      </p:sp>
      <p:sp>
        <p:nvSpPr>
          <p:cNvPr id="19" name="Shape 17"/>
          <p:cNvSpPr/>
          <p:nvPr/>
        </p:nvSpPr>
        <p:spPr>
          <a:xfrm>
            <a:off x="8927592" y="3248863"/>
            <a:ext cx="89001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64168"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48863"/>
            <a:ext cx="89001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854696" y="3742639"/>
            <a:ext cx="3035808" cy="158191"/>
          </a:xfrm>
          <a:prstGeom prst="rect">
            <a:avLst/>
          </a:prstGeom>
          <a:noFill/>
          <a:ln/>
        </p:spPr>
        <p:txBody>
          <a:bodyPr wrap="square" lIns="254" tIns="254" rIns="254" bIns="254" rtlCol="0" anchor="t">
            <a:normAutofit/>
          </a:bodyPr>
          <a:lstStyle/>
          <a:p>
            <a:pPr indent="0" marL="0">
              <a:buNone/>
            </a:pPr>
            <a:r>
              <a:rPr lang="en-US" sz="1120" dirty="0">
                <a:solidFill>
                  <a:srgbClr val="17364A"/>
                </a:solidFill>
                <a:latin typeface="Aptos" pitchFamily="34" charset="0"/>
                <a:ea typeface="Aptos" pitchFamily="34" charset="-122"/>
                <a:cs typeface="Aptos" pitchFamily="34" charset="-120"/>
              </a:rPr>
              <a:t>Implementation work should make dependencies, approvals, training, and sustainment visible before launch.</a:t>
            </a:r>
            <a:endParaRPr lang="en-US" sz="1120" dirty="0"/>
          </a:p>
        </p:txBody>
      </p:sp>
      <p:sp>
        <p:nvSpPr>
          <p:cNvPr id="24" name="Shape 22"/>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25" name="Text 23"/>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26" name="Text 24"/>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Agentic AI matters because it shifts AI from generating outputs to participating in workflows.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 chatbot that drafts a message is one level of risk.</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An agent that sends the message, updates a case record, creates a task, or notifies a partner.</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Agentic AI matters because it shifts AI from generating outputs to participating in.</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798064"/>
            <a:ext cx="3145536" cy="237744"/>
          </a:xfrm>
          <a:prstGeom prst="rect">
            <a:avLst/>
          </a:prstGeom>
          <a:noFill/>
          <a:ln/>
        </p:spPr>
        <p:txBody>
          <a:bodyPr wrap="square" lIns="0" tIns="0" rIns="0" bIns="0" rtlCol="0" anchor="ctr"/>
          <a:lstStyle/>
          <a:p>
            <a:pPr indent="0" marL="0">
              <a:buNone/>
            </a:pPr>
            <a:r>
              <a:rPr lang="en-US" sz="1250" b="1" dirty="0">
                <a:solidFill>
                  <a:srgbClr val="0068B7"/>
                </a:solidFill>
                <a:latin typeface="Aptos" pitchFamily="34" charset="0"/>
                <a:ea typeface="Aptos" pitchFamily="34" charset="-122"/>
                <a:cs typeface="Aptos" pitchFamily="34" charset="-120"/>
              </a:rPr>
              <a:t>Implementation path</a:t>
            </a:r>
            <a:endParaRPr lang="en-US" sz="1250" dirty="0"/>
          </a:p>
        </p:txBody>
      </p:sp>
      <p:sp>
        <p:nvSpPr>
          <p:cNvPr id="15" name="Shape 13"/>
          <p:cNvSpPr/>
          <p:nvPr/>
        </p:nvSpPr>
        <p:spPr>
          <a:xfrm>
            <a:off x="8763000" y="3351276"/>
            <a:ext cx="164592" cy="0"/>
          </a:xfrm>
          <a:prstGeom prst="line">
            <a:avLst/>
          </a:prstGeom>
          <a:noFill/>
          <a:ln w="15240">
            <a:solidFill>
              <a:srgbClr val="8ABBD8"/>
            </a:solidFill>
            <a:prstDash val="solid"/>
          </a:ln>
        </p:spPr>
      </p:sp>
      <p:sp>
        <p:nvSpPr>
          <p:cNvPr id="16" name="Shape 14"/>
          <p:cNvSpPr/>
          <p:nvPr/>
        </p:nvSpPr>
        <p:spPr>
          <a:xfrm>
            <a:off x="7872984" y="3200400"/>
            <a:ext cx="89001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909560"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351276"/>
            <a:ext cx="164592" cy="0"/>
          </a:xfrm>
          <a:prstGeom prst="line">
            <a:avLst/>
          </a:prstGeom>
          <a:noFill/>
          <a:ln w="15240">
            <a:solidFill>
              <a:srgbClr val="8ABBD8"/>
            </a:solidFill>
            <a:prstDash val="solid"/>
          </a:ln>
        </p:spPr>
      </p:sp>
      <p:sp>
        <p:nvSpPr>
          <p:cNvPr id="19" name="Shape 17"/>
          <p:cNvSpPr/>
          <p:nvPr/>
        </p:nvSpPr>
        <p:spPr>
          <a:xfrm>
            <a:off x="8927592" y="3200400"/>
            <a:ext cx="89001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64168"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00400"/>
            <a:ext cx="89001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854696" y="3694176"/>
            <a:ext cx="3035808" cy="206654"/>
          </a:xfrm>
          <a:prstGeom prst="rect">
            <a:avLst/>
          </a:prstGeom>
          <a:noFill/>
          <a:ln/>
        </p:spPr>
        <p:txBody>
          <a:bodyPr wrap="square" lIns="254" tIns="254" rIns="254" bIns="254" rtlCol="0" anchor="t">
            <a:normAutofit/>
          </a:bodyPr>
          <a:lstStyle/>
          <a:p>
            <a:pPr indent="0" marL="0">
              <a:buNone/>
            </a:pPr>
            <a:r>
              <a:rPr lang="en-US" sz="1120" dirty="0">
                <a:solidFill>
                  <a:srgbClr val="17364A"/>
                </a:solidFill>
                <a:latin typeface="Aptos" pitchFamily="34" charset="0"/>
                <a:ea typeface="Aptos" pitchFamily="34" charset="-122"/>
                <a:cs typeface="Aptos" pitchFamily="34" charset="-120"/>
              </a:rPr>
              <a:t>Implementation work should make dependencies, approvals, training, and sustainment visible before launch.</a:t>
            </a:r>
            <a:endParaRPr lang="en-US" sz="1120" dirty="0"/>
          </a:p>
        </p:txBody>
      </p:sp>
      <p:sp>
        <p:nvSpPr>
          <p:cNvPr id="24" name="Shape 22"/>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25" name="Text 23"/>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26" name="Text 24"/>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 health department may consider an agentic workflow for incoming public health inquiries.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agent could classify the inquiry, retrieve relevant approved guidance, draft a response,.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For low-risk general information, the agent might prepare a draft for staff review.</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 health department may consider an agentic workflow for incoming public health.</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The agent could classify the inquiry, retrieve relevant approved.</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For sensitive complaints, reportable disease concerns, media.</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This design requires orchestration rules.</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Agentic workflow design begins with the goal.</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goal should be narrow and operationally defined. “Help with surveillance” is too broad..</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Narrow goals make it easier to define tools, permissions, validation, and monitoring.</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Agentic workflow design begins with the goal.</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798064"/>
            <a:ext cx="3145536" cy="237744"/>
          </a:xfrm>
          <a:prstGeom prst="rect">
            <a:avLst/>
          </a:prstGeom>
          <a:noFill/>
          <a:ln/>
        </p:spPr>
        <p:txBody>
          <a:bodyPr wrap="square" lIns="0" tIns="0" rIns="0" bIns="0" rtlCol="0" anchor="ctr"/>
          <a:lstStyle/>
          <a:p>
            <a:pPr indent="0" marL="0">
              <a:buNone/>
            </a:pPr>
            <a:r>
              <a:rPr lang="en-US" sz="1250" b="1" dirty="0">
                <a:solidFill>
                  <a:srgbClr val="0068B7"/>
                </a:solidFill>
                <a:latin typeface="Aptos" pitchFamily="34" charset="0"/>
                <a:ea typeface="Aptos" pitchFamily="34" charset="-122"/>
                <a:cs typeface="Aptos" pitchFamily="34" charset="-120"/>
              </a:rPr>
              <a:t>Implementation path</a:t>
            </a:r>
            <a:endParaRPr lang="en-US" sz="1250" dirty="0"/>
          </a:p>
        </p:txBody>
      </p:sp>
      <p:sp>
        <p:nvSpPr>
          <p:cNvPr id="15" name="Shape 13"/>
          <p:cNvSpPr/>
          <p:nvPr/>
        </p:nvSpPr>
        <p:spPr>
          <a:xfrm>
            <a:off x="8763000" y="3351276"/>
            <a:ext cx="164592" cy="0"/>
          </a:xfrm>
          <a:prstGeom prst="line">
            <a:avLst/>
          </a:prstGeom>
          <a:noFill/>
          <a:ln w="15240">
            <a:solidFill>
              <a:srgbClr val="8ABBD8"/>
            </a:solidFill>
            <a:prstDash val="solid"/>
          </a:ln>
        </p:spPr>
      </p:sp>
      <p:sp>
        <p:nvSpPr>
          <p:cNvPr id="16" name="Shape 14"/>
          <p:cNvSpPr/>
          <p:nvPr/>
        </p:nvSpPr>
        <p:spPr>
          <a:xfrm>
            <a:off x="7872984" y="3200400"/>
            <a:ext cx="89001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909560"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351276"/>
            <a:ext cx="164592" cy="0"/>
          </a:xfrm>
          <a:prstGeom prst="line">
            <a:avLst/>
          </a:prstGeom>
          <a:noFill/>
          <a:ln w="15240">
            <a:solidFill>
              <a:srgbClr val="8ABBD8"/>
            </a:solidFill>
            <a:prstDash val="solid"/>
          </a:ln>
        </p:spPr>
      </p:sp>
      <p:sp>
        <p:nvSpPr>
          <p:cNvPr id="19" name="Shape 17"/>
          <p:cNvSpPr/>
          <p:nvPr/>
        </p:nvSpPr>
        <p:spPr>
          <a:xfrm>
            <a:off x="8927592" y="3200400"/>
            <a:ext cx="89001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64168"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00400"/>
            <a:ext cx="89001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854696" y="3694176"/>
            <a:ext cx="3035808" cy="206654"/>
          </a:xfrm>
          <a:prstGeom prst="rect">
            <a:avLst/>
          </a:prstGeom>
          <a:noFill/>
          <a:ln/>
        </p:spPr>
        <p:txBody>
          <a:bodyPr wrap="square" lIns="254" tIns="254" rIns="254" bIns="254" rtlCol="0" anchor="t">
            <a:normAutofit/>
          </a:bodyPr>
          <a:lstStyle/>
          <a:p>
            <a:pPr indent="0" marL="0">
              <a:buNone/>
            </a:pPr>
            <a:r>
              <a:rPr lang="en-US" sz="1120" dirty="0">
                <a:solidFill>
                  <a:srgbClr val="17364A"/>
                </a:solidFill>
                <a:latin typeface="Aptos" pitchFamily="34" charset="0"/>
                <a:ea typeface="Aptos" pitchFamily="34" charset="-122"/>
                <a:cs typeface="Aptos" pitchFamily="34" charset="-120"/>
              </a:rPr>
              <a:t>Implementation work should make dependencies, approvals, training, and sustainment visible before launch.</a:t>
            </a:r>
            <a:endParaRPr lang="en-US" sz="1120" dirty="0"/>
          </a:p>
        </p:txBody>
      </p:sp>
      <p:sp>
        <p:nvSpPr>
          <p:cNvPr id="24" name="Shape 22"/>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25" name="Text 23"/>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26" name="Text 24"/>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Human oversight should match risk.</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Human-in-the-loop approval is appropriate for actions that affect records, services, public.</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Human-on-the-loop monitoring may be appropriate for lower-risk background tasks if users can.</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Human oversight should match risk.</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Human-in-the-loop approval is appropriate for actions that affect.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Human-on-the-loop monitoring may be appropriate for lower-risk.</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Fully automated action should be limited to low-risk, well-tested,.</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Excessive agency.</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An agent may take actions beyond intended scope.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Guardrails include narrow goals, allowed-action lists, prohibited actions, and approval gates.</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Excessive agency.</a:t>
            </a:r>
            <a:endParaRPr lang="en-US" sz="1320" dirty="0"/>
          </a:p>
        </p:txBody>
      </p:sp>
      <p:sp>
        <p:nvSpPr>
          <p:cNvPr id="13" name="Shape 11"/>
          <p:cNvSpPr/>
          <p:nvPr/>
        </p:nvSpPr>
        <p:spPr>
          <a:xfrm>
            <a:off x="7635240" y="2670048"/>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Unauthorized system access.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Tool access may expose sensitive data or functions.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Guardrails include least privilege, scoped credentials, role-based.</a:t>
            </a:r>
            <a:endParaRPr lang="en-US" sz="1220" dirty="0"/>
          </a:p>
        </p:txBody>
      </p:sp>
      <p:sp>
        <p:nvSpPr>
          <p:cNvPr id="16" name="Shape 14"/>
          <p:cNvSpPr/>
          <p:nvPr/>
        </p:nvSpPr>
        <p:spPr>
          <a:xfrm>
            <a:off x="7635240" y="4343400"/>
            <a:ext cx="3474720" cy="1255471"/>
          </a:xfrm>
          <a:prstGeom prst="roundRect">
            <a:avLst>
              <a:gd name="adj" fmla="val 8740"/>
            </a:avLst>
          </a:prstGeom>
          <a:solidFill>
            <a:srgbClr val="EAF6F8"/>
          </a:solidFill>
          <a:ln w="12700">
            <a:solidFill>
              <a:srgbClr val="B9D7E6"/>
            </a:solidFill>
            <a:prstDash val="solid"/>
          </a:ln>
        </p:spPr>
      </p:sp>
      <p:sp>
        <p:nvSpPr>
          <p:cNvPr id="17" name="Text 15"/>
          <p:cNvSpPr/>
          <p:nvPr/>
        </p:nvSpPr>
        <p:spPr>
          <a:xfrm>
            <a:off x="7799832" y="448970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481888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a:t>
            </a:r>
            <a:endParaRPr lang="en-US" sz="13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Unclear accountability.</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Staff may not know who is responsible for agent actions.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Guardrails include role definitions, review records, and governance ownership.</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Unclear accountability.</a:t>
            </a:r>
            <a:endParaRPr lang="en-US" sz="1320" dirty="0"/>
          </a:p>
        </p:txBody>
      </p:sp>
      <p:sp>
        <p:nvSpPr>
          <p:cNvPr id="13" name="Shape 11"/>
          <p:cNvSpPr/>
          <p:nvPr/>
        </p:nvSpPr>
        <p:spPr>
          <a:xfrm>
            <a:off x="7635240" y="2670048"/>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Unclear accountability.</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Staff may not know who is responsible for agent actions.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Guardrails include role definitions, review records, and.</a:t>
            </a:r>
            <a:endParaRPr lang="en-US" sz="1220" dirty="0"/>
          </a:p>
        </p:txBody>
      </p:sp>
      <p:sp>
        <p:nvSpPr>
          <p:cNvPr id="16" name="Shape 14"/>
          <p:cNvSpPr/>
          <p:nvPr/>
        </p:nvSpPr>
        <p:spPr>
          <a:xfrm>
            <a:off x="7635240" y="4343400"/>
            <a:ext cx="3474720" cy="1255471"/>
          </a:xfrm>
          <a:prstGeom prst="roundRect">
            <a:avLst>
              <a:gd name="adj" fmla="val 8740"/>
            </a:avLst>
          </a:prstGeom>
          <a:solidFill>
            <a:srgbClr val="EAF6F8"/>
          </a:solidFill>
          <a:ln w="12700">
            <a:solidFill>
              <a:srgbClr val="B9D7E6"/>
            </a:solidFill>
            <a:prstDash val="solid"/>
          </a:ln>
        </p:spPr>
      </p:sp>
      <p:sp>
        <p:nvSpPr>
          <p:cNvPr id="17" name="Text 15"/>
          <p:cNvSpPr/>
          <p:nvPr/>
        </p:nvSpPr>
        <p:spPr>
          <a:xfrm>
            <a:off x="7799832" y="448970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481888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a:t>
            </a:r>
            <a:endParaRPr lang="en-US" sz="13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Agentic workflows may combine RAG, APIs, prompts, classification models, workflow rules, and.</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They are most appropriate when tasks are repetitive, bounded, reviewable, and supported by.</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They are least appropriate when the task requires complex judgment, legal interpretation,.</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Agentic workflows may combine RAG, APIs, prompts, classification models, workflow rules, and messaging.</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Agentic workflows may combine RAG, APIs, prompts, classification.</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They are least appropriate when the task requires complex.</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Public health agencies should pilot agentic workflows in limited,.</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What goal would the agent pursue, and how narrowly can it be defined?</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Which tools or systems would the agent access?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Which actions are allowed, prohibited, or require human approval?</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What goal would the agent pursue, and how narrowly can it be defined?</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goal would the agent pursue, and how narrowly can it be.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Which tools or systems would the agent access?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Which actions are allowed, prohibited, or require human approval?</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What logs are needed to reconstruct agent behavior?</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What rollback or correction process is needed if the agent makes an error?</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What logs are needed to reconstruct agent behavior?</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logs are needed to reconstruct agent behavior?</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What rollback or correction process is needed if the agent makes.</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Create an agentic workflow control plan.</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Include the goal, trigger, data sources, tools, allowed actions, prohibited actions, approval.</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plan should identify at least one low-risk pilot boundary and one condition that would.</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Create an agentic workflow control plan.</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Include the goal, trigger, data sources, tools, allowed actions,.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plan should identify at least one low-risk pilot boundary and.</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Agentic workflow control plan</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Allowed/prohibited action list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Human approval and escalation map</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Agentic workflow control plan</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Agentic workflow control plan</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Allowed/prohibited action list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Human approval and escalation map</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Tool-call logging requirements</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Tool-call logging requirements</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Tool-call logging requirements</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Agentic workflow control plan</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Allowed/prohibited action list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Human approval and escalation map</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Agentic workflow control plan</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Agentic workflow control plan</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Allowed/prohibited action list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Human approval and escalation map</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1. What makes agentic AI different from simple drafting support?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2. Which action usually requires stronger oversight?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3. What is orchestration?</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1. What makes agentic AI different from simple drafting support?</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1.</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What makes agentic AI different from simple drafting support?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2.</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OWASP Top 10 for Large Language Model Applications:.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NIST AI RMF Generative AI Profile:.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NIST Artificial Intelligence Risk Management Framework:.</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OWASP Top 10 for Large Language Model Applications:.</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NIST Artificial Intelligence Risk Management Framework:.</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NIST Privacy Framework: https://www.nist.gov/privacy-framework</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Workflow Design and Orchestration</dc:title>
  <dc:subject>Agentic Workflow Design and Orchestration learning module</dc:subject>
  <dc:creator>Paula Soper</dc:creator>
  <cp:lastModifiedBy>Paula Soper</cp:lastModifiedBy>
  <cp:revision>1</cp:revision>
  <dcterms:created xsi:type="dcterms:W3CDTF">2026-07-13T02:33:44Z</dcterms:created>
  <dcterms:modified xsi:type="dcterms:W3CDTF">2026-07-13T02:33:44Z</dcterms:modified>
</cp:coreProperties>
</file>