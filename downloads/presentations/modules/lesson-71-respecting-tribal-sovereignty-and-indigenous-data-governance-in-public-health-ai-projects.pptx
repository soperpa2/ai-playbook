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 Nations, American Indian and Alaska.</a:t>
            </a:r>
            <a:endParaRPr lang="en-US" sz="1700" dirty="0"/>
          </a:p>
          <a:p>
            <a:r>
              <a:rPr lang="en-US" sz="17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 health data cannot be treated as ordinary.</a:t>
            </a:r>
            <a:endParaRPr lang="en-US" sz="1700" dirty="0"/>
          </a:p>
          <a:p>
            <a:r>
              <a:rPr lang="en-US" sz="17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 data are collected, transformed, analyzed,.</a:t>
            </a:r>
            <a:endParaRPr lang="en-US" sz="1700" dirty="0"/>
          </a:p>
          <a:p>
            <a:r>
              <a:rPr lang="en-US" sz="1700" dirty="0">
                <a:solidFill>
                  <a:srgbClr val="17364A"/>
                </a:solidFill>
                <a:latin typeface="Aptos" pitchFamily="34" charset="0"/>
                <a:ea typeface="Aptos" pitchFamily="34" charset="-122"/>
                <a:cs typeface="Aptos" pitchFamily="34" charset="-120"/>
              </a:rPr>
              <a:t>This module is intended for programmatic, technical, analytic, governance, policy, communications, and leadership staff who may participate in AI.</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Introductory</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Governance and Security</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shared-foundational, governance-security, policy, program-management</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 to develop a funding.</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14: Model Validation &amp; Documentation Standards (Standard) - Use this tool to complete or strengthen the practical exercise for.</a:t>
            </a:r>
            <a:endParaRPr lang="en-US" sz="1460" dirty="0"/>
          </a:p>
          <a:p>
            <a:r>
              <a:rPr lang="en-US" sz="1460" dirty="0">
                <a:solidFill>
                  <a:srgbClr val="17364A"/>
                </a:solidFill>
                <a:latin typeface="Aptos" pitchFamily="34" charset="0"/>
                <a:ea typeface="Aptos" pitchFamily="34" charset="-122"/>
                <a:cs typeface="Aptos" pitchFamily="34" charset="-120"/>
              </a:rPr>
              <a:t>Tool 15: Data Use Agreement (AI) Template (Template)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 Nations, American Indian and.</a:t>
            </a:r>
            <a:endParaRPr lang="en-US" sz="1700" dirty="0"/>
          </a:p>
          <a:p>
            <a:r>
              <a:rPr lang="en-US" sz="1700" dirty="0">
                <a:solidFill>
                  <a:srgbClr val="17364A"/>
                </a:solidFill>
                <a:latin typeface="Aptos" pitchFamily="34" charset="0"/>
                <a:ea typeface="Aptos" pitchFamily="34" charset="-122"/>
                <a:cs typeface="Aptos" pitchFamily="34" charset="-120"/>
              </a:rPr>
              <a:t>Describe Indigenous Data Sovereignty, Indigenous Data Governance, Digital Sovereignty, and the CARE Principles in plain.</a:t>
            </a:r>
            <a:endParaRPr lang="en-US" sz="1700" dirty="0"/>
          </a:p>
          <a:p>
            <a:r>
              <a:rPr lang="en-US" sz="1700" dirty="0">
                <a:solidFill>
                  <a:srgbClr val="17364A"/>
                </a:solidFill>
                <a:latin typeface="Aptos" pitchFamily="34" charset="0"/>
                <a:ea typeface="Aptos" pitchFamily="34" charset="-122"/>
                <a:cs typeface="Aptos" pitchFamily="34" charset="-120"/>
              </a:rPr>
              <a:t>Identify governance questions that should be addressed before using Tribal data or AI tools in public health projects,.</a:t>
            </a:r>
            <a:endParaRPr lang="en-US" sz="1700" dirty="0"/>
          </a:p>
          <a:p>
            <a:r>
              <a:rPr lang="en-US" sz="1700" dirty="0">
                <a:solidFill>
                  <a:srgbClr val="17364A"/>
                </a:solidFill>
                <a:latin typeface="Aptos" pitchFamily="34" charset="0"/>
                <a:ea typeface="Aptos" pitchFamily="34" charset="-122"/>
                <a:cs typeface="Aptos" pitchFamily="34" charset="-120"/>
              </a:rPr>
              <a:t>Distinguish cultural competence from cultural humility and explain why Tribal-specific consultation, relationship building,.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 Nations, American Indian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Connect sovereignty protections to practical project artifacts, including Tribal data sharing agreements, Data Management and.</a:t>
            </a:r>
            <a:endParaRPr lang="en-US" sz="1700" dirty="0"/>
          </a:p>
          <a:p>
            <a:r>
              <a:rPr lang="en-US" sz="1700" dirty="0">
                <a:solidFill>
                  <a:srgbClr val="17364A"/>
                </a:solidFill>
                <a:latin typeface="Aptos" pitchFamily="34" charset="0"/>
                <a:ea typeface="Aptos" pitchFamily="34" charset="-122"/>
                <a:cs typeface="Aptos" pitchFamily="34" charset="-120"/>
              </a:rPr>
              <a:t>Draft an initial Tribal sovereignty and Indigenous data governance screening memo for a proposed AI-supported public health.</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sovereignty protections to practical project artifacts, including Tribal data sharing agreements, Data Management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 Nations,.</a:t>
            </a:r>
            <a:endParaRPr lang="en-US" sz="1700" dirty="0"/>
          </a:p>
          <a:p>
            <a:r>
              <a:rPr lang="en-US" sz="17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 health data cannot.</a:t>
            </a:r>
            <a:endParaRPr lang="en-US" sz="1700" dirty="0"/>
          </a:p>
          <a:p>
            <a:r>
              <a:rPr lang="en-US" sz="17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 data are collected,.</a:t>
            </a:r>
            <a:endParaRPr lang="en-US" sz="1700" dirty="0"/>
          </a:p>
          <a:p>
            <a:r>
              <a:rPr lang="en-US" sz="1700" dirty="0">
                <a:solidFill>
                  <a:srgbClr val="17364A"/>
                </a:solidFill>
                <a:latin typeface="Aptos" pitchFamily="34" charset="0"/>
                <a:ea typeface="Aptos" pitchFamily="34" charset="-122"/>
                <a:cs typeface="Aptos" pitchFamily="34" charset="-120"/>
              </a:rPr>
              <a:t>This module is intended for programmatic, technical, analytic, governance, policy, communications, and leadership staff who.</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 Nations,.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 health, safety, welfare, and.</a:t>
            </a:r>
            <a:endParaRPr lang="en-US" sz="1700" dirty="0"/>
          </a:p>
          <a:p>
            <a:r>
              <a:rPr lang="en-US" sz="1700" dirty="0">
                <a:solidFill>
                  <a:srgbClr val="17364A"/>
                </a:solidFill>
                <a:latin typeface="Aptos" pitchFamily="34" charset="0"/>
                <a:ea typeface="Aptos" pitchFamily="34" charset="-122"/>
                <a:cs typeface="Aptos" pitchFamily="34" charset="-120"/>
              </a:rPr>
              <a:t>Indigenous Data Sovereignty: The right of Indigenous Peoples and Nations to govern data about them, their citizens, lands,.</a:t>
            </a:r>
            <a:endParaRPr lang="en-US" sz="1700" dirty="0"/>
          </a:p>
          <a:p>
            <a:r>
              <a:rPr lang="en-US" sz="1700" dirty="0">
                <a:solidFill>
                  <a:srgbClr val="17364A"/>
                </a:solidFill>
                <a:latin typeface="Aptos" pitchFamily="34" charset="0"/>
                <a:ea typeface="Aptos" pitchFamily="34" charset="-122"/>
                <a:cs typeface="Aptos" pitchFamily="34" charset="-120"/>
              </a:rPr>
              <a:t>Indigenous Data Governance: The policies, agreements, relationships, roles, and oversight mechanisms that put Indigenous Data.</a:t>
            </a:r>
            <a:endParaRPr lang="en-US" sz="1700" dirty="0"/>
          </a:p>
          <a:p>
            <a:r>
              <a:rPr lang="en-US" sz="1700" dirty="0">
                <a:solidFill>
                  <a:srgbClr val="17364A"/>
                </a:solidFill>
                <a:latin typeface="Aptos" pitchFamily="34" charset="0"/>
                <a:ea typeface="Aptos" pitchFamily="34" charset="-122"/>
                <a:cs typeface="Aptos" pitchFamily="34" charset="-120"/>
              </a:rPr>
              <a:t>CARE Principles: A framework for Indigenous Data Governance organized around Collective Benefit, Authority to Control,.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 health, safety, welfare,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 imbalances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 imbalances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Tribal law, Tribal policy, Tribal consultation, Tribal IRB review, legal counsel, privacy review,.</a:t>
            </a:r>
            <a:endParaRPr lang="en-US" sz="1700" dirty="0"/>
          </a:p>
          <a:p>
            <a:r>
              <a:rPr lang="en-US" sz="1700" dirty="0">
                <a:solidFill>
                  <a:srgbClr val="17364A"/>
                </a:solidFill>
                <a:latin typeface="Aptos" pitchFamily="34" charset="0"/>
                <a:ea typeface="Aptos" pitchFamily="34" charset="-122"/>
                <a:cs typeface="Aptos" pitchFamily="34" charset="-120"/>
              </a:rPr>
              <a:t>Requirements may vary by Tribal Nation, jurisdiction, funding source, data sharing agreement, research status, operational.</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before approving, procuring, deploying, sharing, or publicly communicating.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 extraction,.</a:t>
            </a:r>
            <a:endParaRPr lang="en-US" sz="1700" dirty="0"/>
          </a:p>
          <a:p>
            <a:r>
              <a:rPr lang="en-US" sz="1700" dirty="0">
                <a:solidFill>
                  <a:srgbClr val="17364A"/>
                </a:solidFill>
                <a:latin typeface="Aptos" pitchFamily="34" charset="0"/>
                <a:ea typeface="Aptos" pitchFamily="34" charset="-122"/>
                <a:cs typeface="Aptos" pitchFamily="34" charset="-120"/>
              </a:rPr>
              <a:t>When health data involve Tribal Nations or AI/AN participants, those consequences can include individual privacy harms,.</a:t>
            </a:r>
            <a:endParaRPr lang="en-US" sz="1700" dirty="0"/>
          </a:p>
          <a:p>
            <a:r>
              <a:rPr lang="en-US" sz="1700" dirty="0">
                <a:solidFill>
                  <a:srgbClr val="17364A"/>
                </a:solidFill>
                <a:latin typeface="Aptos" pitchFamily="34" charset="0"/>
                <a:ea typeface="Aptos" pitchFamily="34" charset="-122"/>
                <a:cs typeface="Aptos" pitchFamily="34" charset="-120"/>
              </a:rPr>
              <a:t>Public health agencies may intend to improve services, reduce disparities, or strengthen emergency response, but good.</a:t>
            </a:r>
            <a:endParaRPr lang="en-US" sz="1700" dirty="0"/>
          </a:p>
          <a:p>
            <a:r>
              <a:rPr lang="en-US" sz="1700" dirty="0">
                <a:solidFill>
                  <a:srgbClr val="17364A"/>
                </a:solidFill>
                <a:latin typeface="Aptos" pitchFamily="34" charset="0"/>
                <a:ea typeface="Aptos" pitchFamily="34" charset="-122"/>
                <a:cs typeface="Aptos" pitchFamily="34" charset="-120"/>
              </a:rPr>
              <a:t>Respecting sovereignty at the start of an AI project prevents downstream harm that may be difficult or impossible to repair.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 extraction,.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 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 health, safety,.</a:t>
            </a:r>
            <a:endParaRPr lang="en-US" sz="1700" dirty="0"/>
          </a:p>
          <a:p>
            <a:r>
              <a:rPr lang="en-US" sz="1700" dirty="0">
                <a:solidFill>
                  <a:srgbClr val="17364A"/>
                </a:solidFill>
                <a:latin typeface="Aptos" pitchFamily="34" charset="0"/>
                <a:ea typeface="Aptos" pitchFamily="34" charset="-122"/>
                <a:cs typeface="Aptos" pitchFamily="34" charset="-120"/>
              </a:rPr>
              <a:t>In public health AI work, this means a Tribal Nation may have its own laws, research codes, review bodies, data governance.</a:t>
            </a:r>
            <a:endParaRPr lang="en-US" sz="1700" dirty="0"/>
          </a:p>
          <a:p>
            <a:r>
              <a:rPr lang="en-US" sz="1700" dirty="0">
                <a:solidFill>
                  <a:srgbClr val="17364A"/>
                </a:solidFill>
                <a:latin typeface="Aptos" pitchFamily="34" charset="0"/>
                <a:ea typeface="Aptos" pitchFamily="34" charset="-122"/>
                <a:cs typeface="Aptos" pitchFamily="34" charset="-120"/>
              </a:rPr>
              <a:t>Public health staff should not treat Tribal input as optional stakeholder feedback when Tribal authority is implicated.</a:t>
            </a:r>
            <a:endParaRPr lang="en-US" sz="1700" dirty="0"/>
          </a:p>
          <a:p>
            <a:r>
              <a:rPr lang="en-US" sz="1700" dirty="0">
                <a:solidFill>
                  <a:srgbClr val="17364A"/>
                </a:solidFill>
                <a:latin typeface="Aptos" pitchFamily="34" charset="0"/>
                <a:ea typeface="Aptos" pitchFamily="34" charset="-122"/>
                <a:cs typeface="Aptos" pitchFamily="34" charset="-120"/>
              </a:rPr>
              <a:t>The appropriate posture is government-to-government respect, early engagement, and formal agreement.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 health, safety,.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 with Indigenous.</a:t>
            </a:r>
            <a:endParaRPr lang="en-US" sz="1700" dirty="0"/>
          </a:p>
          <a:p>
            <a:r>
              <a:rPr lang="en-US" sz="1700" dirty="0">
                <a:solidFill>
                  <a:srgbClr val="17364A"/>
                </a:solidFill>
                <a:latin typeface="Aptos" pitchFamily="34" charset="0"/>
                <a:ea typeface="Aptos" pitchFamily="34" charset="-122"/>
                <a:cs typeface="Aptos" pitchFamily="34" charset="-120"/>
              </a:rPr>
              <a:t>CARE stands for Collective Benefit, Authority to Control, Responsibility, and Ethics.</a:t>
            </a:r>
            <a:endParaRPr lang="en-US" sz="1700" dirty="0"/>
          </a:p>
          <a:p>
            <a:r>
              <a:rPr lang="en-US" sz="1700" dirty="0">
                <a:solidFill>
                  <a:srgbClr val="17364A"/>
                </a:solidFill>
                <a:latin typeface="Aptos" pitchFamily="34" charset="0"/>
                <a:ea typeface="Aptos" pitchFamily="34" charset="-122"/>
                <a:cs typeface="Aptos" pitchFamily="34" charset="-120"/>
              </a:rPr>
              <a:t>These principles complement FAIR data practices by adding attention to people, purpose, power, historical context, and.</a:t>
            </a:r>
            <a:endParaRPr lang="en-US" sz="1700" dirty="0"/>
          </a:p>
          <a:p>
            <a:r>
              <a:rPr lang="en-US" sz="1700" dirty="0">
                <a:solidFill>
                  <a:srgbClr val="17364A"/>
                </a:solidFill>
                <a:latin typeface="Aptos" pitchFamily="34" charset="0"/>
                <a:ea typeface="Aptos" pitchFamily="34" charset="-122"/>
                <a:cs typeface="Aptos" pitchFamily="34" charset="-120"/>
              </a:rPr>
              <a:t>For AI projects, CARE can be used as a review lens for deciding whether a proposed data use benefits Tribal communities,.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 with Indigenous.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 department syndromic.</a:t>
            </a:r>
            <a:endParaRPr lang="en-US" sz="1700" dirty="0"/>
          </a:p>
          <a:p>
            <a:r>
              <a:rPr lang="en-US" sz="1700" dirty="0">
                <a:solidFill>
                  <a:srgbClr val="17364A"/>
                </a:solidFill>
                <a:latin typeface="Aptos" pitchFamily="34" charset="0"/>
                <a:ea typeface="Aptos" pitchFamily="34" charset="-122"/>
                <a:cs typeface="Aptos" pitchFamily="34" charset="-120"/>
              </a:rPr>
              <a:t>The initial technical design includes free-text chief complaint data, facility location, ZIP code, race and ethnicity.</a:t>
            </a:r>
            <a:endParaRPr lang="en-US" sz="1700" dirty="0"/>
          </a:p>
          <a:p>
            <a:r>
              <a:rPr lang="en-US" sz="1700" dirty="0">
                <a:solidFill>
                  <a:srgbClr val="17364A"/>
                </a:solidFill>
                <a:latin typeface="Aptos" pitchFamily="34" charset="0"/>
                <a:ea typeface="Aptos" pitchFamily="34" charset="-122"/>
                <a:cs typeface="Aptos" pitchFamily="34" charset="-120"/>
              </a:rPr>
              <a:t>Several counties include Tribal lands, and some small-area summaries could indirectly identify Tribal communities or lead.</a:t>
            </a:r>
            <a:endParaRPr lang="en-US" sz="1700" dirty="0"/>
          </a:p>
          <a:p>
            <a:r>
              <a:rPr lang="en-US" sz="1700" dirty="0">
                <a:solidFill>
                  <a:srgbClr val="17364A"/>
                </a:solidFill>
                <a:latin typeface="Aptos" pitchFamily="34" charset="0"/>
                <a:ea typeface="Aptos" pitchFamily="34" charset="-122"/>
                <a:cs typeface="Aptos" pitchFamily="34" charset="-120"/>
              </a:rPr>
              <a:t>The project team initially views the work as routine surveillance improvement, but the intake review identifies that Tribal.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 department syndromic.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 citizens, AI/AN.</a:t>
            </a:r>
            <a:endParaRPr lang="en-US" sz="1700" dirty="0"/>
          </a:p>
          <a:p>
            <a:r>
              <a:rPr lang="en-US" sz="1700" dirty="0">
                <a:solidFill>
                  <a:srgbClr val="17364A"/>
                </a:solidFill>
                <a:latin typeface="Aptos" pitchFamily="34" charset="0"/>
                <a:ea typeface="Aptos" pitchFamily="34" charset="-122"/>
                <a:cs typeface="Aptos" pitchFamily="34" charset="-120"/>
              </a:rPr>
              <a:t>This question should be asked during use case intake, not after a data set has been assembled.</a:t>
            </a:r>
            <a:endParaRPr lang="en-US" sz="1700" dirty="0"/>
          </a:p>
          <a:p>
            <a:r>
              <a:rPr lang="en-US" sz="1700" dirty="0">
                <a:solidFill>
                  <a:srgbClr val="17364A"/>
                </a:solidFill>
                <a:latin typeface="Aptos" pitchFamily="34" charset="0"/>
                <a:ea typeface="Aptos" pitchFamily="34" charset="-122"/>
                <a:cs typeface="Aptos" pitchFamily="34" charset="-120"/>
              </a:rPr>
              <a:t>The answer may not be obvious because Tribal relevance can appear through geography, facility relationships, program.</a:t>
            </a:r>
            <a:endParaRPr lang="en-US" sz="1700" dirty="0"/>
          </a:p>
          <a:p>
            <a:r>
              <a:rPr lang="en-US" sz="1700" dirty="0">
                <a:solidFill>
                  <a:srgbClr val="17364A"/>
                </a:solidFill>
                <a:latin typeface="Aptos" pitchFamily="34" charset="0"/>
                <a:ea typeface="Aptos" pitchFamily="34" charset="-122"/>
                <a:cs typeface="Aptos" pitchFamily="34" charset="-120"/>
              </a:rPr>
              <a:t>If the answer is uncertain, the team should treat the project as requiring additional review rather than assuming no Tribal.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 citizens, AI/AN.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 language, or other.</a:t>
            </a:r>
            <a:endParaRPr lang="en-US" sz="1700" dirty="0"/>
          </a:p>
          <a:p>
            <a:r>
              <a:rPr lang="en-US" sz="1700" dirty="0">
                <a:solidFill>
                  <a:srgbClr val="17364A"/>
                </a:solidFill>
                <a:latin typeface="Aptos" pitchFamily="34" charset="0"/>
                <a:ea typeface="Aptos" pitchFamily="34" charset="-122"/>
                <a:cs typeface="Aptos" pitchFamily="34" charset="-120"/>
              </a:rPr>
              <a:t>Proxy inference can create privacy risk, misclassification, and community harm.</a:t>
            </a:r>
            <a:endParaRPr lang="en-US" sz="1700" dirty="0"/>
          </a:p>
          <a:p>
            <a:r>
              <a:rPr lang="en-US" sz="1700" dirty="0">
                <a:solidFill>
                  <a:srgbClr val="17364A"/>
                </a:solidFill>
                <a:latin typeface="Aptos" pitchFamily="34" charset="0"/>
                <a:ea typeface="Aptos" pitchFamily="34" charset="-122"/>
                <a:cs typeface="Aptos" pitchFamily="34" charset="-120"/>
              </a:rPr>
              <a:t>It can also undermine Tribal authority if outside organizations create AI-derived labels about Tribal identity or community.</a:t>
            </a:r>
            <a:endParaRPr lang="en-US" sz="1700" dirty="0"/>
          </a:p>
          <a:p>
            <a:r>
              <a:rPr lang="en-US" sz="1700" dirty="0">
                <a:solidFill>
                  <a:srgbClr val="17364A"/>
                </a:solidFill>
                <a:latin typeface="Aptos" pitchFamily="34" charset="0"/>
                <a:ea typeface="Aptos" pitchFamily="34" charset="-122"/>
                <a:cs typeface="Aptos" pitchFamily="34" charset="-120"/>
              </a:rPr>
              <a:t>If affiliation or Tribal relevance is needed, the project should address how that information is defined, who controls it,.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 language, or other.</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 wrong.</a:t>
            </a:r>
            <a:endParaRPr lang="en-US" sz="1700" dirty="0"/>
          </a:p>
          <a:p>
            <a:r>
              <a:rPr lang="en-US" sz="1700" dirty="0">
                <a:solidFill>
                  <a:srgbClr val="17364A"/>
                </a:solidFill>
                <a:latin typeface="Aptos" pitchFamily="34" charset="0"/>
                <a:ea typeface="Aptos" pitchFamily="34" charset="-122"/>
                <a:cs typeface="Aptos" pitchFamily="34" charset="-120"/>
              </a:rPr>
              <a:t>Public-facing summaries, dashboards, maps, chatbots, and reports may create harm if they identify small communities, imply.</a:t>
            </a:r>
            <a:endParaRPr lang="en-US" sz="1700" dirty="0"/>
          </a:p>
          <a:p>
            <a:r>
              <a:rPr lang="en-US" sz="1700" dirty="0">
                <a:solidFill>
                  <a:srgbClr val="17364A"/>
                </a:solidFill>
                <a:latin typeface="Aptos" pitchFamily="34" charset="0"/>
                <a:ea typeface="Aptos" pitchFamily="34" charset="-122"/>
                <a:cs typeface="Aptos" pitchFamily="34" charset="-120"/>
              </a:rPr>
              <a:t>Tribal partners may require pre-review of reports, presentations, manuscripts, dashboard text, public advisories, or model.</a:t>
            </a:r>
            <a:endParaRPr lang="en-US" sz="1700" dirty="0"/>
          </a:p>
          <a:p>
            <a:r>
              <a:rPr lang="en-US" sz="1700" dirty="0">
                <a:solidFill>
                  <a:srgbClr val="17364A"/>
                </a:solidFill>
                <a:latin typeface="Aptos" pitchFamily="34" charset="0"/>
                <a:ea typeface="Aptos" pitchFamily="34" charset="-122"/>
                <a:cs typeface="Aptos" pitchFamily="34" charset="-120"/>
              </a:rPr>
              <a:t>Teams should document dissemination approvals and avoid treating public release as a default endpoint.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 wrong.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 controlled solely by the.</a:t>
            </a:r>
            <a:endParaRPr lang="en-US" sz="1700" dirty="0"/>
          </a:p>
          <a:p>
            <a:r>
              <a:rPr lang="en-US" sz="1700" dirty="0">
                <a:solidFill>
                  <a:srgbClr val="17364A"/>
                </a:solidFill>
                <a:latin typeface="Aptos" pitchFamily="34" charset="0"/>
                <a:ea typeface="Aptos" pitchFamily="34" charset="-122"/>
                <a:cs typeface="Aptos" pitchFamily="34" charset="-120"/>
              </a:rPr>
              <a:t>This can lead to AI development without Tribal consultation, data sharing without appropriate authority, or model outputs.</a:t>
            </a:r>
            <a:endParaRPr lang="en-US" sz="1700" dirty="0"/>
          </a:p>
          <a:p>
            <a:r>
              <a:rPr lang="en-US" sz="1700" dirty="0">
                <a:solidFill>
                  <a:srgbClr val="17364A"/>
                </a:solidFill>
                <a:latin typeface="Aptos" pitchFamily="34" charset="0"/>
                <a:ea typeface="Aptos" pitchFamily="34" charset="-122"/>
                <a:cs typeface="Aptos" pitchFamily="34" charset="-120"/>
              </a:rPr>
              <a:t>The failure mode is often procedural rather than malicious: staff follow routine analytics practices without recognizing.</a:t>
            </a:r>
            <a:endParaRPr lang="en-US" sz="1700" dirty="0"/>
          </a:p>
          <a:p>
            <a:r>
              <a:rPr lang="en-US" sz="1700" dirty="0">
                <a:solidFill>
                  <a:srgbClr val="17364A"/>
                </a:solidFill>
                <a:latin typeface="Aptos" pitchFamily="34" charset="0"/>
                <a:ea typeface="Aptos" pitchFamily="34" charset="-122"/>
                <a:cs typeface="Aptos" pitchFamily="34" charset="-120"/>
              </a:rPr>
              <a:t>The guardrail is to require Tribal sovereignty screening during AI use case intake and to route potentially relevant.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 controlled solely by the.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700" dirty="0"/>
          </a:p>
          <a:p>
            <a:r>
              <a:rPr lang="en-US" sz="1700" dirty="0">
                <a:solidFill>
                  <a:srgbClr val="17364A"/>
                </a:solidFill>
                <a:latin typeface="Aptos" pitchFamily="34" charset="0"/>
                <a:ea typeface="Aptos" pitchFamily="34" charset="-122"/>
                <a:cs typeface="Aptos" pitchFamily="34" charset="-120"/>
              </a:rPr>
              <a:t>If the project is already funded, contracted, designed, or near deployment before Tribal partners are engaged, meaningful.</a:t>
            </a:r>
            <a:endParaRPr lang="en-US" sz="1700" dirty="0"/>
          </a:p>
          <a:p>
            <a:r>
              <a:rPr lang="en-US" sz="1700" dirty="0">
                <a:solidFill>
                  <a:srgbClr val="17364A"/>
                </a:solidFill>
                <a:latin typeface="Aptos" pitchFamily="34" charset="0"/>
                <a:ea typeface="Aptos" pitchFamily="34" charset="-122"/>
                <a:cs typeface="Aptos" pitchFamily="34" charset="-120"/>
              </a:rPr>
              <a:t>This can create extractive relationships in which data and expertise flow outward while benefits, authority, and.</a:t>
            </a:r>
            <a:endParaRPr lang="en-US" sz="1700" dirty="0"/>
          </a:p>
          <a:p>
            <a:r>
              <a:rPr lang="en-US" sz="1700" dirty="0">
                <a:solidFill>
                  <a:srgbClr val="17364A"/>
                </a:solidFill>
                <a:latin typeface="Aptos" pitchFamily="34" charset="0"/>
                <a:ea typeface="Aptos" pitchFamily="34" charset="-122"/>
                <a:cs typeface="Aptos" pitchFamily="34" charset="-120"/>
              </a:rPr>
              <a:t>The guardrail is to define community benefit, capacity building, shared decision-making, and return-of-results expectations.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 involves Tribal.</a:t>
            </a:r>
            <a:endParaRPr lang="en-US" sz="1700" dirty="0"/>
          </a:p>
          <a:p>
            <a:r>
              <a:rPr lang="en-US" sz="1700" dirty="0">
                <a:solidFill>
                  <a:srgbClr val="17364A"/>
                </a:solidFill>
                <a:latin typeface="Aptos" pitchFamily="34" charset="0"/>
                <a:ea typeface="Aptos" pitchFamily="34" charset="-122"/>
                <a:cs typeface="Aptos" pitchFamily="34" charset="-120"/>
              </a:rPr>
              <a:t>The intake form should require the proposer to identify known Tribal partners, anticipated benefits, possible harms, data.</a:t>
            </a:r>
            <a:endParaRPr lang="en-US" sz="1700" dirty="0"/>
          </a:p>
          <a:p>
            <a:r>
              <a:rPr lang="en-US" sz="1700" dirty="0">
                <a:solidFill>
                  <a:srgbClr val="17364A"/>
                </a:solidFill>
                <a:latin typeface="Aptos" pitchFamily="34" charset="0"/>
                <a:ea typeface="Aptos" pitchFamily="34" charset="-122"/>
                <a:cs typeface="Aptos" pitchFamily="34" charset="-120"/>
              </a:rPr>
              <a:t>A project should not advance to procurement, model development, pilot testing, or public release until the sovereignty.</a:t>
            </a:r>
            <a:endParaRPr lang="en-US" sz="1700" dirty="0"/>
          </a:p>
          <a:p>
            <a:r>
              <a:rPr lang="en-US" sz="1700" dirty="0">
                <a:solidFill>
                  <a:srgbClr val="17364A"/>
                </a:solidFill>
                <a:latin typeface="Aptos" pitchFamily="34" charset="0"/>
                <a:ea typeface="Aptos" pitchFamily="34" charset="-122"/>
                <a:cs typeface="Aptos" pitchFamily="34" charset="-120"/>
              </a:rPr>
              <a:t>This makes Tribal sovereignty a front-end design requirement rather than a late-stage approval issue.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 involves Tribal.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 pause and consider.</a:t>
            </a:r>
            <a:endParaRPr lang="en-US" sz="1700" dirty="0"/>
          </a:p>
          <a:p>
            <a:r>
              <a:rPr lang="en-US" sz="1700" dirty="0">
                <a:solidFill>
                  <a:srgbClr val="17364A"/>
                </a:solidFill>
                <a:latin typeface="Aptos" pitchFamily="34" charset="0"/>
                <a:ea typeface="Aptos" pitchFamily="34" charset="-122"/>
                <a:cs typeface="Aptos" pitchFamily="34" charset="-120"/>
              </a:rPr>
              <a:t>They should ask whether the project has identified affected Tribal Nations, relevant Tribal laws or review processes, and.</a:t>
            </a:r>
            <a:endParaRPr lang="en-US" sz="1700" dirty="0"/>
          </a:p>
          <a:p>
            <a:r>
              <a:rPr lang="en-US" sz="1700" dirty="0">
                <a:solidFill>
                  <a:srgbClr val="17364A"/>
                </a:solidFill>
                <a:latin typeface="Aptos" pitchFamily="34" charset="0"/>
                <a:ea typeface="Aptos" pitchFamily="34" charset="-122"/>
                <a:cs typeface="Aptos" pitchFamily="34" charset="-120"/>
              </a:rPr>
              <a:t>They should also consider whether the proposed AI use creates community benefit as defined by Tribal partners, rather than.</a:t>
            </a:r>
            <a:endParaRPr lang="en-US" sz="1700" dirty="0"/>
          </a:p>
          <a:p>
            <a:r>
              <a:rPr lang="en-US" sz="1700" dirty="0">
                <a:solidFill>
                  <a:srgbClr val="17364A"/>
                </a:solidFill>
                <a:latin typeface="Aptos" pitchFamily="34" charset="0"/>
                <a:ea typeface="Aptos" pitchFamily="34" charset="-122"/>
                <a:cs typeface="Aptos" pitchFamily="34" charset="-120"/>
              </a:rPr>
              <a:t>These questions help teams recognize that sovereignty is a design condition, not a courtesy step.</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 pause and consider.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Select a proposed AI-supported public health project that could involve Tribal Nations, AI/AN participant data, Tribal.</a:t>
            </a:r>
            <a:endParaRPr lang="en-US" sz="1700" dirty="0"/>
          </a:p>
          <a:p>
            <a:r>
              <a:rPr lang="en-US" sz="1700" dirty="0">
                <a:solidFill>
                  <a:srgbClr val="17364A"/>
                </a:solidFill>
                <a:latin typeface="Aptos" pitchFamily="34" charset="0"/>
                <a:ea typeface="Aptos" pitchFamily="34" charset="-122"/>
                <a:cs typeface="Aptos" pitchFamily="34" charset="-120"/>
              </a:rPr>
              <a:t>The project may be a surveillance summary tool, predictive model, automated transcription workflow, chatbot, public.</a:t>
            </a:r>
            <a:endParaRPr lang="en-US" sz="1700" dirty="0"/>
          </a:p>
          <a:p>
            <a:r>
              <a:rPr lang="en-US" sz="1700" dirty="0">
                <a:solidFill>
                  <a:srgbClr val="17364A"/>
                </a:solidFill>
                <a:latin typeface="Aptos" pitchFamily="34" charset="0"/>
                <a:ea typeface="Aptos" pitchFamily="34" charset="-122"/>
                <a:cs typeface="Aptos" pitchFamily="34" charset="-120"/>
              </a:rPr>
              <a:t>Complete a Tribal sovereignty and Indigenous data governance screening memo for the project.</a:t>
            </a:r>
            <a:endParaRPr lang="en-US" sz="1700" dirty="0"/>
          </a:p>
          <a:p>
            <a:r>
              <a:rPr lang="en-US" sz="1700" dirty="0">
                <a:solidFill>
                  <a:srgbClr val="17364A"/>
                </a:solidFill>
                <a:latin typeface="Aptos" pitchFamily="34" charset="0"/>
                <a:ea typeface="Aptos" pitchFamily="34" charset="-122"/>
                <a:cs typeface="Aptos" pitchFamily="34" charset="-120"/>
              </a:rPr>
              <a:t>The memo should identify the public health purpose, data sources, affected communities, potential Tribal authority.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Select a proposed AI-supported public health project that could involve Tribal Nations, AI/AN participant data, Tribal.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 AI-supported public.</a:t>
            </a:r>
            <a:endParaRPr lang="en-US" sz="1700" dirty="0"/>
          </a:p>
          <a:p>
            <a:r>
              <a:rPr lang="en-US" sz="1700" dirty="0">
                <a:solidFill>
                  <a:srgbClr val="17364A"/>
                </a:solidFill>
                <a:latin typeface="Aptos" pitchFamily="34" charset="0"/>
                <a:ea typeface="Aptos" pitchFamily="34" charset="-122"/>
                <a:cs typeface="Aptos" pitchFamily="34" charset="-120"/>
              </a:rPr>
              <a:t>The memo should be complete enough for a supervisor, AI governance body, Tribal liaison, legal counsel, privacy officer,.</a:t>
            </a:r>
            <a:endParaRPr lang="en-US" sz="1700" dirty="0"/>
          </a:p>
          <a:p>
            <a:r>
              <a:rPr lang="en-US" sz="1700" dirty="0">
                <a:solidFill>
                  <a:srgbClr val="17364A"/>
                </a:solidFill>
                <a:latin typeface="Aptos" pitchFamily="34" charset="0"/>
                <a:ea typeface="Aptos" pitchFamily="34" charset="-122"/>
                <a:cs typeface="Aptos" pitchFamily="34" charset="-120"/>
              </a:rPr>
              <a:t>It should distinguish known facts from assumptions and identify what cannot be decided until appropriate Tribal.</a:t>
            </a:r>
            <a:endParaRPr lang="en-US" sz="1700" dirty="0"/>
          </a:p>
          <a:p>
            <a:r>
              <a:rPr lang="en-US" sz="1700" dirty="0">
                <a:solidFill>
                  <a:srgbClr val="17364A"/>
                </a:solidFill>
                <a:latin typeface="Aptos" pitchFamily="34" charset="0"/>
                <a:ea typeface="Aptos" pitchFamily="34" charset="-122"/>
                <a:cs typeface="Aptos" pitchFamily="34" charset="-120"/>
              </a:rPr>
              <a:t>The memo should not include protected health information, personally identifiable information, or confidential Tribal.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 AI-supported public.</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Global Indigenous Data Alliance.</a:t>
            </a:r>
            <a:endParaRPr lang="en-US" sz="1700" dirty="0"/>
          </a:p>
          <a:p>
            <a:r>
              <a:rPr lang="en-US" sz="1700" dirty="0">
                <a:solidFill>
                  <a:srgbClr val="17364A"/>
                </a:solidFill>
                <a:latin typeface="Aptos" pitchFamily="34" charset="0"/>
                <a:ea typeface="Aptos" pitchFamily="34" charset="-122"/>
                <a:cs typeface="Aptos" pitchFamily="34" charset="-120"/>
              </a:rPr>
              <a:t>CARE Principles for Indigenous Data Governance. https://www.gida-global.org/care</a:t>
            </a:r>
            <a:endParaRPr lang="en-US" sz="1700" dirty="0"/>
          </a:p>
          <a:p>
            <a:r>
              <a:rPr lang="en-US" sz="1700" dirty="0">
                <a:solidFill>
                  <a:srgbClr val="17364A"/>
                </a:solidFill>
                <a:latin typeface="Aptos" pitchFamily="34" charset="0"/>
                <a:ea typeface="Aptos" pitchFamily="34" charset="-122"/>
                <a:cs typeface="Aptos" pitchFamily="34" charset="-120"/>
              </a:rPr>
              <a:t>National Institutes of Health.</a:t>
            </a:r>
            <a:endParaRPr lang="en-US" sz="1700" dirty="0"/>
          </a:p>
          <a:p>
            <a:r>
              <a:rPr lang="en-US" sz="1700" dirty="0">
                <a:solidFill>
                  <a:srgbClr val="17364A"/>
                </a:solidFill>
                <a:latin typeface="Aptos" pitchFamily="34" charset="0"/>
                <a:ea typeface="Aptos" pitchFamily="34" charset="-122"/>
                <a:cs typeface="Aptos" pitchFamily="34" charset="-120"/>
              </a:rPr>
              <a:t>NOT-OD-22-214: Supplemental Information to the NIH Policy for Data Management and Sharing: Responsible Management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Global Indigenous Data Alliance.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United States Indigenous Data Sovereignty Network.</a:t>
            </a:r>
            <a:endParaRPr lang="en-US" sz="1700" dirty="0"/>
          </a:p>
          <a:p>
            <a:r>
              <a:rPr lang="en-US" sz="1700" dirty="0">
                <a:solidFill>
                  <a:srgbClr val="17364A"/>
                </a:solidFill>
                <a:latin typeface="Aptos" pitchFamily="34" charset="0"/>
                <a:ea typeface="Aptos" pitchFamily="34" charset="-122"/>
                <a:cs typeface="Aptos" pitchFamily="34" charset="-120"/>
              </a:rPr>
              <a:t>Resources and information on Indigenous Data Sovereignty. https://usindigenousdata.org/</a:t>
            </a:r>
            <a:endParaRPr lang="en-US" sz="1700" dirty="0"/>
          </a:p>
          <a:p>
            <a:r>
              <a:rPr lang="en-US" sz="1700" dirty="0">
                <a:solidFill>
                  <a:srgbClr val="17364A"/>
                </a:solidFill>
                <a:latin typeface="Aptos" pitchFamily="34" charset="0"/>
                <a:ea typeface="Aptos" pitchFamily="34" charset="-122"/>
                <a:cs typeface="Aptos" pitchFamily="34" charset="-120"/>
              </a:rPr>
              <a:t>All of Us Research Program.</a:t>
            </a:r>
            <a:endParaRPr lang="en-US" sz="1700" dirty="0"/>
          </a:p>
          <a:p>
            <a:r>
              <a:rPr lang="en-US" sz="1700" dirty="0">
                <a:solidFill>
                  <a:srgbClr val="17364A"/>
                </a:solidFill>
                <a:latin typeface="Aptos" pitchFamily="34" charset="0"/>
                <a:ea typeface="Aptos" pitchFamily="34" charset="-122"/>
                <a:cs typeface="Aptos" pitchFamily="34" charset="-120"/>
              </a:rPr>
              <a:t>Tribal engagement and data use resources. https://www.researchallofus.org/</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United States Indigenous Data Sovereignty Network.</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Brookings.</a:t>
            </a:r>
            <a:endParaRPr lang="en-US" sz="1700" dirty="0"/>
          </a:p>
          <a:p>
            <a:r>
              <a:rPr lang="en-US" sz="1700" dirty="0">
                <a:solidFill>
                  <a:srgbClr val="17364A"/>
                </a:solidFill>
                <a:latin typeface="Aptos" pitchFamily="34" charset="0"/>
                <a:ea typeface="Aptos" pitchFamily="34" charset="-122"/>
                <a:cs typeface="Aptos" pitchFamily="34" charset="-120"/>
              </a:rPr>
              <a:t>Digital sovereignty and Indigenous Nations resources. https://www.brookings.edu/</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Brookings.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700" dirty="0"/>
          </a:p>
          <a:p>
            <a:r>
              <a:rPr lang="en-US" sz="1700" dirty="0">
                <a:solidFill>
                  <a:srgbClr val="17364A"/>
                </a:solidFill>
                <a:latin typeface="Aptos" pitchFamily="34" charset="0"/>
                <a:ea typeface="Aptos" pitchFamily="34" charset="-122"/>
                <a:cs typeface="Aptos" pitchFamily="34" charset="-120"/>
              </a:rPr>
              <a:t>2. Which statement best reflects Indigenous Data Sovereignty?</a:t>
            </a:r>
            <a:endParaRPr lang="en-US" sz="1700" dirty="0"/>
          </a:p>
          <a:p>
            <a:r>
              <a:rPr lang="en-US" sz="1700" dirty="0">
                <a:solidFill>
                  <a:srgbClr val="17364A"/>
                </a:solidFill>
                <a:latin typeface="Aptos" pitchFamily="34" charset="0"/>
                <a:ea typeface="Aptos" pitchFamily="34" charset="-122"/>
                <a:cs typeface="Aptos" pitchFamily="34" charset="-120"/>
              </a:rPr>
              <a:t>3. Which AI practice should be avoided unless explicitly approved through the appropriate governance pathway?</a:t>
            </a:r>
            <a:endParaRPr lang="en-US" sz="1700" dirty="0"/>
          </a:p>
          <a:p>
            <a:r>
              <a:rPr lang="en-US" sz="1700" dirty="0">
                <a:solidFill>
                  <a:srgbClr val="17364A"/>
                </a:solidFill>
                <a:latin typeface="Aptos" pitchFamily="34" charset="0"/>
                <a:ea typeface="Aptos" pitchFamily="34" charset="-122"/>
                <a:cs typeface="Aptos" pitchFamily="34" charset="-120"/>
              </a:rPr>
              <a:t>4. What is the strongest reason to involve Tribal partners early in the AI lifecycle?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Global Indigenous Data Alliance. CARE Principles for Indigenous Data Governance.: https://www.gida-global.org/care</a:t>
            </a:r>
            <a:endParaRPr lang="en-US" sz="1700" dirty="0"/>
          </a:p>
          <a:p>
            <a:r>
              <a:rPr lang="en-US" sz="1700" dirty="0">
                <a:solidFill>
                  <a:srgbClr val="17364A"/>
                </a:solidFill>
                <a:latin typeface="Aptos" pitchFamily="34" charset="0"/>
                <a:ea typeface="Aptos" pitchFamily="34" charset="-122"/>
                <a:cs typeface="Aptos" pitchFamily="34" charset="-120"/>
              </a:rPr>
              <a:t>National Institutes of Health. NOT-OD-22-214: Supplemental Information to the NIH Policy for Data Management and Sharing:.</a:t>
            </a:r>
            <a:endParaRPr lang="en-US" sz="1700" dirty="0"/>
          </a:p>
          <a:p>
            <a:r>
              <a:rPr lang="en-US" sz="1700" dirty="0">
                <a:solidFill>
                  <a:srgbClr val="17364A"/>
                </a:solidFill>
                <a:latin typeface="Aptos" pitchFamily="34" charset="0"/>
                <a:ea typeface="Aptos" pitchFamily="34" charset="-122"/>
                <a:cs typeface="Aptos" pitchFamily="34" charset="-120"/>
              </a:rPr>
              <a:t>National Institutes of Health Tribal Health Research Office. Tribal Health Research Office resources.:.</a:t>
            </a:r>
            <a:endParaRPr lang="en-US" sz="1700" dirty="0"/>
          </a:p>
          <a:p>
            <a:r>
              <a:rPr lang="en-US" sz="1700" dirty="0">
                <a:solidFill>
                  <a:srgbClr val="17364A"/>
                </a:solidFill>
                <a:latin typeface="Aptos" pitchFamily="34" charset="0"/>
                <a:ea typeface="Aptos" pitchFamily="34" charset="-122"/>
                <a:cs typeface="Aptos" pitchFamily="34" charset="-120"/>
              </a:rPr>
              <a:t>United States Indigenous Data Sovereignty Network. Resources and information on Indigenous Data Sovereignty.:.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Global Indigenous Data Alliance. CARE Principles for Indigenous Data Governance.: https://www.gida-global.org/care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 guidance before.</a:t>
            </a:r>
            <a:endParaRPr lang="en-US" sz="1700" dirty="0"/>
          </a:p>
          <a:p>
            <a:r>
              <a:rPr lang="en-US" sz="1700" dirty="0">
                <a:solidFill>
                  <a:srgbClr val="17364A"/>
                </a:solidFill>
                <a:latin typeface="Aptos" pitchFamily="34" charset="0"/>
                <a:ea typeface="Aptos" pitchFamily="34" charset="-122"/>
                <a:cs typeface="Aptos" pitchFamily="34" charset="-120"/>
              </a:rPr>
              <a:t>Brookings. Digital sovereignty and Indigenous Nations resources.: https://www.brookings.edu/</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 guidance before.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2026-07-12T18:54:59Z</dcterms:created>
  <dcterms:modified xsi:type="dcterms:W3CDTF">2026-07-12T18:54:59Z</dcterms:modified>
</cp:coreProperties>
</file>